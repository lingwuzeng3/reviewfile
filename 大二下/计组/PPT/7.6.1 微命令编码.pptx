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9" r:id="rId2"/>
    <p:sldId id="296" r:id="rId3"/>
    <p:sldId id="297" r:id="rId4"/>
    <p:sldId id="293" r:id="rId5"/>
    <p:sldId id="294" r:id="rId6"/>
    <p:sldId id="295" r:id="rId7"/>
    <p:sldId id="29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1C0B0"/>
    <a:srgbClr val="02B9E7"/>
    <a:srgbClr val="04B0BE"/>
    <a:srgbClr val="04B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53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80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E8A95-114D-4BB9-A729-058920B2735F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029B-87F6-42DD-8185-B8A2A8D30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8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55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320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069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a typeface="+mn-ea"/>
              </a:rPr>
              <a:t>对所有微命令进行分组（分段），将同类的、互斥的微命令分在同一组，用字段的不同代码表示不同的微命令，然后通过字段译码器对每一个微命令进行译码，译码输出作为微操作控制信号 ，组间采用直接表示。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9E56F2-EF7F-4B63-B698-98EAE266494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086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ea typeface="+mn-ea"/>
              </a:rPr>
              <a:t>把直接表示法与字段直接译码法混合使用，即部分微命令用分段编码表示，将一些速度要求高，或与其它微命令都相容的用直接方式表示。混合表示法能综合考虑微指令字长、灵活性和执行微程序速度等方面的要求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9E56F2-EF7F-4B63-B698-98EAE266494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97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971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6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7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28601"/>
            <a:ext cx="11176000" cy="609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>
              <a:solidFill>
                <a:srgbClr val="2D6BC7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2D6BC7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dirty="0">
                <a:solidFill>
                  <a:srgbClr val="2D6BC7"/>
                </a:solidFill>
              </a:rPr>
              <a:pPr/>
              <a:t>‹#›</a:t>
            </a:fld>
            <a:endParaRPr lang="zh-CN" altLang="en-US" dirty="0">
              <a:solidFill>
                <a:srgbClr val="2D6BC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0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0799813" y="5496958"/>
            <a:ext cx="1079283" cy="1080463"/>
          </a:xfrm>
          <a:custGeom>
            <a:avLst/>
            <a:gdLst>
              <a:gd name="T0" fmla="*/ 2199 w 2504"/>
              <a:gd name="T1" fmla="*/ 0 h 2504"/>
              <a:gd name="T2" fmla="*/ 2504 w 2504"/>
              <a:gd name="T3" fmla="*/ 0 h 2504"/>
              <a:gd name="T4" fmla="*/ 2504 w 2504"/>
              <a:gd name="T5" fmla="*/ 2504 h 2504"/>
              <a:gd name="T6" fmla="*/ 0 w 2504"/>
              <a:gd name="T7" fmla="*/ 2504 h 2504"/>
              <a:gd name="T8" fmla="*/ 0 w 2504"/>
              <a:gd name="T9" fmla="*/ 2199 h 2504"/>
              <a:gd name="T10" fmla="*/ 1970 w 2504"/>
              <a:gd name="T11" fmla="*/ 2199 h 2504"/>
              <a:gd name="T12" fmla="*/ 87 w 2504"/>
              <a:gd name="T13" fmla="*/ 315 h 2504"/>
              <a:gd name="T14" fmla="*/ 303 w 2504"/>
              <a:gd name="T15" fmla="*/ 99 h 2504"/>
              <a:gd name="T16" fmla="*/ 2199 w 2504"/>
              <a:gd name="T17" fmla="*/ 1996 h 2504"/>
              <a:gd name="T18" fmla="*/ 2199 w 2504"/>
              <a:gd name="T19" fmla="*/ 0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04" h="2504">
                <a:moveTo>
                  <a:pt x="2199" y="0"/>
                </a:moveTo>
                <a:lnTo>
                  <a:pt x="2504" y="0"/>
                </a:lnTo>
                <a:lnTo>
                  <a:pt x="2504" y="2504"/>
                </a:lnTo>
                <a:lnTo>
                  <a:pt x="0" y="2504"/>
                </a:lnTo>
                <a:lnTo>
                  <a:pt x="0" y="2199"/>
                </a:lnTo>
                <a:lnTo>
                  <a:pt x="1970" y="2199"/>
                </a:lnTo>
                <a:lnTo>
                  <a:pt x="87" y="315"/>
                </a:lnTo>
                <a:lnTo>
                  <a:pt x="303" y="99"/>
                </a:lnTo>
                <a:lnTo>
                  <a:pt x="2199" y="1996"/>
                </a:lnTo>
                <a:lnTo>
                  <a:pt x="219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117216" y="2541722"/>
            <a:ext cx="625913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zh-CN" altLang="en-US" sz="6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微命令编码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2818" y="198604"/>
            <a:ext cx="473877" cy="484825"/>
            <a:chOff x="702608" y="-1899592"/>
            <a:chExt cx="1054013" cy="1078364"/>
          </a:xfrm>
        </p:grpSpPr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702608" y="-1899592"/>
              <a:ext cx="1054013" cy="10783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4366" y="-1555211"/>
              <a:ext cx="650496" cy="445260"/>
            </a:xfrm>
            <a:custGeom>
              <a:avLst/>
              <a:gdLst>
                <a:gd name="T0" fmla="*/ 380 w 394"/>
                <a:gd name="T1" fmla="*/ 19 h 263"/>
                <a:gd name="T2" fmla="*/ 380 w 394"/>
                <a:gd name="T3" fmla="*/ 216 h 263"/>
                <a:gd name="T4" fmla="*/ 374 w 394"/>
                <a:gd name="T5" fmla="*/ 216 h 263"/>
                <a:gd name="T6" fmla="*/ 362 w 394"/>
                <a:gd name="T7" fmla="*/ 215 h 263"/>
                <a:gd name="T8" fmla="*/ 199 w 394"/>
                <a:gd name="T9" fmla="*/ 256 h 263"/>
                <a:gd name="T10" fmla="*/ 197 w 394"/>
                <a:gd name="T11" fmla="*/ 257 h 263"/>
                <a:gd name="T12" fmla="*/ 195 w 394"/>
                <a:gd name="T13" fmla="*/ 256 h 263"/>
                <a:gd name="T14" fmla="*/ 33 w 394"/>
                <a:gd name="T15" fmla="*/ 215 h 263"/>
                <a:gd name="T16" fmla="*/ 20 w 394"/>
                <a:gd name="T17" fmla="*/ 216 h 263"/>
                <a:gd name="T18" fmla="*/ 14 w 394"/>
                <a:gd name="T19" fmla="*/ 216 h 263"/>
                <a:gd name="T20" fmla="*/ 14 w 394"/>
                <a:gd name="T21" fmla="*/ 19 h 263"/>
                <a:gd name="T22" fmla="*/ 0 w 394"/>
                <a:gd name="T23" fmla="*/ 19 h 263"/>
                <a:gd name="T24" fmla="*/ 0 w 394"/>
                <a:gd name="T25" fmla="*/ 223 h 263"/>
                <a:gd name="T26" fmla="*/ 197 w 394"/>
                <a:gd name="T27" fmla="*/ 263 h 263"/>
                <a:gd name="T28" fmla="*/ 394 w 394"/>
                <a:gd name="T29" fmla="*/ 223 h 263"/>
                <a:gd name="T30" fmla="*/ 394 w 394"/>
                <a:gd name="T31" fmla="*/ 19 h 263"/>
                <a:gd name="T32" fmla="*/ 380 w 394"/>
                <a:gd name="T33" fmla="*/ 19 h 263"/>
                <a:gd name="T34" fmla="*/ 191 w 394"/>
                <a:gd name="T35" fmla="*/ 223 h 263"/>
                <a:gd name="T36" fmla="*/ 191 w 394"/>
                <a:gd name="T37" fmla="*/ 44 h 263"/>
                <a:gd name="T38" fmla="*/ 54 w 394"/>
                <a:gd name="T39" fmla="*/ 2 h 263"/>
                <a:gd name="T40" fmla="*/ 54 w 394"/>
                <a:gd name="T41" fmla="*/ 188 h 263"/>
                <a:gd name="T42" fmla="*/ 59 w 394"/>
                <a:gd name="T43" fmla="*/ 188 h 263"/>
                <a:gd name="T44" fmla="*/ 191 w 394"/>
                <a:gd name="T45" fmla="*/ 223 h 263"/>
                <a:gd name="T46" fmla="*/ 340 w 394"/>
                <a:gd name="T47" fmla="*/ 188 h 263"/>
                <a:gd name="T48" fmla="*/ 340 w 394"/>
                <a:gd name="T49" fmla="*/ 2 h 263"/>
                <a:gd name="T50" fmla="*/ 204 w 394"/>
                <a:gd name="T51" fmla="*/ 44 h 263"/>
                <a:gd name="T52" fmla="*/ 204 w 394"/>
                <a:gd name="T53" fmla="*/ 223 h 263"/>
                <a:gd name="T54" fmla="*/ 335 w 394"/>
                <a:gd name="T55" fmla="*/ 188 h 263"/>
                <a:gd name="T56" fmla="*/ 340 w 394"/>
                <a:gd name="T57" fmla="*/ 188 h 263"/>
                <a:gd name="T58" fmla="*/ 197 w 394"/>
                <a:gd name="T59" fmla="*/ 252 h 263"/>
                <a:gd name="T60" fmla="*/ 371 w 394"/>
                <a:gd name="T61" fmla="*/ 211 h 263"/>
                <a:gd name="T62" fmla="*/ 371 w 394"/>
                <a:gd name="T63" fmla="*/ 4 h 263"/>
                <a:gd name="T64" fmla="*/ 350 w 394"/>
                <a:gd name="T65" fmla="*/ 4 h 263"/>
                <a:gd name="T66" fmla="*/ 350 w 394"/>
                <a:gd name="T67" fmla="*/ 198 h 263"/>
                <a:gd name="T68" fmla="*/ 344 w 394"/>
                <a:gd name="T69" fmla="*/ 197 h 263"/>
                <a:gd name="T70" fmla="*/ 334 w 394"/>
                <a:gd name="T71" fmla="*/ 197 h 263"/>
                <a:gd name="T72" fmla="*/ 201 w 394"/>
                <a:gd name="T73" fmla="*/ 235 h 263"/>
                <a:gd name="T74" fmla="*/ 197 w 394"/>
                <a:gd name="T75" fmla="*/ 237 h 263"/>
                <a:gd name="T76" fmla="*/ 194 w 394"/>
                <a:gd name="T77" fmla="*/ 235 h 263"/>
                <a:gd name="T78" fmla="*/ 60 w 394"/>
                <a:gd name="T79" fmla="*/ 197 h 263"/>
                <a:gd name="T80" fmla="*/ 50 w 394"/>
                <a:gd name="T81" fmla="*/ 197 h 263"/>
                <a:gd name="T82" fmla="*/ 45 w 394"/>
                <a:gd name="T83" fmla="*/ 198 h 263"/>
                <a:gd name="T84" fmla="*/ 45 w 394"/>
                <a:gd name="T85" fmla="*/ 4 h 263"/>
                <a:gd name="T86" fmla="*/ 24 w 394"/>
                <a:gd name="T87" fmla="*/ 4 h 263"/>
                <a:gd name="T88" fmla="*/ 24 w 394"/>
                <a:gd name="T89" fmla="*/ 211 h 263"/>
                <a:gd name="T90" fmla="*/ 197 w 394"/>
                <a:gd name="T91" fmla="*/ 252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4" h="263">
                  <a:moveTo>
                    <a:pt x="380" y="19"/>
                  </a:moveTo>
                  <a:lnTo>
                    <a:pt x="380" y="216"/>
                  </a:lnTo>
                  <a:lnTo>
                    <a:pt x="374" y="216"/>
                  </a:lnTo>
                  <a:cubicBezTo>
                    <a:pt x="370" y="215"/>
                    <a:pt x="366" y="215"/>
                    <a:pt x="362" y="215"/>
                  </a:cubicBezTo>
                  <a:cubicBezTo>
                    <a:pt x="307" y="215"/>
                    <a:pt x="250" y="230"/>
                    <a:pt x="199" y="256"/>
                  </a:cubicBezTo>
                  <a:lnTo>
                    <a:pt x="197" y="257"/>
                  </a:lnTo>
                  <a:lnTo>
                    <a:pt x="195" y="256"/>
                  </a:lnTo>
                  <a:cubicBezTo>
                    <a:pt x="145" y="230"/>
                    <a:pt x="87" y="215"/>
                    <a:pt x="33" y="215"/>
                  </a:cubicBezTo>
                  <a:cubicBezTo>
                    <a:pt x="28" y="215"/>
                    <a:pt x="24" y="215"/>
                    <a:pt x="20" y="216"/>
                  </a:cubicBezTo>
                  <a:lnTo>
                    <a:pt x="14" y="216"/>
                  </a:lnTo>
                  <a:lnTo>
                    <a:pt x="14" y="19"/>
                  </a:lnTo>
                  <a:cubicBezTo>
                    <a:pt x="10" y="19"/>
                    <a:pt x="5" y="19"/>
                    <a:pt x="0" y="19"/>
                  </a:cubicBezTo>
                  <a:lnTo>
                    <a:pt x="0" y="223"/>
                  </a:lnTo>
                  <a:cubicBezTo>
                    <a:pt x="66" y="222"/>
                    <a:pt x="136" y="236"/>
                    <a:pt x="197" y="263"/>
                  </a:cubicBezTo>
                  <a:cubicBezTo>
                    <a:pt x="259" y="236"/>
                    <a:pt x="328" y="222"/>
                    <a:pt x="394" y="223"/>
                  </a:cubicBezTo>
                  <a:lnTo>
                    <a:pt x="394" y="19"/>
                  </a:lnTo>
                  <a:cubicBezTo>
                    <a:pt x="389" y="19"/>
                    <a:pt x="385" y="19"/>
                    <a:pt x="380" y="19"/>
                  </a:cubicBezTo>
                  <a:close/>
                  <a:moveTo>
                    <a:pt x="191" y="223"/>
                  </a:moveTo>
                  <a:lnTo>
                    <a:pt x="191" y="44"/>
                  </a:lnTo>
                  <a:cubicBezTo>
                    <a:pt x="148" y="16"/>
                    <a:pt x="100" y="0"/>
                    <a:pt x="54" y="2"/>
                  </a:cubicBezTo>
                  <a:lnTo>
                    <a:pt x="54" y="188"/>
                  </a:lnTo>
                  <a:cubicBezTo>
                    <a:pt x="56" y="188"/>
                    <a:pt x="58" y="188"/>
                    <a:pt x="59" y="188"/>
                  </a:cubicBezTo>
                  <a:cubicBezTo>
                    <a:pt x="103" y="188"/>
                    <a:pt x="150" y="200"/>
                    <a:pt x="191" y="223"/>
                  </a:cubicBezTo>
                  <a:close/>
                  <a:moveTo>
                    <a:pt x="340" y="188"/>
                  </a:moveTo>
                  <a:lnTo>
                    <a:pt x="340" y="2"/>
                  </a:lnTo>
                  <a:cubicBezTo>
                    <a:pt x="295" y="0"/>
                    <a:pt x="246" y="16"/>
                    <a:pt x="204" y="44"/>
                  </a:cubicBezTo>
                  <a:lnTo>
                    <a:pt x="204" y="223"/>
                  </a:lnTo>
                  <a:cubicBezTo>
                    <a:pt x="245" y="200"/>
                    <a:pt x="291" y="188"/>
                    <a:pt x="335" y="188"/>
                  </a:cubicBezTo>
                  <a:cubicBezTo>
                    <a:pt x="337" y="188"/>
                    <a:pt x="339" y="188"/>
                    <a:pt x="340" y="188"/>
                  </a:cubicBezTo>
                  <a:close/>
                  <a:moveTo>
                    <a:pt x="197" y="252"/>
                  </a:moveTo>
                  <a:cubicBezTo>
                    <a:pt x="253" y="222"/>
                    <a:pt x="315" y="209"/>
                    <a:pt x="371" y="211"/>
                  </a:cubicBezTo>
                  <a:lnTo>
                    <a:pt x="371" y="4"/>
                  </a:lnTo>
                  <a:cubicBezTo>
                    <a:pt x="364" y="4"/>
                    <a:pt x="357" y="4"/>
                    <a:pt x="350" y="4"/>
                  </a:cubicBezTo>
                  <a:lnTo>
                    <a:pt x="350" y="198"/>
                  </a:lnTo>
                  <a:lnTo>
                    <a:pt x="344" y="197"/>
                  </a:lnTo>
                  <a:cubicBezTo>
                    <a:pt x="341" y="197"/>
                    <a:pt x="337" y="197"/>
                    <a:pt x="334" y="197"/>
                  </a:cubicBezTo>
                  <a:cubicBezTo>
                    <a:pt x="289" y="197"/>
                    <a:pt x="242" y="211"/>
                    <a:pt x="201" y="235"/>
                  </a:cubicBezTo>
                  <a:lnTo>
                    <a:pt x="197" y="237"/>
                  </a:lnTo>
                  <a:lnTo>
                    <a:pt x="194" y="235"/>
                  </a:lnTo>
                  <a:cubicBezTo>
                    <a:pt x="153" y="211"/>
                    <a:pt x="105" y="197"/>
                    <a:pt x="60" y="197"/>
                  </a:cubicBezTo>
                  <a:cubicBezTo>
                    <a:pt x="57" y="197"/>
                    <a:pt x="54" y="197"/>
                    <a:pt x="50" y="197"/>
                  </a:cubicBezTo>
                  <a:lnTo>
                    <a:pt x="45" y="198"/>
                  </a:lnTo>
                  <a:lnTo>
                    <a:pt x="45" y="4"/>
                  </a:lnTo>
                  <a:cubicBezTo>
                    <a:pt x="38" y="4"/>
                    <a:pt x="31" y="4"/>
                    <a:pt x="24" y="4"/>
                  </a:cubicBezTo>
                  <a:lnTo>
                    <a:pt x="24" y="211"/>
                  </a:lnTo>
                  <a:cubicBezTo>
                    <a:pt x="79" y="209"/>
                    <a:pt x="142" y="222"/>
                    <a:pt x="197" y="2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8029" y="198604"/>
            <a:ext cx="472312" cy="484825"/>
            <a:chOff x="2014036" y="-1899592"/>
            <a:chExt cx="1050534" cy="1078364"/>
          </a:xfrm>
        </p:grpSpPr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2014036" y="-1899592"/>
              <a:ext cx="1050534" cy="107836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2313195" y="-1670005"/>
              <a:ext cx="553096" cy="640061"/>
            </a:xfrm>
            <a:custGeom>
              <a:avLst/>
              <a:gdLst>
                <a:gd name="T0" fmla="*/ 214 w 336"/>
                <a:gd name="T1" fmla="*/ 48 h 380"/>
                <a:gd name="T2" fmla="*/ 167 w 336"/>
                <a:gd name="T3" fmla="*/ 95 h 380"/>
                <a:gd name="T4" fmla="*/ 119 w 336"/>
                <a:gd name="T5" fmla="*/ 95 h 380"/>
                <a:gd name="T6" fmla="*/ 72 w 336"/>
                <a:gd name="T7" fmla="*/ 48 h 380"/>
                <a:gd name="T8" fmla="*/ 119 w 336"/>
                <a:gd name="T9" fmla="*/ 0 h 380"/>
                <a:gd name="T10" fmla="*/ 167 w 336"/>
                <a:gd name="T11" fmla="*/ 0 h 380"/>
                <a:gd name="T12" fmla="*/ 214 w 336"/>
                <a:gd name="T13" fmla="*/ 48 h 380"/>
                <a:gd name="T14" fmla="*/ 237 w 336"/>
                <a:gd name="T15" fmla="*/ 48 h 380"/>
                <a:gd name="T16" fmla="*/ 238 w 336"/>
                <a:gd name="T17" fmla="*/ 59 h 380"/>
                <a:gd name="T18" fmla="*/ 179 w 336"/>
                <a:gd name="T19" fmla="*/ 118 h 380"/>
                <a:gd name="T20" fmla="*/ 107 w 336"/>
                <a:gd name="T21" fmla="*/ 118 h 380"/>
                <a:gd name="T22" fmla="*/ 48 w 336"/>
                <a:gd name="T23" fmla="*/ 59 h 380"/>
                <a:gd name="T24" fmla="*/ 49 w 336"/>
                <a:gd name="T25" fmla="*/ 48 h 380"/>
                <a:gd name="T26" fmla="*/ 0 w 336"/>
                <a:gd name="T27" fmla="*/ 106 h 380"/>
                <a:gd name="T28" fmla="*/ 0 w 336"/>
                <a:gd name="T29" fmla="*/ 320 h 380"/>
                <a:gd name="T30" fmla="*/ 60 w 336"/>
                <a:gd name="T31" fmla="*/ 380 h 380"/>
                <a:gd name="T32" fmla="*/ 218 w 336"/>
                <a:gd name="T33" fmla="*/ 380 h 380"/>
                <a:gd name="T34" fmla="*/ 153 w 336"/>
                <a:gd name="T35" fmla="*/ 282 h 380"/>
                <a:gd name="T36" fmla="*/ 260 w 336"/>
                <a:gd name="T37" fmla="*/ 176 h 380"/>
                <a:gd name="T38" fmla="*/ 286 w 336"/>
                <a:gd name="T39" fmla="*/ 179 h 380"/>
                <a:gd name="T40" fmla="*/ 286 w 336"/>
                <a:gd name="T41" fmla="*/ 106 h 380"/>
                <a:gd name="T42" fmla="*/ 237 w 336"/>
                <a:gd name="T43" fmla="*/ 48 h 380"/>
                <a:gd name="T44" fmla="*/ 134 w 336"/>
                <a:gd name="T45" fmla="*/ 238 h 380"/>
                <a:gd name="T46" fmla="*/ 134 w 336"/>
                <a:gd name="T47" fmla="*/ 238 h 380"/>
                <a:gd name="T48" fmla="*/ 60 w 336"/>
                <a:gd name="T49" fmla="*/ 238 h 380"/>
                <a:gd name="T50" fmla="*/ 48 w 336"/>
                <a:gd name="T51" fmla="*/ 226 h 380"/>
                <a:gd name="T52" fmla="*/ 60 w 336"/>
                <a:gd name="T53" fmla="*/ 214 h 380"/>
                <a:gd name="T54" fmla="*/ 134 w 336"/>
                <a:gd name="T55" fmla="*/ 214 h 380"/>
                <a:gd name="T56" fmla="*/ 146 w 336"/>
                <a:gd name="T57" fmla="*/ 226 h 380"/>
                <a:gd name="T58" fmla="*/ 134 w 336"/>
                <a:gd name="T59" fmla="*/ 238 h 380"/>
                <a:gd name="T60" fmla="*/ 158 w 336"/>
                <a:gd name="T61" fmla="*/ 190 h 380"/>
                <a:gd name="T62" fmla="*/ 158 w 336"/>
                <a:gd name="T63" fmla="*/ 190 h 380"/>
                <a:gd name="T64" fmla="*/ 60 w 336"/>
                <a:gd name="T65" fmla="*/ 190 h 380"/>
                <a:gd name="T66" fmla="*/ 48 w 336"/>
                <a:gd name="T67" fmla="*/ 178 h 380"/>
                <a:gd name="T68" fmla="*/ 60 w 336"/>
                <a:gd name="T69" fmla="*/ 167 h 380"/>
                <a:gd name="T70" fmla="*/ 158 w 336"/>
                <a:gd name="T71" fmla="*/ 167 h 380"/>
                <a:gd name="T72" fmla="*/ 170 w 336"/>
                <a:gd name="T73" fmla="*/ 178 h 380"/>
                <a:gd name="T74" fmla="*/ 158 w 336"/>
                <a:gd name="T75" fmla="*/ 190 h 380"/>
                <a:gd name="T76" fmla="*/ 279 w 336"/>
                <a:gd name="T77" fmla="*/ 208 h 380"/>
                <a:gd name="T78" fmla="*/ 260 w 336"/>
                <a:gd name="T79" fmla="*/ 206 h 380"/>
                <a:gd name="T80" fmla="*/ 184 w 336"/>
                <a:gd name="T81" fmla="*/ 281 h 380"/>
                <a:gd name="T82" fmla="*/ 244 w 336"/>
                <a:gd name="T83" fmla="*/ 356 h 380"/>
                <a:gd name="T84" fmla="*/ 260 w 336"/>
                <a:gd name="T85" fmla="*/ 357 h 380"/>
                <a:gd name="T86" fmla="*/ 336 w 336"/>
                <a:gd name="T87" fmla="*/ 281 h 380"/>
                <a:gd name="T88" fmla="*/ 279 w 336"/>
                <a:gd name="T89" fmla="*/ 208 h 380"/>
                <a:gd name="T90" fmla="*/ 303 w 336"/>
                <a:gd name="T91" fmla="*/ 271 h 380"/>
                <a:gd name="T92" fmla="*/ 303 w 336"/>
                <a:gd name="T93" fmla="*/ 271 h 380"/>
                <a:gd name="T94" fmla="*/ 279 w 336"/>
                <a:gd name="T95" fmla="*/ 295 h 380"/>
                <a:gd name="T96" fmla="*/ 260 w 336"/>
                <a:gd name="T97" fmla="*/ 314 h 380"/>
                <a:gd name="T98" fmla="*/ 239 w 336"/>
                <a:gd name="T99" fmla="*/ 314 h 380"/>
                <a:gd name="T100" fmla="*/ 217 w 336"/>
                <a:gd name="T101" fmla="*/ 292 h 380"/>
                <a:gd name="T102" fmla="*/ 217 w 336"/>
                <a:gd name="T103" fmla="*/ 271 h 380"/>
                <a:gd name="T104" fmla="*/ 239 w 336"/>
                <a:gd name="T105" fmla="*/ 271 h 380"/>
                <a:gd name="T106" fmla="*/ 250 w 336"/>
                <a:gd name="T107" fmla="*/ 281 h 380"/>
                <a:gd name="T108" fmla="*/ 279 w 336"/>
                <a:gd name="T109" fmla="*/ 252 h 380"/>
                <a:gd name="T110" fmla="*/ 282 w 336"/>
                <a:gd name="T111" fmla="*/ 249 h 380"/>
                <a:gd name="T112" fmla="*/ 303 w 336"/>
                <a:gd name="T113" fmla="*/ 249 h 380"/>
                <a:gd name="T114" fmla="*/ 303 w 336"/>
                <a:gd name="T115" fmla="*/ 27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6" h="380">
                  <a:moveTo>
                    <a:pt x="214" y="48"/>
                  </a:moveTo>
                  <a:cubicBezTo>
                    <a:pt x="214" y="74"/>
                    <a:pt x="193" y="95"/>
                    <a:pt x="167" y="95"/>
                  </a:cubicBezTo>
                  <a:lnTo>
                    <a:pt x="119" y="95"/>
                  </a:lnTo>
                  <a:cubicBezTo>
                    <a:pt x="93" y="95"/>
                    <a:pt x="72" y="74"/>
                    <a:pt x="72" y="48"/>
                  </a:cubicBezTo>
                  <a:cubicBezTo>
                    <a:pt x="72" y="21"/>
                    <a:pt x="93" y="0"/>
                    <a:pt x="119" y="0"/>
                  </a:cubicBezTo>
                  <a:lnTo>
                    <a:pt x="167" y="0"/>
                  </a:lnTo>
                  <a:cubicBezTo>
                    <a:pt x="193" y="0"/>
                    <a:pt x="214" y="21"/>
                    <a:pt x="214" y="48"/>
                  </a:cubicBezTo>
                  <a:close/>
                  <a:moveTo>
                    <a:pt x="237" y="48"/>
                  </a:moveTo>
                  <a:cubicBezTo>
                    <a:pt x="238" y="51"/>
                    <a:pt x="238" y="55"/>
                    <a:pt x="238" y="59"/>
                  </a:cubicBezTo>
                  <a:cubicBezTo>
                    <a:pt x="238" y="91"/>
                    <a:pt x="211" y="118"/>
                    <a:pt x="179" y="118"/>
                  </a:cubicBezTo>
                  <a:lnTo>
                    <a:pt x="107" y="118"/>
                  </a:lnTo>
                  <a:cubicBezTo>
                    <a:pt x="74" y="118"/>
                    <a:pt x="48" y="91"/>
                    <a:pt x="48" y="59"/>
                  </a:cubicBezTo>
                  <a:cubicBezTo>
                    <a:pt x="48" y="55"/>
                    <a:pt x="48" y="51"/>
                    <a:pt x="49" y="48"/>
                  </a:cubicBezTo>
                  <a:cubicBezTo>
                    <a:pt x="21" y="53"/>
                    <a:pt x="0" y="77"/>
                    <a:pt x="0" y="106"/>
                  </a:cubicBezTo>
                  <a:lnTo>
                    <a:pt x="0" y="320"/>
                  </a:lnTo>
                  <a:cubicBezTo>
                    <a:pt x="0" y="353"/>
                    <a:pt x="27" y="380"/>
                    <a:pt x="60" y="380"/>
                  </a:cubicBezTo>
                  <a:lnTo>
                    <a:pt x="218" y="380"/>
                  </a:lnTo>
                  <a:cubicBezTo>
                    <a:pt x="180" y="363"/>
                    <a:pt x="153" y="326"/>
                    <a:pt x="153" y="282"/>
                  </a:cubicBezTo>
                  <a:cubicBezTo>
                    <a:pt x="153" y="223"/>
                    <a:pt x="201" y="176"/>
                    <a:pt x="260" y="176"/>
                  </a:cubicBezTo>
                  <a:cubicBezTo>
                    <a:pt x="269" y="176"/>
                    <a:pt x="277" y="177"/>
                    <a:pt x="286" y="179"/>
                  </a:cubicBezTo>
                  <a:lnTo>
                    <a:pt x="286" y="106"/>
                  </a:lnTo>
                  <a:cubicBezTo>
                    <a:pt x="286" y="77"/>
                    <a:pt x="265" y="53"/>
                    <a:pt x="237" y="48"/>
                  </a:cubicBezTo>
                  <a:close/>
                  <a:moveTo>
                    <a:pt x="134" y="238"/>
                  </a:moveTo>
                  <a:lnTo>
                    <a:pt x="134" y="238"/>
                  </a:lnTo>
                  <a:lnTo>
                    <a:pt x="60" y="238"/>
                  </a:lnTo>
                  <a:cubicBezTo>
                    <a:pt x="53" y="238"/>
                    <a:pt x="48" y="233"/>
                    <a:pt x="48" y="226"/>
                  </a:cubicBezTo>
                  <a:cubicBezTo>
                    <a:pt x="48" y="219"/>
                    <a:pt x="53" y="214"/>
                    <a:pt x="60" y="214"/>
                  </a:cubicBezTo>
                  <a:lnTo>
                    <a:pt x="134" y="214"/>
                  </a:lnTo>
                  <a:cubicBezTo>
                    <a:pt x="141" y="214"/>
                    <a:pt x="146" y="219"/>
                    <a:pt x="146" y="226"/>
                  </a:cubicBezTo>
                  <a:cubicBezTo>
                    <a:pt x="146" y="233"/>
                    <a:pt x="141" y="238"/>
                    <a:pt x="134" y="238"/>
                  </a:cubicBezTo>
                  <a:close/>
                  <a:moveTo>
                    <a:pt x="158" y="190"/>
                  </a:moveTo>
                  <a:lnTo>
                    <a:pt x="158" y="190"/>
                  </a:lnTo>
                  <a:lnTo>
                    <a:pt x="60" y="190"/>
                  </a:lnTo>
                  <a:cubicBezTo>
                    <a:pt x="53" y="190"/>
                    <a:pt x="48" y="185"/>
                    <a:pt x="48" y="178"/>
                  </a:cubicBezTo>
                  <a:cubicBezTo>
                    <a:pt x="48" y="172"/>
                    <a:pt x="53" y="167"/>
                    <a:pt x="60" y="167"/>
                  </a:cubicBezTo>
                  <a:lnTo>
                    <a:pt x="158" y="167"/>
                  </a:lnTo>
                  <a:cubicBezTo>
                    <a:pt x="164" y="167"/>
                    <a:pt x="170" y="172"/>
                    <a:pt x="170" y="178"/>
                  </a:cubicBezTo>
                  <a:cubicBezTo>
                    <a:pt x="170" y="185"/>
                    <a:pt x="164" y="190"/>
                    <a:pt x="158" y="190"/>
                  </a:cubicBezTo>
                  <a:close/>
                  <a:moveTo>
                    <a:pt x="279" y="208"/>
                  </a:moveTo>
                  <a:cubicBezTo>
                    <a:pt x="273" y="207"/>
                    <a:pt x="267" y="206"/>
                    <a:pt x="260" y="206"/>
                  </a:cubicBezTo>
                  <a:cubicBezTo>
                    <a:pt x="218" y="206"/>
                    <a:pt x="184" y="240"/>
                    <a:pt x="184" y="281"/>
                  </a:cubicBezTo>
                  <a:cubicBezTo>
                    <a:pt x="184" y="318"/>
                    <a:pt x="210" y="348"/>
                    <a:pt x="244" y="356"/>
                  </a:cubicBezTo>
                  <a:cubicBezTo>
                    <a:pt x="249" y="357"/>
                    <a:pt x="255" y="357"/>
                    <a:pt x="260" y="357"/>
                  </a:cubicBezTo>
                  <a:cubicBezTo>
                    <a:pt x="302" y="357"/>
                    <a:pt x="336" y="323"/>
                    <a:pt x="336" y="281"/>
                  </a:cubicBezTo>
                  <a:cubicBezTo>
                    <a:pt x="336" y="246"/>
                    <a:pt x="312" y="216"/>
                    <a:pt x="279" y="208"/>
                  </a:cubicBezTo>
                  <a:close/>
                  <a:moveTo>
                    <a:pt x="303" y="271"/>
                  </a:moveTo>
                  <a:lnTo>
                    <a:pt x="303" y="271"/>
                  </a:lnTo>
                  <a:lnTo>
                    <a:pt x="279" y="295"/>
                  </a:lnTo>
                  <a:lnTo>
                    <a:pt x="260" y="314"/>
                  </a:lnTo>
                  <a:cubicBezTo>
                    <a:pt x="254" y="320"/>
                    <a:pt x="245" y="320"/>
                    <a:pt x="239" y="314"/>
                  </a:cubicBezTo>
                  <a:lnTo>
                    <a:pt x="217" y="292"/>
                  </a:lnTo>
                  <a:cubicBezTo>
                    <a:pt x="211" y="286"/>
                    <a:pt x="211" y="277"/>
                    <a:pt x="217" y="271"/>
                  </a:cubicBezTo>
                  <a:cubicBezTo>
                    <a:pt x="223" y="265"/>
                    <a:pt x="233" y="265"/>
                    <a:pt x="239" y="271"/>
                  </a:cubicBezTo>
                  <a:lnTo>
                    <a:pt x="250" y="281"/>
                  </a:lnTo>
                  <a:lnTo>
                    <a:pt x="279" y="252"/>
                  </a:lnTo>
                  <a:lnTo>
                    <a:pt x="282" y="249"/>
                  </a:lnTo>
                  <a:cubicBezTo>
                    <a:pt x="288" y="243"/>
                    <a:pt x="297" y="243"/>
                    <a:pt x="303" y="249"/>
                  </a:cubicBezTo>
                  <a:cubicBezTo>
                    <a:pt x="309" y="255"/>
                    <a:pt x="309" y="265"/>
                    <a:pt x="303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71677" y="198604"/>
            <a:ext cx="472312" cy="484825"/>
            <a:chOff x="3252414" y="-1899592"/>
            <a:chExt cx="1050534" cy="1078364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252414" y="-1899592"/>
              <a:ext cx="1050534" cy="107836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3450694" y="-1683919"/>
              <a:ext cx="594839" cy="647018"/>
            </a:xfrm>
            <a:custGeom>
              <a:avLst/>
              <a:gdLst>
                <a:gd name="T0" fmla="*/ 136 w 360"/>
                <a:gd name="T1" fmla="*/ 238 h 383"/>
                <a:gd name="T2" fmla="*/ 130 w 360"/>
                <a:gd name="T3" fmla="*/ 217 h 383"/>
                <a:gd name="T4" fmla="*/ 157 w 360"/>
                <a:gd name="T5" fmla="*/ 104 h 383"/>
                <a:gd name="T6" fmla="*/ 187 w 360"/>
                <a:gd name="T7" fmla="*/ 195 h 383"/>
                <a:gd name="T8" fmla="*/ 223 w 360"/>
                <a:gd name="T9" fmla="*/ 90 h 383"/>
                <a:gd name="T10" fmla="*/ 142 w 360"/>
                <a:gd name="T11" fmla="*/ 179 h 383"/>
                <a:gd name="T12" fmla="*/ 136 w 360"/>
                <a:gd name="T13" fmla="*/ 191 h 383"/>
                <a:gd name="T14" fmla="*/ 185 w 360"/>
                <a:gd name="T15" fmla="*/ 220 h 383"/>
                <a:gd name="T16" fmla="*/ 237 w 360"/>
                <a:gd name="T17" fmla="*/ 76 h 383"/>
                <a:gd name="T18" fmla="*/ 240 w 360"/>
                <a:gd name="T19" fmla="*/ 49 h 383"/>
                <a:gd name="T20" fmla="*/ 237 w 360"/>
                <a:gd name="T21" fmla="*/ 76 h 383"/>
                <a:gd name="T22" fmla="*/ 281 w 360"/>
                <a:gd name="T23" fmla="*/ 90 h 383"/>
                <a:gd name="T24" fmla="*/ 253 w 360"/>
                <a:gd name="T25" fmla="*/ 93 h 383"/>
                <a:gd name="T26" fmla="*/ 205 w 360"/>
                <a:gd name="T27" fmla="*/ 64 h 383"/>
                <a:gd name="T28" fmla="*/ 194 w 360"/>
                <a:gd name="T29" fmla="*/ 39 h 383"/>
                <a:gd name="T30" fmla="*/ 205 w 360"/>
                <a:gd name="T31" fmla="*/ 64 h 383"/>
                <a:gd name="T32" fmla="*/ 159 w 360"/>
                <a:gd name="T33" fmla="*/ 48 h 383"/>
                <a:gd name="T34" fmla="*/ 161 w 360"/>
                <a:gd name="T35" fmla="*/ 76 h 383"/>
                <a:gd name="T36" fmla="*/ 264 w 360"/>
                <a:gd name="T37" fmla="*/ 137 h 383"/>
                <a:gd name="T38" fmla="*/ 290 w 360"/>
                <a:gd name="T39" fmla="*/ 125 h 383"/>
                <a:gd name="T40" fmla="*/ 264 w 360"/>
                <a:gd name="T41" fmla="*/ 137 h 383"/>
                <a:gd name="T42" fmla="*/ 132 w 360"/>
                <a:gd name="T43" fmla="*/ 196 h 383"/>
                <a:gd name="T44" fmla="*/ 126 w 360"/>
                <a:gd name="T45" fmla="*/ 208 h 383"/>
                <a:gd name="T46" fmla="*/ 175 w 360"/>
                <a:gd name="T47" fmla="*/ 237 h 383"/>
                <a:gd name="T48" fmla="*/ 131 w 360"/>
                <a:gd name="T49" fmla="*/ 383 h 383"/>
                <a:gd name="T50" fmla="*/ 141 w 360"/>
                <a:gd name="T51" fmla="*/ 22 h 383"/>
                <a:gd name="T52" fmla="*/ 342 w 360"/>
                <a:gd name="T53" fmla="*/ 109 h 383"/>
                <a:gd name="T54" fmla="*/ 345 w 360"/>
                <a:gd name="T55" fmla="*/ 167 h 383"/>
                <a:gd name="T56" fmla="*/ 356 w 360"/>
                <a:gd name="T57" fmla="*/ 240 h 383"/>
                <a:gd name="T58" fmla="*/ 343 w 360"/>
                <a:gd name="T59" fmla="*/ 301 h 383"/>
                <a:gd name="T60" fmla="*/ 269 w 360"/>
                <a:gd name="T61" fmla="*/ 318 h 383"/>
                <a:gd name="T62" fmla="*/ 131 w 360"/>
                <a:gd name="T63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0" h="383">
                  <a:moveTo>
                    <a:pt x="130" y="217"/>
                  </a:moveTo>
                  <a:cubicBezTo>
                    <a:pt x="126" y="224"/>
                    <a:pt x="129" y="234"/>
                    <a:pt x="136" y="238"/>
                  </a:cubicBezTo>
                  <a:cubicBezTo>
                    <a:pt x="143" y="242"/>
                    <a:pt x="151" y="241"/>
                    <a:pt x="156" y="236"/>
                  </a:cubicBezTo>
                  <a:lnTo>
                    <a:pt x="130" y="217"/>
                  </a:lnTo>
                  <a:close/>
                  <a:moveTo>
                    <a:pt x="223" y="90"/>
                  </a:moveTo>
                  <a:cubicBezTo>
                    <a:pt x="199" y="76"/>
                    <a:pt x="170" y="83"/>
                    <a:pt x="157" y="104"/>
                  </a:cubicBezTo>
                  <a:cubicBezTo>
                    <a:pt x="144" y="127"/>
                    <a:pt x="161" y="151"/>
                    <a:pt x="149" y="174"/>
                  </a:cubicBezTo>
                  <a:lnTo>
                    <a:pt x="187" y="195"/>
                  </a:lnTo>
                  <a:cubicBezTo>
                    <a:pt x="201" y="174"/>
                    <a:pt x="231" y="176"/>
                    <a:pt x="243" y="154"/>
                  </a:cubicBezTo>
                  <a:cubicBezTo>
                    <a:pt x="256" y="132"/>
                    <a:pt x="247" y="104"/>
                    <a:pt x="223" y="90"/>
                  </a:cubicBezTo>
                  <a:close/>
                  <a:moveTo>
                    <a:pt x="183" y="209"/>
                  </a:moveTo>
                  <a:lnTo>
                    <a:pt x="142" y="179"/>
                  </a:lnTo>
                  <a:cubicBezTo>
                    <a:pt x="139" y="176"/>
                    <a:pt x="135" y="177"/>
                    <a:pt x="133" y="181"/>
                  </a:cubicBezTo>
                  <a:cubicBezTo>
                    <a:pt x="132" y="184"/>
                    <a:pt x="132" y="188"/>
                    <a:pt x="136" y="191"/>
                  </a:cubicBezTo>
                  <a:lnTo>
                    <a:pt x="176" y="221"/>
                  </a:lnTo>
                  <a:cubicBezTo>
                    <a:pt x="179" y="224"/>
                    <a:pt x="183" y="223"/>
                    <a:pt x="185" y="220"/>
                  </a:cubicBezTo>
                  <a:cubicBezTo>
                    <a:pt x="187" y="216"/>
                    <a:pt x="186" y="212"/>
                    <a:pt x="183" y="209"/>
                  </a:cubicBezTo>
                  <a:close/>
                  <a:moveTo>
                    <a:pt x="237" y="76"/>
                  </a:moveTo>
                  <a:lnTo>
                    <a:pt x="250" y="54"/>
                  </a:lnTo>
                  <a:lnTo>
                    <a:pt x="240" y="49"/>
                  </a:lnTo>
                  <a:lnTo>
                    <a:pt x="227" y="70"/>
                  </a:lnTo>
                  <a:lnTo>
                    <a:pt x="237" y="76"/>
                  </a:lnTo>
                  <a:close/>
                  <a:moveTo>
                    <a:pt x="259" y="103"/>
                  </a:moveTo>
                  <a:lnTo>
                    <a:pt x="281" y="90"/>
                  </a:lnTo>
                  <a:lnTo>
                    <a:pt x="275" y="80"/>
                  </a:lnTo>
                  <a:lnTo>
                    <a:pt x="253" y="93"/>
                  </a:lnTo>
                  <a:lnTo>
                    <a:pt x="259" y="103"/>
                  </a:lnTo>
                  <a:close/>
                  <a:moveTo>
                    <a:pt x="205" y="64"/>
                  </a:moveTo>
                  <a:lnTo>
                    <a:pt x="205" y="39"/>
                  </a:lnTo>
                  <a:lnTo>
                    <a:pt x="194" y="39"/>
                  </a:lnTo>
                  <a:lnTo>
                    <a:pt x="194" y="64"/>
                  </a:lnTo>
                  <a:lnTo>
                    <a:pt x="205" y="64"/>
                  </a:lnTo>
                  <a:close/>
                  <a:moveTo>
                    <a:pt x="172" y="70"/>
                  </a:moveTo>
                  <a:lnTo>
                    <a:pt x="159" y="48"/>
                  </a:lnTo>
                  <a:lnTo>
                    <a:pt x="149" y="54"/>
                  </a:lnTo>
                  <a:lnTo>
                    <a:pt x="161" y="76"/>
                  </a:lnTo>
                  <a:lnTo>
                    <a:pt x="172" y="70"/>
                  </a:lnTo>
                  <a:close/>
                  <a:moveTo>
                    <a:pt x="264" y="137"/>
                  </a:moveTo>
                  <a:lnTo>
                    <a:pt x="290" y="137"/>
                  </a:lnTo>
                  <a:lnTo>
                    <a:pt x="290" y="125"/>
                  </a:lnTo>
                  <a:lnTo>
                    <a:pt x="264" y="125"/>
                  </a:lnTo>
                  <a:lnTo>
                    <a:pt x="264" y="137"/>
                  </a:lnTo>
                  <a:close/>
                  <a:moveTo>
                    <a:pt x="173" y="227"/>
                  </a:moveTo>
                  <a:lnTo>
                    <a:pt x="132" y="196"/>
                  </a:lnTo>
                  <a:cubicBezTo>
                    <a:pt x="129" y="194"/>
                    <a:pt x="125" y="195"/>
                    <a:pt x="123" y="198"/>
                  </a:cubicBezTo>
                  <a:cubicBezTo>
                    <a:pt x="122" y="201"/>
                    <a:pt x="122" y="206"/>
                    <a:pt x="126" y="208"/>
                  </a:cubicBezTo>
                  <a:lnTo>
                    <a:pt x="166" y="239"/>
                  </a:lnTo>
                  <a:cubicBezTo>
                    <a:pt x="169" y="241"/>
                    <a:pt x="173" y="240"/>
                    <a:pt x="175" y="237"/>
                  </a:cubicBezTo>
                  <a:cubicBezTo>
                    <a:pt x="177" y="234"/>
                    <a:pt x="176" y="229"/>
                    <a:pt x="173" y="227"/>
                  </a:cubicBezTo>
                  <a:close/>
                  <a:moveTo>
                    <a:pt x="131" y="383"/>
                  </a:moveTo>
                  <a:cubicBezTo>
                    <a:pt x="136" y="353"/>
                    <a:pt x="136" y="321"/>
                    <a:pt x="127" y="293"/>
                  </a:cubicBezTo>
                  <a:cubicBezTo>
                    <a:pt x="0" y="221"/>
                    <a:pt x="34" y="56"/>
                    <a:pt x="141" y="22"/>
                  </a:cubicBezTo>
                  <a:cubicBezTo>
                    <a:pt x="197" y="0"/>
                    <a:pt x="274" y="13"/>
                    <a:pt x="323" y="63"/>
                  </a:cubicBezTo>
                  <a:cubicBezTo>
                    <a:pt x="360" y="99"/>
                    <a:pt x="342" y="109"/>
                    <a:pt x="342" y="109"/>
                  </a:cubicBezTo>
                  <a:lnTo>
                    <a:pt x="334" y="113"/>
                  </a:lnTo>
                  <a:cubicBezTo>
                    <a:pt x="339" y="131"/>
                    <a:pt x="346" y="162"/>
                    <a:pt x="345" y="167"/>
                  </a:cubicBezTo>
                  <a:cubicBezTo>
                    <a:pt x="344" y="173"/>
                    <a:pt x="337" y="179"/>
                    <a:pt x="337" y="179"/>
                  </a:cubicBezTo>
                  <a:lnTo>
                    <a:pt x="356" y="240"/>
                  </a:lnTo>
                  <a:lnTo>
                    <a:pt x="339" y="246"/>
                  </a:lnTo>
                  <a:cubicBezTo>
                    <a:pt x="343" y="266"/>
                    <a:pt x="345" y="282"/>
                    <a:pt x="343" y="301"/>
                  </a:cubicBezTo>
                  <a:cubicBezTo>
                    <a:pt x="343" y="305"/>
                    <a:pt x="332" y="314"/>
                    <a:pt x="323" y="315"/>
                  </a:cubicBezTo>
                  <a:lnTo>
                    <a:pt x="269" y="318"/>
                  </a:lnTo>
                  <a:lnTo>
                    <a:pt x="272" y="383"/>
                  </a:lnTo>
                  <a:lnTo>
                    <a:pt x="131" y="3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5327" y="198604"/>
            <a:ext cx="473877" cy="484825"/>
            <a:chOff x="4553407" y="-1899592"/>
            <a:chExt cx="1054013" cy="1078364"/>
          </a:xfrm>
        </p:grpSpPr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553407" y="-1899592"/>
              <a:ext cx="1054013" cy="107836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4824737" y="-1683919"/>
              <a:ext cx="594839" cy="650497"/>
            </a:xfrm>
            <a:custGeom>
              <a:avLst/>
              <a:gdLst>
                <a:gd name="T0" fmla="*/ 108 w 360"/>
                <a:gd name="T1" fmla="*/ 59 h 384"/>
                <a:gd name="T2" fmla="*/ 236 w 360"/>
                <a:gd name="T3" fmla="*/ 43 h 384"/>
                <a:gd name="T4" fmla="*/ 190 w 360"/>
                <a:gd name="T5" fmla="*/ 26 h 384"/>
                <a:gd name="T6" fmla="*/ 138 w 360"/>
                <a:gd name="T7" fmla="*/ 26 h 384"/>
                <a:gd name="T8" fmla="*/ 92 w 360"/>
                <a:gd name="T9" fmla="*/ 43 h 384"/>
                <a:gd name="T10" fmla="*/ 296 w 360"/>
                <a:gd name="T11" fmla="*/ 332 h 384"/>
                <a:gd name="T12" fmla="*/ 301 w 360"/>
                <a:gd name="T13" fmla="*/ 321 h 384"/>
                <a:gd name="T14" fmla="*/ 280 w 360"/>
                <a:gd name="T15" fmla="*/ 249 h 384"/>
                <a:gd name="T16" fmla="*/ 267 w 360"/>
                <a:gd name="T17" fmla="*/ 249 h 384"/>
                <a:gd name="T18" fmla="*/ 267 w 360"/>
                <a:gd name="T19" fmla="*/ 304 h 384"/>
                <a:gd name="T20" fmla="*/ 268 w 360"/>
                <a:gd name="T21" fmla="*/ 306 h 384"/>
                <a:gd name="T22" fmla="*/ 268 w 360"/>
                <a:gd name="T23" fmla="*/ 307 h 384"/>
                <a:gd name="T24" fmla="*/ 269 w 360"/>
                <a:gd name="T25" fmla="*/ 308 h 384"/>
                <a:gd name="T26" fmla="*/ 343 w 360"/>
                <a:gd name="T27" fmla="*/ 253 h 384"/>
                <a:gd name="T28" fmla="*/ 274 w 360"/>
                <a:gd name="T29" fmla="*/ 217 h 384"/>
                <a:gd name="T30" fmla="*/ 258 w 360"/>
                <a:gd name="T31" fmla="*/ 382 h 384"/>
                <a:gd name="T32" fmla="*/ 356 w 360"/>
                <a:gd name="T33" fmla="*/ 316 h 384"/>
                <a:gd name="T34" fmla="*/ 343 w 360"/>
                <a:gd name="T35" fmla="*/ 313 h 384"/>
                <a:gd name="T36" fmla="*/ 274 w 360"/>
                <a:gd name="T37" fmla="*/ 371 h 384"/>
                <a:gd name="T38" fmla="*/ 205 w 360"/>
                <a:gd name="T39" fmla="*/ 287 h 384"/>
                <a:gd name="T40" fmla="*/ 287 w 360"/>
                <a:gd name="T41" fmla="*/ 231 h 384"/>
                <a:gd name="T42" fmla="*/ 343 w 360"/>
                <a:gd name="T43" fmla="*/ 313 h 384"/>
                <a:gd name="T44" fmla="*/ 121 w 360"/>
                <a:gd name="T45" fmla="*/ 313 h 384"/>
                <a:gd name="T46" fmla="*/ 206 w 360"/>
                <a:gd name="T47" fmla="*/ 228 h 384"/>
                <a:gd name="T48" fmla="*/ 224 w 360"/>
                <a:gd name="T49" fmla="*/ 215 h 384"/>
                <a:gd name="T50" fmla="*/ 311 w 360"/>
                <a:gd name="T51" fmla="*/ 130 h 384"/>
                <a:gd name="T52" fmla="*/ 314 w 360"/>
                <a:gd name="T53" fmla="*/ 210 h 384"/>
                <a:gd name="T54" fmla="*/ 328 w 360"/>
                <a:gd name="T55" fmla="*/ 215 h 384"/>
                <a:gd name="T56" fmla="*/ 328 w 360"/>
                <a:gd name="T57" fmla="*/ 88 h 384"/>
                <a:gd name="T58" fmla="*/ 17 w 360"/>
                <a:gd name="T59" fmla="*/ 71 h 384"/>
                <a:gd name="T60" fmla="*/ 0 w 360"/>
                <a:gd name="T61" fmla="*/ 134 h 384"/>
                <a:gd name="T62" fmla="*/ 0 w 360"/>
                <a:gd name="T63" fmla="*/ 228 h 384"/>
                <a:gd name="T64" fmla="*/ 0 w 360"/>
                <a:gd name="T65" fmla="*/ 319 h 384"/>
                <a:gd name="T66" fmla="*/ 181 w 360"/>
                <a:gd name="T67" fmla="*/ 336 h 384"/>
                <a:gd name="T68" fmla="*/ 14 w 360"/>
                <a:gd name="T69" fmla="*/ 134 h 384"/>
                <a:gd name="T70" fmla="*/ 17 w 360"/>
                <a:gd name="T71" fmla="*/ 130 h 384"/>
                <a:gd name="T72" fmla="*/ 107 w 360"/>
                <a:gd name="T73" fmla="*/ 215 h 384"/>
                <a:gd name="T74" fmla="*/ 14 w 360"/>
                <a:gd name="T75" fmla="*/ 134 h 384"/>
                <a:gd name="T76" fmla="*/ 107 w 360"/>
                <a:gd name="T77" fmla="*/ 228 h 384"/>
                <a:gd name="T78" fmla="*/ 17 w 360"/>
                <a:gd name="T79" fmla="*/ 313 h 384"/>
                <a:gd name="T80" fmla="*/ 14 w 360"/>
                <a:gd name="T81" fmla="*/ 228 h 384"/>
                <a:gd name="T82" fmla="*/ 121 w 360"/>
                <a:gd name="T83" fmla="*/ 215 h 384"/>
                <a:gd name="T84" fmla="*/ 121 w 360"/>
                <a:gd name="T85" fmla="*/ 130 h 384"/>
                <a:gd name="T86" fmla="*/ 210 w 360"/>
                <a:gd name="T87" fmla="*/ 215 h 384"/>
                <a:gd name="T88" fmla="*/ 217 w 360"/>
                <a:gd name="T89" fmla="*/ 88 h 384"/>
                <a:gd name="T90" fmla="*/ 229 w 360"/>
                <a:gd name="T91" fmla="*/ 100 h 384"/>
                <a:gd name="T92" fmla="*/ 205 w 360"/>
                <a:gd name="T93" fmla="*/ 100 h 384"/>
                <a:gd name="T94" fmla="*/ 114 w 360"/>
                <a:gd name="T95" fmla="*/ 88 h 384"/>
                <a:gd name="T96" fmla="*/ 126 w 360"/>
                <a:gd name="T97" fmla="*/ 100 h 384"/>
                <a:gd name="T98" fmla="*/ 103 w 360"/>
                <a:gd name="T99" fmla="*/ 10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0" h="384">
                  <a:moveTo>
                    <a:pt x="92" y="43"/>
                  </a:moveTo>
                  <a:cubicBezTo>
                    <a:pt x="92" y="52"/>
                    <a:pt x="100" y="59"/>
                    <a:pt x="108" y="59"/>
                  </a:cubicBezTo>
                  <a:lnTo>
                    <a:pt x="220" y="59"/>
                  </a:lnTo>
                  <a:cubicBezTo>
                    <a:pt x="229" y="59"/>
                    <a:pt x="236" y="52"/>
                    <a:pt x="236" y="43"/>
                  </a:cubicBezTo>
                  <a:cubicBezTo>
                    <a:pt x="236" y="34"/>
                    <a:pt x="229" y="26"/>
                    <a:pt x="220" y="26"/>
                  </a:cubicBezTo>
                  <a:lnTo>
                    <a:pt x="190" y="26"/>
                  </a:lnTo>
                  <a:cubicBezTo>
                    <a:pt x="190" y="12"/>
                    <a:pt x="179" y="0"/>
                    <a:pt x="164" y="0"/>
                  </a:cubicBezTo>
                  <a:cubicBezTo>
                    <a:pt x="150" y="0"/>
                    <a:pt x="138" y="12"/>
                    <a:pt x="138" y="26"/>
                  </a:cubicBezTo>
                  <a:lnTo>
                    <a:pt x="108" y="26"/>
                  </a:lnTo>
                  <a:cubicBezTo>
                    <a:pt x="100" y="26"/>
                    <a:pt x="92" y="34"/>
                    <a:pt x="92" y="43"/>
                  </a:cubicBezTo>
                  <a:close/>
                  <a:moveTo>
                    <a:pt x="292" y="330"/>
                  </a:moveTo>
                  <a:cubicBezTo>
                    <a:pt x="293" y="332"/>
                    <a:pt x="295" y="332"/>
                    <a:pt x="296" y="332"/>
                  </a:cubicBezTo>
                  <a:cubicBezTo>
                    <a:pt x="298" y="332"/>
                    <a:pt x="300" y="332"/>
                    <a:pt x="301" y="330"/>
                  </a:cubicBezTo>
                  <a:cubicBezTo>
                    <a:pt x="304" y="328"/>
                    <a:pt x="304" y="323"/>
                    <a:pt x="301" y="321"/>
                  </a:cubicBezTo>
                  <a:lnTo>
                    <a:pt x="280" y="300"/>
                  </a:lnTo>
                  <a:lnTo>
                    <a:pt x="280" y="249"/>
                  </a:lnTo>
                  <a:cubicBezTo>
                    <a:pt x="280" y="245"/>
                    <a:pt x="278" y="242"/>
                    <a:pt x="274" y="242"/>
                  </a:cubicBezTo>
                  <a:cubicBezTo>
                    <a:pt x="270" y="242"/>
                    <a:pt x="267" y="245"/>
                    <a:pt x="267" y="249"/>
                  </a:cubicBezTo>
                  <a:lnTo>
                    <a:pt x="267" y="303"/>
                  </a:lnTo>
                  <a:cubicBezTo>
                    <a:pt x="267" y="303"/>
                    <a:pt x="267" y="304"/>
                    <a:pt x="267" y="304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8" y="305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7"/>
                    <a:pt x="268" y="307"/>
                  </a:cubicBezTo>
                  <a:cubicBezTo>
                    <a:pt x="268" y="307"/>
                    <a:pt x="269" y="307"/>
                    <a:pt x="269" y="308"/>
                  </a:cubicBezTo>
                  <a:cubicBezTo>
                    <a:pt x="269" y="308"/>
                    <a:pt x="269" y="308"/>
                    <a:pt x="269" y="308"/>
                  </a:cubicBezTo>
                  <a:lnTo>
                    <a:pt x="292" y="330"/>
                  </a:lnTo>
                  <a:close/>
                  <a:moveTo>
                    <a:pt x="343" y="253"/>
                  </a:moveTo>
                  <a:cubicBezTo>
                    <a:pt x="330" y="235"/>
                    <a:pt x="311" y="222"/>
                    <a:pt x="289" y="218"/>
                  </a:cubicBezTo>
                  <a:cubicBezTo>
                    <a:pt x="284" y="217"/>
                    <a:pt x="279" y="217"/>
                    <a:pt x="274" y="217"/>
                  </a:cubicBezTo>
                  <a:cubicBezTo>
                    <a:pt x="234" y="217"/>
                    <a:pt x="199" y="245"/>
                    <a:pt x="192" y="285"/>
                  </a:cubicBezTo>
                  <a:cubicBezTo>
                    <a:pt x="183" y="330"/>
                    <a:pt x="213" y="373"/>
                    <a:pt x="258" y="382"/>
                  </a:cubicBezTo>
                  <a:cubicBezTo>
                    <a:pt x="263" y="383"/>
                    <a:pt x="269" y="384"/>
                    <a:pt x="274" y="384"/>
                  </a:cubicBezTo>
                  <a:cubicBezTo>
                    <a:pt x="314" y="384"/>
                    <a:pt x="348" y="355"/>
                    <a:pt x="356" y="316"/>
                  </a:cubicBezTo>
                  <a:cubicBezTo>
                    <a:pt x="360" y="294"/>
                    <a:pt x="355" y="272"/>
                    <a:pt x="343" y="253"/>
                  </a:cubicBezTo>
                  <a:close/>
                  <a:moveTo>
                    <a:pt x="343" y="313"/>
                  </a:moveTo>
                  <a:lnTo>
                    <a:pt x="343" y="313"/>
                  </a:lnTo>
                  <a:cubicBezTo>
                    <a:pt x="337" y="347"/>
                    <a:pt x="308" y="371"/>
                    <a:pt x="274" y="371"/>
                  </a:cubicBezTo>
                  <a:cubicBezTo>
                    <a:pt x="269" y="371"/>
                    <a:pt x="265" y="370"/>
                    <a:pt x="261" y="369"/>
                  </a:cubicBezTo>
                  <a:cubicBezTo>
                    <a:pt x="222" y="362"/>
                    <a:pt x="197" y="325"/>
                    <a:pt x="205" y="287"/>
                  </a:cubicBezTo>
                  <a:cubicBezTo>
                    <a:pt x="211" y="254"/>
                    <a:pt x="240" y="230"/>
                    <a:pt x="274" y="230"/>
                  </a:cubicBezTo>
                  <a:cubicBezTo>
                    <a:pt x="278" y="230"/>
                    <a:pt x="283" y="230"/>
                    <a:pt x="287" y="231"/>
                  </a:cubicBezTo>
                  <a:cubicBezTo>
                    <a:pt x="306" y="234"/>
                    <a:pt x="322" y="245"/>
                    <a:pt x="332" y="261"/>
                  </a:cubicBezTo>
                  <a:cubicBezTo>
                    <a:pt x="343" y="276"/>
                    <a:pt x="347" y="295"/>
                    <a:pt x="343" y="313"/>
                  </a:cubicBezTo>
                  <a:close/>
                  <a:moveTo>
                    <a:pt x="176" y="313"/>
                  </a:moveTo>
                  <a:lnTo>
                    <a:pt x="121" y="313"/>
                  </a:lnTo>
                  <a:lnTo>
                    <a:pt x="121" y="228"/>
                  </a:lnTo>
                  <a:lnTo>
                    <a:pt x="206" y="228"/>
                  </a:lnTo>
                  <a:cubicBezTo>
                    <a:pt x="211" y="223"/>
                    <a:pt x="217" y="218"/>
                    <a:pt x="224" y="215"/>
                  </a:cubicBezTo>
                  <a:lnTo>
                    <a:pt x="224" y="215"/>
                  </a:lnTo>
                  <a:lnTo>
                    <a:pt x="224" y="130"/>
                  </a:lnTo>
                  <a:lnTo>
                    <a:pt x="311" y="130"/>
                  </a:lnTo>
                  <a:cubicBezTo>
                    <a:pt x="313" y="130"/>
                    <a:pt x="314" y="132"/>
                    <a:pt x="314" y="134"/>
                  </a:cubicBezTo>
                  <a:lnTo>
                    <a:pt x="314" y="210"/>
                  </a:lnTo>
                  <a:cubicBezTo>
                    <a:pt x="319" y="212"/>
                    <a:pt x="324" y="215"/>
                    <a:pt x="328" y="217"/>
                  </a:cubicBezTo>
                  <a:lnTo>
                    <a:pt x="328" y="215"/>
                  </a:lnTo>
                  <a:lnTo>
                    <a:pt x="328" y="134"/>
                  </a:lnTo>
                  <a:lnTo>
                    <a:pt x="328" y="88"/>
                  </a:lnTo>
                  <a:cubicBezTo>
                    <a:pt x="328" y="79"/>
                    <a:pt x="320" y="71"/>
                    <a:pt x="311" y="71"/>
                  </a:cubicBezTo>
                  <a:lnTo>
                    <a:pt x="17" y="71"/>
                  </a:lnTo>
                  <a:cubicBezTo>
                    <a:pt x="8" y="71"/>
                    <a:pt x="0" y="79"/>
                    <a:pt x="0" y="88"/>
                  </a:cubicBezTo>
                  <a:lnTo>
                    <a:pt x="0" y="134"/>
                  </a:lnTo>
                  <a:lnTo>
                    <a:pt x="0" y="215"/>
                  </a:lnTo>
                  <a:lnTo>
                    <a:pt x="0" y="228"/>
                  </a:lnTo>
                  <a:lnTo>
                    <a:pt x="0" y="309"/>
                  </a:lnTo>
                  <a:lnTo>
                    <a:pt x="0" y="319"/>
                  </a:lnTo>
                  <a:cubicBezTo>
                    <a:pt x="0" y="329"/>
                    <a:pt x="8" y="336"/>
                    <a:pt x="17" y="336"/>
                  </a:cubicBezTo>
                  <a:lnTo>
                    <a:pt x="181" y="336"/>
                  </a:lnTo>
                  <a:cubicBezTo>
                    <a:pt x="179" y="329"/>
                    <a:pt x="177" y="321"/>
                    <a:pt x="176" y="313"/>
                  </a:cubicBezTo>
                  <a:close/>
                  <a:moveTo>
                    <a:pt x="14" y="134"/>
                  </a:moveTo>
                  <a:lnTo>
                    <a:pt x="14" y="134"/>
                  </a:lnTo>
                  <a:cubicBezTo>
                    <a:pt x="14" y="132"/>
                    <a:pt x="15" y="130"/>
                    <a:pt x="17" y="130"/>
                  </a:cubicBezTo>
                  <a:lnTo>
                    <a:pt x="107" y="130"/>
                  </a:lnTo>
                  <a:lnTo>
                    <a:pt x="107" y="215"/>
                  </a:lnTo>
                  <a:lnTo>
                    <a:pt x="14" y="215"/>
                  </a:lnTo>
                  <a:lnTo>
                    <a:pt x="14" y="134"/>
                  </a:lnTo>
                  <a:close/>
                  <a:moveTo>
                    <a:pt x="107" y="228"/>
                  </a:moveTo>
                  <a:lnTo>
                    <a:pt x="107" y="228"/>
                  </a:lnTo>
                  <a:lnTo>
                    <a:pt x="107" y="313"/>
                  </a:lnTo>
                  <a:lnTo>
                    <a:pt x="17" y="313"/>
                  </a:lnTo>
                  <a:cubicBezTo>
                    <a:pt x="15" y="313"/>
                    <a:pt x="14" y="311"/>
                    <a:pt x="14" y="309"/>
                  </a:cubicBezTo>
                  <a:lnTo>
                    <a:pt x="14" y="228"/>
                  </a:lnTo>
                  <a:lnTo>
                    <a:pt x="107" y="228"/>
                  </a:lnTo>
                  <a:close/>
                  <a:moveTo>
                    <a:pt x="121" y="215"/>
                  </a:moveTo>
                  <a:lnTo>
                    <a:pt x="121" y="215"/>
                  </a:lnTo>
                  <a:lnTo>
                    <a:pt x="121" y="130"/>
                  </a:lnTo>
                  <a:lnTo>
                    <a:pt x="210" y="130"/>
                  </a:lnTo>
                  <a:lnTo>
                    <a:pt x="210" y="215"/>
                  </a:lnTo>
                  <a:lnTo>
                    <a:pt x="121" y="215"/>
                  </a:lnTo>
                  <a:close/>
                  <a:moveTo>
                    <a:pt x="217" y="88"/>
                  </a:moveTo>
                  <a:lnTo>
                    <a:pt x="217" y="88"/>
                  </a:lnTo>
                  <a:cubicBezTo>
                    <a:pt x="223" y="88"/>
                    <a:pt x="229" y="94"/>
                    <a:pt x="229" y="100"/>
                  </a:cubicBezTo>
                  <a:cubicBezTo>
                    <a:pt x="229" y="106"/>
                    <a:pt x="223" y="111"/>
                    <a:pt x="217" y="111"/>
                  </a:cubicBezTo>
                  <a:cubicBezTo>
                    <a:pt x="211" y="111"/>
                    <a:pt x="205" y="106"/>
                    <a:pt x="205" y="100"/>
                  </a:cubicBezTo>
                  <a:cubicBezTo>
                    <a:pt x="205" y="94"/>
                    <a:pt x="211" y="88"/>
                    <a:pt x="217" y="88"/>
                  </a:cubicBezTo>
                  <a:close/>
                  <a:moveTo>
                    <a:pt x="114" y="88"/>
                  </a:moveTo>
                  <a:lnTo>
                    <a:pt x="114" y="88"/>
                  </a:lnTo>
                  <a:cubicBezTo>
                    <a:pt x="120" y="88"/>
                    <a:pt x="126" y="94"/>
                    <a:pt x="126" y="100"/>
                  </a:cubicBezTo>
                  <a:cubicBezTo>
                    <a:pt x="126" y="106"/>
                    <a:pt x="120" y="111"/>
                    <a:pt x="114" y="111"/>
                  </a:cubicBezTo>
                  <a:cubicBezTo>
                    <a:pt x="108" y="111"/>
                    <a:pt x="103" y="106"/>
                    <a:pt x="103" y="100"/>
                  </a:cubicBezTo>
                  <a:cubicBezTo>
                    <a:pt x="103" y="94"/>
                    <a:pt x="108" y="88"/>
                    <a:pt x="114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2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/>
          </p:cNvSpPr>
          <p:nvPr/>
        </p:nvSpPr>
        <p:spPr bwMode="auto">
          <a:xfrm>
            <a:off x="269585" y="269251"/>
            <a:ext cx="262616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441371" y="443010"/>
            <a:ext cx="262616" cy="268540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265635" y="624671"/>
            <a:ext cx="260640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椭圆 10"/>
          <p:cNvSpPr/>
          <p:nvPr/>
        </p:nvSpPr>
        <p:spPr bwMode="auto">
          <a:xfrm>
            <a:off x="1417309" y="2133364"/>
            <a:ext cx="2530383" cy="2530383"/>
          </a:xfrm>
          <a:prstGeom prst="ellipse">
            <a:avLst/>
          </a:prstGeom>
          <a:solidFill>
            <a:srgbClr val="04BEB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1952762" y="2576275"/>
            <a:ext cx="1459476" cy="1668147"/>
          </a:xfrm>
          <a:custGeom>
            <a:avLst/>
            <a:gdLst>
              <a:gd name="T0" fmla="*/ 1232 w 1933"/>
              <a:gd name="T1" fmla="*/ 274 h 2183"/>
              <a:gd name="T2" fmla="*/ 958 w 1933"/>
              <a:gd name="T3" fmla="*/ 547 h 2183"/>
              <a:gd name="T4" fmla="*/ 684 w 1933"/>
              <a:gd name="T5" fmla="*/ 547 h 2183"/>
              <a:gd name="T6" fmla="*/ 411 w 1933"/>
              <a:gd name="T7" fmla="*/ 274 h 2183"/>
              <a:gd name="T8" fmla="*/ 684 w 1933"/>
              <a:gd name="T9" fmla="*/ 0 h 2183"/>
              <a:gd name="T10" fmla="*/ 958 w 1933"/>
              <a:gd name="T11" fmla="*/ 0 h 2183"/>
              <a:gd name="T12" fmla="*/ 1232 w 1933"/>
              <a:gd name="T13" fmla="*/ 274 h 2183"/>
              <a:gd name="T14" fmla="*/ 1362 w 1933"/>
              <a:gd name="T15" fmla="*/ 274 h 2183"/>
              <a:gd name="T16" fmla="*/ 1368 w 1933"/>
              <a:gd name="T17" fmla="*/ 336 h 2183"/>
              <a:gd name="T18" fmla="*/ 1026 w 1933"/>
              <a:gd name="T19" fmla="*/ 678 h 2183"/>
              <a:gd name="T20" fmla="*/ 616 w 1933"/>
              <a:gd name="T21" fmla="*/ 678 h 2183"/>
              <a:gd name="T22" fmla="*/ 274 w 1933"/>
              <a:gd name="T23" fmla="*/ 336 h 2183"/>
              <a:gd name="T24" fmla="*/ 280 w 1933"/>
              <a:gd name="T25" fmla="*/ 274 h 2183"/>
              <a:gd name="T26" fmla="*/ 0 w 1933"/>
              <a:gd name="T27" fmla="*/ 610 h 2183"/>
              <a:gd name="T28" fmla="*/ 0 w 1933"/>
              <a:gd name="T29" fmla="*/ 1841 h 2183"/>
              <a:gd name="T30" fmla="*/ 342 w 1933"/>
              <a:gd name="T31" fmla="*/ 2183 h 2183"/>
              <a:gd name="T32" fmla="*/ 1253 w 1933"/>
              <a:gd name="T33" fmla="*/ 2183 h 2183"/>
              <a:gd name="T34" fmla="*/ 881 w 1933"/>
              <a:gd name="T35" fmla="*/ 1620 h 2183"/>
              <a:gd name="T36" fmla="*/ 1492 w 1933"/>
              <a:gd name="T37" fmla="*/ 1009 h 2183"/>
              <a:gd name="T38" fmla="*/ 1642 w 1933"/>
              <a:gd name="T39" fmla="*/ 1028 h 2183"/>
              <a:gd name="T40" fmla="*/ 1642 w 1933"/>
              <a:gd name="T41" fmla="*/ 610 h 2183"/>
              <a:gd name="T42" fmla="*/ 1362 w 1933"/>
              <a:gd name="T43" fmla="*/ 274 h 2183"/>
              <a:gd name="T44" fmla="*/ 770 w 1933"/>
              <a:gd name="T45" fmla="*/ 1368 h 2183"/>
              <a:gd name="T46" fmla="*/ 770 w 1933"/>
              <a:gd name="T47" fmla="*/ 1368 h 2183"/>
              <a:gd name="T48" fmla="*/ 342 w 1933"/>
              <a:gd name="T49" fmla="*/ 1368 h 2183"/>
              <a:gd name="T50" fmla="*/ 274 w 1933"/>
              <a:gd name="T51" fmla="*/ 1300 h 2183"/>
              <a:gd name="T52" fmla="*/ 342 w 1933"/>
              <a:gd name="T53" fmla="*/ 1232 h 2183"/>
              <a:gd name="T54" fmla="*/ 770 w 1933"/>
              <a:gd name="T55" fmla="*/ 1232 h 2183"/>
              <a:gd name="T56" fmla="*/ 838 w 1933"/>
              <a:gd name="T57" fmla="*/ 1300 h 2183"/>
              <a:gd name="T58" fmla="*/ 770 w 1933"/>
              <a:gd name="T59" fmla="*/ 1368 h 2183"/>
              <a:gd name="T60" fmla="*/ 907 w 1933"/>
              <a:gd name="T61" fmla="*/ 1095 h 2183"/>
              <a:gd name="T62" fmla="*/ 907 w 1933"/>
              <a:gd name="T63" fmla="*/ 1095 h 2183"/>
              <a:gd name="T64" fmla="*/ 342 w 1933"/>
              <a:gd name="T65" fmla="*/ 1095 h 2183"/>
              <a:gd name="T66" fmla="*/ 274 w 1933"/>
              <a:gd name="T67" fmla="*/ 1026 h 2183"/>
              <a:gd name="T68" fmla="*/ 342 w 1933"/>
              <a:gd name="T69" fmla="*/ 958 h 2183"/>
              <a:gd name="T70" fmla="*/ 907 w 1933"/>
              <a:gd name="T71" fmla="*/ 958 h 2183"/>
              <a:gd name="T72" fmla="*/ 975 w 1933"/>
              <a:gd name="T73" fmla="*/ 1026 h 2183"/>
              <a:gd name="T74" fmla="*/ 907 w 1933"/>
              <a:gd name="T75" fmla="*/ 1095 h 2183"/>
              <a:gd name="T76" fmla="*/ 1605 w 1933"/>
              <a:gd name="T77" fmla="*/ 1197 h 2183"/>
              <a:gd name="T78" fmla="*/ 1497 w 1933"/>
              <a:gd name="T79" fmla="*/ 1183 h 2183"/>
              <a:gd name="T80" fmla="*/ 1060 w 1933"/>
              <a:gd name="T81" fmla="*/ 1619 h 2183"/>
              <a:gd name="T82" fmla="*/ 1405 w 1933"/>
              <a:gd name="T83" fmla="*/ 2045 h 2183"/>
              <a:gd name="T84" fmla="*/ 1497 w 1933"/>
              <a:gd name="T85" fmla="*/ 2055 h 2183"/>
              <a:gd name="T86" fmla="*/ 1933 w 1933"/>
              <a:gd name="T87" fmla="*/ 1619 h 2183"/>
              <a:gd name="T88" fmla="*/ 1605 w 1933"/>
              <a:gd name="T89" fmla="*/ 1197 h 2183"/>
              <a:gd name="T90" fmla="*/ 1743 w 1933"/>
              <a:gd name="T91" fmla="*/ 1557 h 2183"/>
              <a:gd name="T92" fmla="*/ 1743 w 1933"/>
              <a:gd name="T93" fmla="*/ 1557 h 2183"/>
              <a:gd name="T94" fmla="*/ 1605 w 1933"/>
              <a:gd name="T95" fmla="*/ 1695 h 2183"/>
              <a:gd name="T96" fmla="*/ 1497 w 1933"/>
              <a:gd name="T97" fmla="*/ 1804 h 2183"/>
              <a:gd name="T98" fmla="*/ 1373 w 1933"/>
              <a:gd name="T99" fmla="*/ 1804 h 2183"/>
              <a:gd name="T100" fmla="*/ 1250 w 1933"/>
              <a:gd name="T101" fmla="*/ 1681 h 2183"/>
              <a:gd name="T102" fmla="*/ 1250 w 1933"/>
              <a:gd name="T103" fmla="*/ 1557 h 2183"/>
              <a:gd name="T104" fmla="*/ 1373 w 1933"/>
              <a:gd name="T105" fmla="*/ 1557 h 2183"/>
              <a:gd name="T106" fmla="*/ 1435 w 1933"/>
              <a:gd name="T107" fmla="*/ 1619 h 2183"/>
              <a:gd name="T108" fmla="*/ 1605 w 1933"/>
              <a:gd name="T109" fmla="*/ 1448 h 2183"/>
              <a:gd name="T110" fmla="*/ 1620 w 1933"/>
              <a:gd name="T111" fmla="*/ 1434 h 2183"/>
              <a:gd name="T112" fmla="*/ 1743 w 1933"/>
              <a:gd name="T113" fmla="*/ 1434 h 2183"/>
              <a:gd name="T114" fmla="*/ 1743 w 1933"/>
              <a:gd name="T115" fmla="*/ 1557 h 2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933" h="2183">
                <a:moveTo>
                  <a:pt x="1232" y="274"/>
                </a:moveTo>
                <a:cubicBezTo>
                  <a:pt x="1232" y="425"/>
                  <a:pt x="1109" y="547"/>
                  <a:pt x="958" y="547"/>
                </a:cubicBezTo>
                <a:lnTo>
                  <a:pt x="684" y="547"/>
                </a:lnTo>
                <a:cubicBezTo>
                  <a:pt x="533" y="547"/>
                  <a:pt x="411" y="425"/>
                  <a:pt x="411" y="274"/>
                </a:cubicBezTo>
                <a:cubicBezTo>
                  <a:pt x="411" y="122"/>
                  <a:pt x="533" y="0"/>
                  <a:pt x="684" y="0"/>
                </a:cubicBezTo>
                <a:lnTo>
                  <a:pt x="958" y="0"/>
                </a:lnTo>
                <a:cubicBezTo>
                  <a:pt x="1109" y="0"/>
                  <a:pt x="1232" y="122"/>
                  <a:pt x="1232" y="274"/>
                </a:cubicBezTo>
                <a:close/>
                <a:moveTo>
                  <a:pt x="1362" y="274"/>
                </a:moveTo>
                <a:cubicBezTo>
                  <a:pt x="1366" y="294"/>
                  <a:pt x="1368" y="315"/>
                  <a:pt x="1368" y="336"/>
                </a:cubicBezTo>
                <a:cubicBezTo>
                  <a:pt x="1368" y="525"/>
                  <a:pt x="1215" y="678"/>
                  <a:pt x="1026" y="678"/>
                </a:cubicBezTo>
                <a:lnTo>
                  <a:pt x="616" y="678"/>
                </a:lnTo>
                <a:cubicBezTo>
                  <a:pt x="427" y="678"/>
                  <a:pt x="274" y="525"/>
                  <a:pt x="274" y="336"/>
                </a:cubicBezTo>
                <a:cubicBezTo>
                  <a:pt x="274" y="315"/>
                  <a:pt x="276" y="294"/>
                  <a:pt x="280" y="274"/>
                </a:cubicBezTo>
                <a:cubicBezTo>
                  <a:pt x="121" y="303"/>
                  <a:pt x="0" y="442"/>
                  <a:pt x="0" y="610"/>
                </a:cubicBezTo>
                <a:lnTo>
                  <a:pt x="0" y="1841"/>
                </a:lnTo>
                <a:cubicBezTo>
                  <a:pt x="0" y="2030"/>
                  <a:pt x="153" y="2183"/>
                  <a:pt x="342" y="2183"/>
                </a:cubicBezTo>
                <a:lnTo>
                  <a:pt x="1253" y="2183"/>
                </a:lnTo>
                <a:cubicBezTo>
                  <a:pt x="1034" y="2090"/>
                  <a:pt x="881" y="1873"/>
                  <a:pt x="881" y="1620"/>
                </a:cubicBezTo>
                <a:cubicBezTo>
                  <a:pt x="881" y="1283"/>
                  <a:pt x="1155" y="1009"/>
                  <a:pt x="1492" y="1009"/>
                </a:cubicBezTo>
                <a:cubicBezTo>
                  <a:pt x="1544" y="1009"/>
                  <a:pt x="1594" y="1016"/>
                  <a:pt x="1642" y="1028"/>
                </a:cubicBezTo>
                <a:lnTo>
                  <a:pt x="1642" y="610"/>
                </a:lnTo>
                <a:cubicBezTo>
                  <a:pt x="1642" y="442"/>
                  <a:pt x="1521" y="303"/>
                  <a:pt x="1362" y="274"/>
                </a:cubicBezTo>
                <a:close/>
                <a:moveTo>
                  <a:pt x="770" y="1368"/>
                </a:moveTo>
                <a:lnTo>
                  <a:pt x="770" y="1368"/>
                </a:lnTo>
                <a:lnTo>
                  <a:pt x="342" y="1368"/>
                </a:lnTo>
                <a:cubicBezTo>
                  <a:pt x="304" y="1368"/>
                  <a:pt x="274" y="1338"/>
                  <a:pt x="274" y="1300"/>
                </a:cubicBezTo>
                <a:cubicBezTo>
                  <a:pt x="274" y="1262"/>
                  <a:pt x="304" y="1232"/>
                  <a:pt x="342" y="1232"/>
                </a:cubicBezTo>
                <a:lnTo>
                  <a:pt x="770" y="1232"/>
                </a:lnTo>
                <a:cubicBezTo>
                  <a:pt x="807" y="1232"/>
                  <a:pt x="838" y="1262"/>
                  <a:pt x="838" y="1300"/>
                </a:cubicBezTo>
                <a:cubicBezTo>
                  <a:pt x="838" y="1338"/>
                  <a:pt x="807" y="1368"/>
                  <a:pt x="770" y="1368"/>
                </a:cubicBezTo>
                <a:close/>
                <a:moveTo>
                  <a:pt x="907" y="1095"/>
                </a:moveTo>
                <a:lnTo>
                  <a:pt x="907" y="1095"/>
                </a:lnTo>
                <a:lnTo>
                  <a:pt x="342" y="1095"/>
                </a:lnTo>
                <a:cubicBezTo>
                  <a:pt x="304" y="1095"/>
                  <a:pt x="274" y="1064"/>
                  <a:pt x="274" y="1026"/>
                </a:cubicBezTo>
                <a:cubicBezTo>
                  <a:pt x="274" y="988"/>
                  <a:pt x="304" y="958"/>
                  <a:pt x="342" y="958"/>
                </a:cubicBezTo>
                <a:lnTo>
                  <a:pt x="907" y="958"/>
                </a:lnTo>
                <a:cubicBezTo>
                  <a:pt x="944" y="958"/>
                  <a:pt x="975" y="988"/>
                  <a:pt x="975" y="1026"/>
                </a:cubicBezTo>
                <a:cubicBezTo>
                  <a:pt x="975" y="1064"/>
                  <a:pt x="944" y="1095"/>
                  <a:pt x="907" y="1095"/>
                </a:cubicBezTo>
                <a:close/>
                <a:moveTo>
                  <a:pt x="1605" y="1197"/>
                </a:moveTo>
                <a:cubicBezTo>
                  <a:pt x="1571" y="1187"/>
                  <a:pt x="1534" y="1183"/>
                  <a:pt x="1497" y="1183"/>
                </a:cubicBezTo>
                <a:cubicBezTo>
                  <a:pt x="1256" y="1183"/>
                  <a:pt x="1060" y="1378"/>
                  <a:pt x="1060" y="1619"/>
                </a:cubicBezTo>
                <a:cubicBezTo>
                  <a:pt x="1060" y="1828"/>
                  <a:pt x="1208" y="2003"/>
                  <a:pt x="1405" y="2045"/>
                </a:cubicBezTo>
                <a:cubicBezTo>
                  <a:pt x="1434" y="2051"/>
                  <a:pt x="1465" y="2055"/>
                  <a:pt x="1497" y="2055"/>
                </a:cubicBezTo>
                <a:cubicBezTo>
                  <a:pt x="1737" y="2055"/>
                  <a:pt x="1933" y="1860"/>
                  <a:pt x="1933" y="1619"/>
                </a:cubicBezTo>
                <a:cubicBezTo>
                  <a:pt x="1933" y="1416"/>
                  <a:pt x="1794" y="1245"/>
                  <a:pt x="1605" y="1197"/>
                </a:cubicBezTo>
                <a:close/>
                <a:moveTo>
                  <a:pt x="1743" y="1557"/>
                </a:moveTo>
                <a:lnTo>
                  <a:pt x="1743" y="1557"/>
                </a:lnTo>
                <a:lnTo>
                  <a:pt x="1605" y="1695"/>
                </a:lnTo>
                <a:lnTo>
                  <a:pt x="1497" y="1804"/>
                </a:lnTo>
                <a:cubicBezTo>
                  <a:pt x="1462" y="1838"/>
                  <a:pt x="1407" y="1838"/>
                  <a:pt x="1373" y="1804"/>
                </a:cubicBezTo>
                <a:lnTo>
                  <a:pt x="1250" y="1681"/>
                </a:lnTo>
                <a:cubicBezTo>
                  <a:pt x="1216" y="1646"/>
                  <a:pt x="1216" y="1591"/>
                  <a:pt x="1250" y="1557"/>
                </a:cubicBezTo>
                <a:cubicBezTo>
                  <a:pt x="1284" y="1523"/>
                  <a:pt x="1339" y="1523"/>
                  <a:pt x="1373" y="1557"/>
                </a:cubicBezTo>
                <a:lnTo>
                  <a:pt x="1435" y="1619"/>
                </a:lnTo>
                <a:lnTo>
                  <a:pt x="1605" y="1448"/>
                </a:lnTo>
                <a:lnTo>
                  <a:pt x="1620" y="1434"/>
                </a:lnTo>
                <a:cubicBezTo>
                  <a:pt x="1654" y="1400"/>
                  <a:pt x="1709" y="1400"/>
                  <a:pt x="1743" y="1434"/>
                </a:cubicBezTo>
                <a:cubicBezTo>
                  <a:pt x="1777" y="1468"/>
                  <a:pt x="1777" y="1523"/>
                  <a:pt x="1743" y="15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30" name="椭圆 29"/>
          <p:cNvSpPr>
            <a:spLocks noChangeAspect="1"/>
          </p:cNvSpPr>
          <p:nvPr/>
        </p:nvSpPr>
        <p:spPr bwMode="auto">
          <a:xfrm>
            <a:off x="4369595" y="1585487"/>
            <a:ext cx="417437" cy="417437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r>
              <a:rPr lang="en-US" altLang="zh-CN" sz="1599" b="1" dirty="0">
                <a:solidFill>
                  <a:schemeClr val="bg1"/>
                </a:solidFill>
                <a:latin typeface="+mn-ea"/>
              </a:rPr>
              <a:t>1</a:t>
            </a:r>
            <a:endParaRPr lang="zh-CN" altLang="en-US" sz="159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" name="椭圆 31"/>
          <p:cNvSpPr>
            <a:spLocks noChangeAspect="1"/>
          </p:cNvSpPr>
          <p:nvPr/>
        </p:nvSpPr>
        <p:spPr bwMode="auto">
          <a:xfrm>
            <a:off x="4369595" y="2569985"/>
            <a:ext cx="417437" cy="417437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r>
              <a:rPr lang="en-US" altLang="zh-CN" sz="1599" b="1" dirty="0">
                <a:solidFill>
                  <a:schemeClr val="bg1"/>
                </a:solidFill>
                <a:latin typeface="+mn-ea"/>
              </a:rPr>
              <a:t>2</a:t>
            </a:r>
            <a:endParaRPr lang="zh-CN" altLang="en-US" sz="159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 bwMode="auto">
          <a:xfrm>
            <a:off x="4369595" y="3594708"/>
            <a:ext cx="417437" cy="417437"/>
          </a:xfrm>
          <a:prstGeom prst="ellipse">
            <a:avLst/>
          </a:prstGeom>
          <a:solidFill>
            <a:srgbClr val="04B0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r>
              <a:rPr lang="en-US" altLang="zh-CN" sz="1599" b="1" dirty="0">
                <a:solidFill>
                  <a:schemeClr val="bg1"/>
                </a:solidFill>
                <a:latin typeface="+mn-ea"/>
              </a:rPr>
              <a:t>3</a:t>
            </a:r>
            <a:endParaRPr lang="zh-CN" altLang="en-US" sz="159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椭圆 35"/>
          <p:cNvSpPr>
            <a:spLocks noChangeAspect="1"/>
          </p:cNvSpPr>
          <p:nvPr/>
        </p:nvSpPr>
        <p:spPr bwMode="auto">
          <a:xfrm>
            <a:off x="4369595" y="4587548"/>
            <a:ext cx="417437" cy="41743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r>
              <a:rPr lang="en-US" altLang="zh-CN" sz="1599" b="1" dirty="0">
                <a:solidFill>
                  <a:schemeClr val="bg1"/>
                </a:solidFill>
                <a:latin typeface="+mn-ea"/>
              </a:rPr>
              <a:t>4</a:t>
            </a:r>
            <a:endParaRPr lang="zh-CN" altLang="en-US" sz="159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8" name="椭圆 37"/>
          <p:cNvSpPr>
            <a:spLocks noChangeAspect="1"/>
          </p:cNvSpPr>
          <p:nvPr/>
        </p:nvSpPr>
        <p:spPr bwMode="auto">
          <a:xfrm>
            <a:off x="4369595" y="5548870"/>
            <a:ext cx="417437" cy="417437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r>
              <a:rPr lang="en-US" altLang="zh-CN" sz="1599" b="1" dirty="0">
                <a:solidFill>
                  <a:schemeClr val="bg1"/>
                </a:solidFill>
                <a:latin typeface="+mn-ea"/>
              </a:rPr>
              <a:t>5</a:t>
            </a:r>
            <a:endParaRPr lang="zh-CN" altLang="en-US" sz="159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" name="矩形 1"/>
          <p:cNvSpPr/>
          <p:nvPr/>
        </p:nvSpPr>
        <p:spPr>
          <a:xfrm>
            <a:off x="875773" y="284892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微程序设计的目标：</a:t>
            </a:r>
          </a:p>
        </p:txBody>
      </p:sp>
      <p:sp>
        <p:nvSpPr>
          <p:cNvPr id="3" name="矩形 2"/>
          <p:cNvSpPr/>
          <p:nvPr/>
        </p:nvSpPr>
        <p:spPr>
          <a:xfrm>
            <a:off x="4885393" y="1533596"/>
            <a:ext cx="45961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有利于缩短微指令字长度</a:t>
            </a:r>
          </a:p>
        </p:txBody>
      </p:sp>
      <p:sp>
        <p:nvSpPr>
          <p:cNvPr id="4" name="矩形 3"/>
          <p:cNvSpPr/>
          <p:nvPr/>
        </p:nvSpPr>
        <p:spPr>
          <a:xfrm>
            <a:off x="4885393" y="2483845"/>
            <a:ext cx="38779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有利于减小控存容量</a:t>
            </a:r>
          </a:p>
        </p:txBody>
      </p:sp>
      <p:sp>
        <p:nvSpPr>
          <p:cNvPr id="9" name="矩形 8"/>
          <p:cNvSpPr/>
          <p:nvPr/>
        </p:nvSpPr>
        <p:spPr>
          <a:xfrm>
            <a:off x="4897354" y="3488925"/>
            <a:ext cx="5314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有利于提高微程序的执行速度</a:t>
            </a:r>
          </a:p>
        </p:txBody>
      </p:sp>
      <p:sp>
        <p:nvSpPr>
          <p:cNvPr id="12" name="矩形 11"/>
          <p:cNvSpPr/>
          <p:nvPr/>
        </p:nvSpPr>
        <p:spPr>
          <a:xfrm>
            <a:off x="4897354" y="4511304"/>
            <a:ext cx="42370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有利于对微指令的修改</a:t>
            </a:r>
          </a:p>
        </p:txBody>
      </p:sp>
      <p:sp>
        <p:nvSpPr>
          <p:cNvPr id="13" name="矩形 12"/>
          <p:cNvSpPr/>
          <p:nvPr/>
        </p:nvSpPr>
        <p:spPr>
          <a:xfrm>
            <a:off x="4897354" y="5495978"/>
            <a:ext cx="56733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有利于提高微程序设计的灵活性</a:t>
            </a:r>
          </a:p>
        </p:txBody>
      </p:sp>
    </p:spTree>
    <p:extLst>
      <p:ext uri="{BB962C8B-B14F-4D97-AF65-F5344CB8AC3E}">
        <p14:creationId xmlns:p14="http://schemas.microsoft.com/office/powerpoint/2010/main" val="160896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5214">
        <p14:gallery dir="l"/>
      </p:transition>
    </mc:Choice>
    <mc:Fallback xmlns="">
      <p:transition spd="slow" advTm="5214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875773" y="326498"/>
            <a:ext cx="5974331" cy="584733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微命令编码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5785387" y="1625676"/>
            <a:ext cx="1573899" cy="1563688"/>
          </a:xfrm>
          <a:prstGeom prst="ellipse">
            <a:avLst/>
          </a:prstGeom>
          <a:solidFill>
            <a:srgbClr val="04B0BE"/>
          </a:solidFill>
          <a:ln w="38100" cap="flat">
            <a:solidFill>
              <a:srgbClr val="04B0BE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4879195" y="3079594"/>
            <a:ext cx="1573899" cy="1563688"/>
          </a:xfrm>
          <a:prstGeom prst="ellipse">
            <a:avLst/>
          </a:prstGeom>
          <a:solidFill>
            <a:srgbClr val="FFC000"/>
          </a:solidFill>
          <a:ln w="38100" cap="flat">
            <a:solidFill>
              <a:srgbClr val="FFC000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5785387" y="4559812"/>
            <a:ext cx="1573899" cy="1563688"/>
          </a:xfrm>
          <a:prstGeom prst="ellipse">
            <a:avLst/>
          </a:prstGeom>
          <a:solidFill>
            <a:srgbClr val="92D050"/>
          </a:solidFill>
          <a:ln w="38100" cap="flat">
            <a:solidFill>
              <a:srgbClr val="92D050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7451017" y="2234182"/>
            <a:ext cx="365303" cy="362962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Freeform 11"/>
          <p:cNvSpPr>
            <a:spLocks noEditPoints="1"/>
          </p:cNvSpPr>
          <p:nvPr/>
        </p:nvSpPr>
        <p:spPr bwMode="auto">
          <a:xfrm>
            <a:off x="4434711" y="3657710"/>
            <a:ext cx="365303" cy="362962"/>
          </a:xfrm>
          <a:custGeom>
            <a:avLst/>
            <a:gdLst>
              <a:gd name="T0" fmla="*/ 173 w 346"/>
              <a:gd name="T1" fmla="*/ 0 h 346"/>
              <a:gd name="T2" fmla="*/ 0 w 346"/>
              <a:gd name="T3" fmla="*/ 173 h 346"/>
              <a:gd name="T4" fmla="*/ 173 w 346"/>
              <a:gd name="T5" fmla="*/ 346 h 346"/>
              <a:gd name="T6" fmla="*/ 346 w 346"/>
              <a:gd name="T7" fmla="*/ 173 h 346"/>
              <a:gd name="T8" fmla="*/ 173 w 346"/>
              <a:gd name="T9" fmla="*/ 0 h 346"/>
              <a:gd name="T10" fmla="*/ 69 w 346"/>
              <a:gd name="T11" fmla="*/ 177 h 346"/>
              <a:gd name="T12" fmla="*/ 142 w 346"/>
              <a:gd name="T13" fmla="*/ 219 h 346"/>
              <a:gd name="T14" fmla="*/ 215 w 346"/>
              <a:gd name="T15" fmla="*/ 261 h 346"/>
              <a:gd name="T16" fmla="*/ 215 w 346"/>
              <a:gd name="T17" fmla="*/ 177 h 346"/>
              <a:gd name="T18" fmla="*/ 215 w 346"/>
              <a:gd name="T19" fmla="*/ 93 h 346"/>
              <a:gd name="T20" fmla="*/ 142 w 346"/>
              <a:gd name="T21" fmla="*/ 135 h 346"/>
              <a:gd name="T22" fmla="*/ 69 w 346"/>
              <a:gd name="T23" fmla="*/ 177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78" y="0"/>
                  <a:pt x="0" y="78"/>
                  <a:pt x="0" y="173"/>
                </a:cubicBezTo>
                <a:cubicBezTo>
                  <a:pt x="0" y="269"/>
                  <a:pt x="78" y="346"/>
                  <a:pt x="173" y="346"/>
                </a:cubicBezTo>
                <a:cubicBezTo>
                  <a:pt x="269" y="346"/>
                  <a:pt x="346" y="269"/>
                  <a:pt x="346" y="173"/>
                </a:cubicBezTo>
                <a:cubicBezTo>
                  <a:pt x="346" y="78"/>
                  <a:pt x="269" y="0"/>
                  <a:pt x="173" y="0"/>
                </a:cubicBezTo>
                <a:close/>
                <a:moveTo>
                  <a:pt x="69" y="177"/>
                </a:moveTo>
                <a:lnTo>
                  <a:pt x="142" y="219"/>
                </a:lnTo>
                <a:lnTo>
                  <a:pt x="215" y="261"/>
                </a:lnTo>
                <a:lnTo>
                  <a:pt x="215" y="177"/>
                </a:lnTo>
                <a:lnTo>
                  <a:pt x="215" y="93"/>
                </a:lnTo>
                <a:lnTo>
                  <a:pt x="142" y="135"/>
                </a:lnTo>
                <a:lnTo>
                  <a:pt x="69" y="17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Freeform 12"/>
          <p:cNvSpPr>
            <a:spLocks noEditPoints="1"/>
          </p:cNvSpPr>
          <p:nvPr/>
        </p:nvSpPr>
        <p:spPr bwMode="auto">
          <a:xfrm>
            <a:off x="7451017" y="5177738"/>
            <a:ext cx="365303" cy="362962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TextBox 13"/>
          <p:cNvSpPr txBox="1"/>
          <p:nvPr/>
        </p:nvSpPr>
        <p:spPr>
          <a:xfrm flipH="1">
            <a:off x="6021824" y="1946036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 flipH="1">
            <a:off x="5124083" y="3399954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6034304" y="4897735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03</a:t>
            </a:r>
          </a:p>
        </p:txBody>
      </p:sp>
      <p:sp>
        <p:nvSpPr>
          <p:cNvPr id="2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" name="矩形 1"/>
          <p:cNvSpPr/>
          <p:nvPr/>
        </p:nvSpPr>
        <p:spPr>
          <a:xfrm>
            <a:off x="8082773" y="2010224"/>
            <a:ext cx="269817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微指令的结构？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8801" y="2325486"/>
            <a:ext cx="4940320" cy="1988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微指令从格式上讲类似于机器指令，通常由两部分组成：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微操作码字段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uOP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微地址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uA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65635" y="4311369"/>
            <a:ext cx="2512333" cy="4572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err="1">
                <a:latin typeface="Verdana" panose="020B0604030504040204" pitchFamily="34" charset="0"/>
                <a:ea typeface="宋体" panose="02010600030101010101" pitchFamily="2" charset="-122"/>
              </a:rPr>
              <a:t>uOP</a:t>
            </a:r>
            <a:endParaRPr lang="en-US" altLang="zh-CN" sz="2400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777968" y="4306910"/>
            <a:ext cx="2117725" cy="4572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err="1">
                <a:latin typeface="Verdana" panose="020B0604030504040204" pitchFamily="34" charset="0"/>
                <a:ea typeface="宋体" panose="02010600030101010101" pitchFamily="2" charset="-122"/>
              </a:rPr>
              <a:t>uA</a:t>
            </a:r>
            <a:endParaRPr lang="en-US" altLang="zh-CN" sz="2400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62900" y="4714350"/>
            <a:ext cx="2339102" cy="66255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操作控制字段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741923" y="4688970"/>
            <a:ext cx="2339102" cy="66255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顺序控制字段</a:t>
            </a:r>
          </a:p>
        </p:txBody>
      </p:sp>
      <p:sp>
        <p:nvSpPr>
          <p:cNvPr id="4" name="矩形 3"/>
          <p:cNvSpPr/>
          <p:nvPr/>
        </p:nvSpPr>
        <p:spPr>
          <a:xfrm>
            <a:off x="8235372" y="4624341"/>
            <a:ext cx="361861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微命令编码是指</a:t>
            </a:r>
            <a:r>
              <a:rPr lang="zh-CN" altLang="en-US" sz="28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800" b="1" dirty="0" err="1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uOP</a:t>
            </a:r>
            <a:r>
              <a:rPr lang="zh-CN" altLang="en-US" sz="28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字段的编码方法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7047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899">
        <p14:gallery dir="l"/>
      </p:transition>
    </mc:Choice>
    <mc:Fallback xmlns="">
      <p:transition spd="slow" advTm="8899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83"/>
          <p:cNvSpPr>
            <a:spLocks noChangeArrowheads="1"/>
          </p:cNvSpPr>
          <p:nvPr/>
        </p:nvSpPr>
        <p:spPr bwMode="auto">
          <a:xfrm>
            <a:off x="922726" y="1174730"/>
            <a:ext cx="10222393" cy="2362199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9" name="Freeform 12"/>
          <p:cNvSpPr>
            <a:spLocks/>
          </p:cNvSpPr>
          <p:nvPr/>
        </p:nvSpPr>
        <p:spPr bwMode="auto">
          <a:xfrm>
            <a:off x="817153" y="1122295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 flipH="1" flipV="1">
            <a:off x="10688203" y="3075711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37570" name="标题 237569"/>
          <p:cNvSpPr>
            <a:spLocks noGrp="1"/>
          </p:cNvSpPr>
          <p:nvPr>
            <p:ph type="title"/>
          </p:nvPr>
        </p:nvSpPr>
        <p:spPr>
          <a:xfrm>
            <a:off x="811831" y="185692"/>
            <a:ext cx="4202112" cy="762000"/>
          </a:xfrm>
        </p:spPr>
        <p:txBody>
          <a:bodyPr anchor="ctr">
            <a:norm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直接表示法</a:t>
            </a:r>
          </a:p>
        </p:txBody>
      </p:sp>
      <p:sp>
        <p:nvSpPr>
          <p:cNvPr id="237571" name="文本占位符 237570"/>
          <p:cNvSpPr>
            <a:spLocks noGrp="1"/>
          </p:cNvSpPr>
          <p:nvPr>
            <p:ph type="body" idx="1"/>
          </p:nvPr>
        </p:nvSpPr>
        <p:spPr>
          <a:xfrm>
            <a:off x="1186621" y="1295542"/>
            <a:ext cx="9958498" cy="23622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又称直接控制编码，其特点是操作控制字段中的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代表一个微命令。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优点：并行性好，速度快；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缺点：微指令字较长。</a:t>
            </a:r>
          </a:p>
          <a:p>
            <a:pPr>
              <a:lnSpc>
                <a:spcPct val="120000"/>
              </a:lnSpc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7582" name="矩形 237581"/>
          <p:cNvSpPr/>
          <p:nvPr/>
        </p:nvSpPr>
        <p:spPr>
          <a:xfrm>
            <a:off x="1524000" y="29813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1D528D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366" y="3778554"/>
            <a:ext cx="8200021" cy="241805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361181" y="6196606"/>
            <a:ext cx="7296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 err="1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uOP</a:t>
            </a:r>
            <a:endParaRPr lang="en-US" altLang="zh-CN" sz="2000" b="1" dirty="0">
              <a:solidFill>
                <a:srgbClr val="01C0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460098" y="6196606"/>
            <a:ext cx="5437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 err="1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</a:t>
            </a:r>
            <a:endParaRPr lang="en-US" altLang="zh-CN" sz="2000" b="1" dirty="0">
              <a:solidFill>
                <a:srgbClr val="01C0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31636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10" y="1425247"/>
            <a:ext cx="10134257" cy="321105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65670" y="106347"/>
            <a:ext cx="46490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字段译码法</a:t>
            </a:r>
            <a:r>
              <a:rPr lang="zh-CN" altLang="en-US" sz="3600" dirty="0" smtClean="0">
                <a:solidFill>
                  <a:schemeClr val="bg1"/>
                </a:solidFill>
                <a:ea typeface="宋体" panose="02010600030101010101" pitchFamily="2" charset="-122"/>
              </a:rPr>
              <a:t>直接</a:t>
            </a:r>
            <a:r>
              <a:rPr lang="zh-CN" altLang="en-US" sz="3600" dirty="0">
                <a:solidFill>
                  <a:schemeClr val="bg1"/>
                </a:solidFill>
                <a:ea typeface="宋体" panose="02010600030101010101" pitchFamily="2" charset="-122"/>
              </a:rPr>
              <a:t>译码法 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96868" y="2232728"/>
            <a:ext cx="1307929" cy="557427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64210" y="3134221"/>
            <a:ext cx="1471215" cy="762000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837351"/>
              </p:ext>
            </p:extLst>
          </p:nvPr>
        </p:nvGraphicFramePr>
        <p:xfrm>
          <a:off x="3223377" y="4841462"/>
          <a:ext cx="6022218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2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844">
                <a:tc rowSpan="5">
                  <a:txBody>
                    <a:bodyPr/>
                    <a:lstStyle/>
                    <a:p>
                      <a:pPr marL="0" marR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5151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</a:t>
                      </a:r>
                      <a:r>
                        <a:rPr lang="en-US" altLang="zh-CN" sz="1800" b="1" dirty="0">
                          <a:solidFill>
                            <a:srgbClr val="5151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编码值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指令名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译码得到的</a:t>
                      </a:r>
                      <a:r>
                        <a:rPr lang="en-US" altLang="zh-CN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微命令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4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保留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5151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b="1" dirty="0">
                        <a:solidFill>
                          <a:srgbClr val="5151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ADD</a:t>
                      </a:r>
                      <a:endParaRPr lang="zh-CN" altLang="en-US" sz="1800" b="1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5151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2000" b="1" baseline="-25000" dirty="0">
                          <a:solidFill>
                            <a:srgbClr val="5151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1" baseline="-25000" dirty="0">
                        <a:solidFill>
                          <a:srgbClr val="5151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4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5151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b="1" dirty="0">
                        <a:solidFill>
                          <a:srgbClr val="5151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</a:t>
                      </a:r>
                      <a:endParaRPr lang="zh-CN" altLang="en-US" sz="1800" b="1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5151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2000" b="1" baseline="-25000" dirty="0">
                          <a:solidFill>
                            <a:srgbClr val="5151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000" b="1" baseline="-25000" dirty="0">
                        <a:solidFill>
                          <a:srgbClr val="5151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84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5151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b="1" dirty="0">
                        <a:solidFill>
                          <a:srgbClr val="5151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LDR</a:t>
                      </a:r>
                      <a:endParaRPr lang="zh-CN" altLang="en-US" sz="1800" b="1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5151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2000" b="1" baseline="-25000" dirty="0">
                          <a:solidFill>
                            <a:srgbClr val="5151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000" b="1" baseline="-25000" dirty="0">
                        <a:solidFill>
                          <a:srgbClr val="5151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71087" y="1137130"/>
            <a:ext cx="1760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0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b="1" baseline="-25000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000" b="1" baseline="-25000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     </a:t>
            </a:r>
            <a:r>
              <a:rPr lang="en-US" altLang="zh-CN" sz="20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000" b="1" baseline="-25000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baseline="-25000" dirty="0">
              <a:solidFill>
                <a:srgbClr val="5151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18220" y="4208173"/>
            <a:ext cx="2305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0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0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LDR</a:t>
            </a:r>
            <a:endParaRPr lang="zh-CN" altLang="en-US" sz="2000" b="1" dirty="0">
              <a:solidFill>
                <a:srgbClr val="5151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438742" y="3134221"/>
            <a:ext cx="1471215" cy="762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21215" y="3330555"/>
            <a:ext cx="470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39993" y="4159145"/>
            <a:ext cx="669460" cy="46845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48220" y="3282054"/>
            <a:ext cx="564766" cy="41783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12986" y="1103394"/>
            <a:ext cx="440383" cy="46845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331794" y="158157"/>
            <a:ext cx="438352" cy="621987"/>
            <a:chOff x="265635" y="269251"/>
            <a:chExt cx="438352" cy="621987"/>
          </a:xfrm>
        </p:grpSpPr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0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1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30522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4" grpId="0"/>
      <p:bldP spid="16" grpId="0" animBg="1"/>
      <p:bldP spid="11" grpId="0" animBg="1"/>
      <p:bldP spid="12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045" y="1505691"/>
            <a:ext cx="9687624" cy="3069542"/>
          </a:xfrm>
          <a:prstGeom prst="rect">
            <a:avLst/>
          </a:prstGeom>
        </p:spPr>
      </p:pic>
      <p:sp>
        <p:nvSpPr>
          <p:cNvPr id="241666" name="标题 241665"/>
          <p:cNvSpPr>
            <a:spLocks noGrp="1"/>
          </p:cNvSpPr>
          <p:nvPr>
            <p:ph type="title"/>
          </p:nvPr>
        </p:nvSpPr>
        <p:spPr>
          <a:xfrm>
            <a:off x="875773" y="243671"/>
            <a:ext cx="4205287" cy="762000"/>
          </a:xfrm>
        </p:spPr>
        <p:txBody>
          <a:bodyPr anchor="ctr"/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混合表示法</a:t>
            </a:r>
          </a:p>
        </p:txBody>
      </p:sp>
      <p:sp>
        <p:nvSpPr>
          <p:cNvPr id="241669" name="矩形 241668"/>
          <p:cNvSpPr/>
          <p:nvPr/>
        </p:nvSpPr>
        <p:spPr>
          <a:xfrm>
            <a:off x="1472045" y="1739671"/>
            <a:ext cx="453970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indent="2667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1D528D"/>
              </a:solidFill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72046" y="3103868"/>
            <a:ext cx="5238044" cy="762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628860" y="3105773"/>
            <a:ext cx="2342970" cy="762000"/>
          </a:xfrm>
          <a:prstGeom prst="rect">
            <a:avLst/>
          </a:prstGeom>
          <a:noFill/>
          <a:ln w="28575">
            <a:solidFill>
              <a:srgbClr val="5151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454190" y="922032"/>
            <a:ext cx="4692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</a:t>
            </a:r>
            <a:r>
              <a:rPr lang="en-US" altLang="zh-CN" sz="24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每一位</a:t>
            </a: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代表一个微命令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007669" y="4111760"/>
            <a:ext cx="1800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相溶性微指令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472046" y="4570520"/>
            <a:ext cx="12954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FF0000"/>
                </a:solidFill>
              </a:rPr>
              <a:t>10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67446" y="4570129"/>
            <a:ext cx="12954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FF0000"/>
                </a:solidFill>
              </a:rPr>
              <a:t>?</a:t>
            </a:r>
            <a:r>
              <a:rPr lang="en-US" altLang="zh-CN" sz="2400" dirty="0" smtClean="0"/>
              <a:t>xxx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4062846" y="4583984"/>
            <a:ext cx="26472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 smtClean="0"/>
              <a:t>xxxxxxxxxx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6710386" y="4583984"/>
            <a:ext cx="22614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/>
              <a:t>00</a:t>
            </a:r>
            <a:r>
              <a:rPr lang="en-US" altLang="zh-CN" sz="2400" dirty="0" smtClean="0">
                <a:solidFill>
                  <a:srgbClr val="0000FF"/>
                </a:solidFill>
              </a:rPr>
              <a:t>1</a:t>
            </a:r>
            <a:r>
              <a:rPr lang="en-US" altLang="zh-CN" sz="2400" dirty="0" smtClean="0"/>
              <a:t>0</a:t>
            </a:r>
            <a:r>
              <a:rPr lang="en-US" altLang="zh-CN" sz="2400" dirty="0" smtClean="0">
                <a:solidFill>
                  <a:srgbClr val="0000FF"/>
                </a:solidFill>
              </a:rPr>
              <a:t>1</a:t>
            </a:r>
            <a:r>
              <a:rPr lang="en-US" altLang="zh-CN" sz="2400" dirty="0" smtClean="0"/>
              <a:t>0000</a:t>
            </a:r>
            <a:endParaRPr lang="zh-CN" altLang="en-US" sz="2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8971829" y="4597610"/>
            <a:ext cx="218784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 smtClean="0"/>
              <a:t>xxxx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1271810" y="5226626"/>
            <a:ext cx="1572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2</a:t>
            </a:r>
            <a:r>
              <a:rPr lang="zh-CN" altLang="en-US" dirty="0" smtClean="0"/>
              <a:t>位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ADD/SUB/LDR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2653695" y="5011013"/>
            <a:ext cx="15343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4</a:t>
            </a:r>
            <a:r>
              <a:rPr lang="zh-CN" altLang="en-US" dirty="0" smtClean="0"/>
              <a:t>位</a:t>
            </a:r>
            <a:endParaRPr lang="en-US" altLang="zh-CN" dirty="0" smtClean="0"/>
          </a:p>
          <a:p>
            <a:pPr algn="ctr"/>
            <a:r>
              <a:rPr lang="en-US" altLang="zh-CN" dirty="0"/>
              <a:t>7</a:t>
            </a:r>
            <a:r>
              <a:rPr lang="zh-CN" altLang="en-US" dirty="0" smtClean="0"/>
              <a:t>种逻辑运算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4</a:t>
            </a:r>
            <a:r>
              <a:rPr lang="zh-CN" altLang="en-US" dirty="0" smtClean="0"/>
              <a:t>种移位运算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4924253" y="5226626"/>
            <a:ext cx="686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16</a:t>
            </a:r>
            <a:r>
              <a:rPr lang="zh-CN" altLang="en-US" dirty="0" smtClean="0"/>
              <a:t>位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7577124" y="5226626"/>
            <a:ext cx="527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8</a:t>
            </a:r>
            <a:r>
              <a:rPr lang="zh-CN" altLang="en-US" dirty="0" smtClean="0"/>
              <a:t>位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9779999" y="5226626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4</a:t>
            </a:r>
            <a:r>
              <a:rPr lang="zh-CN" altLang="en-US" dirty="0" smtClean="0"/>
              <a:t>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489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83441" y="2541722"/>
            <a:ext cx="3868499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17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343</Words>
  <Application>Microsoft Office PowerPoint</Application>
  <PresentationFormat>宽屏</PresentationFormat>
  <Paragraphs>81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宋体</vt:lpstr>
      <vt:lpstr>微软雅黑</vt:lpstr>
      <vt:lpstr>Arial</vt:lpstr>
      <vt:lpstr>Calibri</vt:lpstr>
      <vt:lpstr>Calibri Light</vt:lpstr>
      <vt:lpstr>Verdana</vt:lpstr>
      <vt:lpstr>第一PPT，www.1ppt.com</vt:lpstr>
      <vt:lpstr>PowerPoint 演示文稿</vt:lpstr>
      <vt:lpstr>PowerPoint 演示文稿</vt:lpstr>
      <vt:lpstr>PowerPoint 演示文稿</vt:lpstr>
      <vt:lpstr>直接表示法</vt:lpstr>
      <vt:lpstr>PowerPoint 演示文稿</vt:lpstr>
      <vt:lpstr>混合表示法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07述职报告</dc:title>
  <dc:creator>user</dc:creator>
  <cp:lastModifiedBy>Admin</cp:lastModifiedBy>
  <cp:revision>34</cp:revision>
  <dcterms:created xsi:type="dcterms:W3CDTF">2016-06-01T05:10:04Z</dcterms:created>
  <dcterms:modified xsi:type="dcterms:W3CDTF">2017-06-02T08:23:38Z</dcterms:modified>
</cp:coreProperties>
</file>