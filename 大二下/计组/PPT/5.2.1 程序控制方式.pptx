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9" r:id="rId2"/>
    <p:sldId id="361" r:id="rId3"/>
    <p:sldId id="362" r:id="rId4"/>
    <p:sldId id="363" r:id="rId5"/>
    <p:sldId id="352" r:id="rId6"/>
    <p:sldId id="365" r:id="rId7"/>
    <p:sldId id="354" r:id="rId8"/>
    <p:sldId id="364" r:id="rId9"/>
    <p:sldId id="356" r:id="rId10"/>
    <p:sldId id="360" r:id="rId11"/>
    <p:sldId id="366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BEB0"/>
    <a:srgbClr val="01C0B0"/>
    <a:srgbClr val="92D050"/>
    <a:srgbClr val="FFC000"/>
    <a:srgbClr val="02B9E7"/>
    <a:srgbClr val="04B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84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177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12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987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61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9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391507" y="2424893"/>
            <a:ext cx="73934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2197315" y="2626128"/>
            <a:ext cx="7569771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en-US" altLang="zh-CN" sz="8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程序控制方式</a:t>
            </a: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9201922" y="1411471"/>
            <a:ext cx="1306003" cy="1526579"/>
            <a:chOff x="7793038" y="2205038"/>
            <a:chExt cx="1306513" cy="1527175"/>
          </a:xfrm>
        </p:grpSpPr>
        <p:sp>
          <p:nvSpPr>
            <p:cNvPr id="40" name="Freeform 8"/>
            <p:cNvSpPr>
              <a:spLocks/>
            </p:cNvSpPr>
            <p:nvPr/>
          </p:nvSpPr>
          <p:spPr bwMode="auto">
            <a:xfrm>
              <a:off x="7793038" y="2205038"/>
              <a:ext cx="1306513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90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4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4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90" y="1889"/>
                  </a:cubicBezTo>
                  <a:cubicBezTo>
                    <a:pt x="747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auto">
            <a:xfrm>
              <a:off x="8065047" y="2423672"/>
              <a:ext cx="819646" cy="881946"/>
            </a:xfrm>
            <a:custGeom>
              <a:avLst/>
              <a:gdLst>
                <a:gd name="T0" fmla="*/ 255 w 847"/>
                <a:gd name="T1" fmla="*/ 138 h 903"/>
                <a:gd name="T2" fmla="*/ 555 w 847"/>
                <a:gd name="T3" fmla="*/ 100 h 903"/>
                <a:gd name="T4" fmla="*/ 448 w 847"/>
                <a:gd name="T5" fmla="*/ 61 h 903"/>
                <a:gd name="T6" fmla="*/ 324 w 847"/>
                <a:gd name="T7" fmla="*/ 61 h 903"/>
                <a:gd name="T8" fmla="*/ 217 w 847"/>
                <a:gd name="T9" fmla="*/ 100 h 903"/>
                <a:gd name="T10" fmla="*/ 697 w 847"/>
                <a:gd name="T11" fmla="*/ 782 h 903"/>
                <a:gd name="T12" fmla="*/ 709 w 847"/>
                <a:gd name="T13" fmla="*/ 755 h 903"/>
                <a:gd name="T14" fmla="*/ 660 w 847"/>
                <a:gd name="T15" fmla="*/ 586 h 903"/>
                <a:gd name="T16" fmla="*/ 629 w 847"/>
                <a:gd name="T17" fmla="*/ 586 h 903"/>
                <a:gd name="T18" fmla="*/ 629 w 847"/>
                <a:gd name="T19" fmla="*/ 716 h 903"/>
                <a:gd name="T20" fmla="*/ 630 w 847"/>
                <a:gd name="T21" fmla="*/ 719 h 903"/>
                <a:gd name="T22" fmla="*/ 631 w 847"/>
                <a:gd name="T23" fmla="*/ 722 h 903"/>
                <a:gd name="T24" fmla="*/ 633 w 847"/>
                <a:gd name="T25" fmla="*/ 724 h 903"/>
                <a:gd name="T26" fmla="*/ 807 w 847"/>
                <a:gd name="T27" fmla="*/ 596 h 903"/>
                <a:gd name="T28" fmla="*/ 644 w 847"/>
                <a:gd name="T29" fmla="*/ 510 h 903"/>
                <a:gd name="T30" fmla="*/ 607 w 847"/>
                <a:gd name="T31" fmla="*/ 899 h 903"/>
                <a:gd name="T32" fmla="*/ 837 w 847"/>
                <a:gd name="T33" fmla="*/ 743 h 903"/>
                <a:gd name="T34" fmla="*/ 808 w 847"/>
                <a:gd name="T35" fmla="*/ 737 h 903"/>
                <a:gd name="T36" fmla="*/ 645 w 847"/>
                <a:gd name="T37" fmla="*/ 872 h 903"/>
                <a:gd name="T38" fmla="*/ 481 w 847"/>
                <a:gd name="T39" fmla="*/ 675 h 903"/>
                <a:gd name="T40" fmla="*/ 676 w 847"/>
                <a:gd name="T41" fmla="*/ 543 h 903"/>
                <a:gd name="T42" fmla="*/ 808 w 847"/>
                <a:gd name="T43" fmla="*/ 737 h 903"/>
                <a:gd name="T44" fmla="*/ 284 w 847"/>
                <a:gd name="T45" fmla="*/ 736 h 903"/>
                <a:gd name="T46" fmla="*/ 485 w 847"/>
                <a:gd name="T47" fmla="*/ 536 h 903"/>
                <a:gd name="T48" fmla="*/ 526 w 847"/>
                <a:gd name="T49" fmla="*/ 505 h 903"/>
                <a:gd name="T50" fmla="*/ 732 w 847"/>
                <a:gd name="T51" fmla="*/ 306 h 903"/>
                <a:gd name="T52" fmla="*/ 740 w 847"/>
                <a:gd name="T53" fmla="*/ 494 h 903"/>
                <a:gd name="T54" fmla="*/ 772 w 847"/>
                <a:gd name="T55" fmla="*/ 505 h 903"/>
                <a:gd name="T56" fmla="*/ 772 w 847"/>
                <a:gd name="T57" fmla="*/ 208 h 903"/>
                <a:gd name="T58" fmla="*/ 40 w 847"/>
                <a:gd name="T59" fmla="*/ 167 h 903"/>
                <a:gd name="T60" fmla="*/ 0 w 847"/>
                <a:gd name="T61" fmla="*/ 314 h 903"/>
                <a:gd name="T62" fmla="*/ 0 w 847"/>
                <a:gd name="T63" fmla="*/ 536 h 903"/>
                <a:gd name="T64" fmla="*/ 0 w 847"/>
                <a:gd name="T65" fmla="*/ 751 h 903"/>
                <a:gd name="T66" fmla="*/ 427 w 847"/>
                <a:gd name="T67" fmla="*/ 791 h 903"/>
                <a:gd name="T68" fmla="*/ 32 w 847"/>
                <a:gd name="T69" fmla="*/ 314 h 903"/>
                <a:gd name="T70" fmla="*/ 40 w 847"/>
                <a:gd name="T71" fmla="*/ 306 h 903"/>
                <a:gd name="T72" fmla="*/ 252 w 847"/>
                <a:gd name="T73" fmla="*/ 505 h 903"/>
                <a:gd name="T74" fmla="*/ 32 w 847"/>
                <a:gd name="T75" fmla="*/ 314 h 903"/>
                <a:gd name="T76" fmla="*/ 252 w 847"/>
                <a:gd name="T77" fmla="*/ 536 h 903"/>
                <a:gd name="T78" fmla="*/ 40 w 847"/>
                <a:gd name="T79" fmla="*/ 736 h 903"/>
                <a:gd name="T80" fmla="*/ 32 w 847"/>
                <a:gd name="T81" fmla="*/ 536 h 903"/>
                <a:gd name="T82" fmla="*/ 284 w 847"/>
                <a:gd name="T83" fmla="*/ 505 h 903"/>
                <a:gd name="T84" fmla="*/ 284 w 847"/>
                <a:gd name="T85" fmla="*/ 306 h 903"/>
                <a:gd name="T86" fmla="*/ 495 w 847"/>
                <a:gd name="T87" fmla="*/ 505 h 903"/>
                <a:gd name="T88" fmla="*/ 511 w 847"/>
                <a:gd name="T89" fmla="*/ 207 h 903"/>
                <a:gd name="T90" fmla="*/ 538 w 847"/>
                <a:gd name="T91" fmla="*/ 235 h 903"/>
                <a:gd name="T92" fmla="*/ 483 w 847"/>
                <a:gd name="T93" fmla="*/ 235 h 903"/>
                <a:gd name="T94" fmla="*/ 268 w 847"/>
                <a:gd name="T95" fmla="*/ 207 h 903"/>
                <a:gd name="T96" fmla="*/ 295 w 847"/>
                <a:gd name="T97" fmla="*/ 235 h 903"/>
                <a:gd name="T98" fmla="*/ 241 w 847"/>
                <a:gd name="T99" fmla="*/ 23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47" h="903">
                  <a:moveTo>
                    <a:pt x="217" y="100"/>
                  </a:moveTo>
                  <a:cubicBezTo>
                    <a:pt x="217" y="121"/>
                    <a:pt x="234" y="138"/>
                    <a:pt x="255" y="138"/>
                  </a:cubicBezTo>
                  <a:lnTo>
                    <a:pt x="517" y="138"/>
                  </a:lnTo>
                  <a:cubicBezTo>
                    <a:pt x="538" y="138"/>
                    <a:pt x="555" y="121"/>
                    <a:pt x="555" y="100"/>
                  </a:cubicBezTo>
                  <a:cubicBezTo>
                    <a:pt x="555" y="79"/>
                    <a:pt x="538" y="61"/>
                    <a:pt x="517" y="61"/>
                  </a:cubicBezTo>
                  <a:lnTo>
                    <a:pt x="448" y="61"/>
                  </a:lnTo>
                  <a:cubicBezTo>
                    <a:pt x="448" y="27"/>
                    <a:pt x="420" y="0"/>
                    <a:pt x="386" y="0"/>
                  </a:cubicBezTo>
                  <a:cubicBezTo>
                    <a:pt x="352" y="0"/>
                    <a:pt x="324" y="27"/>
                    <a:pt x="324" y="61"/>
                  </a:cubicBezTo>
                  <a:lnTo>
                    <a:pt x="255" y="61"/>
                  </a:lnTo>
                  <a:cubicBezTo>
                    <a:pt x="234" y="61"/>
                    <a:pt x="217" y="79"/>
                    <a:pt x="217" y="100"/>
                  </a:cubicBezTo>
                  <a:close/>
                  <a:moveTo>
                    <a:pt x="686" y="777"/>
                  </a:moveTo>
                  <a:cubicBezTo>
                    <a:pt x="689" y="780"/>
                    <a:pt x="693" y="782"/>
                    <a:pt x="697" y="782"/>
                  </a:cubicBezTo>
                  <a:cubicBezTo>
                    <a:pt x="702" y="782"/>
                    <a:pt x="706" y="780"/>
                    <a:pt x="709" y="777"/>
                  </a:cubicBezTo>
                  <a:cubicBezTo>
                    <a:pt x="715" y="771"/>
                    <a:pt x="715" y="761"/>
                    <a:pt x="709" y="755"/>
                  </a:cubicBezTo>
                  <a:lnTo>
                    <a:pt x="660" y="706"/>
                  </a:lnTo>
                  <a:lnTo>
                    <a:pt x="660" y="586"/>
                  </a:lnTo>
                  <a:cubicBezTo>
                    <a:pt x="660" y="577"/>
                    <a:pt x="653" y="570"/>
                    <a:pt x="644" y="570"/>
                  </a:cubicBezTo>
                  <a:cubicBezTo>
                    <a:pt x="636" y="570"/>
                    <a:pt x="629" y="577"/>
                    <a:pt x="629" y="586"/>
                  </a:cubicBezTo>
                  <a:lnTo>
                    <a:pt x="629" y="713"/>
                  </a:lnTo>
                  <a:cubicBezTo>
                    <a:pt x="629" y="714"/>
                    <a:pt x="629" y="715"/>
                    <a:pt x="629" y="716"/>
                  </a:cubicBezTo>
                  <a:cubicBezTo>
                    <a:pt x="629" y="716"/>
                    <a:pt x="629" y="717"/>
                    <a:pt x="629" y="717"/>
                  </a:cubicBezTo>
                  <a:cubicBezTo>
                    <a:pt x="629" y="718"/>
                    <a:pt x="630" y="718"/>
                    <a:pt x="630" y="719"/>
                  </a:cubicBezTo>
                  <a:cubicBezTo>
                    <a:pt x="630" y="719"/>
                    <a:pt x="630" y="720"/>
                    <a:pt x="631" y="720"/>
                  </a:cubicBezTo>
                  <a:cubicBezTo>
                    <a:pt x="631" y="721"/>
                    <a:pt x="631" y="721"/>
                    <a:pt x="631" y="722"/>
                  </a:cubicBezTo>
                  <a:cubicBezTo>
                    <a:pt x="632" y="722"/>
                    <a:pt x="632" y="723"/>
                    <a:pt x="633" y="724"/>
                  </a:cubicBezTo>
                  <a:cubicBezTo>
                    <a:pt x="633" y="724"/>
                    <a:pt x="633" y="724"/>
                    <a:pt x="633" y="724"/>
                  </a:cubicBezTo>
                  <a:lnTo>
                    <a:pt x="686" y="777"/>
                  </a:lnTo>
                  <a:close/>
                  <a:moveTo>
                    <a:pt x="807" y="596"/>
                  </a:moveTo>
                  <a:cubicBezTo>
                    <a:pt x="777" y="552"/>
                    <a:pt x="733" y="523"/>
                    <a:pt x="681" y="513"/>
                  </a:cubicBezTo>
                  <a:cubicBezTo>
                    <a:pt x="669" y="511"/>
                    <a:pt x="657" y="510"/>
                    <a:pt x="644" y="510"/>
                  </a:cubicBezTo>
                  <a:cubicBezTo>
                    <a:pt x="550" y="510"/>
                    <a:pt x="469" y="577"/>
                    <a:pt x="451" y="669"/>
                  </a:cubicBezTo>
                  <a:cubicBezTo>
                    <a:pt x="431" y="776"/>
                    <a:pt x="501" y="879"/>
                    <a:pt x="607" y="899"/>
                  </a:cubicBezTo>
                  <a:cubicBezTo>
                    <a:pt x="620" y="902"/>
                    <a:pt x="632" y="903"/>
                    <a:pt x="645" y="903"/>
                  </a:cubicBezTo>
                  <a:cubicBezTo>
                    <a:pt x="739" y="903"/>
                    <a:pt x="820" y="836"/>
                    <a:pt x="837" y="743"/>
                  </a:cubicBezTo>
                  <a:cubicBezTo>
                    <a:pt x="847" y="692"/>
                    <a:pt x="836" y="639"/>
                    <a:pt x="807" y="596"/>
                  </a:cubicBezTo>
                  <a:close/>
                  <a:moveTo>
                    <a:pt x="808" y="737"/>
                  </a:moveTo>
                  <a:lnTo>
                    <a:pt x="808" y="737"/>
                  </a:lnTo>
                  <a:cubicBezTo>
                    <a:pt x="793" y="816"/>
                    <a:pt x="724" y="872"/>
                    <a:pt x="645" y="872"/>
                  </a:cubicBezTo>
                  <a:cubicBezTo>
                    <a:pt x="634" y="872"/>
                    <a:pt x="624" y="871"/>
                    <a:pt x="613" y="869"/>
                  </a:cubicBezTo>
                  <a:cubicBezTo>
                    <a:pt x="523" y="852"/>
                    <a:pt x="464" y="765"/>
                    <a:pt x="481" y="675"/>
                  </a:cubicBezTo>
                  <a:cubicBezTo>
                    <a:pt x="496" y="597"/>
                    <a:pt x="565" y="540"/>
                    <a:pt x="644" y="540"/>
                  </a:cubicBezTo>
                  <a:cubicBezTo>
                    <a:pt x="655" y="540"/>
                    <a:pt x="665" y="541"/>
                    <a:pt x="676" y="543"/>
                  </a:cubicBezTo>
                  <a:cubicBezTo>
                    <a:pt x="719" y="551"/>
                    <a:pt x="757" y="576"/>
                    <a:pt x="782" y="613"/>
                  </a:cubicBezTo>
                  <a:cubicBezTo>
                    <a:pt x="807" y="650"/>
                    <a:pt x="816" y="694"/>
                    <a:pt x="808" y="737"/>
                  </a:cubicBezTo>
                  <a:close/>
                  <a:moveTo>
                    <a:pt x="413" y="736"/>
                  </a:moveTo>
                  <a:lnTo>
                    <a:pt x="284" y="736"/>
                  </a:lnTo>
                  <a:lnTo>
                    <a:pt x="284" y="536"/>
                  </a:lnTo>
                  <a:lnTo>
                    <a:pt x="485" y="536"/>
                  </a:lnTo>
                  <a:cubicBezTo>
                    <a:pt x="497" y="524"/>
                    <a:pt x="512" y="514"/>
                    <a:pt x="527" y="505"/>
                  </a:cubicBezTo>
                  <a:lnTo>
                    <a:pt x="526" y="505"/>
                  </a:lnTo>
                  <a:lnTo>
                    <a:pt x="526" y="306"/>
                  </a:lnTo>
                  <a:lnTo>
                    <a:pt x="732" y="306"/>
                  </a:lnTo>
                  <a:cubicBezTo>
                    <a:pt x="736" y="306"/>
                    <a:pt x="740" y="309"/>
                    <a:pt x="740" y="314"/>
                  </a:cubicBezTo>
                  <a:lnTo>
                    <a:pt x="740" y="494"/>
                  </a:lnTo>
                  <a:cubicBezTo>
                    <a:pt x="751" y="499"/>
                    <a:pt x="762" y="505"/>
                    <a:pt x="772" y="511"/>
                  </a:cubicBezTo>
                  <a:lnTo>
                    <a:pt x="772" y="505"/>
                  </a:lnTo>
                  <a:lnTo>
                    <a:pt x="772" y="314"/>
                  </a:lnTo>
                  <a:lnTo>
                    <a:pt x="772" y="208"/>
                  </a:lnTo>
                  <a:cubicBezTo>
                    <a:pt x="772" y="185"/>
                    <a:pt x="754" y="167"/>
                    <a:pt x="732" y="167"/>
                  </a:cubicBezTo>
                  <a:lnTo>
                    <a:pt x="40" y="167"/>
                  </a:lnTo>
                  <a:cubicBezTo>
                    <a:pt x="18" y="167"/>
                    <a:pt x="0" y="185"/>
                    <a:pt x="0" y="208"/>
                  </a:cubicBezTo>
                  <a:lnTo>
                    <a:pt x="0" y="314"/>
                  </a:lnTo>
                  <a:lnTo>
                    <a:pt x="0" y="505"/>
                  </a:lnTo>
                  <a:lnTo>
                    <a:pt x="0" y="536"/>
                  </a:lnTo>
                  <a:lnTo>
                    <a:pt x="0" y="727"/>
                  </a:lnTo>
                  <a:lnTo>
                    <a:pt x="0" y="751"/>
                  </a:lnTo>
                  <a:cubicBezTo>
                    <a:pt x="0" y="773"/>
                    <a:pt x="18" y="791"/>
                    <a:pt x="40" y="791"/>
                  </a:cubicBezTo>
                  <a:lnTo>
                    <a:pt x="427" y="791"/>
                  </a:lnTo>
                  <a:cubicBezTo>
                    <a:pt x="420" y="773"/>
                    <a:pt x="415" y="755"/>
                    <a:pt x="413" y="736"/>
                  </a:cubicBezTo>
                  <a:close/>
                  <a:moveTo>
                    <a:pt x="32" y="314"/>
                  </a:moveTo>
                  <a:lnTo>
                    <a:pt x="32" y="314"/>
                  </a:lnTo>
                  <a:cubicBezTo>
                    <a:pt x="32" y="309"/>
                    <a:pt x="36" y="306"/>
                    <a:pt x="40" y="306"/>
                  </a:cubicBezTo>
                  <a:lnTo>
                    <a:pt x="252" y="306"/>
                  </a:lnTo>
                  <a:lnTo>
                    <a:pt x="252" y="505"/>
                  </a:lnTo>
                  <a:lnTo>
                    <a:pt x="32" y="505"/>
                  </a:lnTo>
                  <a:lnTo>
                    <a:pt x="32" y="314"/>
                  </a:lnTo>
                  <a:close/>
                  <a:moveTo>
                    <a:pt x="252" y="536"/>
                  </a:moveTo>
                  <a:lnTo>
                    <a:pt x="252" y="536"/>
                  </a:lnTo>
                  <a:lnTo>
                    <a:pt x="252" y="736"/>
                  </a:lnTo>
                  <a:lnTo>
                    <a:pt x="40" y="736"/>
                  </a:lnTo>
                  <a:cubicBezTo>
                    <a:pt x="36" y="736"/>
                    <a:pt x="32" y="732"/>
                    <a:pt x="32" y="727"/>
                  </a:cubicBezTo>
                  <a:lnTo>
                    <a:pt x="32" y="536"/>
                  </a:lnTo>
                  <a:lnTo>
                    <a:pt x="252" y="536"/>
                  </a:lnTo>
                  <a:close/>
                  <a:moveTo>
                    <a:pt x="284" y="505"/>
                  </a:moveTo>
                  <a:lnTo>
                    <a:pt x="284" y="505"/>
                  </a:lnTo>
                  <a:lnTo>
                    <a:pt x="284" y="306"/>
                  </a:lnTo>
                  <a:lnTo>
                    <a:pt x="495" y="306"/>
                  </a:lnTo>
                  <a:lnTo>
                    <a:pt x="495" y="505"/>
                  </a:lnTo>
                  <a:lnTo>
                    <a:pt x="284" y="505"/>
                  </a:lnTo>
                  <a:close/>
                  <a:moveTo>
                    <a:pt x="511" y="207"/>
                  </a:moveTo>
                  <a:lnTo>
                    <a:pt x="511" y="207"/>
                  </a:lnTo>
                  <a:cubicBezTo>
                    <a:pt x="526" y="207"/>
                    <a:pt x="538" y="219"/>
                    <a:pt x="538" y="235"/>
                  </a:cubicBezTo>
                  <a:cubicBezTo>
                    <a:pt x="538" y="250"/>
                    <a:pt x="526" y="262"/>
                    <a:pt x="511" y="262"/>
                  </a:cubicBezTo>
                  <a:cubicBezTo>
                    <a:pt x="496" y="262"/>
                    <a:pt x="483" y="250"/>
                    <a:pt x="483" y="235"/>
                  </a:cubicBezTo>
                  <a:cubicBezTo>
                    <a:pt x="483" y="219"/>
                    <a:pt x="496" y="207"/>
                    <a:pt x="511" y="207"/>
                  </a:cubicBezTo>
                  <a:close/>
                  <a:moveTo>
                    <a:pt x="268" y="207"/>
                  </a:moveTo>
                  <a:lnTo>
                    <a:pt x="268" y="207"/>
                  </a:lnTo>
                  <a:cubicBezTo>
                    <a:pt x="283" y="207"/>
                    <a:pt x="295" y="219"/>
                    <a:pt x="295" y="235"/>
                  </a:cubicBezTo>
                  <a:cubicBezTo>
                    <a:pt x="295" y="250"/>
                    <a:pt x="283" y="262"/>
                    <a:pt x="268" y="262"/>
                  </a:cubicBezTo>
                  <a:cubicBezTo>
                    <a:pt x="253" y="262"/>
                    <a:pt x="241" y="250"/>
                    <a:pt x="241" y="235"/>
                  </a:cubicBezTo>
                  <a:cubicBezTo>
                    <a:pt x="241" y="219"/>
                    <a:pt x="253" y="207"/>
                    <a:pt x="268" y="2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446334" y="1411471"/>
            <a:ext cx="1304416" cy="1526579"/>
            <a:chOff x="1446900" y="2132856"/>
            <a:chExt cx="1304925" cy="1527175"/>
          </a:xfrm>
        </p:grpSpPr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1446900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56" name="Freeform 16"/>
            <p:cNvSpPr>
              <a:spLocks noEditPoints="1"/>
            </p:cNvSpPr>
            <p:nvPr/>
          </p:nvSpPr>
          <p:spPr bwMode="auto">
            <a:xfrm>
              <a:off x="1668969" y="2542449"/>
              <a:ext cx="860788" cy="500028"/>
            </a:xfrm>
            <a:custGeom>
              <a:avLst/>
              <a:gdLst>
                <a:gd name="T0" fmla="*/ 712 w 739"/>
                <a:gd name="T1" fmla="*/ 36 h 492"/>
                <a:gd name="T2" fmla="*/ 712 w 739"/>
                <a:gd name="T3" fmla="*/ 404 h 492"/>
                <a:gd name="T4" fmla="*/ 702 w 739"/>
                <a:gd name="T5" fmla="*/ 404 h 492"/>
                <a:gd name="T6" fmla="*/ 678 w 739"/>
                <a:gd name="T7" fmla="*/ 403 h 492"/>
                <a:gd name="T8" fmla="*/ 373 w 739"/>
                <a:gd name="T9" fmla="*/ 480 h 492"/>
                <a:gd name="T10" fmla="*/ 369 w 739"/>
                <a:gd name="T11" fmla="*/ 482 h 492"/>
                <a:gd name="T12" fmla="*/ 365 w 739"/>
                <a:gd name="T13" fmla="*/ 480 h 492"/>
                <a:gd name="T14" fmla="*/ 60 w 739"/>
                <a:gd name="T15" fmla="*/ 403 h 492"/>
                <a:gd name="T16" fmla="*/ 37 w 739"/>
                <a:gd name="T17" fmla="*/ 404 h 492"/>
                <a:gd name="T18" fmla="*/ 26 w 739"/>
                <a:gd name="T19" fmla="*/ 404 h 492"/>
                <a:gd name="T20" fmla="*/ 26 w 739"/>
                <a:gd name="T21" fmla="*/ 36 h 492"/>
                <a:gd name="T22" fmla="*/ 0 w 739"/>
                <a:gd name="T23" fmla="*/ 36 h 492"/>
                <a:gd name="T24" fmla="*/ 0 w 739"/>
                <a:gd name="T25" fmla="*/ 418 h 492"/>
                <a:gd name="T26" fmla="*/ 369 w 739"/>
                <a:gd name="T27" fmla="*/ 492 h 492"/>
                <a:gd name="T28" fmla="*/ 739 w 739"/>
                <a:gd name="T29" fmla="*/ 418 h 492"/>
                <a:gd name="T30" fmla="*/ 739 w 739"/>
                <a:gd name="T31" fmla="*/ 36 h 492"/>
                <a:gd name="T32" fmla="*/ 712 w 739"/>
                <a:gd name="T33" fmla="*/ 36 h 492"/>
                <a:gd name="T34" fmla="*/ 357 w 739"/>
                <a:gd name="T35" fmla="*/ 418 h 492"/>
                <a:gd name="T36" fmla="*/ 357 w 739"/>
                <a:gd name="T37" fmla="*/ 82 h 492"/>
                <a:gd name="T38" fmla="*/ 101 w 739"/>
                <a:gd name="T39" fmla="*/ 2 h 492"/>
                <a:gd name="T40" fmla="*/ 101 w 739"/>
                <a:gd name="T41" fmla="*/ 352 h 492"/>
                <a:gd name="T42" fmla="*/ 111 w 739"/>
                <a:gd name="T43" fmla="*/ 352 h 492"/>
                <a:gd name="T44" fmla="*/ 357 w 739"/>
                <a:gd name="T45" fmla="*/ 418 h 492"/>
                <a:gd name="T46" fmla="*/ 638 w 739"/>
                <a:gd name="T47" fmla="*/ 352 h 492"/>
                <a:gd name="T48" fmla="*/ 638 w 739"/>
                <a:gd name="T49" fmla="*/ 2 h 492"/>
                <a:gd name="T50" fmla="*/ 382 w 739"/>
                <a:gd name="T51" fmla="*/ 82 h 492"/>
                <a:gd name="T52" fmla="*/ 382 w 739"/>
                <a:gd name="T53" fmla="*/ 418 h 492"/>
                <a:gd name="T54" fmla="*/ 628 w 739"/>
                <a:gd name="T55" fmla="*/ 352 h 492"/>
                <a:gd name="T56" fmla="*/ 638 w 739"/>
                <a:gd name="T57" fmla="*/ 352 h 492"/>
                <a:gd name="T58" fmla="*/ 369 w 739"/>
                <a:gd name="T59" fmla="*/ 473 h 492"/>
                <a:gd name="T60" fmla="*/ 695 w 739"/>
                <a:gd name="T61" fmla="*/ 395 h 492"/>
                <a:gd name="T62" fmla="*/ 695 w 739"/>
                <a:gd name="T63" fmla="*/ 7 h 492"/>
                <a:gd name="T64" fmla="*/ 655 w 739"/>
                <a:gd name="T65" fmla="*/ 7 h 492"/>
                <a:gd name="T66" fmla="*/ 655 w 739"/>
                <a:gd name="T67" fmla="*/ 370 h 492"/>
                <a:gd name="T68" fmla="*/ 645 w 739"/>
                <a:gd name="T69" fmla="*/ 370 h 492"/>
                <a:gd name="T70" fmla="*/ 626 w 739"/>
                <a:gd name="T71" fmla="*/ 369 h 492"/>
                <a:gd name="T72" fmla="*/ 376 w 739"/>
                <a:gd name="T73" fmla="*/ 441 h 492"/>
                <a:gd name="T74" fmla="*/ 369 w 739"/>
                <a:gd name="T75" fmla="*/ 445 h 492"/>
                <a:gd name="T76" fmla="*/ 363 w 739"/>
                <a:gd name="T77" fmla="*/ 441 h 492"/>
                <a:gd name="T78" fmla="*/ 113 w 739"/>
                <a:gd name="T79" fmla="*/ 369 h 492"/>
                <a:gd name="T80" fmla="*/ 93 w 739"/>
                <a:gd name="T81" fmla="*/ 370 h 492"/>
                <a:gd name="T82" fmla="*/ 83 w 739"/>
                <a:gd name="T83" fmla="*/ 370 h 492"/>
                <a:gd name="T84" fmla="*/ 83 w 739"/>
                <a:gd name="T85" fmla="*/ 7 h 492"/>
                <a:gd name="T86" fmla="*/ 44 w 739"/>
                <a:gd name="T87" fmla="*/ 7 h 492"/>
                <a:gd name="T88" fmla="*/ 44 w 739"/>
                <a:gd name="T89" fmla="*/ 395 h 492"/>
                <a:gd name="T90" fmla="*/ 369 w 739"/>
                <a:gd name="T91" fmla="*/ 473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9" h="492">
                  <a:moveTo>
                    <a:pt x="712" y="36"/>
                  </a:moveTo>
                  <a:lnTo>
                    <a:pt x="712" y="404"/>
                  </a:lnTo>
                  <a:lnTo>
                    <a:pt x="702" y="404"/>
                  </a:lnTo>
                  <a:cubicBezTo>
                    <a:pt x="694" y="404"/>
                    <a:pt x="686" y="403"/>
                    <a:pt x="678" y="403"/>
                  </a:cubicBezTo>
                  <a:cubicBezTo>
                    <a:pt x="576" y="403"/>
                    <a:pt x="467" y="430"/>
                    <a:pt x="373" y="480"/>
                  </a:cubicBezTo>
                  <a:lnTo>
                    <a:pt x="369" y="482"/>
                  </a:lnTo>
                  <a:lnTo>
                    <a:pt x="365" y="480"/>
                  </a:lnTo>
                  <a:cubicBezTo>
                    <a:pt x="271" y="430"/>
                    <a:pt x="163" y="403"/>
                    <a:pt x="60" y="403"/>
                  </a:cubicBezTo>
                  <a:cubicBezTo>
                    <a:pt x="52" y="403"/>
                    <a:pt x="45" y="404"/>
                    <a:pt x="37" y="404"/>
                  </a:cubicBezTo>
                  <a:lnTo>
                    <a:pt x="26" y="404"/>
                  </a:lnTo>
                  <a:lnTo>
                    <a:pt x="26" y="36"/>
                  </a:lnTo>
                  <a:cubicBezTo>
                    <a:pt x="17" y="36"/>
                    <a:pt x="9" y="36"/>
                    <a:pt x="0" y="36"/>
                  </a:cubicBezTo>
                  <a:lnTo>
                    <a:pt x="0" y="418"/>
                  </a:lnTo>
                  <a:cubicBezTo>
                    <a:pt x="123" y="415"/>
                    <a:pt x="254" y="442"/>
                    <a:pt x="369" y="492"/>
                  </a:cubicBezTo>
                  <a:cubicBezTo>
                    <a:pt x="484" y="442"/>
                    <a:pt x="616" y="415"/>
                    <a:pt x="739" y="418"/>
                  </a:cubicBezTo>
                  <a:lnTo>
                    <a:pt x="739" y="36"/>
                  </a:lnTo>
                  <a:cubicBezTo>
                    <a:pt x="730" y="36"/>
                    <a:pt x="721" y="36"/>
                    <a:pt x="712" y="36"/>
                  </a:cubicBezTo>
                  <a:close/>
                  <a:moveTo>
                    <a:pt x="357" y="418"/>
                  </a:moveTo>
                  <a:lnTo>
                    <a:pt x="357" y="82"/>
                  </a:lnTo>
                  <a:cubicBezTo>
                    <a:pt x="277" y="28"/>
                    <a:pt x="186" y="0"/>
                    <a:pt x="101" y="2"/>
                  </a:cubicBezTo>
                  <a:lnTo>
                    <a:pt x="101" y="352"/>
                  </a:lnTo>
                  <a:cubicBezTo>
                    <a:pt x="104" y="352"/>
                    <a:pt x="107" y="352"/>
                    <a:pt x="111" y="352"/>
                  </a:cubicBezTo>
                  <a:cubicBezTo>
                    <a:pt x="193" y="352"/>
                    <a:pt x="280" y="375"/>
                    <a:pt x="357" y="418"/>
                  </a:cubicBezTo>
                  <a:close/>
                  <a:moveTo>
                    <a:pt x="638" y="352"/>
                  </a:moveTo>
                  <a:lnTo>
                    <a:pt x="638" y="2"/>
                  </a:lnTo>
                  <a:cubicBezTo>
                    <a:pt x="552" y="0"/>
                    <a:pt x="461" y="28"/>
                    <a:pt x="382" y="82"/>
                  </a:cubicBezTo>
                  <a:lnTo>
                    <a:pt x="382" y="418"/>
                  </a:lnTo>
                  <a:cubicBezTo>
                    <a:pt x="459" y="375"/>
                    <a:pt x="545" y="352"/>
                    <a:pt x="628" y="352"/>
                  </a:cubicBezTo>
                  <a:cubicBezTo>
                    <a:pt x="631" y="352"/>
                    <a:pt x="635" y="352"/>
                    <a:pt x="638" y="352"/>
                  </a:cubicBezTo>
                  <a:close/>
                  <a:moveTo>
                    <a:pt x="369" y="473"/>
                  </a:moveTo>
                  <a:cubicBezTo>
                    <a:pt x="473" y="417"/>
                    <a:pt x="590" y="391"/>
                    <a:pt x="695" y="395"/>
                  </a:cubicBezTo>
                  <a:lnTo>
                    <a:pt x="695" y="7"/>
                  </a:lnTo>
                  <a:cubicBezTo>
                    <a:pt x="682" y="6"/>
                    <a:pt x="669" y="6"/>
                    <a:pt x="655" y="7"/>
                  </a:cubicBezTo>
                  <a:lnTo>
                    <a:pt x="655" y="370"/>
                  </a:lnTo>
                  <a:lnTo>
                    <a:pt x="645" y="370"/>
                  </a:lnTo>
                  <a:cubicBezTo>
                    <a:pt x="639" y="369"/>
                    <a:pt x="632" y="369"/>
                    <a:pt x="626" y="369"/>
                  </a:cubicBezTo>
                  <a:cubicBezTo>
                    <a:pt x="542" y="369"/>
                    <a:pt x="453" y="395"/>
                    <a:pt x="376" y="441"/>
                  </a:cubicBezTo>
                  <a:lnTo>
                    <a:pt x="369" y="445"/>
                  </a:lnTo>
                  <a:lnTo>
                    <a:pt x="363" y="441"/>
                  </a:lnTo>
                  <a:cubicBezTo>
                    <a:pt x="286" y="395"/>
                    <a:pt x="197" y="369"/>
                    <a:pt x="113" y="369"/>
                  </a:cubicBezTo>
                  <a:cubicBezTo>
                    <a:pt x="106" y="369"/>
                    <a:pt x="100" y="369"/>
                    <a:pt x="93" y="370"/>
                  </a:cubicBezTo>
                  <a:lnTo>
                    <a:pt x="83" y="370"/>
                  </a:lnTo>
                  <a:lnTo>
                    <a:pt x="83" y="7"/>
                  </a:lnTo>
                  <a:cubicBezTo>
                    <a:pt x="70" y="6"/>
                    <a:pt x="57" y="6"/>
                    <a:pt x="44" y="7"/>
                  </a:cubicBezTo>
                  <a:lnTo>
                    <a:pt x="44" y="395"/>
                  </a:lnTo>
                  <a:cubicBezTo>
                    <a:pt x="148" y="391"/>
                    <a:pt x="265" y="417"/>
                    <a:pt x="369" y="4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20704" y="1411471"/>
            <a:ext cx="1304416" cy="1526579"/>
            <a:chOff x="4022275" y="2132856"/>
            <a:chExt cx="1304925" cy="1527175"/>
          </a:xfrm>
        </p:grpSpPr>
        <p:sp>
          <p:nvSpPr>
            <p:cNvPr id="34" name="Freeform 6"/>
            <p:cNvSpPr>
              <a:spLocks/>
            </p:cNvSpPr>
            <p:nvPr/>
          </p:nvSpPr>
          <p:spPr bwMode="auto">
            <a:xfrm>
              <a:off x="4022275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90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4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4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90" y="1889"/>
                  </a:cubicBezTo>
                  <a:cubicBezTo>
                    <a:pt x="747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1" y="0"/>
                    <a:pt x="8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57" name="Freeform 9"/>
            <p:cNvSpPr>
              <a:spLocks noEditPoints="1"/>
            </p:cNvSpPr>
            <p:nvPr/>
          </p:nvSpPr>
          <p:spPr bwMode="auto">
            <a:xfrm>
              <a:off x="4399628" y="2380272"/>
              <a:ext cx="650316" cy="737858"/>
            </a:xfrm>
            <a:custGeom>
              <a:avLst/>
              <a:gdLst>
                <a:gd name="T0" fmla="*/ 402 w 630"/>
                <a:gd name="T1" fmla="*/ 89 h 711"/>
                <a:gd name="T2" fmla="*/ 313 w 630"/>
                <a:gd name="T3" fmla="*/ 178 h 711"/>
                <a:gd name="T4" fmla="*/ 223 w 630"/>
                <a:gd name="T5" fmla="*/ 178 h 711"/>
                <a:gd name="T6" fmla="*/ 134 w 630"/>
                <a:gd name="T7" fmla="*/ 89 h 711"/>
                <a:gd name="T8" fmla="*/ 223 w 630"/>
                <a:gd name="T9" fmla="*/ 0 h 711"/>
                <a:gd name="T10" fmla="*/ 313 w 630"/>
                <a:gd name="T11" fmla="*/ 0 h 711"/>
                <a:gd name="T12" fmla="*/ 402 w 630"/>
                <a:gd name="T13" fmla="*/ 89 h 711"/>
                <a:gd name="T14" fmla="*/ 445 w 630"/>
                <a:gd name="T15" fmla="*/ 89 h 711"/>
                <a:gd name="T16" fmla="*/ 446 w 630"/>
                <a:gd name="T17" fmla="*/ 109 h 711"/>
                <a:gd name="T18" fmla="*/ 335 w 630"/>
                <a:gd name="T19" fmla="*/ 221 h 711"/>
                <a:gd name="T20" fmla="*/ 201 w 630"/>
                <a:gd name="T21" fmla="*/ 221 h 711"/>
                <a:gd name="T22" fmla="*/ 90 w 630"/>
                <a:gd name="T23" fmla="*/ 109 h 711"/>
                <a:gd name="T24" fmla="*/ 92 w 630"/>
                <a:gd name="T25" fmla="*/ 89 h 711"/>
                <a:gd name="T26" fmla="*/ 0 w 630"/>
                <a:gd name="T27" fmla="*/ 198 h 711"/>
                <a:gd name="T28" fmla="*/ 0 w 630"/>
                <a:gd name="T29" fmla="*/ 600 h 711"/>
                <a:gd name="T30" fmla="*/ 112 w 630"/>
                <a:gd name="T31" fmla="*/ 711 h 711"/>
                <a:gd name="T32" fmla="*/ 409 w 630"/>
                <a:gd name="T33" fmla="*/ 711 h 711"/>
                <a:gd name="T34" fmla="*/ 288 w 630"/>
                <a:gd name="T35" fmla="*/ 528 h 711"/>
                <a:gd name="T36" fmla="*/ 487 w 630"/>
                <a:gd name="T37" fmla="*/ 328 h 711"/>
                <a:gd name="T38" fmla="*/ 536 w 630"/>
                <a:gd name="T39" fmla="*/ 335 h 711"/>
                <a:gd name="T40" fmla="*/ 536 w 630"/>
                <a:gd name="T41" fmla="*/ 198 h 711"/>
                <a:gd name="T42" fmla="*/ 445 w 630"/>
                <a:gd name="T43" fmla="*/ 89 h 711"/>
                <a:gd name="T44" fmla="*/ 251 w 630"/>
                <a:gd name="T45" fmla="*/ 446 h 711"/>
                <a:gd name="T46" fmla="*/ 251 w 630"/>
                <a:gd name="T47" fmla="*/ 446 h 711"/>
                <a:gd name="T48" fmla="*/ 112 w 630"/>
                <a:gd name="T49" fmla="*/ 446 h 711"/>
                <a:gd name="T50" fmla="*/ 90 w 630"/>
                <a:gd name="T51" fmla="*/ 423 h 711"/>
                <a:gd name="T52" fmla="*/ 112 w 630"/>
                <a:gd name="T53" fmla="*/ 401 h 711"/>
                <a:gd name="T54" fmla="*/ 251 w 630"/>
                <a:gd name="T55" fmla="*/ 401 h 711"/>
                <a:gd name="T56" fmla="*/ 274 w 630"/>
                <a:gd name="T57" fmla="*/ 423 h 711"/>
                <a:gd name="T58" fmla="*/ 251 w 630"/>
                <a:gd name="T59" fmla="*/ 446 h 711"/>
                <a:gd name="T60" fmla="*/ 296 w 630"/>
                <a:gd name="T61" fmla="*/ 356 h 711"/>
                <a:gd name="T62" fmla="*/ 296 w 630"/>
                <a:gd name="T63" fmla="*/ 356 h 711"/>
                <a:gd name="T64" fmla="*/ 112 w 630"/>
                <a:gd name="T65" fmla="*/ 356 h 711"/>
                <a:gd name="T66" fmla="*/ 90 w 630"/>
                <a:gd name="T67" fmla="*/ 334 h 711"/>
                <a:gd name="T68" fmla="*/ 112 w 630"/>
                <a:gd name="T69" fmla="*/ 312 h 711"/>
                <a:gd name="T70" fmla="*/ 296 w 630"/>
                <a:gd name="T71" fmla="*/ 312 h 711"/>
                <a:gd name="T72" fmla="*/ 318 w 630"/>
                <a:gd name="T73" fmla="*/ 334 h 711"/>
                <a:gd name="T74" fmla="*/ 296 w 630"/>
                <a:gd name="T75" fmla="*/ 356 h 711"/>
                <a:gd name="T76" fmla="*/ 524 w 630"/>
                <a:gd name="T77" fmla="*/ 390 h 711"/>
                <a:gd name="T78" fmla="*/ 488 w 630"/>
                <a:gd name="T79" fmla="*/ 385 h 711"/>
                <a:gd name="T80" fmla="*/ 346 w 630"/>
                <a:gd name="T81" fmla="*/ 527 h 711"/>
                <a:gd name="T82" fmla="*/ 458 w 630"/>
                <a:gd name="T83" fmla="*/ 666 h 711"/>
                <a:gd name="T84" fmla="*/ 488 w 630"/>
                <a:gd name="T85" fmla="*/ 669 h 711"/>
                <a:gd name="T86" fmla="*/ 630 w 630"/>
                <a:gd name="T87" fmla="*/ 527 h 711"/>
                <a:gd name="T88" fmla="*/ 524 w 630"/>
                <a:gd name="T89" fmla="*/ 390 h 711"/>
                <a:gd name="T90" fmla="*/ 569 w 630"/>
                <a:gd name="T91" fmla="*/ 507 h 711"/>
                <a:gd name="T92" fmla="*/ 569 w 630"/>
                <a:gd name="T93" fmla="*/ 507 h 711"/>
                <a:gd name="T94" fmla="*/ 524 w 630"/>
                <a:gd name="T95" fmla="*/ 552 h 711"/>
                <a:gd name="T96" fmla="*/ 488 w 630"/>
                <a:gd name="T97" fmla="*/ 588 h 711"/>
                <a:gd name="T98" fmla="*/ 448 w 630"/>
                <a:gd name="T99" fmla="*/ 588 h 711"/>
                <a:gd name="T100" fmla="*/ 408 w 630"/>
                <a:gd name="T101" fmla="*/ 547 h 711"/>
                <a:gd name="T102" fmla="*/ 408 w 630"/>
                <a:gd name="T103" fmla="*/ 507 h 711"/>
                <a:gd name="T104" fmla="*/ 448 w 630"/>
                <a:gd name="T105" fmla="*/ 507 h 711"/>
                <a:gd name="T106" fmla="*/ 468 w 630"/>
                <a:gd name="T107" fmla="*/ 527 h 711"/>
                <a:gd name="T108" fmla="*/ 524 w 630"/>
                <a:gd name="T109" fmla="*/ 472 h 711"/>
                <a:gd name="T110" fmla="*/ 528 w 630"/>
                <a:gd name="T111" fmla="*/ 467 h 711"/>
                <a:gd name="T112" fmla="*/ 569 w 630"/>
                <a:gd name="T113" fmla="*/ 467 h 711"/>
                <a:gd name="T114" fmla="*/ 569 w 630"/>
                <a:gd name="T115" fmla="*/ 507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30" h="711">
                  <a:moveTo>
                    <a:pt x="402" y="89"/>
                  </a:moveTo>
                  <a:cubicBezTo>
                    <a:pt x="402" y="138"/>
                    <a:pt x="362" y="178"/>
                    <a:pt x="313" y="178"/>
                  </a:cubicBezTo>
                  <a:lnTo>
                    <a:pt x="223" y="178"/>
                  </a:lnTo>
                  <a:cubicBezTo>
                    <a:pt x="174" y="178"/>
                    <a:pt x="134" y="138"/>
                    <a:pt x="134" y="89"/>
                  </a:cubicBezTo>
                  <a:cubicBezTo>
                    <a:pt x="134" y="39"/>
                    <a:pt x="174" y="0"/>
                    <a:pt x="223" y="0"/>
                  </a:cubicBezTo>
                  <a:lnTo>
                    <a:pt x="313" y="0"/>
                  </a:lnTo>
                  <a:cubicBezTo>
                    <a:pt x="362" y="0"/>
                    <a:pt x="402" y="39"/>
                    <a:pt x="402" y="89"/>
                  </a:cubicBezTo>
                  <a:close/>
                  <a:moveTo>
                    <a:pt x="445" y="89"/>
                  </a:moveTo>
                  <a:cubicBezTo>
                    <a:pt x="446" y="95"/>
                    <a:pt x="446" y="102"/>
                    <a:pt x="446" y="109"/>
                  </a:cubicBezTo>
                  <a:cubicBezTo>
                    <a:pt x="446" y="171"/>
                    <a:pt x="397" y="221"/>
                    <a:pt x="335" y="221"/>
                  </a:cubicBezTo>
                  <a:lnTo>
                    <a:pt x="201" y="221"/>
                  </a:lnTo>
                  <a:cubicBezTo>
                    <a:pt x="140" y="221"/>
                    <a:pt x="90" y="171"/>
                    <a:pt x="90" y="109"/>
                  </a:cubicBezTo>
                  <a:cubicBezTo>
                    <a:pt x="90" y="102"/>
                    <a:pt x="90" y="95"/>
                    <a:pt x="92" y="89"/>
                  </a:cubicBezTo>
                  <a:cubicBezTo>
                    <a:pt x="40" y="98"/>
                    <a:pt x="0" y="144"/>
                    <a:pt x="0" y="198"/>
                  </a:cubicBezTo>
                  <a:lnTo>
                    <a:pt x="0" y="600"/>
                  </a:lnTo>
                  <a:cubicBezTo>
                    <a:pt x="0" y="661"/>
                    <a:pt x="50" y="711"/>
                    <a:pt x="112" y="711"/>
                  </a:cubicBezTo>
                  <a:lnTo>
                    <a:pt x="409" y="711"/>
                  </a:lnTo>
                  <a:cubicBezTo>
                    <a:pt x="338" y="681"/>
                    <a:pt x="288" y="610"/>
                    <a:pt x="288" y="528"/>
                  </a:cubicBezTo>
                  <a:cubicBezTo>
                    <a:pt x="288" y="418"/>
                    <a:pt x="377" y="328"/>
                    <a:pt x="487" y="328"/>
                  </a:cubicBezTo>
                  <a:cubicBezTo>
                    <a:pt x="504" y="328"/>
                    <a:pt x="520" y="331"/>
                    <a:pt x="536" y="335"/>
                  </a:cubicBezTo>
                  <a:lnTo>
                    <a:pt x="536" y="198"/>
                  </a:lnTo>
                  <a:cubicBezTo>
                    <a:pt x="536" y="144"/>
                    <a:pt x="496" y="98"/>
                    <a:pt x="445" y="89"/>
                  </a:cubicBezTo>
                  <a:close/>
                  <a:moveTo>
                    <a:pt x="251" y="446"/>
                  </a:moveTo>
                  <a:lnTo>
                    <a:pt x="251" y="446"/>
                  </a:lnTo>
                  <a:lnTo>
                    <a:pt x="112" y="446"/>
                  </a:lnTo>
                  <a:cubicBezTo>
                    <a:pt x="100" y="446"/>
                    <a:pt x="90" y="436"/>
                    <a:pt x="90" y="423"/>
                  </a:cubicBezTo>
                  <a:cubicBezTo>
                    <a:pt x="90" y="411"/>
                    <a:pt x="100" y="401"/>
                    <a:pt x="112" y="401"/>
                  </a:cubicBezTo>
                  <a:lnTo>
                    <a:pt x="251" y="401"/>
                  </a:lnTo>
                  <a:cubicBezTo>
                    <a:pt x="264" y="401"/>
                    <a:pt x="274" y="411"/>
                    <a:pt x="274" y="423"/>
                  </a:cubicBezTo>
                  <a:cubicBezTo>
                    <a:pt x="274" y="436"/>
                    <a:pt x="264" y="446"/>
                    <a:pt x="251" y="446"/>
                  </a:cubicBezTo>
                  <a:close/>
                  <a:moveTo>
                    <a:pt x="296" y="356"/>
                  </a:moveTo>
                  <a:lnTo>
                    <a:pt x="296" y="356"/>
                  </a:lnTo>
                  <a:lnTo>
                    <a:pt x="112" y="356"/>
                  </a:lnTo>
                  <a:cubicBezTo>
                    <a:pt x="100" y="356"/>
                    <a:pt x="90" y="346"/>
                    <a:pt x="90" y="334"/>
                  </a:cubicBezTo>
                  <a:cubicBezTo>
                    <a:pt x="90" y="322"/>
                    <a:pt x="100" y="312"/>
                    <a:pt x="112" y="312"/>
                  </a:cubicBezTo>
                  <a:lnTo>
                    <a:pt x="296" y="312"/>
                  </a:lnTo>
                  <a:cubicBezTo>
                    <a:pt x="308" y="312"/>
                    <a:pt x="318" y="322"/>
                    <a:pt x="318" y="334"/>
                  </a:cubicBezTo>
                  <a:cubicBezTo>
                    <a:pt x="318" y="346"/>
                    <a:pt x="308" y="356"/>
                    <a:pt x="296" y="356"/>
                  </a:cubicBezTo>
                  <a:close/>
                  <a:moveTo>
                    <a:pt x="524" y="390"/>
                  </a:moveTo>
                  <a:cubicBezTo>
                    <a:pt x="512" y="387"/>
                    <a:pt x="501" y="385"/>
                    <a:pt x="488" y="385"/>
                  </a:cubicBezTo>
                  <a:cubicBezTo>
                    <a:pt x="410" y="385"/>
                    <a:pt x="346" y="449"/>
                    <a:pt x="346" y="527"/>
                  </a:cubicBezTo>
                  <a:cubicBezTo>
                    <a:pt x="346" y="596"/>
                    <a:pt x="394" y="652"/>
                    <a:pt x="458" y="666"/>
                  </a:cubicBezTo>
                  <a:cubicBezTo>
                    <a:pt x="468" y="668"/>
                    <a:pt x="478" y="669"/>
                    <a:pt x="488" y="669"/>
                  </a:cubicBezTo>
                  <a:cubicBezTo>
                    <a:pt x="567" y="669"/>
                    <a:pt x="630" y="606"/>
                    <a:pt x="630" y="527"/>
                  </a:cubicBezTo>
                  <a:cubicBezTo>
                    <a:pt x="630" y="461"/>
                    <a:pt x="585" y="405"/>
                    <a:pt x="524" y="390"/>
                  </a:cubicBezTo>
                  <a:close/>
                  <a:moveTo>
                    <a:pt x="569" y="507"/>
                  </a:moveTo>
                  <a:lnTo>
                    <a:pt x="569" y="507"/>
                  </a:lnTo>
                  <a:lnTo>
                    <a:pt x="524" y="552"/>
                  </a:lnTo>
                  <a:lnTo>
                    <a:pt x="488" y="588"/>
                  </a:lnTo>
                  <a:cubicBezTo>
                    <a:pt x="477" y="599"/>
                    <a:pt x="459" y="599"/>
                    <a:pt x="448" y="588"/>
                  </a:cubicBezTo>
                  <a:lnTo>
                    <a:pt x="408" y="547"/>
                  </a:lnTo>
                  <a:cubicBezTo>
                    <a:pt x="397" y="536"/>
                    <a:pt x="397" y="518"/>
                    <a:pt x="408" y="507"/>
                  </a:cubicBezTo>
                  <a:cubicBezTo>
                    <a:pt x="419" y="496"/>
                    <a:pt x="437" y="496"/>
                    <a:pt x="448" y="507"/>
                  </a:cubicBezTo>
                  <a:lnTo>
                    <a:pt x="468" y="527"/>
                  </a:lnTo>
                  <a:lnTo>
                    <a:pt x="524" y="472"/>
                  </a:lnTo>
                  <a:lnTo>
                    <a:pt x="528" y="467"/>
                  </a:lnTo>
                  <a:cubicBezTo>
                    <a:pt x="540" y="456"/>
                    <a:pt x="558" y="456"/>
                    <a:pt x="569" y="467"/>
                  </a:cubicBezTo>
                  <a:cubicBezTo>
                    <a:pt x="580" y="478"/>
                    <a:pt x="580" y="496"/>
                    <a:pt x="569" y="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557534" y="1411471"/>
            <a:ext cx="1306003" cy="1526579"/>
            <a:chOff x="6560095" y="2132856"/>
            <a:chExt cx="1306513" cy="1527175"/>
          </a:xfrm>
        </p:grpSpPr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6560095" y="2132856"/>
              <a:ext cx="1306513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02B9E7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3" name="Freeform 10"/>
            <p:cNvSpPr>
              <a:spLocks noEditPoints="1"/>
            </p:cNvSpPr>
            <p:nvPr/>
          </p:nvSpPr>
          <p:spPr bwMode="auto">
            <a:xfrm>
              <a:off x="6850001" y="2403005"/>
              <a:ext cx="726700" cy="778916"/>
            </a:xfrm>
            <a:custGeom>
              <a:avLst/>
              <a:gdLst>
                <a:gd name="T0" fmla="*/ 255 w 674"/>
                <a:gd name="T1" fmla="*/ 448 h 720"/>
                <a:gd name="T2" fmla="*/ 243 w 674"/>
                <a:gd name="T3" fmla="*/ 407 h 720"/>
                <a:gd name="T4" fmla="*/ 295 w 674"/>
                <a:gd name="T5" fmla="*/ 196 h 720"/>
                <a:gd name="T6" fmla="*/ 350 w 674"/>
                <a:gd name="T7" fmla="*/ 367 h 720"/>
                <a:gd name="T8" fmla="*/ 418 w 674"/>
                <a:gd name="T9" fmla="*/ 169 h 720"/>
                <a:gd name="T10" fmla="*/ 267 w 674"/>
                <a:gd name="T11" fmla="*/ 336 h 720"/>
                <a:gd name="T12" fmla="*/ 254 w 674"/>
                <a:gd name="T13" fmla="*/ 358 h 720"/>
                <a:gd name="T14" fmla="*/ 346 w 674"/>
                <a:gd name="T15" fmla="*/ 412 h 720"/>
                <a:gd name="T16" fmla="*/ 445 w 674"/>
                <a:gd name="T17" fmla="*/ 144 h 720"/>
                <a:gd name="T18" fmla="*/ 449 w 674"/>
                <a:gd name="T19" fmla="*/ 91 h 720"/>
                <a:gd name="T20" fmla="*/ 445 w 674"/>
                <a:gd name="T21" fmla="*/ 144 h 720"/>
                <a:gd name="T22" fmla="*/ 526 w 674"/>
                <a:gd name="T23" fmla="*/ 170 h 720"/>
                <a:gd name="T24" fmla="*/ 474 w 674"/>
                <a:gd name="T25" fmla="*/ 174 h 720"/>
                <a:gd name="T26" fmla="*/ 385 w 674"/>
                <a:gd name="T27" fmla="*/ 121 h 720"/>
                <a:gd name="T28" fmla="*/ 363 w 674"/>
                <a:gd name="T29" fmla="*/ 73 h 720"/>
                <a:gd name="T30" fmla="*/ 385 w 674"/>
                <a:gd name="T31" fmla="*/ 121 h 720"/>
                <a:gd name="T32" fmla="*/ 298 w 674"/>
                <a:gd name="T33" fmla="*/ 90 h 720"/>
                <a:gd name="T34" fmla="*/ 302 w 674"/>
                <a:gd name="T35" fmla="*/ 142 h 720"/>
                <a:gd name="T36" fmla="*/ 496 w 674"/>
                <a:gd name="T37" fmla="*/ 257 h 720"/>
                <a:gd name="T38" fmla="*/ 543 w 674"/>
                <a:gd name="T39" fmla="*/ 235 h 720"/>
                <a:gd name="T40" fmla="*/ 496 w 674"/>
                <a:gd name="T41" fmla="*/ 257 h 720"/>
                <a:gd name="T42" fmla="*/ 248 w 674"/>
                <a:gd name="T43" fmla="*/ 368 h 720"/>
                <a:gd name="T44" fmla="*/ 235 w 674"/>
                <a:gd name="T45" fmla="*/ 391 h 720"/>
                <a:gd name="T46" fmla="*/ 328 w 674"/>
                <a:gd name="T47" fmla="*/ 445 h 720"/>
                <a:gd name="T48" fmla="*/ 246 w 674"/>
                <a:gd name="T49" fmla="*/ 720 h 720"/>
                <a:gd name="T50" fmla="*/ 263 w 674"/>
                <a:gd name="T51" fmla="*/ 42 h 720"/>
                <a:gd name="T52" fmla="*/ 642 w 674"/>
                <a:gd name="T53" fmla="*/ 204 h 720"/>
                <a:gd name="T54" fmla="*/ 648 w 674"/>
                <a:gd name="T55" fmla="*/ 313 h 720"/>
                <a:gd name="T56" fmla="*/ 667 w 674"/>
                <a:gd name="T57" fmla="*/ 450 h 720"/>
                <a:gd name="T58" fmla="*/ 643 w 674"/>
                <a:gd name="T59" fmla="*/ 566 h 720"/>
                <a:gd name="T60" fmla="*/ 504 w 674"/>
                <a:gd name="T61" fmla="*/ 598 h 720"/>
                <a:gd name="T62" fmla="*/ 246 w 674"/>
                <a:gd name="T6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4" h="720">
                  <a:moveTo>
                    <a:pt x="243" y="407"/>
                  </a:moveTo>
                  <a:cubicBezTo>
                    <a:pt x="236" y="421"/>
                    <a:pt x="241" y="439"/>
                    <a:pt x="255" y="448"/>
                  </a:cubicBezTo>
                  <a:cubicBezTo>
                    <a:pt x="267" y="455"/>
                    <a:pt x="282" y="453"/>
                    <a:pt x="292" y="444"/>
                  </a:cubicBezTo>
                  <a:lnTo>
                    <a:pt x="243" y="407"/>
                  </a:lnTo>
                  <a:close/>
                  <a:moveTo>
                    <a:pt x="418" y="169"/>
                  </a:moveTo>
                  <a:cubicBezTo>
                    <a:pt x="373" y="143"/>
                    <a:pt x="318" y="155"/>
                    <a:pt x="295" y="196"/>
                  </a:cubicBezTo>
                  <a:cubicBezTo>
                    <a:pt x="270" y="238"/>
                    <a:pt x="302" y="284"/>
                    <a:pt x="280" y="327"/>
                  </a:cubicBezTo>
                  <a:lnTo>
                    <a:pt x="350" y="367"/>
                  </a:lnTo>
                  <a:cubicBezTo>
                    <a:pt x="376" y="327"/>
                    <a:pt x="432" y="331"/>
                    <a:pt x="456" y="289"/>
                  </a:cubicBezTo>
                  <a:cubicBezTo>
                    <a:pt x="480" y="249"/>
                    <a:pt x="462" y="195"/>
                    <a:pt x="418" y="169"/>
                  </a:cubicBezTo>
                  <a:close/>
                  <a:moveTo>
                    <a:pt x="342" y="393"/>
                  </a:moveTo>
                  <a:lnTo>
                    <a:pt x="267" y="336"/>
                  </a:lnTo>
                  <a:cubicBezTo>
                    <a:pt x="261" y="331"/>
                    <a:pt x="253" y="333"/>
                    <a:pt x="250" y="339"/>
                  </a:cubicBezTo>
                  <a:cubicBezTo>
                    <a:pt x="246" y="345"/>
                    <a:pt x="248" y="354"/>
                    <a:pt x="254" y="358"/>
                  </a:cubicBezTo>
                  <a:lnTo>
                    <a:pt x="329" y="416"/>
                  </a:lnTo>
                  <a:cubicBezTo>
                    <a:pt x="335" y="420"/>
                    <a:pt x="343" y="418"/>
                    <a:pt x="346" y="412"/>
                  </a:cubicBezTo>
                  <a:cubicBezTo>
                    <a:pt x="350" y="406"/>
                    <a:pt x="348" y="397"/>
                    <a:pt x="342" y="393"/>
                  </a:cubicBezTo>
                  <a:close/>
                  <a:moveTo>
                    <a:pt x="445" y="144"/>
                  </a:moveTo>
                  <a:lnTo>
                    <a:pt x="468" y="102"/>
                  </a:lnTo>
                  <a:lnTo>
                    <a:pt x="449" y="91"/>
                  </a:lnTo>
                  <a:lnTo>
                    <a:pt x="426" y="133"/>
                  </a:lnTo>
                  <a:lnTo>
                    <a:pt x="445" y="144"/>
                  </a:lnTo>
                  <a:close/>
                  <a:moveTo>
                    <a:pt x="485" y="193"/>
                  </a:moveTo>
                  <a:lnTo>
                    <a:pt x="526" y="170"/>
                  </a:lnTo>
                  <a:lnTo>
                    <a:pt x="515" y="150"/>
                  </a:lnTo>
                  <a:lnTo>
                    <a:pt x="474" y="174"/>
                  </a:lnTo>
                  <a:lnTo>
                    <a:pt x="485" y="193"/>
                  </a:lnTo>
                  <a:close/>
                  <a:moveTo>
                    <a:pt x="385" y="121"/>
                  </a:moveTo>
                  <a:lnTo>
                    <a:pt x="385" y="73"/>
                  </a:lnTo>
                  <a:lnTo>
                    <a:pt x="363" y="73"/>
                  </a:lnTo>
                  <a:lnTo>
                    <a:pt x="363" y="121"/>
                  </a:lnTo>
                  <a:lnTo>
                    <a:pt x="385" y="121"/>
                  </a:lnTo>
                  <a:close/>
                  <a:moveTo>
                    <a:pt x="321" y="131"/>
                  </a:moveTo>
                  <a:lnTo>
                    <a:pt x="298" y="90"/>
                  </a:lnTo>
                  <a:lnTo>
                    <a:pt x="278" y="101"/>
                  </a:lnTo>
                  <a:lnTo>
                    <a:pt x="302" y="142"/>
                  </a:lnTo>
                  <a:lnTo>
                    <a:pt x="321" y="131"/>
                  </a:lnTo>
                  <a:close/>
                  <a:moveTo>
                    <a:pt x="496" y="257"/>
                  </a:moveTo>
                  <a:lnTo>
                    <a:pt x="543" y="257"/>
                  </a:lnTo>
                  <a:lnTo>
                    <a:pt x="543" y="235"/>
                  </a:lnTo>
                  <a:lnTo>
                    <a:pt x="496" y="235"/>
                  </a:lnTo>
                  <a:lnTo>
                    <a:pt x="496" y="257"/>
                  </a:lnTo>
                  <a:close/>
                  <a:moveTo>
                    <a:pt x="324" y="426"/>
                  </a:moveTo>
                  <a:lnTo>
                    <a:pt x="248" y="368"/>
                  </a:lnTo>
                  <a:cubicBezTo>
                    <a:pt x="242" y="364"/>
                    <a:pt x="235" y="365"/>
                    <a:pt x="231" y="372"/>
                  </a:cubicBezTo>
                  <a:cubicBezTo>
                    <a:pt x="227" y="378"/>
                    <a:pt x="229" y="386"/>
                    <a:pt x="235" y="391"/>
                  </a:cubicBezTo>
                  <a:lnTo>
                    <a:pt x="311" y="448"/>
                  </a:lnTo>
                  <a:cubicBezTo>
                    <a:pt x="316" y="453"/>
                    <a:pt x="324" y="451"/>
                    <a:pt x="328" y="445"/>
                  </a:cubicBezTo>
                  <a:cubicBezTo>
                    <a:pt x="331" y="439"/>
                    <a:pt x="329" y="430"/>
                    <a:pt x="324" y="426"/>
                  </a:cubicBezTo>
                  <a:close/>
                  <a:moveTo>
                    <a:pt x="246" y="720"/>
                  </a:moveTo>
                  <a:cubicBezTo>
                    <a:pt x="254" y="663"/>
                    <a:pt x="254" y="603"/>
                    <a:pt x="239" y="550"/>
                  </a:cubicBezTo>
                  <a:cubicBezTo>
                    <a:pt x="0" y="415"/>
                    <a:pt x="62" y="105"/>
                    <a:pt x="263" y="42"/>
                  </a:cubicBezTo>
                  <a:cubicBezTo>
                    <a:pt x="369" y="0"/>
                    <a:pt x="513" y="25"/>
                    <a:pt x="606" y="119"/>
                  </a:cubicBezTo>
                  <a:cubicBezTo>
                    <a:pt x="674" y="187"/>
                    <a:pt x="642" y="204"/>
                    <a:pt x="642" y="204"/>
                  </a:cubicBezTo>
                  <a:lnTo>
                    <a:pt x="627" y="213"/>
                  </a:lnTo>
                  <a:cubicBezTo>
                    <a:pt x="635" y="245"/>
                    <a:pt x="650" y="305"/>
                    <a:pt x="648" y="313"/>
                  </a:cubicBezTo>
                  <a:cubicBezTo>
                    <a:pt x="645" y="324"/>
                    <a:pt x="633" y="336"/>
                    <a:pt x="633" y="336"/>
                  </a:cubicBezTo>
                  <a:lnTo>
                    <a:pt x="667" y="450"/>
                  </a:lnTo>
                  <a:lnTo>
                    <a:pt x="636" y="462"/>
                  </a:lnTo>
                  <a:cubicBezTo>
                    <a:pt x="643" y="499"/>
                    <a:pt x="647" y="530"/>
                    <a:pt x="643" y="566"/>
                  </a:cubicBezTo>
                  <a:cubicBezTo>
                    <a:pt x="643" y="572"/>
                    <a:pt x="622" y="590"/>
                    <a:pt x="606" y="591"/>
                  </a:cubicBezTo>
                  <a:lnTo>
                    <a:pt x="504" y="598"/>
                  </a:lnTo>
                  <a:lnTo>
                    <a:pt x="510" y="720"/>
                  </a:lnTo>
                  <a:lnTo>
                    <a:pt x="246" y="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3" name="矩形 2"/>
          <p:cNvSpPr/>
          <p:nvPr/>
        </p:nvSpPr>
        <p:spPr bwMode="auto">
          <a:xfrm>
            <a:off x="0" y="6035415"/>
            <a:ext cx="12192000" cy="99353"/>
          </a:xfrm>
          <a:prstGeom prst="rect">
            <a:avLst/>
          </a:prstGeom>
          <a:solidFill>
            <a:srgbClr val="0A97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30" name="TextBox 26"/>
          <p:cNvSpPr txBox="1"/>
          <p:nvPr/>
        </p:nvSpPr>
        <p:spPr>
          <a:xfrm>
            <a:off x="14146652" y="778822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977653" y="3646912"/>
            <a:ext cx="2444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程序控制方式 </a:t>
            </a:r>
          </a:p>
        </p:txBody>
      </p:sp>
      <p:sp>
        <p:nvSpPr>
          <p:cNvPr id="6" name="矩形 5"/>
          <p:cNvSpPr/>
          <p:nvPr/>
        </p:nvSpPr>
        <p:spPr>
          <a:xfrm>
            <a:off x="3680439" y="3645278"/>
            <a:ext cx="2444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中断控制方式 </a:t>
            </a:r>
          </a:p>
        </p:txBody>
      </p:sp>
      <p:sp>
        <p:nvSpPr>
          <p:cNvPr id="7" name="矩形 6"/>
          <p:cNvSpPr/>
          <p:nvPr/>
        </p:nvSpPr>
        <p:spPr>
          <a:xfrm>
            <a:off x="6249502" y="3645278"/>
            <a:ext cx="2648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控制方式 </a:t>
            </a:r>
          </a:p>
        </p:txBody>
      </p:sp>
      <p:sp>
        <p:nvSpPr>
          <p:cNvPr id="8" name="矩形 7"/>
          <p:cNvSpPr/>
          <p:nvPr/>
        </p:nvSpPr>
        <p:spPr>
          <a:xfrm>
            <a:off x="9022147" y="3616914"/>
            <a:ext cx="2444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通道控制方式 </a:t>
            </a:r>
          </a:p>
        </p:txBody>
      </p:sp>
    </p:spTree>
    <p:extLst>
      <p:ext uri="{BB962C8B-B14F-4D97-AF65-F5344CB8AC3E}">
        <p14:creationId xmlns:p14="http://schemas.microsoft.com/office/powerpoint/2010/main" val="9796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501855" y="943171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1382839" y="4237140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1382839" y="4954753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838274" y="863824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809710" y="3393792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1120952" y="691975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92388" y="3231294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0" name="Oval 6"/>
          <p:cNvSpPr>
            <a:spLocks noChangeArrowheads="1"/>
          </p:cNvSpPr>
          <p:nvPr/>
        </p:nvSpPr>
        <p:spPr bwMode="auto">
          <a:xfrm>
            <a:off x="1354277" y="1697821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7" name="TextBox 26"/>
          <p:cNvSpPr txBox="1"/>
          <p:nvPr/>
        </p:nvSpPr>
        <p:spPr>
          <a:xfrm>
            <a:off x="14355200" y="785239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2407549" y="598433"/>
            <a:ext cx="34900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2407549" y="1447172"/>
            <a:ext cx="909557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程序控制方式是指主机与设备间的数据传输是通过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执行一道软件程序，在程序的控制下完成输入输出操作。</a:t>
            </a:r>
          </a:p>
        </p:txBody>
      </p:sp>
      <p:sp>
        <p:nvSpPr>
          <p:cNvPr id="8" name="矩形 7"/>
          <p:cNvSpPr/>
          <p:nvPr/>
        </p:nvSpPr>
        <p:spPr>
          <a:xfrm>
            <a:off x="2407548" y="3091284"/>
            <a:ext cx="938339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程序控制方式根据设备的不同又分为：</a:t>
            </a:r>
          </a:p>
        </p:txBody>
      </p:sp>
      <p:sp>
        <p:nvSpPr>
          <p:cNvPr id="9" name="矩形 8"/>
          <p:cNvSpPr/>
          <p:nvPr/>
        </p:nvSpPr>
        <p:spPr>
          <a:xfrm>
            <a:off x="2407548" y="3955025"/>
            <a:ext cx="909557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无条件传送控制方式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07548" y="4684566"/>
            <a:ext cx="52193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查询式传送控制方式 </a:t>
            </a:r>
          </a:p>
        </p:txBody>
      </p:sp>
    </p:spTree>
    <p:extLst>
      <p:ext uri="{BB962C8B-B14F-4D97-AF65-F5344CB8AC3E}">
        <p14:creationId xmlns:p14="http://schemas.microsoft.com/office/powerpoint/2010/main" val="338401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1570975" y="2070068"/>
            <a:ext cx="9258156" cy="340945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当设备与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交换数据时，可以认为它们总是处于就绪（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）状态，随时可以进行数据传送，这就是无条件传送，有时也称它为立即传送或同步传送。 </a:t>
            </a:r>
          </a:p>
          <a:p>
            <a:pPr>
              <a:lnSpc>
                <a:spcPct val="200000"/>
              </a:lnSpc>
            </a:pP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9605" y="76745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无条件传送控制方式 </a:t>
            </a:r>
            <a:endParaRPr lang="en-US" altLang="zh-CN" sz="3200" b="1" dirty="0">
              <a:solidFill>
                <a:srgbClr val="01C0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19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3394" y="487149"/>
            <a:ext cx="10972800" cy="10541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无条件传送控制流程 </a:t>
            </a:r>
          </a:p>
        </p:txBody>
      </p:sp>
      <p:grpSp>
        <p:nvGrpSpPr>
          <p:cNvPr id="2" name="Group 10"/>
          <p:cNvGrpSpPr>
            <a:grpSpLocks noChangeAspect="1"/>
          </p:cNvGrpSpPr>
          <p:nvPr/>
        </p:nvGrpSpPr>
        <p:grpSpPr bwMode="auto">
          <a:xfrm>
            <a:off x="719667" y="2349500"/>
            <a:ext cx="10560051" cy="2628900"/>
            <a:chOff x="2231" y="3006"/>
            <a:chExt cx="7169" cy="2394"/>
          </a:xfrm>
        </p:grpSpPr>
        <p:sp>
          <p:nvSpPr>
            <p:cNvPr id="8197" name="AutoShape 11"/>
            <p:cNvSpPr>
              <a:spLocks noChangeAspect="1" noChangeArrowheads="1"/>
            </p:cNvSpPr>
            <p:nvPr/>
          </p:nvSpPr>
          <p:spPr bwMode="auto">
            <a:xfrm>
              <a:off x="2231" y="3006"/>
              <a:ext cx="7169" cy="2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8198" name="AutoShape 12"/>
            <p:cNvSpPr>
              <a:spLocks noChangeArrowheads="1"/>
            </p:cNvSpPr>
            <p:nvPr/>
          </p:nvSpPr>
          <p:spPr bwMode="auto">
            <a:xfrm>
              <a:off x="3255" y="4070"/>
              <a:ext cx="1489" cy="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向设备输出</a:t>
              </a:r>
            </a:p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一个数据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99" name="Line 13"/>
            <p:cNvSpPr>
              <a:spLocks noChangeShapeType="1"/>
            </p:cNvSpPr>
            <p:nvPr/>
          </p:nvSpPr>
          <p:spPr bwMode="auto">
            <a:xfrm>
              <a:off x="4000" y="3671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" name="AutoShape 14"/>
            <p:cNvSpPr>
              <a:spLocks noChangeArrowheads="1"/>
            </p:cNvSpPr>
            <p:nvPr/>
          </p:nvSpPr>
          <p:spPr bwMode="auto">
            <a:xfrm>
              <a:off x="3626" y="3405"/>
              <a:ext cx="746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1" name="Text Box 15"/>
            <p:cNvSpPr txBox="1">
              <a:spLocks noChangeArrowheads="1"/>
            </p:cNvSpPr>
            <p:nvPr/>
          </p:nvSpPr>
          <p:spPr bwMode="auto">
            <a:xfrm>
              <a:off x="3628" y="3006"/>
              <a:ext cx="931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无条件输出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2" name="AutoShape 16"/>
            <p:cNvSpPr>
              <a:spLocks noChangeArrowheads="1"/>
            </p:cNvSpPr>
            <p:nvPr/>
          </p:nvSpPr>
          <p:spPr bwMode="auto">
            <a:xfrm>
              <a:off x="3628" y="5001"/>
              <a:ext cx="745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3" name="AutoShape 17"/>
            <p:cNvSpPr>
              <a:spLocks noChangeArrowheads="1"/>
            </p:cNvSpPr>
            <p:nvPr/>
          </p:nvSpPr>
          <p:spPr bwMode="auto">
            <a:xfrm>
              <a:off x="6886" y="4070"/>
              <a:ext cx="1488" cy="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从设备输入</a:t>
              </a:r>
            </a:p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一个数据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4" name="AutoShape 18"/>
            <p:cNvSpPr>
              <a:spLocks noChangeArrowheads="1"/>
            </p:cNvSpPr>
            <p:nvPr/>
          </p:nvSpPr>
          <p:spPr bwMode="auto">
            <a:xfrm>
              <a:off x="7259" y="5001"/>
              <a:ext cx="744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5" name="Line 19"/>
            <p:cNvSpPr>
              <a:spLocks noChangeShapeType="1"/>
            </p:cNvSpPr>
            <p:nvPr/>
          </p:nvSpPr>
          <p:spPr bwMode="auto">
            <a:xfrm>
              <a:off x="4000" y="4602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20"/>
            <p:cNvSpPr>
              <a:spLocks noChangeShapeType="1"/>
            </p:cNvSpPr>
            <p:nvPr/>
          </p:nvSpPr>
          <p:spPr bwMode="auto">
            <a:xfrm>
              <a:off x="7633" y="3671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AutoShape 21"/>
            <p:cNvSpPr>
              <a:spLocks noChangeArrowheads="1"/>
            </p:cNvSpPr>
            <p:nvPr/>
          </p:nvSpPr>
          <p:spPr bwMode="auto">
            <a:xfrm>
              <a:off x="7259" y="3405"/>
              <a:ext cx="746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8" name="Line 22"/>
            <p:cNvSpPr>
              <a:spLocks noChangeShapeType="1"/>
            </p:cNvSpPr>
            <p:nvPr/>
          </p:nvSpPr>
          <p:spPr bwMode="auto">
            <a:xfrm>
              <a:off x="7631" y="4602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Text Box 23"/>
            <p:cNvSpPr txBox="1">
              <a:spLocks noChangeArrowheads="1"/>
            </p:cNvSpPr>
            <p:nvPr/>
          </p:nvSpPr>
          <p:spPr bwMode="auto">
            <a:xfrm>
              <a:off x="7259" y="3006"/>
              <a:ext cx="93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无条件输入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3"/>
          <p:cNvGrpSpPr/>
          <p:nvPr/>
        </p:nvGrpSpPr>
        <p:grpSpPr>
          <a:xfrm>
            <a:off x="343256" y="383903"/>
            <a:ext cx="438352" cy="621987"/>
            <a:chOff x="265635" y="269251"/>
            <a:chExt cx="438352" cy="621987"/>
          </a:xfrm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6" name="内容占位符 2"/>
          <p:cNvSpPr txBox="1">
            <a:spLocks/>
          </p:cNvSpPr>
          <p:nvPr/>
        </p:nvSpPr>
        <p:spPr>
          <a:xfrm>
            <a:off x="1414026" y="1364776"/>
            <a:ext cx="9448799" cy="4421875"/>
          </a:xfrm>
          <a:prstGeom prst="rect">
            <a:avLst/>
          </a:prstGeom>
          <a:ln w="28575">
            <a:solidFill>
              <a:srgbClr val="01C0B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" y="2164754"/>
            <a:ext cx="2784925" cy="2528499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820933" y="2853162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915063" y="2997065"/>
            <a:ext cx="765288" cy="820279"/>
          </a:xfrm>
          <a:custGeom>
            <a:avLst/>
            <a:gdLst>
              <a:gd name="T0" fmla="*/ 255 w 674"/>
              <a:gd name="T1" fmla="*/ 448 h 720"/>
              <a:gd name="T2" fmla="*/ 243 w 674"/>
              <a:gd name="T3" fmla="*/ 407 h 720"/>
              <a:gd name="T4" fmla="*/ 295 w 674"/>
              <a:gd name="T5" fmla="*/ 196 h 720"/>
              <a:gd name="T6" fmla="*/ 350 w 674"/>
              <a:gd name="T7" fmla="*/ 367 h 720"/>
              <a:gd name="T8" fmla="*/ 418 w 674"/>
              <a:gd name="T9" fmla="*/ 169 h 720"/>
              <a:gd name="T10" fmla="*/ 267 w 674"/>
              <a:gd name="T11" fmla="*/ 336 h 720"/>
              <a:gd name="T12" fmla="*/ 254 w 674"/>
              <a:gd name="T13" fmla="*/ 358 h 720"/>
              <a:gd name="T14" fmla="*/ 346 w 674"/>
              <a:gd name="T15" fmla="*/ 412 h 720"/>
              <a:gd name="T16" fmla="*/ 445 w 674"/>
              <a:gd name="T17" fmla="*/ 144 h 720"/>
              <a:gd name="T18" fmla="*/ 449 w 674"/>
              <a:gd name="T19" fmla="*/ 91 h 720"/>
              <a:gd name="T20" fmla="*/ 445 w 674"/>
              <a:gd name="T21" fmla="*/ 144 h 720"/>
              <a:gd name="T22" fmla="*/ 526 w 674"/>
              <a:gd name="T23" fmla="*/ 170 h 720"/>
              <a:gd name="T24" fmla="*/ 474 w 674"/>
              <a:gd name="T25" fmla="*/ 174 h 720"/>
              <a:gd name="T26" fmla="*/ 385 w 674"/>
              <a:gd name="T27" fmla="*/ 121 h 720"/>
              <a:gd name="T28" fmla="*/ 363 w 674"/>
              <a:gd name="T29" fmla="*/ 73 h 720"/>
              <a:gd name="T30" fmla="*/ 385 w 674"/>
              <a:gd name="T31" fmla="*/ 121 h 720"/>
              <a:gd name="T32" fmla="*/ 298 w 674"/>
              <a:gd name="T33" fmla="*/ 90 h 720"/>
              <a:gd name="T34" fmla="*/ 302 w 674"/>
              <a:gd name="T35" fmla="*/ 142 h 720"/>
              <a:gd name="T36" fmla="*/ 496 w 674"/>
              <a:gd name="T37" fmla="*/ 257 h 720"/>
              <a:gd name="T38" fmla="*/ 543 w 674"/>
              <a:gd name="T39" fmla="*/ 235 h 720"/>
              <a:gd name="T40" fmla="*/ 496 w 674"/>
              <a:gd name="T41" fmla="*/ 257 h 720"/>
              <a:gd name="T42" fmla="*/ 248 w 674"/>
              <a:gd name="T43" fmla="*/ 368 h 720"/>
              <a:gd name="T44" fmla="*/ 235 w 674"/>
              <a:gd name="T45" fmla="*/ 391 h 720"/>
              <a:gd name="T46" fmla="*/ 328 w 674"/>
              <a:gd name="T47" fmla="*/ 445 h 720"/>
              <a:gd name="T48" fmla="*/ 246 w 674"/>
              <a:gd name="T49" fmla="*/ 720 h 720"/>
              <a:gd name="T50" fmla="*/ 263 w 674"/>
              <a:gd name="T51" fmla="*/ 42 h 720"/>
              <a:gd name="T52" fmla="*/ 642 w 674"/>
              <a:gd name="T53" fmla="*/ 204 h 720"/>
              <a:gd name="T54" fmla="*/ 648 w 674"/>
              <a:gd name="T55" fmla="*/ 313 h 720"/>
              <a:gd name="T56" fmla="*/ 667 w 674"/>
              <a:gd name="T57" fmla="*/ 450 h 720"/>
              <a:gd name="T58" fmla="*/ 643 w 674"/>
              <a:gd name="T59" fmla="*/ 566 h 720"/>
              <a:gd name="T60" fmla="*/ 504 w 674"/>
              <a:gd name="T61" fmla="*/ 598 h 720"/>
              <a:gd name="T62" fmla="*/ 246 w 674"/>
              <a:gd name="T63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74" h="720">
                <a:moveTo>
                  <a:pt x="243" y="407"/>
                </a:moveTo>
                <a:cubicBezTo>
                  <a:pt x="236" y="421"/>
                  <a:pt x="241" y="439"/>
                  <a:pt x="255" y="448"/>
                </a:cubicBezTo>
                <a:cubicBezTo>
                  <a:pt x="267" y="455"/>
                  <a:pt x="282" y="453"/>
                  <a:pt x="292" y="444"/>
                </a:cubicBezTo>
                <a:lnTo>
                  <a:pt x="243" y="407"/>
                </a:lnTo>
                <a:close/>
                <a:moveTo>
                  <a:pt x="418" y="169"/>
                </a:moveTo>
                <a:cubicBezTo>
                  <a:pt x="373" y="143"/>
                  <a:pt x="318" y="155"/>
                  <a:pt x="295" y="196"/>
                </a:cubicBezTo>
                <a:cubicBezTo>
                  <a:pt x="270" y="238"/>
                  <a:pt x="302" y="284"/>
                  <a:pt x="280" y="327"/>
                </a:cubicBezTo>
                <a:lnTo>
                  <a:pt x="350" y="367"/>
                </a:lnTo>
                <a:cubicBezTo>
                  <a:pt x="376" y="327"/>
                  <a:pt x="432" y="331"/>
                  <a:pt x="456" y="289"/>
                </a:cubicBezTo>
                <a:cubicBezTo>
                  <a:pt x="480" y="249"/>
                  <a:pt x="462" y="195"/>
                  <a:pt x="418" y="169"/>
                </a:cubicBezTo>
                <a:close/>
                <a:moveTo>
                  <a:pt x="342" y="393"/>
                </a:moveTo>
                <a:lnTo>
                  <a:pt x="267" y="336"/>
                </a:lnTo>
                <a:cubicBezTo>
                  <a:pt x="261" y="331"/>
                  <a:pt x="253" y="333"/>
                  <a:pt x="250" y="339"/>
                </a:cubicBezTo>
                <a:cubicBezTo>
                  <a:pt x="246" y="345"/>
                  <a:pt x="248" y="354"/>
                  <a:pt x="254" y="358"/>
                </a:cubicBezTo>
                <a:lnTo>
                  <a:pt x="329" y="416"/>
                </a:lnTo>
                <a:cubicBezTo>
                  <a:pt x="335" y="420"/>
                  <a:pt x="343" y="418"/>
                  <a:pt x="346" y="412"/>
                </a:cubicBezTo>
                <a:cubicBezTo>
                  <a:pt x="350" y="406"/>
                  <a:pt x="348" y="397"/>
                  <a:pt x="342" y="393"/>
                </a:cubicBezTo>
                <a:close/>
                <a:moveTo>
                  <a:pt x="445" y="144"/>
                </a:moveTo>
                <a:lnTo>
                  <a:pt x="468" y="102"/>
                </a:lnTo>
                <a:lnTo>
                  <a:pt x="449" y="91"/>
                </a:lnTo>
                <a:lnTo>
                  <a:pt x="426" y="133"/>
                </a:lnTo>
                <a:lnTo>
                  <a:pt x="445" y="144"/>
                </a:lnTo>
                <a:close/>
                <a:moveTo>
                  <a:pt x="485" y="193"/>
                </a:moveTo>
                <a:lnTo>
                  <a:pt x="526" y="170"/>
                </a:lnTo>
                <a:lnTo>
                  <a:pt x="515" y="150"/>
                </a:lnTo>
                <a:lnTo>
                  <a:pt x="474" y="174"/>
                </a:lnTo>
                <a:lnTo>
                  <a:pt x="485" y="193"/>
                </a:lnTo>
                <a:close/>
                <a:moveTo>
                  <a:pt x="385" y="121"/>
                </a:moveTo>
                <a:lnTo>
                  <a:pt x="385" y="73"/>
                </a:lnTo>
                <a:lnTo>
                  <a:pt x="363" y="73"/>
                </a:lnTo>
                <a:lnTo>
                  <a:pt x="363" y="121"/>
                </a:lnTo>
                <a:lnTo>
                  <a:pt x="385" y="121"/>
                </a:lnTo>
                <a:close/>
                <a:moveTo>
                  <a:pt x="321" y="131"/>
                </a:moveTo>
                <a:lnTo>
                  <a:pt x="298" y="90"/>
                </a:lnTo>
                <a:lnTo>
                  <a:pt x="278" y="101"/>
                </a:lnTo>
                <a:lnTo>
                  <a:pt x="302" y="142"/>
                </a:lnTo>
                <a:lnTo>
                  <a:pt x="321" y="131"/>
                </a:lnTo>
                <a:close/>
                <a:moveTo>
                  <a:pt x="496" y="257"/>
                </a:moveTo>
                <a:lnTo>
                  <a:pt x="543" y="257"/>
                </a:lnTo>
                <a:lnTo>
                  <a:pt x="543" y="235"/>
                </a:lnTo>
                <a:lnTo>
                  <a:pt x="496" y="235"/>
                </a:lnTo>
                <a:lnTo>
                  <a:pt x="496" y="257"/>
                </a:lnTo>
                <a:close/>
                <a:moveTo>
                  <a:pt x="324" y="426"/>
                </a:moveTo>
                <a:lnTo>
                  <a:pt x="248" y="368"/>
                </a:lnTo>
                <a:cubicBezTo>
                  <a:pt x="242" y="364"/>
                  <a:pt x="235" y="365"/>
                  <a:pt x="231" y="372"/>
                </a:cubicBezTo>
                <a:cubicBezTo>
                  <a:pt x="227" y="378"/>
                  <a:pt x="229" y="386"/>
                  <a:pt x="235" y="391"/>
                </a:cubicBezTo>
                <a:lnTo>
                  <a:pt x="311" y="448"/>
                </a:lnTo>
                <a:cubicBezTo>
                  <a:pt x="316" y="453"/>
                  <a:pt x="324" y="451"/>
                  <a:pt x="328" y="445"/>
                </a:cubicBezTo>
                <a:cubicBezTo>
                  <a:pt x="331" y="439"/>
                  <a:pt x="329" y="430"/>
                  <a:pt x="324" y="426"/>
                </a:cubicBezTo>
                <a:close/>
                <a:moveTo>
                  <a:pt x="246" y="720"/>
                </a:moveTo>
                <a:cubicBezTo>
                  <a:pt x="254" y="663"/>
                  <a:pt x="254" y="603"/>
                  <a:pt x="239" y="550"/>
                </a:cubicBezTo>
                <a:cubicBezTo>
                  <a:pt x="0" y="415"/>
                  <a:pt x="62" y="105"/>
                  <a:pt x="263" y="42"/>
                </a:cubicBezTo>
                <a:cubicBezTo>
                  <a:pt x="369" y="0"/>
                  <a:pt x="513" y="25"/>
                  <a:pt x="606" y="119"/>
                </a:cubicBezTo>
                <a:cubicBezTo>
                  <a:pt x="674" y="187"/>
                  <a:pt x="642" y="204"/>
                  <a:pt x="642" y="204"/>
                </a:cubicBezTo>
                <a:lnTo>
                  <a:pt x="627" y="213"/>
                </a:lnTo>
                <a:cubicBezTo>
                  <a:pt x="635" y="245"/>
                  <a:pt x="650" y="305"/>
                  <a:pt x="648" y="313"/>
                </a:cubicBezTo>
                <a:cubicBezTo>
                  <a:pt x="645" y="324"/>
                  <a:pt x="633" y="336"/>
                  <a:pt x="633" y="336"/>
                </a:cubicBezTo>
                <a:lnTo>
                  <a:pt x="667" y="450"/>
                </a:lnTo>
                <a:lnTo>
                  <a:pt x="636" y="462"/>
                </a:lnTo>
                <a:cubicBezTo>
                  <a:pt x="643" y="499"/>
                  <a:pt x="647" y="530"/>
                  <a:pt x="643" y="566"/>
                </a:cubicBezTo>
                <a:cubicBezTo>
                  <a:pt x="643" y="572"/>
                  <a:pt x="622" y="590"/>
                  <a:pt x="606" y="591"/>
                </a:cubicBezTo>
                <a:lnTo>
                  <a:pt x="504" y="598"/>
                </a:lnTo>
                <a:lnTo>
                  <a:pt x="510" y="720"/>
                </a:lnTo>
                <a:lnTo>
                  <a:pt x="246" y="72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8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grpSp>
        <p:nvGrpSpPr>
          <p:cNvPr id="9" name="组合 3"/>
          <p:cNvGrpSpPr/>
          <p:nvPr/>
        </p:nvGrpSpPr>
        <p:grpSpPr>
          <a:xfrm>
            <a:off x="476711" y="383903"/>
            <a:ext cx="438352" cy="621987"/>
            <a:chOff x="265635" y="269251"/>
            <a:chExt cx="438352" cy="621987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231357" y="511653"/>
            <a:ext cx="10972800" cy="105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无条件传送举例</a:t>
            </a:r>
          </a:p>
        </p:txBody>
      </p:sp>
      <p:sp>
        <p:nvSpPr>
          <p:cNvPr id="2" name="矩形 1"/>
          <p:cNvSpPr/>
          <p:nvPr/>
        </p:nvSpPr>
        <p:spPr>
          <a:xfrm>
            <a:off x="3737810" y="2005023"/>
            <a:ext cx="7491663" cy="25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5-5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给出了一个无条件输入输出的接口例子，其中无条件输入接口电路连接一个开关电路，无条件输出接口电路连接发光二极管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9936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143934" y="1773239"/>
            <a:ext cx="10471151" cy="4061914"/>
            <a:chOff x="1137" y="4604"/>
            <a:chExt cx="7597" cy="3916"/>
          </a:xfrm>
        </p:grpSpPr>
        <p:sp>
          <p:nvSpPr>
            <p:cNvPr id="10252" name="AutoShape 5"/>
            <p:cNvSpPr>
              <a:spLocks noChangeAspect="1" noChangeArrowheads="1"/>
            </p:cNvSpPr>
            <p:nvPr/>
          </p:nvSpPr>
          <p:spPr bwMode="auto">
            <a:xfrm>
              <a:off x="1137" y="4604"/>
              <a:ext cx="7597" cy="3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993" y="4604"/>
              <a:ext cx="5885" cy="3916"/>
              <a:chOff x="2362" y="4604"/>
              <a:chExt cx="5885" cy="3916"/>
            </a:xfrm>
          </p:grpSpPr>
          <p:sp>
            <p:nvSpPr>
              <p:cNvPr id="10254" name="Rectangle 7"/>
              <p:cNvSpPr>
                <a:spLocks noChangeArrowheads="1"/>
              </p:cNvSpPr>
              <p:nvPr/>
            </p:nvSpPr>
            <p:spPr bwMode="auto">
              <a:xfrm>
                <a:off x="3574" y="4604"/>
                <a:ext cx="660" cy="433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55" name="Line 8"/>
              <p:cNvSpPr>
                <a:spLocks noChangeShapeType="1"/>
              </p:cNvSpPr>
              <p:nvPr/>
            </p:nvSpPr>
            <p:spPr bwMode="auto">
              <a:xfrm>
                <a:off x="7122" y="5435"/>
                <a:ext cx="199" cy="1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6" name="Line 9"/>
              <p:cNvSpPr>
                <a:spLocks noChangeShapeType="1"/>
              </p:cNvSpPr>
              <p:nvPr/>
            </p:nvSpPr>
            <p:spPr bwMode="auto">
              <a:xfrm>
                <a:off x="7122" y="5730"/>
                <a:ext cx="199" cy="1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7" name="Line 10"/>
              <p:cNvSpPr>
                <a:spLocks noChangeShapeType="1"/>
              </p:cNvSpPr>
              <p:nvPr/>
            </p:nvSpPr>
            <p:spPr bwMode="auto">
              <a:xfrm>
                <a:off x="7141" y="6354"/>
                <a:ext cx="196" cy="13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8" name="Freeform 11"/>
              <p:cNvSpPr>
                <a:spLocks/>
              </p:cNvSpPr>
              <p:nvPr/>
            </p:nvSpPr>
            <p:spPr bwMode="auto">
              <a:xfrm>
                <a:off x="7489" y="7022"/>
                <a:ext cx="202" cy="1089"/>
              </a:xfrm>
              <a:custGeom>
                <a:avLst/>
                <a:gdLst>
                  <a:gd name="T0" fmla="*/ 569 w 170"/>
                  <a:gd name="T1" fmla="*/ 0 h 846"/>
                  <a:gd name="T2" fmla="*/ 569 w 170"/>
                  <a:gd name="T3" fmla="*/ 3470 h 846"/>
                  <a:gd name="T4" fmla="*/ 0 w 170"/>
                  <a:gd name="T5" fmla="*/ 3494 h 846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846"/>
                  <a:gd name="T11" fmla="*/ 170 w 170"/>
                  <a:gd name="T12" fmla="*/ 846 h 8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846">
                    <a:moveTo>
                      <a:pt x="170" y="0"/>
                    </a:moveTo>
                    <a:lnTo>
                      <a:pt x="170" y="840"/>
                    </a:lnTo>
                    <a:lnTo>
                      <a:pt x="0" y="846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9" name="Oval 12"/>
              <p:cNvSpPr>
                <a:spLocks noChangeArrowheads="1"/>
              </p:cNvSpPr>
              <p:nvPr/>
            </p:nvSpPr>
            <p:spPr bwMode="auto">
              <a:xfrm>
                <a:off x="7651" y="6460"/>
                <a:ext cx="55" cy="56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60" name="Freeform 13"/>
              <p:cNvSpPr>
                <a:spLocks/>
              </p:cNvSpPr>
              <p:nvPr/>
            </p:nvSpPr>
            <p:spPr bwMode="auto">
              <a:xfrm>
                <a:off x="7384" y="6485"/>
                <a:ext cx="302" cy="3"/>
              </a:xfrm>
              <a:custGeom>
                <a:avLst/>
                <a:gdLst>
                  <a:gd name="T0" fmla="*/ 0 w 253"/>
                  <a:gd name="T1" fmla="*/ 0 h 3"/>
                  <a:gd name="T2" fmla="*/ 873 w 253"/>
                  <a:gd name="T3" fmla="*/ 3 h 3"/>
                  <a:gd name="T4" fmla="*/ 0 60000 65536"/>
                  <a:gd name="T5" fmla="*/ 0 60000 65536"/>
                  <a:gd name="T6" fmla="*/ 0 w 253"/>
                  <a:gd name="T7" fmla="*/ 0 h 3"/>
                  <a:gd name="T8" fmla="*/ 253 w 25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3" h="3">
                    <a:moveTo>
                      <a:pt x="0" y="0"/>
                    </a:moveTo>
                    <a:lnTo>
                      <a:pt x="253" y="3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1" name="Rectangle 14"/>
              <p:cNvSpPr>
                <a:spLocks noChangeArrowheads="1"/>
              </p:cNvSpPr>
              <p:nvPr/>
            </p:nvSpPr>
            <p:spPr bwMode="auto">
              <a:xfrm>
                <a:off x="6900" y="8186"/>
                <a:ext cx="999" cy="33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300Ω×8</a:t>
                </a:r>
              </a:p>
            </p:txBody>
          </p:sp>
          <p:sp>
            <p:nvSpPr>
              <p:cNvPr id="10262" name="Freeform 15"/>
              <p:cNvSpPr>
                <a:spLocks/>
              </p:cNvSpPr>
              <p:nvPr/>
            </p:nvSpPr>
            <p:spPr bwMode="auto">
              <a:xfrm>
                <a:off x="3892" y="5267"/>
                <a:ext cx="189" cy="6"/>
              </a:xfrm>
              <a:custGeom>
                <a:avLst/>
                <a:gdLst>
                  <a:gd name="T0" fmla="*/ 533 w 159"/>
                  <a:gd name="T1" fmla="*/ 72 h 4"/>
                  <a:gd name="T2" fmla="*/ 0 w 159"/>
                  <a:gd name="T3" fmla="*/ 0 h 4"/>
                  <a:gd name="T4" fmla="*/ 0 60000 65536"/>
                  <a:gd name="T5" fmla="*/ 0 60000 65536"/>
                  <a:gd name="T6" fmla="*/ 0 w 159"/>
                  <a:gd name="T7" fmla="*/ 0 h 4"/>
                  <a:gd name="T8" fmla="*/ 159 w 159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9" h="4">
                    <a:moveTo>
                      <a:pt x="159" y="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3" name="Line 16"/>
              <p:cNvSpPr>
                <a:spLocks noChangeShapeType="1"/>
              </p:cNvSpPr>
              <p:nvPr/>
            </p:nvSpPr>
            <p:spPr bwMode="auto">
              <a:xfrm>
                <a:off x="5909" y="5562"/>
                <a:ext cx="1215" cy="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4" name="Oval 17"/>
              <p:cNvSpPr>
                <a:spLocks noChangeArrowheads="1"/>
              </p:cNvSpPr>
              <p:nvPr/>
            </p:nvSpPr>
            <p:spPr bwMode="auto">
              <a:xfrm>
                <a:off x="7114" y="5523"/>
                <a:ext cx="80" cy="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65" name="Oval 18"/>
              <p:cNvSpPr>
                <a:spLocks noChangeArrowheads="1"/>
              </p:cNvSpPr>
              <p:nvPr/>
            </p:nvSpPr>
            <p:spPr bwMode="auto">
              <a:xfrm>
                <a:off x="6100" y="5537"/>
                <a:ext cx="53" cy="52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66" name="Freeform 19"/>
              <p:cNvSpPr>
                <a:spLocks/>
              </p:cNvSpPr>
              <p:nvPr/>
            </p:nvSpPr>
            <p:spPr bwMode="auto">
              <a:xfrm>
                <a:off x="6124" y="4953"/>
                <a:ext cx="1232" cy="589"/>
              </a:xfrm>
              <a:custGeom>
                <a:avLst/>
                <a:gdLst>
                  <a:gd name="T0" fmla="*/ 0 w 1035"/>
                  <a:gd name="T1" fmla="*/ 1937 h 483"/>
                  <a:gd name="T2" fmla="*/ 0 w 1035"/>
                  <a:gd name="T3" fmla="*/ 13 h 483"/>
                  <a:gd name="T4" fmla="*/ 3503 w 1035"/>
                  <a:gd name="T5" fmla="*/ 0 h 483"/>
                  <a:gd name="T6" fmla="*/ 0 60000 65536"/>
                  <a:gd name="T7" fmla="*/ 0 60000 65536"/>
                  <a:gd name="T8" fmla="*/ 0 60000 65536"/>
                  <a:gd name="T9" fmla="*/ 0 w 1035"/>
                  <a:gd name="T10" fmla="*/ 0 h 483"/>
                  <a:gd name="T11" fmla="*/ 1035 w 1035"/>
                  <a:gd name="T12" fmla="*/ 483 h 4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35" h="483">
                    <a:moveTo>
                      <a:pt x="0" y="483"/>
                    </a:moveTo>
                    <a:lnTo>
                      <a:pt x="0" y="3"/>
                    </a:lnTo>
                    <a:lnTo>
                      <a:pt x="1035" y="0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7" name="Freeform 20"/>
              <p:cNvSpPr>
                <a:spLocks/>
              </p:cNvSpPr>
              <p:nvPr/>
            </p:nvSpPr>
            <p:spPr bwMode="auto">
              <a:xfrm>
                <a:off x="7374" y="5551"/>
                <a:ext cx="305" cy="1117"/>
              </a:xfrm>
              <a:custGeom>
                <a:avLst/>
                <a:gdLst>
                  <a:gd name="T0" fmla="*/ 0 w 258"/>
                  <a:gd name="T1" fmla="*/ 28 h 878"/>
                  <a:gd name="T2" fmla="*/ 835 w 258"/>
                  <a:gd name="T3" fmla="*/ 0 h 878"/>
                  <a:gd name="T4" fmla="*/ 826 w 258"/>
                  <a:gd name="T5" fmla="*/ 4735 h 878"/>
                  <a:gd name="T6" fmla="*/ 0 60000 65536"/>
                  <a:gd name="T7" fmla="*/ 0 60000 65536"/>
                  <a:gd name="T8" fmla="*/ 0 60000 65536"/>
                  <a:gd name="T9" fmla="*/ 0 w 258"/>
                  <a:gd name="T10" fmla="*/ 0 h 878"/>
                  <a:gd name="T11" fmla="*/ 258 w 258"/>
                  <a:gd name="T12" fmla="*/ 878 h 8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8" h="878">
                    <a:moveTo>
                      <a:pt x="0" y="5"/>
                    </a:moveTo>
                    <a:lnTo>
                      <a:pt x="258" y="0"/>
                    </a:lnTo>
                    <a:lnTo>
                      <a:pt x="256" y="878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8" name="Rectangle 21"/>
              <p:cNvSpPr>
                <a:spLocks noChangeArrowheads="1"/>
              </p:cNvSpPr>
              <p:nvPr/>
            </p:nvSpPr>
            <p:spPr bwMode="auto">
              <a:xfrm>
                <a:off x="7167" y="6234"/>
                <a:ext cx="554" cy="29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69" name="Rectangle 22"/>
              <p:cNvSpPr>
                <a:spLocks noChangeArrowheads="1"/>
              </p:cNvSpPr>
              <p:nvPr/>
            </p:nvSpPr>
            <p:spPr bwMode="auto">
              <a:xfrm>
                <a:off x="7166" y="5302"/>
                <a:ext cx="554" cy="29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70" name="Rectangle 23"/>
              <p:cNvSpPr>
                <a:spLocks noChangeArrowheads="1"/>
              </p:cNvSpPr>
              <p:nvPr/>
            </p:nvSpPr>
            <p:spPr bwMode="auto">
              <a:xfrm>
                <a:off x="7676" y="6873"/>
                <a:ext cx="571" cy="33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just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+5V</a:t>
                </a:r>
              </a:p>
            </p:txBody>
          </p:sp>
          <p:sp>
            <p:nvSpPr>
              <p:cNvPr id="10271" name="Rectangle 24"/>
              <p:cNvSpPr>
                <a:spLocks noChangeArrowheads="1"/>
              </p:cNvSpPr>
              <p:nvPr/>
            </p:nvSpPr>
            <p:spPr bwMode="auto">
              <a:xfrm>
                <a:off x="2700" y="5657"/>
                <a:ext cx="546" cy="38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eaLnBrk="1" hangingPunct="1"/>
                <a:endParaRPr lang="zh-CN" altLang="en-US" sz="1200"/>
              </a:p>
            </p:txBody>
          </p:sp>
          <p:sp>
            <p:nvSpPr>
              <p:cNvPr id="10272" name="Rectangle 25"/>
              <p:cNvSpPr>
                <a:spLocks noChangeArrowheads="1"/>
              </p:cNvSpPr>
              <p:nvPr/>
            </p:nvSpPr>
            <p:spPr bwMode="auto">
              <a:xfrm>
                <a:off x="2736" y="5237"/>
                <a:ext cx="497" cy="38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eaLnBrk="1" hangingPunct="1"/>
                <a:endParaRPr lang="zh-CN" altLang="en-US" sz="1200"/>
              </a:p>
            </p:txBody>
          </p:sp>
          <p:sp>
            <p:nvSpPr>
              <p:cNvPr id="10273" name="Rectangle 26"/>
              <p:cNvSpPr>
                <a:spLocks noChangeArrowheads="1"/>
              </p:cNvSpPr>
              <p:nvPr/>
            </p:nvSpPr>
            <p:spPr bwMode="auto">
              <a:xfrm>
                <a:off x="2551" y="7498"/>
                <a:ext cx="823" cy="33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74" name="Rectangle 27"/>
              <p:cNvSpPr>
                <a:spLocks noChangeArrowheads="1"/>
              </p:cNvSpPr>
              <p:nvPr/>
            </p:nvSpPr>
            <p:spPr bwMode="auto">
              <a:xfrm>
                <a:off x="2362" y="4695"/>
                <a:ext cx="821" cy="33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r" eaLnBrk="1" hangingPunct="1"/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6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6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75" name="Rectangle 28"/>
              <p:cNvSpPr>
                <a:spLocks noChangeArrowheads="1"/>
              </p:cNvSpPr>
              <p:nvPr/>
            </p:nvSpPr>
            <p:spPr bwMode="auto">
              <a:xfrm>
                <a:off x="5142" y="5251"/>
                <a:ext cx="333" cy="65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eaLnBrk="1" hangingPunct="1"/>
                <a:endParaRPr lang="zh-CN" altLang="en-US" sz="1200">
                  <a:latin typeface="Times New Roman" pitchFamily="18" charset="0"/>
                </a:endParaRPr>
              </a:p>
              <a:p>
                <a:pPr eaLnBrk="1" hangingPunct="1"/>
                <a:endParaRPr lang="zh-CN" altLang="en-US" sz="1200"/>
              </a:p>
            </p:txBody>
          </p:sp>
          <p:sp>
            <p:nvSpPr>
              <p:cNvPr id="10276" name="Rectangle 29"/>
              <p:cNvSpPr>
                <a:spLocks noChangeArrowheads="1"/>
              </p:cNvSpPr>
              <p:nvPr/>
            </p:nvSpPr>
            <p:spPr bwMode="auto">
              <a:xfrm>
                <a:off x="5261" y="7036"/>
                <a:ext cx="572" cy="33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CLK</a:t>
                </a:r>
              </a:p>
            </p:txBody>
          </p:sp>
          <p:sp>
            <p:nvSpPr>
              <p:cNvPr id="10278" name="Rectangle 31"/>
              <p:cNvSpPr>
                <a:spLocks noChangeArrowheads="1"/>
              </p:cNvSpPr>
              <p:nvPr/>
            </p:nvSpPr>
            <p:spPr bwMode="auto">
              <a:xfrm>
                <a:off x="5079" y="7350"/>
                <a:ext cx="928" cy="104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74LS273</a:t>
                </a:r>
              </a:p>
              <a:p>
                <a:pPr algn="ctr" eaLnBrk="1" hangingPunct="1">
                  <a:spcBef>
                    <a:spcPts val="300"/>
                  </a:spcBef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</a:p>
              <a:p>
                <a:pPr algn="ctr" eaLnBrk="1" hangingPunct="1"/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</a:t>
                </a:r>
              </a:p>
            </p:txBody>
          </p:sp>
          <p:sp>
            <p:nvSpPr>
              <p:cNvPr id="10279" name="Rectangle 32"/>
              <p:cNvSpPr>
                <a:spLocks noChangeArrowheads="1"/>
              </p:cNvSpPr>
              <p:nvPr/>
            </p:nvSpPr>
            <p:spPr bwMode="auto">
              <a:xfrm>
                <a:off x="5066" y="5546"/>
                <a:ext cx="928" cy="95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74LS244</a:t>
                </a:r>
              </a:p>
              <a:p>
                <a:pPr algn="ctr" eaLnBrk="1" hangingPunct="1">
                  <a:spcBef>
                    <a:spcPts val="300"/>
                  </a:spcBef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三态</a:t>
                </a:r>
              </a:p>
              <a:p>
                <a:pPr algn="ctr" eaLnBrk="1" hangingPunct="1"/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缓冲器</a:t>
                </a:r>
              </a:p>
            </p:txBody>
          </p:sp>
          <p:sp>
            <p:nvSpPr>
              <p:cNvPr id="10280" name="Rectangle 33"/>
              <p:cNvSpPr>
                <a:spLocks noChangeArrowheads="1"/>
              </p:cNvSpPr>
              <p:nvPr/>
            </p:nvSpPr>
            <p:spPr bwMode="auto">
              <a:xfrm>
                <a:off x="3628" y="4670"/>
                <a:ext cx="573" cy="33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译码</a:t>
                </a:r>
              </a:p>
            </p:txBody>
          </p:sp>
          <p:sp>
            <p:nvSpPr>
              <p:cNvPr id="10281" name="Rectangle 34"/>
              <p:cNvSpPr>
                <a:spLocks noChangeArrowheads="1"/>
              </p:cNvSpPr>
              <p:nvPr/>
            </p:nvSpPr>
            <p:spPr bwMode="auto">
              <a:xfrm>
                <a:off x="5963" y="4647"/>
                <a:ext cx="1000" cy="33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10K×8</a:t>
                </a:r>
              </a:p>
            </p:txBody>
          </p:sp>
          <p:sp>
            <p:nvSpPr>
              <p:cNvPr id="10282" name="Rectangle 35"/>
              <p:cNvSpPr>
                <a:spLocks noChangeArrowheads="1"/>
              </p:cNvSpPr>
              <p:nvPr/>
            </p:nvSpPr>
            <p:spPr bwMode="auto">
              <a:xfrm>
                <a:off x="7408" y="4810"/>
                <a:ext cx="571" cy="33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+5V</a:t>
                </a:r>
              </a:p>
            </p:txBody>
          </p:sp>
          <p:sp>
            <p:nvSpPr>
              <p:cNvPr id="10283" name="Oval 36"/>
              <p:cNvSpPr>
                <a:spLocks noChangeArrowheads="1"/>
              </p:cNvSpPr>
              <p:nvPr/>
            </p:nvSpPr>
            <p:spPr bwMode="auto">
              <a:xfrm>
                <a:off x="7645" y="5835"/>
                <a:ext cx="51" cy="53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84" name="Line 37"/>
              <p:cNvSpPr>
                <a:spLocks noChangeShapeType="1"/>
              </p:cNvSpPr>
              <p:nvPr/>
            </p:nvSpPr>
            <p:spPr bwMode="auto">
              <a:xfrm>
                <a:off x="5909" y="5860"/>
                <a:ext cx="1215" cy="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5" name="Oval 38"/>
              <p:cNvSpPr>
                <a:spLocks noChangeArrowheads="1"/>
              </p:cNvSpPr>
              <p:nvPr/>
            </p:nvSpPr>
            <p:spPr bwMode="auto">
              <a:xfrm>
                <a:off x="7114" y="5821"/>
                <a:ext cx="80" cy="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86" name="Freeform 39"/>
              <p:cNvSpPr>
                <a:spLocks/>
              </p:cNvSpPr>
              <p:nvPr/>
            </p:nvSpPr>
            <p:spPr bwMode="auto">
              <a:xfrm>
                <a:off x="7374" y="5860"/>
                <a:ext cx="299" cy="2"/>
              </a:xfrm>
              <a:custGeom>
                <a:avLst/>
                <a:gdLst>
                  <a:gd name="T0" fmla="*/ 0 w 253"/>
                  <a:gd name="T1" fmla="*/ 0 h 3"/>
                  <a:gd name="T2" fmla="*/ 814 w 253"/>
                  <a:gd name="T3" fmla="*/ 1 h 3"/>
                  <a:gd name="T4" fmla="*/ 0 60000 65536"/>
                  <a:gd name="T5" fmla="*/ 0 60000 65536"/>
                  <a:gd name="T6" fmla="*/ 0 w 253"/>
                  <a:gd name="T7" fmla="*/ 0 h 3"/>
                  <a:gd name="T8" fmla="*/ 253 w 25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3" h="3">
                    <a:moveTo>
                      <a:pt x="0" y="0"/>
                    </a:moveTo>
                    <a:lnTo>
                      <a:pt x="253" y="3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7" name="Line 40"/>
              <p:cNvSpPr>
                <a:spLocks noChangeShapeType="1"/>
              </p:cNvSpPr>
              <p:nvPr/>
            </p:nvSpPr>
            <p:spPr bwMode="auto">
              <a:xfrm flipV="1">
                <a:off x="6392" y="5344"/>
                <a:ext cx="0" cy="51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8" name="Oval 41"/>
              <p:cNvSpPr>
                <a:spLocks noChangeArrowheads="1"/>
              </p:cNvSpPr>
              <p:nvPr/>
            </p:nvSpPr>
            <p:spPr bwMode="auto">
              <a:xfrm>
                <a:off x="6362" y="5835"/>
                <a:ext cx="54" cy="53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89" name="Line 42"/>
              <p:cNvSpPr>
                <a:spLocks noChangeShapeType="1"/>
              </p:cNvSpPr>
              <p:nvPr/>
            </p:nvSpPr>
            <p:spPr bwMode="auto">
              <a:xfrm flipV="1">
                <a:off x="6392" y="4938"/>
                <a:ext cx="0" cy="20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0" name="Oval 43"/>
              <p:cNvSpPr>
                <a:spLocks noChangeAspect="1" noChangeArrowheads="1"/>
              </p:cNvSpPr>
              <p:nvPr/>
            </p:nvSpPr>
            <p:spPr bwMode="auto">
              <a:xfrm>
                <a:off x="7355" y="4921"/>
                <a:ext cx="80" cy="82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91" name="Line 44"/>
              <p:cNvSpPr>
                <a:spLocks noChangeShapeType="1"/>
              </p:cNvSpPr>
              <p:nvPr/>
            </p:nvSpPr>
            <p:spPr bwMode="auto">
              <a:xfrm flipV="1">
                <a:off x="6766" y="5344"/>
                <a:ext cx="0" cy="114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2" name="Oval 45"/>
              <p:cNvSpPr>
                <a:spLocks noChangeArrowheads="1"/>
              </p:cNvSpPr>
              <p:nvPr/>
            </p:nvSpPr>
            <p:spPr bwMode="auto">
              <a:xfrm>
                <a:off x="6736" y="6460"/>
                <a:ext cx="55" cy="56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93" name="Line 46"/>
              <p:cNvSpPr>
                <a:spLocks noChangeShapeType="1"/>
              </p:cNvSpPr>
              <p:nvPr/>
            </p:nvSpPr>
            <p:spPr bwMode="auto">
              <a:xfrm flipV="1">
                <a:off x="6766" y="4938"/>
                <a:ext cx="0" cy="20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4" name="Oval 47"/>
              <p:cNvSpPr>
                <a:spLocks noChangeArrowheads="1"/>
              </p:cNvSpPr>
              <p:nvPr/>
            </p:nvSpPr>
            <p:spPr bwMode="auto">
              <a:xfrm>
                <a:off x="6365" y="4925"/>
                <a:ext cx="54" cy="58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95" name="Oval 48"/>
              <p:cNvSpPr>
                <a:spLocks noChangeArrowheads="1"/>
              </p:cNvSpPr>
              <p:nvPr/>
            </p:nvSpPr>
            <p:spPr bwMode="auto">
              <a:xfrm>
                <a:off x="6741" y="4932"/>
                <a:ext cx="54" cy="55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96" name="Rectangle 49"/>
              <p:cNvSpPr>
                <a:spLocks noChangeArrowheads="1"/>
              </p:cNvSpPr>
              <p:nvPr/>
            </p:nvSpPr>
            <p:spPr bwMode="auto">
              <a:xfrm>
                <a:off x="5142" y="5276"/>
                <a:ext cx="767" cy="1392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97" name="Oval 50"/>
              <p:cNvSpPr>
                <a:spLocks noChangeAspect="1" noChangeArrowheads="1"/>
              </p:cNvSpPr>
              <p:nvPr/>
            </p:nvSpPr>
            <p:spPr bwMode="auto">
              <a:xfrm>
                <a:off x="7658" y="6981"/>
                <a:ext cx="80" cy="83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298" name="Rectangle 51"/>
              <p:cNvSpPr>
                <a:spLocks noChangeArrowheads="1"/>
              </p:cNvSpPr>
              <p:nvPr/>
            </p:nvSpPr>
            <p:spPr bwMode="auto">
              <a:xfrm>
                <a:off x="6413" y="6942"/>
                <a:ext cx="555" cy="2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99" name="Line 52"/>
              <p:cNvSpPr>
                <a:spLocks noChangeShapeType="1"/>
              </p:cNvSpPr>
              <p:nvPr/>
            </p:nvSpPr>
            <p:spPr bwMode="auto">
              <a:xfrm>
                <a:off x="7568" y="6662"/>
                <a:ext cx="21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0" name="Line 53"/>
              <p:cNvSpPr>
                <a:spLocks noChangeShapeType="1"/>
              </p:cNvSpPr>
              <p:nvPr/>
            </p:nvSpPr>
            <p:spPr bwMode="auto">
              <a:xfrm flipH="1">
                <a:off x="7483" y="7229"/>
                <a:ext cx="178" cy="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1" name="Line 54"/>
              <p:cNvSpPr>
                <a:spLocks noChangeShapeType="1"/>
              </p:cNvSpPr>
              <p:nvPr/>
            </p:nvSpPr>
            <p:spPr bwMode="auto">
              <a:xfrm flipH="1">
                <a:off x="7483" y="7598"/>
                <a:ext cx="178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2" name="Oval 55"/>
              <p:cNvSpPr>
                <a:spLocks noChangeArrowheads="1"/>
              </p:cNvSpPr>
              <p:nvPr/>
            </p:nvSpPr>
            <p:spPr bwMode="auto">
              <a:xfrm>
                <a:off x="7656" y="7574"/>
                <a:ext cx="50" cy="56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03" name="Line 56"/>
              <p:cNvSpPr>
                <a:spLocks noChangeShapeType="1"/>
              </p:cNvSpPr>
              <p:nvPr/>
            </p:nvSpPr>
            <p:spPr bwMode="auto">
              <a:xfrm flipH="1">
                <a:off x="7079" y="7229"/>
                <a:ext cx="178" cy="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4" name="Line 57"/>
              <p:cNvSpPr>
                <a:spLocks noChangeShapeType="1"/>
              </p:cNvSpPr>
              <p:nvPr/>
            </p:nvSpPr>
            <p:spPr bwMode="auto">
              <a:xfrm flipH="1">
                <a:off x="5916" y="7229"/>
                <a:ext cx="912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5" name="Rectangle 58"/>
              <p:cNvSpPr>
                <a:spLocks noChangeArrowheads="1"/>
              </p:cNvSpPr>
              <p:nvPr/>
            </p:nvSpPr>
            <p:spPr bwMode="auto">
              <a:xfrm>
                <a:off x="6413" y="7294"/>
                <a:ext cx="555" cy="29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06" name="Line 59"/>
              <p:cNvSpPr>
                <a:spLocks noChangeShapeType="1"/>
              </p:cNvSpPr>
              <p:nvPr/>
            </p:nvSpPr>
            <p:spPr bwMode="auto">
              <a:xfrm flipH="1">
                <a:off x="7079" y="7598"/>
                <a:ext cx="178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Line 60"/>
              <p:cNvSpPr>
                <a:spLocks noChangeShapeType="1"/>
              </p:cNvSpPr>
              <p:nvPr/>
            </p:nvSpPr>
            <p:spPr bwMode="auto">
              <a:xfrm flipH="1">
                <a:off x="5916" y="7579"/>
                <a:ext cx="912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8" name="Rectangle 61"/>
              <p:cNvSpPr>
                <a:spLocks noChangeArrowheads="1"/>
              </p:cNvSpPr>
              <p:nvPr/>
            </p:nvSpPr>
            <p:spPr bwMode="auto">
              <a:xfrm>
                <a:off x="6413" y="7770"/>
                <a:ext cx="555" cy="2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09" name="Line 62"/>
              <p:cNvSpPr>
                <a:spLocks noChangeShapeType="1"/>
              </p:cNvSpPr>
              <p:nvPr/>
            </p:nvSpPr>
            <p:spPr bwMode="auto">
              <a:xfrm flipH="1">
                <a:off x="7081" y="8111"/>
                <a:ext cx="178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0" name="Line 63"/>
              <p:cNvSpPr>
                <a:spLocks noChangeShapeType="1"/>
              </p:cNvSpPr>
              <p:nvPr/>
            </p:nvSpPr>
            <p:spPr bwMode="auto">
              <a:xfrm flipH="1">
                <a:off x="5916" y="8142"/>
                <a:ext cx="912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1" name="Oval 64"/>
              <p:cNvSpPr>
                <a:spLocks noChangeArrowheads="1"/>
              </p:cNvSpPr>
              <p:nvPr/>
            </p:nvSpPr>
            <p:spPr bwMode="auto">
              <a:xfrm>
                <a:off x="7656" y="7201"/>
                <a:ext cx="50" cy="56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13" name="Rectangle 66"/>
              <p:cNvSpPr>
                <a:spLocks noChangeArrowheads="1"/>
              </p:cNvSpPr>
              <p:nvPr/>
            </p:nvSpPr>
            <p:spPr bwMode="auto">
              <a:xfrm>
                <a:off x="5148" y="6981"/>
                <a:ext cx="768" cy="1324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14" name="Oval 67"/>
              <p:cNvSpPr>
                <a:spLocks noChangeArrowheads="1"/>
              </p:cNvSpPr>
              <p:nvPr/>
            </p:nvSpPr>
            <p:spPr bwMode="auto">
              <a:xfrm>
                <a:off x="3863" y="5241"/>
                <a:ext cx="53" cy="55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15" name="Freeform 68"/>
              <p:cNvSpPr>
                <a:spLocks/>
              </p:cNvSpPr>
              <p:nvPr/>
            </p:nvSpPr>
            <p:spPr bwMode="auto">
              <a:xfrm>
                <a:off x="3253" y="5878"/>
                <a:ext cx="833" cy="1"/>
              </a:xfrm>
              <a:custGeom>
                <a:avLst/>
                <a:gdLst>
                  <a:gd name="T0" fmla="*/ 2365 w 700"/>
                  <a:gd name="T1" fmla="*/ 1 h 1"/>
                  <a:gd name="T2" fmla="*/ 0 w 700"/>
                  <a:gd name="T3" fmla="*/ 0 h 1"/>
                  <a:gd name="T4" fmla="*/ 0 60000 65536"/>
                  <a:gd name="T5" fmla="*/ 0 60000 65536"/>
                  <a:gd name="T6" fmla="*/ 0 w 700"/>
                  <a:gd name="T7" fmla="*/ 0 h 1"/>
                  <a:gd name="T8" fmla="*/ 700 w 70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00" h="1">
                    <a:moveTo>
                      <a:pt x="700" y="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6" name="Freeform 69"/>
              <p:cNvSpPr>
                <a:spLocks/>
              </p:cNvSpPr>
              <p:nvPr/>
            </p:nvSpPr>
            <p:spPr bwMode="auto">
              <a:xfrm>
                <a:off x="3917" y="5014"/>
                <a:ext cx="203" cy="704"/>
              </a:xfrm>
              <a:custGeom>
                <a:avLst/>
                <a:gdLst>
                  <a:gd name="T0" fmla="*/ 656 w 167"/>
                  <a:gd name="T1" fmla="*/ 4511 h 516"/>
                  <a:gd name="T2" fmla="*/ 0 w 167"/>
                  <a:gd name="T3" fmla="*/ 4538 h 516"/>
                  <a:gd name="T4" fmla="*/ 19 w 167"/>
                  <a:gd name="T5" fmla="*/ 0 h 516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516"/>
                  <a:gd name="T11" fmla="*/ 167 w 167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516">
                    <a:moveTo>
                      <a:pt x="167" y="512"/>
                    </a:moveTo>
                    <a:lnTo>
                      <a:pt x="0" y="516"/>
                    </a:lnTo>
                    <a:lnTo>
                      <a:pt x="5" y="0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7" name="Freeform 70"/>
              <p:cNvSpPr>
                <a:spLocks/>
              </p:cNvSpPr>
              <p:nvPr/>
            </p:nvSpPr>
            <p:spPr bwMode="auto">
              <a:xfrm>
                <a:off x="3257" y="5435"/>
                <a:ext cx="829" cy="0"/>
              </a:xfrm>
              <a:custGeom>
                <a:avLst/>
                <a:gdLst>
                  <a:gd name="T0" fmla="*/ 2347 w 697"/>
                  <a:gd name="T1" fmla="*/ 1 h 1"/>
                  <a:gd name="T2" fmla="*/ 0 w 697"/>
                  <a:gd name="T3" fmla="*/ 0 h 1"/>
                  <a:gd name="T4" fmla="*/ 0 60000 65536"/>
                  <a:gd name="T5" fmla="*/ 0 60000 65536"/>
                  <a:gd name="T6" fmla="*/ 0 w 697"/>
                  <a:gd name="T7" fmla="*/ 0 h 1"/>
                  <a:gd name="T8" fmla="*/ 697 w 697"/>
                  <a:gd name="T9" fmla="*/ 0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97" h="1">
                    <a:moveTo>
                      <a:pt x="697" y="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8" name="Freeform 71"/>
              <p:cNvSpPr>
                <a:spLocks/>
              </p:cNvSpPr>
              <p:nvPr/>
            </p:nvSpPr>
            <p:spPr bwMode="auto">
              <a:xfrm>
                <a:off x="4534" y="5807"/>
                <a:ext cx="258" cy="999"/>
              </a:xfrm>
              <a:custGeom>
                <a:avLst/>
                <a:gdLst>
                  <a:gd name="T0" fmla="*/ 673 w 210"/>
                  <a:gd name="T1" fmla="*/ 3713 h 945"/>
                  <a:gd name="T2" fmla="*/ 673 w 210"/>
                  <a:gd name="T3" fmla="*/ 0 h 945"/>
                  <a:gd name="T4" fmla="*/ 0 w 210"/>
                  <a:gd name="T5" fmla="*/ 0 h 945"/>
                  <a:gd name="T6" fmla="*/ 0 60000 65536"/>
                  <a:gd name="T7" fmla="*/ 0 60000 65536"/>
                  <a:gd name="T8" fmla="*/ 0 60000 65536"/>
                  <a:gd name="T9" fmla="*/ 0 w 210"/>
                  <a:gd name="T10" fmla="*/ 0 h 945"/>
                  <a:gd name="T11" fmla="*/ 210 w 210"/>
                  <a:gd name="T12" fmla="*/ 945 h 9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0" h="945">
                    <a:moveTo>
                      <a:pt x="210" y="945"/>
                    </a:moveTo>
                    <a:lnTo>
                      <a:pt x="21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9" name="Line 72"/>
              <p:cNvSpPr>
                <a:spLocks noChangeShapeType="1"/>
              </p:cNvSpPr>
              <p:nvPr/>
            </p:nvSpPr>
            <p:spPr bwMode="auto">
              <a:xfrm>
                <a:off x="5909" y="6487"/>
                <a:ext cx="1232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1" name="Freeform 74"/>
              <p:cNvSpPr>
                <a:spLocks/>
              </p:cNvSpPr>
              <p:nvPr/>
            </p:nvSpPr>
            <p:spPr bwMode="auto">
              <a:xfrm>
                <a:off x="3304" y="7612"/>
                <a:ext cx="1837" cy="118"/>
              </a:xfrm>
              <a:custGeom>
                <a:avLst/>
                <a:gdLst>
                  <a:gd name="T0" fmla="*/ 0 w 930"/>
                  <a:gd name="T1" fmla="*/ 0 h 1"/>
                  <a:gd name="T2" fmla="*/ 3090 w 930"/>
                  <a:gd name="T3" fmla="*/ 0 h 1"/>
                  <a:gd name="T4" fmla="*/ 0 60000 65536"/>
                  <a:gd name="T5" fmla="*/ 0 60000 65536"/>
                  <a:gd name="T6" fmla="*/ 0 w 930"/>
                  <a:gd name="T7" fmla="*/ 0 h 1"/>
                  <a:gd name="T8" fmla="*/ 930 w 930"/>
                  <a:gd name="T9" fmla="*/ 0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30" h="1">
                    <a:moveTo>
                      <a:pt x="0" y="0"/>
                    </a:moveTo>
                    <a:lnTo>
                      <a:pt x="930" y="0"/>
                    </a:lnTo>
                  </a:path>
                </a:pathLst>
              </a:custGeom>
              <a:solidFill>
                <a:srgbClr val="FFFFFF"/>
              </a:solidFill>
              <a:ln w="19050" cmpd="sng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2" name="Freeform 75"/>
              <p:cNvSpPr>
                <a:spLocks/>
              </p:cNvSpPr>
              <p:nvPr/>
            </p:nvSpPr>
            <p:spPr bwMode="auto">
              <a:xfrm>
                <a:off x="3967" y="6378"/>
                <a:ext cx="1174" cy="1214"/>
              </a:xfrm>
              <a:custGeom>
                <a:avLst/>
                <a:gdLst>
                  <a:gd name="T0" fmla="*/ 3323 w 987"/>
                  <a:gd name="T1" fmla="*/ 0 h 989"/>
                  <a:gd name="T2" fmla="*/ 0 w 987"/>
                  <a:gd name="T3" fmla="*/ 0 h 989"/>
                  <a:gd name="T4" fmla="*/ 0 w 987"/>
                  <a:gd name="T5" fmla="*/ 4153 h 989"/>
                  <a:gd name="T6" fmla="*/ 0 60000 65536"/>
                  <a:gd name="T7" fmla="*/ 0 60000 65536"/>
                  <a:gd name="T8" fmla="*/ 0 60000 65536"/>
                  <a:gd name="T9" fmla="*/ 0 w 987"/>
                  <a:gd name="T10" fmla="*/ 0 h 989"/>
                  <a:gd name="T11" fmla="*/ 987 w 987"/>
                  <a:gd name="T12" fmla="*/ 989 h 9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7" h="989">
                    <a:moveTo>
                      <a:pt x="987" y="0"/>
                    </a:moveTo>
                    <a:lnTo>
                      <a:pt x="0" y="0"/>
                    </a:lnTo>
                    <a:lnTo>
                      <a:pt x="0" y="98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3" name="Text Box 76"/>
              <p:cNvSpPr txBox="1">
                <a:spLocks noChangeArrowheads="1"/>
              </p:cNvSpPr>
              <p:nvPr/>
            </p:nvSpPr>
            <p:spPr bwMode="auto">
              <a:xfrm>
                <a:off x="7279" y="5772"/>
                <a:ext cx="328" cy="70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eaVert" lIns="12700" tIns="12700" rIns="12700" bIns="12700"/>
              <a:lstStyle/>
              <a:p>
                <a:pPr algn="ctr" eaLnBrk="1" hangingPunct="1"/>
                <a:r>
                  <a:rPr lang="en-US" altLang="zh-CN" sz="1200" dirty="0">
                    <a:latin typeface="Times New Roman" pitchFamily="18" charset="0"/>
                  </a:rPr>
                  <a:t>…</a:t>
                </a:r>
                <a:endParaRPr lang="en-US" altLang="zh-CN" sz="1200" dirty="0"/>
              </a:p>
            </p:txBody>
          </p:sp>
          <p:sp>
            <p:nvSpPr>
              <p:cNvPr id="10324" name="Text Box 77"/>
              <p:cNvSpPr txBox="1">
                <a:spLocks noChangeArrowheads="1"/>
              </p:cNvSpPr>
              <p:nvPr/>
            </p:nvSpPr>
            <p:spPr bwMode="auto">
              <a:xfrm>
                <a:off x="7179" y="7497"/>
                <a:ext cx="328" cy="70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eaVert" lIns="12700" tIns="12700" rIns="12700" bIns="12700"/>
              <a:lstStyle/>
              <a:p>
                <a:pPr algn="ctr" eaLnBrk="1" hangingPunct="1"/>
                <a:r>
                  <a:rPr lang="en-US" altLang="zh-CN" sz="1200" dirty="0">
                    <a:latin typeface="Times New Roman" pitchFamily="18" charset="0"/>
                  </a:rPr>
                  <a:t>…</a:t>
                </a:r>
                <a:endParaRPr lang="en-US" altLang="zh-CN" sz="1200" dirty="0"/>
              </a:p>
            </p:txBody>
          </p:sp>
          <p:sp>
            <p:nvSpPr>
              <p:cNvPr id="10325" name="Line 78"/>
              <p:cNvSpPr>
                <a:spLocks noChangeShapeType="1"/>
              </p:cNvSpPr>
              <p:nvPr/>
            </p:nvSpPr>
            <p:spPr bwMode="auto">
              <a:xfrm>
                <a:off x="3194" y="4844"/>
                <a:ext cx="37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6" name="AutoShape 79"/>
              <p:cNvSpPr>
                <a:spLocks noChangeArrowheads="1"/>
              </p:cNvSpPr>
              <p:nvPr/>
            </p:nvSpPr>
            <p:spPr bwMode="auto">
              <a:xfrm rot="16200000" flipH="1">
                <a:off x="6884" y="7137"/>
                <a:ext cx="221" cy="185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27" name="AutoShape 80"/>
              <p:cNvSpPr>
                <a:spLocks noChangeArrowheads="1"/>
              </p:cNvSpPr>
              <p:nvPr/>
            </p:nvSpPr>
            <p:spPr bwMode="auto">
              <a:xfrm rot="16200000" flipH="1">
                <a:off x="6884" y="7500"/>
                <a:ext cx="221" cy="185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28" name="AutoShape 81"/>
              <p:cNvSpPr>
                <a:spLocks noChangeArrowheads="1"/>
              </p:cNvSpPr>
              <p:nvPr/>
            </p:nvSpPr>
            <p:spPr bwMode="auto">
              <a:xfrm rot="16200000" flipH="1">
                <a:off x="6886" y="8019"/>
                <a:ext cx="218" cy="185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29" name="Oval 82"/>
              <p:cNvSpPr>
                <a:spLocks noChangeArrowheads="1"/>
              </p:cNvSpPr>
              <p:nvPr/>
            </p:nvSpPr>
            <p:spPr bwMode="auto">
              <a:xfrm>
                <a:off x="4079" y="5239"/>
                <a:ext cx="81" cy="81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30" name="Oval 83"/>
              <p:cNvSpPr>
                <a:spLocks noChangeArrowheads="1"/>
              </p:cNvSpPr>
              <p:nvPr/>
            </p:nvSpPr>
            <p:spPr bwMode="auto">
              <a:xfrm>
                <a:off x="4076" y="5404"/>
                <a:ext cx="81" cy="85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31" name="Oval 84"/>
              <p:cNvSpPr>
                <a:spLocks noChangeArrowheads="1"/>
              </p:cNvSpPr>
              <p:nvPr/>
            </p:nvSpPr>
            <p:spPr bwMode="auto">
              <a:xfrm>
                <a:off x="4505" y="5338"/>
                <a:ext cx="81" cy="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grpSp>
            <p:nvGrpSpPr>
              <p:cNvPr id="4" name="Group 85"/>
              <p:cNvGrpSpPr>
                <a:grpSpLocks/>
              </p:cNvGrpSpPr>
              <p:nvPr/>
            </p:nvGrpSpPr>
            <p:grpSpPr bwMode="auto">
              <a:xfrm>
                <a:off x="4334" y="5201"/>
                <a:ext cx="174" cy="325"/>
                <a:chOff x="0" y="0"/>
                <a:chExt cx="20000" cy="20000"/>
              </a:xfrm>
            </p:grpSpPr>
            <p:sp>
              <p:nvSpPr>
                <p:cNvPr id="10365" name="Arc 86"/>
                <p:cNvSpPr>
                  <a:spLocks/>
                </p:cNvSpPr>
                <p:nvPr/>
              </p:nvSpPr>
              <p:spPr bwMode="auto">
                <a:xfrm flipV="1">
                  <a:off x="0" y="9961"/>
                  <a:ext cx="20000" cy="10039"/>
                </a:xfrm>
                <a:custGeom>
                  <a:avLst/>
                  <a:gdLst>
                    <a:gd name="T0" fmla="*/ 0 w 21600"/>
                    <a:gd name="T1" fmla="*/ 0 h 21600"/>
                    <a:gd name="T2" fmla="*/ 11670 w 21600"/>
                    <a:gd name="T3" fmla="*/ 47 h 21600"/>
                    <a:gd name="T4" fmla="*/ 0 w 21600"/>
                    <a:gd name="T5" fmla="*/ 47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66" name="Arc 87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10039"/>
                </a:xfrm>
                <a:custGeom>
                  <a:avLst/>
                  <a:gdLst>
                    <a:gd name="T0" fmla="*/ 0 w 21600"/>
                    <a:gd name="T1" fmla="*/ 0 h 21600"/>
                    <a:gd name="T2" fmla="*/ 11670 w 21600"/>
                    <a:gd name="T3" fmla="*/ 47 h 21600"/>
                    <a:gd name="T4" fmla="*/ 0 w 21600"/>
                    <a:gd name="T5" fmla="*/ 47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333" name="Freeform 88"/>
              <p:cNvSpPr>
                <a:spLocks/>
              </p:cNvSpPr>
              <p:nvPr/>
            </p:nvSpPr>
            <p:spPr bwMode="auto">
              <a:xfrm>
                <a:off x="4165" y="5201"/>
                <a:ext cx="162" cy="3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854" y="0"/>
                    </a:moveTo>
                    <a:lnTo>
                      <a:pt x="0" y="0"/>
                    </a:lnTo>
                    <a:lnTo>
                      <a:pt x="0" y="19925"/>
                    </a:lnTo>
                    <a:lnTo>
                      <a:pt x="19854" y="1992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4" name="Oval 89"/>
              <p:cNvSpPr>
                <a:spLocks noChangeArrowheads="1"/>
              </p:cNvSpPr>
              <p:nvPr/>
            </p:nvSpPr>
            <p:spPr bwMode="auto">
              <a:xfrm>
                <a:off x="4075" y="5680"/>
                <a:ext cx="81" cy="8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35" name="Oval 90"/>
              <p:cNvSpPr>
                <a:spLocks noChangeArrowheads="1"/>
              </p:cNvSpPr>
              <p:nvPr/>
            </p:nvSpPr>
            <p:spPr bwMode="auto">
              <a:xfrm>
                <a:off x="4075" y="5846"/>
                <a:ext cx="81" cy="81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36" name="Oval 91"/>
              <p:cNvSpPr>
                <a:spLocks noChangeArrowheads="1"/>
              </p:cNvSpPr>
              <p:nvPr/>
            </p:nvSpPr>
            <p:spPr bwMode="auto">
              <a:xfrm>
                <a:off x="4504" y="5768"/>
                <a:ext cx="81" cy="8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grpSp>
            <p:nvGrpSpPr>
              <p:cNvPr id="5" name="Group 92"/>
              <p:cNvGrpSpPr>
                <a:grpSpLocks/>
              </p:cNvGrpSpPr>
              <p:nvPr/>
            </p:nvGrpSpPr>
            <p:grpSpPr bwMode="auto">
              <a:xfrm>
                <a:off x="4331" y="5643"/>
                <a:ext cx="175" cy="322"/>
                <a:chOff x="0" y="0"/>
                <a:chExt cx="20000" cy="20000"/>
              </a:xfrm>
            </p:grpSpPr>
            <p:sp>
              <p:nvSpPr>
                <p:cNvPr id="10363" name="Arc 93"/>
                <p:cNvSpPr>
                  <a:spLocks/>
                </p:cNvSpPr>
                <p:nvPr/>
              </p:nvSpPr>
              <p:spPr bwMode="auto">
                <a:xfrm flipV="1">
                  <a:off x="0" y="9961"/>
                  <a:ext cx="20000" cy="10039"/>
                </a:xfrm>
                <a:custGeom>
                  <a:avLst/>
                  <a:gdLst>
                    <a:gd name="T0" fmla="*/ 0 w 21600"/>
                    <a:gd name="T1" fmla="*/ 0 h 21600"/>
                    <a:gd name="T2" fmla="*/ 11670 w 21600"/>
                    <a:gd name="T3" fmla="*/ 47 h 21600"/>
                    <a:gd name="T4" fmla="*/ 0 w 21600"/>
                    <a:gd name="T5" fmla="*/ 47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64" name="Arc 94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10039"/>
                </a:xfrm>
                <a:custGeom>
                  <a:avLst/>
                  <a:gdLst>
                    <a:gd name="T0" fmla="*/ 0 w 21600"/>
                    <a:gd name="T1" fmla="*/ 0 h 21600"/>
                    <a:gd name="T2" fmla="*/ 11670 w 21600"/>
                    <a:gd name="T3" fmla="*/ 47 h 21600"/>
                    <a:gd name="T4" fmla="*/ 0 w 21600"/>
                    <a:gd name="T5" fmla="*/ 47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338" name="Freeform 95"/>
              <p:cNvSpPr>
                <a:spLocks/>
              </p:cNvSpPr>
              <p:nvPr/>
            </p:nvSpPr>
            <p:spPr bwMode="auto">
              <a:xfrm>
                <a:off x="4162" y="5643"/>
                <a:ext cx="163" cy="32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854" y="0"/>
                    </a:moveTo>
                    <a:lnTo>
                      <a:pt x="0" y="0"/>
                    </a:lnTo>
                    <a:lnTo>
                      <a:pt x="0" y="19925"/>
                    </a:lnTo>
                    <a:lnTo>
                      <a:pt x="19854" y="1992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9" name="Freeform 96"/>
              <p:cNvSpPr>
                <a:spLocks/>
              </p:cNvSpPr>
              <p:nvPr/>
            </p:nvSpPr>
            <p:spPr bwMode="auto">
              <a:xfrm>
                <a:off x="5469" y="6982"/>
                <a:ext cx="122" cy="66"/>
              </a:xfrm>
              <a:custGeom>
                <a:avLst/>
                <a:gdLst>
                  <a:gd name="T0" fmla="*/ 0 w 420"/>
                  <a:gd name="T1" fmla="*/ 0 h 285"/>
                  <a:gd name="T2" fmla="*/ 0 w 420"/>
                  <a:gd name="T3" fmla="*/ 0 h 285"/>
                  <a:gd name="T4" fmla="*/ 0 w 420"/>
                  <a:gd name="T5" fmla="*/ 0 h 285"/>
                  <a:gd name="T6" fmla="*/ 0 60000 65536"/>
                  <a:gd name="T7" fmla="*/ 0 60000 65536"/>
                  <a:gd name="T8" fmla="*/ 0 60000 65536"/>
                  <a:gd name="T9" fmla="*/ 0 w 420"/>
                  <a:gd name="T10" fmla="*/ 0 h 285"/>
                  <a:gd name="T11" fmla="*/ 420 w 420"/>
                  <a:gd name="T12" fmla="*/ 285 h 2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" h="285">
                    <a:moveTo>
                      <a:pt x="0" y="0"/>
                    </a:moveTo>
                    <a:lnTo>
                      <a:pt x="210" y="285"/>
                    </a:lnTo>
                    <a:lnTo>
                      <a:pt x="420" y="0"/>
                    </a:lnTo>
                  </a:path>
                </a:pathLst>
              </a:custGeom>
              <a:noFill/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0" name="Rectangle 97"/>
              <p:cNvSpPr>
                <a:spLocks noChangeArrowheads="1"/>
              </p:cNvSpPr>
              <p:nvPr/>
            </p:nvSpPr>
            <p:spPr bwMode="auto">
              <a:xfrm>
                <a:off x="7171" y="5599"/>
                <a:ext cx="554" cy="29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lIns="12700" tIns="12700" rIns="12700" bIns="12700"/>
              <a:lstStyle/>
              <a:p>
                <a:pPr algn="ctr" eaLnBrk="1" hangingPunct="1"/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6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41" name="Freeform 98"/>
              <p:cNvSpPr>
                <a:spLocks/>
              </p:cNvSpPr>
              <p:nvPr/>
            </p:nvSpPr>
            <p:spPr bwMode="auto">
              <a:xfrm rot="-2474436">
                <a:off x="7000" y="6919"/>
                <a:ext cx="29" cy="183"/>
              </a:xfrm>
              <a:custGeom>
                <a:avLst/>
                <a:gdLst>
                  <a:gd name="T0" fmla="*/ 70 w 25"/>
                  <a:gd name="T1" fmla="*/ 628 h 149"/>
                  <a:gd name="T2" fmla="*/ 0 w 25"/>
                  <a:gd name="T3" fmla="*/ 0 h 149"/>
                  <a:gd name="T4" fmla="*/ 0 60000 65536"/>
                  <a:gd name="T5" fmla="*/ 0 60000 65536"/>
                  <a:gd name="T6" fmla="*/ 0 w 25"/>
                  <a:gd name="T7" fmla="*/ 0 h 149"/>
                  <a:gd name="T8" fmla="*/ 25 w 25"/>
                  <a:gd name="T9" fmla="*/ 149 h 1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" h="149">
                    <a:moveTo>
                      <a:pt x="25" y="14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2" name="Rectangle 99"/>
              <p:cNvSpPr>
                <a:spLocks noChangeArrowheads="1"/>
              </p:cNvSpPr>
              <p:nvPr/>
            </p:nvSpPr>
            <p:spPr bwMode="auto">
              <a:xfrm>
                <a:off x="6070" y="5141"/>
                <a:ext cx="108" cy="22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43" name="Rectangle 100"/>
              <p:cNvSpPr>
                <a:spLocks noChangeArrowheads="1"/>
              </p:cNvSpPr>
              <p:nvPr/>
            </p:nvSpPr>
            <p:spPr bwMode="auto">
              <a:xfrm>
                <a:off x="6337" y="5141"/>
                <a:ext cx="107" cy="22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44" name="Rectangle 101"/>
              <p:cNvSpPr>
                <a:spLocks noChangeArrowheads="1"/>
              </p:cNvSpPr>
              <p:nvPr/>
            </p:nvSpPr>
            <p:spPr bwMode="auto">
              <a:xfrm>
                <a:off x="6712" y="5141"/>
                <a:ext cx="109" cy="22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45" name="Oval 102"/>
              <p:cNvSpPr>
                <a:spLocks noChangeArrowheads="1"/>
              </p:cNvSpPr>
              <p:nvPr/>
            </p:nvSpPr>
            <p:spPr bwMode="auto">
              <a:xfrm>
                <a:off x="7115" y="6448"/>
                <a:ext cx="80" cy="8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46" name="Freeform 103"/>
              <p:cNvSpPr>
                <a:spLocks/>
              </p:cNvSpPr>
              <p:nvPr/>
            </p:nvSpPr>
            <p:spPr bwMode="auto">
              <a:xfrm rot="-2474436">
                <a:off x="6874" y="6959"/>
                <a:ext cx="30" cy="183"/>
              </a:xfrm>
              <a:custGeom>
                <a:avLst/>
                <a:gdLst>
                  <a:gd name="T0" fmla="*/ 89 w 25"/>
                  <a:gd name="T1" fmla="*/ 628 h 149"/>
                  <a:gd name="T2" fmla="*/ 0 w 25"/>
                  <a:gd name="T3" fmla="*/ 0 h 149"/>
                  <a:gd name="T4" fmla="*/ 0 60000 65536"/>
                  <a:gd name="T5" fmla="*/ 0 60000 65536"/>
                  <a:gd name="T6" fmla="*/ 0 w 25"/>
                  <a:gd name="T7" fmla="*/ 0 h 149"/>
                  <a:gd name="T8" fmla="*/ 25 w 25"/>
                  <a:gd name="T9" fmla="*/ 149 h 1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" h="149">
                    <a:moveTo>
                      <a:pt x="25" y="14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7" name="Freeform 104"/>
              <p:cNvSpPr>
                <a:spLocks/>
              </p:cNvSpPr>
              <p:nvPr/>
            </p:nvSpPr>
            <p:spPr bwMode="auto">
              <a:xfrm rot="-2474436">
                <a:off x="7000" y="7304"/>
                <a:ext cx="29" cy="183"/>
              </a:xfrm>
              <a:custGeom>
                <a:avLst/>
                <a:gdLst>
                  <a:gd name="T0" fmla="*/ 70 w 25"/>
                  <a:gd name="T1" fmla="*/ 628 h 149"/>
                  <a:gd name="T2" fmla="*/ 0 w 25"/>
                  <a:gd name="T3" fmla="*/ 0 h 149"/>
                  <a:gd name="T4" fmla="*/ 0 60000 65536"/>
                  <a:gd name="T5" fmla="*/ 0 60000 65536"/>
                  <a:gd name="T6" fmla="*/ 0 w 25"/>
                  <a:gd name="T7" fmla="*/ 0 h 149"/>
                  <a:gd name="T8" fmla="*/ 25 w 25"/>
                  <a:gd name="T9" fmla="*/ 149 h 1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" h="149">
                    <a:moveTo>
                      <a:pt x="25" y="14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8" name="Freeform 105"/>
              <p:cNvSpPr>
                <a:spLocks/>
              </p:cNvSpPr>
              <p:nvPr/>
            </p:nvSpPr>
            <p:spPr bwMode="auto">
              <a:xfrm rot="-2474436">
                <a:off x="6873" y="7343"/>
                <a:ext cx="30" cy="183"/>
              </a:xfrm>
              <a:custGeom>
                <a:avLst/>
                <a:gdLst>
                  <a:gd name="T0" fmla="*/ 89 w 25"/>
                  <a:gd name="T1" fmla="*/ 628 h 149"/>
                  <a:gd name="T2" fmla="*/ 0 w 25"/>
                  <a:gd name="T3" fmla="*/ 0 h 149"/>
                  <a:gd name="T4" fmla="*/ 0 60000 65536"/>
                  <a:gd name="T5" fmla="*/ 0 60000 65536"/>
                  <a:gd name="T6" fmla="*/ 0 w 25"/>
                  <a:gd name="T7" fmla="*/ 0 h 149"/>
                  <a:gd name="T8" fmla="*/ 25 w 25"/>
                  <a:gd name="T9" fmla="*/ 149 h 1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" h="149">
                    <a:moveTo>
                      <a:pt x="25" y="14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" name="Freeform 106"/>
              <p:cNvSpPr>
                <a:spLocks/>
              </p:cNvSpPr>
              <p:nvPr/>
            </p:nvSpPr>
            <p:spPr bwMode="auto">
              <a:xfrm rot="19125564">
                <a:off x="7024" y="7818"/>
                <a:ext cx="29" cy="183"/>
              </a:xfrm>
              <a:custGeom>
                <a:avLst/>
                <a:gdLst>
                  <a:gd name="T0" fmla="*/ 70 w 25"/>
                  <a:gd name="T1" fmla="*/ 628 h 149"/>
                  <a:gd name="T2" fmla="*/ 0 w 25"/>
                  <a:gd name="T3" fmla="*/ 0 h 149"/>
                  <a:gd name="T4" fmla="*/ 0 60000 65536"/>
                  <a:gd name="T5" fmla="*/ 0 60000 65536"/>
                  <a:gd name="T6" fmla="*/ 0 w 25"/>
                  <a:gd name="T7" fmla="*/ 0 h 149"/>
                  <a:gd name="T8" fmla="*/ 25 w 25"/>
                  <a:gd name="T9" fmla="*/ 149 h 1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" h="149">
                    <a:moveTo>
                      <a:pt x="25" y="14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" name="Freeform 107"/>
              <p:cNvSpPr>
                <a:spLocks/>
              </p:cNvSpPr>
              <p:nvPr/>
            </p:nvSpPr>
            <p:spPr bwMode="auto">
              <a:xfrm rot="19125564">
                <a:off x="6921" y="7886"/>
                <a:ext cx="30" cy="183"/>
              </a:xfrm>
              <a:custGeom>
                <a:avLst/>
                <a:gdLst>
                  <a:gd name="T0" fmla="*/ 89 w 25"/>
                  <a:gd name="T1" fmla="*/ 628 h 149"/>
                  <a:gd name="T2" fmla="*/ 0 w 25"/>
                  <a:gd name="T3" fmla="*/ 0 h 149"/>
                  <a:gd name="T4" fmla="*/ 0 60000 65536"/>
                  <a:gd name="T5" fmla="*/ 0 60000 65536"/>
                  <a:gd name="T6" fmla="*/ 0 w 25"/>
                  <a:gd name="T7" fmla="*/ 0 h 149"/>
                  <a:gd name="T8" fmla="*/ 25 w 25"/>
                  <a:gd name="T9" fmla="*/ 149 h 1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" h="149">
                    <a:moveTo>
                      <a:pt x="25" y="14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" name="Rectangle 108"/>
              <p:cNvSpPr>
                <a:spLocks noChangeArrowheads="1"/>
              </p:cNvSpPr>
              <p:nvPr/>
            </p:nvSpPr>
            <p:spPr bwMode="auto">
              <a:xfrm>
                <a:off x="6850" y="8013"/>
                <a:ext cx="41" cy="210"/>
              </a:xfrm>
              <a:prstGeom prst="rect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2" name="Rectangle 109"/>
              <p:cNvSpPr>
                <a:spLocks noChangeArrowheads="1"/>
              </p:cNvSpPr>
              <p:nvPr/>
            </p:nvSpPr>
            <p:spPr bwMode="auto">
              <a:xfrm>
                <a:off x="6850" y="7137"/>
                <a:ext cx="41" cy="208"/>
              </a:xfrm>
              <a:prstGeom prst="rect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3" name="Rectangle 110"/>
              <p:cNvSpPr>
                <a:spLocks noChangeArrowheads="1"/>
              </p:cNvSpPr>
              <p:nvPr/>
            </p:nvSpPr>
            <p:spPr bwMode="auto">
              <a:xfrm>
                <a:off x="6850" y="7489"/>
                <a:ext cx="41" cy="210"/>
              </a:xfrm>
              <a:prstGeom prst="rect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4" name="Rectangle 111"/>
              <p:cNvSpPr>
                <a:spLocks noChangeArrowheads="1"/>
              </p:cNvSpPr>
              <p:nvPr/>
            </p:nvSpPr>
            <p:spPr bwMode="auto">
              <a:xfrm>
                <a:off x="7262" y="7175"/>
                <a:ext cx="232" cy="111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5" name="Rectangle 112"/>
              <p:cNvSpPr>
                <a:spLocks noChangeArrowheads="1"/>
              </p:cNvSpPr>
              <p:nvPr/>
            </p:nvSpPr>
            <p:spPr bwMode="auto">
              <a:xfrm>
                <a:off x="7262" y="7545"/>
                <a:ext cx="232" cy="1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6" name="Rectangle 113"/>
              <p:cNvSpPr>
                <a:spLocks noChangeArrowheads="1"/>
              </p:cNvSpPr>
              <p:nvPr/>
            </p:nvSpPr>
            <p:spPr bwMode="auto">
              <a:xfrm>
                <a:off x="7262" y="8030"/>
                <a:ext cx="232" cy="1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7" name="Oval 114"/>
              <p:cNvSpPr>
                <a:spLocks noChangeArrowheads="1"/>
              </p:cNvSpPr>
              <p:nvPr/>
            </p:nvSpPr>
            <p:spPr bwMode="auto">
              <a:xfrm>
                <a:off x="7302" y="5523"/>
                <a:ext cx="82" cy="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8" name="Oval 115"/>
              <p:cNvSpPr>
                <a:spLocks noChangeArrowheads="1"/>
              </p:cNvSpPr>
              <p:nvPr/>
            </p:nvSpPr>
            <p:spPr bwMode="auto">
              <a:xfrm>
                <a:off x="7302" y="5821"/>
                <a:ext cx="82" cy="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59" name="Oval 116"/>
              <p:cNvSpPr>
                <a:spLocks noChangeArrowheads="1"/>
              </p:cNvSpPr>
              <p:nvPr/>
            </p:nvSpPr>
            <p:spPr bwMode="auto">
              <a:xfrm>
                <a:off x="7319" y="6448"/>
                <a:ext cx="81" cy="8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360" name="Line 117"/>
              <p:cNvSpPr>
                <a:spLocks noChangeShapeType="1"/>
              </p:cNvSpPr>
              <p:nvPr/>
            </p:nvSpPr>
            <p:spPr bwMode="auto">
              <a:xfrm>
                <a:off x="4576" y="5382"/>
                <a:ext cx="560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1" name="Freeform 118"/>
              <p:cNvSpPr>
                <a:spLocks/>
              </p:cNvSpPr>
              <p:nvPr/>
            </p:nvSpPr>
            <p:spPr bwMode="auto">
              <a:xfrm>
                <a:off x="4950" y="5382"/>
                <a:ext cx="181" cy="314"/>
              </a:xfrm>
              <a:custGeom>
                <a:avLst/>
                <a:gdLst>
                  <a:gd name="T0" fmla="*/ 293 w 167"/>
                  <a:gd name="T1" fmla="*/ 16 h 516"/>
                  <a:gd name="T2" fmla="*/ 0 w 167"/>
                  <a:gd name="T3" fmla="*/ 16 h 516"/>
                  <a:gd name="T4" fmla="*/ 5 w 167"/>
                  <a:gd name="T5" fmla="*/ 0 h 516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516"/>
                  <a:gd name="T11" fmla="*/ 167 w 167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516">
                    <a:moveTo>
                      <a:pt x="167" y="512"/>
                    </a:moveTo>
                    <a:lnTo>
                      <a:pt x="0" y="516"/>
                    </a:lnTo>
                    <a:lnTo>
                      <a:pt x="5" y="0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2" name="Oval 119"/>
              <p:cNvSpPr>
                <a:spLocks noChangeArrowheads="1"/>
              </p:cNvSpPr>
              <p:nvPr/>
            </p:nvSpPr>
            <p:spPr bwMode="auto">
              <a:xfrm>
                <a:off x="4933" y="5365"/>
                <a:ext cx="53" cy="52"/>
              </a:xfrm>
              <a:prstGeom prst="ellipse">
                <a:avLst/>
              </a:pr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10244" name="文本框 2"/>
          <p:cNvSpPr txBox="1">
            <a:spLocks noChangeArrowheads="1"/>
          </p:cNvSpPr>
          <p:nvPr/>
        </p:nvSpPr>
        <p:spPr bwMode="auto">
          <a:xfrm>
            <a:off x="8974876" y="2644988"/>
            <a:ext cx="2683933" cy="132343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开关电路：</a:t>
            </a:r>
            <a:endParaRPr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若开关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闭合，则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74LS244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的输入为低电平</a:t>
            </a:r>
          </a:p>
        </p:txBody>
      </p:sp>
      <p:sp>
        <p:nvSpPr>
          <p:cNvPr id="10245" name="文本框 120"/>
          <p:cNvSpPr txBox="1">
            <a:spLocks noChangeArrowheads="1"/>
          </p:cNvSpPr>
          <p:nvPr/>
        </p:nvSpPr>
        <p:spPr bwMode="auto">
          <a:xfrm>
            <a:off x="8967984" y="4409202"/>
            <a:ext cx="2684981" cy="132343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发光二极管电路：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为低电平，则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经锁存器输出，使得发光二极管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</a:t>
            </a:r>
          </a:p>
        </p:txBody>
      </p:sp>
      <p:sp>
        <p:nvSpPr>
          <p:cNvPr id="10246" name="文本框 3"/>
          <p:cNvSpPr txBox="1">
            <a:spLocks noChangeArrowheads="1"/>
          </p:cNvSpPr>
          <p:nvPr/>
        </p:nvSpPr>
        <p:spPr bwMode="auto">
          <a:xfrm>
            <a:off x="4904318" y="1492250"/>
            <a:ext cx="1210588" cy="40011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输入端口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5683251" y="1946275"/>
            <a:ext cx="0" cy="3762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8" name="文本框 128"/>
          <p:cNvSpPr txBox="1">
            <a:spLocks noChangeArrowheads="1"/>
          </p:cNvSpPr>
          <p:nvPr/>
        </p:nvSpPr>
        <p:spPr bwMode="auto">
          <a:xfrm>
            <a:off x="4998478" y="6183791"/>
            <a:ext cx="1210588" cy="40011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输出端口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5673695" y="5713891"/>
            <a:ext cx="0" cy="3333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0" name="文本框 131"/>
          <p:cNvSpPr txBox="1">
            <a:spLocks noChangeArrowheads="1"/>
          </p:cNvSpPr>
          <p:nvPr/>
        </p:nvSpPr>
        <p:spPr bwMode="auto">
          <a:xfrm>
            <a:off x="537633" y="2247900"/>
            <a:ext cx="1723549" cy="40011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端口地址选择</a:t>
            </a:r>
          </a:p>
        </p:txBody>
      </p:sp>
      <p:sp>
        <p:nvSpPr>
          <p:cNvPr id="10251" name="文本框 132"/>
          <p:cNvSpPr txBox="1">
            <a:spLocks noChangeArrowheads="1"/>
          </p:cNvSpPr>
          <p:nvPr/>
        </p:nvSpPr>
        <p:spPr bwMode="auto">
          <a:xfrm>
            <a:off x="1018117" y="4251325"/>
            <a:ext cx="954107" cy="40011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数据线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667251" y="4057288"/>
            <a:ext cx="101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endCxn id="10313" idx="0"/>
          </p:cNvCxnSpPr>
          <p:nvPr/>
        </p:nvCxnSpPr>
        <p:spPr>
          <a:xfrm>
            <a:off x="5683251" y="4057288"/>
            <a:ext cx="9828" cy="1815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2"/>
          <p:cNvSpPr txBox="1">
            <a:spLocks noChangeArrowheads="1"/>
          </p:cNvSpPr>
          <p:nvPr/>
        </p:nvSpPr>
        <p:spPr bwMode="auto">
          <a:xfrm>
            <a:off x="6682133" y="3186992"/>
            <a:ext cx="646331" cy="369332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6366391" y="3371658"/>
            <a:ext cx="2853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2"/>
          <p:cNvSpPr txBox="1">
            <a:spLocks noChangeArrowheads="1"/>
          </p:cNvSpPr>
          <p:nvPr/>
        </p:nvSpPr>
        <p:spPr bwMode="auto">
          <a:xfrm>
            <a:off x="6551723" y="4954518"/>
            <a:ext cx="646331" cy="369332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329866" y="5163008"/>
            <a:ext cx="27566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97509" y="325160"/>
            <a:ext cx="5974331" cy="584541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查询式传送控制方式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Freeform 5"/>
          <p:cNvSpPr>
            <a:spLocks/>
          </p:cNvSpPr>
          <p:nvPr/>
        </p:nvSpPr>
        <p:spPr bwMode="auto">
          <a:xfrm>
            <a:off x="1186989" y="1413566"/>
            <a:ext cx="304681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186989" y="1892805"/>
            <a:ext cx="304681" cy="3829143"/>
          </a:xfrm>
          <a:custGeom>
            <a:avLst/>
            <a:gdLst>
              <a:gd name="T0" fmla="*/ 175 w 351"/>
              <a:gd name="T1" fmla="*/ 0 h 4397"/>
              <a:gd name="T2" fmla="*/ 175 w 351"/>
              <a:gd name="T3" fmla="*/ 0 h 4397"/>
              <a:gd name="T4" fmla="*/ 351 w 351"/>
              <a:gd name="T5" fmla="*/ 143 h 4397"/>
              <a:gd name="T6" fmla="*/ 351 w 351"/>
              <a:gd name="T7" fmla="*/ 4254 h 4397"/>
              <a:gd name="T8" fmla="*/ 175 w 351"/>
              <a:gd name="T9" fmla="*/ 4397 h 4397"/>
              <a:gd name="T10" fmla="*/ 175 w 351"/>
              <a:gd name="T11" fmla="*/ 4397 h 4397"/>
              <a:gd name="T12" fmla="*/ 0 w 351"/>
              <a:gd name="T13" fmla="*/ 4254 h 4397"/>
              <a:gd name="T14" fmla="*/ 0 w 351"/>
              <a:gd name="T15" fmla="*/ 143 h 4397"/>
              <a:gd name="T16" fmla="*/ 175 w 351"/>
              <a:gd name="T17" fmla="*/ 0 h 4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397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4"/>
                  <a:pt x="351" y="143"/>
                </a:cubicBezTo>
                <a:lnTo>
                  <a:pt x="351" y="4254"/>
                </a:lnTo>
                <a:cubicBezTo>
                  <a:pt x="351" y="4332"/>
                  <a:pt x="272" y="4397"/>
                  <a:pt x="175" y="4397"/>
                </a:cubicBezTo>
                <a:lnTo>
                  <a:pt x="175" y="4397"/>
                </a:lnTo>
                <a:cubicBezTo>
                  <a:pt x="79" y="4397"/>
                  <a:pt x="0" y="4332"/>
                  <a:pt x="0" y="4254"/>
                </a:cubicBezTo>
                <a:lnTo>
                  <a:pt x="0" y="143"/>
                </a:lnTo>
                <a:cubicBezTo>
                  <a:pt x="0" y="64"/>
                  <a:pt x="79" y="0"/>
                  <a:pt x="175" y="0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1056865" y="5353789"/>
            <a:ext cx="585559" cy="585559"/>
          </a:xfrm>
          <a:prstGeom prst="ellipse">
            <a:avLst/>
          </a:pr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2361453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2361453" y="2389499"/>
            <a:ext cx="306268" cy="3332449"/>
          </a:xfrm>
          <a:custGeom>
            <a:avLst/>
            <a:gdLst>
              <a:gd name="T0" fmla="*/ 175 w 351"/>
              <a:gd name="T1" fmla="*/ 0 h 3828"/>
              <a:gd name="T2" fmla="*/ 175 w 351"/>
              <a:gd name="T3" fmla="*/ 0 h 3828"/>
              <a:gd name="T4" fmla="*/ 351 w 351"/>
              <a:gd name="T5" fmla="*/ 124 h 3828"/>
              <a:gd name="T6" fmla="*/ 351 w 351"/>
              <a:gd name="T7" fmla="*/ 3703 h 3828"/>
              <a:gd name="T8" fmla="*/ 175 w 351"/>
              <a:gd name="T9" fmla="*/ 3828 h 3828"/>
              <a:gd name="T10" fmla="*/ 175 w 351"/>
              <a:gd name="T11" fmla="*/ 3828 h 3828"/>
              <a:gd name="T12" fmla="*/ 0 w 351"/>
              <a:gd name="T13" fmla="*/ 3703 h 3828"/>
              <a:gd name="T14" fmla="*/ 0 w 351"/>
              <a:gd name="T15" fmla="*/ 124 h 3828"/>
              <a:gd name="T16" fmla="*/ 175 w 351"/>
              <a:gd name="T17" fmla="*/ 0 h 3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82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56"/>
                  <a:pt x="351" y="124"/>
                </a:cubicBezTo>
                <a:lnTo>
                  <a:pt x="351" y="3703"/>
                </a:lnTo>
                <a:cubicBezTo>
                  <a:pt x="351" y="3772"/>
                  <a:pt x="272" y="3828"/>
                  <a:pt x="175" y="3828"/>
                </a:cubicBezTo>
                <a:lnTo>
                  <a:pt x="175" y="3828"/>
                </a:lnTo>
                <a:cubicBezTo>
                  <a:pt x="79" y="3828"/>
                  <a:pt x="0" y="3772"/>
                  <a:pt x="0" y="3703"/>
                </a:cubicBezTo>
                <a:lnTo>
                  <a:pt x="0" y="124"/>
                </a:lnTo>
                <a:cubicBezTo>
                  <a:pt x="0" y="56"/>
                  <a:pt x="79" y="0"/>
                  <a:pt x="175" y="0"/>
                </a:cubicBezTo>
                <a:close/>
              </a:path>
            </a:pathLst>
          </a:cu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2231329" y="5353789"/>
            <a:ext cx="585559" cy="585559"/>
          </a:xfrm>
          <a:prstGeom prst="ellipse">
            <a:avLst/>
          </a:pr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3461731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3461731" y="1591295"/>
            <a:ext cx="306268" cy="4130649"/>
          </a:xfrm>
          <a:custGeom>
            <a:avLst/>
            <a:gdLst>
              <a:gd name="T0" fmla="*/ 175 w 351"/>
              <a:gd name="T1" fmla="*/ 0 h 4744"/>
              <a:gd name="T2" fmla="*/ 175 w 351"/>
              <a:gd name="T3" fmla="*/ 0 h 4744"/>
              <a:gd name="T4" fmla="*/ 351 w 351"/>
              <a:gd name="T5" fmla="*/ 154 h 4744"/>
              <a:gd name="T6" fmla="*/ 351 w 351"/>
              <a:gd name="T7" fmla="*/ 4589 h 4744"/>
              <a:gd name="T8" fmla="*/ 175 w 351"/>
              <a:gd name="T9" fmla="*/ 4744 h 4744"/>
              <a:gd name="T10" fmla="*/ 175 w 351"/>
              <a:gd name="T11" fmla="*/ 4744 h 4744"/>
              <a:gd name="T12" fmla="*/ 0 w 351"/>
              <a:gd name="T13" fmla="*/ 4589 h 4744"/>
              <a:gd name="T14" fmla="*/ 0 w 351"/>
              <a:gd name="T15" fmla="*/ 154 h 4744"/>
              <a:gd name="T16" fmla="*/ 175 w 351"/>
              <a:gd name="T17" fmla="*/ 0 h 4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744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9"/>
                  <a:pt x="351" y="154"/>
                </a:cubicBezTo>
                <a:lnTo>
                  <a:pt x="351" y="4589"/>
                </a:lnTo>
                <a:cubicBezTo>
                  <a:pt x="351" y="4674"/>
                  <a:pt x="272" y="4744"/>
                  <a:pt x="175" y="4744"/>
                </a:cubicBezTo>
                <a:lnTo>
                  <a:pt x="175" y="4744"/>
                </a:lnTo>
                <a:cubicBezTo>
                  <a:pt x="79" y="4744"/>
                  <a:pt x="0" y="4674"/>
                  <a:pt x="0" y="4589"/>
                </a:cubicBezTo>
                <a:lnTo>
                  <a:pt x="0" y="154"/>
                </a:lnTo>
                <a:cubicBezTo>
                  <a:pt x="0" y="69"/>
                  <a:pt x="79" y="0"/>
                  <a:pt x="175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3331607" y="5353789"/>
            <a:ext cx="585559" cy="5855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Freeform 14"/>
          <p:cNvSpPr>
            <a:spLocks/>
          </p:cNvSpPr>
          <p:nvPr/>
        </p:nvSpPr>
        <p:spPr bwMode="auto">
          <a:xfrm>
            <a:off x="4703241" y="1413566"/>
            <a:ext cx="306268" cy="4308380"/>
          </a:xfrm>
          <a:custGeom>
            <a:avLst/>
            <a:gdLst>
              <a:gd name="T0" fmla="*/ 176 w 352"/>
              <a:gd name="T1" fmla="*/ 0 h 4948"/>
              <a:gd name="T2" fmla="*/ 176 w 352"/>
              <a:gd name="T3" fmla="*/ 0 h 4948"/>
              <a:gd name="T4" fmla="*/ 352 w 352"/>
              <a:gd name="T5" fmla="*/ 176 h 4948"/>
              <a:gd name="T6" fmla="*/ 352 w 352"/>
              <a:gd name="T7" fmla="*/ 4772 h 4948"/>
              <a:gd name="T8" fmla="*/ 176 w 352"/>
              <a:gd name="T9" fmla="*/ 4948 h 4948"/>
              <a:gd name="T10" fmla="*/ 176 w 352"/>
              <a:gd name="T11" fmla="*/ 4948 h 4948"/>
              <a:gd name="T12" fmla="*/ 0 w 352"/>
              <a:gd name="T13" fmla="*/ 4772 h 4948"/>
              <a:gd name="T14" fmla="*/ 0 w 352"/>
              <a:gd name="T15" fmla="*/ 176 h 4948"/>
              <a:gd name="T16" fmla="*/ 176 w 352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948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79"/>
                  <a:pt x="352" y="176"/>
                </a:cubicBezTo>
                <a:lnTo>
                  <a:pt x="352" y="4772"/>
                </a:lnTo>
                <a:cubicBezTo>
                  <a:pt x="352" y="4869"/>
                  <a:pt x="273" y="4948"/>
                  <a:pt x="176" y="4948"/>
                </a:cubicBezTo>
                <a:lnTo>
                  <a:pt x="176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6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8" name="Freeform 15"/>
          <p:cNvSpPr>
            <a:spLocks/>
          </p:cNvSpPr>
          <p:nvPr/>
        </p:nvSpPr>
        <p:spPr bwMode="auto">
          <a:xfrm>
            <a:off x="4703241" y="2061387"/>
            <a:ext cx="306268" cy="3660561"/>
          </a:xfrm>
          <a:custGeom>
            <a:avLst/>
            <a:gdLst>
              <a:gd name="T0" fmla="*/ 176 w 352"/>
              <a:gd name="T1" fmla="*/ 0 h 4581"/>
              <a:gd name="T2" fmla="*/ 176 w 352"/>
              <a:gd name="T3" fmla="*/ 0 h 4581"/>
              <a:gd name="T4" fmla="*/ 352 w 352"/>
              <a:gd name="T5" fmla="*/ 149 h 4581"/>
              <a:gd name="T6" fmla="*/ 352 w 352"/>
              <a:gd name="T7" fmla="*/ 4432 h 4581"/>
              <a:gd name="T8" fmla="*/ 176 w 352"/>
              <a:gd name="T9" fmla="*/ 4581 h 4581"/>
              <a:gd name="T10" fmla="*/ 176 w 352"/>
              <a:gd name="T11" fmla="*/ 4581 h 4581"/>
              <a:gd name="T12" fmla="*/ 0 w 352"/>
              <a:gd name="T13" fmla="*/ 4432 h 4581"/>
              <a:gd name="T14" fmla="*/ 0 w 352"/>
              <a:gd name="T15" fmla="*/ 149 h 4581"/>
              <a:gd name="T16" fmla="*/ 176 w 352"/>
              <a:gd name="T17" fmla="*/ 0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581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67"/>
                  <a:pt x="352" y="149"/>
                </a:cubicBezTo>
                <a:lnTo>
                  <a:pt x="352" y="4432"/>
                </a:lnTo>
                <a:cubicBezTo>
                  <a:pt x="352" y="4514"/>
                  <a:pt x="273" y="4581"/>
                  <a:pt x="176" y="4581"/>
                </a:cubicBezTo>
                <a:lnTo>
                  <a:pt x="176" y="4581"/>
                </a:lnTo>
                <a:cubicBezTo>
                  <a:pt x="79" y="4581"/>
                  <a:pt x="0" y="4514"/>
                  <a:pt x="0" y="4432"/>
                </a:cubicBezTo>
                <a:lnTo>
                  <a:pt x="0" y="149"/>
                </a:lnTo>
                <a:cubicBezTo>
                  <a:pt x="0" y="67"/>
                  <a:pt x="79" y="0"/>
                  <a:pt x="1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574706" y="5353789"/>
            <a:ext cx="585559" cy="585559"/>
          </a:xfrm>
          <a:prstGeom prst="ellipse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5" name="矩形 83"/>
          <p:cNvSpPr>
            <a:spLocks noChangeArrowheads="1"/>
          </p:cNvSpPr>
          <p:nvPr/>
        </p:nvSpPr>
        <p:spPr bwMode="auto">
          <a:xfrm>
            <a:off x="6217993" y="1235962"/>
            <a:ext cx="5107491" cy="4981870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6" name="TextBox 84"/>
          <p:cNvSpPr txBox="1">
            <a:spLocks noChangeArrowheads="1"/>
          </p:cNvSpPr>
          <p:nvPr/>
        </p:nvSpPr>
        <p:spPr bwMode="auto">
          <a:xfrm>
            <a:off x="6329247" y="1456038"/>
            <a:ext cx="4917861" cy="440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98" tIns="45699" rIns="91398" bIns="4569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查询式传送控制方式也称为异步传送，它是指当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需要与外部设备交换数据时，首先查询设备的状态，只有在设备准备就绪时才进行数据传输。</a:t>
            </a:r>
            <a:endParaRPr lang="zh-CN" altLang="en-US" sz="2800" b="1" kern="0" dirty="0"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27" name="Freeform 12"/>
          <p:cNvSpPr>
            <a:spLocks/>
          </p:cNvSpPr>
          <p:nvPr/>
        </p:nvSpPr>
        <p:spPr bwMode="auto">
          <a:xfrm>
            <a:off x="6143407" y="1089971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 flipH="1" flipV="1">
            <a:off x="10904816" y="5802770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3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46136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694899"/>
            <a:ext cx="10972800" cy="693738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查询式传送控制流程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912285" y="2205039"/>
            <a:ext cx="10272183" cy="3590925"/>
            <a:chOff x="2231" y="3006"/>
            <a:chExt cx="7169" cy="3360"/>
          </a:xfrm>
        </p:grpSpPr>
        <p:sp>
          <p:nvSpPr>
            <p:cNvPr id="12293" name="AutoShape 5"/>
            <p:cNvSpPr>
              <a:spLocks noChangeAspect="1" noChangeArrowheads="1"/>
            </p:cNvSpPr>
            <p:nvPr/>
          </p:nvSpPr>
          <p:spPr bwMode="auto">
            <a:xfrm>
              <a:off x="2231" y="3006"/>
              <a:ext cx="7169" cy="3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12294" name="AutoShape 6"/>
            <p:cNvSpPr>
              <a:spLocks noChangeArrowheads="1"/>
            </p:cNvSpPr>
            <p:nvPr/>
          </p:nvSpPr>
          <p:spPr bwMode="auto">
            <a:xfrm>
              <a:off x="3534" y="5400"/>
              <a:ext cx="1489" cy="266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输出一个数据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>
              <a:off x="4279" y="3671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6" name="AutoShape 8"/>
            <p:cNvSpPr>
              <a:spLocks noChangeArrowheads="1"/>
            </p:cNvSpPr>
            <p:nvPr/>
          </p:nvSpPr>
          <p:spPr bwMode="auto">
            <a:xfrm>
              <a:off x="3905" y="3405"/>
              <a:ext cx="747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Text Box 9"/>
            <p:cNvSpPr txBox="1">
              <a:spLocks noChangeArrowheads="1"/>
            </p:cNvSpPr>
            <p:nvPr/>
          </p:nvSpPr>
          <p:spPr bwMode="auto">
            <a:xfrm>
              <a:off x="3813" y="3006"/>
              <a:ext cx="1025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查询式输出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AutoShape 10"/>
            <p:cNvSpPr>
              <a:spLocks noChangeArrowheads="1"/>
            </p:cNvSpPr>
            <p:nvPr/>
          </p:nvSpPr>
          <p:spPr bwMode="auto">
            <a:xfrm>
              <a:off x="3908" y="6065"/>
              <a:ext cx="744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4279" y="5666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Text Box 12"/>
            <p:cNvSpPr txBox="1">
              <a:spLocks noChangeArrowheads="1"/>
            </p:cNvSpPr>
            <p:nvPr/>
          </p:nvSpPr>
          <p:spPr bwMode="auto">
            <a:xfrm>
              <a:off x="7446" y="3006"/>
              <a:ext cx="102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查询式输入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AutoShape 13"/>
            <p:cNvSpPr>
              <a:spLocks noChangeArrowheads="1"/>
            </p:cNvSpPr>
            <p:nvPr/>
          </p:nvSpPr>
          <p:spPr bwMode="auto">
            <a:xfrm>
              <a:off x="3534" y="4602"/>
              <a:ext cx="1490" cy="532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Ready?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AutoShape 14"/>
            <p:cNvSpPr>
              <a:spLocks noChangeArrowheads="1"/>
            </p:cNvSpPr>
            <p:nvPr/>
          </p:nvSpPr>
          <p:spPr bwMode="auto">
            <a:xfrm>
              <a:off x="3534" y="4070"/>
              <a:ext cx="1489" cy="266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查询设备状态</a:t>
              </a:r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>
              <a:off x="4279" y="4336"/>
              <a:ext cx="1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>
              <a:off x="4279" y="5134"/>
              <a:ext cx="1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5" name="Line 17"/>
            <p:cNvSpPr>
              <a:spLocks noChangeShapeType="1"/>
            </p:cNvSpPr>
            <p:nvPr/>
          </p:nvSpPr>
          <p:spPr bwMode="auto">
            <a:xfrm flipH="1">
              <a:off x="2883" y="4868"/>
              <a:ext cx="65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18"/>
            <p:cNvSpPr>
              <a:spLocks noChangeShapeType="1"/>
            </p:cNvSpPr>
            <p:nvPr/>
          </p:nvSpPr>
          <p:spPr bwMode="auto">
            <a:xfrm flipV="1">
              <a:off x="2883" y="3804"/>
              <a:ext cx="1" cy="10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>
              <a:off x="2883" y="3804"/>
              <a:ext cx="139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Text Box 20"/>
            <p:cNvSpPr txBox="1">
              <a:spLocks noChangeArrowheads="1"/>
            </p:cNvSpPr>
            <p:nvPr/>
          </p:nvSpPr>
          <p:spPr bwMode="auto">
            <a:xfrm>
              <a:off x="3255" y="4602"/>
              <a:ext cx="279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Text Box 21"/>
            <p:cNvSpPr txBox="1">
              <a:spLocks noChangeArrowheads="1"/>
            </p:cNvSpPr>
            <p:nvPr/>
          </p:nvSpPr>
          <p:spPr bwMode="auto">
            <a:xfrm>
              <a:off x="3907" y="5134"/>
              <a:ext cx="279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AutoShape 22"/>
            <p:cNvSpPr>
              <a:spLocks noChangeArrowheads="1"/>
            </p:cNvSpPr>
            <p:nvPr/>
          </p:nvSpPr>
          <p:spPr bwMode="auto">
            <a:xfrm>
              <a:off x="7166" y="5400"/>
              <a:ext cx="1488" cy="266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输入一个数据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Line 23"/>
            <p:cNvSpPr>
              <a:spLocks noChangeShapeType="1"/>
            </p:cNvSpPr>
            <p:nvPr/>
          </p:nvSpPr>
          <p:spPr bwMode="auto">
            <a:xfrm>
              <a:off x="7910" y="3671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AutoShape 24"/>
            <p:cNvSpPr>
              <a:spLocks noChangeArrowheads="1"/>
            </p:cNvSpPr>
            <p:nvPr/>
          </p:nvSpPr>
          <p:spPr bwMode="auto">
            <a:xfrm>
              <a:off x="7536" y="3405"/>
              <a:ext cx="746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AutoShape 25"/>
            <p:cNvSpPr>
              <a:spLocks noChangeArrowheads="1"/>
            </p:cNvSpPr>
            <p:nvPr/>
          </p:nvSpPr>
          <p:spPr bwMode="auto">
            <a:xfrm>
              <a:off x="7538" y="6065"/>
              <a:ext cx="744" cy="30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Line 26"/>
            <p:cNvSpPr>
              <a:spLocks noChangeShapeType="1"/>
            </p:cNvSpPr>
            <p:nvPr/>
          </p:nvSpPr>
          <p:spPr bwMode="auto">
            <a:xfrm>
              <a:off x="7910" y="5666"/>
              <a:ext cx="1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AutoShape 27"/>
            <p:cNvSpPr>
              <a:spLocks noChangeArrowheads="1"/>
            </p:cNvSpPr>
            <p:nvPr/>
          </p:nvSpPr>
          <p:spPr bwMode="auto">
            <a:xfrm>
              <a:off x="7166" y="4602"/>
              <a:ext cx="1489" cy="532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Ready?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AutoShape 28"/>
            <p:cNvSpPr>
              <a:spLocks noChangeArrowheads="1"/>
            </p:cNvSpPr>
            <p:nvPr/>
          </p:nvSpPr>
          <p:spPr bwMode="auto">
            <a:xfrm>
              <a:off x="7166" y="4070"/>
              <a:ext cx="1488" cy="266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/>
            <a:p>
              <a:pPr algn="ctr" eaLnBrk="1" hangingPunct="1"/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查询设备状态</a:t>
              </a:r>
            </a:p>
          </p:txBody>
        </p:sp>
        <p:sp>
          <p:nvSpPr>
            <p:cNvPr id="12317" name="Line 29"/>
            <p:cNvSpPr>
              <a:spLocks noChangeShapeType="1"/>
            </p:cNvSpPr>
            <p:nvPr/>
          </p:nvSpPr>
          <p:spPr bwMode="auto">
            <a:xfrm>
              <a:off x="7910" y="4336"/>
              <a:ext cx="1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30"/>
            <p:cNvSpPr>
              <a:spLocks noChangeShapeType="1"/>
            </p:cNvSpPr>
            <p:nvPr/>
          </p:nvSpPr>
          <p:spPr bwMode="auto">
            <a:xfrm>
              <a:off x="7910" y="5134"/>
              <a:ext cx="1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Line 31"/>
            <p:cNvSpPr>
              <a:spLocks noChangeShapeType="1"/>
            </p:cNvSpPr>
            <p:nvPr/>
          </p:nvSpPr>
          <p:spPr bwMode="auto">
            <a:xfrm flipH="1">
              <a:off x="6513" y="4868"/>
              <a:ext cx="6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0" name="Line 32"/>
            <p:cNvSpPr>
              <a:spLocks noChangeShapeType="1"/>
            </p:cNvSpPr>
            <p:nvPr/>
          </p:nvSpPr>
          <p:spPr bwMode="auto">
            <a:xfrm flipV="1">
              <a:off x="6513" y="3804"/>
              <a:ext cx="2" cy="10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Line 33"/>
            <p:cNvSpPr>
              <a:spLocks noChangeShapeType="1"/>
            </p:cNvSpPr>
            <p:nvPr/>
          </p:nvSpPr>
          <p:spPr bwMode="auto">
            <a:xfrm>
              <a:off x="6513" y="3804"/>
              <a:ext cx="139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2" name="Text Box 34"/>
            <p:cNvSpPr txBox="1">
              <a:spLocks noChangeArrowheads="1"/>
            </p:cNvSpPr>
            <p:nvPr/>
          </p:nvSpPr>
          <p:spPr bwMode="auto">
            <a:xfrm>
              <a:off x="6886" y="4602"/>
              <a:ext cx="28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Text Box 35"/>
            <p:cNvSpPr txBox="1">
              <a:spLocks noChangeArrowheads="1"/>
            </p:cNvSpPr>
            <p:nvPr/>
          </p:nvSpPr>
          <p:spPr bwMode="auto">
            <a:xfrm>
              <a:off x="7538" y="5134"/>
              <a:ext cx="279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 eaLnBrk="1" hangingPunct="1"/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内容占位符 2"/>
          <p:cNvSpPr txBox="1">
            <a:spLocks/>
          </p:cNvSpPr>
          <p:nvPr/>
        </p:nvSpPr>
        <p:spPr>
          <a:xfrm>
            <a:off x="431388" y="1733265"/>
            <a:ext cx="11414869" cy="4476465"/>
          </a:xfrm>
          <a:prstGeom prst="rect">
            <a:avLst/>
          </a:prstGeom>
          <a:ln w="28575">
            <a:solidFill>
              <a:srgbClr val="01C0B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" name="组合 3"/>
          <p:cNvGrpSpPr/>
          <p:nvPr/>
        </p:nvGrpSpPr>
        <p:grpSpPr>
          <a:xfrm>
            <a:off x="743307" y="610445"/>
            <a:ext cx="438352" cy="621987"/>
            <a:chOff x="265635" y="269251"/>
            <a:chExt cx="438352" cy="621987"/>
          </a:xfrm>
        </p:grpSpPr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4100" y="444468"/>
            <a:ext cx="8382000" cy="693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查询式输入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1295400" y="2249452"/>
            <a:ext cx="9793817" cy="3460202"/>
            <a:chOff x="1187450" y="2179565"/>
            <a:chExt cx="7345363" cy="2838042"/>
          </a:xfrm>
        </p:grpSpPr>
        <p:grpSp>
          <p:nvGrpSpPr>
            <p:cNvPr id="10" name="Group 69"/>
            <p:cNvGrpSpPr>
              <a:grpSpLocks noChangeAspect="1"/>
            </p:cNvGrpSpPr>
            <p:nvPr/>
          </p:nvGrpSpPr>
          <p:grpSpPr bwMode="auto">
            <a:xfrm>
              <a:off x="1187450" y="2492375"/>
              <a:ext cx="7345363" cy="2205038"/>
              <a:chOff x="1138" y="1337"/>
              <a:chExt cx="7597" cy="2280"/>
            </a:xfrm>
          </p:grpSpPr>
          <p:sp>
            <p:nvSpPr>
              <p:cNvPr id="14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1138" y="1337"/>
                <a:ext cx="7597" cy="2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grpSp>
            <p:nvGrpSpPr>
              <p:cNvPr id="15" name="Group 71"/>
              <p:cNvGrpSpPr>
                <a:grpSpLocks/>
              </p:cNvGrpSpPr>
              <p:nvPr/>
            </p:nvGrpSpPr>
            <p:grpSpPr bwMode="auto">
              <a:xfrm>
                <a:off x="1909" y="1452"/>
                <a:ext cx="6193" cy="2157"/>
                <a:chOff x="1907" y="1458"/>
                <a:chExt cx="6527" cy="2403"/>
              </a:xfrm>
            </p:grpSpPr>
            <p:sp>
              <p:nvSpPr>
                <p:cNvPr id="16" name="Rectangle 72"/>
                <p:cNvSpPr>
                  <a:spLocks noChangeArrowheads="1"/>
                </p:cNvSpPr>
                <p:nvPr/>
              </p:nvSpPr>
              <p:spPr bwMode="auto">
                <a:xfrm>
                  <a:off x="3105" y="2470"/>
                  <a:ext cx="525" cy="314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+5V</a:t>
                  </a:r>
                </a:p>
              </p:txBody>
            </p:sp>
            <p:sp>
              <p:nvSpPr>
                <p:cNvPr id="17" name="Rectangle 73"/>
                <p:cNvSpPr>
                  <a:spLocks noChangeArrowheads="1"/>
                </p:cNvSpPr>
                <p:nvPr/>
              </p:nvSpPr>
              <p:spPr bwMode="auto">
                <a:xfrm>
                  <a:off x="3447" y="1529"/>
                  <a:ext cx="851" cy="58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8</a:t>
                  </a: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位</a:t>
                  </a:r>
                </a:p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锁存器</a:t>
                  </a:r>
                </a:p>
              </p:txBody>
            </p:sp>
            <p:sp>
              <p:nvSpPr>
                <p:cNvPr id="18" name="Rectangle 74"/>
                <p:cNvSpPr>
                  <a:spLocks noChangeArrowheads="1"/>
                </p:cNvSpPr>
                <p:nvPr/>
              </p:nvSpPr>
              <p:spPr bwMode="auto">
                <a:xfrm>
                  <a:off x="3503" y="1458"/>
                  <a:ext cx="704" cy="850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" name="Rectangle 75"/>
                <p:cNvSpPr>
                  <a:spLocks noChangeArrowheads="1"/>
                </p:cNvSpPr>
                <p:nvPr/>
              </p:nvSpPr>
              <p:spPr bwMode="auto">
                <a:xfrm>
                  <a:off x="4449" y="1505"/>
                  <a:ext cx="851" cy="84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8</a:t>
                  </a: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位</a:t>
                  </a:r>
                </a:p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三态</a:t>
                  </a:r>
                </a:p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缓冲器</a:t>
                  </a:r>
                </a:p>
              </p:txBody>
            </p:sp>
            <p:sp>
              <p:nvSpPr>
                <p:cNvPr id="20" name="Rectangle 76"/>
                <p:cNvSpPr>
                  <a:spLocks noChangeArrowheads="1"/>
                </p:cNvSpPr>
                <p:nvPr/>
              </p:nvSpPr>
              <p:spPr bwMode="auto">
                <a:xfrm>
                  <a:off x="4534" y="1458"/>
                  <a:ext cx="702" cy="850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1" name="Freeform 77"/>
                <p:cNvSpPr>
                  <a:spLocks/>
                </p:cNvSpPr>
                <p:nvPr/>
              </p:nvSpPr>
              <p:spPr bwMode="auto">
                <a:xfrm>
                  <a:off x="6175" y="3762"/>
                  <a:ext cx="1452" cy="7"/>
                </a:xfrm>
                <a:custGeom>
                  <a:avLst/>
                  <a:gdLst>
                    <a:gd name="T0" fmla="*/ 0 w 1333"/>
                    <a:gd name="T1" fmla="*/ 7 h 7"/>
                    <a:gd name="T2" fmla="*/ 2427 w 1333"/>
                    <a:gd name="T3" fmla="*/ 0 h 7"/>
                    <a:gd name="T4" fmla="*/ 0 60000 65536"/>
                    <a:gd name="T5" fmla="*/ 0 60000 65536"/>
                    <a:gd name="T6" fmla="*/ 0 w 1333"/>
                    <a:gd name="T7" fmla="*/ 0 h 7"/>
                    <a:gd name="T8" fmla="*/ 1333 w 1333"/>
                    <a:gd name="T9" fmla="*/ 7 h 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333" h="7">
                      <a:moveTo>
                        <a:pt x="0" y="7"/>
                      </a:moveTo>
                      <a:lnTo>
                        <a:pt x="1333" y="0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Rectangle 78"/>
                <p:cNvSpPr>
                  <a:spLocks noChangeArrowheads="1"/>
                </p:cNvSpPr>
                <p:nvPr/>
              </p:nvSpPr>
              <p:spPr bwMode="auto">
                <a:xfrm>
                  <a:off x="6911" y="2804"/>
                  <a:ext cx="418" cy="56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译</a:t>
                  </a:r>
                </a:p>
                <a:p>
                  <a:pPr algn="ctr" eaLnBrk="1" hangingPunct="1"/>
                  <a:r>
                    <a: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码</a:t>
                  </a:r>
                </a:p>
              </p:txBody>
            </p:sp>
            <p:sp>
              <p:nvSpPr>
                <p:cNvPr id="23" name="Rectangle 79"/>
                <p:cNvSpPr>
                  <a:spLocks noChangeArrowheads="1"/>
                </p:cNvSpPr>
                <p:nvPr/>
              </p:nvSpPr>
              <p:spPr bwMode="auto">
                <a:xfrm>
                  <a:off x="6913" y="2732"/>
                  <a:ext cx="394" cy="680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" name="Freeform 80"/>
                <p:cNvSpPr>
                  <a:spLocks/>
                </p:cNvSpPr>
                <p:nvPr/>
              </p:nvSpPr>
              <p:spPr bwMode="auto">
                <a:xfrm>
                  <a:off x="6175" y="2414"/>
                  <a:ext cx="195" cy="1340"/>
                </a:xfrm>
                <a:custGeom>
                  <a:avLst/>
                  <a:gdLst>
                    <a:gd name="T0" fmla="*/ 0 w 204"/>
                    <a:gd name="T1" fmla="*/ 0 h 1162"/>
                    <a:gd name="T2" fmla="*/ 149 w 204"/>
                    <a:gd name="T3" fmla="*/ 0 h 1162"/>
                    <a:gd name="T4" fmla="*/ 149 w 204"/>
                    <a:gd name="T5" fmla="*/ 3152 h 1162"/>
                    <a:gd name="T6" fmla="*/ 0 60000 65536"/>
                    <a:gd name="T7" fmla="*/ 0 60000 65536"/>
                    <a:gd name="T8" fmla="*/ 0 60000 65536"/>
                    <a:gd name="T9" fmla="*/ 0 w 204"/>
                    <a:gd name="T10" fmla="*/ 0 h 1162"/>
                    <a:gd name="T11" fmla="*/ 204 w 204"/>
                    <a:gd name="T12" fmla="*/ 1162 h 11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" h="1162">
                      <a:moveTo>
                        <a:pt x="0" y="0"/>
                      </a:moveTo>
                      <a:lnTo>
                        <a:pt x="204" y="0"/>
                      </a:lnTo>
                      <a:lnTo>
                        <a:pt x="204" y="1162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Freeform 81"/>
                <p:cNvSpPr>
                  <a:spLocks/>
                </p:cNvSpPr>
                <p:nvPr/>
              </p:nvSpPr>
              <p:spPr bwMode="auto">
                <a:xfrm>
                  <a:off x="6191" y="3224"/>
                  <a:ext cx="748" cy="360"/>
                </a:xfrm>
                <a:custGeom>
                  <a:avLst/>
                  <a:gdLst>
                    <a:gd name="T0" fmla="*/ 0 w 474"/>
                    <a:gd name="T1" fmla="*/ 457 h 346"/>
                    <a:gd name="T2" fmla="*/ 7534 w 474"/>
                    <a:gd name="T3" fmla="*/ 456 h 346"/>
                    <a:gd name="T4" fmla="*/ 7534 w 474"/>
                    <a:gd name="T5" fmla="*/ 0 h 346"/>
                    <a:gd name="T6" fmla="*/ 11545 w 474"/>
                    <a:gd name="T7" fmla="*/ 0 h 3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4"/>
                    <a:gd name="T13" fmla="*/ 0 h 346"/>
                    <a:gd name="T14" fmla="*/ 474 w 474"/>
                    <a:gd name="T15" fmla="*/ 346 h 3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4" h="346">
                      <a:moveTo>
                        <a:pt x="0" y="346"/>
                      </a:moveTo>
                      <a:lnTo>
                        <a:pt x="309" y="345"/>
                      </a:lnTo>
                      <a:lnTo>
                        <a:pt x="309" y="0"/>
                      </a:lnTo>
                      <a:lnTo>
                        <a:pt x="474" y="0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Freeform 82"/>
                <p:cNvSpPr>
                  <a:spLocks/>
                </p:cNvSpPr>
                <p:nvPr/>
              </p:nvSpPr>
              <p:spPr bwMode="auto">
                <a:xfrm>
                  <a:off x="6175" y="2582"/>
                  <a:ext cx="764" cy="313"/>
                </a:xfrm>
                <a:custGeom>
                  <a:avLst/>
                  <a:gdLst>
                    <a:gd name="T0" fmla="*/ 0 w 474"/>
                    <a:gd name="T1" fmla="*/ 0 h 385"/>
                    <a:gd name="T2" fmla="*/ 8734 w 474"/>
                    <a:gd name="T3" fmla="*/ 2 h 385"/>
                    <a:gd name="T4" fmla="*/ 8734 w 474"/>
                    <a:gd name="T5" fmla="*/ 90 h 385"/>
                    <a:gd name="T6" fmla="*/ 13393 w 474"/>
                    <a:gd name="T7" fmla="*/ 90 h 38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4"/>
                    <a:gd name="T13" fmla="*/ 0 h 385"/>
                    <a:gd name="T14" fmla="*/ 474 w 474"/>
                    <a:gd name="T15" fmla="*/ 385 h 38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4" h="385">
                      <a:moveTo>
                        <a:pt x="0" y="0"/>
                      </a:moveTo>
                      <a:lnTo>
                        <a:pt x="309" y="3"/>
                      </a:lnTo>
                      <a:lnTo>
                        <a:pt x="309" y="385"/>
                      </a:lnTo>
                      <a:lnTo>
                        <a:pt x="474" y="385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4888" y="2355"/>
                  <a:ext cx="1" cy="16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Rectangle 84"/>
                <p:cNvSpPr>
                  <a:spLocks noChangeArrowheads="1"/>
                </p:cNvSpPr>
                <p:nvPr/>
              </p:nvSpPr>
              <p:spPr bwMode="auto">
                <a:xfrm>
                  <a:off x="4455" y="2634"/>
                  <a:ext cx="851" cy="84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位</a:t>
                  </a:r>
                </a:p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三态</a:t>
                  </a:r>
                </a:p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缓冲器</a:t>
                  </a:r>
                </a:p>
              </p:txBody>
            </p:sp>
            <p:sp>
              <p:nvSpPr>
                <p:cNvPr id="29" name="Rectangle 85"/>
                <p:cNvSpPr>
                  <a:spLocks noChangeArrowheads="1"/>
                </p:cNvSpPr>
                <p:nvPr/>
              </p:nvSpPr>
              <p:spPr bwMode="auto">
                <a:xfrm>
                  <a:off x="4534" y="2601"/>
                  <a:ext cx="702" cy="849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0" name="Freeform 86"/>
                <p:cNvSpPr>
                  <a:spLocks/>
                </p:cNvSpPr>
                <p:nvPr/>
              </p:nvSpPr>
              <p:spPr bwMode="auto">
                <a:xfrm>
                  <a:off x="4894" y="3463"/>
                  <a:ext cx="997" cy="196"/>
                </a:xfrm>
                <a:custGeom>
                  <a:avLst/>
                  <a:gdLst>
                    <a:gd name="T0" fmla="*/ 1668 w 915"/>
                    <a:gd name="T1" fmla="*/ 461 h 170"/>
                    <a:gd name="T2" fmla="*/ 0 w 915"/>
                    <a:gd name="T3" fmla="*/ 461 h 170"/>
                    <a:gd name="T4" fmla="*/ 3 w 915"/>
                    <a:gd name="T5" fmla="*/ 0 h 170"/>
                    <a:gd name="T6" fmla="*/ 0 60000 65536"/>
                    <a:gd name="T7" fmla="*/ 0 60000 65536"/>
                    <a:gd name="T8" fmla="*/ 0 60000 65536"/>
                    <a:gd name="T9" fmla="*/ 0 w 915"/>
                    <a:gd name="T10" fmla="*/ 0 h 170"/>
                    <a:gd name="T11" fmla="*/ 915 w 915"/>
                    <a:gd name="T12" fmla="*/ 170 h 1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5" h="170">
                      <a:moveTo>
                        <a:pt x="915" y="170"/>
                      </a:moveTo>
                      <a:lnTo>
                        <a:pt x="0" y="170"/>
                      </a:lnTo>
                      <a:lnTo>
                        <a:pt x="3" y="0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Rectangle 87"/>
                <p:cNvSpPr>
                  <a:spLocks noChangeArrowheads="1"/>
                </p:cNvSpPr>
                <p:nvPr/>
              </p:nvSpPr>
              <p:spPr bwMode="auto">
                <a:xfrm>
                  <a:off x="3761" y="2844"/>
                  <a:ext cx="247" cy="260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</a:t>
                  </a:r>
                </a:p>
              </p:txBody>
            </p:sp>
            <p:sp>
              <p:nvSpPr>
                <p:cNvPr id="32" name="Rectangle 88"/>
                <p:cNvSpPr>
                  <a:spLocks noChangeArrowheads="1"/>
                </p:cNvSpPr>
                <p:nvPr/>
              </p:nvSpPr>
              <p:spPr bwMode="auto">
                <a:xfrm>
                  <a:off x="3940" y="2931"/>
                  <a:ext cx="321" cy="32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Q</a:t>
                  </a:r>
                </a:p>
              </p:txBody>
            </p:sp>
            <p:sp>
              <p:nvSpPr>
                <p:cNvPr id="33" name="Rectangle 89"/>
                <p:cNvSpPr>
                  <a:spLocks noChangeArrowheads="1"/>
                </p:cNvSpPr>
                <p:nvPr/>
              </p:nvSpPr>
              <p:spPr bwMode="auto">
                <a:xfrm>
                  <a:off x="7629" y="3601"/>
                  <a:ext cx="558" cy="260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eaLnBrk="1" hangingPunct="1"/>
                  <a:endParaRPr lang="zh-CN" altLang="en-US" sz="1200"/>
                </a:p>
              </p:txBody>
            </p:sp>
            <p:sp>
              <p:nvSpPr>
                <p:cNvPr id="34" name="Rectangle 90"/>
                <p:cNvSpPr>
                  <a:spLocks noChangeArrowheads="1"/>
                </p:cNvSpPr>
                <p:nvPr/>
              </p:nvSpPr>
              <p:spPr bwMode="auto">
                <a:xfrm>
                  <a:off x="7547" y="2895"/>
                  <a:ext cx="866" cy="433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r>
                    <a:rPr lang="en-US" altLang="zh-CN" sz="16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</a:t>
                  </a:r>
                  <a:r>
                    <a: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～</a:t>
                  </a:r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r>
                    <a:rPr lang="en-US" altLang="zh-CN" sz="16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Rectangle 91"/>
                <p:cNvSpPr>
                  <a:spLocks noChangeArrowheads="1"/>
                </p:cNvSpPr>
                <p:nvPr/>
              </p:nvSpPr>
              <p:spPr bwMode="auto">
                <a:xfrm>
                  <a:off x="7681" y="1718"/>
                  <a:ext cx="753" cy="44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eaLnBrk="1" hangingPunct="1"/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  <a:r>
                    <a:rPr lang="en-US" altLang="zh-CN" sz="16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7</a:t>
                  </a:r>
                  <a:r>
                    <a: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～</a:t>
                  </a:r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  <a:r>
                    <a:rPr lang="en-US" altLang="zh-CN" sz="16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Rectangle 92"/>
                <p:cNvSpPr>
                  <a:spLocks noChangeArrowheads="1"/>
                </p:cNvSpPr>
                <p:nvPr/>
              </p:nvSpPr>
              <p:spPr bwMode="auto">
                <a:xfrm>
                  <a:off x="5522" y="1919"/>
                  <a:ext cx="345" cy="361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eaLnBrk="1" hangingPunct="1"/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  <a:r>
                    <a:rPr lang="en-US" altLang="zh-CN" sz="16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Rectangle 93"/>
                <p:cNvSpPr>
                  <a:spLocks noChangeArrowheads="1"/>
                </p:cNvSpPr>
                <p:nvPr/>
              </p:nvSpPr>
              <p:spPr bwMode="auto">
                <a:xfrm>
                  <a:off x="3448" y="2947"/>
                  <a:ext cx="428" cy="490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</a:p>
                <a:p>
                  <a:pPr algn="ctr" eaLnBrk="1" hangingPunct="1"/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</a:t>
                  </a:r>
                </a:p>
              </p:txBody>
            </p:sp>
            <p:sp>
              <p:nvSpPr>
                <p:cNvPr id="38" name="Rectangle 94"/>
                <p:cNvSpPr>
                  <a:spLocks noChangeArrowheads="1"/>
                </p:cNvSpPr>
                <p:nvPr/>
              </p:nvSpPr>
              <p:spPr bwMode="auto">
                <a:xfrm>
                  <a:off x="3519" y="2843"/>
                  <a:ext cx="705" cy="590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3525" y="3307"/>
                  <a:ext cx="69" cy="58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3525" y="3249"/>
                  <a:ext cx="69" cy="58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3507" y="2152"/>
                  <a:ext cx="70" cy="58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98"/>
                <p:cNvSpPr>
                  <a:spLocks noChangeShapeType="1"/>
                </p:cNvSpPr>
                <p:nvPr/>
              </p:nvSpPr>
              <p:spPr bwMode="auto">
                <a:xfrm flipH="1" flipV="1">
                  <a:off x="3507" y="2094"/>
                  <a:ext cx="70" cy="58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Freeform 99"/>
                <p:cNvSpPr>
                  <a:spLocks/>
                </p:cNvSpPr>
                <p:nvPr/>
              </p:nvSpPr>
              <p:spPr bwMode="auto">
                <a:xfrm>
                  <a:off x="3349" y="2759"/>
                  <a:ext cx="169" cy="294"/>
                </a:xfrm>
                <a:custGeom>
                  <a:avLst/>
                  <a:gdLst>
                    <a:gd name="T0" fmla="*/ 0 w 156"/>
                    <a:gd name="T1" fmla="*/ 0 h 255"/>
                    <a:gd name="T2" fmla="*/ 0 w 156"/>
                    <a:gd name="T3" fmla="*/ 692 h 255"/>
                    <a:gd name="T4" fmla="*/ 272 w 156"/>
                    <a:gd name="T5" fmla="*/ 689 h 255"/>
                    <a:gd name="T6" fmla="*/ 0 60000 65536"/>
                    <a:gd name="T7" fmla="*/ 0 60000 65536"/>
                    <a:gd name="T8" fmla="*/ 0 60000 65536"/>
                    <a:gd name="T9" fmla="*/ 0 w 156"/>
                    <a:gd name="T10" fmla="*/ 0 h 255"/>
                    <a:gd name="T11" fmla="*/ 156 w 156"/>
                    <a:gd name="T12" fmla="*/ 255 h 2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6" h="255">
                      <a:moveTo>
                        <a:pt x="0" y="0"/>
                      </a:moveTo>
                      <a:lnTo>
                        <a:pt x="0" y="255"/>
                      </a:lnTo>
                      <a:lnTo>
                        <a:pt x="156" y="254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00"/>
                <p:cNvSpPr>
                  <a:spLocks/>
                </p:cNvSpPr>
                <p:nvPr/>
              </p:nvSpPr>
              <p:spPr bwMode="auto">
                <a:xfrm>
                  <a:off x="3144" y="2147"/>
                  <a:ext cx="369" cy="1157"/>
                </a:xfrm>
                <a:custGeom>
                  <a:avLst/>
                  <a:gdLst>
                    <a:gd name="T0" fmla="*/ 613 w 339"/>
                    <a:gd name="T1" fmla="*/ 2744 h 1002"/>
                    <a:gd name="T2" fmla="*/ 0 w 339"/>
                    <a:gd name="T3" fmla="*/ 2744 h 1002"/>
                    <a:gd name="T4" fmla="*/ 0 w 339"/>
                    <a:gd name="T5" fmla="*/ 12 h 1002"/>
                    <a:gd name="T6" fmla="*/ 615 w 339"/>
                    <a:gd name="T7" fmla="*/ 0 h 100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9"/>
                    <a:gd name="T13" fmla="*/ 0 h 1002"/>
                    <a:gd name="T14" fmla="*/ 339 w 339"/>
                    <a:gd name="T15" fmla="*/ 1002 h 100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9" h="1002">
                      <a:moveTo>
                        <a:pt x="338" y="1002"/>
                      </a:moveTo>
                      <a:lnTo>
                        <a:pt x="0" y="1002"/>
                      </a:lnTo>
                      <a:lnTo>
                        <a:pt x="0" y="4"/>
                      </a:lnTo>
                      <a:lnTo>
                        <a:pt x="339" y="0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Rectangle 101"/>
                <p:cNvSpPr>
                  <a:spLocks noChangeArrowheads="1"/>
                </p:cNvSpPr>
                <p:nvPr/>
              </p:nvSpPr>
              <p:spPr bwMode="auto">
                <a:xfrm>
                  <a:off x="1907" y="1980"/>
                  <a:ext cx="851" cy="961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</a:t>
                  </a:r>
                </a:p>
                <a:p>
                  <a:pPr algn="ctr" eaLnBrk="1" hangingPunct="1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设备</a:t>
                  </a:r>
                </a:p>
              </p:txBody>
            </p:sp>
            <p:sp>
              <p:nvSpPr>
                <p:cNvPr id="46" name="Rectangle 102"/>
                <p:cNvSpPr>
                  <a:spLocks noChangeArrowheads="1"/>
                </p:cNvSpPr>
                <p:nvPr/>
              </p:nvSpPr>
              <p:spPr bwMode="auto">
                <a:xfrm>
                  <a:off x="1974" y="1598"/>
                  <a:ext cx="704" cy="1386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7" name="Freeform 103"/>
                <p:cNvSpPr>
                  <a:spLocks/>
                </p:cNvSpPr>
                <p:nvPr/>
              </p:nvSpPr>
              <p:spPr bwMode="auto">
                <a:xfrm>
                  <a:off x="2678" y="2732"/>
                  <a:ext cx="467" cy="2"/>
                </a:xfrm>
                <a:custGeom>
                  <a:avLst/>
                  <a:gdLst>
                    <a:gd name="T0" fmla="*/ 0 w 428"/>
                    <a:gd name="T1" fmla="*/ 0 h 1"/>
                    <a:gd name="T2" fmla="*/ 788 w 428"/>
                    <a:gd name="T3" fmla="*/ 0 h 1"/>
                    <a:gd name="T4" fmla="*/ 0 60000 65536"/>
                    <a:gd name="T5" fmla="*/ 0 60000 65536"/>
                    <a:gd name="T6" fmla="*/ 0 w 428"/>
                    <a:gd name="T7" fmla="*/ 0 h 1"/>
                    <a:gd name="T8" fmla="*/ 428 w 428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28" h="1">
                      <a:moveTo>
                        <a:pt x="0" y="0"/>
                      </a:moveTo>
                      <a:lnTo>
                        <a:pt x="428" y="0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4"/>
                <p:cNvSpPr>
                  <a:spLocks/>
                </p:cNvSpPr>
                <p:nvPr/>
              </p:nvSpPr>
              <p:spPr bwMode="auto">
                <a:xfrm>
                  <a:off x="3878" y="2490"/>
                  <a:ext cx="1987" cy="304"/>
                </a:xfrm>
                <a:custGeom>
                  <a:avLst/>
                  <a:gdLst>
                    <a:gd name="T0" fmla="*/ 3321 w 1824"/>
                    <a:gd name="T1" fmla="*/ 22 h 262"/>
                    <a:gd name="T2" fmla="*/ 2 w 1824"/>
                    <a:gd name="T3" fmla="*/ 0 h 262"/>
                    <a:gd name="T4" fmla="*/ 0 w 1824"/>
                    <a:gd name="T5" fmla="*/ 743 h 262"/>
                    <a:gd name="T6" fmla="*/ 0 60000 65536"/>
                    <a:gd name="T7" fmla="*/ 0 60000 65536"/>
                    <a:gd name="T8" fmla="*/ 0 60000 65536"/>
                    <a:gd name="T9" fmla="*/ 0 w 1824"/>
                    <a:gd name="T10" fmla="*/ 0 h 262"/>
                    <a:gd name="T11" fmla="*/ 1824 w 1824"/>
                    <a:gd name="T12" fmla="*/ 262 h 2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4" h="262">
                      <a:moveTo>
                        <a:pt x="1824" y="8"/>
                      </a:moveTo>
                      <a:lnTo>
                        <a:pt x="2" y="0"/>
                      </a:lnTo>
                      <a:lnTo>
                        <a:pt x="0" y="262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05"/>
                <p:cNvSpPr>
                  <a:spLocks/>
                </p:cNvSpPr>
                <p:nvPr/>
              </p:nvSpPr>
              <p:spPr bwMode="auto">
                <a:xfrm>
                  <a:off x="5236" y="1898"/>
                  <a:ext cx="222" cy="1132"/>
                </a:xfrm>
                <a:custGeom>
                  <a:avLst/>
                  <a:gdLst>
                    <a:gd name="T0" fmla="*/ 27 w 315"/>
                    <a:gd name="T1" fmla="*/ 0 h 1008"/>
                    <a:gd name="T2" fmla="*/ 27 w 315"/>
                    <a:gd name="T3" fmla="*/ 2265 h 1008"/>
                    <a:gd name="T4" fmla="*/ 0 w 315"/>
                    <a:gd name="T5" fmla="*/ 2270 h 1008"/>
                    <a:gd name="T6" fmla="*/ 0 60000 65536"/>
                    <a:gd name="T7" fmla="*/ 0 60000 65536"/>
                    <a:gd name="T8" fmla="*/ 0 60000 65536"/>
                    <a:gd name="T9" fmla="*/ 0 w 315"/>
                    <a:gd name="T10" fmla="*/ 0 h 1008"/>
                    <a:gd name="T11" fmla="*/ 315 w 315"/>
                    <a:gd name="T12" fmla="*/ 1008 h 10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5" h="1008">
                      <a:moveTo>
                        <a:pt x="315" y="0"/>
                      </a:moveTo>
                      <a:lnTo>
                        <a:pt x="315" y="1005"/>
                      </a:lnTo>
                      <a:lnTo>
                        <a:pt x="0" y="1008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triangle" w="sm" len="sm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106"/>
                <p:cNvSpPr>
                  <a:spLocks noChangeShapeType="1"/>
                </p:cNvSpPr>
                <p:nvPr/>
              </p:nvSpPr>
              <p:spPr bwMode="auto">
                <a:xfrm>
                  <a:off x="4223" y="3047"/>
                  <a:ext cx="312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Oval 107"/>
                <p:cNvSpPr>
                  <a:spLocks noChangeArrowheads="1"/>
                </p:cNvSpPr>
                <p:nvPr/>
              </p:nvSpPr>
              <p:spPr bwMode="auto">
                <a:xfrm>
                  <a:off x="4863" y="2462"/>
                  <a:ext cx="49" cy="52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2" name="Freeform 108"/>
                <p:cNvSpPr>
                  <a:spLocks/>
                </p:cNvSpPr>
                <p:nvPr/>
              </p:nvSpPr>
              <p:spPr bwMode="auto">
                <a:xfrm>
                  <a:off x="4215" y="1856"/>
                  <a:ext cx="305" cy="3"/>
                </a:xfrm>
                <a:custGeom>
                  <a:avLst/>
                  <a:gdLst>
                    <a:gd name="T0" fmla="*/ 0 w 280"/>
                    <a:gd name="T1" fmla="*/ 41 h 2"/>
                    <a:gd name="T2" fmla="*/ 509 w 280"/>
                    <a:gd name="T3" fmla="*/ 0 h 2"/>
                    <a:gd name="T4" fmla="*/ 0 60000 65536"/>
                    <a:gd name="T5" fmla="*/ 0 60000 65536"/>
                    <a:gd name="T6" fmla="*/ 0 w 280"/>
                    <a:gd name="T7" fmla="*/ 0 h 2"/>
                    <a:gd name="T8" fmla="*/ 280 w 280"/>
                    <a:gd name="T9" fmla="*/ 2 h 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80" h="2">
                      <a:moveTo>
                        <a:pt x="0" y="2"/>
                      </a:moveTo>
                      <a:lnTo>
                        <a:pt x="280" y="0"/>
                      </a:lnTo>
                    </a:path>
                  </a:pathLst>
                </a:custGeom>
                <a:solidFill>
                  <a:srgbClr val="FFFFFF"/>
                </a:solidFill>
                <a:ln w="19050" cmpd="sng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9"/>
                <p:cNvSpPr>
                  <a:spLocks/>
                </p:cNvSpPr>
                <p:nvPr/>
              </p:nvSpPr>
              <p:spPr bwMode="auto">
                <a:xfrm>
                  <a:off x="2678" y="1856"/>
                  <a:ext cx="812" cy="3"/>
                </a:xfrm>
                <a:custGeom>
                  <a:avLst/>
                  <a:gdLst>
                    <a:gd name="T0" fmla="*/ 0 w 745"/>
                    <a:gd name="T1" fmla="*/ 41 h 2"/>
                    <a:gd name="T2" fmla="*/ 1362 w 745"/>
                    <a:gd name="T3" fmla="*/ 0 h 2"/>
                    <a:gd name="T4" fmla="*/ 0 60000 65536"/>
                    <a:gd name="T5" fmla="*/ 0 60000 65536"/>
                    <a:gd name="T6" fmla="*/ 0 w 745"/>
                    <a:gd name="T7" fmla="*/ 0 h 2"/>
                    <a:gd name="T8" fmla="*/ 745 w 745"/>
                    <a:gd name="T9" fmla="*/ 2 h 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45" h="2">
                      <a:moveTo>
                        <a:pt x="0" y="2"/>
                      </a:moveTo>
                      <a:lnTo>
                        <a:pt x="745" y="0"/>
                      </a:lnTo>
                    </a:path>
                  </a:pathLst>
                </a:custGeom>
                <a:solidFill>
                  <a:srgbClr val="FFFFFF"/>
                </a:solidFill>
                <a:ln w="19050" cmpd="sng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10"/>
                <p:cNvSpPr>
                  <a:spLocks/>
                </p:cNvSpPr>
                <p:nvPr/>
              </p:nvSpPr>
              <p:spPr bwMode="auto">
                <a:xfrm>
                  <a:off x="5236" y="1859"/>
                  <a:ext cx="2363" cy="8"/>
                </a:xfrm>
                <a:custGeom>
                  <a:avLst/>
                  <a:gdLst>
                    <a:gd name="T0" fmla="*/ 0 w 2167"/>
                    <a:gd name="T1" fmla="*/ 0 h 7"/>
                    <a:gd name="T2" fmla="*/ 3973 w 2167"/>
                    <a:gd name="T3" fmla="*/ 17 h 7"/>
                    <a:gd name="T4" fmla="*/ 0 60000 65536"/>
                    <a:gd name="T5" fmla="*/ 0 60000 65536"/>
                    <a:gd name="T6" fmla="*/ 0 w 2167"/>
                    <a:gd name="T7" fmla="*/ 0 h 7"/>
                    <a:gd name="T8" fmla="*/ 2167 w 2167"/>
                    <a:gd name="T9" fmla="*/ 7 h 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167" h="7">
                      <a:moveTo>
                        <a:pt x="0" y="0"/>
                      </a:moveTo>
                      <a:lnTo>
                        <a:pt x="2167" y="7"/>
                      </a:lnTo>
                    </a:path>
                  </a:pathLst>
                </a:custGeom>
                <a:solidFill>
                  <a:srgbClr val="FFFFFF"/>
                </a:solidFill>
                <a:ln w="19050" cmpd="sng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7308" y="3067"/>
                  <a:ext cx="295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Oval 112"/>
                <p:cNvSpPr>
                  <a:spLocks noChangeArrowheads="1"/>
                </p:cNvSpPr>
                <p:nvPr/>
              </p:nvSpPr>
              <p:spPr bwMode="auto">
                <a:xfrm>
                  <a:off x="3117" y="2707"/>
                  <a:ext cx="48" cy="52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7" name="Rectangle 113"/>
                <p:cNvSpPr>
                  <a:spLocks noChangeArrowheads="1"/>
                </p:cNvSpPr>
                <p:nvPr/>
              </p:nvSpPr>
              <p:spPr bwMode="auto">
                <a:xfrm>
                  <a:off x="2329" y="2577"/>
                  <a:ext cx="557" cy="2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eaLnBrk="1" hangingPunct="1"/>
                  <a:endParaRPr lang="zh-CN" altLang="en-US" sz="1200"/>
                </a:p>
              </p:txBody>
            </p:sp>
            <p:grpSp>
              <p:nvGrpSpPr>
                <p:cNvPr id="58" name="Group 114"/>
                <p:cNvGrpSpPr>
                  <a:grpSpLocks/>
                </p:cNvGrpSpPr>
                <p:nvPr/>
              </p:nvGrpSpPr>
              <p:grpSpPr bwMode="auto">
                <a:xfrm>
                  <a:off x="5778" y="2341"/>
                  <a:ext cx="325" cy="308"/>
                  <a:chOff x="6354" y="4404"/>
                  <a:chExt cx="299" cy="267"/>
                </a:xfrm>
              </p:grpSpPr>
              <p:grpSp>
                <p:nvGrpSpPr>
                  <p:cNvPr id="76" name="Group 115"/>
                  <p:cNvGrpSpPr>
                    <a:grpSpLocks/>
                  </p:cNvGrpSpPr>
                  <p:nvPr/>
                </p:nvGrpSpPr>
                <p:grpSpPr bwMode="auto">
                  <a:xfrm flipH="1">
                    <a:off x="6354" y="4404"/>
                    <a:ext cx="147" cy="265"/>
                    <a:chOff x="0" y="0"/>
                    <a:chExt cx="20000" cy="20000"/>
                  </a:xfrm>
                </p:grpSpPr>
                <p:sp>
                  <p:nvSpPr>
                    <p:cNvPr id="78" name="Arc 116"/>
                    <p:cNvSpPr>
                      <a:spLocks/>
                    </p:cNvSpPr>
                    <p:nvPr/>
                  </p:nvSpPr>
                  <p:spPr bwMode="auto">
                    <a:xfrm flipV="1">
                      <a:off x="0" y="9961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" name="Arc 117"/>
                    <p:cNvSpPr>
                      <a:spLocks/>
                    </p:cNvSpPr>
                    <p:nvPr/>
                  </p:nvSpPr>
                  <p:spPr bwMode="auto">
                    <a:xfrm>
                      <a:off x="0" y="0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7" name="Freeform 118"/>
                  <p:cNvSpPr>
                    <a:spLocks/>
                  </p:cNvSpPr>
                  <p:nvPr/>
                </p:nvSpPr>
                <p:spPr bwMode="auto">
                  <a:xfrm flipH="1">
                    <a:off x="6506" y="4404"/>
                    <a:ext cx="147" cy="267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0000"/>
                      <a:gd name="T13" fmla="*/ 0 h 20000"/>
                      <a:gd name="T14" fmla="*/ 20000 w 20000"/>
                      <a:gd name="T15" fmla="*/ 20000 h 200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0000" h="20000">
                        <a:moveTo>
                          <a:pt x="19854" y="0"/>
                        </a:moveTo>
                        <a:lnTo>
                          <a:pt x="0" y="0"/>
                        </a:lnTo>
                        <a:lnTo>
                          <a:pt x="0" y="19925"/>
                        </a:lnTo>
                        <a:lnTo>
                          <a:pt x="19854" y="19925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flat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9" name="Group 119"/>
                <p:cNvGrpSpPr>
                  <a:grpSpLocks/>
                </p:cNvGrpSpPr>
                <p:nvPr/>
              </p:nvGrpSpPr>
              <p:grpSpPr bwMode="auto">
                <a:xfrm>
                  <a:off x="5778" y="3509"/>
                  <a:ext cx="325" cy="308"/>
                  <a:chOff x="6354" y="4404"/>
                  <a:chExt cx="299" cy="267"/>
                </a:xfrm>
              </p:grpSpPr>
              <p:grpSp>
                <p:nvGrpSpPr>
                  <p:cNvPr id="72" name="Group 120"/>
                  <p:cNvGrpSpPr>
                    <a:grpSpLocks/>
                  </p:cNvGrpSpPr>
                  <p:nvPr/>
                </p:nvGrpSpPr>
                <p:grpSpPr bwMode="auto">
                  <a:xfrm flipH="1">
                    <a:off x="6354" y="4404"/>
                    <a:ext cx="147" cy="265"/>
                    <a:chOff x="0" y="0"/>
                    <a:chExt cx="20000" cy="20000"/>
                  </a:xfrm>
                </p:grpSpPr>
                <p:sp>
                  <p:nvSpPr>
                    <p:cNvPr id="74" name="Arc 121"/>
                    <p:cNvSpPr>
                      <a:spLocks/>
                    </p:cNvSpPr>
                    <p:nvPr/>
                  </p:nvSpPr>
                  <p:spPr bwMode="auto">
                    <a:xfrm flipV="1">
                      <a:off x="0" y="9961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" name="Arc 122"/>
                    <p:cNvSpPr>
                      <a:spLocks/>
                    </p:cNvSpPr>
                    <p:nvPr/>
                  </p:nvSpPr>
                  <p:spPr bwMode="auto">
                    <a:xfrm>
                      <a:off x="0" y="0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" name="Freeform 123"/>
                  <p:cNvSpPr>
                    <a:spLocks/>
                  </p:cNvSpPr>
                  <p:nvPr/>
                </p:nvSpPr>
                <p:spPr bwMode="auto">
                  <a:xfrm flipH="1">
                    <a:off x="6506" y="4404"/>
                    <a:ext cx="147" cy="267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0000"/>
                      <a:gd name="T13" fmla="*/ 0 h 20000"/>
                      <a:gd name="T14" fmla="*/ 20000 w 20000"/>
                      <a:gd name="T15" fmla="*/ 20000 h 200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0000" h="20000">
                        <a:moveTo>
                          <a:pt x="19854" y="0"/>
                        </a:moveTo>
                        <a:lnTo>
                          <a:pt x="0" y="0"/>
                        </a:lnTo>
                        <a:lnTo>
                          <a:pt x="0" y="19925"/>
                        </a:lnTo>
                        <a:lnTo>
                          <a:pt x="19854" y="19925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flat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0" name="Oval 124"/>
                <p:cNvSpPr>
                  <a:spLocks noChangeArrowheads="1"/>
                </p:cNvSpPr>
                <p:nvPr/>
              </p:nvSpPr>
              <p:spPr bwMode="auto">
                <a:xfrm>
                  <a:off x="6343" y="3726"/>
                  <a:ext cx="48" cy="52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Oval 125"/>
                <p:cNvSpPr>
                  <a:spLocks noChangeArrowheads="1"/>
                </p:cNvSpPr>
                <p:nvPr/>
              </p:nvSpPr>
              <p:spPr bwMode="auto">
                <a:xfrm flipH="1">
                  <a:off x="6112" y="2380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Oval 126"/>
                <p:cNvSpPr>
                  <a:spLocks noChangeArrowheads="1"/>
                </p:cNvSpPr>
                <p:nvPr/>
              </p:nvSpPr>
              <p:spPr bwMode="auto">
                <a:xfrm flipH="1">
                  <a:off x="6112" y="2555"/>
                  <a:ext cx="74" cy="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3" name="Oval 127"/>
                <p:cNvSpPr>
                  <a:spLocks noChangeArrowheads="1"/>
                </p:cNvSpPr>
                <p:nvPr/>
              </p:nvSpPr>
              <p:spPr bwMode="auto">
                <a:xfrm flipH="1">
                  <a:off x="5718" y="2462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4" name="Oval 128"/>
                <p:cNvSpPr>
                  <a:spLocks noChangeArrowheads="1"/>
                </p:cNvSpPr>
                <p:nvPr/>
              </p:nvSpPr>
              <p:spPr bwMode="auto">
                <a:xfrm flipH="1">
                  <a:off x="6112" y="3548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5" name="Oval 129"/>
                <p:cNvSpPr>
                  <a:spLocks noChangeArrowheads="1"/>
                </p:cNvSpPr>
                <p:nvPr/>
              </p:nvSpPr>
              <p:spPr bwMode="auto">
                <a:xfrm flipH="1">
                  <a:off x="6112" y="3723"/>
                  <a:ext cx="74" cy="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6" name="Oval 130"/>
                <p:cNvSpPr>
                  <a:spLocks noChangeArrowheads="1"/>
                </p:cNvSpPr>
                <p:nvPr/>
              </p:nvSpPr>
              <p:spPr bwMode="auto">
                <a:xfrm flipH="1">
                  <a:off x="5718" y="3630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Oval 131"/>
                <p:cNvSpPr>
                  <a:spLocks noChangeAspect="1" noChangeArrowheads="1"/>
                </p:cNvSpPr>
                <p:nvPr/>
              </p:nvSpPr>
              <p:spPr bwMode="auto">
                <a:xfrm>
                  <a:off x="4851" y="2315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8" name="Oval 132"/>
                <p:cNvSpPr>
                  <a:spLocks noChangeAspect="1" noChangeArrowheads="1"/>
                </p:cNvSpPr>
                <p:nvPr/>
              </p:nvSpPr>
              <p:spPr bwMode="auto">
                <a:xfrm>
                  <a:off x="4851" y="3457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9" name="Oval 133"/>
                <p:cNvSpPr>
                  <a:spLocks noChangeAspect="1" noChangeArrowheads="1"/>
                </p:cNvSpPr>
                <p:nvPr/>
              </p:nvSpPr>
              <p:spPr bwMode="auto">
                <a:xfrm>
                  <a:off x="3836" y="2762"/>
                  <a:ext cx="74" cy="79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0" name="Oval 134"/>
                <p:cNvSpPr>
                  <a:spLocks noChangeAspect="1" noChangeArrowheads="1"/>
                </p:cNvSpPr>
                <p:nvPr/>
              </p:nvSpPr>
              <p:spPr bwMode="auto">
                <a:xfrm>
                  <a:off x="3321" y="2702"/>
                  <a:ext cx="74" cy="78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" name="Rectangle 135"/>
                <p:cNvSpPr>
                  <a:spLocks noChangeArrowheads="1"/>
                </p:cNvSpPr>
                <p:nvPr/>
              </p:nvSpPr>
              <p:spPr bwMode="auto">
                <a:xfrm>
                  <a:off x="3595" y="2050"/>
                  <a:ext cx="361" cy="395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/>
                <a:p>
                  <a:pPr eaLnBrk="1" hangingPunct="1">
                    <a:lnSpc>
                      <a:spcPct val="96000"/>
                    </a:lnSpc>
                  </a:pPr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</a:t>
                  </a:r>
                </a:p>
              </p:txBody>
            </p:sp>
          </p:grpSp>
        </p:grpSp>
        <p:sp>
          <p:nvSpPr>
            <p:cNvPr id="11" name="文本框 70"/>
            <p:cNvSpPr txBox="1">
              <a:spLocks noChangeArrowheads="1"/>
            </p:cNvSpPr>
            <p:nvPr/>
          </p:nvSpPr>
          <p:spPr bwMode="auto">
            <a:xfrm>
              <a:off x="4200724" y="2179565"/>
              <a:ext cx="90794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数据端口</a:t>
              </a:r>
            </a:p>
          </p:txBody>
        </p:sp>
        <p:sp>
          <p:nvSpPr>
            <p:cNvPr id="12" name="文本框 71"/>
            <p:cNvSpPr txBox="1">
              <a:spLocks noChangeArrowheads="1"/>
            </p:cNvSpPr>
            <p:nvPr/>
          </p:nvSpPr>
          <p:spPr bwMode="auto">
            <a:xfrm>
              <a:off x="4241071" y="4617497"/>
              <a:ext cx="90794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状态端口</a:t>
              </a:r>
            </a:p>
          </p:txBody>
        </p:sp>
        <p:sp>
          <p:nvSpPr>
            <p:cNvPr id="13" name="文本框 72"/>
            <p:cNvSpPr txBox="1">
              <a:spLocks noChangeArrowheads="1"/>
            </p:cNvSpPr>
            <p:nvPr/>
          </p:nvSpPr>
          <p:spPr bwMode="auto">
            <a:xfrm>
              <a:off x="7116763" y="4213225"/>
              <a:ext cx="129266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端口地址选择</a:t>
              </a:r>
            </a:p>
          </p:txBody>
        </p:sp>
      </p:grpSp>
      <p:sp>
        <p:nvSpPr>
          <p:cNvPr id="80" name="Rectangle 3"/>
          <p:cNvSpPr txBox="1">
            <a:spLocks noChangeArrowheads="1"/>
          </p:cNvSpPr>
          <p:nvPr/>
        </p:nvSpPr>
        <p:spPr>
          <a:xfrm>
            <a:off x="953265" y="1231179"/>
            <a:ext cx="10972800" cy="693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接口电路</a:t>
            </a:r>
          </a:p>
        </p:txBody>
      </p:sp>
      <p:sp>
        <p:nvSpPr>
          <p:cNvPr id="81" name="内容占位符 2"/>
          <p:cNvSpPr txBox="1">
            <a:spLocks/>
          </p:cNvSpPr>
          <p:nvPr/>
        </p:nvSpPr>
        <p:spPr>
          <a:xfrm>
            <a:off x="458684" y="1869743"/>
            <a:ext cx="11414869" cy="4240499"/>
          </a:xfrm>
          <a:prstGeom prst="rect">
            <a:avLst/>
          </a:prstGeom>
          <a:ln w="28575">
            <a:solidFill>
              <a:srgbClr val="01C0B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2" name="组合 3"/>
          <p:cNvGrpSpPr/>
          <p:nvPr/>
        </p:nvGrpSpPr>
        <p:grpSpPr>
          <a:xfrm>
            <a:off x="458684" y="386241"/>
            <a:ext cx="438352" cy="621987"/>
            <a:chOff x="265635" y="269251"/>
            <a:chExt cx="438352" cy="621987"/>
          </a:xfrm>
        </p:grpSpPr>
        <p:sp>
          <p:nvSpPr>
            <p:cNvPr id="8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5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3917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8822" y="90036"/>
            <a:ext cx="10515600" cy="1325563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查询式输出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901" y="1257581"/>
            <a:ext cx="8229600" cy="765175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接口电路</a:t>
            </a:r>
          </a:p>
        </p:txBody>
      </p:sp>
      <p:grpSp>
        <p:nvGrpSpPr>
          <p:cNvPr id="14340" name="组合 1"/>
          <p:cNvGrpSpPr>
            <a:grpSpLocks/>
          </p:cNvGrpSpPr>
          <p:nvPr/>
        </p:nvGrpSpPr>
        <p:grpSpPr bwMode="auto">
          <a:xfrm>
            <a:off x="1582429" y="2022756"/>
            <a:ext cx="8971331" cy="4273700"/>
            <a:chOff x="900113" y="2348949"/>
            <a:chExt cx="7751000" cy="2701962"/>
          </a:xfrm>
        </p:grpSpPr>
        <p:grpSp>
          <p:nvGrpSpPr>
            <p:cNvPr id="14341" name="Group 4"/>
            <p:cNvGrpSpPr>
              <a:grpSpLocks noChangeAspect="1"/>
            </p:cNvGrpSpPr>
            <p:nvPr/>
          </p:nvGrpSpPr>
          <p:grpSpPr bwMode="auto">
            <a:xfrm>
              <a:off x="900113" y="2708275"/>
              <a:ext cx="7559675" cy="2117725"/>
              <a:chOff x="1137" y="9357"/>
              <a:chExt cx="7597" cy="2128"/>
            </a:xfrm>
          </p:grpSpPr>
          <p:sp>
            <p:nvSpPr>
              <p:cNvPr id="14345" name="AutoShape 5"/>
              <p:cNvSpPr>
                <a:spLocks noChangeAspect="1" noChangeArrowheads="1"/>
              </p:cNvSpPr>
              <p:nvPr/>
            </p:nvSpPr>
            <p:spPr bwMode="auto">
              <a:xfrm>
                <a:off x="1137" y="9357"/>
                <a:ext cx="7597" cy="2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50000"/>
                  <a:buFont typeface="Wingdings 2" panose="05020102010507070707" pitchFamily="18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 2" panose="05020102010507070707" pitchFamily="18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pSp>
            <p:nvGrpSpPr>
              <p:cNvPr id="14346" name="Group 6"/>
              <p:cNvGrpSpPr>
                <a:grpSpLocks/>
              </p:cNvGrpSpPr>
              <p:nvPr/>
            </p:nvGrpSpPr>
            <p:grpSpPr bwMode="auto">
              <a:xfrm>
                <a:off x="1886" y="9357"/>
                <a:ext cx="6119" cy="2128"/>
                <a:chOff x="2157" y="9284"/>
                <a:chExt cx="6011" cy="2141"/>
              </a:xfrm>
            </p:grpSpPr>
            <p:sp>
              <p:nvSpPr>
                <p:cNvPr id="14347" name="Rectangle 7"/>
                <p:cNvSpPr>
                  <a:spLocks noChangeArrowheads="1"/>
                </p:cNvSpPr>
                <p:nvPr/>
              </p:nvSpPr>
              <p:spPr bwMode="auto">
                <a:xfrm>
                  <a:off x="4192" y="9728"/>
                  <a:ext cx="48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+5V</a:t>
                  </a:r>
                </a:p>
              </p:txBody>
            </p:sp>
            <p:sp>
              <p:nvSpPr>
                <p:cNvPr id="14348" name="Freeform 8"/>
                <p:cNvSpPr>
                  <a:spLocks/>
                </p:cNvSpPr>
                <p:nvPr/>
              </p:nvSpPr>
              <p:spPr bwMode="auto">
                <a:xfrm>
                  <a:off x="6061" y="10125"/>
                  <a:ext cx="1317" cy="3"/>
                </a:xfrm>
                <a:custGeom>
                  <a:avLst/>
                  <a:gdLst>
                    <a:gd name="T0" fmla="*/ 0 w 1317"/>
                    <a:gd name="T1" fmla="*/ 0 h 3"/>
                    <a:gd name="T2" fmla="*/ 1317 w 1317"/>
                    <a:gd name="T3" fmla="*/ 3 h 3"/>
                    <a:gd name="T4" fmla="*/ 0 60000 65536"/>
                    <a:gd name="T5" fmla="*/ 0 60000 65536"/>
                    <a:gd name="T6" fmla="*/ 0 w 1317"/>
                    <a:gd name="T7" fmla="*/ 0 h 3"/>
                    <a:gd name="T8" fmla="*/ 1317 w 1317"/>
                    <a:gd name="T9" fmla="*/ 3 h 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317" h="3">
                      <a:moveTo>
                        <a:pt x="0" y="0"/>
                      </a:moveTo>
                      <a:lnTo>
                        <a:pt x="1317" y="3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49" name="Rectangle 9"/>
                <p:cNvSpPr>
                  <a:spLocks noChangeArrowheads="1"/>
                </p:cNvSpPr>
                <p:nvPr/>
              </p:nvSpPr>
              <p:spPr bwMode="auto">
                <a:xfrm>
                  <a:off x="4551" y="9362"/>
                  <a:ext cx="781" cy="5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8</a:t>
                  </a: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位</a:t>
                  </a:r>
                  <a:endPara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锁存器</a:t>
                  </a:r>
                </a:p>
              </p:txBody>
            </p:sp>
            <p:sp>
              <p:nvSpPr>
                <p:cNvPr id="14350" name="Rectangle 10"/>
                <p:cNvSpPr>
                  <a:spLocks noChangeArrowheads="1"/>
                </p:cNvSpPr>
                <p:nvPr/>
              </p:nvSpPr>
              <p:spPr bwMode="auto">
                <a:xfrm>
                  <a:off x="4604" y="9284"/>
                  <a:ext cx="646" cy="736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51" name="Freeform 11"/>
                <p:cNvSpPr>
                  <a:spLocks/>
                </p:cNvSpPr>
                <p:nvPr/>
              </p:nvSpPr>
              <p:spPr bwMode="auto">
                <a:xfrm>
                  <a:off x="4926" y="11078"/>
                  <a:ext cx="757" cy="125"/>
                </a:xfrm>
                <a:custGeom>
                  <a:avLst/>
                  <a:gdLst>
                    <a:gd name="T0" fmla="*/ 0 w 757"/>
                    <a:gd name="T1" fmla="*/ 0 h 127"/>
                    <a:gd name="T2" fmla="*/ 0 w 757"/>
                    <a:gd name="T3" fmla="*/ 113 h 127"/>
                    <a:gd name="T4" fmla="*/ 757 w 757"/>
                    <a:gd name="T5" fmla="*/ 113 h 127"/>
                    <a:gd name="T6" fmla="*/ 0 60000 65536"/>
                    <a:gd name="T7" fmla="*/ 0 60000 65536"/>
                    <a:gd name="T8" fmla="*/ 0 60000 65536"/>
                    <a:gd name="T9" fmla="*/ 0 w 757"/>
                    <a:gd name="T10" fmla="*/ 0 h 127"/>
                    <a:gd name="T11" fmla="*/ 757 w 757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57" h="127">
                      <a:moveTo>
                        <a:pt x="0" y="0"/>
                      </a:moveTo>
                      <a:lnTo>
                        <a:pt x="0" y="127"/>
                      </a:lnTo>
                      <a:lnTo>
                        <a:pt x="757" y="127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2" name="Freeform 12"/>
                <p:cNvSpPr>
                  <a:spLocks/>
                </p:cNvSpPr>
                <p:nvPr/>
              </p:nvSpPr>
              <p:spPr bwMode="auto">
                <a:xfrm>
                  <a:off x="6069" y="11286"/>
                  <a:ext cx="1317" cy="3"/>
                </a:xfrm>
                <a:custGeom>
                  <a:avLst/>
                  <a:gdLst>
                    <a:gd name="T0" fmla="*/ 0 w 1317"/>
                    <a:gd name="T1" fmla="*/ 0 h 3"/>
                    <a:gd name="T2" fmla="*/ 1317 w 1317"/>
                    <a:gd name="T3" fmla="*/ 3 h 3"/>
                    <a:gd name="T4" fmla="*/ 0 60000 65536"/>
                    <a:gd name="T5" fmla="*/ 0 60000 65536"/>
                    <a:gd name="T6" fmla="*/ 0 w 1317"/>
                    <a:gd name="T7" fmla="*/ 0 h 3"/>
                    <a:gd name="T8" fmla="*/ 1317 w 1317"/>
                    <a:gd name="T9" fmla="*/ 3 h 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317" h="3">
                      <a:moveTo>
                        <a:pt x="0" y="0"/>
                      </a:moveTo>
                      <a:lnTo>
                        <a:pt x="1317" y="3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3" name="Freeform 13"/>
                <p:cNvSpPr>
                  <a:spLocks/>
                </p:cNvSpPr>
                <p:nvPr/>
              </p:nvSpPr>
              <p:spPr bwMode="auto">
                <a:xfrm>
                  <a:off x="4109" y="10200"/>
                  <a:ext cx="1552" cy="2"/>
                </a:xfrm>
                <a:custGeom>
                  <a:avLst/>
                  <a:gdLst>
                    <a:gd name="T0" fmla="*/ 0 w 1552"/>
                    <a:gd name="T1" fmla="*/ 0 h 2"/>
                    <a:gd name="T2" fmla="*/ 1552 w 1552"/>
                    <a:gd name="T3" fmla="*/ 2 h 2"/>
                    <a:gd name="T4" fmla="*/ 0 60000 65536"/>
                    <a:gd name="T5" fmla="*/ 0 60000 65536"/>
                    <a:gd name="T6" fmla="*/ 0 w 1552"/>
                    <a:gd name="T7" fmla="*/ 0 h 2"/>
                    <a:gd name="T8" fmla="*/ 1552 w 1552"/>
                    <a:gd name="T9" fmla="*/ 2 h 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552" h="2">
                      <a:moveTo>
                        <a:pt x="0" y="0"/>
                      </a:moveTo>
                      <a:lnTo>
                        <a:pt x="1552" y="2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4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931" y="10018"/>
                  <a:ext cx="1" cy="18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5" name="Rectangle 15"/>
                <p:cNvSpPr>
                  <a:spLocks noChangeArrowheads="1"/>
                </p:cNvSpPr>
                <p:nvPr/>
              </p:nvSpPr>
              <p:spPr bwMode="auto">
                <a:xfrm>
                  <a:off x="4549" y="10359"/>
                  <a:ext cx="781" cy="7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位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三态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缓冲器</a:t>
                  </a:r>
                </a:p>
              </p:txBody>
            </p:sp>
            <p:sp>
              <p:nvSpPr>
                <p:cNvPr id="14356" name="Rectangle 16"/>
                <p:cNvSpPr>
                  <a:spLocks noChangeArrowheads="1"/>
                </p:cNvSpPr>
                <p:nvPr/>
              </p:nvSpPr>
              <p:spPr bwMode="auto">
                <a:xfrm>
                  <a:off x="4604" y="10314"/>
                  <a:ext cx="646" cy="735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57" name="Rectangle 17"/>
                <p:cNvSpPr>
                  <a:spLocks noChangeArrowheads="1"/>
                </p:cNvSpPr>
                <p:nvPr/>
              </p:nvSpPr>
              <p:spPr bwMode="auto">
                <a:xfrm>
                  <a:off x="3678" y="10133"/>
                  <a:ext cx="226" cy="2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</a:t>
                  </a:r>
                </a:p>
              </p:txBody>
            </p:sp>
            <p:sp>
              <p:nvSpPr>
                <p:cNvPr id="14358" name="Rectangle 18"/>
                <p:cNvSpPr>
                  <a:spLocks noChangeArrowheads="1"/>
                </p:cNvSpPr>
                <p:nvPr/>
              </p:nvSpPr>
              <p:spPr bwMode="auto">
                <a:xfrm>
                  <a:off x="3477" y="9871"/>
                  <a:ext cx="316" cy="2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Q</a:t>
                  </a:r>
                </a:p>
              </p:txBody>
            </p:sp>
            <p:sp>
              <p:nvSpPr>
                <p:cNvPr id="14359" name="Rectangle 19"/>
                <p:cNvSpPr>
                  <a:spLocks noChangeArrowheads="1"/>
                </p:cNvSpPr>
                <p:nvPr/>
              </p:nvSpPr>
              <p:spPr bwMode="auto">
                <a:xfrm>
                  <a:off x="2470" y="10351"/>
                  <a:ext cx="511" cy="2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200"/>
                </a:p>
              </p:txBody>
            </p:sp>
            <p:sp>
              <p:nvSpPr>
                <p:cNvPr id="14360" name="Rectangle 20"/>
                <p:cNvSpPr>
                  <a:spLocks noChangeArrowheads="1"/>
                </p:cNvSpPr>
                <p:nvPr/>
              </p:nvSpPr>
              <p:spPr bwMode="auto">
                <a:xfrm>
                  <a:off x="7393" y="11200"/>
                  <a:ext cx="511" cy="2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200"/>
                </a:p>
              </p:txBody>
            </p:sp>
            <p:sp>
              <p:nvSpPr>
                <p:cNvPr id="14361" name="Rectangle 21"/>
                <p:cNvSpPr>
                  <a:spLocks noChangeArrowheads="1"/>
                </p:cNvSpPr>
                <p:nvPr/>
              </p:nvSpPr>
              <p:spPr bwMode="auto">
                <a:xfrm>
                  <a:off x="7410" y="9535"/>
                  <a:ext cx="691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  <a:r>
                    <a:rPr lang="en-US" altLang="zh-CN" sz="18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7</a:t>
                  </a: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～</a:t>
                  </a:r>
                  <a:r>
                    <a:rPr lang="en-US" altLang="zh-CN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  <a:r>
                    <a:rPr lang="en-US" altLang="zh-CN" sz="18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362" name="Rectangle 22"/>
                <p:cNvSpPr>
                  <a:spLocks noChangeArrowheads="1"/>
                </p:cNvSpPr>
                <p:nvPr/>
              </p:nvSpPr>
              <p:spPr bwMode="auto">
                <a:xfrm>
                  <a:off x="5569" y="9681"/>
                  <a:ext cx="316" cy="3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D7</a:t>
                  </a:r>
                </a:p>
              </p:txBody>
            </p:sp>
            <p:sp>
              <p:nvSpPr>
                <p:cNvPr id="14363" name="Rectangle 23"/>
                <p:cNvSpPr>
                  <a:spLocks noChangeArrowheads="1"/>
                </p:cNvSpPr>
                <p:nvPr/>
              </p:nvSpPr>
              <p:spPr bwMode="auto">
                <a:xfrm>
                  <a:off x="3768" y="9876"/>
                  <a:ext cx="284" cy="4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</a:t>
                  </a:r>
                </a:p>
                <a:p>
                  <a:pPr algn="r" eaLnBrk="1" hangingPunct="1">
                    <a:lnSpc>
                      <a:spcPct val="96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</a:t>
                  </a:r>
                </a:p>
              </p:txBody>
            </p:sp>
            <p:sp>
              <p:nvSpPr>
                <p:cNvPr id="14364" name="Line 24"/>
                <p:cNvSpPr>
                  <a:spLocks noChangeShapeType="1"/>
                </p:cNvSpPr>
                <p:nvPr/>
              </p:nvSpPr>
              <p:spPr bwMode="auto">
                <a:xfrm flipH="1" flipV="1">
                  <a:off x="4045" y="10200"/>
                  <a:ext cx="64" cy="5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5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4045" y="10150"/>
                  <a:ext cx="64" cy="5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6" name="Rectangle 26"/>
                <p:cNvSpPr>
                  <a:spLocks noChangeArrowheads="1"/>
                </p:cNvSpPr>
                <p:nvPr/>
              </p:nvSpPr>
              <p:spPr bwMode="auto">
                <a:xfrm>
                  <a:off x="3464" y="9824"/>
                  <a:ext cx="646" cy="511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67" name="Freeform 27"/>
                <p:cNvSpPr>
                  <a:spLocks/>
                </p:cNvSpPr>
                <p:nvPr/>
              </p:nvSpPr>
              <p:spPr bwMode="auto">
                <a:xfrm>
                  <a:off x="4108" y="9779"/>
                  <a:ext cx="121" cy="206"/>
                </a:xfrm>
                <a:custGeom>
                  <a:avLst/>
                  <a:gdLst>
                    <a:gd name="T0" fmla="*/ 121 w 121"/>
                    <a:gd name="T1" fmla="*/ 0 h 206"/>
                    <a:gd name="T2" fmla="*/ 120 w 121"/>
                    <a:gd name="T3" fmla="*/ 206 h 206"/>
                    <a:gd name="T4" fmla="*/ 0 w 121"/>
                    <a:gd name="T5" fmla="*/ 206 h 206"/>
                    <a:gd name="T6" fmla="*/ 0 60000 65536"/>
                    <a:gd name="T7" fmla="*/ 0 60000 65536"/>
                    <a:gd name="T8" fmla="*/ 0 60000 65536"/>
                    <a:gd name="T9" fmla="*/ 0 w 121"/>
                    <a:gd name="T10" fmla="*/ 0 h 206"/>
                    <a:gd name="T11" fmla="*/ 121 w 121"/>
                    <a:gd name="T12" fmla="*/ 206 h 20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1" h="206">
                      <a:moveTo>
                        <a:pt x="121" y="0"/>
                      </a:moveTo>
                      <a:lnTo>
                        <a:pt x="120" y="206"/>
                      </a:lnTo>
                      <a:lnTo>
                        <a:pt x="0" y="206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8" name="Freeform 28"/>
                <p:cNvSpPr>
                  <a:spLocks/>
                </p:cNvSpPr>
                <p:nvPr/>
              </p:nvSpPr>
              <p:spPr bwMode="auto">
                <a:xfrm>
                  <a:off x="3194" y="9989"/>
                  <a:ext cx="1410" cy="694"/>
                </a:xfrm>
                <a:custGeom>
                  <a:avLst/>
                  <a:gdLst>
                    <a:gd name="T0" fmla="*/ 1 w 1253"/>
                    <a:gd name="T1" fmla="*/ 0 h 648"/>
                    <a:gd name="T2" fmla="*/ 0 w 1253"/>
                    <a:gd name="T3" fmla="*/ 1048 h 648"/>
                    <a:gd name="T4" fmla="*/ 2864 w 1253"/>
                    <a:gd name="T5" fmla="*/ 1048 h 648"/>
                    <a:gd name="T6" fmla="*/ 0 60000 65536"/>
                    <a:gd name="T7" fmla="*/ 0 60000 65536"/>
                    <a:gd name="T8" fmla="*/ 0 60000 65536"/>
                    <a:gd name="T9" fmla="*/ 0 w 1253"/>
                    <a:gd name="T10" fmla="*/ 0 h 648"/>
                    <a:gd name="T11" fmla="*/ 1253 w 1253"/>
                    <a:gd name="T12" fmla="*/ 648 h 6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53" h="648">
                      <a:moveTo>
                        <a:pt x="1" y="0"/>
                      </a:moveTo>
                      <a:lnTo>
                        <a:pt x="0" y="648"/>
                      </a:lnTo>
                      <a:lnTo>
                        <a:pt x="1253" y="648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9" name="Freeform 29"/>
                <p:cNvSpPr>
                  <a:spLocks/>
                </p:cNvSpPr>
                <p:nvPr/>
              </p:nvSpPr>
              <p:spPr bwMode="auto">
                <a:xfrm>
                  <a:off x="2848" y="10382"/>
                  <a:ext cx="938" cy="90"/>
                </a:xfrm>
                <a:custGeom>
                  <a:avLst/>
                  <a:gdLst>
                    <a:gd name="T0" fmla="*/ 0 w 938"/>
                    <a:gd name="T1" fmla="*/ 90 h 90"/>
                    <a:gd name="T2" fmla="*/ 938 w 938"/>
                    <a:gd name="T3" fmla="*/ 90 h 90"/>
                    <a:gd name="T4" fmla="*/ 938 w 938"/>
                    <a:gd name="T5" fmla="*/ 0 h 90"/>
                    <a:gd name="T6" fmla="*/ 0 60000 65536"/>
                    <a:gd name="T7" fmla="*/ 0 60000 65536"/>
                    <a:gd name="T8" fmla="*/ 0 60000 65536"/>
                    <a:gd name="T9" fmla="*/ 0 w 938"/>
                    <a:gd name="T10" fmla="*/ 0 h 90"/>
                    <a:gd name="T11" fmla="*/ 938 w 938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38" h="90">
                      <a:moveTo>
                        <a:pt x="0" y="90"/>
                      </a:moveTo>
                      <a:lnTo>
                        <a:pt x="938" y="90"/>
                      </a:lnTo>
                      <a:lnTo>
                        <a:pt x="938" y="0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370" name="Group 30"/>
                <p:cNvGrpSpPr>
                  <a:grpSpLocks/>
                </p:cNvGrpSpPr>
                <p:nvPr/>
              </p:nvGrpSpPr>
              <p:grpSpPr bwMode="auto">
                <a:xfrm>
                  <a:off x="2157" y="9404"/>
                  <a:ext cx="781" cy="1319"/>
                  <a:chOff x="0" y="0"/>
                  <a:chExt cx="20000" cy="20000"/>
                </a:xfrm>
              </p:grpSpPr>
              <p:sp>
                <p:nvSpPr>
                  <p:cNvPr id="14407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849"/>
                    <a:ext cx="20000" cy="138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63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SzPct val="50000"/>
                      <a:buFont typeface="Wingdings 2" panose="05020102010507070707" pitchFamily="18" charset="2"/>
                      <a:buChar char="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60000"/>
                      <a:buFont typeface="Wingdings 2" panose="05020102010507070707" pitchFamily="18" charset="2"/>
                      <a:buChar char="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   </a:t>
                    </a:r>
                  </a:p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  输出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设备</a:t>
                    </a:r>
                  </a:p>
                </p:txBody>
              </p:sp>
              <p:sp>
                <p:nvSpPr>
                  <p:cNvPr id="14408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0"/>
                    <a:ext cx="16542" cy="20000"/>
                  </a:xfrm>
                  <a:prstGeom prst="rect">
                    <a:avLst/>
                  </a:prstGeom>
                  <a:noFill/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SzPct val="50000"/>
                      <a:buFont typeface="Wingdings 2" panose="05020102010507070707" pitchFamily="18" charset="2"/>
                      <a:buChar char="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60000"/>
                      <a:buFont typeface="Wingdings 2" panose="05020102010507070707" pitchFamily="18" charset="2"/>
                      <a:buChar char="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sp>
              <p:nvSpPr>
                <p:cNvPr id="14371" name="Freeform 33"/>
                <p:cNvSpPr>
                  <a:spLocks/>
                </p:cNvSpPr>
                <p:nvPr/>
              </p:nvSpPr>
              <p:spPr bwMode="auto">
                <a:xfrm>
                  <a:off x="2848" y="9970"/>
                  <a:ext cx="615" cy="1"/>
                </a:xfrm>
                <a:custGeom>
                  <a:avLst/>
                  <a:gdLst>
                    <a:gd name="T0" fmla="*/ 0 w 615"/>
                    <a:gd name="T1" fmla="*/ 0 h 1"/>
                    <a:gd name="T2" fmla="*/ 615 w 615"/>
                    <a:gd name="T3" fmla="*/ 0 h 1"/>
                    <a:gd name="T4" fmla="*/ 0 60000 65536"/>
                    <a:gd name="T5" fmla="*/ 0 60000 65536"/>
                    <a:gd name="T6" fmla="*/ 0 w 615"/>
                    <a:gd name="T7" fmla="*/ 0 h 1"/>
                    <a:gd name="T8" fmla="*/ 615 w 615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615" h="1">
                      <a:moveTo>
                        <a:pt x="0" y="0"/>
                      </a:moveTo>
                      <a:lnTo>
                        <a:pt x="615" y="0"/>
                      </a:lnTo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372" name="Group 34"/>
                <p:cNvGrpSpPr>
                  <a:grpSpLocks/>
                </p:cNvGrpSpPr>
                <p:nvPr/>
              </p:nvGrpSpPr>
              <p:grpSpPr bwMode="auto">
                <a:xfrm>
                  <a:off x="4882" y="9958"/>
                  <a:ext cx="100" cy="64"/>
                  <a:chOff x="0" y="0"/>
                  <a:chExt cx="20000" cy="20000"/>
                </a:xfrm>
              </p:grpSpPr>
              <p:sp>
                <p:nvSpPr>
                  <p:cNvPr id="14405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0" y="0"/>
                    <a:ext cx="10027" cy="2000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6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0027" y="0"/>
                    <a:ext cx="9973" cy="2000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373" name="Freeform 37"/>
                <p:cNvSpPr>
                  <a:spLocks/>
                </p:cNvSpPr>
                <p:nvPr/>
              </p:nvSpPr>
              <p:spPr bwMode="auto">
                <a:xfrm>
                  <a:off x="5255" y="9647"/>
                  <a:ext cx="2123" cy="3"/>
                </a:xfrm>
                <a:custGeom>
                  <a:avLst/>
                  <a:gdLst>
                    <a:gd name="T0" fmla="*/ 2123 w 2123"/>
                    <a:gd name="T1" fmla="*/ 0 h 3"/>
                    <a:gd name="T2" fmla="*/ 0 w 2123"/>
                    <a:gd name="T3" fmla="*/ 3 h 3"/>
                    <a:gd name="T4" fmla="*/ 0 60000 65536"/>
                    <a:gd name="T5" fmla="*/ 0 60000 65536"/>
                    <a:gd name="T6" fmla="*/ 0 w 2123"/>
                    <a:gd name="T7" fmla="*/ 0 h 3"/>
                    <a:gd name="T8" fmla="*/ 2123 w 2123"/>
                    <a:gd name="T9" fmla="*/ 3 h 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123" h="3">
                      <a:moveTo>
                        <a:pt x="2123" y="0"/>
                      </a:moveTo>
                      <a:lnTo>
                        <a:pt x="0" y="3"/>
                      </a:lnTo>
                    </a:path>
                  </a:pathLst>
                </a:custGeom>
                <a:solidFill>
                  <a:srgbClr val="FFFFFF"/>
                </a:solidFill>
                <a:ln w="19050" cmpd="sng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4" name="Freeform 38"/>
                <p:cNvSpPr>
                  <a:spLocks/>
                </p:cNvSpPr>
                <p:nvPr/>
              </p:nvSpPr>
              <p:spPr bwMode="auto">
                <a:xfrm>
                  <a:off x="2848" y="9647"/>
                  <a:ext cx="1757" cy="2"/>
                </a:xfrm>
                <a:custGeom>
                  <a:avLst/>
                  <a:gdLst>
                    <a:gd name="T0" fmla="*/ 1757 w 1757"/>
                    <a:gd name="T1" fmla="*/ 2 h 2"/>
                    <a:gd name="T2" fmla="*/ 0 w 1757"/>
                    <a:gd name="T3" fmla="*/ 0 h 2"/>
                    <a:gd name="T4" fmla="*/ 0 60000 65536"/>
                    <a:gd name="T5" fmla="*/ 0 60000 65536"/>
                    <a:gd name="T6" fmla="*/ 0 w 1757"/>
                    <a:gd name="T7" fmla="*/ 0 h 2"/>
                    <a:gd name="T8" fmla="*/ 1757 w 1757"/>
                    <a:gd name="T9" fmla="*/ 2 h 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757" h="2">
                      <a:moveTo>
                        <a:pt x="1757" y="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9050" cmpd="sng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5" name="Oval 39"/>
                <p:cNvSpPr>
                  <a:spLocks noChangeArrowheads="1"/>
                </p:cNvSpPr>
                <p:nvPr/>
              </p:nvSpPr>
              <p:spPr bwMode="auto">
                <a:xfrm>
                  <a:off x="3168" y="9940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76" name="Oval 40"/>
                <p:cNvSpPr>
                  <a:spLocks noChangeArrowheads="1"/>
                </p:cNvSpPr>
                <p:nvPr/>
              </p:nvSpPr>
              <p:spPr bwMode="auto">
                <a:xfrm>
                  <a:off x="4908" y="10175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77" name="Freeform 41"/>
                <p:cNvSpPr>
                  <a:spLocks/>
                </p:cNvSpPr>
                <p:nvPr/>
              </p:nvSpPr>
              <p:spPr bwMode="auto">
                <a:xfrm>
                  <a:off x="5249" y="9673"/>
                  <a:ext cx="263" cy="1010"/>
                </a:xfrm>
                <a:custGeom>
                  <a:avLst/>
                  <a:gdLst>
                    <a:gd name="T0" fmla="*/ 263 w 263"/>
                    <a:gd name="T1" fmla="*/ 0 h 1019"/>
                    <a:gd name="T2" fmla="*/ 262 w 263"/>
                    <a:gd name="T3" fmla="*/ 956 h 1019"/>
                    <a:gd name="T4" fmla="*/ 0 w 263"/>
                    <a:gd name="T5" fmla="*/ 954 h 1019"/>
                    <a:gd name="T6" fmla="*/ 0 60000 65536"/>
                    <a:gd name="T7" fmla="*/ 0 60000 65536"/>
                    <a:gd name="T8" fmla="*/ 0 60000 65536"/>
                    <a:gd name="T9" fmla="*/ 0 w 263"/>
                    <a:gd name="T10" fmla="*/ 0 h 1019"/>
                    <a:gd name="T11" fmla="*/ 263 w 263"/>
                    <a:gd name="T12" fmla="*/ 1019 h 10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3" h="1019">
                      <a:moveTo>
                        <a:pt x="263" y="0"/>
                      </a:moveTo>
                      <a:lnTo>
                        <a:pt x="262" y="1019"/>
                      </a:lnTo>
                      <a:lnTo>
                        <a:pt x="0" y="1016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triangle" w="sm" len="sm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8" name="Rectangle 42"/>
                <p:cNvSpPr>
                  <a:spLocks noChangeArrowheads="1"/>
                </p:cNvSpPr>
                <p:nvPr/>
              </p:nvSpPr>
              <p:spPr bwMode="auto">
                <a:xfrm>
                  <a:off x="6780" y="10465"/>
                  <a:ext cx="285" cy="4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译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码</a:t>
                  </a:r>
                </a:p>
              </p:txBody>
            </p:sp>
            <p:sp>
              <p:nvSpPr>
                <p:cNvPr id="14379" name="Rectangle 43"/>
                <p:cNvSpPr>
                  <a:spLocks noChangeArrowheads="1"/>
                </p:cNvSpPr>
                <p:nvPr/>
              </p:nvSpPr>
              <p:spPr bwMode="auto">
                <a:xfrm>
                  <a:off x="6749" y="10401"/>
                  <a:ext cx="360" cy="588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80" name="Freeform 44"/>
                <p:cNvSpPr>
                  <a:spLocks/>
                </p:cNvSpPr>
                <p:nvPr/>
              </p:nvSpPr>
              <p:spPr bwMode="auto">
                <a:xfrm>
                  <a:off x="6081" y="10846"/>
                  <a:ext cx="639" cy="293"/>
                </a:xfrm>
                <a:custGeom>
                  <a:avLst/>
                  <a:gdLst>
                    <a:gd name="T0" fmla="*/ 0 w 622"/>
                    <a:gd name="T1" fmla="*/ 574 h 262"/>
                    <a:gd name="T2" fmla="*/ 485 w 622"/>
                    <a:gd name="T3" fmla="*/ 560 h 262"/>
                    <a:gd name="T4" fmla="*/ 489 w 622"/>
                    <a:gd name="T5" fmla="*/ 0 h 262"/>
                    <a:gd name="T6" fmla="*/ 750 w 622"/>
                    <a:gd name="T7" fmla="*/ 0 h 26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22"/>
                    <a:gd name="T13" fmla="*/ 0 h 262"/>
                    <a:gd name="T14" fmla="*/ 622 w 622"/>
                    <a:gd name="T15" fmla="*/ 262 h 26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22" h="262">
                      <a:moveTo>
                        <a:pt x="0" y="262"/>
                      </a:moveTo>
                      <a:lnTo>
                        <a:pt x="401" y="257"/>
                      </a:lnTo>
                      <a:lnTo>
                        <a:pt x="405" y="0"/>
                      </a:lnTo>
                      <a:lnTo>
                        <a:pt x="622" y="0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1" name="Freeform 45"/>
                <p:cNvSpPr>
                  <a:spLocks/>
                </p:cNvSpPr>
                <p:nvPr/>
              </p:nvSpPr>
              <p:spPr bwMode="auto">
                <a:xfrm>
                  <a:off x="6079" y="10276"/>
                  <a:ext cx="641" cy="285"/>
                </a:xfrm>
                <a:custGeom>
                  <a:avLst/>
                  <a:gdLst>
                    <a:gd name="T0" fmla="*/ 0 w 474"/>
                    <a:gd name="T1" fmla="*/ 0 h 385"/>
                    <a:gd name="T2" fmla="*/ 2555 w 474"/>
                    <a:gd name="T3" fmla="*/ 1 h 385"/>
                    <a:gd name="T4" fmla="*/ 2555 w 474"/>
                    <a:gd name="T5" fmla="*/ 47 h 385"/>
                    <a:gd name="T6" fmla="*/ 3919 w 474"/>
                    <a:gd name="T7" fmla="*/ 47 h 38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4"/>
                    <a:gd name="T13" fmla="*/ 0 h 385"/>
                    <a:gd name="T14" fmla="*/ 474 w 474"/>
                    <a:gd name="T15" fmla="*/ 385 h 38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4" h="385">
                      <a:moveTo>
                        <a:pt x="0" y="0"/>
                      </a:moveTo>
                      <a:lnTo>
                        <a:pt x="309" y="3"/>
                      </a:lnTo>
                      <a:lnTo>
                        <a:pt x="309" y="385"/>
                      </a:lnTo>
                      <a:lnTo>
                        <a:pt x="474" y="385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2" name="Rectangle 46"/>
                <p:cNvSpPr>
                  <a:spLocks noChangeArrowheads="1"/>
                </p:cNvSpPr>
                <p:nvPr/>
              </p:nvSpPr>
              <p:spPr bwMode="auto">
                <a:xfrm>
                  <a:off x="7372" y="10574"/>
                  <a:ext cx="796" cy="3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r>
                    <a:rPr lang="en-US" altLang="zh-CN" sz="18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</a:t>
                  </a:r>
                  <a:r>
                    <a:rPr lang="zh-CN" altLang="en-US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～</a:t>
                  </a:r>
                  <a:r>
                    <a:rPr lang="en-US" altLang="zh-CN" sz="1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r>
                    <a:rPr lang="en-US" altLang="zh-CN" sz="18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383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7110" y="10690"/>
                  <a:ext cx="271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384" name="Group 48"/>
                <p:cNvGrpSpPr>
                  <a:grpSpLocks/>
                </p:cNvGrpSpPr>
                <p:nvPr/>
              </p:nvGrpSpPr>
              <p:grpSpPr bwMode="auto">
                <a:xfrm>
                  <a:off x="5707" y="10062"/>
                  <a:ext cx="299" cy="267"/>
                  <a:chOff x="6354" y="4404"/>
                  <a:chExt cx="299" cy="267"/>
                </a:xfrm>
              </p:grpSpPr>
              <p:grpSp>
                <p:nvGrpSpPr>
                  <p:cNvPr id="14401" name="Group 49"/>
                  <p:cNvGrpSpPr>
                    <a:grpSpLocks/>
                  </p:cNvGrpSpPr>
                  <p:nvPr/>
                </p:nvGrpSpPr>
                <p:grpSpPr bwMode="auto">
                  <a:xfrm flipH="1">
                    <a:off x="6354" y="4404"/>
                    <a:ext cx="147" cy="265"/>
                    <a:chOff x="0" y="0"/>
                    <a:chExt cx="20000" cy="20000"/>
                  </a:xfrm>
                </p:grpSpPr>
                <p:sp>
                  <p:nvSpPr>
                    <p:cNvPr id="14403" name="Arc 50"/>
                    <p:cNvSpPr>
                      <a:spLocks/>
                    </p:cNvSpPr>
                    <p:nvPr/>
                  </p:nvSpPr>
                  <p:spPr bwMode="auto">
                    <a:xfrm flipV="1">
                      <a:off x="0" y="9961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404" name="Arc 51"/>
                    <p:cNvSpPr>
                      <a:spLocks/>
                    </p:cNvSpPr>
                    <p:nvPr/>
                  </p:nvSpPr>
                  <p:spPr bwMode="auto">
                    <a:xfrm>
                      <a:off x="0" y="0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4402" name="Freeform 52"/>
                  <p:cNvSpPr>
                    <a:spLocks/>
                  </p:cNvSpPr>
                  <p:nvPr/>
                </p:nvSpPr>
                <p:spPr bwMode="auto">
                  <a:xfrm flipH="1">
                    <a:off x="6506" y="4404"/>
                    <a:ext cx="147" cy="267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0000"/>
                      <a:gd name="T13" fmla="*/ 0 h 20000"/>
                      <a:gd name="T14" fmla="*/ 20000 w 20000"/>
                      <a:gd name="T15" fmla="*/ 20000 h 200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0000" h="20000">
                        <a:moveTo>
                          <a:pt x="19854" y="0"/>
                        </a:moveTo>
                        <a:lnTo>
                          <a:pt x="0" y="0"/>
                        </a:lnTo>
                        <a:lnTo>
                          <a:pt x="0" y="19925"/>
                        </a:lnTo>
                        <a:lnTo>
                          <a:pt x="19854" y="19925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flat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385" name="Group 53"/>
                <p:cNvGrpSpPr>
                  <a:grpSpLocks/>
                </p:cNvGrpSpPr>
                <p:nvPr/>
              </p:nvGrpSpPr>
              <p:grpSpPr bwMode="auto">
                <a:xfrm>
                  <a:off x="5707" y="11073"/>
                  <a:ext cx="299" cy="267"/>
                  <a:chOff x="6354" y="4404"/>
                  <a:chExt cx="299" cy="267"/>
                </a:xfrm>
              </p:grpSpPr>
              <p:grpSp>
                <p:nvGrpSpPr>
                  <p:cNvPr id="14397" name="Group 54"/>
                  <p:cNvGrpSpPr>
                    <a:grpSpLocks/>
                  </p:cNvGrpSpPr>
                  <p:nvPr/>
                </p:nvGrpSpPr>
                <p:grpSpPr bwMode="auto">
                  <a:xfrm flipH="1">
                    <a:off x="6354" y="4404"/>
                    <a:ext cx="147" cy="265"/>
                    <a:chOff x="0" y="0"/>
                    <a:chExt cx="20000" cy="20000"/>
                  </a:xfrm>
                </p:grpSpPr>
                <p:sp>
                  <p:nvSpPr>
                    <p:cNvPr id="14399" name="Arc 55"/>
                    <p:cNvSpPr>
                      <a:spLocks/>
                    </p:cNvSpPr>
                    <p:nvPr/>
                  </p:nvSpPr>
                  <p:spPr bwMode="auto">
                    <a:xfrm flipV="1">
                      <a:off x="0" y="9961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400" name="Arc 56"/>
                    <p:cNvSpPr>
                      <a:spLocks/>
                    </p:cNvSpPr>
                    <p:nvPr/>
                  </p:nvSpPr>
                  <p:spPr bwMode="auto">
                    <a:xfrm>
                      <a:off x="0" y="0"/>
                      <a:ext cx="20000" cy="1003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11670 w 21600"/>
                        <a:gd name="T3" fmla="*/ 47 h 21600"/>
                        <a:gd name="T4" fmla="*/ 0 w 21600"/>
                        <a:gd name="T5" fmla="*/ 47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4398" name="Freeform 57"/>
                  <p:cNvSpPr>
                    <a:spLocks/>
                  </p:cNvSpPr>
                  <p:nvPr/>
                </p:nvSpPr>
                <p:spPr bwMode="auto">
                  <a:xfrm flipH="1">
                    <a:off x="6506" y="4404"/>
                    <a:ext cx="147" cy="267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0000"/>
                      <a:gd name="T13" fmla="*/ 0 h 20000"/>
                      <a:gd name="T14" fmla="*/ 20000 w 20000"/>
                      <a:gd name="T15" fmla="*/ 20000 h 200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0000" h="20000">
                        <a:moveTo>
                          <a:pt x="19854" y="0"/>
                        </a:moveTo>
                        <a:lnTo>
                          <a:pt x="0" y="0"/>
                        </a:lnTo>
                        <a:lnTo>
                          <a:pt x="0" y="19925"/>
                        </a:lnTo>
                        <a:lnTo>
                          <a:pt x="19854" y="19925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flat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386" name="Rectangle 58"/>
                <p:cNvSpPr>
                  <a:spLocks noChangeArrowheads="1"/>
                </p:cNvSpPr>
                <p:nvPr/>
              </p:nvSpPr>
              <p:spPr bwMode="auto">
                <a:xfrm>
                  <a:off x="7393" y="9977"/>
                  <a:ext cx="393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200"/>
                </a:p>
              </p:txBody>
            </p:sp>
            <p:sp>
              <p:nvSpPr>
                <p:cNvPr id="14387" name="Oval 59"/>
                <p:cNvSpPr>
                  <a:spLocks noChangeArrowheads="1"/>
                </p:cNvSpPr>
                <p:nvPr/>
              </p:nvSpPr>
              <p:spPr bwMode="auto">
                <a:xfrm>
                  <a:off x="4195" y="9765"/>
                  <a:ext cx="68" cy="68"/>
                </a:xfrm>
                <a:prstGeom prst="ellipse">
                  <a:avLst/>
                </a:prstGeom>
                <a:solidFill>
                  <a:srgbClr val="00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88" name="Oval 60"/>
                <p:cNvSpPr>
                  <a:spLocks noChangeAspect="1" noChangeArrowheads="1"/>
                </p:cNvSpPr>
                <p:nvPr/>
              </p:nvSpPr>
              <p:spPr bwMode="auto">
                <a:xfrm>
                  <a:off x="4896" y="11055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89" name="Oval 61"/>
                <p:cNvSpPr>
                  <a:spLocks noChangeAspect="1" noChangeArrowheads="1"/>
                </p:cNvSpPr>
                <p:nvPr/>
              </p:nvSpPr>
              <p:spPr bwMode="auto">
                <a:xfrm>
                  <a:off x="3746" y="10341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0" name="Oval 62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6013" y="10096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1" name="Oval 63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6013" y="10247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2" name="Oval 64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5633" y="10167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3" name="Oval 65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6013" y="11107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4" name="Oval 66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6013" y="1125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5" name="Oval 67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5633" y="1117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396" name="Rectangle 68"/>
                <p:cNvSpPr>
                  <a:spLocks noChangeArrowheads="1"/>
                </p:cNvSpPr>
                <p:nvPr/>
              </p:nvSpPr>
              <p:spPr bwMode="auto">
                <a:xfrm>
                  <a:off x="4775" y="9813"/>
                  <a:ext cx="331" cy="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50000"/>
                    <a:buFont typeface="Wingdings 2" panose="05020102010507070707" pitchFamily="18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 2" panose="05020102010507070707" pitchFamily="18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</a:t>
                  </a:r>
                </a:p>
              </p:txBody>
            </p:sp>
          </p:grpSp>
        </p:grpSp>
        <p:sp>
          <p:nvSpPr>
            <p:cNvPr id="14342" name="文本框 68"/>
            <p:cNvSpPr txBox="1">
              <a:spLocks noChangeArrowheads="1"/>
            </p:cNvSpPr>
            <p:nvPr/>
          </p:nvSpPr>
          <p:spPr bwMode="auto">
            <a:xfrm>
              <a:off x="3952426" y="4716808"/>
              <a:ext cx="1223191" cy="334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50000"/>
                <a:buFont typeface="Wingdings 2" panose="05020102010507070707" pitchFamily="18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 2" panose="05020102010507070707" pitchFamily="18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状态端口</a:t>
              </a:r>
            </a:p>
          </p:txBody>
        </p:sp>
        <p:sp>
          <p:nvSpPr>
            <p:cNvPr id="14343" name="文本框 69"/>
            <p:cNvSpPr txBox="1">
              <a:spLocks noChangeArrowheads="1"/>
            </p:cNvSpPr>
            <p:nvPr/>
          </p:nvSpPr>
          <p:spPr bwMode="auto">
            <a:xfrm>
              <a:off x="3878659" y="2348949"/>
              <a:ext cx="1223191" cy="334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50000"/>
                <a:buFont typeface="Wingdings 2" panose="05020102010507070707" pitchFamily="18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 2" panose="05020102010507070707" pitchFamily="18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数据端口</a:t>
              </a:r>
            </a:p>
          </p:txBody>
        </p:sp>
        <p:sp>
          <p:nvSpPr>
            <p:cNvPr id="14344" name="文本框 70"/>
            <p:cNvSpPr txBox="1">
              <a:spLocks noChangeArrowheads="1"/>
            </p:cNvSpPr>
            <p:nvPr/>
          </p:nvSpPr>
          <p:spPr bwMode="auto">
            <a:xfrm>
              <a:off x="6896100" y="4281488"/>
              <a:ext cx="1755013" cy="334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50000"/>
                <a:buFont typeface="Wingdings 2" panose="05020102010507070707" pitchFamily="18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 2" panose="05020102010507070707" pitchFamily="18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端口地址选择</a:t>
              </a:r>
            </a:p>
          </p:txBody>
        </p:sp>
      </p:grpSp>
      <p:grpSp>
        <p:nvGrpSpPr>
          <p:cNvPr id="73" name="组合 3"/>
          <p:cNvGrpSpPr/>
          <p:nvPr/>
        </p:nvGrpSpPr>
        <p:grpSpPr>
          <a:xfrm>
            <a:off x="458684" y="386241"/>
            <a:ext cx="438352" cy="621987"/>
            <a:chOff x="265635" y="269251"/>
            <a:chExt cx="438352" cy="621987"/>
          </a:xfrm>
        </p:grpSpPr>
        <p:sp>
          <p:nvSpPr>
            <p:cNvPr id="74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5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77" name="内容占位符 2"/>
          <p:cNvSpPr txBox="1">
            <a:spLocks/>
          </p:cNvSpPr>
          <p:nvPr/>
        </p:nvSpPr>
        <p:spPr>
          <a:xfrm>
            <a:off x="458684" y="1854436"/>
            <a:ext cx="11414869" cy="4614730"/>
          </a:xfrm>
          <a:prstGeom prst="rect">
            <a:avLst/>
          </a:prstGeom>
          <a:ln w="28575">
            <a:solidFill>
              <a:srgbClr val="01C0B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79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98285" y="2541722"/>
            <a:ext cx="467853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2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75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446</Words>
  <Application>Microsoft Office PowerPoint</Application>
  <PresentationFormat>宽屏</PresentationFormat>
  <Paragraphs>153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第一PPT，www.1ppt.com</vt:lpstr>
      <vt:lpstr>PowerPoint 演示文稿</vt:lpstr>
      <vt:lpstr>PowerPoint 演示文稿</vt:lpstr>
      <vt:lpstr>PowerPoint 演示文稿</vt:lpstr>
      <vt:lpstr>无条件传送控制方式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查询式输出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文光</cp:lastModifiedBy>
  <cp:revision>57</cp:revision>
  <dcterms:created xsi:type="dcterms:W3CDTF">2016-06-01T05:10:04Z</dcterms:created>
  <dcterms:modified xsi:type="dcterms:W3CDTF">2017-05-26T05:43:36Z</dcterms:modified>
</cp:coreProperties>
</file>