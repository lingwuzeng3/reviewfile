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9" r:id="rId2"/>
    <p:sldId id="306" r:id="rId3"/>
    <p:sldId id="292" r:id="rId4"/>
    <p:sldId id="304" r:id="rId5"/>
    <p:sldId id="307" r:id="rId6"/>
    <p:sldId id="294" r:id="rId7"/>
    <p:sldId id="296" r:id="rId8"/>
    <p:sldId id="309" r:id="rId9"/>
    <p:sldId id="305" r:id="rId10"/>
    <p:sldId id="310" r:id="rId11"/>
    <p:sldId id="297" r:id="rId12"/>
    <p:sldId id="311" r:id="rId13"/>
    <p:sldId id="298" r:id="rId14"/>
    <p:sldId id="303" r:id="rId15"/>
    <p:sldId id="302" r:id="rId16"/>
    <p:sldId id="301" r:id="rId17"/>
    <p:sldId id="29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C0B0"/>
    <a:srgbClr val="04BEB0"/>
    <a:srgbClr val="02B9E7"/>
    <a:srgbClr val="04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7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30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2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每条机器指令都需要取指操作，所以将取指操作编制成一段公用微程序，通常安排在控存的0号或特定单元开始的一段控存空间内。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E56F2-EF7F-4B63-B698-98EAE2664945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74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22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476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ea typeface="+mn-ea"/>
              </a:rPr>
              <a:t>当顺序执行时，后继微地址直接由微指令的转移地址字段</a:t>
            </a:r>
            <a:r>
              <a:rPr lang="en-US" altLang="zh-CN" sz="1200" dirty="0">
                <a:ea typeface="+mn-ea"/>
              </a:rPr>
              <a:t>BAF</a:t>
            </a:r>
            <a:r>
              <a:rPr lang="zh-CN" altLang="en-US" sz="1200" dirty="0">
                <a:ea typeface="+mn-ea"/>
              </a:rPr>
              <a:t>给出；当出现分支时，由转移控制字段</a:t>
            </a:r>
            <a:r>
              <a:rPr lang="en-US" altLang="zh-CN" sz="1200" dirty="0">
                <a:ea typeface="+mn-ea"/>
              </a:rPr>
              <a:t>BCF</a:t>
            </a:r>
            <a:r>
              <a:rPr lang="zh-CN" altLang="en-US" sz="1200" dirty="0">
                <a:ea typeface="+mn-ea"/>
              </a:rPr>
              <a:t>控制对一定条件进行测试，并结合</a:t>
            </a:r>
            <a:r>
              <a:rPr lang="en-US" altLang="zh-CN" sz="1200" dirty="0">
                <a:ea typeface="+mn-ea"/>
              </a:rPr>
              <a:t>BAF</a:t>
            </a:r>
            <a:r>
              <a:rPr lang="zh-CN" altLang="en-US" sz="1200" dirty="0">
                <a:ea typeface="+mn-ea"/>
              </a:rPr>
              <a:t>字段共同形成后继微指令地址。能实现多路转移，灵活性好，微指令在控存中的存储不受顺序的限制。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E56F2-EF7F-4B63-B698-98EAE2664945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31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938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765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62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135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33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a typeface="+mn-ea"/>
              </a:rPr>
              <a:t>特点：一次能定义或执行1-2个微命令，微指令字长较短，</a:t>
            </a:r>
            <a:r>
              <a:rPr lang="en-US" altLang="zh-CN" dirty="0" err="1">
                <a:ea typeface="+mn-ea"/>
              </a:rPr>
              <a:t>uOP</a:t>
            </a:r>
            <a:r>
              <a:rPr lang="zh-CN" altLang="en-US" dirty="0">
                <a:ea typeface="+mn-ea"/>
              </a:rPr>
              <a:t>字段按控制类型进行编码，一般采用最短字长编码。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9E56F2-EF7F-4B63-B698-98EAE2664945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273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37268" y="2541722"/>
            <a:ext cx="641902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微地址的形成</a:t>
            </a:r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780833" y="296847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微地址的形成方法</a:t>
            </a:r>
            <a:endParaRPr lang="zh-CN" altLang="en-US" sz="3199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1186989" y="1413566"/>
            <a:ext cx="304681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186989" y="1892805"/>
            <a:ext cx="304681" cy="3829143"/>
          </a:xfrm>
          <a:custGeom>
            <a:avLst/>
            <a:gdLst>
              <a:gd name="T0" fmla="*/ 175 w 351"/>
              <a:gd name="T1" fmla="*/ 0 h 4397"/>
              <a:gd name="T2" fmla="*/ 175 w 351"/>
              <a:gd name="T3" fmla="*/ 0 h 4397"/>
              <a:gd name="T4" fmla="*/ 351 w 351"/>
              <a:gd name="T5" fmla="*/ 143 h 4397"/>
              <a:gd name="T6" fmla="*/ 351 w 351"/>
              <a:gd name="T7" fmla="*/ 4254 h 4397"/>
              <a:gd name="T8" fmla="*/ 175 w 351"/>
              <a:gd name="T9" fmla="*/ 4397 h 4397"/>
              <a:gd name="T10" fmla="*/ 175 w 351"/>
              <a:gd name="T11" fmla="*/ 4397 h 4397"/>
              <a:gd name="T12" fmla="*/ 0 w 351"/>
              <a:gd name="T13" fmla="*/ 4254 h 4397"/>
              <a:gd name="T14" fmla="*/ 0 w 351"/>
              <a:gd name="T15" fmla="*/ 143 h 4397"/>
              <a:gd name="T16" fmla="*/ 175 w 351"/>
              <a:gd name="T17" fmla="*/ 0 h 4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397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4"/>
                  <a:pt x="351" y="143"/>
                </a:cubicBezTo>
                <a:lnTo>
                  <a:pt x="351" y="4254"/>
                </a:lnTo>
                <a:cubicBezTo>
                  <a:pt x="351" y="4332"/>
                  <a:pt x="272" y="4397"/>
                  <a:pt x="175" y="4397"/>
                </a:cubicBezTo>
                <a:lnTo>
                  <a:pt x="175" y="4397"/>
                </a:lnTo>
                <a:cubicBezTo>
                  <a:pt x="79" y="4397"/>
                  <a:pt x="0" y="4332"/>
                  <a:pt x="0" y="4254"/>
                </a:cubicBezTo>
                <a:lnTo>
                  <a:pt x="0" y="143"/>
                </a:lnTo>
                <a:cubicBezTo>
                  <a:pt x="0" y="64"/>
                  <a:pt x="79" y="0"/>
                  <a:pt x="175" y="0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1056865" y="5353789"/>
            <a:ext cx="585559" cy="585559"/>
          </a:xfrm>
          <a:prstGeom prst="ellipse">
            <a:avLst/>
          </a:pr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2361453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2361453" y="2389499"/>
            <a:ext cx="306268" cy="3332449"/>
          </a:xfrm>
          <a:custGeom>
            <a:avLst/>
            <a:gdLst>
              <a:gd name="T0" fmla="*/ 175 w 351"/>
              <a:gd name="T1" fmla="*/ 0 h 3828"/>
              <a:gd name="T2" fmla="*/ 175 w 351"/>
              <a:gd name="T3" fmla="*/ 0 h 3828"/>
              <a:gd name="T4" fmla="*/ 351 w 351"/>
              <a:gd name="T5" fmla="*/ 124 h 3828"/>
              <a:gd name="T6" fmla="*/ 351 w 351"/>
              <a:gd name="T7" fmla="*/ 3703 h 3828"/>
              <a:gd name="T8" fmla="*/ 175 w 351"/>
              <a:gd name="T9" fmla="*/ 3828 h 3828"/>
              <a:gd name="T10" fmla="*/ 175 w 351"/>
              <a:gd name="T11" fmla="*/ 3828 h 3828"/>
              <a:gd name="T12" fmla="*/ 0 w 351"/>
              <a:gd name="T13" fmla="*/ 3703 h 3828"/>
              <a:gd name="T14" fmla="*/ 0 w 351"/>
              <a:gd name="T15" fmla="*/ 124 h 3828"/>
              <a:gd name="T16" fmla="*/ 175 w 351"/>
              <a:gd name="T17" fmla="*/ 0 h 3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82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56"/>
                  <a:pt x="351" y="124"/>
                </a:cubicBezTo>
                <a:lnTo>
                  <a:pt x="351" y="3703"/>
                </a:lnTo>
                <a:cubicBezTo>
                  <a:pt x="351" y="3772"/>
                  <a:pt x="272" y="3828"/>
                  <a:pt x="175" y="3828"/>
                </a:cubicBezTo>
                <a:lnTo>
                  <a:pt x="175" y="3828"/>
                </a:lnTo>
                <a:cubicBezTo>
                  <a:pt x="79" y="3828"/>
                  <a:pt x="0" y="3772"/>
                  <a:pt x="0" y="3703"/>
                </a:cubicBezTo>
                <a:lnTo>
                  <a:pt x="0" y="124"/>
                </a:lnTo>
                <a:cubicBezTo>
                  <a:pt x="0" y="56"/>
                  <a:pt x="79" y="0"/>
                  <a:pt x="175" y="0"/>
                </a:cubicBezTo>
                <a:close/>
              </a:path>
            </a:pathLst>
          </a:cu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2231329" y="5353789"/>
            <a:ext cx="585559" cy="585559"/>
          </a:xfrm>
          <a:prstGeom prst="ellipse">
            <a:avLst/>
          </a:pr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3461731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3461731" y="1591295"/>
            <a:ext cx="306268" cy="4130649"/>
          </a:xfrm>
          <a:custGeom>
            <a:avLst/>
            <a:gdLst>
              <a:gd name="T0" fmla="*/ 175 w 351"/>
              <a:gd name="T1" fmla="*/ 0 h 4744"/>
              <a:gd name="T2" fmla="*/ 175 w 351"/>
              <a:gd name="T3" fmla="*/ 0 h 4744"/>
              <a:gd name="T4" fmla="*/ 351 w 351"/>
              <a:gd name="T5" fmla="*/ 154 h 4744"/>
              <a:gd name="T6" fmla="*/ 351 w 351"/>
              <a:gd name="T7" fmla="*/ 4589 h 4744"/>
              <a:gd name="T8" fmla="*/ 175 w 351"/>
              <a:gd name="T9" fmla="*/ 4744 h 4744"/>
              <a:gd name="T10" fmla="*/ 175 w 351"/>
              <a:gd name="T11" fmla="*/ 4744 h 4744"/>
              <a:gd name="T12" fmla="*/ 0 w 351"/>
              <a:gd name="T13" fmla="*/ 4589 h 4744"/>
              <a:gd name="T14" fmla="*/ 0 w 351"/>
              <a:gd name="T15" fmla="*/ 154 h 4744"/>
              <a:gd name="T16" fmla="*/ 175 w 351"/>
              <a:gd name="T17" fmla="*/ 0 h 4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744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9"/>
                  <a:pt x="351" y="154"/>
                </a:cubicBezTo>
                <a:lnTo>
                  <a:pt x="351" y="4589"/>
                </a:lnTo>
                <a:cubicBezTo>
                  <a:pt x="351" y="4674"/>
                  <a:pt x="272" y="4744"/>
                  <a:pt x="175" y="4744"/>
                </a:cubicBezTo>
                <a:lnTo>
                  <a:pt x="175" y="4744"/>
                </a:lnTo>
                <a:cubicBezTo>
                  <a:pt x="79" y="4744"/>
                  <a:pt x="0" y="4674"/>
                  <a:pt x="0" y="4589"/>
                </a:cubicBezTo>
                <a:lnTo>
                  <a:pt x="0" y="154"/>
                </a:lnTo>
                <a:cubicBezTo>
                  <a:pt x="0" y="69"/>
                  <a:pt x="79" y="0"/>
                  <a:pt x="17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3331607" y="5353789"/>
            <a:ext cx="585559" cy="5855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Freeform 14"/>
          <p:cNvSpPr>
            <a:spLocks/>
          </p:cNvSpPr>
          <p:nvPr/>
        </p:nvSpPr>
        <p:spPr bwMode="auto">
          <a:xfrm>
            <a:off x="4703241" y="1413566"/>
            <a:ext cx="306268" cy="4308380"/>
          </a:xfrm>
          <a:custGeom>
            <a:avLst/>
            <a:gdLst>
              <a:gd name="T0" fmla="*/ 176 w 352"/>
              <a:gd name="T1" fmla="*/ 0 h 4948"/>
              <a:gd name="T2" fmla="*/ 176 w 352"/>
              <a:gd name="T3" fmla="*/ 0 h 4948"/>
              <a:gd name="T4" fmla="*/ 352 w 352"/>
              <a:gd name="T5" fmla="*/ 176 h 4948"/>
              <a:gd name="T6" fmla="*/ 352 w 352"/>
              <a:gd name="T7" fmla="*/ 4772 h 4948"/>
              <a:gd name="T8" fmla="*/ 176 w 352"/>
              <a:gd name="T9" fmla="*/ 4948 h 4948"/>
              <a:gd name="T10" fmla="*/ 176 w 352"/>
              <a:gd name="T11" fmla="*/ 4948 h 4948"/>
              <a:gd name="T12" fmla="*/ 0 w 352"/>
              <a:gd name="T13" fmla="*/ 4772 h 4948"/>
              <a:gd name="T14" fmla="*/ 0 w 352"/>
              <a:gd name="T15" fmla="*/ 176 h 4948"/>
              <a:gd name="T16" fmla="*/ 176 w 352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948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79"/>
                  <a:pt x="352" y="176"/>
                </a:cubicBezTo>
                <a:lnTo>
                  <a:pt x="352" y="4772"/>
                </a:lnTo>
                <a:cubicBezTo>
                  <a:pt x="352" y="4869"/>
                  <a:pt x="273" y="4948"/>
                  <a:pt x="176" y="4948"/>
                </a:cubicBezTo>
                <a:lnTo>
                  <a:pt x="176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6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Freeform 15"/>
          <p:cNvSpPr>
            <a:spLocks/>
          </p:cNvSpPr>
          <p:nvPr/>
        </p:nvSpPr>
        <p:spPr bwMode="auto">
          <a:xfrm>
            <a:off x="4703241" y="2061387"/>
            <a:ext cx="306268" cy="3660561"/>
          </a:xfrm>
          <a:custGeom>
            <a:avLst/>
            <a:gdLst>
              <a:gd name="T0" fmla="*/ 176 w 352"/>
              <a:gd name="T1" fmla="*/ 0 h 4581"/>
              <a:gd name="T2" fmla="*/ 176 w 352"/>
              <a:gd name="T3" fmla="*/ 0 h 4581"/>
              <a:gd name="T4" fmla="*/ 352 w 352"/>
              <a:gd name="T5" fmla="*/ 149 h 4581"/>
              <a:gd name="T6" fmla="*/ 352 w 352"/>
              <a:gd name="T7" fmla="*/ 4432 h 4581"/>
              <a:gd name="T8" fmla="*/ 176 w 352"/>
              <a:gd name="T9" fmla="*/ 4581 h 4581"/>
              <a:gd name="T10" fmla="*/ 176 w 352"/>
              <a:gd name="T11" fmla="*/ 4581 h 4581"/>
              <a:gd name="T12" fmla="*/ 0 w 352"/>
              <a:gd name="T13" fmla="*/ 4432 h 4581"/>
              <a:gd name="T14" fmla="*/ 0 w 352"/>
              <a:gd name="T15" fmla="*/ 149 h 4581"/>
              <a:gd name="T16" fmla="*/ 176 w 352"/>
              <a:gd name="T17" fmla="*/ 0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581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67"/>
                  <a:pt x="352" y="149"/>
                </a:cubicBezTo>
                <a:lnTo>
                  <a:pt x="352" y="4432"/>
                </a:lnTo>
                <a:cubicBezTo>
                  <a:pt x="352" y="4514"/>
                  <a:pt x="273" y="4581"/>
                  <a:pt x="176" y="4581"/>
                </a:cubicBezTo>
                <a:lnTo>
                  <a:pt x="176" y="4581"/>
                </a:lnTo>
                <a:cubicBezTo>
                  <a:pt x="79" y="4581"/>
                  <a:pt x="0" y="4514"/>
                  <a:pt x="0" y="4432"/>
                </a:cubicBezTo>
                <a:lnTo>
                  <a:pt x="0" y="149"/>
                </a:lnTo>
                <a:cubicBezTo>
                  <a:pt x="0" y="67"/>
                  <a:pt x="79" y="0"/>
                  <a:pt x="1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574706" y="5353789"/>
            <a:ext cx="585559" cy="585559"/>
          </a:xfrm>
          <a:prstGeom prst="ellipse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5" name="矩形 83"/>
          <p:cNvSpPr>
            <a:spLocks noChangeArrowheads="1"/>
          </p:cNvSpPr>
          <p:nvPr/>
        </p:nvSpPr>
        <p:spPr bwMode="auto">
          <a:xfrm>
            <a:off x="6217993" y="1235962"/>
            <a:ext cx="5107491" cy="4981870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>
            <a:off x="6143407" y="108997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 flipH="1" flipV="1">
            <a:off x="10904816" y="5802770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6404354" y="1089971"/>
            <a:ext cx="490864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微地址的设计关系到微指令执行顺序的控制问题，即如何确定下一条微指令的地址问题。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个问题：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微指令中地址字段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后继微地址的形成 </a:t>
            </a:r>
          </a:p>
        </p:txBody>
      </p:sp>
    </p:spTree>
    <p:extLst>
      <p:ext uri="{BB962C8B-B14F-4D97-AF65-F5344CB8AC3E}">
        <p14:creationId xmlns:p14="http://schemas.microsoft.com/office/powerpoint/2010/main" val="16378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876">
        <p14:prism/>
      </p:transition>
    </mc:Choice>
    <mc:Fallback xmlns="">
      <p:transition spd="slow" advTm="9876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标题 242689"/>
          <p:cNvSpPr>
            <a:spLocks noGrp="1"/>
          </p:cNvSpPr>
          <p:nvPr>
            <p:ph type="title"/>
          </p:nvPr>
        </p:nvSpPr>
        <p:spPr>
          <a:xfrm>
            <a:off x="809269" y="154818"/>
            <a:ext cx="5989411" cy="762000"/>
          </a:xfrm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微程序入口地址的形成</a:t>
            </a:r>
          </a:p>
        </p:txBody>
      </p:sp>
      <p:sp>
        <p:nvSpPr>
          <p:cNvPr id="242691" name="文本占位符 242690"/>
          <p:cNvSpPr>
            <a:spLocks noGrp="1"/>
          </p:cNvSpPr>
          <p:nvPr>
            <p:ph type="body" idx="1"/>
          </p:nvPr>
        </p:nvSpPr>
        <p:spPr>
          <a:xfrm>
            <a:off x="814566" y="855378"/>
            <a:ext cx="7210317" cy="240248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4BE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一级功能转移</a:t>
            </a:r>
            <a:endParaRPr lang="en-US" altLang="zh-CN" b="1" dirty="0">
              <a:solidFill>
                <a:srgbClr val="04BE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如果机器指令操作码字段的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位数和位置固定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，可以直接使操作码与入口地址码的部分位相对应。</a:t>
            </a: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2679" y="3366715"/>
            <a:ext cx="3718905" cy="2862322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假设某机器有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条机器指令；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i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 H  → 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000" b="1" i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 H → </a:t>
            </a:r>
            <a:r>
              <a:rPr lang="en-US" altLang="zh-CN" sz="2000" b="1" dirty="0">
                <a:solidFill>
                  <a:srgbClr val="5151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07H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000" b="1" i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 H → 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0BH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31628" y="1131579"/>
            <a:ext cx="3981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每条机器指令都需要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操作；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作为一段公用微程序；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通常安排在控存的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特定单元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369" y="2984200"/>
            <a:ext cx="6860519" cy="3121171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8414657" y="2681909"/>
            <a:ext cx="228600" cy="31764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3"/>
          </p:cNvCxnSpPr>
          <p:nvPr/>
        </p:nvCxnSpPr>
        <p:spPr>
          <a:xfrm flipV="1">
            <a:off x="4291584" y="4299857"/>
            <a:ext cx="694073" cy="498019"/>
          </a:xfrm>
          <a:prstGeom prst="straightConnector1">
            <a:avLst/>
          </a:prstGeom>
          <a:ln w="9525">
            <a:solidFill>
              <a:srgbClr val="515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59483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27165" y="1146659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二级功能转移</a:t>
            </a:r>
          </a:p>
        </p:txBody>
      </p:sp>
      <p:sp>
        <p:nvSpPr>
          <p:cNvPr id="26" name="文本占位符 242690"/>
          <p:cNvSpPr txBox="1">
            <a:spLocks/>
          </p:cNvSpPr>
          <p:nvPr/>
        </p:nvSpPr>
        <p:spPr>
          <a:xfrm>
            <a:off x="1409605" y="1833034"/>
            <a:ext cx="9498434" cy="3659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若各类指令的操作码的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位数和位置不固定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时，需采用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分级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先按指令类型标志转移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，以区分出指令属于哪一类，如单操作数指令、双操作数指令等。在每一类机器指令中的操作码的位数和位置应当是固定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的；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再按操作码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区分出具体是哪条指令，以便转移到相应微程序入口。</a:t>
            </a:r>
          </a:p>
        </p:txBody>
      </p:sp>
    </p:spTree>
    <p:extLst>
      <p:ext uri="{BB962C8B-B14F-4D97-AF65-F5344CB8AC3E}">
        <p14:creationId xmlns:p14="http://schemas.microsoft.com/office/powerpoint/2010/main" val="303177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27164" y="1146659"/>
            <a:ext cx="54613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3200" b="1" dirty="0" smtClean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</a:t>
            </a:r>
            <a:r>
              <a:rPr lang="zh-CN" altLang="en-US" sz="3200" b="1" dirty="0" smtClean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电路实现功能</a:t>
            </a:r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</a:t>
            </a:r>
          </a:p>
        </p:txBody>
      </p:sp>
      <p:sp>
        <p:nvSpPr>
          <p:cNvPr id="26" name="文本占位符 242690"/>
          <p:cNvSpPr txBox="1">
            <a:spLocks/>
          </p:cNvSpPr>
          <p:nvPr/>
        </p:nvSpPr>
        <p:spPr>
          <a:xfrm>
            <a:off x="1409605" y="1833034"/>
            <a:ext cx="9498434" cy="3659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可编程逻辑阵列（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）实质是一种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译码阵列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，具有多个输入和多个输出：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输入是机器操作码和其他判别条件；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输出就是相应微程序的入口地址。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变长度、变位置的操作码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的处理更为有效、且转移速度较快。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45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标题 243713"/>
          <p:cNvSpPr>
            <a:spLocks noGrp="1"/>
          </p:cNvSpPr>
          <p:nvPr>
            <p:ph type="title"/>
          </p:nvPr>
        </p:nvSpPr>
        <p:spPr>
          <a:xfrm>
            <a:off x="875773" y="196280"/>
            <a:ext cx="4851400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后续微地址的形成</a:t>
            </a:r>
          </a:p>
        </p:txBody>
      </p:sp>
      <p:sp>
        <p:nvSpPr>
          <p:cNvPr id="243715" name="文本占位符 243714"/>
          <p:cNvSpPr>
            <a:spLocks noGrp="1"/>
          </p:cNvSpPr>
          <p:nvPr>
            <p:ph type="body" idx="1"/>
          </p:nvPr>
        </p:nvSpPr>
        <p:spPr>
          <a:xfrm>
            <a:off x="122303" y="1161201"/>
            <a:ext cx="12166143" cy="48411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增量方式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转移型微地址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None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有顺序执行、转移和转子之分。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顺序执行时，后继微地址就是现行微地址加上一个增量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通常为“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1”)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转移或转子时，由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微指令的顺序控制字段产生转移微地址。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转移微指令的顺序控制字段分成两部分：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转移控制字段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(BCF)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转移地址字段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(BAF)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当转移条件满足时，将转移地址字段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(BAF)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作为下一个微地址送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当转移条件不满足时，将直接从微程序计数器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中取得下一条微指令地址。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73" y="2071048"/>
            <a:ext cx="6549197" cy="118508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07064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975" y="1208491"/>
            <a:ext cx="8343901" cy="4789246"/>
          </a:xfrm>
          <a:prstGeom prst="rect">
            <a:avLst/>
          </a:prstGeom>
        </p:spPr>
      </p:pic>
      <p:sp>
        <p:nvSpPr>
          <p:cNvPr id="5" name="标题 243713"/>
          <p:cNvSpPr>
            <a:spLocks noGrp="1"/>
          </p:cNvSpPr>
          <p:nvPr>
            <p:ph type="title"/>
          </p:nvPr>
        </p:nvSpPr>
        <p:spPr>
          <a:xfrm>
            <a:off x="875773" y="184790"/>
            <a:ext cx="4851400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3200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后续微地址的形成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86605" y="6265880"/>
            <a:ext cx="556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图：实现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增量方式的微程序控制器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7376160" y="3398520"/>
            <a:ext cx="2118360" cy="1737360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04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27164" y="1146659"/>
            <a:ext cx="81923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“起始和转移地址发生器”的</a:t>
            </a:r>
            <a:r>
              <a:rPr lang="zh-CN" altLang="en-US" sz="3200" b="1" dirty="0" smtClean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有两个：</a:t>
            </a:r>
          </a:p>
        </p:txBody>
      </p:sp>
      <p:sp>
        <p:nvSpPr>
          <p:cNvPr id="26" name="文本占位符 242690"/>
          <p:cNvSpPr txBox="1">
            <a:spLocks/>
          </p:cNvSpPr>
          <p:nvPr/>
        </p:nvSpPr>
        <p:spPr>
          <a:xfrm>
            <a:off x="1409605" y="1833034"/>
            <a:ext cx="9327426" cy="464759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1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</a:t>
            </a:r>
            <a:r>
              <a:rPr lang="zh-CN" altLang="en-US" sz="2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新的机器指令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时，它就形成机器指令的微程序段的起始地址且装入</a:t>
            </a:r>
            <a:r>
              <a:rPr lang="en-US" altLang="zh-CN" sz="21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，而且随着节拍电位信号的到来，</a:t>
            </a:r>
            <a:r>
              <a:rPr lang="en-US" altLang="zh-CN" sz="21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自动地增加一个增量，以便连续地从</a:t>
            </a:r>
            <a:r>
              <a:rPr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中读出微指令，相应的微操作控制信号按规定顺序发送到</a:t>
            </a:r>
            <a:r>
              <a:rPr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的各个部分</a:t>
            </a:r>
            <a:r>
              <a:rPr lang="zh-CN" altLang="en-US" sz="21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1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1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微指令指示其</a:t>
            </a:r>
            <a:r>
              <a:rPr lang="zh-CN" altLang="en-US" sz="2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测试状态标志、条件代码或机器指令的某些位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时，它就对指定的条件进行测试，若满足转移条件，就把新的转移地址装入</a:t>
            </a:r>
            <a:r>
              <a:rPr lang="en-US" altLang="zh-CN" sz="21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，实现转移；否则不装入新地址，微程序就顺序执行</a:t>
            </a:r>
            <a:r>
              <a:rPr lang="zh-CN" altLang="en-US" sz="21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30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768771" y="176208"/>
            <a:ext cx="5974331" cy="662511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后续微地址的形成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4296516" y="1682424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4966237" y="3150662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4296516" y="4616560"/>
            <a:ext cx="1573899" cy="1563688"/>
          </a:xfrm>
          <a:prstGeom prst="ellipse">
            <a:avLst/>
          </a:prstGeom>
          <a:solidFill>
            <a:srgbClr val="92D050"/>
          </a:solidFill>
          <a:ln w="38100" cap="flat">
            <a:solidFill>
              <a:srgbClr val="92D05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5962146" y="2290930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4521753" y="3728778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5962146" y="5234486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TextBox 13"/>
          <p:cNvSpPr txBox="1"/>
          <p:nvPr/>
        </p:nvSpPr>
        <p:spPr>
          <a:xfrm flipH="1">
            <a:off x="4532953" y="2002784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5211125" y="3471022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4545433" y="4954483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03</a:t>
            </a:r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768771" y="827620"/>
            <a:ext cx="109818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中取出一条新的微指令时，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都增加，只有下列情况例外：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18998" y="1616967"/>
            <a:ext cx="55527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时，就把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“取指”微程序的入口地址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，开始取指令周期；</a:t>
            </a:r>
          </a:p>
        </p:txBody>
      </p:sp>
      <p:sp>
        <p:nvSpPr>
          <p:cNvPr id="4" name="矩形 3"/>
          <p:cNvSpPr/>
          <p:nvPr/>
        </p:nvSpPr>
        <p:spPr>
          <a:xfrm>
            <a:off x="223788" y="2713115"/>
            <a:ext cx="38943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当一条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新的指令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时，就把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该指令的微程序的入口地址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24" name="矩形 23"/>
          <p:cNvSpPr/>
          <p:nvPr/>
        </p:nvSpPr>
        <p:spPr>
          <a:xfrm>
            <a:off x="6421099" y="4705906"/>
            <a:ext cx="534852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转移微指令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满足转移条件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时，就把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转移地址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1811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99">
        <p14:prism/>
      </p:transition>
    </mc:Choice>
    <mc:Fallback xmlns="">
      <p:transition spd="slow" advTm="889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27164" y="1146659"/>
            <a:ext cx="81923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增量方式的优、缺点：</a:t>
            </a:r>
            <a:endParaRPr lang="zh-CN" altLang="en-US" sz="3200" b="1" dirty="0">
              <a:solidFill>
                <a:srgbClr val="01C0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42690"/>
          <p:cNvSpPr txBox="1">
            <a:spLocks/>
          </p:cNvSpPr>
          <p:nvPr/>
        </p:nvSpPr>
        <p:spPr>
          <a:xfrm>
            <a:off x="1409605" y="1833034"/>
            <a:ext cx="9327426" cy="36210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优点：简单</a:t>
            </a: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，易于掌握，编制微程序容易，每条机器指令所对应的一段微程序一般安排在</a:t>
            </a:r>
            <a:r>
              <a:rPr lang="en-US" altLang="zh-CN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的连续单元中</a:t>
            </a:r>
            <a:r>
              <a:rPr lang="zh-CN" altLang="en-US" sz="2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6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缺点：这种</a:t>
            </a: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方式不能实现两路以上的并行微程序转移，因而不利于提高微程序的执行速度</a:t>
            </a:r>
            <a:r>
              <a:rPr lang="zh-CN" altLang="en-US" sz="2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477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722" y="1401555"/>
            <a:ext cx="10515600" cy="4351338"/>
          </a:xfrm>
          <a:ln w="28575">
            <a:solidFill>
              <a:srgbClr val="01C0B0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断定方式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与增量方式不同，它不采用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μPC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，微指令地址由微地址寄存器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提供。在微指令格式中，设置一个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下地址字段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，用于指明下一条要执行的微指令地址。当一条微指令被取出时，下一条微指令的地址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即下地址字段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。它相当于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每条微指令都具有转移微指令的功能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。采用这种方法就不必设置专门的转移微指令，但增加了微指令字的长度。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增量方式与断定方式的结合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10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722" y="1051560"/>
            <a:ext cx="10515600" cy="5029199"/>
          </a:xfrm>
          <a:ln w="28575">
            <a:solidFill>
              <a:srgbClr val="01C0B0"/>
            </a:solidFill>
          </a:ln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zh-CN" sz="3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增量</a:t>
            </a:r>
            <a:r>
              <a:rPr lang="zh-CN" altLang="zh-CN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方式与断定方式的</a:t>
            </a:r>
            <a:r>
              <a:rPr lang="zh-CN" altLang="zh-CN" sz="3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endParaRPr lang="en-US" altLang="zh-CN" sz="3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这种控制方式中，微地址寄存器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有计数的功能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断定方式中的微地址寄存器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无计数功能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，但在微指令中仍设置一个顺序控制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字段。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其顺序控制字段一般由两部分组成：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顺序地址字段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测试字段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顺序地址字段。可由设计者指定，一般是微地址的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位部分，用来指定后继微地址在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中的某个区域内。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测试字段。根据有关状态的测试结果确定其地址值，一般对应于微地址的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位部分，相当于在指定区域内确定具体的分支。所依据的测试状态可能是指定的开关状态、指令操作码、状态字等。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测试字段如果只有一位，则微地址产生两路</a:t>
            </a:r>
            <a:r>
              <a:rPr lang="zh-CN" altLang="en-US" sz="3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分支；</a:t>
            </a: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若有两位，则最多可产生四路分支；依此类推，测试字段为</a:t>
            </a:r>
            <a:r>
              <a:rPr lang="en-US" altLang="zh-CN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位为最多可产生</a:t>
            </a:r>
            <a:r>
              <a:rPr lang="en-US" altLang="zh-CN" sz="3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100" b="1" baseline="30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路分支。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若无转移要求，则微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地址寄存器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得到后继微指令的地址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0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标题 244737"/>
          <p:cNvSpPr>
            <a:spLocks noGrp="1"/>
          </p:cNvSpPr>
          <p:nvPr>
            <p:ph type="title"/>
          </p:nvPr>
        </p:nvSpPr>
        <p:spPr>
          <a:xfrm>
            <a:off x="820933" y="243671"/>
            <a:ext cx="7047490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微指令的格式及执行方式</a:t>
            </a:r>
          </a:p>
        </p:txBody>
      </p:sp>
      <p:sp>
        <p:nvSpPr>
          <p:cNvPr id="244739" name="文本占位符 244738"/>
          <p:cNvSpPr>
            <a:spLocks noGrp="1"/>
          </p:cNvSpPr>
          <p:nvPr>
            <p:ph type="body" idx="1"/>
          </p:nvPr>
        </p:nvSpPr>
        <p:spPr>
          <a:xfrm>
            <a:off x="4106840" y="1981006"/>
            <a:ext cx="8844886" cy="313690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微指令的格式主要分成两类：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水平型微指令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垂直型微指令</a:t>
            </a:r>
          </a:p>
          <a:p>
            <a:pPr marL="0" indent="0">
              <a:lnSpc>
                <a:spcPct val="20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" y="2164754"/>
            <a:ext cx="2784925" cy="2528499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820933" y="2925141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1099075" y="3092886"/>
            <a:ext cx="680933" cy="772597"/>
          </a:xfrm>
          <a:custGeom>
            <a:avLst/>
            <a:gdLst>
              <a:gd name="T0" fmla="*/ 402 w 630"/>
              <a:gd name="T1" fmla="*/ 89 h 711"/>
              <a:gd name="T2" fmla="*/ 313 w 630"/>
              <a:gd name="T3" fmla="*/ 178 h 711"/>
              <a:gd name="T4" fmla="*/ 223 w 630"/>
              <a:gd name="T5" fmla="*/ 178 h 711"/>
              <a:gd name="T6" fmla="*/ 134 w 630"/>
              <a:gd name="T7" fmla="*/ 89 h 711"/>
              <a:gd name="T8" fmla="*/ 223 w 630"/>
              <a:gd name="T9" fmla="*/ 0 h 711"/>
              <a:gd name="T10" fmla="*/ 313 w 630"/>
              <a:gd name="T11" fmla="*/ 0 h 711"/>
              <a:gd name="T12" fmla="*/ 402 w 630"/>
              <a:gd name="T13" fmla="*/ 89 h 711"/>
              <a:gd name="T14" fmla="*/ 445 w 630"/>
              <a:gd name="T15" fmla="*/ 89 h 711"/>
              <a:gd name="T16" fmla="*/ 446 w 630"/>
              <a:gd name="T17" fmla="*/ 109 h 711"/>
              <a:gd name="T18" fmla="*/ 335 w 630"/>
              <a:gd name="T19" fmla="*/ 221 h 711"/>
              <a:gd name="T20" fmla="*/ 201 w 630"/>
              <a:gd name="T21" fmla="*/ 221 h 711"/>
              <a:gd name="T22" fmla="*/ 90 w 630"/>
              <a:gd name="T23" fmla="*/ 109 h 711"/>
              <a:gd name="T24" fmla="*/ 92 w 630"/>
              <a:gd name="T25" fmla="*/ 89 h 711"/>
              <a:gd name="T26" fmla="*/ 0 w 630"/>
              <a:gd name="T27" fmla="*/ 198 h 711"/>
              <a:gd name="T28" fmla="*/ 0 w 630"/>
              <a:gd name="T29" fmla="*/ 600 h 711"/>
              <a:gd name="T30" fmla="*/ 112 w 630"/>
              <a:gd name="T31" fmla="*/ 711 h 711"/>
              <a:gd name="T32" fmla="*/ 409 w 630"/>
              <a:gd name="T33" fmla="*/ 711 h 711"/>
              <a:gd name="T34" fmla="*/ 288 w 630"/>
              <a:gd name="T35" fmla="*/ 528 h 711"/>
              <a:gd name="T36" fmla="*/ 487 w 630"/>
              <a:gd name="T37" fmla="*/ 328 h 711"/>
              <a:gd name="T38" fmla="*/ 536 w 630"/>
              <a:gd name="T39" fmla="*/ 335 h 711"/>
              <a:gd name="T40" fmla="*/ 536 w 630"/>
              <a:gd name="T41" fmla="*/ 198 h 711"/>
              <a:gd name="T42" fmla="*/ 445 w 630"/>
              <a:gd name="T43" fmla="*/ 89 h 711"/>
              <a:gd name="T44" fmla="*/ 251 w 630"/>
              <a:gd name="T45" fmla="*/ 446 h 711"/>
              <a:gd name="T46" fmla="*/ 251 w 630"/>
              <a:gd name="T47" fmla="*/ 446 h 711"/>
              <a:gd name="T48" fmla="*/ 112 w 630"/>
              <a:gd name="T49" fmla="*/ 446 h 711"/>
              <a:gd name="T50" fmla="*/ 90 w 630"/>
              <a:gd name="T51" fmla="*/ 423 h 711"/>
              <a:gd name="T52" fmla="*/ 112 w 630"/>
              <a:gd name="T53" fmla="*/ 401 h 711"/>
              <a:gd name="T54" fmla="*/ 251 w 630"/>
              <a:gd name="T55" fmla="*/ 401 h 711"/>
              <a:gd name="T56" fmla="*/ 274 w 630"/>
              <a:gd name="T57" fmla="*/ 423 h 711"/>
              <a:gd name="T58" fmla="*/ 251 w 630"/>
              <a:gd name="T59" fmla="*/ 446 h 711"/>
              <a:gd name="T60" fmla="*/ 296 w 630"/>
              <a:gd name="T61" fmla="*/ 356 h 711"/>
              <a:gd name="T62" fmla="*/ 296 w 630"/>
              <a:gd name="T63" fmla="*/ 356 h 711"/>
              <a:gd name="T64" fmla="*/ 112 w 630"/>
              <a:gd name="T65" fmla="*/ 356 h 711"/>
              <a:gd name="T66" fmla="*/ 90 w 630"/>
              <a:gd name="T67" fmla="*/ 334 h 711"/>
              <a:gd name="T68" fmla="*/ 112 w 630"/>
              <a:gd name="T69" fmla="*/ 312 h 711"/>
              <a:gd name="T70" fmla="*/ 296 w 630"/>
              <a:gd name="T71" fmla="*/ 312 h 711"/>
              <a:gd name="T72" fmla="*/ 318 w 630"/>
              <a:gd name="T73" fmla="*/ 334 h 711"/>
              <a:gd name="T74" fmla="*/ 296 w 630"/>
              <a:gd name="T75" fmla="*/ 356 h 711"/>
              <a:gd name="T76" fmla="*/ 524 w 630"/>
              <a:gd name="T77" fmla="*/ 390 h 711"/>
              <a:gd name="T78" fmla="*/ 488 w 630"/>
              <a:gd name="T79" fmla="*/ 385 h 711"/>
              <a:gd name="T80" fmla="*/ 346 w 630"/>
              <a:gd name="T81" fmla="*/ 527 h 711"/>
              <a:gd name="T82" fmla="*/ 458 w 630"/>
              <a:gd name="T83" fmla="*/ 666 h 711"/>
              <a:gd name="T84" fmla="*/ 488 w 630"/>
              <a:gd name="T85" fmla="*/ 669 h 711"/>
              <a:gd name="T86" fmla="*/ 630 w 630"/>
              <a:gd name="T87" fmla="*/ 527 h 711"/>
              <a:gd name="T88" fmla="*/ 524 w 630"/>
              <a:gd name="T89" fmla="*/ 390 h 711"/>
              <a:gd name="T90" fmla="*/ 569 w 630"/>
              <a:gd name="T91" fmla="*/ 507 h 711"/>
              <a:gd name="T92" fmla="*/ 569 w 630"/>
              <a:gd name="T93" fmla="*/ 507 h 711"/>
              <a:gd name="T94" fmla="*/ 524 w 630"/>
              <a:gd name="T95" fmla="*/ 552 h 711"/>
              <a:gd name="T96" fmla="*/ 488 w 630"/>
              <a:gd name="T97" fmla="*/ 588 h 711"/>
              <a:gd name="T98" fmla="*/ 448 w 630"/>
              <a:gd name="T99" fmla="*/ 588 h 711"/>
              <a:gd name="T100" fmla="*/ 408 w 630"/>
              <a:gd name="T101" fmla="*/ 547 h 711"/>
              <a:gd name="T102" fmla="*/ 408 w 630"/>
              <a:gd name="T103" fmla="*/ 507 h 711"/>
              <a:gd name="T104" fmla="*/ 448 w 630"/>
              <a:gd name="T105" fmla="*/ 507 h 711"/>
              <a:gd name="T106" fmla="*/ 468 w 630"/>
              <a:gd name="T107" fmla="*/ 527 h 711"/>
              <a:gd name="T108" fmla="*/ 524 w 630"/>
              <a:gd name="T109" fmla="*/ 472 h 711"/>
              <a:gd name="T110" fmla="*/ 528 w 630"/>
              <a:gd name="T111" fmla="*/ 467 h 711"/>
              <a:gd name="T112" fmla="*/ 569 w 630"/>
              <a:gd name="T113" fmla="*/ 467 h 711"/>
              <a:gd name="T114" fmla="*/ 569 w 630"/>
              <a:gd name="T115" fmla="*/ 507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30" h="711">
                <a:moveTo>
                  <a:pt x="402" y="89"/>
                </a:moveTo>
                <a:cubicBezTo>
                  <a:pt x="402" y="138"/>
                  <a:pt x="362" y="178"/>
                  <a:pt x="313" y="178"/>
                </a:cubicBezTo>
                <a:lnTo>
                  <a:pt x="223" y="178"/>
                </a:lnTo>
                <a:cubicBezTo>
                  <a:pt x="174" y="178"/>
                  <a:pt x="134" y="138"/>
                  <a:pt x="134" y="89"/>
                </a:cubicBezTo>
                <a:cubicBezTo>
                  <a:pt x="134" y="39"/>
                  <a:pt x="174" y="0"/>
                  <a:pt x="223" y="0"/>
                </a:cubicBezTo>
                <a:lnTo>
                  <a:pt x="313" y="0"/>
                </a:lnTo>
                <a:cubicBezTo>
                  <a:pt x="362" y="0"/>
                  <a:pt x="402" y="39"/>
                  <a:pt x="402" y="89"/>
                </a:cubicBezTo>
                <a:close/>
                <a:moveTo>
                  <a:pt x="445" y="89"/>
                </a:moveTo>
                <a:cubicBezTo>
                  <a:pt x="446" y="95"/>
                  <a:pt x="446" y="102"/>
                  <a:pt x="446" y="109"/>
                </a:cubicBezTo>
                <a:cubicBezTo>
                  <a:pt x="446" y="171"/>
                  <a:pt x="397" y="221"/>
                  <a:pt x="335" y="221"/>
                </a:cubicBezTo>
                <a:lnTo>
                  <a:pt x="201" y="221"/>
                </a:lnTo>
                <a:cubicBezTo>
                  <a:pt x="140" y="221"/>
                  <a:pt x="90" y="171"/>
                  <a:pt x="90" y="109"/>
                </a:cubicBezTo>
                <a:cubicBezTo>
                  <a:pt x="90" y="102"/>
                  <a:pt x="90" y="95"/>
                  <a:pt x="92" y="89"/>
                </a:cubicBezTo>
                <a:cubicBezTo>
                  <a:pt x="40" y="98"/>
                  <a:pt x="0" y="144"/>
                  <a:pt x="0" y="198"/>
                </a:cubicBezTo>
                <a:lnTo>
                  <a:pt x="0" y="600"/>
                </a:lnTo>
                <a:cubicBezTo>
                  <a:pt x="0" y="661"/>
                  <a:pt x="50" y="711"/>
                  <a:pt x="112" y="711"/>
                </a:cubicBezTo>
                <a:lnTo>
                  <a:pt x="409" y="711"/>
                </a:lnTo>
                <a:cubicBezTo>
                  <a:pt x="338" y="681"/>
                  <a:pt x="288" y="610"/>
                  <a:pt x="288" y="528"/>
                </a:cubicBezTo>
                <a:cubicBezTo>
                  <a:pt x="288" y="418"/>
                  <a:pt x="377" y="328"/>
                  <a:pt x="487" y="328"/>
                </a:cubicBezTo>
                <a:cubicBezTo>
                  <a:pt x="504" y="328"/>
                  <a:pt x="520" y="331"/>
                  <a:pt x="536" y="335"/>
                </a:cubicBezTo>
                <a:lnTo>
                  <a:pt x="536" y="198"/>
                </a:lnTo>
                <a:cubicBezTo>
                  <a:pt x="536" y="144"/>
                  <a:pt x="496" y="98"/>
                  <a:pt x="445" y="89"/>
                </a:cubicBezTo>
                <a:close/>
                <a:moveTo>
                  <a:pt x="251" y="446"/>
                </a:moveTo>
                <a:lnTo>
                  <a:pt x="251" y="446"/>
                </a:lnTo>
                <a:lnTo>
                  <a:pt x="112" y="446"/>
                </a:lnTo>
                <a:cubicBezTo>
                  <a:pt x="100" y="446"/>
                  <a:pt x="90" y="436"/>
                  <a:pt x="90" y="423"/>
                </a:cubicBezTo>
                <a:cubicBezTo>
                  <a:pt x="90" y="411"/>
                  <a:pt x="100" y="401"/>
                  <a:pt x="112" y="401"/>
                </a:cubicBezTo>
                <a:lnTo>
                  <a:pt x="251" y="401"/>
                </a:lnTo>
                <a:cubicBezTo>
                  <a:pt x="264" y="401"/>
                  <a:pt x="274" y="411"/>
                  <a:pt x="274" y="423"/>
                </a:cubicBezTo>
                <a:cubicBezTo>
                  <a:pt x="274" y="436"/>
                  <a:pt x="264" y="446"/>
                  <a:pt x="251" y="446"/>
                </a:cubicBezTo>
                <a:close/>
                <a:moveTo>
                  <a:pt x="296" y="356"/>
                </a:moveTo>
                <a:lnTo>
                  <a:pt x="296" y="356"/>
                </a:lnTo>
                <a:lnTo>
                  <a:pt x="112" y="356"/>
                </a:lnTo>
                <a:cubicBezTo>
                  <a:pt x="100" y="356"/>
                  <a:pt x="90" y="346"/>
                  <a:pt x="90" y="334"/>
                </a:cubicBezTo>
                <a:cubicBezTo>
                  <a:pt x="90" y="322"/>
                  <a:pt x="100" y="312"/>
                  <a:pt x="112" y="312"/>
                </a:cubicBezTo>
                <a:lnTo>
                  <a:pt x="296" y="312"/>
                </a:lnTo>
                <a:cubicBezTo>
                  <a:pt x="308" y="312"/>
                  <a:pt x="318" y="322"/>
                  <a:pt x="318" y="334"/>
                </a:cubicBezTo>
                <a:cubicBezTo>
                  <a:pt x="318" y="346"/>
                  <a:pt x="308" y="356"/>
                  <a:pt x="296" y="356"/>
                </a:cubicBezTo>
                <a:close/>
                <a:moveTo>
                  <a:pt x="524" y="390"/>
                </a:moveTo>
                <a:cubicBezTo>
                  <a:pt x="512" y="387"/>
                  <a:pt x="501" y="385"/>
                  <a:pt x="488" y="385"/>
                </a:cubicBezTo>
                <a:cubicBezTo>
                  <a:pt x="410" y="385"/>
                  <a:pt x="346" y="449"/>
                  <a:pt x="346" y="527"/>
                </a:cubicBezTo>
                <a:cubicBezTo>
                  <a:pt x="346" y="596"/>
                  <a:pt x="394" y="652"/>
                  <a:pt x="458" y="666"/>
                </a:cubicBezTo>
                <a:cubicBezTo>
                  <a:pt x="468" y="668"/>
                  <a:pt x="478" y="669"/>
                  <a:pt x="488" y="669"/>
                </a:cubicBezTo>
                <a:cubicBezTo>
                  <a:pt x="567" y="669"/>
                  <a:pt x="630" y="606"/>
                  <a:pt x="630" y="527"/>
                </a:cubicBezTo>
                <a:cubicBezTo>
                  <a:pt x="630" y="461"/>
                  <a:pt x="585" y="405"/>
                  <a:pt x="524" y="390"/>
                </a:cubicBezTo>
                <a:close/>
                <a:moveTo>
                  <a:pt x="569" y="507"/>
                </a:moveTo>
                <a:lnTo>
                  <a:pt x="569" y="507"/>
                </a:lnTo>
                <a:lnTo>
                  <a:pt x="524" y="552"/>
                </a:lnTo>
                <a:lnTo>
                  <a:pt x="488" y="588"/>
                </a:lnTo>
                <a:cubicBezTo>
                  <a:pt x="477" y="599"/>
                  <a:pt x="459" y="599"/>
                  <a:pt x="448" y="588"/>
                </a:cubicBezTo>
                <a:lnTo>
                  <a:pt x="408" y="547"/>
                </a:lnTo>
                <a:cubicBezTo>
                  <a:pt x="397" y="536"/>
                  <a:pt x="397" y="518"/>
                  <a:pt x="408" y="507"/>
                </a:cubicBezTo>
                <a:cubicBezTo>
                  <a:pt x="419" y="496"/>
                  <a:pt x="437" y="496"/>
                  <a:pt x="448" y="507"/>
                </a:cubicBezTo>
                <a:lnTo>
                  <a:pt x="468" y="527"/>
                </a:lnTo>
                <a:lnTo>
                  <a:pt x="524" y="472"/>
                </a:lnTo>
                <a:lnTo>
                  <a:pt x="528" y="467"/>
                </a:lnTo>
                <a:cubicBezTo>
                  <a:pt x="540" y="456"/>
                  <a:pt x="558" y="456"/>
                  <a:pt x="569" y="467"/>
                </a:cubicBezTo>
                <a:cubicBezTo>
                  <a:pt x="580" y="478"/>
                  <a:pt x="580" y="496"/>
                  <a:pt x="569" y="507"/>
                </a:cubicBezTo>
                <a:close/>
              </a:path>
            </a:pathLst>
          </a:custGeom>
          <a:solidFill>
            <a:srgbClr val="02B9E7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349287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295556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水平型微指令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256676" y="1300646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1137661" y="3805145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1137661" y="4531274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593095" y="1221299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593095" y="2998099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875773" y="1049450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75773" y="2835601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0" name="Oval 6"/>
          <p:cNvSpPr>
            <a:spLocks noChangeArrowheads="1"/>
          </p:cNvSpPr>
          <p:nvPr/>
        </p:nvSpPr>
        <p:spPr bwMode="auto">
          <a:xfrm>
            <a:off x="1137661" y="2018994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4" name="Oval 7"/>
          <p:cNvSpPr>
            <a:spLocks noChangeArrowheads="1"/>
          </p:cNvSpPr>
          <p:nvPr/>
        </p:nvSpPr>
        <p:spPr bwMode="auto">
          <a:xfrm>
            <a:off x="1137661" y="5150107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1900950" y="1062165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什么是水平型微指令？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94708" y="1865929"/>
            <a:ext cx="8545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一次能定义并执行多个并行操作微命令的微指令；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0950" y="2816026"/>
            <a:ext cx="6288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按照控制字段的编码不同，分为三种：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0243" y="3634992"/>
            <a:ext cx="45961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全水平型（直接表示法）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07303" y="4381636"/>
            <a:ext cx="31598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字段直接译码法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5692" y="5020443"/>
            <a:ext cx="4955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直接表示和字段译码混合法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950" y="5654462"/>
            <a:ext cx="7769017" cy="524596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4895274" y="629326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水平型微指令格式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839988" y="5654462"/>
            <a:ext cx="3463531" cy="524597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81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26">
        <p14:prism/>
      </p:transition>
    </mc:Choice>
    <mc:Fallback xmlns="">
      <p:transition spd="slow" advTm="88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5122" name="Picture 2" descr="E:\我的文档\商务图片\19147185_150127007000_2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4426" y="3666022"/>
            <a:ext cx="5022365" cy="2821733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E:\我的文档\商务图片\Nipic_1082507_20091207090526024812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28894" y="3661058"/>
            <a:ext cx="5110573" cy="282669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1045556" y="1289258"/>
            <a:ext cx="10222393" cy="2116756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970969" y="114326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10811033" y="294479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875773" y="231119"/>
            <a:ext cx="2646878" cy="63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垂直型微指令</a:t>
            </a:r>
          </a:p>
        </p:txBody>
      </p:sp>
      <p:sp>
        <p:nvSpPr>
          <p:cNvPr id="3" name="矩形 2"/>
          <p:cNvSpPr/>
          <p:nvPr/>
        </p:nvSpPr>
        <p:spPr>
          <a:xfrm>
            <a:off x="1104612" y="1525872"/>
            <a:ext cx="1010428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什么是垂直型微指令？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微指令中设置微操作码字段，采用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微操作码编译法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来规定微指令的功能的微指令，称为垂直型微指令。</a:t>
            </a:r>
          </a:p>
        </p:txBody>
      </p:sp>
    </p:spTree>
    <p:extLst>
      <p:ext uri="{BB962C8B-B14F-4D97-AF65-F5344CB8AC3E}">
        <p14:creationId xmlns:p14="http://schemas.microsoft.com/office/powerpoint/2010/main" val="130145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4107">
        <p14:prism/>
      </p:transition>
    </mc:Choice>
    <mc:Fallback xmlns="">
      <p:transition spd="slow" advTm="4107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标题 246785"/>
          <p:cNvSpPr>
            <a:spLocks noGrp="1"/>
          </p:cNvSpPr>
          <p:nvPr>
            <p:ph type="title"/>
          </p:nvPr>
        </p:nvSpPr>
        <p:spPr>
          <a:xfrm>
            <a:off x="875773" y="216682"/>
            <a:ext cx="4633913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垂直型微指令</a:t>
            </a:r>
          </a:p>
        </p:txBody>
      </p:sp>
      <p:sp>
        <p:nvSpPr>
          <p:cNvPr id="7" name="矩形 6"/>
          <p:cNvSpPr/>
          <p:nvPr/>
        </p:nvSpPr>
        <p:spPr>
          <a:xfrm>
            <a:off x="1012251" y="953209"/>
            <a:ext cx="4644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）寄存器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寄存器传送型微指令</a:t>
            </a:r>
          </a:p>
        </p:txBody>
      </p:sp>
      <p:sp>
        <p:nvSpPr>
          <p:cNvPr id="8" name="矩形 7"/>
          <p:cNvSpPr/>
          <p:nvPr/>
        </p:nvSpPr>
        <p:spPr>
          <a:xfrm>
            <a:off x="1012251" y="2413384"/>
            <a:ext cx="3143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）运算控制型微指令</a:t>
            </a:r>
          </a:p>
        </p:txBody>
      </p:sp>
      <p:sp>
        <p:nvSpPr>
          <p:cNvPr id="10" name="矩形 9"/>
          <p:cNvSpPr/>
          <p:nvPr/>
        </p:nvSpPr>
        <p:spPr>
          <a:xfrm>
            <a:off x="1012250" y="5196547"/>
            <a:ext cx="2836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）条件转移微指令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1" y="1414874"/>
            <a:ext cx="8497491" cy="87009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1" y="2902173"/>
            <a:ext cx="8497489" cy="7927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51" y="4232023"/>
            <a:ext cx="8497486" cy="85075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1" y="5747463"/>
            <a:ext cx="8497486" cy="75408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012251" y="3808427"/>
            <a:ext cx="2836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）访问主存微指令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1" name="矩形 20"/>
          <p:cNvSpPr/>
          <p:nvPr/>
        </p:nvSpPr>
        <p:spPr>
          <a:xfrm>
            <a:off x="7966445" y="3108960"/>
            <a:ext cx="1543292" cy="61644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402565" y="4505694"/>
            <a:ext cx="1406155" cy="61644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405843" y="6009237"/>
            <a:ext cx="4981482" cy="49230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93920" y="5642972"/>
            <a:ext cx="96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微地址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326364" y="5963517"/>
            <a:ext cx="2183373" cy="5815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15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" grpId="0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1307</Words>
  <Application>Microsoft Office PowerPoint</Application>
  <PresentationFormat>宽屏</PresentationFormat>
  <Paragraphs>115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宋体</vt:lpstr>
      <vt:lpstr>微软雅黑</vt:lpstr>
      <vt:lpstr>Arial</vt:lpstr>
      <vt:lpstr>Calibri</vt:lpstr>
      <vt:lpstr>Calibri Light</vt:lpstr>
      <vt:lpstr>Wingdings</vt:lpstr>
      <vt:lpstr>第一PPT，www.1ppt.com</vt:lpstr>
      <vt:lpstr>PowerPoint 演示文稿</vt:lpstr>
      <vt:lpstr>PowerPoint 演示文稿</vt:lpstr>
      <vt:lpstr>微程序入口地址的形成</vt:lpstr>
      <vt:lpstr>PowerPoint 演示文稿</vt:lpstr>
      <vt:lpstr>PowerPoint 演示文稿</vt:lpstr>
      <vt:lpstr>后续微地址的形成</vt:lpstr>
      <vt:lpstr>后续微地址的形成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微指令的格式及执行方式</vt:lpstr>
      <vt:lpstr>PowerPoint 演示文稿</vt:lpstr>
      <vt:lpstr>PowerPoint 演示文稿</vt:lpstr>
      <vt:lpstr>垂直型微指令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yhw</cp:lastModifiedBy>
  <cp:revision>42</cp:revision>
  <dcterms:created xsi:type="dcterms:W3CDTF">2016-06-01T05:10:04Z</dcterms:created>
  <dcterms:modified xsi:type="dcterms:W3CDTF">2017-06-04T22:30:02Z</dcterms:modified>
</cp:coreProperties>
</file>