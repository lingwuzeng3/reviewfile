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319" r:id="rId2"/>
    <p:sldId id="408" r:id="rId3"/>
    <p:sldId id="391" r:id="rId4"/>
    <p:sldId id="388" r:id="rId5"/>
    <p:sldId id="365" r:id="rId6"/>
    <p:sldId id="366" r:id="rId7"/>
    <p:sldId id="401" r:id="rId8"/>
    <p:sldId id="400" r:id="rId9"/>
    <p:sldId id="369" r:id="rId10"/>
    <p:sldId id="370" r:id="rId11"/>
    <p:sldId id="371" r:id="rId12"/>
    <p:sldId id="402" r:id="rId13"/>
    <p:sldId id="393" r:id="rId14"/>
    <p:sldId id="404" r:id="rId15"/>
    <p:sldId id="389" r:id="rId16"/>
    <p:sldId id="397" r:id="rId17"/>
    <p:sldId id="403" r:id="rId18"/>
    <p:sldId id="378" r:id="rId19"/>
    <p:sldId id="405" r:id="rId20"/>
    <p:sldId id="380" r:id="rId21"/>
    <p:sldId id="395" r:id="rId22"/>
    <p:sldId id="407" r:id="rId23"/>
    <p:sldId id="383" r:id="rId24"/>
    <p:sldId id="396" r:id="rId25"/>
    <p:sldId id="398" r:id="rId26"/>
    <p:sldId id="386" r:id="rId27"/>
    <p:sldId id="409"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04BEB0"/>
    <a:srgbClr val="92D050"/>
    <a:srgbClr val="01C0B0"/>
    <a:srgbClr val="02B9E7"/>
    <a:srgbClr val="04B0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64" autoAdjust="0"/>
    <p:restoredTop sz="94660"/>
  </p:normalViewPr>
  <p:slideViewPr>
    <p:cSldViewPr snapToGrid="0" showGuides="1">
      <p:cViewPr varScale="1">
        <p:scale>
          <a:sx n="87" d="100"/>
          <a:sy n="87" d="100"/>
        </p:scale>
        <p:origin x="826" y="77"/>
      </p:cViewPr>
      <p:guideLst>
        <p:guide orient="horz" pos="2160"/>
        <p:guide pos="3840"/>
      </p:guideLst>
    </p:cSldViewPr>
  </p:slideViewPr>
  <p:notesTextViewPr>
    <p:cViewPr>
      <p:scale>
        <a:sx n="1" d="1"/>
        <a:sy n="1" d="1"/>
      </p:scale>
      <p:origin x="0" y="0"/>
    </p:cViewPr>
  </p:notesTextViewPr>
  <p:sorterViewPr>
    <p:cViewPr>
      <p:scale>
        <a:sx n="60" d="100"/>
        <a:sy n="60" d="100"/>
      </p:scale>
      <p:origin x="0" y="0"/>
    </p:cViewPr>
  </p:sorterViewPr>
  <p:notesViewPr>
    <p:cSldViewPr snapToGrid="0" showGuides="1">
      <p:cViewPr varScale="1">
        <p:scale>
          <a:sx n="57" d="100"/>
          <a:sy n="57" d="100"/>
        </p:scale>
        <p:origin x="2808" y="3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45179F-D55D-4E6A-ACC3-78A2A86D31C8}" type="doc">
      <dgm:prSet loTypeId="urn:microsoft.com/office/officeart/2005/8/layout/radial2" loCatId="relationship" qsTypeId="urn:microsoft.com/office/officeart/2005/8/quickstyle/simple1" qsCatId="simple" csTypeId="urn:microsoft.com/office/officeart/2005/8/colors/accent1_2" csCatId="accent1" phldr="1"/>
      <dgm:spPr/>
      <dgm:t>
        <a:bodyPr/>
        <a:lstStyle/>
        <a:p>
          <a:endParaRPr lang="zh-CN" altLang="en-US"/>
        </a:p>
      </dgm:t>
    </dgm:pt>
    <dgm:pt modelId="{6ED69EEC-AAA6-4CDC-AAC0-C7C0520241D0}">
      <dgm:prSet custT="1"/>
      <dgm:spPr>
        <a:solidFill>
          <a:srgbClr val="92D050"/>
        </a:solidFill>
        <a:ln>
          <a:solidFill>
            <a:srgbClr val="92D050"/>
          </a:solidFill>
        </a:ln>
      </dgm:spPr>
      <dgm:t>
        <a:bodyPr/>
        <a:lstStyle/>
        <a:p>
          <a:r>
            <a:rPr lang="zh-CN" altLang="en-US" sz="2800" b="1" dirty="0">
              <a:latin typeface="微软雅黑" panose="020B0503020204020204" pitchFamily="34" charset="-122"/>
              <a:ea typeface="微软雅黑" panose="020B0503020204020204" pitchFamily="34" charset="-122"/>
            </a:rPr>
            <a:t>外部</a:t>
          </a:r>
          <a:endParaRPr lang="en-US" altLang="zh-CN" sz="2800" b="1" dirty="0">
            <a:latin typeface="微软雅黑" panose="020B0503020204020204" pitchFamily="34" charset="-122"/>
            <a:ea typeface="微软雅黑" panose="020B0503020204020204" pitchFamily="34" charset="-122"/>
          </a:endParaRPr>
        </a:p>
        <a:p>
          <a:r>
            <a:rPr lang="zh-CN" altLang="en-US" sz="2800" b="1" dirty="0">
              <a:latin typeface="微软雅黑" panose="020B0503020204020204" pitchFamily="34" charset="-122"/>
              <a:ea typeface="微软雅黑" panose="020B0503020204020204" pitchFamily="34" charset="-122"/>
            </a:rPr>
            <a:t>中断</a:t>
          </a:r>
          <a:endParaRPr lang="zh-CN" altLang="en-US" sz="2800" dirty="0">
            <a:latin typeface="微软雅黑" panose="020B0503020204020204" pitchFamily="34" charset="-122"/>
            <a:ea typeface="微软雅黑" panose="020B0503020204020204" pitchFamily="34" charset="-122"/>
          </a:endParaRPr>
        </a:p>
      </dgm:t>
    </dgm:pt>
    <dgm:pt modelId="{633B311A-94D7-49CF-AF9F-BEEAFBF00F71}" type="parTrans" cxnId="{0B274822-EBDA-4442-A08F-F6E2F77FC16C}">
      <dgm:prSet/>
      <dgm:spPr>
        <a:ln w="57150">
          <a:solidFill>
            <a:srgbClr val="FFC000"/>
          </a:solidFill>
        </a:ln>
      </dgm:spPr>
      <dgm:t>
        <a:bodyPr/>
        <a:lstStyle/>
        <a:p>
          <a:endParaRPr lang="zh-CN" altLang="en-US" sz="2800"/>
        </a:p>
      </dgm:t>
    </dgm:pt>
    <dgm:pt modelId="{52F8928B-22D4-4E43-A980-EF6D7AEC13FB}" type="sibTrans" cxnId="{0B274822-EBDA-4442-A08F-F6E2F77FC16C}">
      <dgm:prSet/>
      <dgm:spPr/>
      <dgm:t>
        <a:bodyPr/>
        <a:lstStyle/>
        <a:p>
          <a:endParaRPr lang="zh-CN" altLang="en-US" sz="2800"/>
        </a:p>
      </dgm:t>
    </dgm:pt>
    <dgm:pt modelId="{C528557D-4F94-41FD-93BA-09DA3FA0B923}">
      <dgm:prSet custT="1"/>
      <dgm:spPr>
        <a:solidFill>
          <a:srgbClr val="92D050"/>
        </a:solidFill>
        <a:ln>
          <a:solidFill>
            <a:srgbClr val="92D050"/>
          </a:solidFill>
        </a:ln>
      </dgm:spPr>
      <dgm:t>
        <a:bodyPr/>
        <a:lstStyle/>
        <a:p>
          <a:r>
            <a:rPr lang="zh-CN" altLang="en-US" sz="2800" b="1" dirty="0">
              <a:latin typeface="微软雅黑" panose="020B0503020204020204" pitchFamily="34" charset="-122"/>
              <a:ea typeface="微软雅黑" panose="020B0503020204020204" pitchFamily="34" charset="-122"/>
            </a:rPr>
            <a:t>内部</a:t>
          </a:r>
          <a:endParaRPr lang="en-US" altLang="zh-CN" sz="2800" b="1" dirty="0">
            <a:latin typeface="微软雅黑" panose="020B0503020204020204" pitchFamily="34" charset="-122"/>
            <a:ea typeface="微软雅黑" panose="020B0503020204020204" pitchFamily="34" charset="-122"/>
          </a:endParaRPr>
        </a:p>
        <a:p>
          <a:r>
            <a:rPr lang="zh-CN" altLang="en-US" sz="2800" b="1" dirty="0">
              <a:latin typeface="微软雅黑" panose="020B0503020204020204" pitchFamily="34" charset="-122"/>
              <a:ea typeface="微软雅黑" panose="020B0503020204020204" pitchFamily="34" charset="-122"/>
            </a:rPr>
            <a:t>中断</a:t>
          </a:r>
          <a:endParaRPr lang="zh-CN" altLang="en-US" sz="2800" dirty="0">
            <a:latin typeface="微软雅黑" panose="020B0503020204020204" pitchFamily="34" charset="-122"/>
            <a:ea typeface="微软雅黑" panose="020B0503020204020204" pitchFamily="34" charset="-122"/>
          </a:endParaRPr>
        </a:p>
      </dgm:t>
    </dgm:pt>
    <dgm:pt modelId="{372D352F-6A7A-4EDA-A4FE-0B31657D228D}" type="parTrans" cxnId="{B55E15E1-D28B-4248-955C-E02DBE005937}">
      <dgm:prSet/>
      <dgm:spPr>
        <a:ln w="57150">
          <a:solidFill>
            <a:srgbClr val="FFC000"/>
          </a:solidFill>
        </a:ln>
      </dgm:spPr>
      <dgm:t>
        <a:bodyPr/>
        <a:lstStyle/>
        <a:p>
          <a:endParaRPr lang="zh-CN" altLang="en-US" sz="2800"/>
        </a:p>
      </dgm:t>
    </dgm:pt>
    <dgm:pt modelId="{DA856F06-8290-4684-824C-E6D35B395A82}" type="sibTrans" cxnId="{B55E15E1-D28B-4248-955C-E02DBE005937}">
      <dgm:prSet/>
      <dgm:spPr/>
      <dgm:t>
        <a:bodyPr/>
        <a:lstStyle/>
        <a:p>
          <a:endParaRPr lang="zh-CN" altLang="en-US" sz="2800"/>
        </a:p>
      </dgm:t>
    </dgm:pt>
    <dgm:pt modelId="{94A8AD7B-900A-4F6A-9133-26E43BD8D427}" type="pres">
      <dgm:prSet presAssocID="{D145179F-D55D-4E6A-ACC3-78A2A86D31C8}" presName="composite" presStyleCnt="0">
        <dgm:presLayoutVars>
          <dgm:chMax val="5"/>
          <dgm:dir/>
          <dgm:animLvl val="ctr"/>
          <dgm:resizeHandles val="exact"/>
        </dgm:presLayoutVars>
      </dgm:prSet>
      <dgm:spPr/>
    </dgm:pt>
    <dgm:pt modelId="{4EFB91F5-18A2-4990-95BE-99A86EF89093}" type="pres">
      <dgm:prSet presAssocID="{D145179F-D55D-4E6A-ACC3-78A2A86D31C8}" presName="cycle" presStyleCnt="0"/>
      <dgm:spPr/>
    </dgm:pt>
    <dgm:pt modelId="{507D89F8-3EF0-43AE-A07D-D66B76BB9037}" type="pres">
      <dgm:prSet presAssocID="{D145179F-D55D-4E6A-ACC3-78A2A86D31C8}" presName="centerShape" presStyleCnt="0"/>
      <dgm:spPr/>
    </dgm:pt>
    <dgm:pt modelId="{132DAD4E-D9AA-4B77-9380-6E7A601CF21F}" type="pres">
      <dgm:prSet presAssocID="{D145179F-D55D-4E6A-ACC3-78A2A86D31C8}" presName="connSite" presStyleLbl="node1" presStyleIdx="0" presStyleCnt="3"/>
      <dgm:spPr/>
    </dgm:pt>
    <dgm:pt modelId="{3EDCAC3F-C430-4B06-AECD-0EB92ECA40D8}" type="pres">
      <dgm:prSet presAssocID="{D145179F-D55D-4E6A-ACC3-78A2A86D31C8}" presName="visible" presStyleLbl="node1" presStyleIdx="0" presStyleCnt="3" custScaleX="88441" custScaleY="88441"/>
      <dgm:spPr>
        <a:solidFill>
          <a:srgbClr val="92D050"/>
        </a:solidFill>
        <a:ln>
          <a:solidFill>
            <a:srgbClr val="92D050"/>
          </a:solidFill>
        </a:ln>
      </dgm:spPr>
    </dgm:pt>
    <dgm:pt modelId="{02575AA7-FB71-45FB-8A4F-BFF8214829E3}" type="pres">
      <dgm:prSet presAssocID="{633B311A-94D7-49CF-AF9F-BEEAFBF00F71}" presName="Name25" presStyleLbl="parChTrans1D1" presStyleIdx="0" presStyleCnt="2"/>
      <dgm:spPr/>
    </dgm:pt>
    <dgm:pt modelId="{E2BA207C-24CE-49C2-A8F5-37B6E95E2CCC}" type="pres">
      <dgm:prSet presAssocID="{6ED69EEC-AAA6-4CDC-AAC0-C7C0520241D0}" presName="node" presStyleCnt="0"/>
      <dgm:spPr/>
    </dgm:pt>
    <dgm:pt modelId="{7C3FDE33-20C4-45B1-82D4-74862DE3B9C9}" type="pres">
      <dgm:prSet presAssocID="{6ED69EEC-AAA6-4CDC-AAC0-C7C0520241D0}" presName="parentNode" presStyleLbl="node1" presStyleIdx="1" presStyleCnt="3" custLinFactNeighborX="54337" custLinFactNeighborY="-24">
        <dgm:presLayoutVars>
          <dgm:chMax val="1"/>
          <dgm:bulletEnabled val="1"/>
        </dgm:presLayoutVars>
      </dgm:prSet>
      <dgm:spPr/>
    </dgm:pt>
    <dgm:pt modelId="{B5505992-F0C1-4071-A0FA-F92A562C2A99}" type="pres">
      <dgm:prSet presAssocID="{6ED69EEC-AAA6-4CDC-AAC0-C7C0520241D0}" presName="childNode" presStyleLbl="revTx" presStyleIdx="0" presStyleCnt="0">
        <dgm:presLayoutVars>
          <dgm:bulletEnabled val="1"/>
        </dgm:presLayoutVars>
      </dgm:prSet>
      <dgm:spPr/>
    </dgm:pt>
    <dgm:pt modelId="{779F7484-74D5-4455-92C3-4C220EB09027}" type="pres">
      <dgm:prSet presAssocID="{372D352F-6A7A-4EDA-A4FE-0B31657D228D}" presName="Name25" presStyleLbl="parChTrans1D1" presStyleIdx="1" presStyleCnt="2"/>
      <dgm:spPr/>
    </dgm:pt>
    <dgm:pt modelId="{1930570A-2497-43FB-B2FA-9B9C56475A7C}" type="pres">
      <dgm:prSet presAssocID="{C528557D-4F94-41FD-93BA-09DA3FA0B923}" presName="node" presStyleCnt="0"/>
      <dgm:spPr/>
    </dgm:pt>
    <dgm:pt modelId="{E29AC773-87DA-4E9E-AC6D-E535B243EC22}" type="pres">
      <dgm:prSet presAssocID="{C528557D-4F94-41FD-93BA-09DA3FA0B923}" presName="parentNode" presStyleLbl="node1" presStyleIdx="2" presStyleCnt="3" custLinFactNeighborX="50959" custLinFactNeighborY="-1077">
        <dgm:presLayoutVars>
          <dgm:chMax val="1"/>
          <dgm:bulletEnabled val="1"/>
        </dgm:presLayoutVars>
      </dgm:prSet>
      <dgm:spPr/>
    </dgm:pt>
    <dgm:pt modelId="{CC82A687-EDD1-4FB0-947B-05182E56248E}" type="pres">
      <dgm:prSet presAssocID="{C528557D-4F94-41FD-93BA-09DA3FA0B923}" presName="childNode" presStyleLbl="revTx" presStyleIdx="0" presStyleCnt="0">
        <dgm:presLayoutVars>
          <dgm:bulletEnabled val="1"/>
        </dgm:presLayoutVars>
      </dgm:prSet>
      <dgm:spPr/>
    </dgm:pt>
  </dgm:ptLst>
  <dgm:cxnLst>
    <dgm:cxn modelId="{6D88E40C-5123-40E6-8FC9-BB209BA48128}" type="presOf" srcId="{6ED69EEC-AAA6-4CDC-AAC0-C7C0520241D0}" destId="{7C3FDE33-20C4-45B1-82D4-74862DE3B9C9}" srcOrd="0" destOrd="0" presId="urn:microsoft.com/office/officeart/2005/8/layout/radial2"/>
    <dgm:cxn modelId="{0B274822-EBDA-4442-A08F-F6E2F77FC16C}" srcId="{D145179F-D55D-4E6A-ACC3-78A2A86D31C8}" destId="{6ED69EEC-AAA6-4CDC-AAC0-C7C0520241D0}" srcOrd="0" destOrd="0" parTransId="{633B311A-94D7-49CF-AF9F-BEEAFBF00F71}" sibTransId="{52F8928B-22D4-4E43-A980-EF6D7AEC13FB}"/>
    <dgm:cxn modelId="{7357E430-BA7D-40F2-8760-A10848019264}" type="presOf" srcId="{D145179F-D55D-4E6A-ACC3-78A2A86D31C8}" destId="{94A8AD7B-900A-4F6A-9133-26E43BD8D427}" srcOrd="0" destOrd="0" presId="urn:microsoft.com/office/officeart/2005/8/layout/radial2"/>
    <dgm:cxn modelId="{90BAA966-CC04-4DDD-81BD-8DE6D9BD3DF8}" type="presOf" srcId="{633B311A-94D7-49CF-AF9F-BEEAFBF00F71}" destId="{02575AA7-FB71-45FB-8A4F-BFF8214829E3}" srcOrd="0" destOrd="0" presId="urn:microsoft.com/office/officeart/2005/8/layout/radial2"/>
    <dgm:cxn modelId="{A4896A79-CE71-4B64-85C5-206A6234BE3D}" type="presOf" srcId="{372D352F-6A7A-4EDA-A4FE-0B31657D228D}" destId="{779F7484-74D5-4455-92C3-4C220EB09027}" srcOrd="0" destOrd="0" presId="urn:microsoft.com/office/officeart/2005/8/layout/radial2"/>
    <dgm:cxn modelId="{5CDDB990-2E8E-4FD4-8A30-64CB51052EB1}" type="presOf" srcId="{C528557D-4F94-41FD-93BA-09DA3FA0B923}" destId="{E29AC773-87DA-4E9E-AC6D-E535B243EC22}" srcOrd="0" destOrd="0" presId="urn:microsoft.com/office/officeart/2005/8/layout/radial2"/>
    <dgm:cxn modelId="{B55E15E1-D28B-4248-955C-E02DBE005937}" srcId="{D145179F-D55D-4E6A-ACC3-78A2A86D31C8}" destId="{C528557D-4F94-41FD-93BA-09DA3FA0B923}" srcOrd="1" destOrd="0" parTransId="{372D352F-6A7A-4EDA-A4FE-0B31657D228D}" sibTransId="{DA856F06-8290-4684-824C-E6D35B395A82}"/>
    <dgm:cxn modelId="{B189DF44-76A9-48AF-9050-1CA8B17C885A}" type="presParOf" srcId="{94A8AD7B-900A-4F6A-9133-26E43BD8D427}" destId="{4EFB91F5-18A2-4990-95BE-99A86EF89093}" srcOrd="0" destOrd="0" presId="urn:microsoft.com/office/officeart/2005/8/layout/radial2"/>
    <dgm:cxn modelId="{90F1CFF1-974B-4ECA-AE7B-2601CD4C9CB5}" type="presParOf" srcId="{4EFB91F5-18A2-4990-95BE-99A86EF89093}" destId="{507D89F8-3EF0-43AE-A07D-D66B76BB9037}" srcOrd="0" destOrd="0" presId="urn:microsoft.com/office/officeart/2005/8/layout/radial2"/>
    <dgm:cxn modelId="{18F9BB90-4112-40C4-B8F6-FA3997A29CE7}" type="presParOf" srcId="{507D89F8-3EF0-43AE-A07D-D66B76BB9037}" destId="{132DAD4E-D9AA-4B77-9380-6E7A601CF21F}" srcOrd="0" destOrd="0" presId="urn:microsoft.com/office/officeart/2005/8/layout/radial2"/>
    <dgm:cxn modelId="{C1B91C09-1287-4999-9BF3-9999958A5736}" type="presParOf" srcId="{507D89F8-3EF0-43AE-A07D-D66B76BB9037}" destId="{3EDCAC3F-C430-4B06-AECD-0EB92ECA40D8}" srcOrd="1" destOrd="0" presId="urn:microsoft.com/office/officeart/2005/8/layout/radial2"/>
    <dgm:cxn modelId="{A38B5D67-18E0-434A-AEB5-F0D4B0E0B934}" type="presParOf" srcId="{4EFB91F5-18A2-4990-95BE-99A86EF89093}" destId="{02575AA7-FB71-45FB-8A4F-BFF8214829E3}" srcOrd="1" destOrd="0" presId="urn:microsoft.com/office/officeart/2005/8/layout/radial2"/>
    <dgm:cxn modelId="{EBF906C1-47F1-4590-82DC-ADC50A61E9E8}" type="presParOf" srcId="{4EFB91F5-18A2-4990-95BE-99A86EF89093}" destId="{E2BA207C-24CE-49C2-A8F5-37B6E95E2CCC}" srcOrd="2" destOrd="0" presId="urn:microsoft.com/office/officeart/2005/8/layout/radial2"/>
    <dgm:cxn modelId="{91980F14-8821-4634-BB06-15D3D0E51BA1}" type="presParOf" srcId="{E2BA207C-24CE-49C2-A8F5-37B6E95E2CCC}" destId="{7C3FDE33-20C4-45B1-82D4-74862DE3B9C9}" srcOrd="0" destOrd="0" presId="urn:microsoft.com/office/officeart/2005/8/layout/radial2"/>
    <dgm:cxn modelId="{D9764173-D354-4AE9-BB9F-99294584189C}" type="presParOf" srcId="{E2BA207C-24CE-49C2-A8F5-37B6E95E2CCC}" destId="{B5505992-F0C1-4071-A0FA-F92A562C2A99}" srcOrd="1" destOrd="0" presId="urn:microsoft.com/office/officeart/2005/8/layout/radial2"/>
    <dgm:cxn modelId="{A1049ACD-871A-4319-B8B7-7BE39FAF7CDE}" type="presParOf" srcId="{4EFB91F5-18A2-4990-95BE-99A86EF89093}" destId="{779F7484-74D5-4455-92C3-4C220EB09027}" srcOrd="3" destOrd="0" presId="urn:microsoft.com/office/officeart/2005/8/layout/radial2"/>
    <dgm:cxn modelId="{9D08F674-66C1-41AE-80D4-443373FED57B}" type="presParOf" srcId="{4EFB91F5-18A2-4990-95BE-99A86EF89093}" destId="{1930570A-2497-43FB-B2FA-9B9C56475A7C}" srcOrd="4" destOrd="0" presId="urn:microsoft.com/office/officeart/2005/8/layout/radial2"/>
    <dgm:cxn modelId="{0F20CCC9-1CBE-4998-B894-C787C12834B4}" type="presParOf" srcId="{1930570A-2497-43FB-B2FA-9B9C56475A7C}" destId="{E29AC773-87DA-4E9E-AC6D-E535B243EC22}" srcOrd="0" destOrd="0" presId="urn:microsoft.com/office/officeart/2005/8/layout/radial2"/>
    <dgm:cxn modelId="{BE63499A-3C3A-47F7-A295-441871ED379B}" type="presParOf" srcId="{1930570A-2497-43FB-B2FA-9B9C56475A7C}" destId="{CC82A687-EDD1-4FB0-947B-05182E56248E}" srcOrd="1" destOrd="0" presId="urn:microsoft.com/office/officeart/2005/8/layout/radial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9F7484-74D5-4455-92C3-4C220EB09027}">
      <dsp:nvSpPr>
        <dsp:cNvPr id="0" name=""/>
        <dsp:cNvSpPr/>
      </dsp:nvSpPr>
      <dsp:spPr>
        <a:xfrm rot="1345728">
          <a:off x="3835472" y="3342234"/>
          <a:ext cx="1884782" cy="52910"/>
        </a:xfrm>
        <a:custGeom>
          <a:avLst/>
          <a:gdLst/>
          <a:ahLst/>
          <a:cxnLst/>
          <a:rect l="0" t="0" r="0" b="0"/>
          <a:pathLst>
            <a:path>
              <a:moveTo>
                <a:pt x="0" y="26455"/>
              </a:moveTo>
              <a:lnTo>
                <a:pt x="1884782" y="26455"/>
              </a:lnTo>
            </a:path>
          </a:pathLst>
        </a:custGeom>
        <a:noFill/>
        <a:ln w="57150" cap="flat" cmpd="sng" algn="ctr">
          <a:solidFill>
            <a:srgbClr val="FFC000"/>
          </a:solidFill>
          <a:prstDash val="solid"/>
          <a:miter lim="800000"/>
        </a:ln>
        <a:effectLst/>
      </dsp:spPr>
      <dsp:style>
        <a:lnRef idx="2">
          <a:scrgbClr r="0" g="0" b="0"/>
        </a:lnRef>
        <a:fillRef idx="0">
          <a:scrgbClr r="0" g="0" b="0"/>
        </a:fillRef>
        <a:effectRef idx="0">
          <a:scrgbClr r="0" g="0" b="0"/>
        </a:effectRef>
        <a:fontRef idx="minor"/>
      </dsp:style>
    </dsp:sp>
    <dsp:sp modelId="{02575AA7-FB71-45FB-8A4F-BFF8214829E3}">
      <dsp:nvSpPr>
        <dsp:cNvPr id="0" name=""/>
        <dsp:cNvSpPr/>
      </dsp:nvSpPr>
      <dsp:spPr>
        <a:xfrm rot="20258630">
          <a:off x="3833327" y="1680823"/>
          <a:ext cx="1953978" cy="52910"/>
        </a:xfrm>
        <a:custGeom>
          <a:avLst/>
          <a:gdLst/>
          <a:ahLst/>
          <a:cxnLst/>
          <a:rect l="0" t="0" r="0" b="0"/>
          <a:pathLst>
            <a:path>
              <a:moveTo>
                <a:pt x="0" y="26455"/>
              </a:moveTo>
              <a:lnTo>
                <a:pt x="1953978" y="26455"/>
              </a:lnTo>
            </a:path>
          </a:pathLst>
        </a:custGeom>
        <a:noFill/>
        <a:ln w="57150" cap="flat" cmpd="sng" algn="ctr">
          <a:solidFill>
            <a:srgbClr val="FFC000"/>
          </a:solidFill>
          <a:prstDash val="solid"/>
          <a:miter lim="800000"/>
        </a:ln>
        <a:effectLst/>
      </dsp:spPr>
      <dsp:style>
        <a:lnRef idx="2">
          <a:scrgbClr r="0" g="0" b="0"/>
        </a:lnRef>
        <a:fillRef idx="0">
          <a:scrgbClr r="0" g="0" b="0"/>
        </a:fillRef>
        <a:effectRef idx="0">
          <a:scrgbClr r="0" g="0" b="0"/>
        </a:effectRef>
        <a:fontRef idx="minor"/>
      </dsp:style>
    </dsp:sp>
    <dsp:sp modelId="{3EDCAC3F-C430-4B06-AECD-0EB92ECA40D8}">
      <dsp:nvSpPr>
        <dsp:cNvPr id="0" name=""/>
        <dsp:cNvSpPr/>
      </dsp:nvSpPr>
      <dsp:spPr>
        <a:xfrm>
          <a:off x="1351579" y="1116885"/>
          <a:ext cx="2852578" cy="2852578"/>
        </a:xfrm>
        <a:prstGeom prst="ellipse">
          <a:avLst/>
        </a:prstGeom>
        <a:solidFill>
          <a:srgbClr val="92D050"/>
        </a:solidFill>
        <a:ln w="12700" cap="flat" cmpd="sng" algn="ctr">
          <a:solidFill>
            <a:srgbClr val="92D05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3FDE33-20C4-45B1-82D4-74862DE3B9C9}">
      <dsp:nvSpPr>
        <dsp:cNvPr id="0" name=""/>
        <dsp:cNvSpPr/>
      </dsp:nvSpPr>
      <dsp:spPr>
        <a:xfrm>
          <a:off x="5641143" y="0"/>
          <a:ext cx="1935241" cy="1935241"/>
        </a:xfrm>
        <a:prstGeom prst="ellipse">
          <a:avLst/>
        </a:prstGeom>
        <a:solidFill>
          <a:srgbClr val="92D050"/>
        </a:solidFill>
        <a:ln w="12700" cap="flat" cmpd="sng" algn="ctr">
          <a:solidFill>
            <a:srgbClr val="92D05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latin typeface="微软雅黑" panose="020B0503020204020204" pitchFamily="34" charset="-122"/>
              <a:ea typeface="微软雅黑" panose="020B0503020204020204" pitchFamily="34" charset="-122"/>
            </a:rPr>
            <a:t>外部</a:t>
          </a:r>
          <a:endParaRPr lang="en-US" altLang="zh-CN" sz="2800" b="1" kern="1200" dirty="0">
            <a:latin typeface="微软雅黑" panose="020B0503020204020204" pitchFamily="34" charset="-122"/>
            <a:ea typeface="微软雅黑" panose="020B0503020204020204" pitchFamily="34" charset="-122"/>
          </a:endParaRPr>
        </a:p>
        <a:p>
          <a:pPr marL="0" lvl="0" indent="0" algn="ctr" defTabSz="1244600">
            <a:lnSpc>
              <a:spcPct val="90000"/>
            </a:lnSpc>
            <a:spcBef>
              <a:spcPct val="0"/>
            </a:spcBef>
            <a:spcAft>
              <a:spcPct val="35000"/>
            </a:spcAft>
            <a:buNone/>
          </a:pPr>
          <a:r>
            <a:rPr lang="zh-CN" altLang="en-US" sz="2800" b="1" kern="1200" dirty="0">
              <a:latin typeface="微软雅黑" panose="020B0503020204020204" pitchFamily="34" charset="-122"/>
              <a:ea typeface="微软雅黑" panose="020B0503020204020204" pitchFamily="34" charset="-122"/>
            </a:rPr>
            <a:t>中断</a:t>
          </a:r>
          <a:endParaRPr lang="zh-CN" altLang="en-US" sz="2800" kern="1200" dirty="0">
            <a:latin typeface="微软雅黑" panose="020B0503020204020204" pitchFamily="34" charset="-122"/>
            <a:ea typeface="微软雅黑" panose="020B0503020204020204" pitchFamily="34" charset="-122"/>
          </a:endParaRPr>
        </a:p>
      </dsp:txBody>
      <dsp:txXfrm>
        <a:off x="5924552" y="283409"/>
        <a:ext cx="1368423" cy="1368423"/>
      </dsp:txXfrm>
    </dsp:sp>
    <dsp:sp modelId="{E29AC773-87DA-4E9E-AC6D-E535B243EC22}">
      <dsp:nvSpPr>
        <dsp:cNvPr id="0" name=""/>
        <dsp:cNvSpPr/>
      </dsp:nvSpPr>
      <dsp:spPr>
        <a:xfrm>
          <a:off x="5575771" y="3129805"/>
          <a:ext cx="1935241" cy="1935241"/>
        </a:xfrm>
        <a:prstGeom prst="ellipse">
          <a:avLst/>
        </a:prstGeom>
        <a:solidFill>
          <a:srgbClr val="92D050"/>
        </a:solidFill>
        <a:ln w="12700" cap="flat" cmpd="sng" algn="ctr">
          <a:solidFill>
            <a:srgbClr val="92D05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zh-CN" altLang="en-US" sz="2800" b="1" kern="1200" dirty="0">
              <a:latin typeface="微软雅黑" panose="020B0503020204020204" pitchFamily="34" charset="-122"/>
              <a:ea typeface="微软雅黑" panose="020B0503020204020204" pitchFamily="34" charset="-122"/>
            </a:rPr>
            <a:t>内部</a:t>
          </a:r>
          <a:endParaRPr lang="en-US" altLang="zh-CN" sz="2800" b="1" kern="1200" dirty="0">
            <a:latin typeface="微软雅黑" panose="020B0503020204020204" pitchFamily="34" charset="-122"/>
            <a:ea typeface="微软雅黑" panose="020B0503020204020204" pitchFamily="34" charset="-122"/>
          </a:endParaRPr>
        </a:p>
        <a:p>
          <a:pPr marL="0" lvl="0" indent="0" algn="ctr" defTabSz="1244600">
            <a:lnSpc>
              <a:spcPct val="90000"/>
            </a:lnSpc>
            <a:spcBef>
              <a:spcPct val="0"/>
            </a:spcBef>
            <a:spcAft>
              <a:spcPct val="35000"/>
            </a:spcAft>
            <a:buNone/>
          </a:pPr>
          <a:r>
            <a:rPr lang="zh-CN" altLang="en-US" sz="2800" b="1" kern="1200" dirty="0">
              <a:latin typeface="微软雅黑" panose="020B0503020204020204" pitchFamily="34" charset="-122"/>
              <a:ea typeface="微软雅黑" panose="020B0503020204020204" pitchFamily="34" charset="-122"/>
            </a:rPr>
            <a:t>中断</a:t>
          </a:r>
          <a:endParaRPr lang="zh-CN" altLang="en-US" sz="2800" kern="1200" dirty="0">
            <a:latin typeface="微软雅黑" panose="020B0503020204020204" pitchFamily="34" charset="-122"/>
            <a:ea typeface="微软雅黑" panose="020B0503020204020204" pitchFamily="34" charset="-122"/>
          </a:endParaRPr>
        </a:p>
      </dsp:txBody>
      <dsp:txXfrm>
        <a:off x="5859180" y="3413214"/>
        <a:ext cx="1368423" cy="1368423"/>
      </dsp:txXfrm>
    </dsp:sp>
  </dsp:spTree>
</dsp:drawing>
</file>

<file path=ppt/diagrams/layout1.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0E8A95-114D-4BB9-A729-058920B2735F}" type="datetimeFigureOut">
              <a:rPr lang="zh-CN" altLang="en-US" smtClean="0"/>
              <a:pPr/>
              <a:t>2022/5/23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8029B-87F6-42DD-8185-B8A2A8D30728}" type="slidenum">
              <a:rPr lang="zh-CN" altLang="en-US" smtClean="0"/>
              <a:pPr/>
              <a:t>‹#›</a:t>
            </a:fld>
            <a:endParaRPr lang="zh-CN" altLang="en-US"/>
          </a:p>
        </p:txBody>
      </p:sp>
    </p:spTree>
    <p:extLst>
      <p:ext uri="{BB962C8B-B14F-4D97-AF65-F5344CB8AC3E}">
        <p14:creationId xmlns:p14="http://schemas.microsoft.com/office/powerpoint/2010/main" val="2923389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8029B-87F6-42DD-8185-B8A2A8D30728}" type="slidenum">
              <a:rPr lang="zh-CN" altLang="en-US" smtClean="0"/>
              <a:pPr/>
              <a:t>1</a:t>
            </a:fld>
            <a:endParaRPr lang="zh-CN" altLang="en-US"/>
          </a:p>
        </p:txBody>
      </p:sp>
    </p:spTree>
    <p:extLst>
      <p:ext uri="{BB962C8B-B14F-4D97-AF65-F5344CB8AC3E}">
        <p14:creationId xmlns:p14="http://schemas.microsoft.com/office/powerpoint/2010/main" val="143284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2604685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3815028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2729200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1F41D1-EB0D-4857-8E93-8C1C831E6153}" type="slidenum">
              <a:rPr lang="zh-CN" altLang="en-US" smtClean="0"/>
              <a:t>8</a:t>
            </a:fld>
            <a:endParaRPr lang="zh-CN" altLang="en-US"/>
          </a:p>
        </p:txBody>
      </p:sp>
    </p:spTree>
    <p:extLst>
      <p:ext uri="{BB962C8B-B14F-4D97-AF65-F5344CB8AC3E}">
        <p14:creationId xmlns:p14="http://schemas.microsoft.com/office/powerpoint/2010/main" val="3916745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19069194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14</a:t>
            </a:fld>
            <a:endParaRPr lang="en-US">
              <a:solidFill>
                <a:prstClr val="black"/>
              </a:solidFill>
            </a:endParaRPr>
          </a:p>
        </p:txBody>
      </p:sp>
    </p:spTree>
    <p:extLst>
      <p:ext uri="{BB962C8B-B14F-4D97-AF65-F5344CB8AC3E}">
        <p14:creationId xmlns:p14="http://schemas.microsoft.com/office/powerpoint/2010/main" val="2549367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15</a:t>
            </a:fld>
            <a:endParaRPr lang="en-US">
              <a:solidFill>
                <a:prstClr val="black"/>
              </a:solidFill>
            </a:endParaRPr>
          </a:p>
        </p:txBody>
      </p:sp>
    </p:spTree>
    <p:extLst>
      <p:ext uri="{BB962C8B-B14F-4D97-AF65-F5344CB8AC3E}">
        <p14:creationId xmlns:p14="http://schemas.microsoft.com/office/powerpoint/2010/main" val="761336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18409858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19</a:t>
            </a:fld>
            <a:endParaRPr lang="en-US">
              <a:solidFill>
                <a:prstClr val="black"/>
              </a:solidFill>
            </a:endParaRPr>
          </a:p>
        </p:txBody>
      </p:sp>
    </p:spTree>
    <p:extLst>
      <p:ext uri="{BB962C8B-B14F-4D97-AF65-F5344CB8AC3E}">
        <p14:creationId xmlns:p14="http://schemas.microsoft.com/office/powerpoint/2010/main" val="3569231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12920735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22</a:t>
            </a:fld>
            <a:endParaRPr lang="en-US">
              <a:solidFill>
                <a:prstClr val="black"/>
              </a:solidFill>
            </a:endParaRPr>
          </a:p>
        </p:txBody>
      </p:sp>
    </p:spTree>
    <p:extLst>
      <p:ext uri="{BB962C8B-B14F-4D97-AF65-F5344CB8AC3E}">
        <p14:creationId xmlns:p14="http://schemas.microsoft.com/office/powerpoint/2010/main" val="1455577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24</a:t>
            </a:fld>
            <a:endParaRPr lang="en-US">
              <a:solidFill>
                <a:prstClr val="black"/>
              </a:solidFill>
            </a:endParaRPr>
          </a:p>
        </p:txBody>
      </p:sp>
    </p:spTree>
    <p:extLst>
      <p:ext uri="{BB962C8B-B14F-4D97-AF65-F5344CB8AC3E}">
        <p14:creationId xmlns:p14="http://schemas.microsoft.com/office/powerpoint/2010/main" val="453377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pPr/>
              <a:t>2022/5/23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2953354890"/>
      </p:ext>
    </p:extLst>
  </p:cSld>
  <p:clrMapOvr>
    <a:masterClrMapping/>
  </p:clrMapOvr>
  <mc:AlternateContent xmlns:mc="http://schemas.openxmlformats.org/markup-compatibility/2006" xmlns:p14="http://schemas.microsoft.com/office/powerpoint/2010/main">
    <mc:Choice Requires="p14">
      <p:transition spd="slow" p14:dur="59000">
        <p:push dir="u"/>
      </p:transition>
    </mc:Choice>
    <mc:Fallback xmlns="">
      <p:transition spd="slow">
        <p:push dir="u"/>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pPr/>
              <a:t>2022/5/23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133343571"/>
      </p:ext>
    </p:extLst>
  </p:cSld>
  <p:clrMapOvr>
    <a:masterClrMapping/>
  </p:clrMapOvr>
  <mc:AlternateContent xmlns:mc="http://schemas.openxmlformats.org/markup-compatibility/2006" xmlns:p14="http://schemas.microsoft.com/office/powerpoint/2010/main">
    <mc:Choice Requires="p14">
      <p:transition spd="slow" p14:dur="59000">
        <p:push dir="u"/>
      </p:transition>
    </mc:Choice>
    <mc:Fallback xmlns="">
      <p:transition spd="slow">
        <p:push dir="u"/>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pPr/>
              <a:t>2022/5/23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3018862345"/>
      </p:ext>
    </p:extLst>
  </p:cSld>
  <p:clrMapOvr>
    <a:masterClrMapping/>
  </p:clrMapOvr>
  <mc:AlternateContent xmlns:mc="http://schemas.openxmlformats.org/markup-compatibility/2006" xmlns:p14="http://schemas.microsoft.com/office/powerpoint/2010/main">
    <mc:Choice Requires="p14">
      <p:transition spd="slow" p14:dur="59000">
        <p:push dir="u"/>
      </p:transition>
    </mc:Choice>
    <mc:Fallback xmlns="">
      <p:transition spd="slow">
        <p:push dir="u"/>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AAD024-C6D2-498C-B6F9-0F94E70CC562}" type="datetimeFigureOut">
              <a:rPr lang="zh-CN" altLang="en-US" smtClean="0"/>
              <a:pPr/>
              <a:t>2022/5/23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3676858996"/>
      </p:ext>
    </p:extLst>
  </p:cSld>
  <p:clrMapOvr>
    <a:masterClrMapping/>
  </p:clrMapOvr>
  <mc:AlternateContent xmlns:mc="http://schemas.openxmlformats.org/markup-compatibility/2006" xmlns:p14="http://schemas.microsoft.com/office/powerpoint/2010/main">
    <mc:Choice Requires="p14">
      <p:transition spd="slow" p14:dur="59000">
        <p:push dir="u"/>
      </p:transition>
    </mc:Choice>
    <mc:Fallback xmlns="">
      <p:transition spd="slow">
        <p:push dir="u"/>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AAD024-C6D2-498C-B6F9-0F94E70CC562}" type="datetimeFigureOut">
              <a:rPr lang="zh-CN" altLang="en-US" smtClean="0"/>
              <a:pPr/>
              <a:t>2022/5/23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277365401"/>
      </p:ext>
    </p:extLst>
  </p:cSld>
  <p:clrMapOvr>
    <a:masterClrMapping/>
  </p:clrMapOvr>
  <mc:AlternateContent xmlns:mc="http://schemas.openxmlformats.org/markup-compatibility/2006" xmlns:p14="http://schemas.microsoft.com/office/powerpoint/2010/main">
    <mc:Choice Requires="p14">
      <p:transition spd="slow" p14:dur="59000">
        <p:push dir="u"/>
      </p:transition>
    </mc:Choice>
    <mc:Fallback xmlns="">
      <p:transition spd="slow">
        <p:push dir="u"/>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AAD024-C6D2-498C-B6F9-0F94E70CC562}" type="datetimeFigureOut">
              <a:rPr lang="zh-CN" altLang="en-US" smtClean="0"/>
              <a:pPr/>
              <a:t>2022/5/23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3739278484"/>
      </p:ext>
    </p:extLst>
  </p:cSld>
  <p:clrMapOvr>
    <a:masterClrMapping/>
  </p:clrMapOvr>
  <mc:AlternateContent xmlns:mc="http://schemas.openxmlformats.org/markup-compatibility/2006" xmlns:p14="http://schemas.microsoft.com/office/powerpoint/2010/main">
    <mc:Choice Requires="p14">
      <p:transition spd="slow" p14:dur="59000">
        <p:push dir="u"/>
      </p:transition>
    </mc:Choice>
    <mc:Fallback xmlns="">
      <p:transition spd="slow">
        <p:push dir="u"/>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AAD024-C6D2-498C-B6F9-0F94E70CC562}" type="datetimeFigureOut">
              <a:rPr lang="zh-CN" altLang="en-US" smtClean="0"/>
              <a:pPr/>
              <a:t>2022/5/23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1473886793"/>
      </p:ext>
    </p:extLst>
  </p:cSld>
  <p:clrMapOvr>
    <a:masterClrMapping/>
  </p:clrMapOvr>
  <mc:AlternateContent xmlns:mc="http://schemas.openxmlformats.org/markup-compatibility/2006" xmlns:p14="http://schemas.microsoft.com/office/powerpoint/2010/main">
    <mc:Choice Requires="p14">
      <p:transition spd="slow" p14:dur="59000">
        <p:push dir="u"/>
      </p:transition>
    </mc:Choice>
    <mc:Fallback xmlns="">
      <p:transition spd="slow">
        <p:push dir="u"/>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pPr/>
              <a:t>2022/5/23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1383394598"/>
      </p:ext>
    </p:extLst>
  </p:cSld>
  <p:clrMapOvr>
    <a:masterClrMapping/>
  </p:clrMapOvr>
  <mc:AlternateContent xmlns:mc="http://schemas.openxmlformats.org/markup-compatibility/2006" xmlns:p14="http://schemas.microsoft.com/office/powerpoint/2010/main">
    <mc:Choice Requires="p14">
      <p:transition spd="slow" p14:dur="59000">
        <p:push dir="u"/>
      </p:transition>
    </mc:Choice>
    <mc:Fallback xmlns="">
      <p:transition spd="slow">
        <p:push dir="u"/>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pPr/>
              <a:t>2022/5/23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2827041094"/>
      </p:ext>
    </p:extLst>
  </p:cSld>
  <p:clrMapOvr>
    <a:masterClrMapping/>
  </p:clrMapOvr>
  <mc:AlternateContent xmlns:mc="http://schemas.openxmlformats.org/markup-compatibility/2006" xmlns:p14="http://schemas.microsoft.com/office/powerpoint/2010/main">
    <mc:Choice Requires="p14">
      <p:transition spd="slow" p14:dur="59000">
        <p:push dir="u"/>
      </p:transition>
    </mc:Choice>
    <mc:Fallback xmlns="">
      <p:transition spd="slow">
        <p:push dir="u"/>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pPr/>
              <a:t>2022/5/23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3303071220"/>
      </p:ext>
    </p:extLst>
  </p:cSld>
  <p:clrMapOvr>
    <a:masterClrMapping/>
  </p:clrMapOvr>
  <mc:AlternateContent xmlns:mc="http://schemas.openxmlformats.org/markup-compatibility/2006" xmlns:p14="http://schemas.microsoft.com/office/powerpoint/2010/main">
    <mc:Choice Requires="p14">
      <p:transition spd="slow" p14:dur="59000">
        <p:push dir="u"/>
      </p:transition>
    </mc:Choice>
    <mc:Fallback xmlns="">
      <p:transition spd="slow">
        <p:push dir="u"/>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pPr/>
              <a:t>2022/5/23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1104753532"/>
      </p:ext>
    </p:extLst>
  </p:cSld>
  <p:clrMapOvr>
    <a:masterClrMapping/>
  </p:clrMapOvr>
  <mc:AlternateContent xmlns:mc="http://schemas.openxmlformats.org/markup-compatibility/2006" xmlns:p14="http://schemas.microsoft.com/office/powerpoint/2010/main">
    <mc:Choice Requires="p14">
      <p:transition spd="slow" p14:dur="59000">
        <p:push dir="u"/>
      </p:transition>
    </mc:Choice>
    <mc:Fallback xmlns="">
      <p:transition spd="slow">
        <p:push dir="u"/>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352800" y="228600"/>
            <a:ext cx="843280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295400"/>
            <a:ext cx="5384800" cy="50260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295400"/>
            <a:ext cx="5384800" cy="50260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02A8440-39D6-4D53-ACD2-DCC0ADD0689E}" type="slidenum">
              <a:rPr lang="zh-CN" altLang="en-US"/>
              <a:pPr>
                <a:defRPr/>
              </a:pPr>
              <a:t>‹#›</a:t>
            </a:fld>
            <a:endParaRPr lang="en-US" altLang="zh-CN"/>
          </a:p>
        </p:txBody>
      </p:sp>
    </p:spTree>
    <p:extLst>
      <p:ext uri="{BB962C8B-B14F-4D97-AF65-F5344CB8AC3E}">
        <p14:creationId xmlns:p14="http://schemas.microsoft.com/office/powerpoint/2010/main" val="3648143669"/>
      </p:ext>
    </p:extLst>
  </p:cSld>
  <p:clrMapOvr>
    <a:masterClrMapping/>
  </p:clrMapOvr>
  <mc:AlternateContent xmlns:mc="http://schemas.openxmlformats.org/markup-compatibility/2006" xmlns:p14="http://schemas.microsoft.com/office/powerpoint/2010/main">
    <mc:Choice Requires="p14">
      <p:transition spd="slow" p14:dur="59000">
        <p:push dir="u"/>
      </p:transition>
    </mc:Choice>
    <mc:Fallback xmlns="">
      <p:transition spd="slow">
        <p:push dir="u"/>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AAD024-C6D2-498C-B6F9-0F94E70CC562}" type="datetimeFigureOut">
              <a:rPr lang="zh-CN" altLang="en-US" smtClean="0"/>
              <a:pPr/>
              <a:t>2022/5/23</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1720530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59000">
        <p:push dir="u"/>
      </p:transition>
    </mc:Choice>
    <mc:Fallback xmlns="">
      <p:transition spd="slow">
        <p:push dir="u"/>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6.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7.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0.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1.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7"/>
          <p:cNvSpPr>
            <a:spLocks/>
          </p:cNvSpPr>
          <p:nvPr/>
        </p:nvSpPr>
        <p:spPr bwMode="auto">
          <a:xfrm>
            <a:off x="10799813" y="5496958"/>
            <a:ext cx="1079283" cy="1080463"/>
          </a:xfrm>
          <a:custGeom>
            <a:avLst/>
            <a:gdLst>
              <a:gd name="T0" fmla="*/ 2199 w 2504"/>
              <a:gd name="T1" fmla="*/ 0 h 2504"/>
              <a:gd name="T2" fmla="*/ 2504 w 2504"/>
              <a:gd name="T3" fmla="*/ 0 h 2504"/>
              <a:gd name="T4" fmla="*/ 2504 w 2504"/>
              <a:gd name="T5" fmla="*/ 2504 h 2504"/>
              <a:gd name="T6" fmla="*/ 0 w 2504"/>
              <a:gd name="T7" fmla="*/ 2504 h 2504"/>
              <a:gd name="T8" fmla="*/ 0 w 2504"/>
              <a:gd name="T9" fmla="*/ 2199 h 2504"/>
              <a:gd name="T10" fmla="*/ 1970 w 2504"/>
              <a:gd name="T11" fmla="*/ 2199 h 2504"/>
              <a:gd name="T12" fmla="*/ 87 w 2504"/>
              <a:gd name="T13" fmla="*/ 315 h 2504"/>
              <a:gd name="T14" fmla="*/ 303 w 2504"/>
              <a:gd name="T15" fmla="*/ 99 h 2504"/>
              <a:gd name="T16" fmla="*/ 2199 w 2504"/>
              <a:gd name="T17" fmla="*/ 1996 h 2504"/>
              <a:gd name="T18" fmla="*/ 2199 w 2504"/>
              <a:gd name="T19" fmla="*/ 0 h 2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4" h="2504">
                <a:moveTo>
                  <a:pt x="2199" y="0"/>
                </a:moveTo>
                <a:lnTo>
                  <a:pt x="2504" y="0"/>
                </a:lnTo>
                <a:lnTo>
                  <a:pt x="2504" y="2504"/>
                </a:lnTo>
                <a:lnTo>
                  <a:pt x="0" y="2504"/>
                </a:lnTo>
                <a:lnTo>
                  <a:pt x="0" y="2199"/>
                </a:lnTo>
                <a:lnTo>
                  <a:pt x="1970" y="2199"/>
                </a:lnTo>
                <a:lnTo>
                  <a:pt x="87" y="315"/>
                </a:lnTo>
                <a:lnTo>
                  <a:pt x="303" y="99"/>
                </a:lnTo>
                <a:lnTo>
                  <a:pt x="2199" y="1996"/>
                </a:lnTo>
                <a:lnTo>
                  <a:pt x="2199" y="0"/>
                </a:lnTo>
                <a:close/>
              </a:path>
            </a:pathLst>
          </a:custGeom>
          <a:solidFill>
            <a:schemeClr val="bg1">
              <a:lumMod val="75000"/>
            </a:schemeClr>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6" name="Rectangle 3"/>
          <p:cNvSpPr txBox="1">
            <a:spLocks noChangeArrowheads="1"/>
          </p:cNvSpPr>
          <p:nvPr/>
        </p:nvSpPr>
        <p:spPr bwMode="auto">
          <a:xfrm>
            <a:off x="2464751" y="2626128"/>
            <a:ext cx="7569771"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ctr"/>
            <a:r>
              <a:rPr lang="zh-CN" altLang="en-US" sz="5400" b="1" dirty="0">
                <a:solidFill>
                  <a:schemeClr val="bg1"/>
                </a:solidFill>
                <a:latin typeface="微软雅黑" panose="020B0503020204020204" pitchFamily="34" charset="-122"/>
                <a:ea typeface="微软雅黑" panose="020B0503020204020204" pitchFamily="34" charset="-122"/>
              </a:rPr>
              <a:t>输入输出控制方式（续）</a:t>
            </a:r>
          </a:p>
        </p:txBody>
      </p:sp>
      <p:sp>
        <p:nvSpPr>
          <p:cNvPr id="7"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2"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3"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4"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grpSp>
        <p:nvGrpSpPr>
          <p:cNvPr id="15" name="组合 14"/>
          <p:cNvGrpSpPr/>
          <p:nvPr/>
        </p:nvGrpSpPr>
        <p:grpSpPr>
          <a:xfrm>
            <a:off x="262818" y="198604"/>
            <a:ext cx="473877" cy="484825"/>
            <a:chOff x="702608" y="-1899592"/>
            <a:chExt cx="1054013" cy="1078364"/>
          </a:xfrm>
        </p:grpSpPr>
        <p:sp>
          <p:nvSpPr>
            <p:cNvPr id="16" name="Oval 5"/>
            <p:cNvSpPr>
              <a:spLocks noChangeArrowheads="1"/>
            </p:cNvSpPr>
            <p:nvPr/>
          </p:nvSpPr>
          <p:spPr bwMode="auto">
            <a:xfrm>
              <a:off x="702608" y="-1899592"/>
              <a:ext cx="1054013" cy="1078364"/>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9"/>
            <p:cNvSpPr>
              <a:spLocks noEditPoints="1"/>
            </p:cNvSpPr>
            <p:nvPr/>
          </p:nvSpPr>
          <p:spPr bwMode="auto">
            <a:xfrm>
              <a:off x="904366" y="-1555211"/>
              <a:ext cx="650496" cy="445260"/>
            </a:xfrm>
            <a:custGeom>
              <a:avLst/>
              <a:gdLst>
                <a:gd name="T0" fmla="*/ 380 w 394"/>
                <a:gd name="T1" fmla="*/ 19 h 263"/>
                <a:gd name="T2" fmla="*/ 380 w 394"/>
                <a:gd name="T3" fmla="*/ 216 h 263"/>
                <a:gd name="T4" fmla="*/ 374 w 394"/>
                <a:gd name="T5" fmla="*/ 216 h 263"/>
                <a:gd name="T6" fmla="*/ 362 w 394"/>
                <a:gd name="T7" fmla="*/ 215 h 263"/>
                <a:gd name="T8" fmla="*/ 199 w 394"/>
                <a:gd name="T9" fmla="*/ 256 h 263"/>
                <a:gd name="T10" fmla="*/ 197 w 394"/>
                <a:gd name="T11" fmla="*/ 257 h 263"/>
                <a:gd name="T12" fmla="*/ 195 w 394"/>
                <a:gd name="T13" fmla="*/ 256 h 263"/>
                <a:gd name="T14" fmla="*/ 33 w 394"/>
                <a:gd name="T15" fmla="*/ 215 h 263"/>
                <a:gd name="T16" fmla="*/ 20 w 394"/>
                <a:gd name="T17" fmla="*/ 216 h 263"/>
                <a:gd name="T18" fmla="*/ 14 w 394"/>
                <a:gd name="T19" fmla="*/ 216 h 263"/>
                <a:gd name="T20" fmla="*/ 14 w 394"/>
                <a:gd name="T21" fmla="*/ 19 h 263"/>
                <a:gd name="T22" fmla="*/ 0 w 394"/>
                <a:gd name="T23" fmla="*/ 19 h 263"/>
                <a:gd name="T24" fmla="*/ 0 w 394"/>
                <a:gd name="T25" fmla="*/ 223 h 263"/>
                <a:gd name="T26" fmla="*/ 197 w 394"/>
                <a:gd name="T27" fmla="*/ 263 h 263"/>
                <a:gd name="T28" fmla="*/ 394 w 394"/>
                <a:gd name="T29" fmla="*/ 223 h 263"/>
                <a:gd name="T30" fmla="*/ 394 w 394"/>
                <a:gd name="T31" fmla="*/ 19 h 263"/>
                <a:gd name="T32" fmla="*/ 380 w 394"/>
                <a:gd name="T33" fmla="*/ 19 h 263"/>
                <a:gd name="T34" fmla="*/ 191 w 394"/>
                <a:gd name="T35" fmla="*/ 223 h 263"/>
                <a:gd name="T36" fmla="*/ 191 w 394"/>
                <a:gd name="T37" fmla="*/ 44 h 263"/>
                <a:gd name="T38" fmla="*/ 54 w 394"/>
                <a:gd name="T39" fmla="*/ 2 h 263"/>
                <a:gd name="T40" fmla="*/ 54 w 394"/>
                <a:gd name="T41" fmla="*/ 188 h 263"/>
                <a:gd name="T42" fmla="*/ 59 w 394"/>
                <a:gd name="T43" fmla="*/ 188 h 263"/>
                <a:gd name="T44" fmla="*/ 191 w 394"/>
                <a:gd name="T45" fmla="*/ 223 h 263"/>
                <a:gd name="T46" fmla="*/ 340 w 394"/>
                <a:gd name="T47" fmla="*/ 188 h 263"/>
                <a:gd name="T48" fmla="*/ 340 w 394"/>
                <a:gd name="T49" fmla="*/ 2 h 263"/>
                <a:gd name="T50" fmla="*/ 204 w 394"/>
                <a:gd name="T51" fmla="*/ 44 h 263"/>
                <a:gd name="T52" fmla="*/ 204 w 394"/>
                <a:gd name="T53" fmla="*/ 223 h 263"/>
                <a:gd name="T54" fmla="*/ 335 w 394"/>
                <a:gd name="T55" fmla="*/ 188 h 263"/>
                <a:gd name="T56" fmla="*/ 340 w 394"/>
                <a:gd name="T57" fmla="*/ 188 h 263"/>
                <a:gd name="T58" fmla="*/ 197 w 394"/>
                <a:gd name="T59" fmla="*/ 252 h 263"/>
                <a:gd name="T60" fmla="*/ 371 w 394"/>
                <a:gd name="T61" fmla="*/ 211 h 263"/>
                <a:gd name="T62" fmla="*/ 371 w 394"/>
                <a:gd name="T63" fmla="*/ 4 h 263"/>
                <a:gd name="T64" fmla="*/ 350 w 394"/>
                <a:gd name="T65" fmla="*/ 4 h 263"/>
                <a:gd name="T66" fmla="*/ 350 w 394"/>
                <a:gd name="T67" fmla="*/ 198 h 263"/>
                <a:gd name="T68" fmla="*/ 344 w 394"/>
                <a:gd name="T69" fmla="*/ 197 h 263"/>
                <a:gd name="T70" fmla="*/ 334 w 394"/>
                <a:gd name="T71" fmla="*/ 197 h 263"/>
                <a:gd name="T72" fmla="*/ 201 w 394"/>
                <a:gd name="T73" fmla="*/ 235 h 263"/>
                <a:gd name="T74" fmla="*/ 197 w 394"/>
                <a:gd name="T75" fmla="*/ 237 h 263"/>
                <a:gd name="T76" fmla="*/ 194 w 394"/>
                <a:gd name="T77" fmla="*/ 235 h 263"/>
                <a:gd name="T78" fmla="*/ 60 w 394"/>
                <a:gd name="T79" fmla="*/ 197 h 263"/>
                <a:gd name="T80" fmla="*/ 50 w 394"/>
                <a:gd name="T81" fmla="*/ 197 h 263"/>
                <a:gd name="T82" fmla="*/ 45 w 394"/>
                <a:gd name="T83" fmla="*/ 198 h 263"/>
                <a:gd name="T84" fmla="*/ 45 w 394"/>
                <a:gd name="T85" fmla="*/ 4 h 263"/>
                <a:gd name="T86" fmla="*/ 24 w 394"/>
                <a:gd name="T87" fmla="*/ 4 h 263"/>
                <a:gd name="T88" fmla="*/ 24 w 394"/>
                <a:gd name="T89" fmla="*/ 211 h 263"/>
                <a:gd name="T90" fmla="*/ 197 w 394"/>
                <a:gd name="T91" fmla="*/ 25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4" h="263">
                  <a:moveTo>
                    <a:pt x="380" y="19"/>
                  </a:moveTo>
                  <a:lnTo>
                    <a:pt x="380" y="216"/>
                  </a:lnTo>
                  <a:lnTo>
                    <a:pt x="374" y="216"/>
                  </a:lnTo>
                  <a:cubicBezTo>
                    <a:pt x="370" y="215"/>
                    <a:pt x="366" y="215"/>
                    <a:pt x="362" y="215"/>
                  </a:cubicBezTo>
                  <a:cubicBezTo>
                    <a:pt x="307" y="215"/>
                    <a:pt x="250" y="230"/>
                    <a:pt x="199" y="256"/>
                  </a:cubicBezTo>
                  <a:lnTo>
                    <a:pt x="197" y="257"/>
                  </a:lnTo>
                  <a:lnTo>
                    <a:pt x="195" y="256"/>
                  </a:lnTo>
                  <a:cubicBezTo>
                    <a:pt x="145" y="230"/>
                    <a:pt x="87" y="215"/>
                    <a:pt x="33" y="215"/>
                  </a:cubicBezTo>
                  <a:cubicBezTo>
                    <a:pt x="28" y="215"/>
                    <a:pt x="24" y="215"/>
                    <a:pt x="20" y="216"/>
                  </a:cubicBezTo>
                  <a:lnTo>
                    <a:pt x="14" y="216"/>
                  </a:lnTo>
                  <a:lnTo>
                    <a:pt x="14" y="19"/>
                  </a:lnTo>
                  <a:cubicBezTo>
                    <a:pt x="10" y="19"/>
                    <a:pt x="5" y="19"/>
                    <a:pt x="0" y="19"/>
                  </a:cubicBezTo>
                  <a:lnTo>
                    <a:pt x="0" y="223"/>
                  </a:lnTo>
                  <a:cubicBezTo>
                    <a:pt x="66" y="222"/>
                    <a:pt x="136" y="236"/>
                    <a:pt x="197" y="263"/>
                  </a:cubicBezTo>
                  <a:cubicBezTo>
                    <a:pt x="259" y="236"/>
                    <a:pt x="328" y="222"/>
                    <a:pt x="394" y="223"/>
                  </a:cubicBezTo>
                  <a:lnTo>
                    <a:pt x="394" y="19"/>
                  </a:lnTo>
                  <a:cubicBezTo>
                    <a:pt x="389" y="19"/>
                    <a:pt x="385" y="19"/>
                    <a:pt x="380" y="19"/>
                  </a:cubicBezTo>
                  <a:close/>
                  <a:moveTo>
                    <a:pt x="191" y="223"/>
                  </a:moveTo>
                  <a:lnTo>
                    <a:pt x="191" y="44"/>
                  </a:lnTo>
                  <a:cubicBezTo>
                    <a:pt x="148" y="16"/>
                    <a:pt x="100" y="0"/>
                    <a:pt x="54" y="2"/>
                  </a:cubicBezTo>
                  <a:lnTo>
                    <a:pt x="54" y="188"/>
                  </a:lnTo>
                  <a:cubicBezTo>
                    <a:pt x="56" y="188"/>
                    <a:pt x="58" y="188"/>
                    <a:pt x="59" y="188"/>
                  </a:cubicBezTo>
                  <a:cubicBezTo>
                    <a:pt x="103" y="188"/>
                    <a:pt x="150" y="200"/>
                    <a:pt x="191" y="223"/>
                  </a:cubicBezTo>
                  <a:close/>
                  <a:moveTo>
                    <a:pt x="340" y="188"/>
                  </a:moveTo>
                  <a:lnTo>
                    <a:pt x="340" y="2"/>
                  </a:lnTo>
                  <a:cubicBezTo>
                    <a:pt x="295" y="0"/>
                    <a:pt x="246" y="16"/>
                    <a:pt x="204" y="44"/>
                  </a:cubicBezTo>
                  <a:lnTo>
                    <a:pt x="204" y="223"/>
                  </a:lnTo>
                  <a:cubicBezTo>
                    <a:pt x="245" y="200"/>
                    <a:pt x="291" y="188"/>
                    <a:pt x="335" y="188"/>
                  </a:cubicBezTo>
                  <a:cubicBezTo>
                    <a:pt x="337" y="188"/>
                    <a:pt x="339" y="188"/>
                    <a:pt x="340" y="188"/>
                  </a:cubicBezTo>
                  <a:close/>
                  <a:moveTo>
                    <a:pt x="197" y="252"/>
                  </a:moveTo>
                  <a:cubicBezTo>
                    <a:pt x="253" y="222"/>
                    <a:pt x="315" y="209"/>
                    <a:pt x="371" y="211"/>
                  </a:cubicBezTo>
                  <a:lnTo>
                    <a:pt x="371" y="4"/>
                  </a:lnTo>
                  <a:cubicBezTo>
                    <a:pt x="364" y="4"/>
                    <a:pt x="357" y="4"/>
                    <a:pt x="350" y="4"/>
                  </a:cubicBezTo>
                  <a:lnTo>
                    <a:pt x="350" y="198"/>
                  </a:lnTo>
                  <a:lnTo>
                    <a:pt x="344" y="197"/>
                  </a:lnTo>
                  <a:cubicBezTo>
                    <a:pt x="341" y="197"/>
                    <a:pt x="337" y="197"/>
                    <a:pt x="334" y="197"/>
                  </a:cubicBezTo>
                  <a:cubicBezTo>
                    <a:pt x="289" y="197"/>
                    <a:pt x="242" y="211"/>
                    <a:pt x="201" y="235"/>
                  </a:cubicBezTo>
                  <a:lnTo>
                    <a:pt x="197" y="237"/>
                  </a:lnTo>
                  <a:lnTo>
                    <a:pt x="194" y="235"/>
                  </a:lnTo>
                  <a:cubicBezTo>
                    <a:pt x="153" y="211"/>
                    <a:pt x="105" y="197"/>
                    <a:pt x="60" y="197"/>
                  </a:cubicBezTo>
                  <a:cubicBezTo>
                    <a:pt x="57" y="197"/>
                    <a:pt x="54" y="197"/>
                    <a:pt x="50" y="197"/>
                  </a:cubicBezTo>
                  <a:lnTo>
                    <a:pt x="45" y="198"/>
                  </a:lnTo>
                  <a:lnTo>
                    <a:pt x="45" y="4"/>
                  </a:lnTo>
                  <a:cubicBezTo>
                    <a:pt x="38" y="4"/>
                    <a:pt x="31" y="4"/>
                    <a:pt x="24" y="4"/>
                  </a:cubicBezTo>
                  <a:lnTo>
                    <a:pt x="24" y="211"/>
                  </a:lnTo>
                  <a:cubicBezTo>
                    <a:pt x="79" y="209"/>
                    <a:pt x="142" y="222"/>
                    <a:pt x="197" y="2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8" name="组合 17"/>
          <p:cNvGrpSpPr/>
          <p:nvPr/>
        </p:nvGrpSpPr>
        <p:grpSpPr>
          <a:xfrm>
            <a:off x="868029" y="198604"/>
            <a:ext cx="472312" cy="484825"/>
            <a:chOff x="2014036" y="-1899592"/>
            <a:chExt cx="1050534" cy="1078364"/>
          </a:xfrm>
        </p:grpSpPr>
        <p:sp>
          <p:nvSpPr>
            <p:cNvPr id="19" name="Oval 6"/>
            <p:cNvSpPr>
              <a:spLocks noChangeArrowheads="1"/>
            </p:cNvSpPr>
            <p:nvPr/>
          </p:nvSpPr>
          <p:spPr bwMode="auto">
            <a:xfrm>
              <a:off x="2014036" y="-1899592"/>
              <a:ext cx="1050534" cy="1078364"/>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0"/>
            <p:cNvSpPr>
              <a:spLocks noEditPoints="1"/>
            </p:cNvSpPr>
            <p:nvPr/>
          </p:nvSpPr>
          <p:spPr bwMode="auto">
            <a:xfrm>
              <a:off x="2313195" y="-1670005"/>
              <a:ext cx="553096" cy="640061"/>
            </a:xfrm>
            <a:custGeom>
              <a:avLst/>
              <a:gdLst>
                <a:gd name="T0" fmla="*/ 214 w 336"/>
                <a:gd name="T1" fmla="*/ 48 h 380"/>
                <a:gd name="T2" fmla="*/ 167 w 336"/>
                <a:gd name="T3" fmla="*/ 95 h 380"/>
                <a:gd name="T4" fmla="*/ 119 w 336"/>
                <a:gd name="T5" fmla="*/ 95 h 380"/>
                <a:gd name="T6" fmla="*/ 72 w 336"/>
                <a:gd name="T7" fmla="*/ 48 h 380"/>
                <a:gd name="T8" fmla="*/ 119 w 336"/>
                <a:gd name="T9" fmla="*/ 0 h 380"/>
                <a:gd name="T10" fmla="*/ 167 w 336"/>
                <a:gd name="T11" fmla="*/ 0 h 380"/>
                <a:gd name="T12" fmla="*/ 214 w 336"/>
                <a:gd name="T13" fmla="*/ 48 h 380"/>
                <a:gd name="T14" fmla="*/ 237 w 336"/>
                <a:gd name="T15" fmla="*/ 48 h 380"/>
                <a:gd name="T16" fmla="*/ 238 w 336"/>
                <a:gd name="T17" fmla="*/ 59 h 380"/>
                <a:gd name="T18" fmla="*/ 179 w 336"/>
                <a:gd name="T19" fmla="*/ 118 h 380"/>
                <a:gd name="T20" fmla="*/ 107 w 336"/>
                <a:gd name="T21" fmla="*/ 118 h 380"/>
                <a:gd name="T22" fmla="*/ 48 w 336"/>
                <a:gd name="T23" fmla="*/ 59 h 380"/>
                <a:gd name="T24" fmla="*/ 49 w 336"/>
                <a:gd name="T25" fmla="*/ 48 h 380"/>
                <a:gd name="T26" fmla="*/ 0 w 336"/>
                <a:gd name="T27" fmla="*/ 106 h 380"/>
                <a:gd name="T28" fmla="*/ 0 w 336"/>
                <a:gd name="T29" fmla="*/ 320 h 380"/>
                <a:gd name="T30" fmla="*/ 60 w 336"/>
                <a:gd name="T31" fmla="*/ 380 h 380"/>
                <a:gd name="T32" fmla="*/ 218 w 336"/>
                <a:gd name="T33" fmla="*/ 380 h 380"/>
                <a:gd name="T34" fmla="*/ 153 w 336"/>
                <a:gd name="T35" fmla="*/ 282 h 380"/>
                <a:gd name="T36" fmla="*/ 260 w 336"/>
                <a:gd name="T37" fmla="*/ 176 h 380"/>
                <a:gd name="T38" fmla="*/ 286 w 336"/>
                <a:gd name="T39" fmla="*/ 179 h 380"/>
                <a:gd name="T40" fmla="*/ 286 w 336"/>
                <a:gd name="T41" fmla="*/ 106 h 380"/>
                <a:gd name="T42" fmla="*/ 237 w 336"/>
                <a:gd name="T43" fmla="*/ 48 h 380"/>
                <a:gd name="T44" fmla="*/ 134 w 336"/>
                <a:gd name="T45" fmla="*/ 238 h 380"/>
                <a:gd name="T46" fmla="*/ 134 w 336"/>
                <a:gd name="T47" fmla="*/ 238 h 380"/>
                <a:gd name="T48" fmla="*/ 60 w 336"/>
                <a:gd name="T49" fmla="*/ 238 h 380"/>
                <a:gd name="T50" fmla="*/ 48 w 336"/>
                <a:gd name="T51" fmla="*/ 226 h 380"/>
                <a:gd name="T52" fmla="*/ 60 w 336"/>
                <a:gd name="T53" fmla="*/ 214 h 380"/>
                <a:gd name="T54" fmla="*/ 134 w 336"/>
                <a:gd name="T55" fmla="*/ 214 h 380"/>
                <a:gd name="T56" fmla="*/ 146 w 336"/>
                <a:gd name="T57" fmla="*/ 226 h 380"/>
                <a:gd name="T58" fmla="*/ 134 w 336"/>
                <a:gd name="T59" fmla="*/ 238 h 380"/>
                <a:gd name="T60" fmla="*/ 158 w 336"/>
                <a:gd name="T61" fmla="*/ 190 h 380"/>
                <a:gd name="T62" fmla="*/ 158 w 336"/>
                <a:gd name="T63" fmla="*/ 190 h 380"/>
                <a:gd name="T64" fmla="*/ 60 w 336"/>
                <a:gd name="T65" fmla="*/ 190 h 380"/>
                <a:gd name="T66" fmla="*/ 48 w 336"/>
                <a:gd name="T67" fmla="*/ 178 h 380"/>
                <a:gd name="T68" fmla="*/ 60 w 336"/>
                <a:gd name="T69" fmla="*/ 167 h 380"/>
                <a:gd name="T70" fmla="*/ 158 w 336"/>
                <a:gd name="T71" fmla="*/ 167 h 380"/>
                <a:gd name="T72" fmla="*/ 170 w 336"/>
                <a:gd name="T73" fmla="*/ 178 h 380"/>
                <a:gd name="T74" fmla="*/ 158 w 336"/>
                <a:gd name="T75" fmla="*/ 190 h 380"/>
                <a:gd name="T76" fmla="*/ 279 w 336"/>
                <a:gd name="T77" fmla="*/ 208 h 380"/>
                <a:gd name="T78" fmla="*/ 260 w 336"/>
                <a:gd name="T79" fmla="*/ 206 h 380"/>
                <a:gd name="T80" fmla="*/ 184 w 336"/>
                <a:gd name="T81" fmla="*/ 281 h 380"/>
                <a:gd name="T82" fmla="*/ 244 w 336"/>
                <a:gd name="T83" fmla="*/ 356 h 380"/>
                <a:gd name="T84" fmla="*/ 260 w 336"/>
                <a:gd name="T85" fmla="*/ 357 h 380"/>
                <a:gd name="T86" fmla="*/ 336 w 336"/>
                <a:gd name="T87" fmla="*/ 281 h 380"/>
                <a:gd name="T88" fmla="*/ 279 w 336"/>
                <a:gd name="T89" fmla="*/ 208 h 380"/>
                <a:gd name="T90" fmla="*/ 303 w 336"/>
                <a:gd name="T91" fmla="*/ 271 h 380"/>
                <a:gd name="T92" fmla="*/ 303 w 336"/>
                <a:gd name="T93" fmla="*/ 271 h 380"/>
                <a:gd name="T94" fmla="*/ 279 w 336"/>
                <a:gd name="T95" fmla="*/ 295 h 380"/>
                <a:gd name="T96" fmla="*/ 260 w 336"/>
                <a:gd name="T97" fmla="*/ 314 h 380"/>
                <a:gd name="T98" fmla="*/ 239 w 336"/>
                <a:gd name="T99" fmla="*/ 314 h 380"/>
                <a:gd name="T100" fmla="*/ 217 w 336"/>
                <a:gd name="T101" fmla="*/ 292 h 380"/>
                <a:gd name="T102" fmla="*/ 217 w 336"/>
                <a:gd name="T103" fmla="*/ 271 h 380"/>
                <a:gd name="T104" fmla="*/ 239 w 336"/>
                <a:gd name="T105" fmla="*/ 271 h 380"/>
                <a:gd name="T106" fmla="*/ 250 w 336"/>
                <a:gd name="T107" fmla="*/ 281 h 380"/>
                <a:gd name="T108" fmla="*/ 279 w 336"/>
                <a:gd name="T109" fmla="*/ 252 h 380"/>
                <a:gd name="T110" fmla="*/ 282 w 336"/>
                <a:gd name="T111" fmla="*/ 249 h 380"/>
                <a:gd name="T112" fmla="*/ 303 w 336"/>
                <a:gd name="T113" fmla="*/ 249 h 380"/>
                <a:gd name="T114" fmla="*/ 303 w 336"/>
                <a:gd name="T115" fmla="*/ 271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36" h="380">
                  <a:moveTo>
                    <a:pt x="214" y="48"/>
                  </a:moveTo>
                  <a:cubicBezTo>
                    <a:pt x="214" y="74"/>
                    <a:pt x="193" y="95"/>
                    <a:pt x="167" y="95"/>
                  </a:cubicBezTo>
                  <a:lnTo>
                    <a:pt x="119" y="95"/>
                  </a:lnTo>
                  <a:cubicBezTo>
                    <a:pt x="93" y="95"/>
                    <a:pt x="72" y="74"/>
                    <a:pt x="72" y="48"/>
                  </a:cubicBezTo>
                  <a:cubicBezTo>
                    <a:pt x="72" y="21"/>
                    <a:pt x="93" y="0"/>
                    <a:pt x="119" y="0"/>
                  </a:cubicBezTo>
                  <a:lnTo>
                    <a:pt x="167" y="0"/>
                  </a:lnTo>
                  <a:cubicBezTo>
                    <a:pt x="193" y="0"/>
                    <a:pt x="214" y="21"/>
                    <a:pt x="214" y="48"/>
                  </a:cubicBezTo>
                  <a:close/>
                  <a:moveTo>
                    <a:pt x="237" y="48"/>
                  </a:moveTo>
                  <a:cubicBezTo>
                    <a:pt x="238" y="51"/>
                    <a:pt x="238" y="55"/>
                    <a:pt x="238" y="59"/>
                  </a:cubicBezTo>
                  <a:cubicBezTo>
                    <a:pt x="238" y="91"/>
                    <a:pt x="211" y="118"/>
                    <a:pt x="179" y="118"/>
                  </a:cubicBezTo>
                  <a:lnTo>
                    <a:pt x="107" y="118"/>
                  </a:lnTo>
                  <a:cubicBezTo>
                    <a:pt x="74" y="118"/>
                    <a:pt x="48" y="91"/>
                    <a:pt x="48" y="59"/>
                  </a:cubicBezTo>
                  <a:cubicBezTo>
                    <a:pt x="48" y="55"/>
                    <a:pt x="48" y="51"/>
                    <a:pt x="49" y="48"/>
                  </a:cubicBezTo>
                  <a:cubicBezTo>
                    <a:pt x="21" y="53"/>
                    <a:pt x="0" y="77"/>
                    <a:pt x="0" y="106"/>
                  </a:cubicBezTo>
                  <a:lnTo>
                    <a:pt x="0" y="320"/>
                  </a:lnTo>
                  <a:cubicBezTo>
                    <a:pt x="0" y="353"/>
                    <a:pt x="27" y="380"/>
                    <a:pt x="60" y="380"/>
                  </a:cubicBezTo>
                  <a:lnTo>
                    <a:pt x="218" y="380"/>
                  </a:lnTo>
                  <a:cubicBezTo>
                    <a:pt x="180" y="363"/>
                    <a:pt x="153" y="326"/>
                    <a:pt x="153" y="282"/>
                  </a:cubicBezTo>
                  <a:cubicBezTo>
                    <a:pt x="153" y="223"/>
                    <a:pt x="201" y="176"/>
                    <a:pt x="260" y="176"/>
                  </a:cubicBezTo>
                  <a:cubicBezTo>
                    <a:pt x="269" y="176"/>
                    <a:pt x="277" y="177"/>
                    <a:pt x="286" y="179"/>
                  </a:cubicBezTo>
                  <a:lnTo>
                    <a:pt x="286" y="106"/>
                  </a:lnTo>
                  <a:cubicBezTo>
                    <a:pt x="286" y="77"/>
                    <a:pt x="265" y="53"/>
                    <a:pt x="237" y="48"/>
                  </a:cubicBezTo>
                  <a:close/>
                  <a:moveTo>
                    <a:pt x="134" y="238"/>
                  </a:moveTo>
                  <a:lnTo>
                    <a:pt x="134" y="238"/>
                  </a:lnTo>
                  <a:lnTo>
                    <a:pt x="60" y="238"/>
                  </a:lnTo>
                  <a:cubicBezTo>
                    <a:pt x="53" y="238"/>
                    <a:pt x="48" y="233"/>
                    <a:pt x="48" y="226"/>
                  </a:cubicBezTo>
                  <a:cubicBezTo>
                    <a:pt x="48" y="219"/>
                    <a:pt x="53" y="214"/>
                    <a:pt x="60" y="214"/>
                  </a:cubicBezTo>
                  <a:lnTo>
                    <a:pt x="134" y="214"/>
                  </a:lnTo>
                  <a:cubicBezTo>
                    <a:pt x="141" y="214"/>
                    <a:pt x="146" y="219"/>
                    <a:pt x="146" y="226"/>
                  </a:cubicBezTo>
                  <a:cubicBezTo>
                    <a:pt x="146" y="233"/>
                    <a:pt x="141" y="238"/>
                    <a:pt x="134" y="238"/>
                  </a:cubicBezTo>
                  <a:close/>
                  <a:moveTo>
                    <a:pt x="158" y="190"/>
                  </a:moveTo>
                  <a:lnTo>
                    <a:pt x="158" y="190"/>
                  </a:lnTo>
                  <a:lnTo>
                    <a:pt x="60" y="190"/>
                  </a:lnTo>
                  <a:cubicBezTo>
                    <a:pt x="53" y="190"/>
                    <a:pt x="48" y="185"/>
                    <a:pt x="48" y="178"/>
                  </a:cubicBezTo>
                  <a:cubicBezTo>
                    <a:pt x="48" y="172"/>
                    <a:pt x="53" y="167"/>
                    <a:pt x="60" y="167"/>
                  </a:cubicBezTo>
                  <a:lnTo>
                    <a:pt x="158" y="167"/>
                  </a:lnTo>
                  <a:cubicBezTo>
                    <a:pt x="164" y="167"/>
                    <a:pt x="170" y="172"/>
                    <a:pt x="170" y="178"/>
                  </a:cubicBezTo>
                  <a:cubicBezTo>
                    <a:pt x="170" y="185"/>
                    <a:pt x="164" y="190"/>
                    <a:pt x="158" y="190"/>
                  </a:cubicBezTo>
                  <a:close/>
                  <a:moveTo>
                    <a:pt x="279" y="208"/>
                  </a:moveTo>
                  <a:cubicBezTo>
                    <a:pt x="273" y="207"/>
                    <a:pt x="267" y="206"/>
                    <a:pt x="260" y="206"/>
                  </a:cubicBezTo>
                  <a:cubicBezTo>
                    <a:pt x="218" y="206"/>
                    <a:pt x="184" y="240"/>
                    <a:pt x="184" y="281"/>
                  </a:cubicBezTo>
                  <a:cubicBezTo>
                    <a:pt x="184" y="318"/>
                    <a:pt x="210" y="348"/>
                    <a:pt x="244" y="356"/>
                  </a:cubicBezTo>
                  <a:cubicBezTo>
                    <a:pt x="249" y="357"/>
                    <a:pt x="255" y="357"/>
                    <a:pt x="260" y="357"/>
                  </a:cubicBezTo>
                  <a:cubicBezTo>
                    <a:pt x="302" y="357"/>
                    <a:pt x="336" y="323"/>
                    <a:pt x="336" y="281"/>
                  </a:cubicBezTo>
                  <a:cubicBezTo>
                    <a:pt x="336" y="246"/>
                    <a:pt x="312" y="216"/>
                    <a:pt x="279" y="208"/>
                  </a:cubicBezTo>
                  <a:close/>
                  <a:moveTo>
                    <a:pt x="303" y="271"/>
                  </a:moveTo>
                  <a:lnTo>
                    <a:pt x="303" y="271"/>
                  </a:lnTo>
                  <a:lnTo>
                    <a:pt x="279" y="295"/>
                  </a:lnTo>
                  <a:lnTo>
                    <a:pt x="260" y="314"/>
                  </a:lnTo>
                  <a:cubicBezTo>
                    <a:pt x="254" y="320"/>
                    <a:pt x="245" y="320"/>
                    <a:pt x="239" y="314"/>
                  </a:cubicBezTo>
                  <a:lnTo>
                    <a:pt x="217" y="292"/>
                  </a:lnTo>
                  <a:cubicBezTo>
                    <a:pt x="211" y="286"/>
                    <a:pt x="211" y="277"/>
                    <a:pt x="217" y="271"/>
                  </a:cubicBezTo>
                  <a:cubicBezTo>
                    <a:pt x="223" y="265"/>
                    <a:pt x="233" y="265"/>
                    <a:pt x="239" y="271"/>
                  </a:cubicBezTo>
                  <a:lnTo>
                    <a:pt x="250" y="281"/>
                  </a:lnTo>
                  <a:lnTo>
                    <a:pt x="279" y="252"/>
                  </a:lnTo>
                  <a:lnTo>
                    <a:pt x="282" y="249"/>
                  </a:lnTo>
                  <a:cubicBezTo>
                    <a:pt x="288" y="243"/>
                    <a:pt x="297" y="243"/>
                    <a:pt x="303" y="249"/>
                  </a:cubicBezTo>
                  <a:cubicBezTo>
                    <a:pt x="309" y="255"/>
                    <a:pt x="309" y="265"/>
                    <a:pt x="303" y="27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p:cNvGrpSpPr/>
          <p:nvPr/>
        </p:nvGrpSpPr>
        <p:grpSpPr>
          <a:xfrm>
            <a:off x="1471677" y="198604"/>
            <a:ext cx="472312" cy="484825"/>
            <a:chOff x="3252414" y="-1899592"/>
            <a:chExt cx="1050534" cy="1078364"/>
          </a:xfrm>
        </p:grpSpPr>
        <p:sp>
          <p:nvSpPr>
            <p:cNvPr id="22" name="Oval 7"/>
            <p:cNvSpPr>
              <a:spLocks noChangeArrowheads="1"/>
            </p:cNvSpPr>
            <p:nvPr/>
          </p:nvSpPr>
          <p:spPr bwMode="auto">
            <a:xfrm>
              <a:off x="3252414" y="-1899592"/>
              <a:ext cx="1050534" cy="1078364"/>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11"/>
            <p:cNvSpPr>
              <a:spLocks noEditPoints="1"/>
            </p:cNvSpPr>
            <p:nvPr/>
          </p:nvSpPr>
          <p:spPr bwMode="auto">
            <a:xfrm>
              <a:off x="3450694" y="-1683919"/>
              <a:ext cx="594839" cy="647018"/>
            </a:xfrm>
            <a:custGeom>
              <a:avLst/>
              <a:gdLst>
                <a:gd name="T0" fmla="*/ 136 w 360"/>
                <a:gd name="T1" fmla="*/ 238 h 383"/>
                <a:gd name="T2" fmla="*/ 130 w 360"/>
                <a:gd name="T3" fmla="*/ 217 h 383"/>
                <a:gd name="T4" fmla="*/ 157 w 360"/>
                <a:gd name="T5" fmla="*/ 104 h 383"/>
                <a:gd name="T6" fmla="*/ 187 w 360"/>
                <a:gd name="T7" fmla="*/ 195 h 383"/>
                <a:gd name="T8" fmla="*/ 223 w 360"/>
                <a:gd name="T9" fmla="*/ 90 h 383"/>
                <a:gd name="T10" fmla="*/ 142 w 360"/>
                <a:gd name="T11" fmla="*/ 179 h 383"/>
                <a:gd name="T12" fmla="*/ 136 w 360"/>
                <a:gd name="T13" fmla="*/ 191 h 383"/>
                <a:gd name="T14" fmla="*/ 185 w 360"/>
                <a:gd name="T15" fmla="*/ 220 h 383"/>
                <a:gd name="T16" fmla="*/ 237 w 360"/>
                <a:gd name="T17" fmla="*/ 76 h 383"/>
                <a:gd name="T18" fmla="*/ 240 w 360"/>
                <a:gd name="T19" fmla="*/ 49 h 383"/>
                <a:gd name="T20" fmla="*/ 237 w 360"/>
                <a:gd name="T21" fmla="*/ 76 h 383"/>
                <a:gd name="T22" fmla="*/ 281 w 360"/>
                <a:gd name="T23" fmla="*/ 90 h 383"/>
                <a:gd name="T24" fmla="*/ 253 w 360"/>
                <a:gd name="T25" fmla="*/ 93 h 383"/>
                <a:gd name="T26" fmla="*/ 205 w 360"/>
                <a:gd name="T27" fmla="*/ 64 h 383"/>
                <a:gd name="T28" fmla="*/ 194 w 360"/>
                <a:gd name="T29" fmla="*/ 39 h 383"/>
                <a:gd name="T30" fmla="*/ 205 w 360"/>
                <a:gd name="T31" fmla="*/ 64 h 383"/>
                <a:gd name="T32" fmla="*/ 159 w 360"/>
                <a:gd name="T33" fmla="*/ 48 h 383"/>
                <a:gd name="T34" fmla="*/ 161 w 360"/>
                <a:gd name="T35" fmla="*/ 76 h 383"/>
                <a:gd name="T36" fmla="*/ 264 w 360"/>
                <a:gd name="T37" fmla="*/ 137 h 383"/>
                <a:gd name="T38" fmla="*/ 290 w 360"/>
                <a:gd name="T39" fmla="*/ 125 h 383"/>
                <a:gd name="T40" fmla="*/ 264 w 360"/>
                <a:gd name="T41" fmla="*/ 137 h 383"/>
                <a:gd name="T42" fmla="*/ 132 w 360"/>
                <a:gd name="T43" fmla="*/ 196 h 383"/>
                <a:gd name="T44" fmla="*/ 126 w 360"/>
                <a:gd name="T45" fmla="*/ 208 h 383"/>
                <a:gd name="T46" fmla="*/ 175 w 360"/>
                <a:gd name="T47" fmla="*/ 237 h 383"/>
                <a:gd name="T48" fmla="*/ 131 w 360"/>
                <a:gd name="T49" fmla="*/ 383 h 383"/>
                <a:gd name="T50" fmla="*/ 141 w 360"/>
                <a:gd name="T51" fmla="*/ 22 h 383"/>
                <a:gd name="T52" fmla="*/ 342 w 360"/>
                <a:gd name="T53" fmla="*/ 109 h 383"/>
                <a:gd name="T54" fmla="*/ 345 w 360"/>
                <a:gd name="T55" fmla="*/ 167 h 383"/>
                <a:gd name="T56" fmla="*/ 356 w 360"/>
                <a:gd name="T57" fmla="*/ 240 h 383"/>
                <a:gd name="T58" fmla="*/ 343 w 360"/>
                <a:gd name="T59" fmla="*/ 301 h 383"/>
                <a:gd name="T60" fmla="*/ 269 w 360"/>
                <a:gd name="T61" fmla="*/ 318 h 383"/>
                <a:gd name="T62" fmla="*/ 131 w 360"/>
                <a:gd name="T63" fmla="*/ 383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0" h="383">
                  <a:moveTo>
                    <a:pt x="130" y="217"/>
                  </a:moveTo>
                  <a:cubicBezTo>
                    <a:pt x="126" y="224"/>
                    <a:pt x="129" y="234"/>
                    <a:pt x="136" y="238"/>
                  </a:cubicBezTo>
                  <a:cubicBezTo>
                    <a:pt x="143" y="242"/>
                    <a:pt x="151" y="241"/>
                    <a:pt x="156" y="236"/>
                  </a:cubicBezTo>
                  <a:lnTo>
                    <a:pt x="130" y="217"/>
                  </a:lnTo>
                  <a:close/>
                  <a:moveTo>
                    <a:pt x="223" y="90"/>
                  </a:moveTo>
                  <a:cubicBezTo>
                    <a:pt x="199" y="76"/>
                    <a:pt x="170" y="83"/>
                    <a:pt x="157" y="104"/>
                  </a:cubicBezTo>
                  <a:cubicBezTo>
                    <a:pt x="144" y="127"/>
                    <a:pt x="161" y="151"/>
                    <a:pt x="149" y="174"/>
                  </a:cubicBezTo>
                  <a:lnTo>
                    <a:pt x="187" y="195"/>
                  </a:lnTo>
                  <a:cubicBezTo>
                    <a:pt x="201" y="174"/>
                    <a:pt x="231" y="176"/>
                    <a:pt x="243" y="154"/>
                  </a:cubicBezTo>
                  <a:cubicBezTo>
                    <a:pt x="256" y="132"/>
                    <a:pt x="247" y="104"/>
                    <a:pt x="223" y="90"/>
                  </a:cubicBezTo>
                  <a:close/>
                  <a:moveTo>
                    <a:pt x="183" y="209"/>
                  </a:moveTo>
                  <a:lnTo>
                    <a:pt x="142" y="179"/>
                  </a:lnTo>
                  <a:cubicBezTo>
                    <a:pt x="139" y="176"/>
                    <a:pt x="135" y="177"/>
                    <a:pt x="133" y="181"/>
                  </a:cubicBezTo>
                  <a:cubicBezTo>
                    <a:pt x="132" y="184"/>
                    <a:pt x="132" y="188"/>
                    <a:pt x="136" y="191"/>
                  </a:cubicBezTo>
                  <a:lnTo>
                    <a:pt x="176" y="221"/>
                  </a:lnTo>
                  <a:cubicBezTo>
                    <a:pt x="179" y="224"/>
                    <a:pt x="183" y="223"/>
                    <a:pt x="185" y="220"/>
                  </a:cubicBezTo>
                  <a:cubicBezTo>
                    <a:pt x="187" y="216"/>
                    <a:pt x="186" y="212"/>
                    <a:pt x="183" y="209"/>
                  </a:cubicBezTo>
                  <a:close/>
                  <a:moveTo>
                    <a:pt x="237" y="76"/>
                  </a:moveTo>
                  <a:lnTo>
                    <a:pt x="250" y="54"/>
                  </a:lnTo>
                  <a:lnTo>
                    <a:pt x="240" y="49"/>
                  </a:lnTo>
                  <a:lnTo>
                    <a:pt x="227" y="70"/>
                  </a:lnTo>
                  <a:lnTo>
                    <a:pt x="237" y="76"/>
                  </a:lnTo>
                  <a:close/>
                  <a:moveTo>
                    <a:pt x="259" y="103"/>
                  </a:moveTo>
                  <a:lnTo>
                    <a:pt x="281" y="90"/>
                  </a:lnTo>
                  <a:lnTo>
                    <a:pt x="275" y="80"/>
                  </a:lnTo>
                  <a:lnTo>
                    <a:pt x="253" y="93"/>
                  </a:lnTo>
                  <a:lnTo>
                    <a:pt x="259" y="103"/>
                  </a:lnTo>
                  <a:close/>
                  <a:moveTo>
                    <a:pt x="205" y="64"/>
                  </a:moveTo>
                  <a:lnTo>
                    <a:pt x="205" y="39"/>
                  </a:lnTo>
                  <a:lnTo>
                    <a:pt x="194" y="39"/>
                  </a:lnTo>
                  <a:lnTo>
                    <a:pt x="194" y="64"/>
                  </a:lnTo>
                  <a:lnTo>
                    <a:pt x="205" y="64"/>
                  </a:lnTo>
                  <a:close/>
                  <a:moveTo>
                    <a:pt x="172" y="70"/>
                  </a:moveTo>
                  <a:lnTo>
                    <a:pt x="159" y="48"/>
                  </a:lnTo>
                  <a:lnTo>
                    <a:pt x="149" y="54"/>
                  </a:lnTo>
                  <a:lnTo>
                    <a:pt x="161" y="76"/>
                  </a:lnTo>
                  <a:lnTo>
                    <a:pt x="172" y="70"/>
                  </a:lnTo>
                  <a:close/>
                  <a:moveTo>
                    <a:pt x="264" y="137"/>
                  </a:moveTo>
                  <a:lnTo>
                    <a:pt x="290" y="137"/>
                  </a:lnTo>
                  <a:lnTo>
                    <a:pt x="290" y="125"/>
                  </a:lnTo>
                  <a:lnTo>
                    <a:pt x="264" y="125"/>
                  </a:lnTo>
                  <a:lnTo>
                    <a:pt x="264" y="137"/>
                  </a:lnTo>
                  <a:close/>
                  <a:moveTo>
                    <a:pt x="173" y="227"/>
                  </a:moveTo>
                  <a:lnTo>
                    <a:pt x="132" y="196"/>
                  </a:lnTo>
                  <a:cubicBezTo>
                    <a:pt x="129" y="194"/>
                    <a:pt x="125" y="195"/>
                    <a:pt x="123" y="198"/>
                  </a:cubicBezTo>
                  <a:cubicBezTo>
                    <a:pt x="122" y="201"/>
                    <a:pt x="122" y="206"/>
                    <a:pt x="126" y="208"/>
                  </a:cubicBezTo>
                  <a:lnTo>
                    <a:pt x="166" y="239"/>
                  </a:lnTo>
                  <a:cubicBezTo>
                    <a:pt x="169" y="241"/>
                    <a:pt x="173" y="240"/>
                    <a:pt x="175" y="237"/>
                  </a:cubicBezTo>
                  <a:cubicBezTo>
                    <a:pt x="177" y="234"/>
                    <a:pt x="176" y="229"/>
                    <a:pt x="173" y="227"/>
                  </a:cubicBezTo>
                  <a:close/>
                  <a:moveTo>
                    <a:pt x="131" y="383"/>
                  </a:moveTo>
                  <a:cubicBezTo>
                    <a:pt x="136" y="353"/>
                    <a:pt x="136" y="321"/>
                    <a:pt x="127" y="293"/>
                  </a:cubicBezTo>
                  <a:cubicBezTo>
                    <a:pt x="0" y="221"/>
                    <a:pt x="34" y="56"/>
                    <a:pt x="141" y="22"/>
                  </a:cubicBezTo>
                  <a:cubicBezTo>
                    <a:pt x="197" y="0"/>
                    <a:pt x="274" y="13"/>
                    <a:pt x="323" y="63"/>
                  </a:cubicBezTo>
                  <a:cubicBezTo>
                    <a:pt x="360" y="99"/>
                    <a:pt x="342" y="109"/>
                    <a:pt x="342" y="109"/>
                  </a:cubicBezTo>
                  <a:lnTo>
                    <a:pt x="334" y="113"/>
                  </a:lnTo>
                  <a:cubicBezTo>
                    <a:pt x="339" y="131"/>
                    <a:pt x="346" y="162"/>
                    <a:pt x="345" y="167"/>
                  </a:cubicBezTo>
                  <a:cubicBezTo>
                    <a:pt x="344" y="173"/>
                    <a:pt x="337" y="179"/>
                    <a:pt x="337" y="179"/>
                  </a:cubicBezTo>
                  <a:lnTo>
                    <a:pt x="356" y="240"/>
                  </a:lnTo>
                  <a:lnTo>
                    <a:pt x="339" y="246"/>
                  </a:lnTo>
                  <a:cubicBezTo>
                    <a:pt x="343" y="266"/>
                    <a:pt x="345" y="282"/>
                    <a:pt x="343" y="301"/>
                  </a:cubicBezTo>
                  <a:cubicBezTo>
                    <a:pt x="343" y="305"/>
                    <a:pt x="332" y="314"/>
                    <a:pt x="323" y="315"/>
                  </a:cubicBezTo>
                  <a:lnTo>
                    <a:pt x="269" y="318"/>
                  </a:lnTo>
                  <a:lnTo>
                    <a:pt x="272" y="383"/>
                  </a:lnTo>
                  <a:lnTo>
                    <a:pt x="131" y="3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4" name="组合 23"/>
          <p:cNvGrpSpPr/>
          <p:nvPr/>
        </p:nvGrpSpPr>
        <p:grpSpPr>
          <a:xfrm>
            <a:off x="2075327" y="198604"/>
            <a:ext cx="473877" cy="484825"/>
            <a:chOff x="4553407" y="-1899592"/>
            <a:chExt cx="1054013" cy="1078364"/>
          </a:xfrm>
        </p:grpSpPr>
        <p:sp>
          <p:nvSpPr>
            <p:cNvPr id="25" name="Oval 8"/>
            <p:cNvSpPr>
              <a:spLocks noChangeArrowheads="1"/>
            </p:cNvSpPr>
            <p:nvPr/>
          </p:nvSpPr>
          <p:spPr bwMode="auto">
            <a:xfrm>
              <a:off x="4553407" y="-1899592"/>
              <a:ext cx="1054013" cy="1078364"/>
            </a:xfrm>
            <a:prstGeom prst="ellipse">
              <a:avLst/>
            </a:pr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12"/>
            <p:cNvSpPr>
              <a:spLocks noEditPoints="1"/>
            </p:cNvSpPr>
            <p:nvPr/>
          </p:nvSpPr>
          <p:spPr bwMode="auto">
            <a:xfrm>
              <a:off x="4824737" y="-1683919"/>
              <a:ext cx="594839" cy="650497"/>
            </a:xfrm>
            <a:custGeom>
              <a:avLst/>
              <a:gdLst>
                <a:gd name="T0" fmla="*/ 108 w 360"/>
                <a:gd name="T1" fmla="*/ 59 h 384"/>
                <a:gd name="T2" fmla="*/ 236 w 360"/>
                <a:gd name="T3" fmla="*/ 43 h 384"/>
                <a:gd name="T4" fmla="*/ 190 w 360"/>
                <a:gd name="T5" fmla="*/ 26 h 384"/>
                <a:gd name="T6" fmla="*/ 138 w 360"/>
                <a:gd name="T7" fmla="*/ 26 h 384"/>
                <a:gd name="T8" fmla="*/ 92 w 360"/>
                <a:gd name="T9" fmla="*/ 43 h 384"/>
                <a:gd name="T10" fmla="*/ 296 w 360"/>
                <a:gd name="T11" fmla="*/ 332 h 384"/>
                <a:gd name="T12" fmla="*/ 301 w 360"/>
                <a:gd name="T13" fmla="*/ 321 h 384"/>
                <a:gd name="T14" fmla="*/ 280 w 360"/>
                <a:gd name="T15" fmla="*/ 249 h 384"/>
                <a:gd name="T16" fmla="*/ 267 w 360"/>
                <a:gd name="T17" fmla="*/ 249 h 384"/>
                <a:gd name="T18" fmla="*/ 267 w 360"/>
                <a:gd name="T19" fmla="*/ 304 h 384"/>
                <a:gd name="T20" fmla="*/ 268 w 360"/>
                <a:gd name="T21" fmla="*/ 306 h 384"/>
                <a:gd name="T22" fmla="*/ 268 w 360"/>
                <a:gd name="T23" fmla="*/ 307 h 384"/>
                <a:gd name="T24" fmla="*/ 269 w 360"/>
                <a:gd name="T25" fmla="*/ 308 h 384"/>
                <a:gd name="T26" fmla="*/ 343 w 360"/>
                <a:gd name="T27" fmla="*/ 253 h 384"/>
                <a:gd name="T28" fmla="*/ 274 w 360"/>
                <a:gd name="T29" fmla="*/ 217 h 384"/>
                <a:gd name="T30" fmla="*/ 258 w 360"/>
                <a:gd name="T31" fmla="*/ 382 h 384"/>
                <a:gd name="T32" fmla="*/ 356 w 360"/>
                <a:gd name="T33" fmla="*/ 316 h 384"/>
                <a:gd name="T34" fmla="*/ 343 w 360"/>
                <a:gd name="T35" fmla="*/ 313 h 384"/>
                <a:gd name="T36" fmla="*/ 274 w 360"/>
                <a:gd name="T37" fmla="*/ 371 h 384"/>
                <a:gd name="T38" fmla="*/ 205 w 360"/>
                <a:gd name="T39" fmla="*/ 287 h 384"/>
                <a:gd name="T40" fmla="*/ 287 w 360"/>
                <a:gd name="T41" fmla="*/ 231 h 384"/>
                <a:gd name="T42" fmla="*/ 343 w 360"/>
                <a:gd name="T43" fmla="*/ 313 h 384"/>
                <a:gd name="T44" fmla="*/ 121 w 360"/>
                <a:gd name="T45" fmla="*/ 313 h 384"/>
                <a:gd name="T46" fmla="*/ 206 w 360"/>
                <a:gd name="T47" fmla="*/ 228 h 384"/>
                <a:gd name="T48" fmla="*/ 224 w 360"/>
                <a:gd name="T49" fmla="*/ 215 h 384"/>
                <a:gd name="T50" fmla="*/ 311 w 360"/>
                <a:gd name="T51" fmla="*/ 130 h 384"/>
                <a:gd name="T52" fmla="*/ 314 w 360"/>
                <a:gd name="T53" fmla="*/ 210 h 384"/>
                <a:gd name="T54" fmla="*/ 328 w 360"/>
                <a:gd name="T55" fmla="*/ 215 h 384"/>
                <a:gd name="T56" fmla="*/ 328 w 360"/>
                <a:gd name="T57" fmla="*/ 88 h 384"/>
                <a:gd name="T58" fmla="*/ 17 w 360"/>
                <a:gd name="T59" fmla="*/ 71 h 384"/>
                <a:gd name="T60" fmla="*/ 0 w 360"/>
                <a:gd name="T61" fmla="*/ 134 h 384"/>
                <a:gd name="T62" fmla="*/ 0 w 360"/>
                <a:gd name="T63" fmla="*/ 228 h 384"/>
                <a:gd name="T64" fmla="*/ 0 w 360"/>
                <a:gd name="T65" fmla="*/ 319 h 384"/>
                <a:gd name="T66" fmla="*/ 181 w 360"/>
                <a:gd name="T67" fmla="*/ 336 h 384"/>
                <a:gd name="T68" fmla="*/ 14 w 360"/>
                <a:gd name="T69" fmla="*/ 134 h 384"/>
                <a:gd name="T70" fmla="*/ 17 w 360"/>
                <a:gd name="T71" fmla="*/ 130 h 384"/>
                <a:gd name="T72" fmla="*/ 107 w 360"/>
                <a:gd name="T73" fmla="*/ 215 h 384"/>
                <a:gd name="T74" fmla="*/ 14 w 360"/>
                <a:gd name="T75" fmla="*/ 134 h 384"/>
                <a:gd name="T76" fmla="*/ 107 w 360"/>
                <a:gd name="T77" fmla="*/ 228 h 384"/>
                <a:gd name="T78" fmla="*/ 17 w 360"/>
                <a:gd name="T79" fmla="*/ 313 h 384"/>
                <a:gd name="T80" fmla="*/ 14 w 360"/>
                <a:gd name="T81" fmla="*/ 228 h 384"/>
                <a:gd name="T82" fmla="*/ 121 w 360"/>
                <a:gd name="T83" fmla="*/ 215 h 384"/>
                <a:gd name="T84" fmla="*/ 121 w 360"/>
                <a:gd name="T85" fmla="*/ 130 h 384"/>
                <a:gd name="T86" fmla="*/ 210 w 360"/>
                <a:gd name="T87" fmla="*/ 215 h 384"/>
                <a:gd name="T88" fmla="*/ 217 w 360"/>
                <a:gd name="T89" fmla="*/ 88 h 384"/>
                <a:gd name="T90" fmla="*/ 229 w 360"/>
                <a:gd name="T91" fmla="*/ 100 h 384"/>
                <a:gd name="T92" fmla="*/ 205 w 360"/>
                <a:gd name="T93" fmla="*/ 100 h 384"/>
                <a:gd name="T94" fmla="*/ 114 w 360"/>
                <a:gd name="T95" fmla="*/ 88 h 384"/>
                <a:gd name="T96" fmla="*/ 126 w 360"/>
                <a:gd name="T97" fmla="*/ 100 h 384"/>
                <a:gd name="T98" fmla="*/ 103 w 360"/>
                <a:gd name="T99" fmla="*/ 10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0" h="384">
                  <a:moveTo>
                    <a:pt x="92" y="43"/>
                  </a:moveTo>
                  <a:cubicBezTo>
                    <a:pt x="92" y="52"/>
                    <a:pt x="100" y="59"/>
                    <a:pt x="108" y="59"/>
                  </a:cubicBezTo>
                  <a:lnTo>
                    <a:pt x="220" y="59"/>
                  </a:lnTo>
                  <a:cubicBezTo>
                    <a:pt x="229" y="59"/>
                    <a:pt x="236" y="52"/>
                    <a:pt x="236" y="43"/>
                  </a:cubicBezTo>
                  <a:cubicBezTo>
                    <a:pt x="236" y="34"/>
                    <a:pt x="229" y="26"/>
                    <a:pt x="220" y="26"/>
                  </a:cubicBezTo>
                  <a:lnTo>
                    <a:pt x="190" y="26"/>
                  </a:lnTo>
                  <a:cubicBezTo>
                    <a:pt x="190" y="12"/>
                    <a:pt x="179" y="0"/>
                    <a:pt x="164" y="0"/>
                  </a:cubicBezTo>
                  <a:cubicBezTo>
                    <a:pt x="150" y="0"/>
                    <a:pt x="138" y="12"/>
                    <a:pt x="138" y="26"/>
                  </a:cubicBezTo>
                  <a:lnTo>
                    <a:pt x="108" y="26"/>
                  </a:lnTo>
                  <a:cubicBezTo>
                    <a:pt x="100" y="26"/>
                    <a:pt x="92" y="34"/>
                    <a:pt x="92" y="43"/>
                  </a:cubicBezTo>
                  <a:close/>
                  <a:moveTo>
                    <a:pt x="292" y="330"/>
                  </a:moveTo>
                  <a:cubicBezTo>
                    <a:pt x="293" y="332"/>
                    <a:pt x="295" y="332"/>
                    <a:pt x="296" y="332"/>
                  </a:cubicBezTo>
                  <a:cubicBezTo>
                    <a:pt x="298" y="332"/>
                    <a:pt x="300" y="332"/>
                    <a:pt x="301" y="330"/>
                  </a:cubicBezTo>
                  <a:cubicBezTo>
                    <a:pt x="304" y="328"/>
                    <a:pt x="304" y="323"/>
                    <a:pt x="301" y="321"/>
                  </a:cubicBezTo>
                  <a:lnTo>
                    <a:pt x="280" y="300"/>
                  </a:lnTo>
                  <a:lnTo>
                    <a:pt x="280" y="249"/>
                  </a:lnTo>
                  <a:cubicBezTo>
                    <a:pt x="280" y="245"/>
                    <a:pt x="278" y="242"/>
                    <a:pt x="274" y="242"/>
                  </a:cubicBezTo>
                  <a:cubicBezTo>
                    <a:pt x="270" y="242"/>
                    <a:pt x="267" y="245"/>
                    <a:pt x="267" y="249"/>
                  </a:cubicBezTo>
                  <a:lnTo>
                    <a:pt x="267" y="303"/>
                  </a:lnTo>
                  <a:cubicBezTo>
                    <a:pt x="267" y="303"/>
                    <a:pt x="267" y="304"/>
                    <a:pt x="267" y="304"/>
                  </a:cubicBezTo>
                  <a:cubicBezTo>
                    <a:pt x="267" y="305"/>
                    <a:pt x="267" y="305"/>
                    <a:pt x="267" y="305"/>
                  </a:cubicBezTo>
                  <a:cubicBezTo>
                    <a:pt x="267" y="305"/>
                    <a:pt x="268" y="305"/>
                    <a:pt x="268" y="306"/>
                  </a:cubicBezTo>
                  <a:cubicBezTo>
                    <a:pt x="268" y="306"/>
                    <a:pt x="268" y="306"/>
                    <a:pt x="268" y="306"/>
                  </a:cubicBezTo>
                  <a:cubicBezTo>
                    <a:pt x="268" y="306"/>
                    <a:pt x="268" y="307"/>
                    <a:pt x="268" y="307"/>
                  </a:cubicBezTo>
                  <a:cubicBezTo>
                    <a:pt x="268" y="307"/>
                    <a:pt x="269" y="307"/>
                    <a:pt x="269" y="308"/>
                  </a:cubicBezTo>
                  <a:cubicBezTo>
                    <a:pt x="269" y="308"/>
                    <a:pt x="269" y="308"/>
                    <a:pt x="269" y="308"/>
                  </a:cubicBezTo>
                  <a:lnTo>
                    <a:pt x="292" y="330"/>
                  </a:lnTo>
                  <a:close/>
                  <a:moveTo>
                    <a:pt x="343" y="253"/>
                  </a:moveTo>
                  <a:cubicBezTo>
                    <a:pt x="330" y="235"/>
                    <a:pt x="311" y="222"/>
                    <a:pt x="289" y="218"/>
                  </a:cubicBezTo>
                  <a:cubicBezTo>
                    <a:pt x="284" y="217"/>
                    <a:pt x="279" y="217"/>
                    <a:pt x="274" y="217"/>
                  </a:cubicBezTo>
                  <a:cubicBezTo>
                    <a:pt x="234" y="217"/>
                    <a:pt x="199" y="245"/>
                    <a:pt x="192" y="285"/>
                  </a:cubicBezTo>
                  <a:cubicBezTo>
                    <a:pt x="183" y="330"/>
                    <a:pt x="213" y="373"/>
                    <a:pt x="258" y="382"/>
                  </a:cubicBezTo>
                  <a:cubicBezTo>
                    <a:pt x="263" y="383"/>
                    <a:pt x="269" y="384"/>
                    <a:pt x="274" y="384"/>
                  </a:cubicBezTo>
                  <a:cubicBezTo>
                    <a:pt x="314" y="384"/>
                    <a:pt x="348" y="355"/>
                    <a:pt x="356" y="316"/>
                  </a:cubicBezTo>
                  <a:cubicBezTo>
                    <a:pt x="360" y="294"/>
                    <a:pt x="355" y="272"/>
                    <a:pt x="343" y="253"/>
                  </a:cubicBezTo>
                  <a:close/>
                  <a:moveTo>
                    <a:pt x="343" y="313"/>
                  </a:moveTo>
                  <a:lnTo>
                    <a:pt x="343" y="313"/>
                  </a:lnTo>
                  <a:cubicBezTo>
                    <a:pt x="337" y="347"/>
                    <a:pt x="308" y="371"/>
                    <a:pt x="274" y="371"/>
                  </a:cubicBezTo>
                  <a:cubicBezTo>
                    <a:pt x="269" y="371"/>
                    <a:pt x="265" y="370"/>
                    <a:pt x="261" y="369"/>
                  </a:cubicBezTo>
                  <a:cubicBezTo>
                    <a:pt x="222" y="362"/>
                    <a:pt x="197" y="325"/>
                    <a:pt x="205" y="287"/>
                  </a:cubicBezTo>
                  <a:cubicBezTo>
                    <a:pt x="211" y="254"/>
                    <a:pt x="240" y="230"/>
                    <a:pt x="274" y="230"/>
                  </a:cubicBezTo>
                  <a:cubicBezTo>
                    <a:pt x="278" y="230"/>
                    <a:pt x="283" y="230"/>
                    <a:pt x="287" y="231"/>
                  </a:cubicBezTo>
                  <a:cubicBezTo>
                    <a:pt x="306" y="234"/>
                    <a:pt x="322" y="245"/>
                    <a:pt x="332" y="261"/>
                  </a:cubicBezTo>
                  <a:cubicBezTo>
                    <a:pt x="343" y="276"/>
                    <a:pt x="347" y="295"/>
                    <a:pt x="343" y="313"/>
                  </a:cubicBezTo>
                  <a:close/>
                  <a:moveTo>
                    <a:pt x="176" y="313"/>
                  </a:moveTo>
                  <a:lnTo>
                    <a:pt x="121" y="313"/>
                  </a:lnTo>
                  <a:lnTo>
                    <a:pt x="121" y="228"/>
                  </a:lnTo>
                  <a:lnTo>
                    <a:pt x="206" y="228"/>
                  </a:lnTo>
                  <a:cubicBezTo>
                    <a:pt x="211" y="223"/>
                    <a:pt x="217" y="218"/>
                    <a:pt x="224" y="215"/>
                  </a:cubicBezTo>
                  <a:lnTo>
                    <a:pt x="224" y="215"/>
                  </a:lnTo>
                  <a:lnTo>
                    <a:pt x="224" y="130"/>
                  </a:lnTo>
                  <a:lnTo>
                    <a:pt x="311" y="130"/>
                  </a:lnTo>
                  <a:cubicBezTo>
                    <a:pt x="313" y="130"/>
                    <a:pt x="314" y="132"/>
                    <a:pt x="314" y="134"/>
                  </a:cubicBezTo>
                  <a:lnTo>
                    <a:pt x="314" y="210"/>
                  </a:lnTo>
                  <a:cubicBezTo>
                    <a:pt x="319" y="212"/>
                    <a:pt x="324" y="215"/>
                    <a:pt x="328" y="217"/>
                  </a:cubicBezTo>
                  <a:lnTo>
                    <a:pt x="328" y="215"/>
                  </a:lnTo>
                  <a:lnTo>
                    <a:pt x="328" y="134"/>
                  </a:lnTo>
                  <a:lnTo>
                    <a:pt x="328" y="88"/>
                  </a:lnTo>
                  <a:cubicBezTo>
                    <a:pt x="328" y="79"/>
                    <a:pt x="320" y="71"/>
                    <a:pt x="311" y="71"/>
                  </a:cubicBezTo>
                  <a:lnTo>
                    <a:pt x="17" y="71"/>
                  </a:lnTo>
                  <a:cubicBezTo>
                    <a:pt x="8" y="71"/>
                    <a:pt x="0" y="79"/>
                    <a:pt x="0" y="88"/>
                  </a:cubicBezTo>
                  <a:lnTo>
                    <a:pt x="0" y="134"/>
                  </a:lnTo>
                  <a:lnTo>
                    <a:pt x="0" y="215"/>
                  </a:lnTo>
                  <a:lnTo>
                    <a:pt x="0" y="228"/>
                  </a:lnTo>
                  <a:lnTo>
                    <a:pt x="0" y="309"/>
                  </a:lnTo>
                  <a:lnTo>
                    <a:pt x="0" y="319"/>
                  </a:lnTo>
                  <a:cubicBezTo>
                    <a:pt x="0" y="329"/>
                    <a:pt x="8" y="336"/>
                    <a:pt x="17" y="336"/>
                  </a:cubicBezTo>
                  <a:lnTo>
                    <a:pt x="181" y="336"/>
                  </a:lnTo>
                  <a:cubicBezTo>
                    <a:pt x="179" y="329"/>
                    <a:pt x="177" y="321"/>
                    <a:pt x="176" y="313"/>
                  </a:cubicBezTo>
                  <a:close/>
                  <a:moveTo>
                    <a:pt x="14" y="134"/>
                  </a:moveTo>
                  <a:lnTo>
                    <a:pt x="14" y="134"/>
                  </a:lnTo>
                  <a:cubicBezTo>
                    <a:pt x="14" y="132"/>
                    <a:pt x="15" y="130"/>
                    <a:pt x="17" y="130"/>
                  </a:cubicBezTo>
                  <a:lnTo>
                    <a:pt x="107" y="130"/>
                  </a:lnTo>
                  <a:lnTo>
                    <a:pt x="107" y="215"/>
                  </a:lnTo>
                  <a:lnTo>
                    <a:pt x="14" y="215"/>
                  </a:lnTo>
                  <a:lnTo>
                    <a:pt x="14" y="134"/>
                  </a:lnTo>
                  <a:close/>
                  <a:moveTo>
                    <a:pt x="107" y="228"/>
                  </a:moveTo>
                  <a:lnTo>
                    <a:pt x="107" y="228"/>
                  </a:lnTo>
                  <a:lnTo>
                    <a:pt x="107" y="313"/>
                  </a:lnTo>
                  <a:lnTo>
                    <a:pt x="17" y="313"/>
                  </a:lnTo>
                  <a:cubicBezTo>
                    <a:pt x="15" y="313"/>
                    <a:pt x="14" y="311"/>
                    <a:pt x="14" y="309"/>
                  </a:cubicBezTo>
                  <a:lnTo>
                    <a:pt x="14" y="228"/>
                  </a:lnTo>
                  <a:lnTo>
                    <a:pt x="107" y="228"/>
                  </a:lnTo>
                  <a:close/>
                  <a:moveTo>
                    <a:pt x="121" y="215"/>
                  </a:moveTo>
                  <a:lnTo>
                    <a:pt x="121" y="215"/>
                  </a:lnTo>
                  <a:lnTo>
                    <a:pt x="121" y="130"/>
                  </a:lnTo>
                  <a:lnTo>
                    <a:pt x="210" y="130"/>
                  </a:lnTo>
                  <a:lnTo>
                    <a:pt x="210" y="215"/>
                  </a:lnTo>
                  <a:lnTo>
                    <a:pt x="121" y="215"/>
                  </a:lnTo>
                  <a:close/>
                  <a:moveTo>
                    <a:pt x="217" y="88"/>
                  </a:moveTo>
                  <a:lnTo>
                    <a:pt x="217" y="88"/>
                  </a:lnTo>
                  <a:cubicBezTo>
                    <a:pt x="223" y="88"/>
                    <a:pt x="229" y="94"/>
                    <a:pt x="229" y="100"/>
                  </a:cubicBezTo>
                  <a:cubicBezTo>
                    <a:pt x="229" y="106"/>
                    <a:pt x="223" y="111"/>
                    <a:pt x="217" y="111"/>
                  </a:cubicBezTo>
                  <a:cubicBezTo>
                    <a:pt x="211" y="111"/>
                    <a:pt x="205" y="106"/>
                    <a:pt x="205" y="100"/>
                  </a:cubicBezTo>
                  <a:cubicBezTo>
                    <a:pt x="205" y="94"/>
                    <a:pt x="211" y="88"/>
                    <a:pt x="217" y="88"/>
                  </a:cubicBezTo>
                  <a:close/>
                  <a:moveTo>
                    <a:pt x="114" y="88"/>
                  </a:moveTo>
                  <a:lnTo>
                    <a:pt x="114" y="88"/>
                  </a:lnTo>
                  <a:cubicBezTo>
                    <a:pt x="120" y="88"/>
                    <a:pt x="126" y="94"/>
                    <a:pt x="126" y="100"/>
                  </a:cubicBezTo>
                  <a:cubicBezTo>
                    <a:pt x="126" y="106"/>
                    <a:pt x="120" y="111"/>
                    <a:pt x="114" y="111"/>
                  </a:cubicBezTo>
                  <a:cubicBezTo>
                    <a:pt x="108" y="111"/>
                    <a:pt x="103" y="106"/>
                    <a:pt x="103" y="100"/>
                  </a:cubicBezTo>
                  <a:cubicBezTo>
                    <a:pt x="103" y="94"/>
                    <a:pt x="108" y="88"/>
                    <a:pt x="114" y="8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8"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9"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0"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1"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2" name="矩形 31"/>
          <p:cNvSpPr/>
          <p:nvPr/>
        </p:nvSpPr>
        <p:spPr>
          <a:xfrm>
            <a:off x="2391507" y="2424893"/>
            <a:ext cx="7393450" cy="1698614"/>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Rectangle 3"/>
          <p:cNvSpPr txBox="1">
            <a:spLocks noChangeArrowheads="1"/>
          </p:cNvSpPr>
          <p:nvPr/>
        </p:nvSpPr>
        <p:spPr bwMode="auto">
          <a:xfrm>
            <a:off x="2141942" y="2641578"/>
            <a:ext cx="7569771"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dist"/>
            <a:r>
              <a:rPr lang="en-US" altLang="zh-CN" sz="8800" b="1" dirty="0">
                <a:solidFill>
                  <a:schemeClr val="bg1"/>
                </a:solidFill>
                <a:latin typeface="微软雅黑" panose="020B0503020204020204" pitchFamily="34" charset="-122"/>
                <a:ea typeface="微软雅黑" panose="020B0503020204020204" pitchFamily="34" charset="-122"/>
              </a:rPr>
              <a:t> </a:t>
            </a:r>
            <a:r>
              <a:rPr lang="zh-CN" altLang="en-US" sz="8800" b="1" dirty="0">
                <a:solidFill>
                  <a:schemeClr val="bg1"/>
                </a:solidFill>
                <a:latin typeface="微软雅黑" panose="020B0503020204020204" pitchFamily="34" charset="-122"/>
                <a:ea typeface="微软雅黑" panose="020B0503020204020204" pitchFamily="34" charset="-122"/>
              </a:rPr>
              <a:t>中断控制方式</a:t>
            </a:r>
          </a:p>
        </p:txBody>
      </p:sp>
    </p:spTree>
    <p:extLst>
      <p:ext uri="{BB962C8B-B14F-4D97-AF65-F5344CB8AC3E}">
        <p14:creationId xmlns:p14="http://schemas.microsoft.com/office/powerpoint/2010/main" val="354642269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9201922" y="1411471"/>
            <a:ext cx="1306003" cy="1526579"/>
            <a:chOff x="7793038" y="2205038"/>
            <a:chExt cx="1306513" cy="1527175"/>
          </a:xfrm>
        </p:grpSpPr>
        <p:sp>
          <p:nvSpPr>
            <p:cNvPr id="40" name="Freeform 8"/>
            <p:cNvSpPr>
              <a:spLocks/>
            </p:cNvSpPr>
            <p:nvPr/>
          </p:nvSpPr>
          <p:spPr bwMode="auto">
            <a:xfrm>
              <a:off x="7793038" y="2205038"/>
              <a:ext cx="1306513"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90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4" y="0"/>
                    <a:pt x="1654" y="370"/>
                    <a:pt x="1654" y="827"/>
                  </a:cubicBezTo>
                  <a:cubicBezTo>
                    <a:pt x="1654" y="1182"/>
                    <a:pt x="1430" y="1485"/>
                    <a:pt x="1116" y="1602"/>
                  </a:cubicBezTo>
                  <a:lnTo>
                    <a:pt x="995" y="1741"/>
                  </a:lnTo>
                  <a:cubicBezTo>
                    <a:pt x="954" y="1788"/>
                    <a:pt x="912" y="1836"/>
                    <a:pt x="870" y="1884"/>
                  </a:cubicBezTo>
                  <a:cubicBezTo>
                    <a:pt x="845" y="1916"/>
                    <a:pt x="818" y="1918"/>
                    <a:pt x="790" y="1889"/>
                  </a:cubicBezTo>
                  <a:cubicBezTo>
                    <a:pt x="747" y="1840"/>
                    <a:pt x="703" y="1790"/>
                    <a:pt x="660" y="1741"/>
                  </a:cubicBezTo>
                  <a:lnTo>
                    <a:pt x="540" y="1603"/>
                  </a:lnTo>
                  <a:cubicBezTo>
                    <a:pt x="225" y="1486"/>
                    <a:pt x="0" y="1183"/>
                    <a:pt x="0" y="827"/>
                  </a:cubicBezTo>
                  <a:cubicBezTo>
                    <a:pt x="0" y="370"/>
                    <a:pt x="370" y="0"/>
                    <a:pt x="827" y="0"/>
                  </a:cubicBezTo>
                  <a:close/>
                </a:path>
              </a:pathLst>
            </a:custGeom>
            <a:solidFill>
              <a:schemeClr val="accent6">
                <a:lumMod val="75000"/>
              </a:schemeClr>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41" name="Freeform 13"/>
            <p:cNvSpPr>
              <a:spLocks noEditPoints="1"/>
            </p:cNvSpPr>
            <p:nvPr/>
          </p:nvSpPr>
          <p:spPr bwMode="auto">
            <a:xfrm>
              <a:off x="8065047" y="2423672"/>
              <a:ext cx="819646" cy="881946"/>
            </a:xfrm>
            <a:custGeom>
              <a:avLst/>
              <a:gdLst>
                <a:gd name="T0" fmla="*/ 255 w 847"/>
                <a:gd name="T1" fmla="*/ 138 h 903"/>
                <a:gd name="T2" fmla="*/ 555 w 847"/>
                <a:gd name="T3" fmla="*/ 100 h 903"/>
                <a:gd name="T4" fmla="*/ 448 w 847"/>
                <a:gd name="T5" fmla="*/ 61 h 903"/>
                <a:gd name="T6" fmla="*/ 324 w 847"/>
                <a:gd name="T7" fmla="*/ 61 h 903"/>
                <a:gd name="T8" fmla="*/ 217 w 847"/>
                <a:gd name="T9" fmla="*/ 100 h 903"/>
                <a:gd name="T10" fmla="*/ 697 w 847"/>
                <a:gd name="T11" fmla="*/ 782 h 903"/>
                <a:gd name="T12" fmla="*/ 709 w 847"/>
                <a:gd name="T13" fmla="*/ 755 h 903"/>
                <a:gd name="T14" fmla="*/ 660 w 847"/>
                <a:gd name="T15" fmla="*/ 586 h 903"/>
                <a:gd name="T16" fmla="*/ 629 w 847"/>
                <a:gd name="T17" fmla="*/ 586 h 903"/>
                <a:gd name="T18" fmla="*/ 629 w 847"/>
                <a:gd name="T19" fmla="*/ 716 h 903"/>
                <a:gd name="T20" fmla="*/ 630 w 847"/>
                <a:gd name="T21" fmla="*/ 719 h 903"/>
                <a:gd name="T22" fmla="*/ 631 w 847"/>
                <a:gd name="T23" fmla="*/ 722 h 903"/>
                <a:gd name="T24" fmla="*/ 633 w 847"/>
                <a:gd name="T25" fmla="*/ 724 h 903"/>
                <a:gd name="T26" fmla="*/ 807 w 847"/>
                <a:gd name="T27" fmla="*/ 596 h 903"/>
                <a:gd name="T28" fmla="*/ 644 w 847"/>
                <a:gd name="T29" fmla="*/ 510 h 903"/>
                <a:gd name="T30" fmla="*/ 607 w 847"/>
                <a:gd name="T31" fmla="*/ 899 h 903"/>
                <a:gd name="T32" fmla="*/ 837 w 847"/>
                <a:gd name="T33" fmla="*/ 743 h 903"/>
                <a:gd name="T34" fmla="*/ 808 w 847"/>
                <a:gd name="T35" fmla="*/ 737 h 903"/>
                <a:gd name="T36" fmla="*/ 645 w 847"/>
                <a:gd name="T37" fmla="*/ 872 h 903"/>
                <a:gd name="T38" fmla="*/ 481 w 847"/>
                <a:gd name="T39" fmla="*/ 675 h 903"/>
                <a:gd name="T40" fmla="*/ 676 w 847"/>
                <a:gd name="T41" fmla="*/ 543 h 903"/>
                <a:gd name="T42" fmla="*/ 808 w 847"/>
                <a:gd name="T43" fmla="*/ 737 h 903"/>
                <a:gd name="T44" fmla="*/ 284 w 847"/>
                <a:gd name="T45" fmla="*/ 736 h 903"/>
                <a:gd name="T46" fmla="*/ 485 w 847"/>
                <a:gd name="T47" fmla="*/ 536 h 903"/>
                <a:gd name="T48" fmla="*/ 526 w 847"/>
                <a:gd name="T49" fmla="*/ 505 h 903"/>
                <a:gd name="T50" fmla="*/ 732 w 847"/>
                <a:gd name="T51" fmla="*/ 306 h 903"/>
                <a:gd name="T52" fmla="*/ 740 w 847"/>
                <a:gd name="T53" fmla="*/ 494 h 903"/>
                <a:gd name="T54" fmla="*/ 772 w 847"/>
                <a:gd name="T55" fmla="*/ 505 h 903"/>
                <a:gd name="T56" fmla="*/ 772 w 847"/>
                <a:gd name="T57" fmla="*/ 208 h 903"/>
                <a:gd name="T58" fmla="*/ 40 w 847"/>
                <a:gd name="T59" fmla="*/ 167 h 903"/>
                <a:gd name="T60" fmla="*/ 0 w 847"/>
                <a:gd name="T61" fmla="*/ 314 h 903"/>
                <a:gd name="T62" fmla="*/ 0 w 847"/>
                <a:gd name="T63" fmla="*/ 536 h 903"/>
                <a:gd name="T64" fmla="*/ 0 w 847"/>
                <a:gd name="T65" fmla="*/ 751 h 903"/>
                <a:gd name="T66" fmla="*/ 427 w 847"/>
                <a:gd name="T67" fmla="*/ 791 h 903"/>
                <a:gd name="T68" fmla="*/ 32 w 847"/>
                <a:gd name="T69" fmla="*/ 314 h 903"/>
                <a:gd name="T70" fmla="*/ 40 w 847"/>
                <a:gd name="T71" fmla="*/ 306 h 903"/>
                <a:gd name="T72" fmla="*/ 252 w 847"/>
                <a:gd name="T73" fmla="*/ 505 h 903"/>
                <a:gd name="T74" fmla="*/ 32 w 847"/>
                <a:gd name="T75" fmla="*/ 314 h 903"/>
                <a:gd name="T76" fmla="*/ 252 w 847"/>
                <a:gd name="T77" fmla="*/ 536 h 903"/>
                <a:gd name="T78" fmla="*/ 40 w 847"/>
                <a:gd name="T79" fmla="*/ 736 h 903"/>
                <a:gd name="T80" fmla="*/ 32 w 847"/>
                <a:gd name="T81" fmla="*/ 536 h 903"/>
                <a:gd name="T82" fmla="*/ 284 w 847"/>
                <a:gd name="T83" fmla="*/ 505 h 903"/>
                <a:gd name="T84" fmla="*/ 284 w 847"/>
                <a:gd name="T85" fmla="*/ 306 h 903"/>
                <a:gd name="T86" fmla="*/ 495 w 847"/>
                <a:gd name="T87" fmla="*/ 505 h 903"/>
                <a:gd name="T88" fmla="*/ 511 w 847"/>
                <a:gd name="T89" fmla="*/ 207 h 903"/>
                <a:gd name="T90" fmla="*/ 538 w 847"/>
                <a:gd name="T91" fmla="*/ 235 h 903"/>
                <a:gd name="T92" fmla="*/ 483 w 847"/>
                <a:gd name="T93" fmla="*/ 235 h 903"/>
                <a:gd name="T94" fmla="*/ 268 w 847"/>
                <a:gd name="T95" fmla="*/ 207 h 903"/>
                <a:gd name="T96" fmla="*/ 295 w 847"/>
                <a:gd name="T97" fmla="*/ 235 h 903"/>
                <a:gd name="T98" fmla="*/ 241 w 847"/>
                <a:gd name="T99" fmla="*/ 23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47" h="903">
                  <a:moveTo>
                    <a:pt x="217" y="100"/>
                  </a:moveTo>
                  <a:cubicBezTo>
                    <a:pt x="217" y="121"/>
                    <a:pt x="234" y="138"/>
                    <a:pt x="255" y="138"/>
                  </a:cubicBezTo>
                  <a:lnTo>
                    <a:pt x="517" y="138"/>
                  </a:lnTo>
                  <a:cubicBezTo>
                    <a:pt x="538" y="138"/>
                    <a:pt x="555" y="121"/>
                    <a:pt x="555" y="100"/>
                  </a:cubicBezTo>
                  <a:cubicBezTo>
                    <a:pt x="555" y="79"/>
                    <a:pt x="538" y="61"/>
                    <a:pt x="517" y="61"/>
                  </a:cubicBezTo>
                  <a:lnTo>
                    <a:pt x="448" y="61"/>
                  </a:lnTo>
                  <a:cubicBezTo>
                    <a:pt x="448" y="27"/>
                    <a:pt x="420" y="0"/>
                    <a:pt x="386" y="0"/>
                  </a:cubicBezTo>
                  <a:cubicBezTo>
                    <a:pt x="352" y="0"/>
                    <a:pt x="324" y="27"/>
                    <a:pt x="324" y="61"/>
                  </a:cubicBezTo>
                  <a:lnTo>
                    <a:pt x="255" y="61"/>
                  </a:lnTo>
                  <a:cubicBezTo>
                    <a:pt x="234" y="61"/>
                    <a:pt x="217" y="79"/>
                    <a:pt x="217" y="100"/>
                  </a:cubicBezTo>
                  <a:close/>
                  <a:moveTo>
                    <a:pt x="686" y="777"/>
                  </a:moveTo>
                  <a:cubicBezTo>
                    <a:pt x="689" y="780"/>
                    <a:pt x="693" y="782"/>
                    <a:pt x="697" y="782"/>
                  </a:cubicBezTo>
                  <a:cubicBezTo>
                    <a:pt x="702" y="782"/>
                    <a:pt x="706" y="780"/>
                    <a:pt x="709" y="777"/>
                  </a:cubicBezTo>
                  <a:cubicBezTo>
                    <a:pt x="715" y="771"/>
                    <a:pt x="715" y="761"/>
                    <a:pt x="709" y="755"/>
                  </a:cubicBezTo>
                  <a:lnTo>
                    <a:pt x="660" y="706"/>
                  </a:lnTo>
                  <a:lnTo>
                    <a:pt x="660" y="586"/>
                  </a:lnTo>
                  <a:cubicBezTo>
                    <a:pt x="660" y="577"/>
                    <a:pt x="653" y="570"/>
                    <a:pt x="644" y="570"/>
                  </a:cubicBezTo>
                  <a:cubicBezTo>
                    <a:pt x="636" y="570"/>
                    <a:pt x="629" y="577"/>
                    <a:pt x="629" y="586"/>
                  </a:cubicBezTo>
                  <a:lnTo>
                    <a:pt x="629" y="713"/>
                  </a:lnTo>
                  <a:cubicBezTo>
                    <a:pt x="629" y="714"/>
                    <a:pt x="629" y="715"/>
                    <a:pt x="629" y="716"/>
                  </a:cubicBezTo>
                  <a:cubicBezTo>
                    <a:pt x="629" y="716"/>
                    <a:pt x="629" y="717"/>
                    <a:pt x="629" y="717"/>
                  </a:cubicBezTo>
                  <a:cubicBezTo>
                    <a:pt x="629" y="718"/>
                    <a:pt x="630" y="718"/>
                    <a:pt x="630" y="719"/>
                  </a:cubicBezTo>
                  <a:cubicBezTo>
                    <a:pt x="630" y="719"/>
                    <a:pt x="630" y="720"/>
                    <a:pt x="631" y="720"/>
                  </a:cubicBezTo>
                  <a:cubicBezTo>
                    <a:pt x="631" y="721"/>
                    <a:pt x="631" y="721"/>
                    <a:pt x="631" y="722"/>
                  </a:cubicBezTo>
                  <a:cubicBezTo>
                    <a:pt x="632" y="722"/>
                    <a:pt x="632" y="723"/>
                    <a:pt x="633" y="724"/>
                  </a:cubicBezTo>
                  <a:cubicBezTo>
                    <a:pt x="633" y="724"/>
                    <a:pt x="633" y="724"/>
                    <a:pt x="633" y="724"/>
                  </a:cubicBezTo>
                  <a:lnTo>
                    <a:pt x="686" y="777"/>
                  </a:lnTo>
                  <a:close/>
                  <a:moveTo>
                    <a:pt x="807" y="596"/>
                  </a:moveTo>
                  <a:cubicBezTo>
                    <a:pt x="777" y="552"/>
                    <a:pt x="733" y="523"/>
                    <a:pt x="681" y="513"/>
                  </a:cubicBezTo>
                  <a:cubicBezTo>
                    <a:pt x="669" y="511"/>
                    <a:pt x="657" y="510"/>
                    <a:pt x="644" y="510"/>
                  </a:cubicBezTo>
                  <a:cubicBezTo>
                    <a:pt x="550" y="510"/>
                    <a:pt x="469" y="577"/>
                    <a:pt x="451" y="669"/>
                  </a:cubicBezTo>
                  <a:cubicBezTo>
                    <a:pt x="431" y="776"/>
                    <a:pt x="501" y="879"/>
                    <a:pt x="607" y="899"/>
                  </a:cubicBezTo>
                  <a:cubicBezTo>
                    <a:pt x="620" y="902"/>
                    <a:pt x="632" y="903"/>
                    <a:pt x="645" y="903"/>
                  </a:cubicBezTo>
                  <a:cubicBezTo>
                    <a:pt x="739" y="903"/>
                    <a:pt x="820" y="836"/>
                    <a:pt x="837" y="743"/>
                  </a:cubicBezTo>
                  <a:cubicBezTo>
                    <a:pt x="847" y="692"/>
                    <a:pt x="836" y="639"/>
                    <a:pt x="807" y="596"/>
                  </a:cubicBezTo>
                  <a:close/>
                  <a:moveTo>
                    <a:pt x="808" y="737"/>
                  </a:moveTo>
                  <a:lnTo>
                    <a:pt x="808" y="737"/>
                  </a:lnTo>
                  <a:cubicBezTo>
                    <a:pt x="793" y="816"/>
                    <a:pt x="724" y="872"/>
                    <a:pt x="645" y="872"/>
                  </a:cubicBezTo>
                  <a:cubicBezTo>
                    <a:pt x="634" y="872"/>
                    <a:pt x="624" y="871"/>
                    <a:pt x="613" y="869"/>
                  </a:cubicBezTo>
                  <a:cubicBezTo>
                    <a:pt x="523" y="852"/>
                    <a:pt x="464" y="765"/>
                    <a:pt x="481" y="675"/>
                  </a:cubicBezTo>
                  <a:cubicBezTo>
                    <a:pt x="496" y="597"/>
                    <a:pt x="565" y="540"/>
                    <a:pt x="644" y="540"/>
                  </a:cubicBezTo>
                  <a:cubicBezTo>
                    <a:pt x="655" y="540"/>
                    <a:pt x="665" y="541"/>
                    <a:pt x="676" y="543"/>
                  </a:cubicBezTo>
                  <a:cubicBezTo>
                    <a:pt x="719" y="551"/>
                    <a:pt x="757" y="576"/>
                    <a:pt x="782" y="613"/>
                  </a:cubicBezTo>
                  <a:cubicBezTo>
                    <a:pt x="807" y="650"/>
                    <a:pt x="816" y="694"/>
                    <a:pt x="808" y="737"/>
                  </a:cubicBezTo>
                  <a:close/>
                  <a:moveTo>
                    <a:pt x="413" y="736"/>
                  </a:moveTo>
                  <a:lnTo>
                    <a:pt x="284" y="736"/>
                  </a:lnTo>
                  <a:lnTo>
                    <a:pt x="284" y="536"/>
                  </a:lnTo>
                  <a:lnTo>
                    <a:pt x="485" y="536"/>
                  </a:lnTo>
                  <a:cubicBezTo>
                    <a:pt x="497" y="524"/>
                    <a:pt x="512" y="514"/>
                    <a:pt x="527" y="505"/>
                  </a:cubicBezTo>
                  <a:lnTo>
                    <a:pt x="526" y="505"/>
                  </a:lnTo>
                  <a:lnTo>
                    <a:pt x="526" y="306"/>
                  </a:lnTo>
                  <a:lnTo>
                    <a:pt x="732" y="306"/>
                  </a:lnTo>
                  <a:cubicBezTo>
                    <a:pt x="736" y="306"/>
                    <a:pt x="740" y="309"/>
                    <a:pt x="740" y="314"/>
                  </a:cubicBezTo>
                  <a:lnTo>
                    <a:pt x="740" y="494"/>
                  </a:lnTo>
                  <a:cubicBezTo>
                    <a:pt x="751" y="499"/>
                    <a:pt x="762" y="505"/>
                    <a:pt x="772" y="511"/>
                  </a:cubicBezTo>
                  <a:lnTo>
                    <a:pt x="772" y="505"/>
                  </a:lnTo>
                  <a:lnTo>
                    <a:pt x="772" y="314"/>
                  </a:lnTo>
                  <a:lnTo>
                    <a:pt x="772" y="208"/>
                  </a:lnTo>
                  <a:cubicBezTo>
                    <a:pt x="772" y="185"/>
                    <a:pt x="754" y="167"/>
                    <a:pt x="732" y="167"/>
                  </a:cubicBezTo>
                  <a:lnTo>
                    <a:pt x="40" y="167"/>
                  </a:lnTo>
                  <a:cubicBezTo>
                    <a:pt x="18" y="167"/>
                    <a:pt x="0" y="185"/>
                    <a:pt x="0" y="208"/>
                  </a:cubicBezTo>
                  <a:lnTo>
                    <a:pt x="0" y="314"/>
                  </a:lnTo>
                  <a:lnTo>
                    <a:pt x="0" y="505"/>
                  </a:lnTo>
                  <a:lnTo>
                    <a:pt x="0" y="536"/>
                  </a:lnTo>
                  <a:lnTo>
                    <a:pt x="0" y="727"/>
                  </a:lnTo>
                  <a:lnTo>
                    <a:pt x="0" y="751"/>
                  </a:lnTo>
                  <a:cubicBezTo>
                    <a:pt x="0" y="773"/>
                    <a:pt x="18" y="791"/>
                    <a:pt x="40" y="791"/>
                  </a:cubicBezTo>
                  <a:lnTo>
                    <a:pt x="427" y="791"/>
                  </a:lnTo>
                  <a:cubicBezTo>
                    <a:pt x="420" y="773"/>
                    <a:pt x="415" y="755"/>
                    <a:pt x="413" y="736"/>
                  </a:cubicBezTo>
                  <a:close/>
                  <a:moveTo>
                    <a:pt x="32" y="314"/>
                  </a:moveTo>
                  <a:lnTo>
                    <a:pt x="32" y="314"/>
                  </a:lnTo>
                  <a:cubicBezTo>
                    <a:pt x="32" y="309"/>
                    <a:pt x="36" y="306"/>
                    <a:pt x="40" y="306"/>
                  </a:cubicBezTo>
                  <a:lnTo>
                    <a:pt x="252" y="306"/>
                  </a:lnTo>
                  <a:lnTo>
                    <a:pt x="252" y="505"/>
                  </a:lnTo>
                  <a:lnTo>
                    <a:pt x="32" y="505"/>
                  </a:lnTo>
                  <a:lnTo>
                    <a:pt x="32" y="314"/>
                  </a:lnTo>
                  <a:close/>
                  <a:moveTo>
                    <a:pt x="252" y="536"/>
                  </a:moveTo>
                  <a:lnTo>
                    <a:pt x="252" y="536"/>
                  </a:lnTo>
                  <a:lnTo>
                    <a:pt x="252" y="736"/>
                  </a:lnTo>
                  <a:lnTo>
                    <a:pt x="40" y="736"/>
                  </a:lnTo>
                  <a:cubicBezTo>
                    <a:pt x="36" y="736"/>
                    <a:pt x="32" y="732"/>
                    <a:pt x="32" y="727"/>
                  </a:cubicBezTo>
                  <a:lnTo>
                    <a:pt x="32" y="536"/>
                  </a:lnTo>
                  <a:lnTo>
                    <a:pt x="252" y="536"/>
                  </a:lnTo>
                  <a:close/>
                  <a:moveTo>
                    <a:pt x="284" y="505"/>
                  </a:moveTo>
                  <a:lnTo>
                    <a:pt x="284" y="505"/>
                  </a:lnTo>
                  <a:lnTo>
                    <a:pt x="284" y="306"/>
                  </a:lnTo>
                  <a:lnTo>
                    <a:pt x="495" y="306"/>
                  </a:lnTo>
                  <a:lnTo>
                    <a:pt x="495" y="505"/>
                  </a:lnTo>
                  <a:lnTo>
                    <a:pt x="284" y="505"/>
                  </a:lnTo>
                  <a:close/>
                  <a:moveTo>
                    <a:pt x="511" y="207"/>
                  </a:moveTo>
                  <a:lnTo>
                    <a:pt x="511" y="207"/>
                  </a:lnTo>
                  <a:cubicBezTo>
                    <a:pt x="526" y="207"/>
                    <a:pt x="538" y="219"/>
                    <a:pt x="538" y="235"/>
                  </a:cubicBezTo>
                  <a:cubicBezTo>
                    <a:pt x="538" y="250"/>
                    <a:pt x="526" y="262"/>
                    <a:pt x="511" y="262"/>
                  </a:cubicBezTo>
                  <a:cubicBezTo>
                    <a:pt x="496" y="262"/>
                    <a:pt x="483" y="250"/>
                    <a:pt x="483" y="235"/>
                  </a:cubicBezTo>
                  <a:cubicBezTo>
                    <a:pt x="483" y="219"/>
                    <a:pt x="496" y="207"/>
                    <a:pt x="511" y="207"/>
                  </a:cubicBezTo>
                  <a:close/>
                  <a:moveTo>
                    <a:pt x="268" y="207"/>
                  </a:moveTo>
                  <a:lnTo>
                    <a:pt x="268" y="207"/>
                  </a:lnTo>
                  <a:cubicBezTo>
                    <a:pt x="283" y="207"/>
                    <a:pt x="295" y="219"/>
                    <a:pt x="295" y="235"/>
                  </a:cubicBezTo>
                  <a:cubicBezTo>
                    <a:pt x="295" y="250"/>
                    <a:pt x="283" y="262"/>
                    <a:pt x="268" y="262"/>
                  </a:cubicBezTo>
                  <a:cubicBezTo>
                    <a:pt x="253" y="262"/>
                    <a:pt x="241" y="250"/>
                    <a:pt x="241" y="235"/>
                  </a:cubicBezTo>
                  <a:cubicBezTo>
                    <a:pt x="241" y="219"/>
                    <a:pt x="253" y="207"/>
                    <a:pt x="268" y="20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4" name="组合 3"/>
          <p:cNvGrpSpPr/>
          <p:nvPr/>
        </p:nvGrpSpPr>
        <p:grpSpPr>
          <a:xfrm>
            <a:off x="1446334" y="1411471"/>
            <a:ext cx="1304416" cy="1526579"/>
            <a:chOff x="1446900" y="2132856"/>
            <a:chExt cx="1304925" cy="1527175"/>
          </a:xfrm>
        </p:grpSpPr>
        <p:sp>
          <p:nvSpPr>
            <p:cNvPr id="31" name="Freeform 5"/>
            <p:cNvSpPr>
              <a:spLocks/>
            </p:cNvSpPr>
            <p:nvPr/>
          </p:nvSpPr>
          <p:spPr bwMode="auto">
            <a:xfrm>
              <a:off x="1446900"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89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3" y="0"/>
                    <a:pt x="1654" y="370"/>
                    <a:pt x="1654" y="827"/>
                  </a:cubicBezTo>
                  <a:cubicBezTo>
                    <a:pt x="1654" y="1182"/>
                    <a:pt x="1430" y="1485"/>
                    <a:pt x="1116" y="1602"/>
                  </a:cubicBezTo>
                  <a:lnTo>
                    <a:pt x="995" y="1741"/>
                  </a:lnTo>
                  <a:cubicBezTo>
                    <a:pt x="953" y="1788"/>
                    <a:pt x="912" y="1836"/>
                    <a:pt x="870" y="1884"/>
                  </a:cubicBezTo>
                  <a:cubicBezTo>
                    <a:pt x="845" y="1916"/>
                    <a:pt x="818" y="1918"/>
                    <a:pt x="789" y="1889"/>
                  </a:cubicBezTo>
                  <a:cubicBezTo>
                    <a:pt x="746" y="1840"/>
                    <a:pt x="703" y="1790"/>
                    <a:pt x="660" y="1741"/>
                  </a:cubicBezTo>
                  <a:lnTo>
                    <a:pt x="540" y="1603"/>
                  </a:lnTo>
                  <a:cubicBezTo>
                    <a:pt x="225" y="1486"/>
                    <a:pt x="0" y="1183"/>
                    <a:pt x="0" y="827"/>
                  </a:cubicBezTo>
                  <a:cubicBezTo>
                    <a:pt x="0" y="370"/>
                    <a:pt x="370" y="0"/>
                    <a:pt x="827" y="0"/>
                  </a:cubicBezTo>
                  <a:close/>
                </a:path>
              </a:pathLst>
            </a:custGeom>
            <a:solidFill>
              <a:srgbClr val="92D05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56" name="Freeform 16"/>
            <p:cNvSpPr>
              <a:spLocks noEditPoints="1"/>
            </p:cNvSpPr>
            <p:nvPr/>
          </p:nvSpPr>
          <p:spPr bwMode="auto">
            <a:xfrm>
              <a:off x="1668969" y="2542449"/>
              <a:ext cx="860788" cy="500028"/>
            </a:xfrm>
            <a:custGeom>
              <a:avLst/>
              <a:gdLst>
                <a:gd name="T0" fmla="*/ 712 w 739"/>
                <a:gd name="T1" fmla="*/ 36 h 492"/>
                <a:gd name="T2" fmla="*/ 712 w 739"/>
                <a:gd name="T3" fmla="*/ 404 h 492"/>
                <a:gd name="T4" fmla="*/ 702 w 739"/>
                <a:gd name="T5" fmla="*/ 404 h 492"/>
                <a:gd name="T6" fmla="*/ 678 w 739"/>
                <a:gd name="T7" fmla="*/ 403 h 492"/>
                <a:gd name="T8" fmla="*/ 373 w 739"/>
                <a:gd name="T9" fmla="*/ 480 h 492"/>
                <a:gd name="T10" fmla="*/ 369 w 739"/>
                <a:gd name="T11" fmla="*/ 482 h 492"/>
                <a:gd name="T12" fmla="*/ 365 w 739"/>
                <a:gd name="T13" fmla="*/ 480 h 492"/>
                <a:gd name="T14" fmla="*/ 60 w 739"/>
                <a:gd name="T15" fmla="*/ 403 h 492"/>
                <a:gd name="T16" fmla="*/ 37 w 739"/>
                <a:gd name="T17" fmla="*/ 404 h 492"/>
                <a:gd name="T18" fmla="*/ 26 w 739"/>
                <a:gd name="T19" fmla="*/ 404 h 492"/>
                <a:gd name="T20" fmla="*/ 26 w 739"/>
                <a:gd name="T21" fmla="*/ 36 h 492"/>
                <a:gd name="T22" fmla="*/ 0 w 739"/>
                <a:gd name="T23" fmla="*/ 36 h 492"/>
                <a:gd name="T24" fmla="*/ 0 w 739"/>
                <a:gd name="T25" fmla="*/ 418 h 492"/>
                <a:gd name="T26" fmla="*/ 369 w 739"/>
                <a:gd name="T27" fmla="*/ 492 h 492"/>
                <a:gd name="T28" fmla="*/ 739 w 739"/>
                <a:gd name="T29" fmla="*/ 418 h 492"/>
                <a:gd name="T30" fmla="*/ 739 w 739"/>
                <a:gd name="T31" fmla="*/ 36 h 492"/>
                <a:gd name="T32" fmla="*/ 712 w 739"/>
                <a:gd name="T33" fmla="*/ 36 h 492"/>
                <a:gd name="T34" fmla="*/ 357 w 739"/>
                <a:gd name="T35" fmla="*/ 418 h 492"/>
                <a:gd name="T36" fmla="*/ 357 w 739"/>
                <a:gd name="T37" fmla="*/ 82 h 492"/>
                <a:gd name="T38" fmla="*/ 101 w 739"/>
                <a:gd name="T39" fmla="*/ 2 h 492"/>
                <a:gd name="T40" fmla="*/ 101 w 739"/>
                <a:gd name="T41" fmla="*/ 352 h 492"/>
                <a:gd name="T42" fmla="*/ 111 w 739"/>
                <a:gd name="T43" fmla="*/ 352 h 492"/>
                <a:gd name="T44" fmla="*/ 357 w 739"/>
                <a:gd name="T45" fmla="*/ 418 h 492"/>
                <a:gd name="T46" fmla="*/ 638 w 739"/>
                <a:gd name="T47" fmla="*/ 352 h 492"/>
                <a:gd name="T48" fmla="*/ 638 w 739"/>
                <a:gd name="T49" fmla="*/ 2 h 492"/>
                <a:gd name="T50" fmla="*/ 382 w 739"/>
                <a:gd name="T51" fmla="*/ 82 h 492"/>
                <a:gd name="T52" fmla="*/ 382 w 739"/>
                <a:gd name="T53" fmla="*/ 418 h 492"/>
                <a:gd name="T54" fmla="*/ 628 w 739"/>
                <a:gd name="T55" fmla="*/ 352 h 492"/>
                <a:gd name="T56" fmla="*/ 638 w 739"/>
                <a:gd name="T57" fmla="*/ 352 h 492"/>
                <a:gd name="T58" fmla="*/ 369 w 739"/>
                <a:gd name="T59" fmla="*/ 473 h 492"/>
                <a:gd name="T60" fmla="*/ 695 w 739"/>
                <a:gd name="T61" fmla="*/ 395 h 492"/>
                <a:gd name="T62" fmla="*/ 695 w 739"/>
                <a:gd name="T63" fmla="*/ 7 h 492"/>
                <a:gd name="T64" fmla="*/ 655 w 739"/>
                <a:gd name="T65" fmla="*/ 7 h 492"/>
                <a:gd name="T66" fmla="*/ 655 w 739"/>
                <a:gd name="T67" fmla="*/ 370 h 492"/>
                <a:gd name="T68" fmla="*/ 645 w 739"/>
                <a:gd name="T69" fmla="*/ 370 h 492"/>
                <a:gd name="T70" fmla="*/ 626 w 739"/>
                <a:gd name="T71" fmla="*/ 369 h 492"/>
                <a:gd name="T72" fmla="*/ 376 w 739"/>
                <a:gd name="T73" fmla="*/ 441 h 492"/>
                <a:gd name="T74" fmla="*/ 369 w 739"/>
                <a:gd name="T75" fmla="*/ 445 h 492"/>
                <a:gd name="T76" fmla="*/ 363 w 739"/>
                <a:gd name="T77" fmla="*/ 441 h 492"/>
                <a:gd name="T78" fmla="*/ 113 w 739"/>
                <a:gd name="T79" fmla="*/ 369 h 492"/>
                <a:gd name="T80" fmla="*/ 93 w 739"/>
                <a:gd name="T81" fmla="*/ 370 h 492"/>
                <a:gd name="T82" fmla="*/ 83 w 739"/>
                <a:gd name="T83" fmla="*/ 370 h 492"/>
                <a:gd name="T84" fmla="*/ 83 w 739"/>
                <a:gd name="T85" fmla="*/ 7 h 492"/>
                <a:gd name="T86" fmla="*/ 44 w 739"/>
                <a:gd name="T87" fmla="*/ 7 h 492"/>
                <a:gd name="T88" fmla="*/ 44 w 739"/>
                <a:gd name="T89" fmla="*/ 395 h 492"/>
                <a:gd name="T90" fmla="*/ 369 w 739"/>
                <a:gd name="T91" fmla="*/ 473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9" h="492">
                  <a:moveTo>
                    <a:pt x="712" y="36"/>
                  </a:moveTo>
                  <a:lnTo>
                    <a:pt x="712" y="404"/>
                  </a:lnTo>
                  <a:lnTo>
                    <a:pt x="702" y="404"/>
                  </a:lnTo>
                  <a:cubicBezTo>
                    <a:pt x="694" y="404"/>
                    <a:pt x="686" y="403"/>
                    <a:pt x="678" y="403"/>
                  </a:cubicBezTo>
                  <a:cubicBezTo>
                    <a:pt x="576" y="403"/>
                    <a:pt x="467" y="430"/>
                    <a:pt x="373" y="480"/>
                  </a:cubicBezTo>
                  <a:lnTo>
                    <a:pt x="369" y="482"/>
                  </a:lnTo>
                  <a:lnTo>
                    <a:pt x="365" y="480"/>
                  </a:lnTo>
                  <a:cubicBezTo>
                    <a:pt x="271" y="430"/>
                    <a:pt x="163" y="403"/>
                    <a:pt x="60" y="403"/>
                  </a:cubicBezTo>
                  <a:cubicBezTo>
                    <a:pt x="52" y="403"/>
                    <a:pt x="45" y="404"/>
                    <a:pt x="37" y="404"/>
                  </a:cubicBezTo>
                  <a:lnTo>
                    <a:pt x="26" y="404"/>
                  </a:lnTo>
                  <a:lnTo>
                    <a:pt x="26" y="36"/>
                  </a:lnTo>
                  <a:cubicBezTo>
                    <a:pt x="17" y="36"/>
                    <a:pt x="9" y="36"/>
                    <a:pt x="0" y="36"/>
                  </a:cubicBezTo>
                  <a:lnTo>
                    <a:pt x="0" y="418"/>
                  </a:lnTo>
                  <a:cubicBezTo>
                    <a:pt x="123" y="415"/>
                    <a:pt x="254" y="442"/>
                    <a:pt x="369" y="492"/>
                  </a:cubicBezTo>
                  <a:cubicBezTo>
                    <a:pt x="484" y="442"/>
                    <a:pt x="616" y="415"/>
                    <a:pt x="739" y="418"/>
                  </a:cubicBezTo>
                  <a:lnTo>
                    <a:pt x="739" y="36"/>
                  </a:lnTo>
                  <a:cubicBezTo>
                    <a:pt x="730" y="36"/>
                    <a:pt x="721" y="36"/>
                    <a:pt x="712" y="36"/>
                  </a:cubicBezTo>
                  <a:close/>
                  <a:moveTo>
                    <a:pt x="357" y="418"/>
                  </a:moveTo>
                  <a:lnTo>
                    <a:pt x="357" y="82"/>
                  </a:lnTo>
                  <a:cubicBezTo>
                    <a:pt x="277" y="28"/>
                    <a:pt x="186" y="0"/>
                    <a:pt x="101" y="2"/>
                  </a:cubicBezTo>
                  <a:lnTo>
                    <a:pt x="101" y="352"/>
                  </a:lnTo>
                  <a:cubicBezTo>
                    <a:pt x="104" y="352"/>
                    <a:pt x="107" y="352"/>
                    <a:pt x="111" y="352"/>
                  </a:cubicBezTo>
                  <a:cubicBezTo>
                    <a:pt x="193" y="352"/>
                    <a:pt x="280" y="375"/>
                    <a:pt x="357" y="418"/>
                  </a:cubicBezTo>
                  <a:close/>
                  <a:moveTo>
                    <a:pt x="638" y="352"/>
                  </a:moveTo>
                  <a:lnTo>
                    <a:pt x="638" y="2"/>
                  </a:lnTo>
                  <a:cubicBezTo>
                    <a:pt x="552" y="0"/>
                    <a:pt x="461" y="28"/>
                    <a:pt x="382" y="82"/>
                  </a:cubicBezTo>
                  <a:lnTo>
                    <a:pt x="382" y="418"/>
                  </a:lnTo>
                  <a:cubicBezTo>
                    <a:pt x="459" y="375"/>
                    <a:pt x="545" y="352"/>
                    <a:pt x="628" y="352"/>
                  </a:cubicBezTo>
                  <a:cubicBezTo>
                    <a:pt x="631" y="352"/>
                    <a:pt x="635" y="352"/>
                    <a:pt x="638" y="352"/>
                  </a:cubicBezTo>
                  <a:close/>
                  <a:moveTo>
                    <a:pt x="369" y="473"/>
                  </a:moveTo>
                  <a:cubicBezTo>
                    <a:pt x="473" y="417"/>
                    <a:pt x="590" y="391"/>
                    <a:pt x="695" y="395"/>
                  </a:cubicBezTo>
                  <a:lnTo>
                    <a:pt x="695" y="7"/>
                  </a:lnTo>
                  <a:cubicBezTo>
                    <a:pt x="682" y="6"/>
                    <a:pt x="669" y="6"/>
                    <a:pt x="655" y="7"/>
                  </a:cubicBezTo>
                  <a:lnTo>
                    <a:pt x="655" y="370"/>
                  </a:lnTo>
                  <a:lnTo>
                    <a:pt x="645" y="370"/>
                  </a:lnTo>
                  <a:cubicBezTo>
                    <a:pt x="639" y="369"/>
                    <a:pt x="632" y="369"/>
                    <a:pt x="626" y="369"/>
                  </a:cubicBezTo>
                  <a:cubicBezTo>
                    <a:pt x="542" y="369"/>
                    <a:pt x="453" y="395"/>
                    <a:pt x="376" y="441"/>
                  </a:cubicBezTo>
                  <a:lnTo>
                    <a:pt x="369" y="445"/>
                  </a:lnTo>
                  <a:lnTo>
                    <a:pt x="363" y="441"/>
                  </a:lnTo>
                  <a:cubicBezTo>
                    <a:pt x="286" y="395"/>
                    <a:pt x="197" y="369"/>
                    <a:pt x="113" y="369"/>
                  </a:cubicBezTo>
                  <a:cubicBezTo>
                    <a:pt x="106" y="369"/>
                    <a:pt x="100" y="369"/>
                    <a:pt x="93" y="370"/>
                  </a:cubicBezTo>
                  <a:lnTo>
                    <a:pt x="83" y="370"/>
                  </a:lnTo>
                  <a:lnTo>
                    <a:pt x="83" y="7"/>
                  </a:lnTo>
                  <a:cubicBezTo>
                    <a:pt x="70" y="6"/>
                    <a:pt x="57" y="6"/>
                    <a:pt x="44" y="7"/>
                  </a:cubicBezTo>
                  <a:lnTo>
                    <a:pt x="44" y="395"/>
                  </a:lnTo>
                  <a:cubicBezTo>
                    <a:pt x="148" y="391"/>
                    <a:pt x="265" y="417"/>
                    <a:pt x="369" y="47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5" name="组合 4"/>
          <p:cNvGrpSpPr/>
          <p:nvPr/>
        </p:nvGrpSpPr>
        <p:grpSpPr>
          <a:xfrm>
            <a:off x="4020704" y="1411471"/>
            <a:ext cx="1304416" cy="1526579"/>
            <a:chOff x="4022275" y="2132856"/>
            <a:chExt cx="1304925" cy="1527175"/>
          </a:xfrm>
        </p:grpSpPr>
        <p:sp>
          <p:nvSpPr>
            <p:cNvPr id="34" name="Freeform 6"/>
            <p:cNvSpPr>
              <a:spLocks/>
            </p:cNvSpPr>
            <p:nvPr/>
          </p:nvSpPr>
          <p:spPr bwMode="auto">
            <a:xfrm>
              <a:off x="4022275"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90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4" y="0"/>
                    <a:pt x="1654" y="370"/>
                    <a:pt x="1654" y="827"/>
                  </a:cubicBezTo>
                  <a:cubicBezTo>
                    <a:pt x="1654" y="1182"/>
                    <a:pt x="1430" y="1485"/>
                    <a:pt x="1116" y="1602"/>
                  </a:cubicBezTo>
                  <a:lnTo>
                    <a:pt x="995" y="1741"/>
                  </a:lnTo>
                  <a:cubicBezTo>
                    <a:pt x="954" y="1788"/>
                    <a:pt x="912" y="1836"/>
                    <a:pt x="870" y="1884"/>
                  </a:cubicBezTo>
                  <a:cubicBezTo>
                    <a:pt x="845" y="1916"/>
                    <a:pt x="818" y="1918"/>
                    <a:pt x="790" y="1889"/>
                  </a:cubicBezTo>
                  <a:cubicBezTo>
                    <a:pt x="747" y="1840"/>
                    <a:pt x="703" y="1790"/>
                    <a:pt x="660" y="1741"/>
                  </a:cubicBezTo>
                  <a:lnTo>
                    <a:pt x="540" y="1603"/>
                  </a:lnTo>
                  <a:cubicBezTo>
                    <a:pt x="225" y="1486"/>
                    <a:pt x="0" y="1183"/>
                    <a:pt x="0" y="827"/>
                  </a:cubicBezTo>
                  <a:cubicBezTo>
                    <a:pt x="0" y="370"/>
                    <a:pt x="371" y="0"/>
                    <a:pt x="827" y="0"/>
                  </a:cubicBezTo>
                  <a:close/>
                </a:path>
              </a:pathLst>
            </a:custGeom>
            <a:solidFill>
              <a:schemeClr val="accent4"/>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57" name="Freeform 9"/>
            <p:cNvSpPr>
              <a:spLocks noEditPoints="1"/>
            </p:cNvSpPr>
            <p:nvPr/>
          </p:nvSpPr>
          <p:spPr bwMode="auto">
            <a:xfrm>
              <a:off x="4399628" y="2380272"/>
              <a:ext cx="650316" cy="737858"/>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23" name="组合 22"/>
          <p:cNvGrpSpPr/>
          <p:nvPr/>
        </p:nvGrpSpPr>
        <p:grpSpPr>
          <a:xfrm>
            <a:off x="6557534" y="1411471"/>
            <a:ext cx="1306003" cy="1526579"/>
            <a:chOff x="6560095" y="2132856"/>
            <a:chExt cx="1306513" cy="1527175"/>
          </a:xfrm>
        </p:grpSpPr>
        <p:sp>
          <p:nvSpPr>
            <p:cNvPr id="37" name="Freeform 7"/>
            <p:cNvSpPr>
              <a:spLocks/>
            </p:cNvSpPr>
            <p:nvPr/>
          </p:nvSpPr>
          <p:spPr bwMode="auto">
            <a:xfrm>
              <a:off x="6560095" y="2132856"/>
              <a:ext cx="1306513"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89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3" y="0"/>
                    <a:pt x="1654" y="370"/>
                    <a:pt x="1654" y="827"/>
                  </a:cubicBezTo>
                  <a:cubicBezTo>
                    <a:pt x="1654" y="1182"/>
                    <a:pt x="1430" y="1485"/>
                    <a:pt x="1116" y="1602"/>
                  </a:cubicBezTo>
                  <a:lnTo>
                    <a:pt x="995" y="1741"/>
                  </a:lnTo>
                  <a:cubicBezTo>
                    <a:pt x="953" y="1788"/>
                    <a:pt x="912" y="1836"/>
                    <a:pt x="870" y="1884"/>
                  </a:cubicBezTo>
                  <a:cubicBezTo>
                    <a:pt x="845" y="1916"/>
                    <a:pt x="818" y="1918"/>
                    <a:pt x="789" y="1889"/>
                  </a:cubicBezTo>
                  <a:cubicBezTo>
                    <a:pt x="746" y="1840"/>
                    <a:pt x="703" y="1790"/>
                    <a:pt x="660" y="1741"/>
                  </a:cubicBezTo>
                  <a:lnTo>
                    <a:pt x="540" y="1603"/>
                  </a:lnTo>
                  <a:cubicBezTo>
                    <a:pt x="225" y="1486"/>
                    <a:pt x="0" y="1183"/>
                    <a:pt x="0" y="827"/>
                  </a:cubicBezTo>
                  <a:cubicBezTo>
                    <a:pt x="0" y="370"/>
                    <a:pt x="370" y="0"/>
                    <a:pt x="827" y="0"/>
                  </a:cubicBezTo>
                  <a:close/>
                </a:path>
              </a:pathLst>
            </a:custGeom>
            <a:solidFill>
              <a:srgbClr val="02B9E7"/>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63" name="Freeform 10"/>
            <p:cNvSpPr>
              <a:spLocks noEditPoints="1"/>
            </p:cNvSpPr>
            <p:nvPr/>
          </p:nvSpPr>
          <p:spPr bwMode="auto">
            <a:xfrm>
              <a:off x="6850001" y="2403005"/>
              <a:ext cx="726700" cy="778916"/>
            </a:xfrm>
            <a:custGeom>
              <a:avLst/>
              <a:gdLst>
                <a:gd name="T0" fmla="*/ 255 w 674"/>
                <a:gd name="T1" fmla="*/ 448 h 720"/>
                <a:gd name="T2" fmla="*/ 243 w 674"/>
                <a:gd name="T3" fmla="*/ 407 h 720"/>
                <a:gd name="T4" fmla="*/ 295 w 674"/>
                <a:gd name="T5" fmla="*/ 196 h 720"/>
                <a:gd name="T6" fmla="*/ 350 w 674"/>
                <a:gd name="T7" fmla="*/ 367 h 720"/>
                <a:gd name="T8" fmla="*/ 418 w 674"/>
                <a:gd name="T9" fmla="*/ 169 h 720"/>
                <a:gd name="T10" fmla="*/ 267 w 674"/>
                <a:gd name="T11" fmla="*/ 336 h 720"/>
                <a:gd name="T12" fmla="*/ 254 w 674"/>
                <a:gd name="T13" fmla="*/ 358 h 720"/>
                <a:gd name="T14" fmla="*/ 346 w 674"/>
                <a:gd name="T15" fmla="*/ 412 h 720"/>
                <a:gd name="T16" fmla="*/ 445 w 674"/>
                <a:gd name="T17" fmla="*/ 144 h 720"/>
                <a:gd name="T18" fmla="*/ 449 w 674"/>
                <a:gd name="T19" fmla="*/ 91 h 720"/>
                <a:gd name="T20" fmla="*/ 445 w 674"/>
                <a:gd name="T21" fmla="*/ 144 h 720"/>
                <a:gd name="T22" fmla="*/ 526 w 674"/>
                <a:gd name="T23" fmla="*/ 170 h 720"/>
                <a:gd name="T24" fmla="*/ 474 w 674"/>
                <a:gd name="T25" fmla="*/ 174 h 720"/>
                <a:gd name="T26" fmla="*/ 385 w 674"/>
                <a:gd name="T27" fmla="*/ 121 h 720"/>
                <a:gd name="T28" fmla="*/ 363 w 674"/>
                <a:gd name="T29" fmla="*/ 73 h 720"/>
                <a:gd name="T30" fmla="*/ 385 w 674"/>
                <a:gd name="T31" fmla="*/ 121 h 720"/>
                <a:gd name="T32" fmla="*/ 298 w 674"/>
                <a:gd name="T33" fmla="*/ 90 h 720"/>
                <a:gd name="T34" fmla="*/ 302 w 674"/>
                <a:gd name="T35" fmla="*/ 142 h 720"/>
                <a:gd name="T36" fmla="*/ 496 w 674"/>
                <a:gd name="T37" fmla="*/ 257 h 720"/>
                <a:gd name="T38" fmla="*/ 543 w 674"/>
                <a:gd name="T39" fmla="*/ 235 h 720"/>
                <a:gd name="T40" fmla="*/ 496 w 674"/>
                <a:gd name="T41" fmla="*/ 257 h 720"/>
                <a:gd name="T42" fmla="*/ 248 w 674"/>
                <a:gd name="T43" fmla="*/ 368 h 720"/>
                <a:gd name="T44" fmla="*/ 235 w 674"/>
                <a:gd name="T45" fmla="*/ 391 h 720"/>
                <a:gd name="T46" fmla="*/ 328 w 674"/>
                <a:gd name="T47" fmla="*/ 445 h 720"/>
                <a:gd name="T48" fmla="*/ 246 w 674"/>
                <a:gd name="T49" fmla="*/ 720 h 720"/>
                <a:gd name="T50" fmla="*/ 263 w 674"/>
                <a:gd name="T51" fmla="*/ 42 h 720"/>
                <a:gd name="T52" fmla="*/ 642 w 674"/>
                <a:gd name="T53" fmla="*/ 204 h 720"/>
                <a:gd name="T54" fmla="*/ 648 w 674"/>
                <a:gd name="T55" fmla="*/ 313 h 720"/>
                <a:gd name="T56" fmla="*/ 667 w 674"/>
                <a:gd name="T57" fmla="*/ 450 h 720"/>
                <a:gd name="T58" fmla="*/ 643 w 674"/>
                <a:gd name="T59" fmla="*/ 566 h 720"/>
                <a:gd name="T60" fmla="*/ 504 w 674"/>
                <a:gd name="T61" fmla="*/ 598 h 720"/>
                <a:gd name="T62" fmla="*/ 246 w 674"/>
                <a:gd name="T63" fmla="*/ 72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4" h="720">
                  <a:moveTo>
                    <a:pt x="243" y="407"/>
                  </a:moveTo>
                  <a:cubicBezTo>
                    <a:pt x="236" y="421"/>
                    <a:pt x="241" y="439"/>
                    <a:pt x="255" y="448"/>
                  </a:cubicBezTo>
                  <a:cubicBezTo>
                    <a:pt x="267" y="455"/>
                    <a:pt x="282" y="453"/>
                    <a:pt x="292" y="444"/>
                  </a:cubicBezTo>
                  <a:lnTo>
                    <a:pt x="243" y="407"/>
                  </a:lnTo>
                  <a:close/>
                  <a:moveTo>
                    <a:pt x="418" y="169"/>
                  </a:moveTo>
                  <a:cubicBezTo>
                    <a:pt x="373" y="143"/>
                    <a:pt x="318" y="155"/>
                    <a:pt x="295" y="196"/>
                  </a:cubicBezTo>
                  <a:cubicBezTo>
                    <a:pt x="270" y="238"/>
                    <a:pt x="302" y="284"/>
                    <a:pt x="280" y="327"/>
                  </a:cubicBezTo>
                  <a:lnTo>
                    <a:pt x="350" y="367"/>
                  </a:lnTo>
                  <a:cubicBezTo>
                    <a:pt x="376" y="327"/>
                    <a:pt x="432" y="331"/>
                    <a:pt x="456" y="289"/>
                  </a:cubicBezTo>
                  <a:cubicBezTo>
                    <a:pt x="480" y="249"/>
                    <a:pt x="462" y="195"/>
                    <a:pt x="418" y="169"/>
                  </a:cubicBezTo>
                  <a:close/>
                  <a:moveTo>
                    <a:pt x="342" y="393"/>
                  </a:moveTo>
                  <a:lnTo>
                    <a:pt x="267" y="336"/>
                  </a:lnTo>
                  <a:cubicBezTo>
                    <a:pt x="261" y="331"/>
                    <a:pt x="253" y="333"/>
                    <a:pt x="250" y="339"/>
                  </a:cubicBezTo>
                  <a:cubicBezTo>
                    <a:pt x="246" y="345"/>
                    <a:pt x="248" y="354"/>
                    <a:pt x="254" y="358"/>
                  </a:cubicBezTo>
                  <a:lnTo>
                    <a:pt x="329" y="416"/>
                  </a:lnTo>
                  <a:cubicBezTo>
                    <a:pt x="335" y="420"/>
                    <a:pt x="343" y="418"/>
                    <a:pt x="346" y="412"/>
                  </a:cubicBezTo>
                  <a:cubicBezTo>
                    <a:pt x="350" y="406"/>
                    <a:pt x="348" y="397"/>
                    <a:pt x="342" y="393"/>
                  </a:cubicBezTo>
                  <a:close/>
                  <a:moveTo>
                    <a:pt x="445" y="144"/>
                  </a:moveTo>
                  <a:lnTo>
                    <a:pt x="468" y="102"/>
                  </a:lnTo>
                  <a:lnTo>
                    <a:pt x="449" y="91"/>
                  </a:lnTo>
                  <a:lnTo>
                    <a:pt x="426" y="133"/>
                  </a:lnTo>
                  <a:lnTo>
                    <a:pt x="445" y="144"/>
                  </a:lnTo>
                  <a:close/>
                  <a:moveTo>
                    <a:pt x="485" y="193"/>
                  </a:moveTo>
                  <a:lnTo>
                    <a:pt x="526" y="170"/>
                  </a:lnTo>
                  <a:lnTo>
                    <a:pt x="515" y="150"/>
                  </a:lnTo>
                  <a:lnTo>
                    <a:pt x="474" y="174"/>
                  </a:lnTo>
                  <a:lnTo>
                    <a:pt x="485" y="193"/>
                  </a:lnTo>
                  <a:close/>
                  <a:moveTo>
                    <a:pt x="385" y="121"/>
                  </a:moveTo>
                  <a:lnTo>
                    <a:pt x="385" y="73"/>
                  </a:lnTo>
                  <a:lnTo>
                    <a:pt x="363" y="73"/>
                  </a:lnTo>
                  <a:lnTo>
                    <a:pt x="363" y="121"/>
                  </a:lnTo>
                  <a:lnTo>
                    <a:pt x="385" y="121"/>
                  </a:lnTo>
                  <a:close/>
                  <a:moveTo>
                    <a:pt x="321" y="131"/>
                  </a:moveTo>
                  <a:lnTo>
                    <a:pt x="298" y="90"/>
                  </a:lnTo>
                  <a:lnTo>
                    <a:pt x="278" y="101"/>
                  </a:lnTo>
                  <a:lnTo>
                    <a:pt x="302" y="142"/>
                  </a:lnTo>
                  <a:lnTo>
                    <a:pt x="321" y="131"/>
                  </a:lnTo>
                  <a:close/>
                  <a:moveTo>
                    <a:pt x="496" y="257"/>
                  </a:moveTo>
                  <a:lnTo>
                    <a:pt x="543" y="257"/>
                  </a:lnTo>
                  <a:lnTo>
                    <a:pt x="543" y="235"/>
                  </a:lnTo>
                  <a:lnTo>
                    <a:pt x="496" y="235"/>
                  </a:lnTo>
                  <a:lnTo>
                    <a:pt x="496" y="257"/>
                  </a:lnTo>
                  <a:close/>
                  <a:moveTo>
                    <a:pt x="324" y="426"/>
                  </a:moveTo>
                  <a:lnTo>
                    <a:pt x="248" y="368"/>
                  </a:lnTo>
                  <a:cubicBezTo>
                    <a:pt x="242" y="364"/>
                    <a:pt x="235" y="365"/>
                    <a:pt x="231" y="372"/>
                  </a:cubicBezTo>
                  <a:cubicBezTo>
                    <a:pt x="227" y="378"/>
                    <a:pt x="229" y="386"/>
                    <a:pt x="235" y="391"/>
                  </a:cubicBezTo>
                  <a:lnTo>
                    <a:pt x="311" y="448"/>
                  </a:lnTo>
                  <a:cubicBezTo>
                    <a:pt x="316" y="453"/>
                    <a:pt x="324" y="451"/>
                    <a:pt x="328" y="445"/>
                  </a:cubicBezTo>
                  <a:cubicBezTo>
                    <a:pt x="331" y="439"/>
                    <a:pt x="329" y="430"/>
                    <a:pt x="324" y="426"/>
                  </a:cubicBezTo>
                  <a:close/>
                  <a:moveTo>
                    <a:pt x="246" y="720"/>
                  </a:moveTo>
                  <a:cubicBezTo>
                    <a:pt x="254" y="663"/>
                    <a:pt x="254" y="603"/>
                    <a:pt x="239" y="550"/>
                  </a:cubicBezTo>
                  <a:cubicBezTo>
                    <a:pt x="0" y="415"/>
                    <a:pt x="62" y="105"/>
                    <a:pt x="263" y="42"/>
                  </a:cubicBezTo>
                  <a:cubicBezTo>
                    <a:pt x="369" y="0"/>
                    <a:pt x="513" y="25"/>
                    <a:pt x="606" y="119"/>
                  </a:cubicBezTo>
                  <a:cubicBezTo>
                    <a:pt x="674" y="187"/>
                    <a:pt x="642" y="204"/>
                    <a:pt x="642" y="204"/>
                  </a:cubicBezTo>
                  <a:lnTo>
                    <a:pt x="627" y="213"/>
                  </a:lnTo>
                  <a:cubicBezTo>
                    <a:pt x="635" y="245"/>
                    <a:pt x="650" y="305"/>
                    <a:pt x="648" y="313"/>
                  </a:cubicBezTo>
                  <a:cubicBezTo>
                    <a:pt x="645" y="324"/>
                    <a:pt x="633" y="336"/>
                    <a:pt x="633" y="336"/>
                  </a:cubicBezTo>
                  <a:lnTo>
                    <a:pt x="667" y="450"/>
                  </a:lnTo>
                  <a:lnTo>
                    <a:pt x="636" y="462"/>
                  </a:lnTo>
                  <a:cubicBezTo>
                    <a:pt x="643" y="499"/>
                    <a:pt x="647" y="530"/>
                    <a:pt x="643" y="566"/>
                  </a:cubicBezTo>
                  <a:cubicBezTo>
                    <a:pt x="643" y="572"/>
                    <a:pt x="622" y="590"/>
                    <a:pt x="606" y="591"/>
                  </a:cubicBezTo>
                  <a:lnTo>
                    <a:pt x="504" y="598"/>
                  </a:lnTo>
                  <a:lnTo>
                    <a:pt x="510" y="720"/>
                  </a:lnTo>
                  <a:lnTo>
                    <a:pt x="246" y="7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sp>
        <p:nvSpPr>
          <p:cNvPr id="3" name="矩形 2"/>
          <p:cNvSpPr/>
          <p:nvPr/>
        </p:nvSpPr>
        <p:spPr bwMode="auto">
          <a:xfrm>
            <a:off x="0" y="6035415"/>
            <a:ext cx="12192000" cy="99353"/>
          </a:xfrm>
          <a:prstGeom prst="rect">
            <a:avLst/>
          </a:prstGeom>
          <a:solidFill>
            <a:srgbClr val="0A97A6"/>
          </a:solidFill>
          <a:ln w="9525" cap="flat" cmpd="sng" algn="ctr">
            <a:noFill/>
            <a:prstDash val="solid"/>
            <a:round/>
            <a:headEnd type="none" w="med" len="med"/>
            <a:tailEnd type="none" w="med" len="med"/>
          </a:ln>
          <a:effec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30" name="TextBox 26"/>
          <p:cNvSpPr txBox="1"/>
          <p:nvPr/>
        </p:nvSpPr>
        <p:spPr>
          <a:xfrm>
            <a:off x="14146652" y="7788226"/>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977653" y="3646912"/>
            <a:ext cx="2444900" cy="523220"/>
          </a:xfrm>
          <a:prstGeom prst="rect">
            <a:avLst/>
          </a:prstGeom>
        </p:spPr>
        <p:txBody>
          <a:bodyPr wrap="none">
            <a:spAutoFit/>
          </a:bodyPr>
          <a:lstStyle/>
          <a:p>
            <a:pPr>
              <a:defRPr/>
            </a:pPr>
            <a:r>
              <a:rPr lang="zh-CN" altLang="en-US" sz="2800" b="1" kern="0" dirty="0">
                <a:latin typeface="微软雅黑" panose="020B0503020204020204" pitchFamily="34" charset="-122"/>
                <a:ea typeface="微软雅黑" panose="020B0503020204020204" pitchFamily="34" charset="-122"/>
              </a:rPr>
              <a:t>程序控制方式 </a:t>
            </a:r>
          </a:p>
        </p:txBody>
      </p:sp>
      <p:sp>
        <p:nvSpPr>
          <p:cNvPr id="6" name="矩形 5"/>
          <p:cNvSpPr/>
          <p:nvPr/>
        </p:nvSpPr>
        <p:spPr>
          <a:xfrm>
            <a:off x="3680439" y="3645278"/>
            <a:ext cx="2444900" cy="523220"/>
          </a:xfrm>
          <a:prstGeom prst="rect">
            <a:avLst/>
          </a:prstGeom>
        </p:spPr>
        <p:txBody>
          <a:bodyPr wrap="none">
            <a:spAutoFit/>
          </a:bodyPr>
          <a:lstStyle/>
          <a:p>
            <a:pPr>
              <a:defRPr/>
            </a:pPr>
            <a:r>
              <a:rPr lang="zh-CN" altLang="en-US" sz="2800" b="1" kern="0" dirty="0">
                <a:solidFill>
                  <a:srgbClr val="FF0000"/>
                </a:solidFill>
                <a:latin typeface="微软雅黑" panose="020B0503020204020204" pitchFamily="34" charset="-122"/>
                <a:ea typeface="微软雅黑" panose="020B0503020204020204" pitchFamily="34" charset="-122"/>
              </a:rPr>
              <a:t>中断控制方式 </a:t>
            </a:r>
          </a:p>
        </p:txBody>
      </p:sp>
      <p:sp>
        <p:nvSpPr>
          <p:cNvPr id="7" name="矩形 6"/>
          <p:cNvSpPr/>
          <p:nvPr/>
        </p:nvSpPr>
        <p:spPr>
          <a:xfrm>
            <a:off x="6249502" y="3645278"/>
            <a:ext cx="2648482" cy="523220"/>
          </a:xfrm>
          <a:prstGeom prst="rect">
            <a:avLst/>
          </a:prstGeom>
        </p:spPr>
        <p:txBody>
          <a:bodyPr wrap="none">
            <a:spAutoFit/>
          </a:bodyPr>
          <a:lstStyle/>
          <a:p>
            <a:pPr>
              <a:defRPr/>
            </a:pPr>
            <a:r>
              <a:rPr lang="en-US" altLang="zh-CN" sz="2800" b="1" kern="0" dirty="0">
                <a:latin typeface="微软雅黑" panose="020B0503020204020204" pitchFamily="34" charset="-122"/>
                <a:ea typeface="微软雅黑" panose="020B0503020204020204" pitchFamily="34" charset="-122"/>
              </a:rPr>
              <a:t>DMA</a:t>
            </a:r>
            <a:r>
              <a:rPr lang="zh-CN" altLang="en-US" sz="2800" b="1" kern="0" dirty="0">
                <a:latin typeface="微软雅黑" panose="020B0503020204020204" pitchFamily="34" charset="-122"/>
                <a:ea typeface="微软雅黑" panose="020B0503020204020204" pitchFamily="34" charset="-122"/>
              </a:rPr>
              <a:t>控制方式 </a:t>
            </a:r>
          </a:p>
        </p:txBody>
      </p:sp>
      <p:sp>
        <p:nvSpPr>
          <p:cNvPr id="8" name="矩形 7"/>
          <p:cNvSpPr/>
          <p:nvPr/>
        </p:nvSpPr>
        <p:spPr>
          <a:xfrm>
            <a:off x="9022147" y="3616914"/>
            <a:ext cx="2444900" cy="523220"/>
          </a:xfrm>
          <a:prstGeom prst="rect">
            <a:avLst/>
          </a:prstGeom>
        </p:spPr>
        <p:txBody>
          <a:bodyPr wrap="none">
            <a:spAutoFit/>
          </a:bodyPr>
          <a:lstStyle/>
          <a:p>
            <a:pPr>
              <a:defRPr/>
            </a:pPr>
            <a:r>
              <a:rPr lang="zh-CN" altLang="en-US" sz="2800" b="1" kern="0" dirty="0">
                <a:latin typeface="微软雅黑" panose="020B0503020204020204" pitchFamily="34" charset="-122"/>
                <a:ea typeface="微软雅黑" panose="020B0503020204020204" pitchFamily="34" charset="-122"/>
              </a:rPr>
              <a:t>通道控制方式 </a:t>
            </a:r>
          </a:p>
        </p:txBody>
      </p:sp>
    </p:spTree>
    <p:extLst>
      <p:ext uri="{BB962C8B-B14F-4D97-AF65-F5344CB8AC3E}">
        <p14:creationId xmlns:p14="http://schemas.microsoft.com/office/powerpoint/2010/main" val="97961738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451415" y="138413"/>
            <a:ext cx="10515600" cy="1325563"/>
          </a:xfrm>
        </p:spPr>
        <p:txBody>
          <a:bodyPr vert="horz" lIns="91440" tIns="45720" rIns="91440" bIns="45720" rtlCol="0" anchor="ctr">
            <a:normAutofit/>
          </a:bodyPr>
          <a:lstStyle/>
          <a:p>
            <a:r>
              <a:rPr lang="zh-CN" altLang="en-US" sz="3200" b="1" dirty="0">
                <a:latin typeface="微软雅黑" panose="020B0503020204020204" pitchFamily="34" charset="-122"/>
                <a:ea typeface="微软雅黑" panose="020B0503020204020204" pitchFamily="34" charset="-122"/>
              </a:rPr>
              <a:t>中断控制</a:t>
            </a:r>
            <a:r>
              <a:rPr lang="zh-CN" altLang="en-US" sz="3200" b="1">
                <a:latin typeface="微软雅黑" panose="020B0503020204020204" pitchFamily="34" charset="-122"/>
                <a:ea typeface="微软雅黑" panose="020B0503020204020204" pitchFamily="34" charset="-122"/>
              </a:rPr>
              <a:t>方式 </a:t>
            </a:r>
            <a:endParaRPr lang="en-US" altLang="zh-CN" sz="3200" b="1" dirty="0">
              <a:latin typeface="微软雅黑" panose="020B0503020204020204" pitchFamily="34" charset="-122"/>
              <a:ea typeface="微软雅黑" panose="020B0503020204020204" pitchFamily="34" charset="-122"/>
            </a:endParaRPr>
          </a:p>
        </p:txBody>
      </p:sp>
      <p:sp>
        <p:nvSpPr>
          <p:cNvPr id="8195" name="Rectangle 3"/>
          <p:cNvSpPr>
            <a:spLocks noGrp="1" noChangeArrowheads="1"/>
          </p:cNvSpPr>
          <p:nvPr>
            <p:ph type="body" idx="1"/>
          </p:nvPr>
        </p:nvSpPr>
        <p:spPr>
          <a:xfrm>
            <a:off x="1667403" y="2362837"/>
            <a:ext cx="8837784" cy="601432"/>
          </a:xfrm>
        </p:spPr>
        <p:txBody>
          <a:bodyPr>
            <a:normAutofit/>
          </a:bodyPr>
          <a:lstStyle/>
          <a:p>
            <a:pPr lvl="1" algn="just">
              <a:buNone/>
            </a:pP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消耗在输入输出控制上</a:t>
            </a:r>
            <a:endParaRPr lang="en-US" altLang="zh-CN" b="1" dirty="0">
              <a:latin typeface="微软雅黑" panose="020B0503020204020204" pitchFamily="34" charset="-122"/>
              <a:ea typeface="微软雅黑" panose="020B0503020204020204" pitchFamily="34" charset="-122"/>
            </a:endParaRPr>
          </a:p>
        </p:txBody>
      </p:sp>
      <p:grpSp>
        <p:nvGrpSpPr>
          <p:cNvPr id="3" name="组合 3"/>
          <p:cNvGrpSpPr/>
          <p:nvPr/>
        </p:nvGrpSpPr>
        <p:grpSpPr>
          <a:xfrm>
            <a:off x="518781" y="436376"/>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Freeform 14"/>
          <p:cNvSpPr>
            <a:spLocks/>
          </p:cNvSpPr>
          <p:nvPr/>
        </p:nvSpPr>
        <p:spPr bwMode="auto">
          <a:xfrm>
            <a:off x="1178719" y="2317782"/>
            <a:ext cx="646909" cy="64648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solidFill>
                <a:schemeClr val="accent1"/>
              </a:solidFill>
            </a:endParaRPr>
          </a:p>
        </p:txBody>
      </p:sp>
      <p:sp>
        <p:nvSpPr>
          <p:cNvPr id="9" name="Freeform 14"/>
          <p:cNvSpPr>
            <a:spLocks/>
          </p:cNvSpPr>
          <p:nvPr/>
        </p:nvSpPr>
        <p:spPr bwMode="auto">
          <a:xfrm>
            <a:off x="1192366" y="3560141"/>
            <a:ext cx="646909" cy="64648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FFC000"/>
          </a:solidFill>
          <a:ln>
            <a:noFill/>
          </a:ln>
        </p:spPr>
        <p:txBody>
          <a:bodyPr vert="horz" wrap="square" lIns="91398" tIns="45699" rIns="91398" bIns="45699" numCol="1" anchor="t" anchorCtr="0" compatLnSpc="1">
            <a:prstTxWarp prst="textNoShape">
              <a:avLst/>
            </a:prstTxWarp>
          </a:bodyPr>
          <a:lstStyle/>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zh-CN" altLang="en-US" sz="1799" dirty="0">
              <a:solidFill>
                <a:schemeClr val="accent1"/>
              </a:solidFill>
            </a:endParaRPr>
          </a:p>
        </p:txBody>
      </p:sp>
      <p:sp>
        <p:nvSpPr>
          <p:cNvPr id="10" name="文本框 9"/>
          <p:cNvSpPr txBox="1"/>
          <p:nvPr/>
        </p:nvSpPr>
        <p:spPr>
          <a:xfrm>
            <a:off x="1348420" y="2379412"/>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280842" y="3580830"/>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1267440" y="5128695"/>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2169444" y="3431723"/>
            <a:ext cx="9127314" cy="738664"/>
          </a:xfrm>
          <a:prstGeom prst="rect">
            <a:avLst/>
          </a:prstGeom>
        </p:spPr>
        <p:txBody>
          <a:bodyPr wrap="square">
            <a:spAutoFit/>
          </a:bodyPr>
          <a:lstStyle/>
          <a:p>
            <a:pPr marL="0" lvl="1">
              <a:lnSpc>
                <a:spcPct val="150000"/>
              </a:lnSpc>
            </a:pP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与设备无法并行工作</a:t>
            </a:r>
            <a:endParaRPr lang="en-US" altLang="zh-CN" sz="2800" b="1" dirty="0">
              <a:latin typeface="微软雅黑" panose="020B0503020204020204" pitchFamily="34" charset="-122"/>
              <a:ea typeface="微软雅黑" panose="020B0503020204020204" pitchFamily="34" charset="-122"/>
            </a:endParaRPr>
          </a:p>
        </p:txBody>
      </p:sp>
      <p:sp>
        <p:nvSpPr>
          <p:cNvPr id="15" name="矩形 14"/>
          <p:cNvSpPr/>
          <p:nvPr/>
        </p:nvSpPr>
        <p:spPr>
          <a:xfrm>
            <a:off x="2169444" y="4651641"/>
            <a:ext cx="9127314" cy="738664"/>
          </a:xfrm>
          <a:prstGeom prst="rect">
            <a:avLst/>
          </a:prstGeom>
        </p:spPr>
        <p:txBody>
          <a:bodyPr wrap="square">
            <a:spAutoFit/>
          </a:bodyPr>
          <a:lstStyle/>
          <a:p>
            <a:pPr marL="0" lvl="1">
              <a:lnSpc>
                <a:spcPct val="150000"/>
              </a:lnSpc>
            </a:pPr>
            <a:r>
              <a:rPr lang="zh-CN" altLang="en-US" sz="2800" b="1" dirty="0">
                <a:latin typeface="微软雅黑" panose="020B0503020204020204" pitchFamily="34" charset="-122"/>
                <a:ea typeface="微软雅黑" panose="020B0503020204020204" pitchFamily="34" charset="-122"/>
              </a:rPr>
              <a:t>在多用户多道程序环境下</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利用率很低</a:t>
            </a:r>
          </a:p>
        </p:txBody>
      </p:sp>
      <p:sp>
        <p:nvSpPr>
          <p:cNvPr id="16" name="Freeform 14"/>
          <p:cNvSpPr>
            <a:spLocks/>
          </p:cNvSpPr>
          <p:nvPr/>
        </p:nvSpPr>
        <p:spPr bwMode="auto">
          <a:xfrm>
            <a:off x="1208289" y="4780344"/>
            <a:ext cx="646909" cy="65685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chemeClr val="accent2"/>
          </a:solidFill>
          <a:ln>
            <a:noFill/>
          </a:ln>
        </p:spPr>
        <p:txBody>
          <a:bodyPr vert="horz" wrap="square" lIns="91398" tIns="45699" rIns="91398" bIns="45699" numCol="1" anchor="t" anchorCtr="0" compatLnSpc="1">
            <a:prstTxWarp prst="textNoShape">
              <a:avLst/>
            </a:prstTxWarp>
          </a:bodyPr>
          <a:lstStyle/>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zh-CN" altLang="en-US" sz="1799" dirty="0">
              <a:solidFill>
                <a:schemeClr val="accent1"/>
              </a:solidFill>
            </a:endParaRPr>
          </a:p>
        </p:txBody>
      </p:sp>
      <p:sp>
        <p:nvSpPr>
          <p:cNvPr id="17" name="文本框 10"/>
          <p:cNvSpPr txBox="1"/>
          <p:nvPr/>
        </p:nvSpPr>
        <p:spPr>
          <a:xfrm>
            <a:off x="1337707" y="4848583"/>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0" name="TextBox 19"/>
          <p:cNvSpPr txBox="1"/>
          <p:nvPr/>
        </p:nvSpPr>
        <p:spPr>
          <a:xfrm>
            <a:off x="1502173" y="1350725"/>
            <a:ext cx="4531057" cy="800219"/>
          </a:xfrm>
          <a:prstGeom prst="rect">
            <a:avLst/>
          </a:prstGeom>
        </p:spPr>
        <p:txBody>
          <a:bodyPr vert="horz" lIns="91440" tIns="45720" rIns="91440" bIns="45720" rtlCol="0" anchor="ctr">
            <a:normAutofit/>
          </a:bodyPr>
          <a:lstStyle>
            <a:lvl1pPr>
              <a:lnSpc>
                <a:spcPct val="90000"/>
              </a:lnSpc>
              <a:spcBef>
                <a:spcPct val="0"/>
              </a:spcBef>
              <a:buNone/>
              <a:defRPr sz="3200" b="1">
                <a:latin typeface="微软雅黑" panose="020B0503020204020204" pitchFamily="34" charset="-122"/>
                <a:ea typeface="微软雅黑" panose="020B0503020204020204" pitchFamily="34" charset="-122"/>
                <a:cs typeface="+mj-cs"/>
              </a:defRPr>
            </a:lvl1pPr>
          </a:lstStyle>
          <a:p>
            <a:r>
              <a:rPr lang="zh-CN" altLang="en-US" sz="2800" dirty="0"/>
              <a:t>程序控制方式的缺点：</a:t>
            </a:r>
            <a:endParaRPr lang="en-US" altLang="zh-CN" sz="2800" dirty="0"/>
          </a:p>
        </p:txBody>
      </p:sp>
    </p:spTree>
    <p:extLst>
      <p:ext uri="{BB962C8B-B14F-4D97-AF65-F5344CB8AC3E}">
        <p14:creationId xmlns:p14="http://schemas.microsoft.com/office/powerpoint/2010/main" val="367396408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0" y="2000982"/>
            <a:ext cx="2735237" cy="2528499"/>
          </a:xfrm>
          <a:prstGeom prst="rect">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Oval 9"/>
          <p:cNvSpPr>
            <a:spLocks noChangeArrowheads="1"/>
          </p:cNvSpPr>
          <p:nvPr/>
        </p:nvSpPr>
        <p:spPr bwMode="auto">
          <a:xfrm>
            <a:off x="791778" y="2732985"/>
            <a:ext cx="1100235" cy="1108082"/>
          </a:xfrm>
          <a:prstGeom prst="ellipse">
            <a:avLst/>
          </a:prstGeom>
          <a:solidFill>
            <a:srgbClr val="FFFFFF"/>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53" name="Freeform 40"/>
          <p:cNvSpPr>
            <a:spLocks noEditPoints="1"/>
          </p:cNvSpPr>
          <p:nvPr/>
        </p:nvSpPr>
        <p:spPr bwMode="auto">
          <a:xfrm>
            <a:off x="927247" y="3106828"/>
            <a:ext cx="784720" cy="524170"/>
          </a:xfrm>
          <a:custGeom>
            <a:avLst/>
            <a:gdLst>
              <a:gd name="T0" fmla="*/ 544 w 564"/>
              <a:gd name="T1" fmla="*/ 27 h 376"/>
              <a:gd name="T2" fmla="*/ 544 w 564"/>
              <a:gd name="T3" fmla="*/ 309 h 376"/>
              <a:gd name="T4" fmla="*/ 536 w 564"/>
              <a:gd name="T5" fmla="*/ 309 h 376"/>
              <a:gd name="T6" fmla="*/ 518 w 564"/>
              <a:gd name="T7" fmla="*/ 308 h 376"/>
              <a:gd name="T8" fmla="*/ 285 w 564"/>
              <a:gd name="T9" fmla="*/ 367 h 376"/>
              <a:gd name="T10" fmla="*/ 282 w 564"/>
              <a:gd name="T11" fmla="*/ 368 h 376"/>
              <a:gd name="T12" fmla="*/ 279 w 564"/>
              <a:gd name="T13" fmla="*/ 367 h 376"/>
              <a:gd name="T14" fmla="*/ 46 w 564"/>
              <a:gd name="T15" fmla="*/ 308 h 376"/>
              <a:gd name="T16" fmla="*/ 28 w 564"/>
              <a:gd name="T17" fmla="*/ 309 h 376"/>
              <a:gd name="T18" fmla="*/ 20 w 564"/>
              <a:gd name="T19" fmla="*/ 309 h 376"/>
              <a:gd name="T20" fmla="*/ 20 w 564"/>
              <a:gd name="T21" fmla="*/ 27 h 376"/>
              <a:gd name="T22" fmla="*/ 0 w 564"/>
              <a:gd name="T23" fmla="*/ 27 h 376"/>
              <a:gd name="T24" fmla="*/ 0 w 564"/>
              <a:gd name="T25" fmla="*/ 320 h 376"/>
              <a:gd name="T26" fmla="*/ 282 w 564"/>
              <a:gd name="T27" fmla="*/ 376 h 376"/>
              <a:gd name="T28" fmla="*/ 564 w 564"/>
              <a:gd name="T29" fmla="*/ 320 h 376"/>
              <a:gd name="T30" fmla="*/ 564 w 564"/>
              <a:gd name="T31" fmla="*/ 27 h 376"/>
              <a:gd name="T32" fmla="*/ 544 w 564"/>
              <a:gd name="T33" fmla="*/ 27 h 376"/>
              <a:gd name="T34" fmla="*/ 272 w 564"/>
              <a:gd name="T35" fmla="*/ 319 h 376"/>
              <a:gd name="T36" fmla="*/ 272 w 564"/>
              <a:gd name="T37" fmla="*/ 63 h 376"/>
              <a:gd name="T38" fmla="*/ 77 w 564"/>
              <a:gd name="T39" fmla="*/ 1 h 376"/>
              <a:gd name="T40" fmla="*/ 77 w 564"/>
              <a:gd name="T41" fmla="*/ 269 h 376"/>
              <a:gd name="T42" fmla="*/ 84 w 564"/>
              <a:gd name="T43" fmla="*/ 269 h 376"/>
              <a:gd name="T44" fmla="*/ 272 w 564"/>
              <a:gd name="T45" fmla="*/ 319 h 376"/>
              <a:gd name="T46" fmla="*/ 487 w 564"/>
              <a:gd name="T47" fmla="*/ 269 h 376"/>
              <a:gd name="T48" fmla="*/ 487 w 564"/>
              <a:gd name="T49" fmla="*/ 1 h 376"/>
              <a:gd name="T50" fmla="*/ 292 w 564"/>
              <a:gd name="T51" fmla="*/ 63 h 376"/>
              <a:gd name="T52" fmla="*/ 292 w 564"/>
              <a:gd name="T53" fmla="*/ 319 h 376"/>
              <a:gd name="T54" fmla="*/ 480 w 564"/>
              <a:gd name="T55" fmla="*/ 269 h 376"/>
              <a:gd name="T56" fmla="*/ 487 w 564"/>
              <a:gd name="T57" fmla="*/ 269 h 376"/>
              <a:gd name="T58" fmla="*/ 282 w 564"/>
              <a:gd name="T59" fmla="*/ 361 h 376"/>
              <a:gd name="T60" fmla="*/ 531 w 564"/>
              <a:gd name="T61" fmla="*/ 302 h 376"/>
              <a:gd name="T62" fmla="*/ 531 w 564"/>
              <a:gd name="T63" fmla="*/ 5 h 376"/>
              <a:gd name="T64" fmla="*/ 501 w 564"/>
              <a:gd name="T65" fmla="*/ 5 h 376"/>
              <a:gd name="T66" fmla="*/ 501 w 564"/>
              <a:gd name="T67" fmla="*/ 283 h 376"/>
              <a:gd name="T68" fmla="*/ 493 w 564"/>
              <a:gd name="T69" fmla="*/ 282 h 376"/>
              <a:gd name="T70" fmla="*/ 478 w 564"/>
              <a:gd name="T71" fmla="*/ 282 h 376"/>
              <a:gd name="T72" fmla="*/ 287 w 564"/>
              <a:gd name="T73" fmla="*/ 337 h 376"/>
              <a:gd name="T74" fmla="*/ 282 w 564"/>
              <a:gd name="T75" fmla="*/ 340 h 376"/>
              <a:gd name="T76" fmla="*/ 277 w 564"/>
              <a:gd name="T77" fmla="*/ 337 h 376"/>
              <a:gd name="T78" fmla="*/ 86 w 564"/>
              <a:gd name="T79" fmla="*/ 282 h 376"/>
              <a:gd name="T80" fmla="*/ 71 w 564"/>
              <a:gd name="T81" fmla="*/ 282 h 376"/>
              <a:gd name="T82" fmla="*/ 63 w 564"/>
              <a:gd name="T83" fmla="*/ 283 h 376"/>
              <a:gd name="T84" fmla="*/ 63 w 564"/>
              <a:gd name="T85" fmla="*/ 5 h 376"/>
              <a:gd name="T86" fmla="*/ 33 w 564"/>
              <a:gd name="T87" fmla="*/ 5 h 376"/>
              <a:gd name="T88" fmla="*/ 33 w 564"/>
              <a:gd name="T89" fmla="*/ 302 h 376"/>
              <a:gd name="T90" fmla="*/ 282 w 564"/>
              <a:gd name="T91" fmla="*/ 361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4" h="376">
                <a:moveTo>
                  <a:pt x="544" y="27"/>
                </a:moveTo>
                <a:lnTo>
                  <a:pt x="544" y="309"/>
                </a:lnTo>
                <a:lnTo>
                  <a:pt x="536" y="309"/>
                </a:lnTo>
                <a:cubicBezTo>
                  <a:pt x="530" y="308"/>
                  <a:pt x="524" y="308"/>
                  <a:pt x="518" y="308"/>
                </a:cubicBezTo>
                <a:cubicBezTo>
                  <a:pt x="440" y="308"/>
                  <a:pt x="357" y="329"/>
                  <a:pt x="285" y="367"/>
                </a:cubicBezTo>
                <a:lnTo>
                  <a:pt x="282" y="368"/>
                </a:lnTo>
                <a:lnTo>
                  <a:pt x="279" y="367"/>
                </a:lnTo>
                <a:cubicBezTo>
                  <a:pt x="207" y="329"/>
                  <a:pt x="124" y="308"/>
                  <a:pt x="46" y="308"/>
                </a:cubicBezTo>
                <a:cubicBezTo>
                  <a:pt x="40" y="308"/>
                  <a:pt x="34" y="308"/>
                  <a:pt x="28" y="309"/>
                </a:cubicBezTo>
                <a:lnTo>
                  <a:pt x="20" y="309"/>
                </a:lnTo>
                <a:lnTo>
                  <a:pt x="20" y="27"/>
                </a:lnTo>
                <a:cubicBezTo>
                  <a:pt x="13" y="27"/>
                  <a:pt x="6" y="27"/>
                  <a:pt x="0" y="27"/>
                </a:cubicBezTo>
                <a:lnTo>
                  <a:pt x="0" y="320"/>
                </a:lnTo>
                <a:cubicBezTo>
                  <a:pt x="94" y="317"/>
                  <a:pt x="194" y="338"/>
                  <a:pt x="282" y="376"/>
                </a:cubicBezTo>
                <a:cubicBezTo>
                  <a:pt x="370" y="338"/>
                  <a:pt x="470" y="317"/>
                  <a:pt x="564" y="320"/>
                </a:cubicBezTo>
                <a:lnTo>
                  <a:pt x="564" y="27"/>
                </a:lnTo>
                <a:cubicBezTo>
                  <a:pt x="558" y="27"/>
                  <a:pt x="551" y="27"/>
                  <a:pt x="544" y="27"/>
                </a:cubicBezTo>
                <a:close/>
                <a:moveTo>
                  <a:pt x="272" y="319"/>
                </a:moveTo>
                <a:lnTo>
                  <a:pt x="272" y="63"/>
                </a:lnTo>
                <a:cubicBezTo>
                  <a:pt x="212" y="22"/>
                  <a:pt x="142" y="0"/>
                  <a:pt x="77" y="1"/>
                </a:cubicBezTo>
                <a:lnTo>
                  <a:pt x="77" y="269"/>
                </a:lnTo>
                <a:cubicBezTo>
                  <a:pt x="79" y="269"/>
                  <a:pt x="82" y="269"/>
                  <a:pt x="84" y="269"/>
                </a:cubicBezTo>
                <a:cubicBezTo>
                  <a:pt x="147" y="269"/>
                  <a:pt x="214" y="287"/>
                  <a:pt x="272" y="319"/>
                </a:cubicBezTo>
                <a:close/>
                <a:moveTo>
                  <a:pt x="487" y="269"/>
                </a:moveTo>
                <a:lnTo>
                  <a:pt x="487" y="1"/>
                </a:lnTo>
                <a:cubicBezTo>
                  <a:pt x="422" y="0"/>
                  <a:pt x="352" y="22"/>
                  <a:pt x="292" y="63"/>
                </a:cubicBezTo>
                <a:lnTo>
                  <a:pt x="292" y="319"/>
                </a:lnTo>
                <a:cubicBezTo>
                  <a:pt x="350" y="287"/>
                  <a:pt x="417" y="269"/>
                  <a:pt x="480" y="269"/>
                </a:cubicBezTo>
                <a:cubicBezTo>
                  <a:pt x="482" y="269"/>
                  <a:pt x="485" y="269"/>
                  <a:pt x="487" y="269"/>
                </a:cubicBezTo>
                <a:close/>
                <a:moveTo>
                  <a:pt x="282" y="361"/>
                </a:moveTo>
                <a:cubicBezTo>
                  <a:pt x="362" y="318"/>
                  <a:pt x="451" y="299"/>
                  <a:pt x="531" y="302"/>
                </a:cubicBezTo>
                <a:lnTo>
                  <a:pt x="531" y="5"/>
                </a:lnTo>
                <a:cubicBezTo>
                  <a:pt x="521" y="5"/>
                  <a:pt x="511" y="5"/>
                  <a:pt x="501" y="5"/>
                </a:cubicBezTo>
                <a:lnTo>
                  <a:pt x="501" y="283"/>
                </a:lnTo>
                <a:lnTo>
                  <a:pt x="493" y="282"/>
                </a:lnTo>
                <a:cubicBezTo>
                  <a:pt x="488" y="282"/>
                  <a:pt x="483" y="282"/>
                  <a:pt x="478" y="282"/>
                </a:cubicBezTo>
                <a:cubicBezTo>
                  <a:pt x="414" y="282"/>
                  <a:pt x="346" y="301"/>
                  <a:pt x="287" y="337"/>
                </a:cubicBezTo>
                <a:lnTo>
                  <a:pt x="282" y="340"/>
                </a:lnTo>
                <a:lnTo>
                  <a:pt x="277" y="337"/>
                </a:lnTo>
                <a:cubicBezTo>
                  <a:pt x="218" y="301"/>
                  <a:pt x="150" y="282"/>
                  <a:pt x="86" y="282"/>
                </a:cubicBezTo>
                <a:cubicBezTo>
                  <a:pt x="81" y="282"/>
                  <a:pt x="76" y="282"/>
                  <a:pt x="71" y="282"/>
                </a:cubicBezTo>
                <a:lnTo>
                  <a:pt x="63" y="283"/>
                </a:lnTo>
                <a:lnTo>
                  <a:pt x="63" y="5"/>
                </a:lnTo>
                <a:cubicBezTo>
                  <a:pt x="53" y="5"/>
                  <a:pt x="43" y="5"/>
                  <a:pt x="33" y="5"/>
                </a:cubicBezTo>
                <a:lnTo>
                  <a:pt x="33" y="302"/>
                </a:lnTo>
                <a:cubicBezTo>
                  <a:pt x="113" y="299"/>
                  <a:pt x="202" y="318"/>
                  <a:pt x="282" y="361"/>
                </a:cubicBezTo>
                <a:close/>
              </a:path>
            </a:pathLst>
          </a:cu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TextBox 26"/>
          <p:cNvSpPr txBox="1"/>
          <p:nvPr/>
        </p:nvSpPr>
        <p:spPr>
          <a:xfrm>
            <a:off x="14146653" y="8428235"/>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3484160" y="2000982"/>
            <a:ext cx="7780593" cy="2677656"/>
          </a:xfrm>
          <a:prstGeom prst="rect">
            <a:avLst/>
          </a:prstGeom>
        </p:spPr>
        <p:txBody>
          <a:bodyPr wrap="square">
            <a:spAutoFit/>
          </a:bodyPr>
          <a:lstStyle/>
          <a:p>
            <a:pPr>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rPr>
              <a:t>中断</a:t>
            </a:r>
            <a:r>
              <a:rPr lang="zh-CN" altLang="en-US" sz="2800" b="1" dirty="0">
                <a:latin typeface="微软雅黑" panose="020B0503020204020204" pitchFamily="34" charset="-122"/>
                <a:ea typeface="微软雅黑" panose="020B0503020204020204" pitchFamily="34" charset="-122"/>
              </a:rPr>
              <a:t>是指</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正在运行一个程序时发生了某种非预期的事件，</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暂停正在运行的程序，转而执行对这一事件进行处理的程序，完成后再返回原程序继续运行的过程。 </a:t>
            </a:r>
          </a:p>
        </p:txBody>
      </p:sp>
      <p:sp>
        <p:nvSpPr>
          <p:cNvPr id="7" name="Rectangle 2"/>
          <p:cNvSpPr txBox="1">
            <a:spLocks noChangeArrowheads="1"/>
          </p:cNvSpPr>
          <p:nvPr/>
        </p:nvSpPr>
        <p:spPr>
          <a:xfrm>
            <a:off x="927247" y="269341"/>
            <a:ext cx="10515600" cy="1325563"/>
          </a:xfrm>
          <a:prstGeom prst="rect">
            <a:avLst/>
          </a:prstGeom>
        </p:spPr>
        <p:txBody>
          <a:bodyPr vert="horz" lIns="91440" tIns="45720" rIns="91440" bIns="45720" rtlCol="0" anchor="ctr">
            <a:normAutofit/>
          </a:bodyPr>
          <a:lstStyle>
            <a:lvl1pPr>
              <a:lnSpc>
                <a:spcPct val="90000"/>
              </a:lnSpc>
              <a:spcBef>
                <a:spcPct val="0"/>
              </a:spcBef>
              <a:buNone/>
              <a:defRPr sz="3200" b="1">
                <a:latin typeface="微软雅黑" panose="020B0503020204020204" pitchFamily="34" charset="-122"/>
                <a:ea typeface="微软雅黑" panose="020B0503020204020204" pitchFamily="34" charset="-122"/>
                <a:cs typeface="+mj-cs"/>
              </a:defRPr>
            </a:lvl1pPr>
          </a:lstStyle>
          <a:p>
            <a:r>
              <a:rPr lang="zh-CN" altLang="en-US" dirty="0"/>
              <a:t>中断的基本概念 </a:t>
            </a:r>
          </a:p>
        </p:txBody>
      </p:sp>
      <p:grpSp>
        <p:nvGrpSpPr>
          <p:cNvPr id="8" name="组合 7"/>
          <p:cNvGrpSpPr/>
          <p:nvPr/>
        </p:nvGrpSpPr>
        <p:grpSpPr>
          <a:xfrm>
            <a:off x="388464" y="624094"/>
            <a:ext cx="438352" cy="621987"/>
            <a:chOff x="265635" y="269251"/>
            <a:chExt cx="438352" cy="621987"/>
          </a:xfrm>
        </p:grpSpPr>
        <p:sp>
          <p:nvSpPr>
            <p:cNvPr id="9"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168139742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文本框 1"/>
          <p:cNvSpPr txBox="1">
            <a:spLocks noChangeArrowheads="1"/>
          </p:cNvSpPr>
          <p:nvPr/>
        </p:nvSpPr>
        <p:spPr bwMode="auto">
          <a:xfrm>
            <a:off x="4011181" y="1254760"/>
            <a:ext cx="1107996" cy="461665"/>
          </a:xfrm>
          <a:prstGeom prst="rect">
            <a:avLst/>
          </a:prstGeom>
          <a:noFill/>
          <a:ln w="9525">
            <a:noFill/>
            <a:miter lim="800000"/>
            <a:headEnd/>
            <a:tailEnd/>
          </a:ln>
        </p:spPr>
        <p:txBody>
          <a:bodyPr wrap="none">
            <a:spAutoFit/>
          </a:bodyPr>
          <a:lstStyle/>
          <a:p>
            <a:r>
              <a:rPr lang="zh-CN" altLang="en-US" sz="2400" b="1" dirty="0">
                <a:latin typeface="微软雅黑" panose="020B0503020204020204" pitchFamily="34" charset="-122"/>
                <a:ea typeface="微软雅黑" panose="020B0503020204020204" pitchFamily="34" charset="-122"/>
              </a:rPr>
              <a:t>主程序</a:t>
            </a:r>
          </a:p>
        </p:txBody>
      </p:sp>
      <p:sp>
        <p:nvSpPr>
          <p:cNvPr id="7" name="文本框 6"/>
          <p:cNvSpPr txBox="1">
            <a:spLocks noChangeArrowheads="1"/>
          </p:cNvSpPr>
          <p:nvPr/>
        </p:nvSpPr>
        <p:spPr bwMode="auto">
          <a:xfrm>
            <a:off x="3078699" y="3173026"/>
            <a:ext cx="1415772" cy="461665"/>
          </a:xfrm>
          <a:prstGeom prst="rect">
            <a:avLst/>
          </a:prstGeom>
          <a:noFill/>
          <a:ln w="9525">
            <a:noFill/>
            <a:miter lim="800000"/>
            <a:headEnd/>
            <a:tailEnd/>
          </a:ln>
        </p:spPr>
        <p:txBody>
          <a:bodyPr wrap="none">
            <a:spAutoFit/>
          </a:bodyPr>
          <a:lstStyle/>
          <a:p>
            <a:r>
              <a:rPr lang="zh-CN" altLang="en-US" sz="2400" b="1" dirty="0">
                <a:latin typeface="微软雅黑" panose="020B0503020204020204" pitchFamily="34" charset="-122"/>
                <a:ea typeface="微软雅黑" panose="020B0503020204020204" pitchFamily="34" charset="-122"/>
              </a:rPr>
              <a:t>中断请求</a:t>
            </a:r>
          </a:p>
        </p:txBody>
      </p:sp>
      <p:cxnSp>
        <p:nvCxnSpPr>
          <p:cNvPr id="9" name="直接箭头连接符 8"/>
          <p:cNvCxnSpPr/>
          <p:nvPr/>
        </p:nvCxnSpPr>
        <p:spPr>
          <a:xfrm>
            <a:off x="3267662" y="3677396"/>
            <a:ext cx="117686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endCxn id="7179" idx="2"/>
          </p:cNvCxnSpPr>
          <p:nvPr/>
        </p:nvCxnSpPr>
        <p:spPr>
          <a:xfrm flipV="1">
            <a:off x="4683713" y="1713616"/>
            <a:ext cx="2448984" cy="1881841"/>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7251230" y="1713616"/>
            <a:ext cx="0" cy="3821731"/>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flipV="1">
            <a:off x="4624446" y="3808521"/>
            <a:ext cx="2508252" cy="1653803"/>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4565179" y="3808521"/>
            <a:ext cx="0" cy="182880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7179" name="文本框 18"/>
          <p:cNvSpPr txBox="1">
            <a:spLocks noChangeArrowheads="1"/>
          </p:cNvSpPr>
          <p:nvPr/>
        </p:nvSpPr>
        <p:spPr bwMode="auto">
          <a:xfrm>
            <a:off x="6117034" y="1251951"/>
            <a:ext cx="2031325" cy="461665"/>
          </a:xfrm>
          <a:prstGeom prst="rect">
            <a:avLst/>
          </a:prstGeom>
          <a:noFill/>
          <a:ln w="9525">
            <a:noFill/>
            <a:miter lim="800000"/>
            <a:headEnd/>
            <a:tailEnd/>
          </a:ln>
        </p:spPr>
        <p:txBody>
          <a:bodyPr wrap="none">
            <a:spAutoFit/>
          </a:bodyPr>
          <a:lstStyle/>
          <a:p>
            <a:r>
              <a:rPr lang="zh-CN" altLang="en-US" sz="2400" b="1" dirty="0">
                <a:latin typeface="微软雅黑" panose="020B0503020204020204" pitchFamily="34" charset="-122"/>
                <a:ea typeface="微软雅黑" panose="020B0503020204020204" pitchFamily="34" charset="-122"/>
              </a:rPr>
              <a:t>中断服务程序</a:t>
            </a:r>
          </a:p>
        </p:txBody>
      </p:sp>
      <p:sp>
        <p:nvSpPr>
          <p:cNvPr id="12" name="内容占位符 2"/>
          <p:cNvSpPr txBox="1">
            <a:spLocks/>
          </p:cNvSpPr>
          <p:nvPr/>
        </p:nvSpPr>
        <p:spPr>
          <a:xfrm>
            <a:off x="1676954" y="923278"/>
            <a:ext cx="8625384" cy="4961162"/>
          </a:xfrm>
          <a:prstGeom prst="rect">
            <a:avLst/>
          </a:prstGeom>
          <a:ln w="28575">
            <a:solidFill>
              <a:srgbClr val="01C0B0"/>
            </a:solidFill>
          </a:ln>
        </p:spPr>
        <p:txBody>
          <a:bodyPr vert="horz" lIns="91440" tIns="45720" rIns="91440" bIns="45720" rtlCol="0">
            <a:no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None/>
              <a:tabLst/>
              <a:defRPr/>
            </a:pPr>
            <a:r>
              <a:rPr kumimoji="0" lang="en-US" altLang="zh-CN" sz="2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endPar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cxnSp>
        <p:nvCxnSpPr>
          <p:cNvPr id="15" name="直接箭头连接符 14"/>
          <p:cNvCxnSpPr/>
          <p:nvPr/>
        </p:nvCxnSpPr>
        <p:spPr>
          <a:xfrm>
            <a:off x="4565179" y="1788847"/>
            <a:ext cx="0" cy="1886509"/>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0-#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0-#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7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1"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ppt_x"/>
                                          </p:val>
                                        </p:tav>
                                        <p:tav tm="100000">
                                          <p:val>
                                            <p:strVal val="#ppt_x"/>
                                          </p:val>
                                        </p:tav>
                                      </p:tavLst>
                                    </p:anim>
                                    <p:anim calcmode="lin" valueType="num">
                                      <p:cBhvr additive="base">
                                        <p:cTn id="34"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 grpId="0"/>
      <p:bldP spid="717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图示 9"/>
          <p:cNvGraphicFramePr/>
          <p:nvPr>
            <p:extLst>
              <p:ext uri="{D42A27DB-BD31-4B8C-83A1-F6EECF244321}">
                <p14:modId xmlns:p14="http://schemas.microsoft.com/office/powerpoint/2010/main" val="1291857734"/>
              </p:ext>
            </p:extLst>
          </p:nvPr>
        </p:nvGraphicFramePr>
        <p:xfrm>
          <a:off x="1142142" y="1018363"/>
          <a:ext cx="10972800" cy="50863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 name="组合 3"/>
          <p:cNvGrpSpPr/>
          <p:nvPr/>
        </p:nvGrpSpPr>
        <p:grpSpPr>
          <a:xfrm>
            <a:off x="608786" y="478277"/>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12" name="矩形 11"/>
          <p:cNvSpPr/>
          <p:nvPr/>
        </p:nvSpPr>
        <p:spPr>
          <a:xfrm>
            <a:off x="1218924" y="589828"/>
            <a:ext cx="4968651" cy="369332"/>
          </a:xfrm>
          <a:prstGeom prst="rect">
            <a:avLst/>
          </a:prstGeom>
        </p:spPr>
        <p:txBody>
          <a:bodyPr vert="horz" lIns="91440" tIns="45720" rIns="91440" bIns="45720" rtlCol="0" anchor="ctr">
            <a:noAutofit/>
          </a:bodyPr>
          <a:lstStyle/>
          <a:p>
            <a:pPr>
              <a:lnSpc>
                <a:spcPct val="90000"/>
              </a:lnSpc>
              <a:spcBef>
                <a:spcPct val="0"/>
              </a:spcBef>
            </a:pPr>
            <a:r>
              <a:rPr lang="zh-CN" altLang="en-US" sz="3200" b="1" dirty="0">
                <a:latin typeface="微软雅黑" panose="020B0503020204020204" pitchFamily="34" charset="-122"/>
                <a:ea typeface="微软雅黑" panose="020B0503020204020204" pitchFamily="34" charset="-122"/>
                <a:cs typeface="+mj-cs"/>
              </a:rPr>
              <a:t>中断源：引起中断的事件</a:t>
            </a:r>
            <a:endParaRPr lang="en-US" altLang="zh-CN" sz="3200" b="1" dirty="0">
              <a:latin typeface="微软雅黑" panose="020B0503020204020204" pitchFamily="34" charset="-122"/>
              <a:ea typeface="微软雅黑" panose="020B0503020204020204" pitchFamily="34" charset="-122"/>
              <a:cs typeface="+mj-cs"/>
            </a:endParaRPr>
          </a:p>
        </p:txBody>
      </p:sp>
      <p:sp>
        <p:nvSpPr>
          <p:cNvPr id="14" name="矩形 13"/>
          <p:cNvSpPr/>
          <p:nvPr/>
        </p:nvSpPr>
        <p:spPr>
          <a:xfrm>
            <a:off x="2956102" y="3231014"/>
            <a:ext cx="1980029" cy="523220"/>
          </a:xfrm>
          <a:prstGeom prst="rect">
            <a:avLst/>
          </a:prstGeom>
        </p:spPr>
        <p:txBody>
          <a:bodyPr wrap="none">
            <a:spAutoFit/>
          </a:bodyPr>
          <a:lstStyle/>
          <a:p>
            <a:pPr lvl="0"/>
            <a:r>
              <a:rPr lang="zh-CN" altLang="en-US" sz="2800" b="1" dirty="0">
                <a:solidFill>
                  <a:schemeClr val="bg1"/>
                </a:solidFill>
                <a:latin typeface="微软雅黑" panose="020B0503020204020204" pitchFamily="34" charset="-122"/>
                <a:ea typeface="微软雅黑" panose="020B0503020204020204" pitchFamily="34" charset="-122"/>
              </a:rPr>
              <a:t>中断源种类</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046115" y="306697"/>
            <a:ext cx="5974331" cy="584541"/>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200" b="1">
                <a:latin typeface="微软雅黑" panose="020B0503020204020204" pitchFamily="34" charset="-122"/>
                <a:ea typeface="微软雅黑" panose="020B0503020204020204" pitchFamily="34" charset="-122"/>
                <a:cs typeface="+mj-cs"/>
              </a:defRPr>
            </a:lvl1pPr>
          </a:lstStyle>
          <a:p>
            <a:r>
              <a:rPr lang="zh-CN" altLang="en-US" dirty="0"/>
              <a:t>外部中断</a:t>
            </a:r>
          </a:p>
        </p:txBody>
      </p:sp>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pic>
        <p:nvPicPr>
          <p:cNvPr id="5122" name="Picture 2" descr="E:\我的文档\商务图片\19147185_150127007000_2.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045556" y="3986393"/>
            <a:ext cx="5022365" cy="2588552"/>
          </a:xfrm>
          <a:prstGeom prst="rect">
            <a:avLst/>
          </a:prstGeom>
          <a:noFill/>
          <a:ln>
            <a:solidFill>
              <a:schemeClr val="accent1">
                <a:lumMod val="40000"/>
                <a:lumOff val="60000"/>
              </a:schemeClr>
            </a:solidFill>
          </a:ln>
          <a:extLst>
            <a:ext uri="{909E8E84-426E-40DD-AFC4-6F175D3DCCD1}">
              <a14:hiddenFill xmlns:a14="http://schemas.microsoft.com/office/drawing/2010/main">
                <a:solidFill>
                  <a:srgbClr val="FFFFFF"/>
                </a:solidFill>
              </a14:hiddenFill>
            </a:ext>
          </a:extLst>
        </p:spPr>
      </p:pic>
      <p:sp>
        <p:nvSpPr>
          <p:cNvPr id="8" name="矩形 83"/>
          <p:cNvSpPr>
            <a:spLocks noChangeArrowheads="1"/>
          </p:cNvSpPr>
          <p:nvPr/>
        </p:nvSpPr>
        <p:spPr bwMode="auto">
          <a:xfrm>
            <a:off x="1045556" y="1056709"/>
            <a:ext cx="10222393" cy="2601504"/>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9" name="TextBox 84"/>
          <p:cNvSpPr txBox="1">
            <a:spLocks noChangeArrowheads="1"/>
          </p:cNvSpPr>
          <p:nvPr/>
        </p:nvSpPr>
        <p:spPr bwMode="auto">
          <a:xfrm>
            <a:off x="1178930" y="1056709"/>
            <a:ext cx="9777981" cy="260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98" tIns="45699" rIns="91398" bIns="45699">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50000"/>
              </a:lnSpc>
            </a:pPr>
            <a:r>
              <a:rPr lang="zh-CN" altLang="en-US" sz="2800" b="1" dirty="0">
                <a:latin typeface="微软雅黑" panose="020B0503020204020204" pitchFamily="34" charset="-122"/>
                <a:ea typeface="微软雅黑" panose="020B0503020204020204" pitchFamily="34" charset="-122"/>
              </a:rPr>
              <a:t>外部中断主要是指由计算机外围设备、系统时钟及人工干预等外部事件引起的中断。</a:t>
            </a:r>
            <a:endParaRPr lang="en-US" altLang="zh-CN" sz="2800" b="1" dirty="0">
              <a:latin typeface="微软雅黑" panose="020B0503020204020204" pitchFamily="34" charset="-122"/>
              <a:ea typeface="微软雅黑" panose="020B0503020204020204" pitchFamily="34" charset="-122"/>
            </a:endParaRPr>
          </a:p>
          <a:p>
            <a:pPr>
              <a:lnSpc>
                <a:spcPct val="150000"/>
              </a:lnSpc>
            </a:pPr>
            <a:r>
              <a:rPr lang="zh-CN" altLang="en-US" sz="2800" b="1" dirty="0">
                <a:latin typeface="微软雅黑" panose="020B0503020204020204" pitchFamily="34" charset="-122"/>
                <a:ea typeface="微软雅黑" panose="020B0503020204020204" pitchFamily="34" charset="-122"/>
              </a:rPr>
              <a:t>通过设备产生的外部中断，能使</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与设备间进行中断方式的数据传输 </a:t>
            </a:r>
          </a:p>
        </p:txBody>
      </p:sp>
      <p:sp>
        <p:nvSpPr>
          <p:cNvPr id="10" name="Freeform 12"/>
          <p:cNvSpPr>
            <a:spLocks/>
          </p:cNvSpPr>
          <p:nvPr/>
        </p:nvSpPr>
        <p:spPr bwMode="auto">
          <a:xfrm>
            <a:off x="949343" y="1024247"/>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p:spPr>
        <p:txBody>
          <a:bodyPr lIns="91398" tIns="45699" rIns="91398" bIns="45699"/>
          <a:lstStyle/>
          <a:p>
            <a:endParaRPr lang="zh-CN" altLang="en-US" sz="1799"/>
          </a:p>
        </p:txBody>
      </p:sp>
      <p:sp>
        <p:nvSpPr>
          <p:cNvPr id="11" name="Freeform 12"/>
          <p:cNvSpPr>
            <a:spLocks/>
          </p:cNvSpPr>
          <p:nvPr/>
        </p:nvSpPr>
        <p:spPr bwMode="auto">
          <a:xfrm flipH="1" flipV="1">
            <a:off x="10848214" y="3160657"/>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398" tIns="45699" rIns="91398" bIns="45699"/>
          <a:lstStyle/>
          <a:p>
            <a:endParaRPr lang="zh-CN" altLang="en-US" sz="1799"/>
          </a:p>
        </p:txBody>
      </p:sp>
      <p:sp>
        <p:nvSpPr>
          <p:cNvPr id="12"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14" name="矩形 13"/>
          <p:cNvSpPr/>
          <p:nvPr/>
        </p:nvSpPr>
        <p:spPr bwMode="auto">
          <a:xfrm>
            <a:off x="6374929" y="3986393"/>
            <a:ext cx="4893020" cy="2501362"/>
          </a:xfrm>
          <a:prstGeom prst="rect">
            <a:avLst/>
          </a:prstGeom>
          <a:blipFill>
            <a:blip r:embed="rId4" cstate="screen">
              <a:extLst>
                <a:ext uri="{28A0092B-C50C-407E-A947-70E740481C1C}">
                  <a14:useLocalDpi xmlns:a14="http://schemas.microsoft.com/office/drawing/2010/main"/>
                </a:ext>
              </a:extLst>
            </a:blip>
            <a:stretch>
              <a:fillRect/>
            </a:stretch>
          </a:blipFill>
          <a:ln w="9525" cap="flat" cmpd="sng" algn="ctr">
            <a:solidFill>
              <a:schemeClr val="accent1">
                <a:lumMod val="60000"/>
                <a:lumOff val="40000"/>
              </a:schemeClr>
            </a:solidFill>
            <a:prstDash val="solid"/>
            <a:round/>
            <a:headEnd type="none" w="med" len="med"/>
            <a:tailEnd type="none" w="med" len="med"/>
          </a:ln>
          <a:effec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Tree>
    <p:extLst>
      <p:ext uri="{BB962C8B-B14F-4D97-AF65-F5344CB8AC3E}">
        <p14:creationId xmlns:p14="http://schemas.microsoft.com/office/powerpoint/2010/main" val="4186869370"/>
      </p:ext>
    </p:extLst>
  </p:cSld>
  <p:clrMapOvr>
    <a:masterClrMapping/>
  </p:clrMapOvr>
  <mc:AlternateContent xmlns:mc="http://schemas.openxmlformats.org/markup-compatibility/2006" xmlns:p14="http://schemas.microsoft.com/office/powerpoint/2010/main">
    <mc:Choice Requires="p14">
      <p:transition spd="slow" p14:dur="1300" advTm="0">
        <p14:pan dir="u"/>
      </p:transition>
    </mc:Choice>
    <mc:Fallback xmlns="">
      <p:transition spd="slow"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434609" y="1833034"/>
            <a:ext cx="9313819" cy="3684587"/>
          </a:xfrm>
          <a:prstGeom prst="rect">
            <a:avLst/>
          </a:prstGeom>
          <a:solidFill>
            <a:schemeClr val="bg1">
              <a:lumMod val="50000"/>
            </a:schemeClr>
          </a:solidFill>
          <a:ln>
            <a:solidFill>
              <a:srgbClr val="0089D2"/>
            </a:solid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1" name="矩形 20"/>
          <p:cNvSpPr/>
          <p:nvPr/>
        </p:nvSpPr>
        <p:spPr>
          <a:xfrm>
            <a:off x="1409605" y="1527334"/>
            <a:ext cx="9313819" cy="3926787"/>
          </a:xfrm>
          <a:prstGeom prst="rect">
            <a:avLst/>
          </a:prstGeom>
          <a:solidFill>
            <a:srgbClr val="F9F9F9"/>
          </a:solidFill>
          <a:ln>
            <a:no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en-US" altLang="zh-CN" dirty="0"/>
          </a:p>
        </p:txBody>
      </p:sp>
      <p:sp>
        <p:nvSpPr>
          <p:cNvPr id="15" name="矩形 5"/>
          <p:cNvSpPr>
            <a:spLocks noChangeArrowheads="1"/>
          </p:cNvSpPr>
          <p:nvPr/>
        </p:nvSpPr>
        <p:spPr bwMode="auto">
          <a:xfrm>
            <a:off x="1427165" y="1506170"/>
            <a:ext cx="9337675" cy="3986052"/>
          </a:xfrm>
          <a:prstGeom prst="rect">
            <a:avLst/>
          </a:prstGeom>
          <a:noFill/>
          <a:ln w="19050">
            <a:solidFill>
              <a:srgbClr val="0089D2"/>
            </a:solidFill>
            <a:bevel/>
            <a:headEnd/>
            <a:tailEnd/>
          </a:ln>
        </p:spPr>
        <p:txBody>
          <a:bodyPr lIns="91424" tIns="45713" rIns="91424" bIns="45713" anchor="ctr"/>
          <a:lstStyle/>
          <a:p>
            <a:pPr algn="ctr"/>
            <a:endParaRPr lang="zh-CN" altLang="zh-CN" sz="24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pic>
        <p:nvPicPr>
          <p:cNvPr id="18" name="Picture 6"/>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rot="854817">
            <a:off x="9600438" y="5018158"/>
            <a:ext cx="1658468" cy="1050719"/>
          </a:xfrm>
          <a:prstGeom prst="rect">
            <a:avLst/>
          </a:prstGeom>
          <a:solidFill>
            <a:srgbClr val="FFFFFF">
              <a:shade val="85000"/>
            </a:srgbClr>
          </a:solidFill>
          <a:ln w="1143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23" name="Picture 172"/>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929707" y="127871"/>
            <a:ext cx="2206912" cy="91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矩形 23"/>
          <p:cNvSpPr/>
          <p:nvPr/>
        </p:nvSpPr>
        <p:spPr>
          <a:xfrm>
            <a:off x="0" y="6748043"/>
            <a:ext cx="12192000" cy="134292"/>
          </a:xfrm>
          <a:prstGeom prst="rect">
            <a:avLst/>
          </a:prstGeom>
          <a:solidFill>
            <a:srgbClr val="04B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5" name="文本框 24"/>
          <p:cNvSpPr txBox="1"/>
          <p:nvPr/>
        </p:nvSpPr>
        <p:spPr>
          <a:xfrm>
            <a:off x="13425202" y="7905750"/>
            <a:ext cx="877163" cy="369332"/>
          </a:xfrm>
          <a:prstGeom prst="rect">
            <a:avLst/>
          </a:prstGeom>
          <a:noFill/>
        </p:spPr>
        <p:txBody>
          <a:bodyPr wrap="none" rtlCol="0">
            <a:spAutoFit/>
          </a:bodyPr>
          <a:lstStyle/>
          <a:p>
            <a:r>
              <a:rPr lang="zh-CN" altLang="en-US" dirty="0"/>
              <a:t>延迟符</a:t>
            </a:r>
          </a:p>
        </p:txBody>
      </p:sp>
      <p:sp>
        <p:nvSpPr>
          <p:cNvPr id="2" name="矩形 1"/>
          <p:cNvSpPr/>
          <p:nvPr/>
        </p:nvSpPr>
        <p:spPr>
          <a:xfrm>
            <a:off x="1434609" y="857894"/>
            <a:ext cx="1826141" cy="584775"/>
          </a:xfrm>
          <a:prstGeom prst="rect">
            <a:avLst/>
          </a:prstGeom>
        </p:spPr>
        <p:txBody>
          <a:bodyPr wrap="none">
            <a:spAutoFit/>
          </a:bodyPr>
          <a:lstStyle/>
          <a:p>
            <a:r>
              <a:rPr lang="zh-CN" altLang="en-US" sz="3200" b="1" dirty="0">
                <a:solidFill>
                  <a:srgbClr val="01C0B0"/>
                </a:solidFill>
                <a:latin typeface="微软雅黑" panose="020B0503020204020204" pitchFamily="34" charset="-122"/>
                <a:ea typeface="微软雅黑" panose="020B0503020204020204" pitchFamily="34" charset="-122"/>
              </a:rPr>
              <a:t>内部中断</a:t>
            </a:r>
          </a:p>
        </p:txBody>
      </p:sp>
      <p:sp>
        <p:nvSpPr>
          <p:cNvPr id="3" name="文本框 2"/>
          <p:cNvSpPr txBox="1"/>
          <p:nvPr/>
        </p:nvSpPr>
        <p:spPr>
          <a:xfrm>
            <a:off x="1473184" y="1442669"/>
            <a:ext cx="8662736" cy="4616648"/>
          </a:xfrm>
          <a:prstGeom prst="rect">
            <a:avLst/>
          </a:prstGeom>
          <a:noFill/>
        </p:spPr>
        <p:txBody>
          <a:bodyPr wrap="square" rtlCol="0">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内部中断主要包括指令中断和故障中断。</a:t>
            </a:r>
          </a:p>
          <a:p>
            <a:pPr lvl="1">
              <a:lnSpc>
                <a:spcPct val="150000"/>
              </a:lnSpc>
            </a:pPr>
            <a:r>
              <a:rPr lang="zh-CN" altLang="en-US" sz="2800" b="1" dirty="0">
                <a:solidFill>
                  <a:schemeClr val="accent1">
                    <a:lumMod val="75000"/>
                  </a:schemeClr>
                </a:solidFill>
                <a:latin typeface="微软雅黑" panose="020B0503020204020204" pitchFamily="34" charset="-122"/>
                <a:ea typeface="微软雅黑" panose="020B0503020204020204" pitchFamily="34" charset="-122"/>
              </a:rPr>
              <a:t>指令中断</a:t>
            </a:r>
            <a:r>
              <a:rPr lang="zh-CN" altLang="en-US" sz="2800" b="1" dirty="0">
                <a:latin typeface="微软雅黑" panose="020B0503020204020204" pitchFamily="34" charset="-122"/>
                <a:ea typeface="微软雅黑" panose="020B0503020204020204" pitchFamily="34" charset="-122"/>
              </a:rPr>
              <a:t>是由软件指令引起的，设置指令中断的目的通常是为用户程序提供对系统资源的访问。</a:t>
            </a:r>
          </a:p>
          <a:p>
            <a:pPr lvl="1">
              <a:lnSpc>
                <a:spcPct val="150000"/>
              </a:lnSpc>
            </a:pPr>
            <a:r>
              <a:rPr lang="zh-CN" altLang="en-US" sz="2800" b="1" dirty="0">
                <a:solidFill>
                  <a:schemeClr val="accent1">
                    <a:lumMod val="75000"/>
                  </a:schemeClr>
                </a:solidFill>
                <a:latin typeface="微软雅黑" panose="020B0503020204020204" pitchFamily="34" charset="-122"/>
                <a:ea typeface="微软雅黑" panose="020B0503020204020204" pitchFamily="34" charset="-122"/>
              </a:rPr>
              <a:t>故障中断</a:t>
            </a:r>
            <a:r>
              <a:rPr lang="zh-CN" altLang="en-US" sz="2800" b="1" dirty="0">
                <a:latin typeface="微软雅黑" panose="020B0503020204020204" pitchFamily="34" charset="-122"/>
                <a:ea typeface="微软雅黑" panose="020B0503020204020204" pitchFamily="34" charset="-122"/>
              </a:rPr>
              <a:t>主要是指由系统软硬件故障引起的中断，如内存校验故障、电源掉电、除零错、算术溢出、内存越界、指令非法、虚拟存储器页面失效等。 </a:t>
            </a:r>
            <a:endParaRPr lang="en-US" altLang="zh-CN" sz="2800" b="1" dirty="0">
              <a:latin typeface="微软雅黑" panose="020B0503020204020204" pitchFamily="34" charset="-122"/>
              <a:ea typeface="微软雅黑" panose="020B0503020204020204" pitchFamily="34" charset="-122"/>
            </a:endParaRPr>
          </a:p>
          <a:p>
            <a:pPr>
              <a:lnSpc>
                <a:spcPct val="150000"/>
              </a:lnSpc>
            </a:pP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99195327"/>
      </p:ext>
    </p:extLst>
  </p:cSld>
  <p:clrMapOvr>
    <a:masterClrMapping/>
  </p:clrMapOvr>
  <mc:AlternateContent xmlns:mc="http://schemas.openxmlformats.org/markup-compatibility/2006" xmlns:p14="http://schemas.microsoft.com/office/powerpoint/2010/main">
    <mc:Choice Requires="p14">
      <p:transition spd="slow" p14:dur="1300" advTm="0">
        <p14:pan dir="u"/>
      </p:transition>
    </mc:Choice>
    <mc:Fallback xmlns="">
      <p:transition spd="slow" advTm="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845613" y="8141"/>
            <a:ext cx="10515600" cy="1325563"/>
          </a:xfrm>
        </p:spPr>
        <p:txBody>
          <a:bodyPr vert="horz" lIns="91440" tIns="45720" rIns="91440" bIns="45720" rtlCol="0" anchor="ctr">
            <a:normAutofit/>
          </a:bodyPr>
          <a:lstStyle/>
          <a:p>
            <a:r>
              <a:rPr lang="zh-CN" altLang="en-US" sz="3200" b="1" dirty="0">
                <a:latin typeface="微软雅黑" panose="020B0503020204020204" pitchFamily="34" charset="-122"/>
                <a:ea typeface="微软雅黑" panose="020B0503020204020204" pitchFamily="34" charset="-122"/>
              </a:rPr>
              <a:t>中断控制的基本原理 </a:t>
            </a:r>
          </a:p>
        </p:txBody>
      </p:sp>
      <p:sp>
        <p:nvSpPr>
          <p:cNvPr id="11267" name="Rectangle 3"/>
          <p:cNvSpPr>
            <a:spLocks noGrp="1" noChangeArrowheads="1"/>
          </p:cNvSpPr>
          <p:nvPr>
            <p:ph type="body" idx="1"/>
          </p:nvPr>
        </p:nvSpPr>
        <p:spPr>
          <a:xfrm>
            <a:off x="845613" y="931632"/>
            <a:ext cx="11185966" cy="981075"/>
          </a:xfrm>
        </p:spPr>
        <p:txBody>
          <a:bodyPr vert="horz" lIns="91440" tIns="45720" rIns="91440" bIns="45720" rtlCol="0" anchor="ctr">
            <a:normAutofit fontScale="92500" lnSpcReduction="10000"/>
          </a:bodyPr>
          <a:lstStyle/>
          <a:p>
            <a:pPr>
              <a:lnSpc>
                <a:spcPct val="120000"/>
              </a:lnSpc>
              <a:spcBef>
                <a:spcPct val="0"/>
              </a:spcBef>
              <a:buNone/>
            </a:pPr>
            <a:r>
              <a:rPr lang="zh-CN" altLang="en-US" b="1" dirty="0">
                <a:latin typeface="微软雅黑" panose="020B0503020204020204" pitchFamily="34" charset="-122"/>
                <a:ea typeface="微软雅黑" panose="020B0503020204020204" pitchFamily="34" charset="-122"/>
                <a:cs typeface="+mj-cs"/>
              </a:rPr>
              <a:t>图</a:t>
            </a:r>
            <a:r>
              <a:rPr lang="en-US" altLang="zh-CN" b="1" dirty="0">
                <a:latin typeface="微软雅黑" panose="020B0503020204020204" pitchFamily="34" charset="-122"/>
                <a:ea typeface="微软雅黑" panose="020B0503020204020204" pitchFamily="34" charset="-122"/>
                <a:cs typeface="+mj-cs"/>
              </a:rPr>
              <a:t>5-11</a:t>
            </a:r>
            <a:r>
              <a:rPr lang="zh-CN" altLang="en-US" b="1" dirty="0">
                <a:latin typeface="微软雅黑" panose="020B0503020204020204" pitchFamily="34" charset="-122"/>
                <a:ea typeface="微软雅黑" panose="020B0503020204020204" pitchFamily="34" charset="-122"/>
                <a:cs typeface="+mj-cs"/>
              </a:rPr>
              <a:t>（</a:t>
            </a:r>
            <a:r>
              <a:rPr lang="en-US" altLang="zh-CN" b="1" dirty="0">
                <a:latin typeface="微软雅黑" panose="020B0503020204020204" pitchFamily="34" charset="-122"/>
                <a:ea typeface="微软雅黑" panose="020B0503020204020204" pitchFamily="34" charset="-122"/>
                <a:cs typeface="+mj-cs"/>
              </a:rPr>
              <a:t>a</a:t>
            </a:r>
            <a:r>
              <a:rPr lang="zh-CN" altLang="en-US" b="1" dirty="0">
                <a:latin typeface="微软雅黑" panose="020B0503020204020204" pitchFamily="34" charset="-122"/>
                <a:ea typeface="微软雅黑" panose="020B0503020204020204" pitchFamily="34" charset="-122"/>
                <a:cs typeface="+mj-cs"/>
              </a:rPr>
              <a:t>）和（</a:t>
            </a:r>
            <a:r>
              <a:rPr lang="en-US" altLang="zh-CN" b="1" dirty="0">
                <a:latin typeface="微软雅黑" panose="020B0503020204020204" pitchFamily="34" charset="-122"/>
                <a:ea typeface="微软雅黑" panose="020B0503020204020204" pitchFamily="34" charset="-122"/>
                <a:cs typeface="+mj-cs"/>
              </a:rPr>
              <a:t>b</a:t>
            </a:r>
            <a:r>
              <a:rPr lang="zh-CN" altLang="en-US" b="1" dirty="0">
                <a:latin typeface="微软雅黑" panose="020B0503020204020204" pitchFamily="34" charset="-122"/>
                <a:ea typeface="微软雅黑" panose="020B0503020204020204" pitchFamily="34" charset="-122"/>
                <a:cs typeface="+mj-cs"/>
              </a:rPr>
              <a:t>）分别给出了程序控制方式和中断控制方式</a:t>
            </a:r>
            <a:endParaRPr lang="en-US" altLang="zh-CN" b="1" dirty="0">
              <a:latin typeface="微软雅黑" panose="020B0503020204020204" pitchFamily="34" charset="-122"/>
              <a:ea typeface="微软雅黑" panose="020B0503020204020204" pitchFamily="34" charset="-122"/>
              <a:cs typeface="+mj-cs"/>
            </a:endParaRPr>
          </a:p>
          <a:p>
            <a:pPr>
              <a:lnSpc>
                <a:spcPct val="120000"/>
              </a:lnSpc>
              <a:spcBef>
                <a:spcPct val="0"/>
              </a:spcBef>
              <a:buNone/>
            </a:pPr>
            <a:r>
              <a:rPr lang="zh-CN" altLang="en-US" b="1" dirty="0">
                <a:latin typeface="微软雅黑" panose="020B0503020204020204" pitchFamily="34" charset="-122"/>
                <a:ea typeface="微软雅黑" panose="020B0503020204020204" pitchFamily="34" charset="-122"/>
                <a:cs typeface="+mj-cs"/>
              </a:rPr>
              <a:t>这两种方式下打印机的打印输出过程。 </a:t>
            </a:r>
          </a:p>
        </p:txBody>
      </p:sp>
      <p:sp>
        <p:nvSpPr>
          <p:cNvPr id="11268" name="Rectangle 4"/>
          <p:cNvSpPr>
            <a:spLocks noChangeArrowheads="1"/>
          </p:cNvSpPr>
          <p:nvPr/>
        </p:nvSpPr>
        <p:spPr bwMode="auto">
          <a:xfrm>
            <a:off x="0" y="2009775"/>
            <a:ext cx="184731" cy="369332"/>
          </a:xfrm>
          <a:prstGeom prst="rect">
            <a:avLst/>
          </a:prstGeom>
          <a:noFill/>
          <a:ln w="9525">
            <a:noFill/>
            <a:miter lim="800000"/>
            <a:headEnd/>
            <a:tailEnd/>
          </a:ln>
        </p:spPr>
        <p:txBody>
          <a:bodyPr wrap="none" anchor="ctr">
            <a:spAutoFit/>
          </a:bodyPr>
          <a:lstStyle/>
          <a:p>
            <a:pPr eaLnBrk="1" hangingPunct="1"/>
            <a:endParaRPr lang="zh-CN" altLang="en-US"/>
          </a:p>
        </p:txBody>
      </p:sp>
      <p:graphicFrame>
        <p:nvGraphicFramePr>
          <p:cNvPr id="11269" name="Object 5"/>
          <p:cNvGraphicFramePr>
            <a:graphicFrameLocks noChangeAspect="1"/>
          </p:cNvGraphicFramePr>
          <p:nvPr/>
        </p:nvGraphicFramePr>
        <p:xfrm>
          <a:off x="2671234" y="2205038"/>
          <a:ext cx="8928100" cy="4464050"/>
        </p:xfrm>
        <a:graphic>
          <a:graphicData uri="http://schemas.openxmlformats.org/presentationml/2006/ole">
            <mc:AlternateContent xmlns:mc="http://schemas.openxmlformats.org/markup-compatibility/2006">
              <mc:Choice xmlns:v="urn:schemas-microsoft-com:vml" Requires="v">
                <p:oleObj spid="_x0000_s60438" name="Visio" r:id="rId3" imgW="4258970" imgH="2840431" progId="Visio.Drawing.11">
                  <p:embed/>
                </p:oleObj>
              </mc:Choice>
              <mc:Fallback>
                <p:oleObj name="Visio" r:id="rId3" imgW="4258970" imgH="2840431" progId="Visio.Drawing.11">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1234" y="2205038"/>
                        <a:ext cx="8928100" cy="4464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0" name="矩形 1"/>
          <p:cNvSpPr>
            <a:spLocks noChangeArrowheads="1"/>
          </p:cNvSpPr>
          <p:nvPr/>
        </p:nvSpPr>
        <p:spPr bwMode="auto">
          <a:xfrm>
            <a:off x="609601" y="2928938"/>
            <a:ext cx="2222500" cy="461665"/>
          </a:xfrm>
          <a:prstGeom prst="rect">
            <a:avLst/>
          </a:prstGeom>
          <a:noFill/>
          <a:ln w="9525">
            <a:noFill/>
            <a:miter lim="800000"/>
            <a:headEnd/>
            <a:tailEnd/>
          </a:ln>
        </p:spPr>
        <p:txBody>
          <a:bodyPr>
            <a:spAutoFit/>
          </a:bodyPr>
          <a:lstStyle/>
          <a:p>
            <a:pPr algn="just" eaLnBrk="1" hangingPunct="1"/>
            <a:r>
              <a:rPr lang="zh-CN" altLang="en-US" sz="2400" b="1" dirty="0">
                <a:latin typeface="微软雅黑" panose="020B0503020204020204" pitchFamily="34" charset="-122"/>
                <a:ea typeface="微软雅黑" panose="020B0503020204020204" pitchFamily="34" charset="-122"/>
              </a:rPr>
              <a:t>程序控制方式</a:t>
            </a:r>
          </a:p>
        </p:txBody>
      </p:sp>
      <p:sp>
        <p:nvSpPr>
          <p:cNvPr id="11271" name="矩形 6"/>
          <p:cNvSpPr>
            <a:spLocks noChangeArrowheads="1"/>
          </p:cNvSpPr>
          <p:nvPr/>
        </p:nvSpPr>
        <p:spPr bwMode="auto">
          <a:xfrm>
            <a:off x="609601" y="5157788"/>
            <a:ext cx="2222500" cy="461665"/>
          </a:xfrm>
          <a:prstGeom prst="rect">
            <a:avLst/>
          </a:prstGeom>
          <a:noFill/>
          <a:ln w="9525">
            <a:noFill/>
            <a:miter lim="800000"/>
            <a:headEnd/>
            <a:tailEnd/>
          </a:ln>
        </p:spPr>
        <p:txBody>
          <a:bodyPr>
            <a:spAutoFit/>
          </a:bodyPr>
          <a:lstStyle/>
          <a:p>
            <a:pPr algn="just" eaLnBrk="1" hangingPunct="1"/>
            <a:r>
              <a:rPr lang="zh-CN" altLang="en-US" sz="2400" b="1">
                <a:latin typeface="微软雅黑" panose="020B0503020204020204" pitchFamily="34" charset="-122"/>
                <a:ea typeface="微软雅黑" panose="020B0503020204020204" pitchFamily="34" charset="-122"/>
              </a:rPr>
              <a:t>中断控制方式</a:t>
            </a:r>
          </a:p>
        </p:txBody>
      </p:sp>
      <p:grpSp>
        <p:nvGrpSpPr>
          <p:cNvPr id="8" name="组合 3"/>
          <p:cNvGrpSpPr/>
          <p:nvPr/>
        </p:nvGrpSpPr>
        <p:grpSpPr>
          <a:xfrm>
            <a:off x="252112" y="308050"/>
            <a:ext cx="438352" cy="621987"/>
            <a:chOff x="265635" y="269251"/>
            <a:chExt cx="438352" cy="621987"/>
          </a:xfrm>
        </p:grpSpPr>
        <p:sp>
          <p:nvSpPr>
            <p:cNvPr id="9"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12" name="内容占位符 2"/>
          <p:cNvSpPr txBox="1">
            <a:spLocks/>
          </p:cNvSpPr>
          <p:nvPr/>
        </p:nvSpPr>
        <p:spPr>
          <a:xfrm>
            <a:off x="497646" y="2217297"/>
            <a:ext cx="11136574" cy="4476466"/>
          </a:xfrm>
          <a:prstGeom prst="rect">
            <a:avLst/>
          </a:prstGeom>
          <a:ln w="28575">
            <a:solidFill>
              <a:srgbClr val="01C0B0"/>
            </a:solidFill>
          </a:ln>
        </p:spPr>
        <p:txBody>
          <a:bodyPr vert="horz" lIns="91440" tIns="45720" rIns="91440" bIns="45720" rtlCol="0">
            <a:no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None/>
              <a:tabLst/>
              <a:defRPr/>
            </a:pPr>
            <a:r>
              <a:rPr kumimoji="0" lang="en-US" altLang="zh-CN" sz="2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endPar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40212" y="165504"/>
            <a:ext cx="10515600" cy="1325563"/>
          </a:xfrm>
        </p:spPr>
        <p:txBody>
          <a:bodyPr vert="horz" lIns="91440" tIns="45720" rIns="91440" bIns="45720" rtlCol="0" anchor="ctr">
            <a:normAutofit/>
          </a:bodyPr>
          <a:lstStyle/>
          <a:p>
            <a:r>
              <a:rPr lang="zh-CN" altLang="en-US" sz="3200" b="1" dirty="0">
                <a:latin typeface="微软雅黑" panose="020B0503020204020204" pitchFamily="34" charset="-122"/>
                <a:ea typeface="微软雅黑" panose="020B0503020204020204" pitchFamily="34" charset="-122"/>
              </a:rPr>
              <a:t>中断处理过程 </a:t>
            </a:r>
          </a:p>
        </p:txBody>
      </p:sp>
      <p:sp>
        <p:nvSpPr>
          <p:cNvPr id="12291" name="Rectangle 3"/>
          <p:cNvSpPr>
            <a:spLocks noGrp="1" noChangeArrowheads="1"/>
          </p:cNvSpPr>
          <p:nvPr>
            <p:ph type="body" idx="1"/>
          </p:nvPr>
        </p:nvSpPr>
        <p:spPr>
          <a:xfrm>
            <a:off x="1040212" y="1279298"/>
            <a:ext cx="10972800" cy="693738"/>
          </a:xfrm>
        </p:spPr>
        <p:txBody>
          <a:bodyPr vert="horz" lIns="91440" tIns="45720" rIns="91440" bIns="45720" rtlCol="0" anchor="ctr">
            <a:normAutofit/>
          </a:bodyPr>
          <a:lstStyle/>
          <a:p>
            <a:pPr>
              <a:spcBef>
                <a:spcPct val="0"/>
              </a:spcBef>
              <a:buNone/>
            </a:pPr>
            <a:r>
              <a:rPr lang="zh-CN" altLang="en-US" b="1" dirty="0">
                <a:latin typeface="微软雅黑" panose="020B0503020204020204" pitchFamily="34" charset="-122"/>
                <a:ea typeface="微软雅黑" panose="020B0503020204020204" pitchFamily="34" charset="-122"/>
                <a:cs typeface="+mj-cs"/>
              </a:rPr>
              <a:t>中断系统的中断处理过程如图所示。 </a:t>
            </a:r>
          </a:p>
        </p:txBody>
      </p:sp>
      <p:grpSp>
        <p:nvGrpSpPr>
          <p:cNvPr id="2" name="Group 4"/>
          <p:cNvGrpSpPr>
            <a:grpSpLocks noChangeAspect="1"/>
          </p:cNvGrpSpPr>
          <p:nvPr/>
        </p:nvGrpSpPr>
        <p:grpSpPr bwMode="auto">
          <a:xfrm>
            <a:off x="912284" y="2349500"/>
            <a:ext cx="10464800" cy="2605088"/>
            <a:chOff x="1765" y="5973"/>
            <a:chExt cx="7169" cy="2395"/>
          </a:xfrm>
        </p:grpSpPr>
        <p:sp>
          <p:nvSpPr>
            <p:cNvPr id="12293" name="AutoShape 5"/>
            <p:cNvSpPr>
              <a:spLocks noChangeAspect="1" noChangeArrowheads="1"/>
            </p:cNvSpPr>
            <p:nvPr/>
          </p:nvSpPr>
          <p:spPr bwMode="auto">
            <a:xfrm>
              <a:off x="1765" y="5973"/>
              <a:ext cx="7169" cy="2395"/>
            </a:xfrm>
            <a:prstGeom prst="rect">
              <a:avLst/>
            </a:prstGeom>
            <a:noFill/>
            <a:ln w="9525">
              <a:noFill/>
              <a:miter lim="800000"/>
              <a:headEnd/>
              <a:tailEnd/>
            </a:ln>
          </p:spPr>
          <p:txBody>
            <a:bodyPr/>
            <a:lstStyle/>
            <a:p>
              <a:pPr eaLnBrk="1" hangingPunct="1"/>
              <a:endParaRPr lang="zh-CN" altLang="en-US"/>
            </a:p>
          </p:txBody>
        </p:sp>
        <p:sp>
          <p:nvSpPr>
            <p:cNvPr id="12294" name="Text Box 6"/>
            <p:cNvSpPr txBox="1">
              <a:spLocks noChangeArrowheads="1"/>
            </p:cNvSpPr>
            <p:nvPr/>
          </p:nvSpPr>
          <p:spPr bwMode="auto">
            <a:xfrm>
              <a:off x="3255" y="6239"/>
              <a:ext cx="1302" cy="266"/>
            </a:xfrm>
            <a:prstGeom prst="rect">
              <a:avLst/>
            </a:prstGeom>
            <a:solidFill>
              <a:srgbClr val="FFFFFF"/>
            </a:solidFill>
            <a:ln w="9525">
              <a:solidFill>
                <a:srgbClr val="000000"/>
              </a:solidFill>
              <a:prstDash val="dash"/>
              <a:miter lim="800000"/>
              <a:headEnd/>
              <a:tailEnd/>
            </a:ln>
          </p:spPr>
          <p:txBody>
            <a:bodyPr lIns="0" tIns="0" rIns="0" bIns="0"/>
            <a:lstStyle/>
            <a:p>
              <a:pPr algn="ctr" eaLnBrk="1" hangingPunct="1"/>
              <a:r>
                <a:rPr lang="zh-CN" altLang="en-US" b="1" dirty="0">
                  <a:latin typeface="微软雅黑" panose="020B0503020204020204" pitchFamily="34" charset="-122"/>
                  <a:ea typeface="微软雅黑" panose="020B0503020204020204" pitchFamily="34" charset="-122"/>
                </a:rPr>
                <a:t>主程序指令</a:t>
              </a:r>
            </a:p>
          </p:txBody>
        </p:sp>
        <p:sp>
          <p:nvSpPr>
            <p:cNvPr id="12295" name="Text Box 7"/>
            <p:cNvSpPr txBox="1">
              <a:spLocks noChangeArrowheads="1"/>
            </p:cNvSpPr>
            <p:nvPr/>
          </p:nvSpPr>
          <p:spPr bwMode="auto">
            <a:xfrm>
              <a:off x="3255" y="7835"/>
              <a:ext cx="1302" cy="266"/>
            </a:xfrm>
            <a:prstGeom prst="rect">
              <a:avLst/>
            </a:prstGeom>
            <a:solidFill>
              <a:srgbClr val="FFFFFF"/>
            </a:solidFill>
            <a:ln w="9525">
              <a:solidFill>
                <a:srgbClr val="000000"/>
              </a:solidFill>
              <a:prstDash val="dash"/>
              <a:miter lim="800000"/>
              <a:headEnd/>
              <a:tailEnd/>
            </a:ln>
          </p:spPr>
          <p:txBody>
            <a:bodyPr lIns="0" tIns="0" rIns="0" bIns="0"/>
            <a:lstStyle/>
            <a:p>
              <a:pPr algn="ctr" eaLnBrk="1" hangingPunct="1"/>
              <a:r>
                <a:rPr lang="zh-CN" altLang="en-US" b="1">
                  <a:latin typeface="微软雅黑" panose="020B0503020204020204" pitchFamily="34" charset="-122"/>
                  <a:ea typeface="微软雅黑" panose="020B0503020204020204" pitchFamily="34" charset="-122"/>
                </a:rPr>
                <a:t>主程序指令</a:t>
              </a:r>
            </a:p>
          </p:txBody>
        </p:sp>
        <p:sp>
          <p:nvSpPr>
            <p:cNvPr id="12296" name="AutoShape 8"/>
            <p:cNvSpPr>
              <a:spLocks noChangeArrowheads="1"/>
            </p:cNvSpPr>
            <p:nvPr/>
          </p:nvSpPr>
          <p:spPr bwMode="auto">
            <a:xfrm>
              <a:off x="3068" y="6771"/>
              <a:ext cx="1676" cy="798"/>
            </a:xfrm>
            <a:prstGeom prst="flowChartDecision">
              <a:avLst/>
            </a:prstGeom>
            <a:solidFill>
              <a:srgbClr val="FFFFFF"/>
            </a:solidFill>
            <a:ln w="9525">
              <a:solidFill>
                <a:srgbClr val="000000"/>
              </a:solidFill>
              <a:prstDash val="dash"/>
              <a:miter lim="800000"/>
              <a:headEnd/>
              <a:tailEnd/>
            </a:ln>
          </p:spPr>
          <p:txBody>
            <a:bodyPr lIns="0" tIns="144000" rIns="0" bIns="0" anchor="ctr"/>
            <a:lstStyle/>
            <a:p>
              <a:pPr algn="ctr" eaLnBrk="1" hangingPunct="1"/>
              <a:r>
                <a:rPr lang="zh-CN" altLang="en-US" b="1" dirty="0">
                  <a:latin typeface="微软雅黑" panose="020B0503020204020204" pitchFamily="34" charset="-122"/>
                  <a:ea typeface="微软雅黑" panose="020B0503020204020204" pitchFamily="34" charset="-122"/>
                </a:rPr>
                <a:t>有否</a:t>
              </a:r>
            </a:p>
            <a:p>
              <a:pPr algn="ctr" eaLnBrk="1" hangingPunct="1"/>
              <a:r>
                <a:rPr lang="zh-CN" altLang="en-US" b="1" dirty="0">
                  <a:latin typeface="微软雅黑" panose="020B0503020204020204" pitchFamily="34" charset="-122"/>
                  <a:ea typeface="微软雅黑" panose="020B0503020204020204" pitchFamily="34" charset="-122"/>
                </a:rPr>
                <a:t>中断请求？</a:t>
              </a:r>
            </a:p>
            <a:p>
              <a:pPr algn="ctr" eaLnBrk="1" hangingPunct="1"/>
              <a:endParaRPr lang="zh-CN" altLang="en-US" b="1" dirty="0">
                <a:latin typeface="微软雅黑" panose="020B0503020204020204" pitchFamily="34" charset="-122"/>
                <a:ea typeface="微软雅黑" panose="020B0503020204020204" pitchFamily="34" charset="-122"/>
              </a:endParaRPr>
            </a:p>
          </p:txBody>
        </p:sp>
        <p:sp>
          <p:nvSpPr>
            <p:cNvPr id="12297" name="Line 9"/>
            <p:cNvSpPr>
              <a:spLocks noChangeShapeType="1"/>
            </p:cNvSpPr>
            <p:nvPr/>
          </p:nvSpPr>
          <p:spPr bwMode="auto">
            <a:xfrm>
              <a:off x="3906" y="6505"/>
              <a:ext cx="1" cy="266"/>
            </a:xfrm>
            <a:prstGeom prst="line">
              <a:avLst/>
            </a:prstGeom>
            <a:noFill/>
            <a:ln w="9525">
              <a:solidFill>
                <a:srgbClr val="000000"/>
              </a:solidFill>
              <a:round/>
              <a:headEnd/>
              <a:tailEnd type="triangle" w="med" len="med"/>
            </a:ln>
          </p:spPr>
          <p:txBody>
            <a:bodyPr/>
            <a:lstStyle/>
            <a:p>
              <a:endParaRPr lang="zh-CN" altLang="en-US"/>
            </a:p>
          </p:txBody>
        </p:sp>
        <p:sp>
          <p:nvSpPr>
            <p:cNvPr id="12298" name="Line 10"/>
            <p:cNvSpPr>
              <a:spLocks noChangeShapeType="1"/>
            </p:cNvSpPr>
            <p:nvPr/>
          </p:nvSpPr>
          <p:spPr bwMode="auto">
            <a:xfrm>
              <a:off x="3906" y="7569"/>
              <a:ext cx="1" cy="266"/>
            </a:xfrm>
            <a:prstGeom prst="line">
              <a:avLst/>
            </a:prstGeom>
            <a:noFill/>
            <a:ln w="9525">
              <a:solidFill>
                <a:srgbClr val="000000"/>
              </a:solidFill>
              <a:round/>
              <a:headEnd/>
              <a:tailEnd type="triangle" w="med" len="med"/>
            </a:ln>
          </p:spPr>
          <p:txBody>
            <a:bodyPr/>
            <a:lstStyle/>
            <a:p>
              <a:endParaRPr lang="zh-CN" altLang="en-US" sz="2400" b="1">
                <a:latin typeface="微软雅黑" panose="020B0503020204020204" pitchFamily="34" charset="-122"/>
                <a:ea typeface="微软雅黑" panose="020B0503020204020204" pitchFamily="34" charset="-122"/>
              </a:endParaRPr>
            </a:p>
          </p:txBody>
        </p:sp>
        <p:sp>
          <p:nvSpPr>
            <p:cNvPr id="12299" name="Line 11"/>
            <p:cNvSpPr>
              <a:spLocks noChangeShapeType="1"/>
            </p:cNvSpPr>
            <p:nvPr/>
          </p:nvSpPr>
          <p:spPr bwMode="auto">
            <a:xfrm>
              <a:off x="3906" y="5973"/>
              <a:ext cx="1" cy="266"/>
            </a:xfrm>
            <a:prstGeom prst="line">
              <a:avLst/>
            </a:prstGeom>
            <a:noFill/>
            <a:ln w="9525">
              <a:solidFill>
                <a:srgbClr val="000000"/>
              </a:solidFill>
              <a:round/>
              <a:headEnd/>
              <a:tailEnd type="triangle" w="med" len="med"/>
            </a:ln>
          </p:spPr>
          <p:txBody>
            <a:bodyPr/>
            <a:lstStyle/>
            <a:p>
              <a:endParaRPr lang="zh-CN" altLang="en-US"/>
            </a:p>
          </p:txBody>
        </p:sp>
        <p:sp>
          <p:nvSpPr>
            <p:cNvPr id="12300" name="Line 12"/>
            <p:cNvSpPr>
              <a:spLocks noChangeShapeType="1"/>
            </p:cNvSpPr>
            <p:nvPr/>
          </p:nvSpPr>
          <p:spPr bwMode="auto">
            <a:xfrm>
              <a:off x="3906" y="8101"/>
              <a:ext cx="1" cy="266"/>
            </a:xfrm>
            <a:prstGeom prst="line">
              <a:avLst/>
            </a:prstGeom>
            <a:noFill/>
            <a:ln w="9525">
              <a:solidFill>
                <a:srgbClr val="000000"/>
              </a:solidFill>
              <a:round/>
              <a:headEnd/>
              <a:tailEnd type="triangle" w="med" len="med"/>
            </a:ln>
          </p:spPr>
          <p:txBody>
            <a:bodyPr/>
            <a:lstStyle/>
            <a:p>
              <a:endParaRPr lang="zh-CN" altLang="en-US"/>
            </a:p>
          </p:txBody>
        </p:sp>
        <p:sp>
          <p:nvSpPr>
            <p:cNvPr id="12301" name="Line 13"/>
            <p:cNvSpPr>
              <a:spLocks noChangeShapeType="1"/>
            </p:cNvSpPr>
            <p:nvPr/>
          </p:nvSpPr>
          <p:spPr bwMode="auto">
            <a:xfrm>
              <a:off x="4744" y="7170"/>
              <a:ext cx="559" cy="1"/>
            </a:xfrm>
            <a:prstGeom prst="line">
              <a:avLst/>
            </a:prstGeom>
            <a:noFill/>
            <a:ln w="9525">
              <a:solidFill>
                <a:srgbClr val="000000"/>
              </a:solidFill>
              <a:round/>
              <a:headEnd/>
              <a:tailEnd/>
            </a:ln>
          </p:spPr>
          <p:txBody>
            <a:bodyPr/>
            <a:lstStyle/>
            <a:p>
              <a:endParaRPr lang="zh-CN" altLang="en-US"/>
            </a:p>
          </p:txBody>
        </p:sp>
        <p:sp>
          <p:nvSpPr>
            <p:cNvPr id="12302" name="Line 14"/>
            <p:cNvSpPr>
              <a:spLocks noChangeShapeType="1"/>
            </p:cNvSpPr>
            <p:nvPr/>
          </p:nvSpPr>
          <p:spPr bwMode="auto">
            <a:xfrm flipV="1">
              <a:off x="5303" y="5973"/>
              <a:ext cx="1" cy="1197"/>
            </a:xfrm>
            <a:prstGeom prst="line">
              <a:avLst/>
            </a:prstGeom>
            <a:noFill/>
            <a:ln w="9525">
              <a:solidFill>
                <a:srgbClr val="000000"/>
              </a:solidFill>
              <a:round/>
              <a:headEnd/>
              <a:tailEnd/>
            </a:ln>
          </p:spPr>
          <p:txBody>
            <a:bodyPr/>
            <a:lstStyle/>
            <a:p>
              <a:endParaRPr lang="zh-CN" altLang="en-US"/>
            </a:p>
          </p:txBody>
        </p:sp>
        <p:sp>
          <p:nvSpPr>
            <p:cNvPr id="12303" name="Line 15"/>
            <p:cNvSpPr>
              <a:spLocks noChangeShapeType="1"/>
            </p:cNvSpPr>
            <p:nvPr/>
          </p:nvSpPr>
          <p:spPr bwMode="auto">
            <a:xfrm>
              <a:off x="5303" y="5973"/>
              <a:ext cx="1117" cy="1"/>
            </a:xfrm>
            <a:prstGeom prst="line">
              <a:avLst/>
            </a:prstGeom>
            <a:noFill/>
            <a:ln w="9525">
              <a:solidFill>
                <a:srgbClr val="000000"/>
              </a:solidFill>
              <a:round/>
              <a:headEnd/>
              <a:tailEnd/>
            </a:ln>
          </p:spPr>
          <p:txBody>
            <a:bodyPr/>
            <a:lstStyle/>
            <a:p>
              <a:endParaRPr lang="zh-CN" altLang="en-US"/>
            </a:p>
          </p:txBody>
        </p:sp>
        <p:sp>
          <p:nvSpPr>
            <p:cNvPr id="12304" name="Line 16"/>
            <p:cNvSpPr>
              <a:spLocks noChangeShapeType="1"/>
            </p:cNvSpPr>
            <p:nvPr/>
          </p:nvSpPr>
          <p:spPr bwMode="auto">
            <a:xfrm>
              <a:off x="6420" y="5973"/>
              <a:ext cx="2" cy="266"/>
            </a:xfrm>
            <a:prstGeom prst="line">
              <a:avLst/>
            </a:prstGeom>
            <a:noFill/>
            <a:ln w="9525">
              <a:solidFill>
                <a:srgbClr val="000000"/>
              </a:solidFill>
              <a:round/>
              <a:headEnd/>
              <a:tailEnd type="triangle" w="med" len="med"/>
            </a:ln>
          </p:spPr>
          <p:txBody>
            <a:bodyPr/>
            <a:lstStyle/>
            <a:p>
              <a:endParaRPr lang="zh-CN" altLang="en-US"/>
            </a:p>
          </p:txBody>
        </p:sp>
        <p:sp>
          <p:nvSpPr>
            <p:cNvPr id="12305" name="Text Box 17"/>
            <p:cNvSpPr txBox="1">
              <a:spLocks noChangeArrowheads="1"/>
            </p:cNvSpPr>
            <p:nvPr/>
          </p:nvSpPr>
          <p:spPr bwMode="auto">
            <a:xfrm>
              <a:off x="5768" y="6239"/>
              <a:ext cx="1303" cy="266"/>
            </a:xfrm>
            <a:prstGeom prst="rect">
              <a:avLst/>
            </a:prstGeom>
            <a:solidFill>
              <a:srgbClr val="FFFFFF"/>
            </a:solidFill>
            <a:ln w="9525">
              <a:solidFill>
                <a:srgbClr val="000000"/>
              </a:solidFill>
              <a:miter lim="800000"/>
              <a:headEnd/>
              <a:tailEnd/>
            </a:ln>
          </p:spPr>
          <p:txBody>
            <a:bodyPr lIns="0" tIns="0" rIns="0" bIns="36000"/>
            <a:lstStyle/>
            <a:p>
              <a:pPr algn="ctr" eaLnBrk="1" hangingPunct="1"/>
              <a:r>
                <a:rPr lang="zh-CN" altLang="en-US" b="1" dirty="0">
                  <a:latin typeface="微软雅黑" panose="020B0503020204020204" pitchFamily="34" charset="-122"/>
                  <a:ea typeface="微软雅黑" panose="020B0503020204020204" pitchFamily="34" charset="-122"/>
                </a:rPr>
                <a:t>中断响应</a:t>
              </a:r>
            </a:p>
          </p:txBody>
        </p:sp>
        <p:sp>
          <p:nvSpPr>
            <p:cNvPr id="12306" name="Text Box 18"/>
            <p:cNvSpPr txBox="1">
              <a:spLocks noChangeArrowheads="1"/>
            </p:cNvSpPr>
            <p:nvPr/>
          </p:nvSpPr>
          <p:spPr bwMode="auto">
            <a:xfrm>
              <a:off x="5768" y="6771"/>
              <a:ext cx="1303" cy="266"/>
            </a:xfrm>
            <a:prstGeom prst="rect">
              <a:avLst/>
            </a:prstGeom>
            <a:solidFill>
              <a:srgbClr val="FFFFFF"/>
            </a:solidFill>
            <a:ln w="9525">
              <a:solidFill>
                <a:srgbClr val="000000"/>
              </a:solidFill>
              <a:miter lim="800000"/>
              <a:headEnd/>
              <a:tailEnd/>
            </a:ln>
          </p:spPr>
          <p:txBody>
            <a:bodyPr lIns="0" tIns="0" rIns="0" bIns="0"/>
            <a:lstStyle/>
            <a:p>
              <a:pPr algn="ctr" eaLnBrk="1" hangingPunct="1"/>
              <a:r>
                <a:rPr lang="zh-CN" altLang="en-US" b="1">
                  <a:latin typeface="微软雅黑" panose="020B0503020204020204" pitchFamily="34" charset="-122"/>
                  <a:ea typeface="微软雅黑" panose="020B0503020204020204" pitchFamily="34" charset="-122"/>
                </a:rPr>
                <a:t>中断源识别</a:t>
              </a:r>
            </a:p>
          </p:txBody>
        </p:sp>
        <p:sp>
          <p:nvSpPr>
            <p:cNvPr id="12307" name="Text Box 19"/>
            <p:cNvSpPr txBox="1">
              <a:spLocks noChangeArrowheads="1"/>
            </p:cNvSpPr>
            <p:nvPr/>
          </p:nvSpPr>
          <p:spPr bwMode="auto">
            <a:xfrm>
              <a:off x="5768" y="7303"/>
              <a:ext cx="1303" cy="266"/>
            </a:xfrm>
            <a:prstGeom prst="rect">
              <a:avLst/>
            </a:prstGeom>
            <a:solidFill>
              <a:srgbClr val="FFFFFF"/>
            </a:solidFill>
            <a:ln w="9525">
              <a:solidFill>
                <a:srgbClr val="000000"/>
              </a:solidFill>
              <a:miter lim="800000"/>
              <a:headEnd/>
              <a:tailEnd/>
            </a:ln>
          </p:spPr>
          <p:txBody>
            <a:bodyPr lIns="0" tIns="0" rIns="0" bIns="0"/>
            <a:lstStyle/>
            <a:p>
              <a:pPr algn="ctr" eaLnBrk="1" hangingPunct="1"/>
              <a:r>
                <a:rPr lang="zh-CN" altLang="en-US" b="1">
                  <a:latin typeface="微软雅黑" panose="020B0503020204020204" pitchFamily="34" charset="-122"/>
                  <a:ea typeface="微软雅黑" panose="020B0503020204020204" pitchFamily="34" charset="-122"/>
                </a:rPr>
                <a:t>中断服务</a:t>
              </a:r>
            </a:p>
          </p:txBody>
        </p:sp>
        <p:sp>
          <p:nvSpPr>
            <p:cNvPr id="12308" name="Text Box 20"/>
            <p:cNvSpPr txBox="1">
              <a:spLocks noChangeArrowheads="1"/>
            </p:cNvSpPr>
            <p:nvPr/>
          </p:nvSpPr>
          <p:spPr bwMode="auto">
            <a:xfrm>
              <a:off x="5768" y="7835"/>
              <a:ext cx="1303" cy="266"/>
            </a:xfrm>
            <a:prstGeom prst="rect">
              <a:avLst/>
            </a:prstGeom>
            <a:solidFill>
              <a:srgbClr val="FFFFFF"/>
            </a:solidFill>
            <a:ln w="9525">
              <a:solidFill>
                <a:srgbClr val="000000"/>
              </a:solidFill>
              <a:miter lim="800000"/>
              <a:headEnd/>
              <a:tailEnd/>
            </a:ln>
          </p:spPr>
          <p:txBody>
            <a:bodyPr lIns="0" tIns="0" rIns="0" bIns="0"/>
            <a:lstStyle/>
            <a:p>
              <a:pPr algn="ctr" eaLnBrk="1" hangingPunct="1"/>
              <a:r>
                <a:rPr lang="zh-CN" altLang="en-US" b="1">
                  <a:latin typeface="微软雅黑" panose="020B0503020204020204" pitchFamily="34" charset="-122"/>
                  <a:ea typeface="微软雅黑" panose="020B0503020204020204" pitchFamily="34" charset="-122"/>
                </a:rPr>
                <a:t>中断返回</a:t>
              </a:r>
            </a:p>
          </p:txBody>
        </p:sp>
        <p:sp>
          <p:nvSpPr>
            <p:cNvPr id="12309" name="Line 21"/>
            <p:cNvSpPr>
              <a:spLocks noChangeShapeType="1"/>
            </p:cNvSpPr>
            <p:nvPr/>
          </p:nvSpPr>
          <p:spPr bwMode="auto">
            <a:xfrm>
              <a:off x="6420" y="6505"/>
              <a:ext cx="2" cy="266"/>
            </a:xfrm>
            <a:prstGeom prst="line">
              <a:avLst/>
            </a:prstGeom>
            <a:noFill/>
            <a:ln w="9525">
              <a:solidFill>
                <a:srgbClr val="000000"/>
              </a:solidFill>
              <a:round/>
              <a:headEnd/>
              <a:tailEnd type="triangle" w="med" len="med"/>
            </a:ln>
          </p:spPr>
          <p:txBody>
            <a:bodyPr/>
            <a:lstStyle/>
            <a:p>
              <a:endParaRPr lang="zh-CN" altLang="en-US"/>
            </a:p>
          </p:txBody>
        </p:sp>
        <p:sp>
          <p:nvSpPr>
            <p:cNvPr id="12310" name="Line 22"/>
            <p:cNvSpPr>
              <a:spLocks noChangeShapeType="1"/>
            </p:cNvSpPr>
            <p:nvPr/>
          </p:nvSpPr>
          <p:spPr bwMode="auto">
            <a:xfrm>
              <a:off x="6420" y="7037"/>
              <a:ext cx="2" cy="266"/>
            </a:xfrm>
            <a:prstGeom prst="line">
              <a:avLst/>
            </a:prstGeom>
            <a:noFill/>
            <a:ln w="9525">
              <a:solidFill>
                <a:srgbClr val="000000"/>
              </a:solidFill>
              <a:round/>
              <a:headEnd/>
              <a:tailEnd type="triangle" w="med" len="med"/>
            </a:ln>
          </p:spPr>
          <p:txBody>
            <a:bodyPr/>
            <a:lstStyle/>
            <a:p>
              <a:endParaRPr lang="zh-CN" altLang="en-US"/>
            </a:p>
          </p:txBody>
        </p:sp>
        <p:sp>
          <p:nvSpPr>
            <p:cNvPr id="12311" name="Line 23"/>
            <p:cNvSpPr>
              <a:spLocks noChangeShapeType="1"/>
            </p:cNvSpPr>
            <p:nvPr/>
          </p:nvSpPr>
          <p:spPr bwMode="auto">
            <a:xfrm>
              <a:off x="6420" y="7569"/>
              <a:ext cx="2" cy="266"/>
            </a:xfrm>
            <a:prstGeom prst="line">
              <a:avLst/>
            </a:prstGeom>
            <a:noFill/>
            <a:ln w="9525">
              <a:solidFill>
                <a:srgbClr val="000000"/>
              </a:solidFill>
              <a:round/>
              <a:headEnd/>
              <a:tailEnd type="triangle" w="med" len="med"/>
            </a:ln>
          </p:spPr>
          <p:txBody>
            <a:bodyPr/>
            <a:lstStyle/>
            <a:p>
              <a:endParaRPr lang="zh-CN" altLang="en-US"/>
            </a:p>
          </p:txBody>
        </p:sp>
        <p:sp>
          <p:nvSpPr>
            <p:cNvPr id="12312" name="Line 24"/>
            <p:cNvSpPr>
              <a:spLocks noChangeShapeType="1"/>
            </p:cNvSpPr>
            <p:nvPr/>
          </p:nvSpPr>
          <p:spPr bwMode="auto">
            <a:xfrm>
              <a:off x="6420" y="8101"/>
              <a:ext cx="2" cy="266"/>
            </a:xfrm>
            <a:prstGeom prst="line">
              <a:avLst/>
            </a:prstGeom>
            <a:noFill/>
            <a:ln w="9525">
              <a:solidFill>
                <a:srgbClr val="000000"/>
              </a:solidFill>
              <a:round/>
              <a:headEnd/>
              <a:tailEnd type="triangle" w="med" len="med"/>
            </a:ln>
          </p:spPr>
          <p:txBody>
            <a:bodyPr/>
            <a:lstStyle/>
            <a:p>
              <a:endParaRPr lang="zh-CN" altLang="en-US"/>
            </a:p>
          </p:txBody>
        </p:sp>
        <p:sp>
          <p:nvSpPr>
            <p:cNvPr id="12313" name="Line 25"/>
            <p:cNvSpPr>
              <a:spLocks noChangeShapeType="1"/>
            </p:cNvSpPr>
            <p:nvPr/>
          </p:nvSpPr>
          <p:spPr bwMode="auto">
            <a:xfrm>
              <a:off x="5303" y="8367"/>
              <a:ext cx="1117" cy="1"/>
            </a:xfrm>
            <a:prstGeom prst="line">
              <a:avLst/>
            </a:prstGeom>
            <a:noFill/>
            <a:ln w="9525">
              <a:solidFill>
                <a:srgbClr val="000000"/>
              </a:solidFill>
              <a:round/>
              <a:headEnd/>
              <a:tailEnd/>
            </a:ln>
          </p:spPr>
          <p:txBody>
            <a:bodyPr/>
            <a:lstStyle/>
            <a:p>
              <a:endParaRPr lang="zh-CN" altLang="en-US"/>
            </a:p>
          </p:txBody>
        </p:sp>
        <p:sp>
          <p:nvSpPr>
            <p:cNvPr id="12314" name="Freeform 26"/>
            <p:cNvSpPr>
              <a:spLocks/>
            </p:cNvSpPr>
            <p:nvPr/>
          </p:nvSpPr>
          <p:spPr bwMode="auto">
            <a:xfrm>
              <a:off x="3912" y="7669"/>
              <a:ext cx="1384" cy="1"/>
            </a:xfrm>
            <a:custGeom>
              <a:avLst/>
              <a:gdLst>
                <a:gd name="T0" fmla="*/ 692 w 1590"/>
                <a:gd name="T1" fmla="*/ 0 h 1"/>
                <a:gd name="T2" fmla="*/ 0 w 1590"/>
                <a:gd name="T3" fmla="*/ 0 h 1"/>
                <a:gd name="T4" fmla="*/ 0 60000 65536"/>
                <a:gd name="T5" fmla="*/ 0 60000 65536"/>
                <a:gd name="T6" fmla="*/ 0 w 1590"/>
                <a:gd name="T7" fmla="*/ 0 h 1"/>
                <a:gd name="T8" fmla="*/ 1590 w 1590"/>
                <a:gd name="T9" fmla="*/ 1 h 1"/>
              </a:gdLst>
              <a:ahLst/>
              <a:cxnLst>
                <a:cxn ang="T4">
                  <a:pos x="T0" y="T1"/>
                </a:cxn>
                <a:cxn ang="T5">
                  <a:pos x="T2" y="T3"/>
                </a:cxn>
              </a:cxnLst>
              <a:rect l="T6" t="T7" r="T8" b="T9"/>
              <a:pathLst>
                <a:path w="1590" h="1">
                  <a:moveTo>
                    <a:pt x="1590" y="0"/>
                  </a:moveTo>
                  <a:lnTo>
                    <a:pt x="0" y="0"/>
                  </a:lnTo>
                </a:path>
              </a:pathLst>
            </a:custGeom>
            <a:noFill/>
            <a:ln w="9525">
              <a:solidFill>
                <a:srgbClr val="000000"/>
              </a:solidFill>
              <a:round/>
              <a:headEnd type="none" w="med" len="med"/>
              <a:tailEnd type="triangle" w="med" len="med"/>
            </a:ln>
          </p:spPr>
          <p:txBody>
            <a:bodyPr/>
            <a:lstStyle/>
            <a:p>
              <a:endParaRPr lang="zh-CN" altLang="en-US"/>
            </a:p>
          </p:txBody>
        </p:sp>
        <p:sp>
          <p:nvSpPr>
            <p:cNvPr id="12315" name="Freeform 27"/>
            <p:cNvSpPr>
              <a:spLocks/>
            </p:cNvSpPr>
            <p:nvPr/>
          </p:nvSpPr>
          <p:spPr bwMode="auto">
            <a:xfrm>
              <a:off x="5296" y="7682"/>
              <a:ext cx="7" cy="685"/>
            </a:xfrm>
            <a:custGeom>
              <a:avLst/>
              <a:gdLst>
                <a:gd name="T0" fmla="*/ 4 w 8"/>
                <a:gd name="T1" fmla="*/ 351 h 783"/>
                <a:gd name="T2" fmla="*/ 0 w 8"/>
                <a:gd name="T3" fmla="*/ 0 h 783"/>
                <a:gd name="T4" fmla="*/ 0 60000 65536"/>
                <a:gd name="T5" fmla="*/ 0 60000 65536"/>
                <a:gd name="T6" fmla="*/ 0 w 8"/>
                <a:gd name="T7" fmla="*/ 0 h 783"/>
                <a:gd name="T8" fmla="*/ 8 w 8"/>
                <a:gd name="T9" fmla="*/ 783 h 783"/>
              </a:gdLst>
              <a:ahLst/>
              <a:cxnLst>
                <a:cxn ang="T4">
                  <a:pos x="T0" y="T1"/>
                </a:cxn>
                <a:cxn ang="T5">
                  <a:pos x="T2" y="T3"/>
                </a:cxn>
              </a:cxnLst>
              <a:rect l="T6" t="T7" r="T8" b="T9"/>
              <a:pathLst>
                <a:path w="8" h="783">
                  <a:moveTo>
                    <a:pt x="8" y="783"/>
                  </a:moveTo>
                  <a:lnTo>
                    <a:pt x="0" y="0"/>
                  </a:lnTo>
                </a:path>
              </a:pathLst>
            </a:custGeom>
            <a:noFill/>
            <a:ln w="9525">
              <a:solidFill>
                <a:srgbClr val="000000"/>
              </a:solidFill>
              <a:round/>
              <a:headEnd type="none" w="med" len="med"/>
              <a:tailEnd type="none" w="med" len="med"/>
            </a:ln>
          </p:spPr>
          <p:txBody>
            <a:bodyPr/>
            <a:lstStyle/>
            <a:p>
              <a:endParaRPr lang="zh-CN" altLang="en-US"/>
            </a:p>
          </p:txBody>
        </p:sp>
        <p:sp>
          <p:nvSpPr>
            <p:cNvPr id="12316" name="Text Box 28"/>
            <p:cNvSpPr txBox="1">
              <a:spLocks noChangeArrowheads="1"/>
            </p:cNvSpPr>
            <p:nvPr/>
          </p:nvSpPr>
          <p:spPr bwMode="auto">
            <a:xfrm>
              <a:off x="4744" y="6904"/>
              <a:ext cx="187" cy="247"/>
            </a:xfrm>
            <a:prstGeom prst="rect">
              <a:avLst/>
            </a:prstGeom>
            <a:solidFill>
              <a:srgbClr val="FFFFFF"/>
            </a:solidFill>
            <a:ln w="9525">
              <a:noFill/>
              <a:miter lim="800000"/>
              <a:headEnd/>
              <a:tailEnd/>
            </a:ln>
          </p:spPr>
          <p:txBody>
            <a:bodyPr lIns="0" tIns="0" rIns="0" bIns="0"/>
            <a:lstStyle/>
            <a:p>
              <a:pPr algn="just" eaLnBrk="1" hangingPunct="1"/>
              <a:r>
                <a:rPr lang="en-US" altLang="zh-CN" b="1">
                  <a:latin typeface="微软雅黑" panose="020B0503020204020204" pitchFamily="34" charset="-122"/>
                  <a:ea typeface="微软雅黑" panose="020B0503020204020204" pitchFamily="34" charset="-122"/>
                </a:rPr>
                <a:t>Y</a:t>
              </a:r>
            </a:p>
          </p:txBody>
        </p:sp>
        <p:sp>
          <p:nvSpPr>
            <p:cNvPr id="12317" name="Text Box 29"/>
            <p:cNvSpPr txBox="1">
              <a:spLocks noChangeArrowheads="1"/>
            </p:cNvSpPr>
            <p:nvPr/>
          </p:nvSpPr>
          <p:spPr bwMode="auto">
            <a:xfrm>
              <a:off x="3626" y="7569"/>
              <a:ext cx="189" cy="247"/>
            </a:xfrm>
            <a:prstGeom prst="rect">
              <a:avLst/>
            </a:prstGeom>
            <a:solidFill>
              <a:srgbClr val="FFFFFF"/>
            </a:solidFill>
            <a:ln w="9525">
              <a:noFill/>
              <a:miter lim="800000"/>
              <a:headEnd/>
              <a:tailEnd/>
            </a:ln>
          </p:spPr>
          <p:txBody>
            <a:bodyPr lIns="0" tIns="0" rIns="0" bIns="0"/>
            <a:lstStyle/>
            <a:p>
              <a:pPr algn="just" eaLnBrk="1" hangingPunct="1"/>
              <a:r>
                <a:rPr lang="en-US" altLang="zh-CN" b="1">
                  <a:latin typeface="微软雅黑" panose="020B0503020204020204" pitchFamily="34" charset="-122"/>
                  <a:ea typeface="微软雅黑" panose="020B0503020204020204" pitchFamily="34" charset="-122"/>
                </a:rPr>
                <a:t>N</a:t>
              </a:r>
            </a:p>
          </p:txBody>
        </p:sp>
        <p:sp>
          <p:nvSpPr>
            <p:cNvPr id="12318" name="AutoShape 30"/>
            <p:cNvSpPr>
              <a:spLocks/>
            </p:cNvSpPr>
            <p:nvPr/>
          </p:nvSpPr>
          <p:spPr bwMode="auto">
            <a:xfrm>
              <a:off x="7259" y="6239"/>
              <a:ext cx="92" cy="1862"/>
            </a:xfrm>
            <a:prstGeom prst="rightBrace">
              <a:avLst>
                <a:gd name="adj1" fmla="val 168659"/>
                <a:gd name="adj2" fmla="val 50000"/>
              </a:avLst>
            </a:prstGeom>
            <a:noFill/>
            <a:ln w="9525">
              <a:solidFill>
                <a:srgbClr val="000000"/>
              </a:solidFill>
              <a:round/>
              <a:headEnd/>
              <a:tailEnd/>
            </a:ln>
          </p:spPr>
          <p:txBody>
            <a:bodyPr/>
            <a:lstStyle/>
            <a:p>
              <a:pPr eaLnBrk="1" hangingPunct="1"/>
              <a:endParaRPr lang="zh-CN" altLang="en-US"/>
            </a:p>
          </p:txBody>
        </p:sp>
        <p:sp>
          <p:nvSpPr>
            <p:cNvPr id="12319" name="Text Box 31"/>
            <p:cNvSpPr txBox="1">
              <a:spLocks noChangeArrowheads="1"/>
            </p:cNvSpPr>
            <p:nvPr/>
          </p:nvSpPr>
          <p:spPr bwMode="auto">
            <a:xfrm>
              <a:off x="7444" y="6638"/>
              <a:ext cx="280" cy="1197"/>
            </a:xfrm>
            <a:prstGeom prst="rect">
              <a:avLst/>
            </a:prstGeom>
            <a:solidFill>
              <a:srgbClr val="FFFFFF"/>
            </a:solidFill>
            <a:ln w="9525">
              <a:noFill/>
              <a:miter lim="800000"/>
              <a:headEnd/>
              <a:tailEnd/>
            </a:ln>
          </p:spPr>
          <p:txBody>
            <a:bodyPr lIns="0" tIns="0" rIns="0" bIns="0"/>
            <a:lstStyle/>
            <a:p>
              <a:pPr algn="just" eaLnBrk="1" hangingPunct="1"/>
              <a:r>
                <a:rPr lang="zh-CN" altLang="en-US" b="1">
                  <a:latin typeface="微软雅黑" panose="020B0503020204020204" pitchFamily="34" charset="-122"/>
                  <a:ea typeface="微软雅黑" panose="020B0503020204020204" pitchFamily="34" charset="-122"/>
                </a:rPr>
                <a:t>中断处理</a:t>
              </a:r>
            </a:p>
          </p:txBody>
        </p:sp>
      </p:grpSp>
      <p:sp>
        <p:nvSpPr>
          <p:cNvPr id="32" name="内容占位符 2"/>
          <p:cNvSpPr txBox="1">
            <a:spLocks/>
          </p:cNvSpPr>
          <p:nvPr/>
        </p:nvSpPr>
        <p:spPr>
          <a:xfrm>
            <a:off x="1310185" y="2006220"/>
            <a:ext cx="9635319" cy="3862317"/>
          </a:xfrm>
          <a:prstGeom prst="rect">
            <a:avLst/>
          </a:prstGeom>
          <a:ln w="28575">
            <a:solidFill>
              <a:srgbClr val="01C0B0"/>
            </a:solidFill>
          </a:ln>
        </p:spPr>
        <p:txBody>
          <a:bodyPr vert="horz" lIns="91440" tIns="45720" rIns="91440" bIns="45720" rtlCol="0">
            <a:no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None/>
              <a:tabLst/>
              <a:defRPr/>
            </a:pPr>
            <a:r>
              <a:rPr kumimoji="0" lang="en-US" altLang="zh-CN" sz="2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endPar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nvGrpSpPr>
          <p:cNvPr id="33" name="组合 3"/>
          <p:cNvGrpSpPr/>
          <p:nvPr/>
        </p:nvGrpSpPr>
        <p:grpSpPr>
          <a:xfrm>
            <a:off x="430074" y="381451"/>
            <a:ext cx="438352" cy="645578"/>
            <a:chOff x="265635" y="269251"/>
            <a:chExt cx="438352" cy="621987"/>
          </a:xfrm>
        </p:grpSpPr>
        <p:sp>
          <p:nvSpPr>
            <p:cNvPr id="34"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5"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6"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152891" y="54059"/>
            <a:ext cx="10515600" cy="1325563"/>
          </a:xfrm>
        </p:spPr>
        <p:txBody>
          <a:bodyPr vert="horz" lIns="91440" tIns="45720" rIns="91440" bIns="45720" rtlCol="0" anchor="ctr">
            <a:normAutofit/>
          </a:bodyPr>
          <a:lstStyle/>
          <a:p>
            <a:r>
              <a:rPr lang="zh-CN" altLang="en-US" sz="3200" b="1" dirty="0">
                <a:latin typeface="微软雅黑" panose="020B0503020204020204" pitchFamily="34" charset="-122"/>
                <a:ea typeface="微软雅黑" panose="020B0503020204020204" pitchFamily="34" charset="-122"/>
              </a:rPr>
              <a:t>中断请求的建立</a:t>
            </a:r>
          </a:p>
        </p:txBody>
      </p:sp>
      <p:sp>
        <p:nvSpPr>
          <p:cNvPr id="13315" name="Rectangle 3"/>
          <p:cNvSpPr>
            <a:spLocks noGrp="1" noChangeArrowheads="1"/>
          </p:cNvSpPr>
          <p:nvPr>
            <p:ph type="body" idx="1"/>
          </p:nvPr>
        </p:nvSpPr>
        <p:spPr>
          <a:xfrm>
            <a:off x="1152891" y="1086134"/>
            <a:ext cx="11247967" cy="838200"/>
          </a:xfrm>
        </p:spPr>
        <p:txBody>
          <a:bodyPr vert="horz" lIns="91440" tIns="45720" rIns="91440" bIns="45720" rtlCol="0" anchor="ctr">
            <a:normAutofit/>
          </a:bodyPr>
          <a:lstStyle/>
          <a:p>
            <a:pPr>
              <a:spcBef>
                <a:spcPct val="0"/>
              </a:spcBef>
              <a:buNone/>
            </a:pPr>
            <a:r>
              <a:rPr lang="zh-CN" altLang="en-US" b="1" dirty="0">
                <a:latin typeface="微软雅黑" panose="020B0503020204020204" pitchFamily="34" charset="-122"/>
                <a:ea typeface="微软雅黑" panose="020B0503020204020204" pitchFamily="34" charset="-122"/>
                <a:cs typeface="+mj-cs"/>
              </a:rPr>
              <a:t>中断请求和中断屏蔽</a:t>
            </a:r>
            <a:endParaRPr lang="en-US" altLang="zh-CN" b="1" dirty="0">
              <a:latin typeface="微软雅黑" panose="020B0503020204020204" pitchFamily="34" charset="-122"/>
              <a:ea typeface="微软雅黑" panose="020B0503020204020204" pitchFamily="34" charset="-122"/>
              <a:cs typeface="+mj-cs"/>
            </a:endParaRPr>
          </a:p>
        </p:txBody>
      </p:sp>
      <p:sp>
        <p:nvSpPr>
          <p:cNvPr id="13316" name="Rectangle 4"/>
          <p:cNvSpPr>
            <a:spLocks noChangeArrowheads="1"/>
          </p:cNvSpPr>
          <p:nvPr/>
        </p:nvSpPr>
        <p:spPr bwMode="auto">
          <a:xfrm>
            <a:off x="0" y="2590800"/>
            <a:ext cx="184731" cy="369332"/>
          </a:xfrm>
          <a:prstGeom prst="rect">
            <a:avLst/>
          </a:prstGeom>
          <a:noFill/>
          <a:ln w="9525">
            <a:noFill/>
            <a:miter lim="800000"/>
            <a:headEnd/>
            <a:tailEnd/>
          </a:ln>
        </p:spPr>
        <p:txBody>
          <a:bodyPr wrap="none" anchor="ctr">
            <a:spAutoFit/>
          </a:bodyPr>
          <a:lstStyle/>
          <a:p>
            <a:pPr eaLnBrk="1" hangingPunct="1"/>
            <a:endParaRPr lang="zh-CN" altLang="en-US"/>
          </a:p>
        </p:txBody>
      </p:sp>
      <p:graphicFrame>
        <p:nvGraphicFramePr>
          <p:cNvPr id="13317" name="Object 5"/>
          <p:cNvGraphicFramePr>
            <a:graphicFrameLocks noChangeAspect="1"/>
          </p:cNvGraphicFramePr>
          <p:nvPr>
            <p:extLst>
              <p:ext uri="{D42A27DB-BD31-4B8C-83A1-F6EECF244321}">
                <p14:modId xmlns:p14="http://schemas.microsoft.com/office/powerpoint/2010/main" val="1011227208"/>
              </p:ext>
            </p:extLst>
          </p:nvPr>
        </p:nvGraphicFramePr>
        <p:xfrm>
          <a:off x="2058254" y="2276475"/>
          <a:ext cx="8291744" cy="2963863"/>
        </p:xfrm>
        <a:graphic>
          <a:graphicData uri="http://schemas.openxmlformats.org/presentationml/2006/ole">
            <mc:AlternateContent xmlns:mc="http://schemas.openxmlformats.org/markup-compatibility/2006">
              <mc:Choice xmlns:v="urn:schemas-microsoft-com:vml" Requires="v">
                <p:oleObj spid="_x0000_s61462" name="Visio" r:id="rId3" imgW="4438802" imgH="1678534" progId="Visio.Drawing.11">
                  <p:embed/>
                </p:oleObj>
              </mc:Choice>
              <mc:Fallback>
                <p:oleObj name="Visio" r:id="rId3" imgW="4438802" imgH="1678534" progId="Visio.Drawing.11">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8254" y="2276475"/>
                        <a:ext cx="8291744" cy="2963863"/>
                      </a:xfrm>
                      <a:prstGeom prst="rect">
                        <a:avLst/>
                      </a:prstGeom>
                      <a:noFill/>
                    </p:spPr>
                  </p:pic>
                </p:oleObj>
              </mc:Fallback>
            </mc:AlternateContent>
          </a:graphicData>
        </a:graphic>
      </p:graphicFrame>
      <p:sp>
        <p:nvSpPr>
          <p:cNvPr id="13318" name="矩形 5"/>
          <p:cNvSpPr>
            <a:spLocks noChangeArrowheads="1"/>
          </p:cNvSpPr>
          <p:nvPr/>
        </p:nvSpPr>
        <p:spPr bwMode="auto">
          <a:xfrm>
            <a:off x="3400559" y="3559622"/>
            <a:ext cx="1248833" cy="584775"/>
          </a:xfrm>
          <a:prstGeom prst="rect">
            <a:avLst/>
          </a:prstGeom>
          <a:noFill/>
          <a:ln w="9525">
            <a:noFill/>
            <a:miter lim="800000"/>
            <a:headEnd/>
            <a:tailEnd/>
          </a:ln>
        </p:spPr>
        <p:txBody>
          <a:bodyPr>
            <a:spAutoFit/>
          </a:bodyPr>
          <a:lstStyle/>
          <a:p>
            <a:pPr algn="ctr" eaLnBrk="1" hangingPunct="1"/>
            <a:r>
              <a:rPr lang="zh-CN" altLang="en-US" sz="1600" b="1" dirty="0">
                <a:solidFill>
                  <a:srgbClr val="FF0000"/>
                </a:solidFill>
                <a:latin typeface="微软雅黑" panose="020B0503020204020204" pitchFamily="34" charset="-122"/>
                <a:ea typeface="微软雅黑" panose="020B0503020204020204" pitchFamily="34" charset="-122"/>
              </a:rPr>
              <a:t>中断请求</a:t>
            </a:r>
            <a:endParaRPr lang="en-US" altLang="zh-CN" sz="1600" b="1" dirty="0">
              <a:solidFill>
                <a:srgbClr val="FF0000"/>
              </a:solidFill>
              <a:latin typeface="微软雅黑" panose="020B0503020204020204" pitchFamily="34" charset="-122"/>
              <a:ea typeface="微软雅黑" panose="020B0503020204020204" pitchFamily="34" charset="-122"/>
            </a:endParaRPr>
          </a:p>
          <a:p>
            <a:pPr algn="ctr" eaLnBrk="1" hangingPunct="1"/>
            <a:r>
              <a:rPr lang="zh-CN" altLang="en-US" sz="1600" b="1" dirty="0">
                <a:solidFill>
                  <a:srgbClr val="FF0000"/>
                </a:solidFill>
                <a:latin typeface="微软雅黑" panose="020B0503020204020204" pitchFamily="34" charset="-122"/>
                <a:ea typeface="微软雅黑" panose="020B0503020204020204" pitchFamily="34" charset="-122"/>
              </a:rPr>
              <a:t>触发器</a:t>
            </a:r>
          </a:p>
        </p:txBody>
      </p:sp>
      <p:sp>
        <p:nvSpPr>
          <p:cNvPr id="13319" name="矩形 5"/>
          <p:cNvSpPr>
            <a:spLocks noChangeArrowheads="1"/>
          </p:cNvSpPr>
          <p:nvPr/>
        </p:nvSpPr>
        <p:spPr bwMode="auto">
          <a:xfrm>
            <a:off x="8364513" y="3758407"/>
            <a:ext cx="1250949" cy="584775"/>
          </a:xfrm>
          <a:prstGeom prst="rect">
            <a:avLst/>
          </a:prstGeom>
          <a:noFill/>
          <a:ln w="9525">
            <a:noFill/>
            <a:miter lim="800000"/>
            <a:headEnd/>
            <a:tailEnd/>
          </a:ln>
        </p:spPr>
        <p:txBody>
          <a:bodyPr>
            <a:spAutoFit/>
          </a:bodyPr>
          <a:lstStyle/>
          <a:p>
            <a:pPr algn="ctr" eaLnBrk="1" hangingPunct="1"/>
            <a:r>
              <a:rPr lang="zh-CN" altLang="en-US" sz="1600" b="1" dirty="0">
                <a:solidFill>
                  <a:srgbClr val="FF0000"/>
                </a:solidFill>
                <a:latin typeface="微软雅黑" panose="020B0503020204020204" pitchFamily="34" charset="-122"/>
                <a:ea typeface="微软雅黑" panose="020B0503020204020204" pitchFamily="34" charset="-122"/>
              </a:rPr>
              <a:t>中断屏蔽</a:t>
            </a:r>
            <a:endParaRPr lang="en-US" altLang="zh-CN" sz="1600" b="1" dirty="0">
              <a:solidFill>
                <a:srgbClr val="FF0000"/>
              </a:solidFill>
              <a:latin typeface="微软雅黑" panose="020B0503020204020204" pitchFamily="34" charset="-122"/>
              <a:ea typeface="微软雅黑" panose="020B0503020204020204" pitchFamily="34" charset="-122"/>
            </a:endParaRPr>
          </a:p>
          <a:p>
            <a:pPr algn="ctr" eaLnBrk="1" hangingPunct="1"/>
            <a:r>
              <a:rPr lang="zh-CN" altLang="en-US" sz="1600" b="1" dirty="0">
                <a:solidFill>
                  <a:srgbClr val="FF0000"/>
                </a:solidFill>
                <a:latin typeface="微软雅黑" panose="020B0503020204020204" pitchFamily="34" charset="-122"/>
                <a:ea typeface="微软雅黑" panose="020B0503020204020204" pitchFamily="34" charset="-122"/>
              </a:rPr>
              <a:t>触发器</a:t>
            </a:r>
          </a:p>
        </p:txBody>
      </p:sp>
      <p:sp>
        <p:nvSpPr>
          <p:cNvPr id="8" name="内容占位符 2"/>
          <p:cNvSpPr txBox="1">
            <a:spLocks/>
          </p:cNvSpPr>
          <p:nvPr/>
        </p:nvSpPr>
        <p:spPr>
          <a:xfrm>
            <a:off x="417740" y="1924334"/>
            <a:ext cx="11414869" cy="3916908"/>
          </a:xfrm>
          <a:prstGeom prst="rect">
            <a:avLst/>
          </a:prstGeom>
          <a:ln w="28575">
            <a:solidFill>
              <a:srgbClr val="01C0B0"/>
            </a:solidFill>
          </a:ln>
        </p:spPr>
        <p:txBody>
          <a:bodyPr vert="horz" lIns="91440" tIns="45720" rIns="91440" bIns="45720" rtlCol="0">
            <a:no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None/>
              <a:tabLst/>
              <a:defRPr/>
            </a:pPr>
            <a:r>
              <a:rPr kumimoji="0" lang="en-US" altLang="zh-CN" sz="2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endPar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nvGrpSpPr>
          <p:cNvPr id="9" name="组合 3"/>
          <p:cNvGrpSpPr/>
          <p:nvPr/>
        </p:nvGrpSpPr>
        <p:grpSpPr>
          <a:xfrm>
            <a:off x="522679" y="347940"/>
            <a:ext cx="438352" cy="645578"/>
            <a:chOff x="265635" y="269251"/>
            <a:chExt cx="438352" cy="621987"/>
          </a:xfrm>
        </p:grpSpPr>
        <p:sp>
          <p:nvSpPr>
            <p:cNvPr id="10"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75773" y="275535"/>
            <a:ext cx="5974331" cy="584541"/>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200" b="1">
                <a:latin typeface="微软雅黑" panose="020B0503020204020204" pitchFamily="34" charset="-122"/>
                <a:ea typeface="微软雅黑" panose="020B0503020204020204" pitchFamily="34" charset="-122"/>
                <a:cs typeface="+mj-cs"/>
              </a:defRPr>
            </a:lvl1pPr>
          </a:lstStyle>
          <a:p>
            <a:r>
              <a:rPr lang="zh-CN" altLang="en-US" dirty="0"/>
              <a:t>中断响应</a:t>
            </a:r>
          </a:p>
        </p:txBody>
      </p:sp>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69" name="Line 5"/>
          <p:cNvSpPr>
            <a:spLocks noChangeShapeType="1"/>
          </p:cNvSpPr>
          <p:nvPr/>
        </p:nvSpPr>
        <p:spPr bwMode="auto">
          <a:xfrm>
            <a:off x="1293308" y="1600897"/>
            <a:ext cx="0" cy="5255767"/>
          </a:xfrm>
          <a:prstGeom prst="line">
            <a:avLst/>
          </a:prstGeom>
          <a:noFill/>
          <a:ln w="12700" cap="flat">
            <a:solidFill>
              <a:srgbClr val="2E2C2C"/>
            </a:solidFill>
            <a:prstDash val="solid"/>
            <a:miter lim="800000"/>
            <a:headEnd/>
            <a:tailEn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72" name="Freeform 9"/>
          <p:cNvSpPr>
            <a:spLocks/>
          </p:cNvSpPr>
          <p:nvPr/>
        </p:nvSpPr>
        <p:spPr bwMode="auto">
          <a:xfrm>
            <a:off x="1629727" y="1521550"/>
            <a:ext cx="165036" cy="207882"/>
          </a:xfrm>
          <a:custGeom>
            <a:avLst/>
            <a:gdLst>
              <a:gd name="T0" fmla="*/ 184 w 205"/>
              <a:gd name="T1" fmla="*/ 109 h 262"/>
              <a:gd name="T2" fmla="*/ 109 w 205"/>
              <a:gd name="T3" fmla="*/ 61 h 262"/>
              <a:gd name="T4" fmla="*/ 32 w 205"/>
              <a:gd name="T5" fmla="*/ 11 h 262"/>
              <a:gd name="T6" fmla="*/ 0 w 205"/>
              <a:gd name="T7" fmla="*/ 34 h 262"/>
              <a:gd name="T8" fmla="*/ 0 w 205"/>
              <a:gd name="T9" fmla="*/ 131 h 262"/>
              <a:gd name="T10" fmla="*/ 0 w 205"/>
              <a:gd name="T11" fmla="*/ 230 h 262"/>
              <a:gd name="T12" fmla="*/ 34 w 205"/>
              <a:gd name="T13" fmla="*/ 250 h 262"/>
              <a:gd name="T14" fmla="*/ 109 w 205"/>
              <a:gd name="T15" fmla="*/ 202 h 262"/>
              <a:gd name="T16" fmla="*/ 186 w 205"/>
              <a:gd name="T17" fmla="*/ 152 h 262"/>
              <a:gd name="T18" fmla="*/ 184 w 205"/>
              <a:gd name="T19" fmla="*/ 10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2">
                <a:moveTo>
                  <a:pt x="184" y="109"/>
                </a:moveTo>
                <a:lnTo>
                  <a:pt x="109" y="61"/>
                </a:lnTo>
                <a:cubicBezTo>
                  <a:pt x="83" y="44"/>
                  <a:pt x="58" y="28"/>
                  <a:pt x="32" y="11"/>
                </a:cubicBezTo>
                <a:cubicBezTo>
                  <a:pt x="11" y="0"/>
                  <a:pt x="0" y="9"/>
                  <a:pt x="0" y="34"/>
                </a:cubicBezTo>
                <a:lnTo>
                  <a:pt x="0" y="131"/>
                </a:lnTo>
                <a:cubicBezTo>
                  <a:pt x="0" y="164"/>
                  <a:pt x="0" y="197"/>
                  <a:pt x="0" y="230"/>
                </a:cubicBezTo>
                <a:cubicBezTo>
                  <a:pt x="2" y="256"/>
                  <a:pt x="14" y="262"/>
                  <a:pt x="34" y="250"/>
                </a:cubicBezTo>
                <a:lnTo>
                  <a:pt x="109" y="202"/>
                </a:lnTo>
                <a:cubicBezTo>
                  <a:pt x="135" y="185"/>
                  <a:pt x="160" y="169"/>
                  <a:pt x="186" y="152"/>
                </a:cubicBezTo>
                <a:cubicBezTo>
                  <a:pt x="205" y="137"/>
                  <a:pt x="203" y="122"/>
                  <a:pt x="184" y="109"/>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3" name="Freeform 11"/>
          <p:cNvSpPr>
            <a:spLocks/>
          </p:cNvSpPr>
          <p:nvPr/>
        </p:nvSpPr>
        <p:spPr bwMode="auto">
          <a:xfrm>
            <a:off x="1707158" y="3963961"/>
            <a:ext cx="165036" cy="206294"/>
          </a:xfrm>
          <a:custGeom>
            <a:avLst/>
            <a:gdLst>
              <a:gd name="T0" fmla="*/ 184 w 205"/>
              <a:gd name="T1" fmla="*/ 108 h 261"/>
              <a:gd name="T2" fmla="*/ 109 w 205"/>
              <a:gd name="T3" fmla="*/ 60 h 261"/>
              <a:gd name="T4" fmla="*/ 32 w 205"/>
              <a:gd name="T5" fmla="*/ 10 h 261"/>
              <a:gd name="T6" fmla="*/ 0 w 205"/>
              <a:gd name="T7" fmla="*/ 33 h 261"/>
              <a:gd name="T8" fmla="*/ 0 w 205"/>
              <a:gd name="T9" fmla="*/ 130 h 261"/>
              <a:gd name="T10" fmla="*/ 0 w 205"/>
              <a:gd name="T11" fmla="*/ 229 h 261"/>
              <a:gd name="T12" fmla="*/ 34 w 205"/>
              <a:gd name="T13" fmla="*/ 249 h 261"/>
              <a:gd name="T14" fmla="*/ 109 w 205"/>
              <a:gd name="T15" fmla="*/ 201 h 261"/>
              <a:gd name="T16" fmla="*/ 186 w 205"/>
              <a:gd name="T17" fmla="*/ 151 h 261"/>
              <a:gd name="T18" fmla="*/ 184 w 205"/>
              <a:gd name="T19" fmla="*/ 108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1">
                <a:moveTo>
                  <a:pt x="184" y="108"/>
                </a:moveTo>
                <a:lnTo>
                  <a:pt x="109" y="60"/>
                </a:lnTo>
                <a:cubicBezTo>
                  <a:pt x="83" y="43"/>
                  <a:pt x="58" y="27"/>
                  <a:pt x="32" y="10"/>
                </a:cubicBezTo>
                <a:cubicBezTo>
                  <a:pt x="11" y="0"/>
                  <a:pt x="0" y="8"/>
                  <a:pt x="0" y="33"/>
                </a:cubicBezTo>
                <a:lnTo>
                  <a:pt x="0" y="130"/>
                </a:lnTo>
                <a:cubicBezTo>
                  <a:pt x="0" y="163"/>
                  <a:pt x="0" y="196"/>
                  <a:pt x="0" y="229"/>
                </a:cubicBezTo>
                <a:cubicBezTo>
                  <a:pt x="2" y="255"/>
                  <a:pt x="14" y="261"/>
                  <a:pt x="34" y="249"/>
                </a:cubicBezTo>
                <a:lnTo>
                  <a:pt x="109" y="201"/>
                </a:lnTo>
                <a:cubicBezTo>
                  <a:pt x="135" y="184"/>
                  <a:pt x="160" y="168"/>
                  <a:pt x="186" y="151"/>
                </a:cubicBezTo>
                <a:cubicBezTo>
                  <a:pt x="205" y="136"/>
                  <a:pt x="203" y="122"/>
                  <a:pt x="184" y="108"/>
                </a:cubicBezTo>
                <a:close/>
              </a:path>
            </a:pathLst>
          </a:cu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nvGrpSpPr>
          <p:cNvPr id="74" name="组合 73"/>
          <p:cNvGrpSpPr/>
          <p:nvPr/>
        </p:nvGrpSpPr>
        <p:grpSpPr>
          <a:xfrm>
            <a:off x="912405" y="1349701"/>
            <a:ext cx="717324" cy="523092"/>
            <a:chOff x="912759" y="1007596"/>
            <a:chExt cx="717604" cy="523296"/>
          </a:xfrm>
        </p:grpSpPr>
        <p:sp>
          <p:nvSpPr>
            <p:cNvPr id="75" name="Freeform 8"/>
            <p:cNvSpPr>
              <a:spLocks/>
            </p:cNvSpPr>
            <p:nvPr/>
          </p:nvSpPr>
          <p:spPr bwMode="auto">
            <a:xfrm>
              <a:off x="985838" y="1052513"/>
              <a:ext cx="615950" cy="433387"/>
            </a:xfrm>
            <a:custGeom>
              <a:avLst/>
              <a:gdLst>
                <a:gd name="T0" fmla="*/ 43 w 764"/>
                <a:gd name="T1" fmla="*/ 0 h 549"/>
                <a:gd name="T2" fmla="*/ 721 w 764"/>
                <a:gd name="T3" fmla="*/ 0 h 549"/>
                <a:gd name="T4" fmla="*/ 764 w 764"/>
                <a:gd name="T5" fmla="*/ 43 h 549"/>
                <a:gd name="T6" fmla="*/ 764 w 764"/>
                <a:gd name="T7" fmla="*/ 506 h 549"/>
                <a:gd name="T8" fmla="*/ 721 w 764"/>
                <a:gd name="T9" fmla="*/ 549 h 549"/>
                <a:gd name="T10" fmla="*/ 43 w 764"/>
                <a:gd name="T11" fmla="*/ 549 h 549"/>
                <a:gd name="T12" fmla="*/ 0 w 764"/>
                <a:gd name="T13" fmla="*/ 506 h 549"/>
                <a:gd name="T14" fmla="*/ 0 w 764"/>
                <a:gd name="T15" fmla="*/ 43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3"/>
                  </a:cubicBezTo>
                  <a:lnTo>
                    <a:pt x="764" y="506"/>
                  </a:lnTo>
                  <a:cubicBezTo>
                    <a:pt x="764" y="530"/>
                    <a:pt x="744" y="549"/>
                    <a:pt x="721" y="549"/>
                  </a:cubicBezTo>
                  <a:lnTo>
                    <a:pt x="43" y="549"/>
                  </a:lnTo>
                  <a:cubicBezTo>
                    <a:pt x="20" y="549"/>
                    <a:pt x="0" y="530"/>
                    <a:pt x="0" y="506"/>
                  </a:cubicBezTo>
                  <a:lnTo>
                    <a:pt x="0" y="43"/>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76" name="TextBox 75"/>
            <p:cNvSpPr txBox="1"/>
            <p:nvPr/>
          </p:nvSpPr>
          <p:spPr>
            <a:xfrm>
              <a:off x="912759" y="1007596"/>
              <a:ext cx="717604" cy="523296"/>
            </a:xfrm>
            <a:prstGeom prst="rect">
              <a:avLst/>
            </a:prstGeom>
            <a:solidFill>
              <a:srgbClr val="01C0B0"/>
            </a:solidFill>
          </p:spPr>
          <p:txBody>
            <a:bodyPr wrap="square" rtlCol="0">
              <a:spAutoFit/>
            </a:bodyPr>
            <a:lstStyle/>
            <a:p>
              <a:pPr algn="ctr"/>
              <a:r>
                <a:rPr lang="en-US" altLang="zh-CN" sz="2799" dirty="0">
                  <a:solidFill>
                    <a:schemeClr val="bg1"/>
                  </a:solidFill>
                  <a:latin typeface="+mn-ea"/>
                </a:rPr>
                <a:t>01</a:t>
              </a:r>
              <a:endParaRPr lang="zh-CN" altLang="en-US" sz="2799" dirty="0">
                <a:solidFill>
                  <a:schemeClr val="bg1"/>
                </a:solidFill>
                <a:latin typeface="+mn-ea"/>
              </a:endParaRPr>
            </a:p>
          </p:txBody>
        </p:sp>
      </p:grpSp>
      <p:sp>
        <p:nvSpPr>
          <p:cNvPr id="77" name="矩形 76"/>
          <p:cNvSpPr/>
          <p:nvPr/>
        </p:nvSpPr>
        <p:spPr>
          <a:xfrm>
            <a:off x="2010632" y="1353258"/>
            <a:ext cx="8319723" cy="523178"/>
          </a:xfrm>
          <a:prstGeom prst="rect">
            <a:avLst/>
          </a:prstGeom>
        </p:spPr>
        <p:txBody>
          <a:bodyPr wrap="square" lIns="91398" tIns="45699" rIns="91398" bIns="45699">
            <a:spAutoFit/>
          </a:bodyPr>
          <a:lstStyle/>
          <a:p>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两种状态：</a:t>
            </a:r>
            <a:endParaRPr lang="en-US" altLang="zh-CN" sz="2800" b="1" dirty="0">
              <a:latin typeface="微软雅黑" panose="020B0503020204020204" pitchFamily="34" charset="-122"/>
              <a:ea typeface="微软雅黑" panose="020B0503020204020204" pitchFamily="34" charset="-122"/>
            </a:endParaRPr>
          </a:p>
        </p:txBody>
      </p:sp>
      <p:sp>
        <p:nvSpPr>
          <p:cNvPr id="78" name="矩形 77"/>
          <p:cNvSpPr/>
          <p:nvPr/>
        </p:nvSpPr>
        <p:spPr>
          <a:xfrm>
            <a:off x="2010632" y="3835424"/>
            <a:ext cx="8724961" cy="523178"/>
          </a:xfrm>
          <a:prstGeom prst="rect">
            <a:avLst/>
          </a:prstGeom>
        </p:spPr>
        <p:txBody>
          <a:bodyPr wrap="square" lIns="91398" tIns="45699" rIns="91398" bIns="45699">
            <a:spAutoFit/>
          </a:bodyPr>
          <a:lstStyle/>
          <a:p>
            <a:r>
              <a:rPr lang="zh-CN" altLang="en-US" sz="2800" b="1" dirty="0">
                <a:latin typeface="微软雅黑" panose="020B0503020204020204" pitchFamily="34" charset="-122"/>
                <a:ea typeface="微软雅黑" panose="020B0503020204020204" pitchFamily="34" charset="-122"/>
              </a:rPr>
              <a:t>一旦</a:t>
            </a:r>
            <a:r>
              <a:rPr lang="en-US" altLang="zh-CN" sz="2800" b="1" dirty="0">
                <a:latin typeface="微软雅黑" panose="020B0503020204020204" pitchFamily="34" charset="-122"/>
                <a:ea typeface="微软雅黑" panose="020B0503020204020204" pitchFamily="34" charset="-122"/>
              </a:rPr>
              <a:t>CPU </a:t>
            </a:r>
            <a:r>
              <a:rPr lang="zh-CN" altLang="en-US" sz="2800" b="1" dirty="0">
                <a:latin typeface="微软雅黑" panose="020B0503020204020204" pitchFamily="34" charset="-122"/>
                <a:ea typeface="微软雅黑" panose="020B0503020204020204" pitchFamily="34" charset="-122"/>
              </a:rPr>
              <a:t>响应了中断，便进入中断响应周期。  </a:t>
            </a:r>
          </a:p>
        </p:txBody>
      </p:sp>
      <p:grpSp>
        <p:nvGrpSpPr>
          <p:cNvPr id="79" name="组合 78"/>
          <p:cNvGrpSpPr/>
          <p:nvPr/>
        </p:nvGrpSpPr>
        <p:grpSpPr>
          <a:xfrm>
            <a:off x="989836" y="3801463"/>
            <a:ext cx="717324" cy="523092"/>
            <a:chOff x="912759" y="1884191"/>
            <a:chExt cx="717604" cy="523296"/>
          </a:xfrm>
        </p:grpSpPr>
        <p:sp>
          <p:nvSpPr>
            <p:cNvPr id="80" name="Freeform 10"/>
            <p:cNvSpPr>
              <a:spLocks/>
            </p:cNvSpPr>
            <p:nvPr/>
          </p:nvSpPr>
          <p:spPr bwMode="auto">
            <a:xfrm>
              <a:off x="985838" y="1918165"/>
              <a:ext cx="615950" cy="433387"/>
            </a:xfrm>
            <a:custGeom>
              <a:avLst/>
              <a:gdLst>
                <a:gd name="T0" fmla="*/ 43 w 764"/>
                <a:gd name="T1" fmla="*/ 0 h 549"/>
                <a:gd name="T2" fmla="*/ 721 w 764"/>
                <a:gd name="T3" fmla="*/ 0 h 549"/>
                <a:gd name="T4" fmla="*/ 764 w 764"/>
                <a:gd name="T5" fmla="*/ 44 h 549"/>
                <a:gd name="T6" fmla="*/ 764 w 764"/>
                <a:gd name="T7" fmla="*/ 506 h 549"/>
                <a:gd name="T8" fmla="*/ 721 w 764"/>
                <a:gd name="T9" fmla="*/ 549 h 549"/>
                <a:gd name="T10" fmla="*/ 43 w 764"/>
                <a:gd name="T11" fmla="*/ 549 h 549"/>
                <a:gd name="T12" fmla="*/ 0 w 764"/>
                <a:gd name="T13" fmla="*/ 506 h 549"/>
                <a:gd name="T14" fmla="*/ 0 w 764"/>
                <a:gd name="T15" fmla="*/ 44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4"/>
                  </a:cubicBezTo>
                  <a:lnTo>
                    <a:pt x="764" y="506"/>
                  </a:lnTo>
                  <a:cubicBezTo>
                    <a:pt x="764" y="530"/>
                    <a:pt x="744" y="549"/>
                    <a:pt x="721" y="549"/>
                  </a:cubicBezTo>
                  <a:lnTo>
                    <a:pt x="43" y="549"/>
                  </a:lnTo>
                  <a:cubicBezTo>
                    <a:pt x="20" y="549"/>
                    <a:pt x="0" y="530"/>
                    <a:pt x="0" y="506"/>
                  </a:cubicBezTo>
                  <a:lnTo>
                    <a:pt x="0" y="44"/>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81" name="TextBox 80"/>
            <p:cNvSpPr txBox="1"/>
            <p:nvPr/>
          </p:nvSpPr>
          <p:spPr>
            <a:xfrm>
              <a:off x="912759" y="1884191"/>
              <a:ext cx="717604" cy="523296"/>
            </a:xfrm>
            <a:prstGeom prst="rect">
              <a:avLst/>
            </a:prstGeom>
            <a:solidFill>
              <a:srgbClr val="92D050"/>
            </a:solidFill>
          </p:spPr>
          <p:txBody>
            <a:bodyPr wrap="square" rtlCol="0">
              <a:spAutoFit/>
            </a:bodyPr>
            <a:lstStyle/>
            <a:p>
              <a:pPr algn="ctr"/>
              <a:r>
                <a:rPr lang="en-US" altLang="zh-CN" sz="2799" dirty="0">
                  <a:solidFill>
                    <a:schemeClr val="bg1"/>
                  </a:solidFill>
                  <a:latin typeface="+mn-ea"/>
                </a:rPr>
                <a:t>02</a:t>
              </a:r>
              <a:endParaRPr lang="zh-CN" altLang="en-US" sz="2799" dirty="0">
                <a:solidFill>
                  <a:schemeClr val="bg1"/>
                </a:solidFill>
                <a:latin typeface="+mn-ea"/>
              </a:endParaRPr>
            </a:p>
          </p:txBody>
        </p:sp>
      </p:grpSp>
      <p:sp>
        <p:nvSpPr>
          <p:cNvPr id="90" name="Oval 6"/>
          <p:cNvSpPr>
            <a:spLocks noChangeArrowheads="1"/>
          </p:cNvSpPr>
          <p:nvPr/>
        </p:nvSpPr>
        <p:spPr bwMode="auto">
          <a:xfrm>
            <a:off x="1180339" y="2252188"/>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91" name="Oval 7"/>
          <p:cNvSpPr>
            <a:spLocks noChangeArrowheads="1"/>
          </p:cNvSpPr>
          <p:nvPr/>
        </p:nvSpPr>
        <p:spPr bwMode="auto">
          <a:xfrm>
            <a:off x="1180339" y="3001893"/>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92" name="矩形 91"/>
          <p:cNvSpPr/>
          <p:nvPr/>
        </p:nvSpPr>
        <p:spPr>
          <a:xfrm>
            <a:off x="1531340" y="2108029"/>
            <a:ext cx="9629397" cy="523178"/>
          </a:xfrm>
          <a:prstGeom prst="rect">
            <a:avLst/>
          </a:prstGeom>
        </p:spPr>
        <p:txBody>
          <a:bodyPr wrap="square" lIns="91398" tIns="45699" rIns="91398" bIns="45699">
            <a:spAutoFit/>
          </a:bodyPr>
          <a:lstStyle/>
          <a:p>
            <a:pPr lvl="1"/>
            <a:r>
              <a:rPr lang="zh-CN" altLang="en-US" sz="2800" b="1" dirty="0">
                <a:latin typeface="微软雅黑" panose="020B0503020204020204" pitchFamily="34" charset="-122"/>
                <a:ea typeface="微软雅黑" panose="020B0503020204020204" pitchFamily="34" charset="-122"/>
              </a:rPr>
              <a:t>中断允许：对来自中断请求线上的中断请求进行响应；</a:t>
            </a:r>
            <a:endParaRPr lang="en-US" altLang="zh-CN" sz="2800" b="1" dirty="0">
              <a:latin typeface="微软雅黑" panose="020B0503020204020204" pitchFamily="34" charset="-122"/>
              <a:ea typeface="微软雅黑" panose="020B0503020204020204" pitchFamily="34" charset="-122"/>
            </a:endParaRPr>
          </a:p>
        </p:txBody>
      </p:sp>
      <p:sp>
        <p:nvSpPr>
          <p:cNvPr id="93" name="矩形 92"/>
          <p:cNvSpPr/>
          <p:nvPr/>
        </p:nvSpPr>
        <p:spPr>
          <a:xfrm>
            <a:off x="1531340" y="2824312"/>
            <a:ext cx="9629397" cy="523178"/>
          </a:xfrm>
          <a:prstGeom prst="rect">
            <a:avLst/>
          </a:prstGeom>
        </p:spPr>
        <p:txBody>
          <a:bodyPr wrap="square" lIns="91398" tIns="45699" rIns="91398" bIns="45699">
            <a:spAutoFit/>
          </a:bodyPr>
          <a:lstStyle/>
          <a:p>
            <a:pPr lvl="1"/>
            <a:r>
              <a:rPr lang="zh-CN" altLang="en-US" sz="2800" b="1" dirty="0">
                <a:latin typeface="微软雅黑" panose="020B0503020204020204" pitchFamily="34" charset="-122"/>
                <a:ea typeface="微软雅黑" panose="020B0503020204020204" pitchFamily="34" charset="-122"/>
              </a:rPr>
              <a:t>中断禁止：对来自中断请求线上的中断请求不予响应。</a:t>
            </a:r>
            <a:endParaRPr lang="en-US" altLang="zh-CN" sz="2800" b="1" dirty="0">
              <a:latin typeface="微软雅黑" panose="020B0503020204020204" pitchFamily="34" charset="-122"/>
              <a:ea typeface="微软雅黑" panose="020B0503020204020204" pitchFamily="34" charset="-122"/>
            </a:endParaRPr>
          </a:p>
        </p:txBody>
      </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Tree>
    <p:extLst>
      <p:ext uri="{BB962C8B-B14F-4D97-AF65-F5344CB8AC3E}">
        <p14:creationId xmlns:p14="http://schemas.microsoft.com/office/powerpoint/2010/main" val="3384014627"/>
      </p:ext>
    </p:extLst>
  </p:cSld>
  <p:clrMapOvr>
    <a:masterClrMapping/>
  </p:clrMapOvr>
  <mc:AlternateContent xmlns:mc="http://schemas.openxmlformats.org/markup-compatibility/2006" xmlns:p14="http://schemas.microsoft.com/office/powerpoint/2010/main">
    <mc:Choice Requires="p14">
      <p:transition spd="slow" p14:dur="1300" advTm="0">
        <p14:pan dir="u"/>
      </p:transition>
    </mc:Choice>
    <mc:Fallback xmlns="">
      <p:transition spd="slow" advTm="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57133" y="251609"/>
            <a:ext cx="10515600" cy="1325563"/>
          </a:xfrm>
        </p:spPr>
        <p:txBody>
          <a:bodyPr vert="horz" lIns="91440" tIns="45720" rIns="91440" bIns="45720" rtlCol="0" anchor="ctr">
            <a:normAutofit/>
          </a:bodyPr>
          <a:lstStyle/>
          <a:p>
            <a:r>
              <a:rPr lang="zh-CN" altLang="en-US" sz="3200" b="1" dirty="0">
                <a:latin typeface="微软雅黑" panose="020B0503020204020204" pitchFamily="34" charset="-122"/>
                <a:ea typeface="微软雅黑" panose="020B0503020204020204" pitchFamily="34" charset="-122"/>
              </a:rPr>
              <a:t>在中断响应周期里，中断系统主要完成以下三项功能</a:t>
            </a:r>
            <a:endParaRPr lang="en-US" altLang="zh-CN" sz="3200" b="1" dirty="0">
              <a:latin typeface="微软雅黑" panose="020B0503020204020204" pitchFamily="34" charset="-122"/>
              <a:ea typeface="微软雅黑" panose="020B0503020204020204" pitchFamily="34" charset="-122"/>
            </a:endParaRPr>
          </a:p>
        </p:txBody>
      </p:sp>
      <p:sp>
        <p:nvSpPr>
          <p:cNvPr id="8195" name="Rectangle 3"/>
          <p:cNvSpPr>
            <a:spLocks noGrp="1" noChangeArrowheads="1"/>
          </p:cNvSpPr>
          <p:nvPr>
            <p:ph type="body" idx="1"/>
          </p:nvPr>
        </p:nvSpPr>
        <p:spPr>
          <a:xfrm>
            <a:off x="1234266" y="2099901"/>
            <a:ext cx="8837784" cy="1448515"/>
          </a:xfrm>
        </p:spPr>
        <p:txBody>
          <a:bodyPr>
            <a:normAutofit/>
          </a:bodyPr>
          <a:lstStyle/>
          <a:p>
            <a:pPr lvl="1">
              <a:buNone/>
            </a:pPr>
            <a:r>
              <a:rPr lang="zh-CN" altLang="en-US" sz="2800" b="1" dirty="0">
                <a:latin typeface="微软雅黑" panose="020B0503020204020204" pitchFamily="34" charset="-122"/>
                <a:ea typeface="微软雅黑" panose="020B0503020204020204" pitchFamily="34" charset="-122"/>
              </a:rPr>
              <a:t>关中断和保护断点 </a:t>
            </a:r>
          </a:p>
          <a:p>
            <a:pPr marL="0" indent="0" eaLnBrk="1" hangingPunct="1">
              <a:lnSpc>
                <a:spcPct val="150000"/>
              </a:lnSpc>
              <a:buNone/>
            </a:pPr>
            <a:endParaRPr lang="en-US" altLang="zh-CN" b="1" dirty="0">
              <a:latin typeface="微软雅黑" panose="020B0503020204020204" pitchFamily="34" charset="-122"/>
              <a:ea typeface="微软雅黑" panose="020B0503020204020204" pitchFamily="34" charset="-122"/>
            </a:endParaRPr>
          </a:p>
          <a:p>
            <a:pPr marL="0" indent="0" eaLnBrk="1" hangingPunct="1">
              <a:lnSpc>
                <a:spcPct val="150000"/>
              </a:lnSpc>
              <a:buNone/>
            </a:pPr>
            <a:endParaRPr lang="en-US" altLang="zh-CN" b="1" dirty="0">
              <a:latin typeface="微软雅黑" panose="020B0503020204020204" pitchFamily="34" charset="-122"/>
              <a:ea typeface="微软雅黑" panose="020B0503020204020204" pitchFamily="34" charset="-122"/>
            </a:endParaRPr>
          </a:p>
        </p:txBody>
      </p:sp>
      <p:grpSp>
        <p:nvGrpSpPr>
          <p:cNvPr id="3" name="组合 3"/>
          <p:cNvGrpSpPr/>
          <p:nvPr/>
        </p:nvGrpSpPr>
        <p:grpSpPr>
          <a:xfrm>
            <a:off x="456704" y="596797"/>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Freeform 14"/>
          <p:cNvSpPr>
            <a:spLocks/>
          </p:cNvSpPr>
          <p:nvPr/>
        </p:nvSpPr>
        <p:spPr bwMode="auto">
          <a:xfrm>
            <a:off x="745582" y="2054847"/>
            <a:ext cx="646909" cy="64648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solidFill>
                <a:schemeClr val="accent1"/>
              </a:solidFill>
            </a:endParaRPr>
          </a:p>
        </p:txBody>
      </p:sp>
      <p:sp>
        <p:nvSpPr>
          <p:cNvPr id="9" name="Freeform 14"/>
          <p:cNvSpPr>
            <a:spLocks/>
          </p:cNvSpPr>
          <p:nvPr/>
        </p:nvSpPr>
        <p:spPr bwMode="auto">
          <a:xfrm>
            <a:off x="759229" y="3297206"/>
            <a:ext cx="646909" cy="64648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FFC000"/>
          </a:solidFill>
          <a:ln>
            <a:noFill/>
          </a:ln>
        </p:spPr>
        <p:txBody>
          <a:bodyPr vert="horz" wrap="square" lIns="91398" tIns="45699" rIns="91398" bIns="45699" numCol="1" anchor="t" anchorCtr="0" compatLnSpc="1">
            <a:prstTxWarp prst="textNoShape">
              <a:avLst/>
            </a:prstTxWarp>
          </a:bodyPr>
          <a:lstStyle/>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zh-CN" altLang="en-US" sz="1799" dirty="0">
              <a:solidFill>
                <a:schemeClr val="accent1"/>
              </a:solidFill>
            </a:endParaRPr>
          </a:p>
        </p:txBody>
      </p:sp>
      <p:sp>
        <p:nvSpPr>
          <p:cNvPr id="10" name="文本框 9"/>
          <p:cNvSpPr txBox="1"/>
          <p:nvPr/>
        </p:nvSpPr>
        <p:spPr>
          <a:xfrm>
            <a:off x="915283" y="2116477"/>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847705" y="3317895"/>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834303" y="4865760"/>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1736307" y="3168788"/>
            <a:ext cx="9127314" cy="2677656"/>
          </a:xfrm>
          <a:prstGeom prst="rect">
            <a:avLst/>
          </a:prstGeom>
        </p:spPr>
        <p:txBody>
          <a:bodyPr wrap="square">
            <a:spAutoFit/>
          </a:bodyPr>
          <a:lstStyle/>
          <a:p>
            <a:pPr marL="0" lvl="1">
              <a:lnSpc>
                <a:spcPct val="150000"/>
              </a:lnSpc>
            </a:pPr>
            <a:r>
              <a:rPr lang="zh-CN" altLang="en-US" sz="2800" b="1" dirty="0">
                <a:latin typeface="微软雅黑" panose="020B0503020204020204" pitchFamily="34" charset="-122"/>
                <a:ea typeface="微软雅黑" panose="020B0503020204020204" pitchFamily="34" charset="-122"/>
              </a:rPr>
              <a:t>进行中断源的识别工作</a:t>
            </a:r>
            <a:endParaRPr lang="en-US" altLang="zh-CN"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a:lnSpc>
                <a:spcPct val="150000"/>
              </a:lnSpc>
            </a:pPr>
            <a:endParaRPr lang="zh-CN" altLang="en-US" sz="2800" b="1" dirty="0">
              <a:latin typeface="微软雅黑" panose="020B0503020204020204" pitchFamily="34" charset="-122"/>
              <a:ea typeface="微软雅黑" panose="020B0503020204020204" pitchFamily="34" charset="-122"/>
            </a:endParaRPr>
          </a:p>
        </p:txBody>
      </p:sp>
      <p:sp>
        <p:nvSpPr>
          <p:cNvPr id="15" name="矩形 14"/>
          <p:cNvSpPr/>
          <p:nvPr/>
        </p:nvSpPr>
        <p:spPr>
          <a:xfrm>
            <a:off x="1752229" y="4439651"/>
            <a:ext cx="9127314" cy="3323987"/>
          </a:xfrm>
          <a:prstGeom prst="rect">
            <a:avLst/>
          </a:prstGeom>
        </p:spPr>
        <p:txBody>
          <a:bodyPr wrap="square">
            <a:spAutoFit/>
          </a:bodyPr>
          <a:lstStyle/>
          <a:p>
            <a:pPr marL="0" lvl="1">
              <a:lnSpc>
                <a:spcPct val="150000"/>
              </a:lnSpc>
            </a:pPr>
            <a:r>
              <a:rPr lang="zh-CN" altLang="en-US" sz="2800" b="1" dirty="0">
                <a:latin typeface="微软雅黑" panose="020B0503020204020204" pitchFamily="34" charset="-122"/>
                <a:ea typeface="微软雅黑" panose="020B0503020204020204" pitchFamily="34" charset="-122"/>
              </a:rPr>
              <a:t>形成中断源中断服务程序的入口地址  </a:t>
            </a:r>
          </a:p>
          <a:p>
            <a:pPr marL="0" lvl="1">
              <a:lnSpc>
                <a:spcPct val="150000"/>
              </a:lnSpc>
            </a:pPr>
            <a:endParaRPr lang="en-US" altLang="zh-CN"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a:lnSpc>
                <a:spcPct val="150000"/>
              </a:lnSpc>
            </a:pPr>
            <a:endParaRPr lang="zh-CN" altLang="en-US" sz="2800" b="1" dirty="0">
              <a:latin typeface="微软雅黑" panose="020B0503020204020204" pitchFamily="34" charset="-122"/>
              <a:ea typeface="微软雅黑" panose="020B0503020204020204" pitchFamily="34" charset="-122"/>
            </a:endParaRPr>
          </a:p>
        </p:txBody>
      </p:sp>
      <p:sp>
        <p:nvSpPr>
          <p:cNvPr id="16" name="Freeform 14"/>
          <p:cNvSpPr>
            <a:spLocks/>
          </p:cNvSpPr>
          <p:nvPr/>
        </p:nvSpPr>
        <p:spPr bwMode="auto">
          <a:xfrm>
            <a:off x="775152" y="4517409"/>
            <a:ext cx="646909" cy="65685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chemeClr val="accent2"/>
          </a:solidFill>
          <a:ln>
            <a:noFill/>
          </a:ln>
        </p:spPr>
        <p:txBody>
          <a:bodyPr vert="horz" wrap="square" lIns="91398" tIns="45699" rIns="91398" bIns="45699" numCol="1" anchor="t" anchorCtr="0" compatLnSpc="1">
            <a:prstTxWarp prst="textNoShape">
              <a:avLst/>
            </a:prstTxWarp>
          </a:bodyPr>
          <a:lstStyle/>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zh-CN" altLang="en-US" sz="1799" dirty="0">
              <a:solidFill>
                <a:schemeClr val="accent1"/>
              </a:solidFill>
            </a:endParaRPr>
          </a:p>
        </p:txBody>
      </p:sp>
      <p:sp>
        <p:nvSpPr>
          <p:cNvPr id="17" name="文本框 10"/>
          <p:cNvSpPr txBox="1"/>
          <p:nvPr/>
        </p:nvSpPr>
        <p:spPr>
          <a:xfrm>
            <a:off x="904570" y="4585648"/>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7396408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75773" y="276427"/>
            <a:ext cx="5974331" cy="584541"/>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200" b="1">
                <a:latin typeface="微软雅黑" panose="020B0503020204020204" pitchFamily="34" charset="-122"/>
                <a:ea typeface="微软雅黑" panose="020B0503020204020204" pitchFamily="34" charset="-122"/>
                <a:cs typeface="+mj-cs"/>
              </a:defRPr>
            </a:lvl1pPr>
          </a:lstStyle>
          <a:p>
            <a:r>
              <a:rPr lang="zh-CN" altLang="en-US" dirty="0"/>
              <a:t>中断源识别</a:t>
            </a:r>
          </a:p>
        </p:txBody>
      </p:sp>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Oval 5"/>
          <p:cNvSpPr>
            <a:spLocks noChangeArrowheads="1"/>
          </p:cNvSpPr>
          <p:nvPr/>
        </p:nvSpPr>
        <p:spPr bwMode="auto">
          <a:xfrm>
            <a:off x="1296642" y="1714509"/>
            <a:ext cx="1573899" cy="1563688"/>
          </a:xfrm>
          <a:prstGeom prst="ellipse">
            <a:avLst/>
          </a:prstGeom>
          <a:solidFill>
            <a:srgbClr val="04B0BE"/>
          </a:solidFill>
          <a:ln w="38100" cap="flat">
            <a:solidFill>
              <a:srgbClr val="04B0BE"/>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6"/>
          <p:cNvSpPr>
            <a:spLocks noChangeArrowheads="1"/>
          </p:cNvSpPr>
          <p:nvPr/>
        </p:nvSpPr>
        <p:spPr bwMode="auto">
          <a:xfrm>
            <a:off x="9478729" y="4313924"/>
            <a:ext cx="1573899" cy="1563688"/>
          </a:xfrm>
          <a:prstGeom prst="ellipse">
            <a:avLst/>
          </a:prstGeom>
          <a:solidFill>
            <a:srgbClr val="FFC000"/>
          </a:solidFill>
          <a:ln w="38100" cap="flat">
            <a:solidFill>
              <a:srgbClr val="FFC000"/>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10"/>
          <p:cNvSpPr>
            <a:spLocks noEditPoints="1"/>
          </p:cNvSpPr>
          <p:nvPr/>
        </p:nvSpPr>
        <p:spPr bwMode="auto">
          <a:xfrm>
            <a:off x="2962272" y="2323015"/>
            <a:ext cx="365303" cy="362962"/>
          </a:xfrm>
          <a:custGeom>
            <a:avLst/>
            <a:gdLst>
              <a:gd name="T0" fmla="*/ 173 w 346"/>
              <a:gd name="T1" fmla="*/ 0 h 346"/>
              <a:gd name="T2" fmla="*/ 346 w 346"/>
              <a:gd name="T3" fmla="*/ 173 h 346"/>
              <a:gd name="T4" fmla="*/ 173 w 346"/>
              <a:gd name="T5" fmla="*/ 346 h 346"/>
              <a:gd name="T6" fmla="*/ 0 w 346"/>
              <a:gd name="T7" fmla="*/ 173 h 346"/>
              <a:gd name="T8" fmla="*/ 173 w 346"/>
              <a:gd name="T9" fmla="*/ 0 h 346"/>
              <a:gd name="T10" fmla="*/ 277 w 346"/>
              <a:gd name="T11" fmla="*/ 176 h 346"/>
              <a:gd name="T12" fmla="*/ 204 w 346"/>
              <a:gd name="T13" fmla="*/ 218 h 346"/>
              <a:gd name="T14" fmla="*/ 131 w 346"/>
              <a:gd name="T15" fmla="*/ 260 h 346"/>
              <a:gd name="T16" fmla="*/ 131 w 346"/>
              <a:gd name="T17" fmla="*/ 176 h 346"/>
              <a:gd name="T18" fmla="*/ 131 w 346"/>
              <a:gd name="T19" fmla="*/ 92 h 346"/>
              <a:gd name="T20" fmla="*/ 204 w 346"/>
              <a:gd name="T21" fmla="*/ 134 h 346"/>
              <a:gd name="T22" fmla="*/ 277 w 346"/>
              <a:gd name="T23" fmla="*/ 17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11"/>
          <p:cNvSpPr>
            <a:spLocks noEditPoints="1"/>
          </p:cNvSpPr>
          <p:nvPr/>
        </p:nvSpPr>
        <p:spPr bwMode="auto">
          <a:xfrm>
            <a:off x="9034245" y="4892040"/>
            <a:ext cx="365303" cy="362962"/>
          </a:xfrm>
          <a:custGeom>
            <a:avLst/>
            <a:gdLst>
              <a:gd name="T0" fmla="*/ 173 w 346"/>
              <a:gd name="T1" fmla="*/ 0 h 346"/>
              <a:gd name="T2" fmla="*/ 0 w 346"/>
              <a:gd name="T3" fmla="*/ 173 h 346"/>
              <a:gd name="T4" fmla="*/ 173 w 346"/>
              <a:gd name="T5" fmla="*/ 346 h 346"/>
              <a:gd name="T6" fmla="*/ 346 w 346"/>
              <a:gd name="T7" fmla="*/ 173 h 346"/>
              <a:gd name="T8" fmla="*/ 173 w 346"/>
              <a:gd name="T9" fmla="*/ 0 h 346"/>
              <a:gd name="T10" fmla="*/ 69 w 346"/>
              <a:gd name="T11" fmla="*/ 177 h 346"/>
              <a:gd name="T12" fmla="*/ 142 w 346"/>
              <a:gd name="T13" fmla="*/ 219 h 346"/>
              <a:gd name="T14" fmla="*/ 215 w 346"/>
              <a:gd name="T15" fmla="*/ 261 h 346"/>
              <a:gd name="T16" fmla="*/ 215 w 346"/>
              <a:gd name="T17" fmla="*/ 177 h 346"/>
              <a:gd name="T18" fmla="*/ 215 w 346"/>
              <a:gd name="T19" fmla="*/ 93 h 346"/>
              <a:gd name="T20" fmla="*/ 142 w 346"/>
              <a:gd name="T21" fmla="*/ 135 h 346"/>
              <a:gd name="T22" fmla="*/ 69 w 346"/>
              <a:gd name="T23" fmla="*/ 177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78" y="0"/>
                  <a:pt x="0" y="78"/>
                  <a:pt x="0" y="173"/>
                </a:cubicBezTo>
                <a:cubicBezTo>
                  <a:pt x="0" y="269"/>
                  <a:pt x="78" y="346"/>
                  <a:pt x="173" y="346"/>
                </a:cubicBezTo>
                <a:cubicBezTo>
                  <a:pt x="269" y="346"/>
                  <a:pt x="346" y="269"/>
                  <a:pt x="346" y="173"/>
                </a:cubicBezTo>
                <a:cubicBezTo>
                  <a:pt x="346" y="78"/>
                  <a:pt x="269" y="0"/>
                  <a:pt x="173" y="0"/>
                </a:cubicBezTo>
                <a:close/>
                <a:moveTo>
                  <a:pt x="69" y="177"/>
                </a:moveTo>
                <a:lnTo>
                  <a:pt x="142" y="219"/>
                </a:lnTo>
                <a:lnTo>
                  <a:pt x="215" y="261"/>
                </a:lnTo>
                <a:lnTo>
                  <a:pt x="215" y="177"/>
                </a:lnTo>
                <a:lnTo>
                  <a:pt x="215" y="93"/>
                </a:lnTo>
                <a:lnTo>
                  <a:pt x="142" y="135"/>
                </a:lnTo>
                <a:lnTo>
                  <a:pt x="69" y="177"/>
                </a:lnTo>
                <a:close/>
              </a:path>
            </a:pathLst>
          </a:cu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4" name="TextBox 13"/>
          <p:cNvSpPr txBox="1"/>
          <p:nvPr/>
        </p:nvSpPr>
        <p:spPr>
          <a:xfrm flipH="1">
            <a:off x="1533079" y="2034869"/>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01</a:t>
            </a:r>
          </a:p>
        </p:txBody>
      </p:sp>
      <p:sp>
        <p:nvSpPr>
          <p:cNvPr id="15" name="TextBox 14"/>
          <p:cNvSpPr txBox="1"/>
          <p:nvPr/>
        </p:nvSpPr>
        <p:spPr>
          <a:xfrm flipH="1">
            <a:off x="9723617" y="4634284"/>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02</a:t>
            </a:r>
          </a:p>
        </p:txBody>
      </p:sp>
      <p:sp>
        <p:nvSpPr>
          <p:cNvPr id="2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4" name="Rectangle 3"/>
          <p:cNvSpPr txBox="1">
            <a:spLocks noChangeArrowheads="1"/>
          </p:cNvSpPr>
          <p:nvPr/>
        </p:nvSpPr>
        <p:spPr>
          <a:xfrm>
            <a:off x="4043662" y="1764400"/>
            <a:ext cx="7831793" cy="14485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lnSpc>
                <a:spcPct val="150000"/>
              </a:lnSpc>
              <a:buFont typeface="Arial" panose="020B0604020202020204" pitchFamily="34" charset="0"/>
              <a:buNone/>
            </a:pPr>
            <a:r>
              <a:rPr lang="zh-CN" altLang="en-US" sz="2800" b="1" dirty="0">
                <a:latin typeface="微软雅黑" panose="020B0503020204020204" pitchFamily="34" charset="-122"/>
                <a:ea typeface="微软雅黑" panose="020B0503020204020204" pitchFamily="34" charset="-122"/>
              </a:rPr>
              <a:t>中断源识别的任务是确定某次中断响应具体该响应的是哪个中断源。</a:t>
            </a:r>
          </a:p>
          <a:p>
            <a:pPr marL="0" indent="0">
              <a:lnSpc>
                <a:spcPct val="150000"/>
              </a:lnSpc>
              <a:buFont typeface="Arial" panose="020B0604020202020204" pitchFamily="34" charset="0"/>
              <a:buNone/>
            </a:pPr>
            <a:endParaRPr lang="en-US" altLang="zh-CN" b="1" dirty="0">
              <a:latin typeface="微软雅黑" panose="020B0503020204020204" pitchFamily="34" charset="-122"/>
              <a:ea typeface="微软雅黑" panose="020B0503020204020204" pitchFamily="34" charset="-122"/>
            </a:endParaRPr>
          </a:p>
          <a:p>
            <a:pPr marL="0" indent="0">
              <a:lnSpc>
                <a:spcPct val="150000"/>
              </a:lnSpc>
              <a:buFont typeface="Arial" panose="020B0604020202020204" pitchFamily="34" charset="0"/>
              <a:buNone/>
            </a:pPr>
            <a:endParaRPr lang="en-US" altLang="zh-CN" b="1" dirty="0">
              <a:latin typeface="微软雅黑" panose="020B0503020204020204" pitchFamily="34" charset="-122"/>
              <a:ea typeface="微软雅黑" panose="020B0503020204020204" pitchFamily="34" charset="-122"/>
            </a:endParaRPr>
          </a:p>
        </p:txBody>
      </p:sp>
      <p:sp>
        <p:nvSpPr>
          <p:cNvPr id="25" name="矩形 24"/>
          <p:cNvSpPr/>
          <p:nvPr/>
        </p:nvSpPr>
        <p:spPr>
          <a:xfrm>
            <a:off x="1153148" y="4203034"/>
            <a:ext cx="7182451" cy="2677656"/>
          </a:xfrm>
          <a:prstGeom prst="rect">
            <a:avLst/>
          </a:prstGeom>
        </p:spPr>
        <p:txBody>
          <a:bodyPr wrap="square">
            <a:spAutoFit/>
          </a:bodyPr>
          <a:lstStyle/>
          <a:p>
            <a:pPr marL="0" lvl="1">
              <a:lnSpc>
                <a:spcPct val="150000"/>
              </a:lnSpc>
            </a:pPr>
            <a:r>
              <a:rPr lang="zh-CN" altLang="en-US" sz="2800" b="1" dirty="0">
                <a:latin typeface="微软雅黑" panose="020B0503020204020204" pitchFamily="34" charset="-122"/>
                <a:ea typeface="微软雅黑" panose="020B0503020204020204" pitchFamily="34" charset="-122"/>
              </a:rPr>
              <a:t> 中断源识别的方法很多，常用的方法主要有软件查询法、硬件查询法和中断向量法等。 </a:t>
            </a: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a:lnSpc>
                <a:spcPct val="150000"/>
              </a:lnSpc>
            </a:pP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8736772"/>
      </p:ext>
    </p:extLst>
  </p:cSld>
  <p:clrMapOvr>
    <a:masterClrMapping/>
  </p:clrMapOvr>
  <mc:AlternateContent xmlns:mc="http://schemas.openxmlformats.org/markup-compatibility/2006" xmlns:p14="http://schemas.microsoft.com/office/powerpoint/2010/main">
    <mc:Choice Requires="p14">
      <p:transition spd="slow" p14:dur="1300" advTm="0">
        <p14:pan dir="u"/>
      </p:transition>
    </mc:Choice>
    <mc:Fallback xmlns="">
      <p:transition spd="slow" advTm="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22289" y="2164754"/>
            <a:ext cx="2735237" cy="2528499"/>
          </a:xfrm>
          <a:prstGeom prst="rect">
            <a:avLst/>
          </a:prstGeom>
          <a:solidFill>
            <a:srgbClr val="02B9E7"/>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Oval 9"/>
          <p:cNvSpPr>
            <a:spLocks noChangeArrowheads="1"/>
          </p:cNvSpPr>
          <p:nvPr/>
        </p:nvSpPr>
        <p:spPr bwMode="auto">
          <a:xfrm>
            <a:off x="769489" y="2896757"/>
            <a:ext cx="1100235" cy="1108082"/>
          </a:xfrm>
          <a:prstGeom prst="ellipse">
            <a:avLst/>
          </a:prstGeom>
          <a:solidFill>
            <a:srgbClr val="FFFFFF"/>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43" name="TextBox 42"/>
          <p:cNvSpPr txBox="1"/>
          <p:nvPr/>
        </p:nvSpPr>
        <p:spPr>
          <a:xfrm>
            <a:off x="3223581" y="1914892"/>
            <a:ext cx="8523959" cy="2547643"/>
          </a:xfrm>
          <a:prstGeom prst="rect">
            <a:avLst/>
          </a:prstGeom>
          <a:noFill/>
        </p:spPr>
        <p:txBody>
          <a:bodyPr wrap="square" lIns="91398" tIns="45699" rIns="91398" bIns="45699" rtlCol="0">
            <a:spAutoFit/>
          </a:bodyPr>
          <a:lstStyle/>
          <a:p>
            <a:pPr>
              <a:lnSpc>
                <a:spcPct val="200000"/>
              </a:lnSpc>
            </a:pPr>
            <a:r>
              <a:rPr lang="zh-CN" altLang="en-US" sz="2800" b="1" dirty="0">
                <a:solidFill>
                  <a:srgbClr val="FF0000"/>
                </a:solidFill>
                <a:latin typeface="微软雅黑" panose="020B0503020204020204" pitchFamily="34" charset="-122"/>
                <a:ea typeface="微软雅黑" panose="020B0503020204020204" pitchFamily="34" charset="-122"/>
              </a:rPr>
              <a:t>中断向量法</a:t>
            </a:r>
            <a:r>
              <a:rPr lang="zh-CN" altLang="en-US" sz="2800" b="1" dirty="0">
                <a:latin typeface="微软雅黑" panose="020B0503020204020204" pitchFamily="34" charset="-122"/>
                <a:ea typeface="微软雅黑" panose="020B0503020204020204" pitchFamily="34" charset="-122"/>
              </a:rPr>
              <a:t>：是一种通过硬件控制电路形成一个所识别的中断源的中断向量号，并由此中断向量号实现中断响应的方法。</a:t>
            </a:r>
          </a:p>
        </p:txBody>
      </p:sp>
      <p:sp>
        <p:nvSpPr>
          <p:cNvPr id="53" name="Freeform 40"/>
          <p:cNvSpPr>
            <a:spLocks noEditPoints="1"/>
          </p:cNvSpPr>
          <p:nvPr/>
        </p:nvSpPr>
        <p:spPr bwMode="auto">
          <a:xfrm>
            <a:off x="927247" y="3188714"/>
            <a:ext cx="784720" cy="524170"/>
          </a:xfrm>
          <a:custGeom>
            <a:avLst/>
            <a:gdLst>
              <a:gd name="T0" fmla="*/ 544 w 564"/>
              <a:gd name="T1" fmla="*/ 27 h 376"/>
              <a:gd name="T2" fmla="*/ 544 w 564"/>
              <a:gd name="T3" fmla="*/ 309 h 376"/>
              <a:gd name="T4" fmla="*/ 536 w 564"/>
              <a:gd name="T5" fmla="*/ 309 h 376"/>
              <a:gd name="T6" fmla="*/ 518 w 564"/>
              <a:gd name="T7" fmla="*/ 308 h 376"/>
              <a:gd name="T8" fmla="*/ 285 w 564"/>
              <a:gd name="T9" fmla="*/ 367 h 376"/>
              <a:gd name="T10" fmla="*/ 282 w 564"/>
              <a:gd name="T11" fmla="*/ 368 h 376"/>
              <a:gd name="T12" fmla="*/ 279 w 564"/>
              <a:gd name="T13" fmla="*/ 367 h 376"/>
              <a:gd name="T14" fmla="*/ 46 w 564"/>
              <a:gd name="T15" fmla="*/ 308 h 376"/>
              <a:gd name="T16" fmla="*/ 28 w 564"/>
              <a:gd name="T17" fmla="*/ 309 h 376"/>
              <a:gd name="T18" fmla="*/ 20 w 564"/>
              <a:gd name="T19" fmla="*/ 309 h 376"/>
              <a:gd name="T20" fmla="*/ 20 w 564"/>
              <a:gd name="T21" fmla="*/ 27 h 376"/>
              <a:gd name="T22" fmla="*/ 0 w 564"/>
              <a:gd name="T23" fmla="*/ 27 h 376"/>
              <a:gd name="T24" fmla="*/ 0 w 564"/>
              <a:gd name="T25" fmla="*/ 320 h 376"/>
              <a:gd name="T26" fmla="*/ 282 w 564"/>
              <a:gd name="T27" fmla="*/ 376 h 376"/>
              <a:gd name="T28" fmla="*/ 564 w 564"/>
              <a:gd name="T29" fmla="*/ 320 h 376"/>
              <a:gd name="T30" fmla="*/ 564 w 564"/>
              <a:gd name="T31" fmla="*/ 27 h 376"/>
              <a:gd name="T32" fmla="*/ 544 w 564"/>
              <a:gd name="T33" fmla="*/ 27 h 376"/>
              <a:gd name="T34" fmla="*/ 272 w 564"/>
              <a:gd name="T35" fmla="*/ 319 h 376"/>
              <a:gd name="T36" fmla="*/ 272 w 564"/>
              <a:gd name="T37" fmla="*/ 63 h 376"/>
              <a:gd name="T38" fmla="*/ 77 w 564"/>
              <a:gd name="T39" fmla="*/ 1 h 376"/>
              <a:gd name="T40" fmla="*/ 77 w 564"/>
              <a:gd name="T41" fmla="*/ 269 h 376"/>
              <a:gd name="T42" fmla="*/ 84 w 564"/>
              <a:gd name="T43" fmla="*/ 269 h 376"/>
              <a:gd name="T44" fmla="*/ 272 w 564"/>
              <a:gd name="T45" fmla="*/ 319 h 376"/>
              <a:gd name="T46" fmla="*/ 487 w 564"/>
              <a:gd name="T47" fmla="*/ 269 h 376"/>
              <a:gd name="T48" fmla="*/ 487 w 564"/>
              <a:gd name="T49" fmla="*/ 1 h 376"/>
              <a:gd name="T50" fmla="*/ 292 w 564"/>
              <a:gd name="T51" fmla="*/ 63 h 376"/>
              <a:gd name="T52" fmla="*/ 292 w 564"/>
              <a:gd name="T53" fmla="*/ 319 h 376"/>
              <a:gd name="T54" fmla="*/ 480 w 564"/>
              <a:gd name="T55" fmla="*/ 269 h 376"/>
              <a:gd name="T56" fmla="*/ 487 w 564"/>
              <a:gd name="T57" fmla="*/ 269 h 376"/>
              <a:gd name="T58" fmla="*/ 282 w 564"/>
              <a:gd name="T59" fmla="*/ 361 h 376"/>
              <a:gd name="T60" fmla="*/ 531 w 564"/>
              <a:gd name="T61" fmla="*/ 302 h 376"/>
              <a:gd name="T62" fmla="*/ 531 w 564"/>
              <a:gd name="T63" fmla="*/ 5 h 376"/>
              <a:gd name="T64" fmla="*/ 501 w 564"/>
              <a:gd name="T65" fmla="*/ 5 h 376"/>
              <a:gd name="T66" fmla="*/ 501 w 564"/>
              <a:gd name="T67" fmla="*/ 283 h 376"/>
              <a:gd name="T68" fmla="*/ 493 w 564"/>
              <a:gd name="T69" fmla="*/ 282 h 376"/>
              <a:gd name="T70" fmla="*/ 478 w 564"/>
              <a:gd name="T71" fmla="*/ 282 h 376"/>
              <a:gd name="T72" fmla="*/ 287 w 564"/>
              <a:gd name="T73" fmla="*/ 337 h 376"/>
              <a:gd name="T74" fmla="*/ 282 w 564"/>
              <a:gd name="T75" fmla="*/ 340 h 376"/>
              <a:gd name="T76" fmla="*/ 277 w 564"/>
              <a:gd name="T77" fmla="*/ 337 h 376"/>
              <a:gd name="T78" fmla="*/ 86 w 564"/>
              <a:gd name="T79" fmla="*/ 282 h 376"/>
              <a:gd name="T80" fmla="*/ 71 w 564"/>
              <a:gd name="T81" fmla="*/ 282 h 376"/>
              <a:gd name="T82" fmla="*/ 63 w 564"/>
              <a:gd name="T83" fmla="*/ 283 h 376"/>
              <a:gd name="T84" fmla="*/ 63 w 564"/>
              <a:gd name="T85" fmla="*/ 5 h 376"/>
              <a:gd name="T86" fmla="*/ 33 w 564"/>
              <a:gd name="T87" fmla="*/ 5 h 376"/>
              <a:gd name="T88" fmla="*/ 33 w 564"/>
              <a:gd name="T89" fmla="*/ 302 h 376"/>
              <a:gd name="T90" fmla="*/ 282 w 564"/>
              <a:gd name="T91" fmla="*/ 361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4" h="376">
                <a:moveTo>
                  <a:pt x="544" y="27"/>
                </a:moveTo>
                <a:lnTo>
                  <a:pt x="544" y="309"/>
                </a:lnTo>
                <a:lnTo>
                  <a:pt x="536" y="309"/>
                </a:lnTo>
                <a:cubicBezTo>
                  <a:pt x="530" y="308"/>
                  <a:pt x="524" y="308"/>
                  <a:pt x="518" y="308"/>
                </a:cubicBezTo>
                <a:cubicBezTo>
                  <a:pt x="440" y="308"/>
                  <a:pt x="357" y="329"/>
                  <a:pt x="285" y="367"/>
                </a:cubicBezTo>
                <a:lnTo>
                  <a:pt x="282" y="368"/>
                </a:lnTo>
                <a:lnTo>
                  <a:pt x="279" y="367"/>
                </a:lnTo>
                <a:cubicBezTo>
                  <a:pt x="207" y="329"/>
                  <a:pt x="124" y="308"/>
                  <a:pt x="46" y="308"/>
                </a:cubicBezTo>
                <a:cubicBezTo>
                  <a:pt x="40" y="308"/>
                  <a:pt x="34" y="308"/>
                  <a:pt x="28" y="309"/>
                </a:cubicBezTo>
                <a:lnTo>
                  <a:pt x="20" y="309"/>
                </a:lnTo>
                <a:lnTo>
                  <a:pt x="20" y="27"/>
                </a:lnTo>
                <a:cubicBezTo>
                  <a:pt x="13" y="27"/>
                  <a:pt x="6" y="27"/>
                  <a:pt x="0" y="27"/>
                </a:cubicBezTo>
                <a:lnTo>
                  <a:pt x="0" y="320"/>
                </a:lnTo>
                <a:cubicBezTo>
                  <a:pt x="94" y="317"/>
                  <a:pt x="194" y="338"/>
                  <a:pt x="282" y="376"/>
                </a:cubicBezTo>
                <a:cubicBezTo>
                  <a:pt x="370" y="338"/>
                  <a:pt x="470" y="317"/>
                  <a:pt x="564" y="320"/>
                </a:cubicBezTo>
                <a:lnTo>
                  <a:pt x="564" y="27"/>
                </a:lnTo>
                <a:cubicBezTo>
                  <a:pt x="558" y="27"/>
                  <a:pt x="551" y="27"/>
                  <a:pt x="544" y="27"/>
                </a:cubicBezTo>
                <a:close/>
                <a:moveTo>
                  <a:pt x="272" y="319"/>
                </a:moveTo>
                <a:lnTo>
                  <a:pt x="272" y="63"/>
                </a:lnTo>
                <a:cubicBezTo>
                  <a:pt x="212" y="22"/>
                  <a:pt x="142" y="0"/>
                  <a:pt x="77" y="1"/>
                </a:cubicBezTo>
                <a:lnTo>
                  <a:pt x="77" y="269"/>
                </a:lnTo>
                <a:cubicBezTo>
                  <a:pt x="79" y="269"/>
                  <a:pt x="82" y="269"/>
                  <a:pt x="84" y="269"/>
                </a:cubicBezTo>
                <a:cubicBezTo>
                  <a:pt x="147" y="269"/>
                  <a:pt x="214" y="287"/>
                  <a:pt x="272" y="319"/>
                </a:cubicBezTo>
                <a:close/>
                <a:moveTo>
                  <a:pt x="487" y="269"/>
                </a:moveTo>
                <a:lnTo>
                  <a:pt x="487" y="1"/>
                </a:lnTo>
                <a:cubicBezTo>
                  <a:pt x="422" y="0"/>
                  <a:pt x="352" y="22"/>
                  <a:pt x="292" y="63"/>
                </a:cubicBezTo>
                <a:lnTo>
                  <a:pt x="292" y="319"/>
                </a:lnTo>
                <a:cubicBezTo>
                  <a:pt x="350" y="287"/>
                  <a:pt x="417" y="269"/>
                  <a:pt x="480" y="269"/>
                </a:cubicBezTo>
                <a:cubicBezTo>
                  <a:pt x="482" y="269"/>
                  <a:pt x="485" y="269"/>
                  <a:pt x="487" y="269"/>
                </a:cubicBezTo>
                <a:close/>
                <a:moveTo>
                  <a:pt x="282" y="361"/>
                </a:moveTo>
                <a:cubicBezTo>
                  <a:pt x="362" y="318"/>
                  <a:pt x="451" y="299"/>
                  <a:pt x="531" y="302"/>
                </a:cubicBezTo>
                <a:lnTo>
                  <a:pt x="531" y="5"/>
                </a:lnTo>
                <a:cubicBezTo>
                  <a:pt x="521" y="5"/>
                  <a:pt x="511" y="5"/>
                  <a:pt x="501" y="5"/>
                </a:cubicBezTo>
                <a:lnTo>
                  <a:pt x="501" y="283"/>
                </a:lnTo>
                <a:lnTo>
                  <a:pt x="493" y="282"/>
                </a:lnTo>
                <a:cubicBezTo>
                  <a:pt x="488" y="282"/>
                  <a:pt x="483" y="282"/>
                  <a:pt x="478" y="282"/>
                </a:cubicBezTo>
                <a:cubicBezTo>
                  <a:pt x="414" y="282"/>
                  <a:pt x="346" y="301"/>
                  <a:pt x="287" y="337"/>
                </a:cubicBezTo>
                <a:lnTo>
                  <a:pt x="282" y="340"/>
                </a:lnTo>
                <a:lnTo>
                  <a:pt x="277" y="337"/>
                </a:lnTo>
                <a:cubicBezTo>
                  <a:pt x="218" y="301"/>
                  <a:pt x="150" y="282"/>
                  <a:pt x="86" y="282"/>
                </a:cubicBezTo>
                <a:cubicBezTo>
                  <a:pt x="81" y="282"/>
                  <a:pt x="76" y="282"/>
                  <a:pt x="71" y="282"/>
                </a:cubicBezTo>
                <a:lnTo>
                  <a:pt x="63" y="283"/>
                </a:lnTo>
                <a:lnTo>
                  <a:pt x="63" y="5"/>
                </a:lnTo>
                <a:cubicBezTo>
                  <a:pt x="53" y="5"/>
                  <a:pt x="43" y="5"/>
                  <a:pt x="33" y="5"/>
                </a:cubicBezTo>
                <a:lnTo>
                  <a:pt x="33" y="302"/>
                </a:lnTo>
                <a:cubicBezTo>
                  <a:pt x="113" y="299"/>
                  <a:pt x="202" y="318"/>
                  <a:pt x="282" y="361"/>
                </a:cubicBezTo>
                <a:close/>
              </a:path>
            </a:pathLst>
          </a:custGeom>
          <a:solidFill>
            <a:srgbClr val="02B9E7"/>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Tree>
    <p:extLst>
      <p:ext uri="{BB962C8B-B14F-4D97-AF65-F5344CB8AC3E}">
        <p14:creationId xmlns:p14="http://schemas.microsoft.com/office/powerpoint/2010/main" val="41696855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210740" y="-1064477"/>
            <a:ext cx="11385900" cy="3600520"/>
          </a:xfrm>
        </p:spPr>
        <p:txBody>
          <a:bodyPr vert="horz" lIns="91440" tIns="45720" rIns="91440" bIns="45720" rtlCol="0" anchor="ctr">
            <a:normAutofit/>
          </a:bodyPr>
          <a:lstStyle/>
          <a:p>
            <a:br>
              <a:rPr lang="en-US" altLang="zh-CN" sz="3200" b="1" dirty="0">
                <a:latin typeface="微软雅黑" panose="020B0503020204020204" pitchFamily="34" charset="-122"/>
                <a:ea typeface="微软雅黑" panose="020B0503020204020204" pitchFamily="34" charset="-122"/>
              </a:rPr>
            </a:br>
            <a:r>
              <a:rPr lang="zh-CN" altLang="en-US" sz="3200" b="1" dirty="0">
                <a:latin typeface="微软雅黑" panose="020B0503020204020204" pitchFamily="34" charset="-122"/>
                <a:ea typeface="微软雅黑" panose="020B0503020204020204" pitchFamily="34" charset="-122"/>
              </a:rPr>
              <a:t>中断向量法</a:t>
            </a:r>
            <a:br>
              <a:rPr lang="zh-CN" altLang="en-US" sz="3200" b="1" dirty="0">
                <a:latin typeface="微软雅黑" panose="020B0503020204020204" pitchFamily="34" charset="-122"/>
                <a:ea typeface="微软雅黑" panose="020B0503020204020204" pitchFamily="34" charset="-122"/>
              </a:rPr>
            </a:br>
            <a:endParaRPr lang="en-US" altLang="zh-CN" sz="3200" b="1" dirty="0">
              <a:latin typeface="微软雅黑" panose="020B0503020204020204" pitchFamily="34" charset="-122"/>
              <a:ea typeface="微软雅黑" panose="020B0503020204020204" pitchFamily="34" charset="-122"/>
            </a:endParaRPr>
          </a:p>
        </p:txBody>
      </p:sp>
      <p:sp>
        <p:nvSpPr>
          <p:cNvPr id="8195" name="Rectangle 3"/>
          <p:cNvSpPr>
            <a:spLocks noGrp="1" noChangeArrowheads="1"/>
          </p:cNvSpPr>
          <p:nvPr>
            <p:ph type="body" idx="1"/>
          </p:nvPr>
        </p:nvSpPr>
        <p:spPr>
          <a:xfrm>
            <a:off x="1635413" y="1598260"/>
            <a:ext cx="8837784" cy="1448515"/>
          </a:xfrm>
        </p:spPr>
        <p:txBody>
          <a:bodyPr>
            <a:normAutofit fontScale="92500"/>
          </a:bodyPr>
          <a:lstStyle/>
          <a:p>
            <a:pPr marL="0" lvl="1">
              <a:lnSpc>
                <a:spcPct val="170000"/>
              </a:lnSpc>
              <a:buNone/>
            </a:pPr>
            <a:r>
              <a:rPr lang="zh-CN" altLang="en-US" sz="2800" b="1" dirty="0">
                <a:latin typeface="微软雅黑" panose="020B0503020204020204" pitchFamily="34" charset="-122"/>
                <a:ea typeface="微软雅黑" panose="020B0503020204020204" pitchFamily="34" charset="-122"/>
              </a:rPr>
              <a:t>在这种方法中，每个中断源对应有一个中断向量号，中断向量号对应一个中断向量，即中断服务程序入口地址。</a:t>
            </a:r>
            <a:endParaRPr lang="en-US" altLang="zh-CN" sz="2800" b="1" dirty="0">
              <a:latin typeface="微软雅黑" panose="020B0503020204020204" pitchFamily="34" charset="-122"/>
              <a:ea typeface="微软雅黑" panose="020B0503020204020204" pitchFamily="34" charset="-122"/>
            </a:endParaRPr>
          </a:p>
          <a:p>
            <a:pPr marL="0" lvl="1">
              <a:lnSpc>
                <a:spcPct val="170000"/>
              </a:lnSpc>
              <a:buNone/>
            </a:pPr>
            <a:endParaRPr lang="zh-CN" altLang="en-US" sz="2800" b="1" dirty="0">
              <a:latin typeface="微软雅黑" panose="020B0503020204020204" pitchFamily="34" charset="-122"/>
              <a:ea typeface="微软雅黑" panose="020B0503020204020204" pitchFamily="34" charset="-122"/>
            </a:endParaRPr>
          </a:p>
          <a:p>
            <a:pPr marL="0" indent="0" eaLnBrk="1" hangingPunct="1">
              <a:lnSpc>
                <a:spcPct val="150000"/>
              </a:lnSpc>
              <a:buNone/>
            </a:pPr>
            <a:endParaRPr lang="en-US" altLang="zh-CN" b="1" dirty="0">
              <a:latin typeface="微软雅黑" panose="020B0503020204020204" pitchFamily="34" charset="-122"/>
              <a:ea typeface="微软雅黑" panose="020B0503020204020204" pitchFamily="34" charset="-122"/>
            </a:endParaRPr>
          </a:p>
          <a:p>
            <a:pPr marL="0" indent="0" eaLnBrk="1" hangingPunct="1">
              <a:lnSpc>
                <a:spcPct val="150000"/>
              </a:lnSpc>
              <a:buNone/>
            </a:pPr>
            <a:endParaRPr lang="en-US" altLang="zh-CN" b="1" dirty="0">
              <a:latin typeface="微软雅黑" panose="020B0503020204020204" pitchFamily="34" charset="-122"/>
              <a:ea typeface="微软雅黑" panose="020B0503020204020204" pitchFamily="34" charset="-122"/>
            </a:endParaRPr>
          </a:p>
        </p:txBody>
      </p:sp>
      <p:grpSp>
        <p:nvGrpSpPr>
          <p:cNvPr id="3" name="组合 3"/>
          <p:cNvGrpSpPr/>
          <p:nvPr/>
        </p:nvGrpSpPr>
        <p:grpSpPr>
          <a:xfrm>
            <a:off x="485462" y="380363"/>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Freeform 14"/>
          <p:cNvSpPr>
            <a:spLocks/>
          </p:cNvSpPr>
          <p:nvPr/>
        </p:nvSpPr>
        <p:spPr bwMode="auto">
          <a:xfrm>
            <a:off x="704638" y="1754594"/>
            <a:ext cx="646909" cy="64648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solidFill>
                <a:schemeClr val="accent1"/>
              </a:solidFill>
            </a:endParaRPr>
          </a:p>
        </p:txBody>
      </p:sp>
      <p:sp>
        <p:nvSpPr>
          <p:cNvPr id="9" name="Freeform 14"/>
          <p:cNvSpPr>
            <a:spLocks/>
          </p:cNvSpPr>
          <p:nvPr/>
        </p:nvSpPr>
        <p:spPr bwMode="auto">
          <a:xfrm>
            <a:off x="772877" y="3542865"/>
            <a:ext cx="646909" cy="64648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FFC000"/>
          </a:solidFill>
          <a:ln>
            <a:noFill/>
          </a:ln>
        </p:spPr>
        <p:txBody>
          <a:bodyPr vert="horz" wrap="square" lIns="91398" tIns="45699" rIns="91398" bIns="45699" numCol="1" anchor="t" anchorCtr="0" compatLnSpc="1">
            <a:prstTxWarp prst="textNoShape">
              <a:avLst/>
            </a:prstTxWarp>
          </a:bodyPr>
          <a:lstStyle/>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zh-CN" altLang="en-US" sz="1799" dirty="0">
              <a:solidFill>
                <a:schemeClr val="accent1"/>
              </a:solidFill>
            </a:endParaRPr>
          </a:p>
        </p:txBody>
      </p:sp>
      <p:sp>
        <p:nvSpPr>
          <p:cNvPr id="10" name="文本框 9"/>
          <p:cNvSpPr txBox="1"/>
          <p:nvPr/>
        </p:nvSpPr>
        <p:spPr>
          <a:xfrm>
            <a:off x="806100" y="1788931"/>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875001" y="3631794"/>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834303" y="4865760"/>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1521910" y="3409658"/>
            <a:ext cx="9127314" cy="2677656"/>
          </a:xfrm>
          <a:prstGeom prst="rect">
            <a:avLst/>
          </a:prstGeom>
        </p:spPr>
        <p:txBody>
          <a:bodyPr wrap="square">
            <a:spAutoFit/>
          </a:bodyPr>
          <a:lstStyle/>
          <a:p>
            <a:pPr marL="0" lvl="1">
              <a:lnSpc>
                <a:spcPct val="150000"/>
              </a:lnSpc>
            </a:pPr>
            <a:r>
              <a:rPr lang="zh-CN" altLang="en-US" sz="2800" b="1" dirty="0">
                <a:latin typeface="微软雅黑" panose="020B0503020204020204" pitchFamily="34" charset="-122"/>
                <a:ea typeface="微软雅黑" panose="020B0503020204020204" pitchFamily="34" charset="-122"/>
              </a:rPr>
              <a:t> 将所有中断向量集中存放在内存中的一片固定区域中。</a:t>
            </a: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a:lnSpc>
                <a:spcPct val="150000"/>
              </a:lnSpc>
            </a:pP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7396408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6"/>
          <p:cNvSpPr>
            <a:spLocks noChangeAspect="1" noChangeArrowheads="1"/>
          </p:cNvSpPr>
          <p:nvPr/>
        </p:nvSpPr>
        <p:spPr bwMode="auto">
          <a:xfrm>
            <a:off x="6642816" y="3856315"/>
            <a:ext cx="1435755" cy="1439438"/>
          </a:xfrm>
          <a:prstGeom prst="ellipse">
            <a:avLst/>
          </a:pr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7"/>
          <p:cNvSpPr>
            <a:spLocks noChangeAspect="1" noChangeArrowheads="1"/>
          </p:cNvSpPr>
          <p:nvPr/>
        </p:nvSpPr>
        <p:spPr bwMode="auto">
          <a:xfrm>
            <a:off x="8638182" y="2488537"/>
            <a:ext cx="1437597" cy="1439438"/>
          </a:xfrm>
          <a:prstGeom prst="ellipse">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Oval 8"/>
          <p:cNvSpPr>
            <a:spLocks noChangeAspect="1" noChangeArrowheads="1"/>
          </p:cNvSpPr>
          <p:nvPr/>
        </p:nvSpPr>
        <p:spPr bwMode="auto">
          <a:xfrm>
            <a:off x="10570243" y="1121079"/>
            <a:ext cx="1437597" cy="1439438"/>
          </a:xfrm>
          <a:prstGeom prst="ellipse">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9"/>
          <p:cNvSpPr>
            <a:spLocks/>
          </p:cNvSpPr>
          <p:nvPr/>
        </p:nvSpPr>
        <p:spPr bwMode="auto">
          <a:xfrm>
            <a:off x="6238656" y="2587768"/>
            <a:ext cx="6424562" cy="4270232"/>
          </a:xfrm>
          <a:custGeom>
            <a:avLst/>
            <a:gdLst/>
            <a:ahLst/>
            <a:cxnLst/>
            <a:rect l="l" t="t" r="r" b="b"/>
            <a:pathLst>
              <a:path w="5358466" h="3767155">
                <a:moveTo>
                  <a:pt x="3479568" y="0"/>
                </a:moveTo>
                <a:lnTo>
                  <a:pt x="3618115" y="0"/>
                </a:lnTo>
                <a:lnTo>
                  <a:pt x="5358466" y="0"/>
                </a:lnTo>
                <a:lnTo>
                  <a:pt x="5358466" y="138769"/>
                </a:lnTo>
                <a:lnTo>
                  <a:pt x="3618115" y="138769"/>
                </a:lnTo>
                <a:lnTo>
                  <a:pt x="3618115" y="1287028"/>
                </a:lnTo>
                <a:lnTo>
                  <a:pt x="3618115" y="1425797"/>
                </a:lnTo>
                <a:lnTo>
                  <a:pt x="3479568" y="1425797"/>
                </a:lnTo>
                <a:lnTo>
                  <a:pt x="1878331" y="1425797"/>
                </a:lnTo>
                <a:lnTo>
                  <a:pt x="1878331" y="2574055"/>
                </a:lnTo>
                <a:lnTo>
                  <a:pt x="1878331" y="2712824"/>
                </a:lnTo>
                <a:lnTo>
                  <a:pt x="1739784" y="2712824"/>
                </a:lnTo>
                <a:lnTo>
                  <a:pt x="138547" y="2712824"/>
                </a:lnTo>
                <a:lnTo>
                  <a:pt x="138547" y="3767155"/>
                </a:lnTo>
                <a:lnTo>
                  <a:pt x="0" y="3767155"/>
                </a:lnTo>
                <a:lnTo>
                  <a:pt x="0" y="2712824"/>
                </a:lnTo>
                <a:lnTo>
                  <a:pt x="0" y="2574055"/>
                </a:lnTo>
                <a:lnTo>
                  <a:pt x="138547" y="2574055"/>
                </a:lnTo>
                <a:lnTo>
                  <a:pt x="1739784" y="2574055"/>
                </a:lnTo>
                <a:lnTo>
                  <a:pt x="1739784" y="1425797"/>
                </a:lnTo>
                <a:lnTo>
                  <a:pt x="1739784" y="1287028"/>
                </a:lnTo>
                <a:lnTo>
                  <a:pt x="1878331" y="1287028"/>
                </a:lnTo>
                <a:lnTo>
                  <a:pt x="3479568" y="1287028"/>
                </a:lnTo>
                <a:lnTo>
                  <a:pt x="3479568" y="138769"/>
                </a:lnTo>
                <a:close/>
              </a:path>
            </a:pathLst>
          </a:custGeom>
          <a:solidFill>
            <a:schemeClr val="accent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Line 10"/>
          <p:cNvSpPr>
            <a:spLocks noChangeShapeType="1"/>
          </p:cNvSpPr>
          <p:nvPr/>
        </p:nvSpPr>
        <p:spPr bwMode="auto">
          <a:xfrm flipH="1">
            <a:off x="5903494" y="4557722"/>
            <a:ext cx="670325" cy="0"/>
          </a:xfrm>
          <a:prstGeom prst="line">
            <a:avLst/>
          </a:prstGeom>
          <a:noFill/>
          <a:ln w="12700" cap="flat">
            <a:solidFill>
              <a:schemeClr val="accent1"/>
            </a:solidFill>
            <a:prstDash val="solid"/>
            <a:miter lim="800000"/>
            <a:headEnd type="oval" w="med" len="med"/>
            <a:tailEnd type="oval" w="med" len="me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3" name="Line 11"/>
          <p:cNvSpPr>
            <a:spLocks noChangeShapeType="1"/>
          </p:cNvSpPr>
          <p:nvPr/>
        </p:nvSpPr>
        <p:spPr bwMode="auto">
          <a:xfrm flipH="1">
            <a:off x="5903494" y="3049725"/>
            <a:ext cx="2387802" cy="0"/>
          </a:xfrm>
          <a:prstGeom prst="line">
            <a:avLst/>
          </a:prstGeom>
          <a:noFill/>
          <a:ln w="12700" cap="flat">
            <a:solidFill>
              <a:srgbClr val="92D050"/>
            </a:solidFill>
            <a:prstDash val="solid"/>
            <a:miter lim="800000"/>
            <a:headEnd type="oval" w="med" len="med"/>
            <a:tailEnd type="oval" w="med" len="me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4" name="Line 12"/>
          <p:cNvSpPr>
            <a:spLocks noChangeShapeType="1"/>
          </p:cNvSpPr>
          <p:nvPr/>
        </p:nvSpPr>
        <p:spPr bwMode="auto">
          <a:xfrm flipH="1">
            <a:off x="7360693" y="1755041"/>
            <a:ext cx="3063587" cy="0"/>
          </a:xfrm>
          <a:prstGeom prst="line">
            <a:avLst/>
          </a:prstGeom>
          <a:noFill/>
          <a:ln w="12700" cap="flat">
            <a:solidFill>
              <a:srgbClr val="FFC000"/>
            </a:solidFill>
            <a:prstDash val="solid"/>
            <a:miter lim="800000"/>
            <a:headEnd type="oval" w="med" len="med"/>
            <a:tailEnd type="oval" w="med" len="me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5" name="TextBox 14"/>
          <p:cNvSpPr txBox="1"/>
          <p:nvPr/>
        </p:nvSpPr>
        <p:spPr>
          <a:xfrm>
            <a:off x="10570243" y="1526528"/>
            <a:ext cx="1396920" cy="707844"/>
          </a:xfrm>
          <a:prstGeom prst="rect">
            <a:avLst/>
          </a:prstGeom>
          <a:noFill/>
        </p:spPr>
        <p:txBody>
          <a:bodyPr wrap="square" lIns="91398" tIns="45699" rIns="91398" bIns="45699"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0" name="矩形 19"/>
          <p:cNvSpPr/>
          <p:nvPr/>
        </p:nvSpPr>
        <p:spPr>
          <a:xfrm>
            <a:off x="133000" y="994917"/>
            <a:ext cx="7081730" cy="1384952"/>
          </a:xfrm>
          <a:prstGeom prst="rect">
            <a:avLst/>
          </a:prstGeom>
          <a:noFill/>
          <a:ln>
            <a:noFill/>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398" tIns="45699" rIns="91398" bIns="45699">
            <a:spAutoFit/>
          </a:bodyPr>
          <a:lstStyle/>
          <a:p>
            <a:pPr lvl="1">
              <a:lnSpc>
                <a:spcPct val="150000"/>
              </a:lnSpc>
              <a:buNone/>
            </a:pPr>
            <a:r>
              <a:rPr lang="zh-CN" altLang="en-US" sz="2800" b="1" dirty="0">
                <a:latin typeface="微软雅黑" panose="020B0503020204020204" pitchFamily="34" charset="-122"/>
                <a:ea typeface="微软雅黑" panose="020B0503020204020204" pitchFamily="34" charset="-122"/>
              </a:rPr>
              <a:t>由一个专门的中断控制电路进行中断识别，并形成一个对应该中断源的中断向量号</a:t>
            </a:r>
          </a:p>
        </p:txBody>
      </p:sp>
      <p:sp>
        <p:nvSpPr>
          <p:cNvPr id="24" name="TextBox 26"/>
          <p:cNvSpPr txBox="1"/>
          <p:nvPr/>
        </p:nvSpPr>
        <p:spPr>
          <a:xfrm>
            <a:off x="14660001" y="8289457"/>
            <a:ext cx="1107996" cy="461665"/>
          </a:xfrm>
          <a:prstGeom prst="rect">
            <a:avLst/>
          </a:prstGeom>
          <a:noFill/>
        </p:spPr>
        <p:txBody>
          <a:bodyPr wrap="none" rtlCol="0">
            <a:spAutoFit/>
          </a:bodyPr>
          <a:lstStyle/>
          <a:p>
            <a:r>
              <a:rPr lang="zh-CN" altLang="en-US" sz="2400" dirty="0"/>
              <a:t>延时符</a:t>
            </a:r>
          </a:p>
        </p:txBody>
      </p:sp>
      <p:sp>
        <p:nvSpPr>
          <p:cNvPr id="4" name="矩形 3"/>
          <p:cNvSpPr/>
          <p:nvPr/>
        </p:nvSpPr>
        <p:spPr>
          <a:xfrm>
            <a:off x="546802" y="2570339"/>
            <a:ext cx="4862228" cy="738664"/>
          </a:xfrm>
          <a:prstGeom prst="rect">
            <a:avLst/>
          </a:prstGeom>
        </p:spPr>
        <p:txBody>
          <a:bodyPr wrap="none">
            <a:spAutoFit/>
          </a:bodyPr>
          <a:lstStyle/>
          <a:p>
            <a:pPr marL="0" lvl="1">
              <a:lnSpc>
                <a:spcPct val="150000"/>
              </a:lnSpc>
            </a:pPr>
            <a:r>
              <a:rPr lang="zh-CN" altLang="en-US" sz="2800" b="1" dirty="0">
                <a:latin typeface="微软雅黑" panose="020B0503020204020204" pitchFamily="34" charset="-122"/>
                <a:ea typeface="微软雅黑" panose="020B0503020204020204" pitchFamily="34" charset="-122"/>
              </a:rPr>
              <a:t>将此中断向量号传送给</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a:t>
            </a:r>
            <a:endParaRPr lang="en-US" altLang="zh-CN" sz="2800" b="1" dirty="0">
              <a:latin typeface="微软雅黑" panose="020B0503020204020204" pitchFamily="34" charset="-122"/>
              <a:ea typeface="微软雅黑" panose="020B0503020204020204" pitchFamily="34" charset="-122"/>
            </a:endParaRPr>
          </a:p>
        </p:txBody>
      </p:sp>
      <p:sp>
        <p:nvSpPr>
          <p:cNvPr id="21" name="矩形 20"/>
          <p:cNvSpPr/>
          <p:nvPr/>
        </p:nvSpPr>
        <p:spPr>
          <a:xfrm>
            <a:off x="546802" y="3641129"/>
            <a:ext cx="5262054" cy="2677656"/>
          </a:xfrm>
          <a:prstGeom prst="rect">
            <a:avLst/>
          </a:prstGeom>
        </p:spPr>
        <p:txBody>
          <a:bodyPr wrap="square">
            <a:spAutoFit/>
          </a:bodyPr>
          <a:lstStyle/>
          <a:p>
            <a:pPr marL="0" lvl="1">
              <a:lnSpc>
                <a:spcPct val="150000"/>
              </a:lnSpc>
            </a:pPr>
            <a:r>
              <a:rPr lang="zh-CN" altLang="en-US" sz="2800" b="1" dirty="0">
                <a:latin typeface="微软雅黑" panose="020B0503020204020204" pitchFamily="34" charset="-122"/>
                <a:ea typeface="微软雅黑" panose="020B0503020204020204" pitchFamily="34" charset="-122"/>
              </a:rPr>
              <a:t>最后由</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依据中断向量号生成该中断源的中断向量在内存中的首地址，从这一地址单元中即可取出中断服务程序的入口地址。 </a:t>
            </a:r>
          </a:p>
        </p:txBody>
      </p:sp>
      <p:sp>
        <p:nvSpPr>
          <p:cNvPr id="26" name="TextBox 14"/>
          <p:cNvSpPr txBox="1"/>
          <p:nvPr/>
        </p:nvSpPr>
        <p:spPr>
          <a:xfrm>
            <a:off x="8638182" y="2854334"/>
            <a:ext cx="1396920" cy="707844"/>
          </a:xfrm>
          <a:prstGeom prst="rect">
            <a:avLst/>
          </a:prstGeom>
          <a:noFill/>
        </p:spPr>
        <p:txBody>
          <a:bodyPr wrap="square" lIns="91398" tIns="45699" rIns="91398" bIns="45699"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14"/>
          <p:cNvSpPr txBox="1"/>
          <p:nvPr/>
        </p:nvSpPr>
        <p:spPr>
          <a:xfrm>
            <a:off x="6642816" y="4272113"/>
            <a:ext cx="1396920" cy="707844"/>
          </a:xfrm>
          <a:prstGeom prst="rect">
            <a:avLst/>
          </a:prstGeom>
          <a:noFill/>
        </p:spPr>
        <p:txBody>
          <a:bodyPr wrap="square" lIns="91398" tIns="45699" rIns="91398" bIns="45699"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8" name="Rectangle 2"/>
          <p:cNvSpPr>
            <a:spLocks noGrp="1" noChangeArrowheads="1"/>
          </p:cNvSpPr>
          <p:nvPr>
            <p:ph type="title"/>
          </p:nvPr>
        </p:nvSpPr>
        <p:spPr>
          <a:xfrm>
            <a:off x="980856" y="-69107"/>
            <a:ext cx="10515600" cy="1325563"/>
          </a:xfrm>
        </p:spPr>
        <p:txBody>
          <a:bodyPr vert="horz" lIns="91440" tIns="45720" rIns="91440" bIns="45720" rtlCol="0" anchor="ctr">
            <a:normAutofit/>
          </a:bodyPr>
          <a:lstStyle/>
          <a:p>
            <a:r>
              <a:rPr lang="zh-CN" altLang="en-US" sz="3200" b="1" dirty="0">
                <a:latin typeface="微软雅黑" panose="020B0503020204020204" pitchFamily="34" charset="-122"/>
                <a:ea typeface="微软雅黑" panose="020B0503020204020204" pitchFamily="34" charset="-122"/>
              </a:rPr>
              <a:t>步骤</a:t>
            </a:r>
            <a:endParaRPr lang="en-US" altLang="zh-CN" sz="3200" b="1" dirty="0">
              <a:latin typeface="微软雅黑" panose="020B0503020204020204" pitchFamily="34" charset="-122"/>
              <a:ea typeface="微软雅黑" panose="020B0503020204020204" pitchFamily="34" charset="-122"/>
            </a:endParaRPr>
          </a:p>
        </p:txBody>
      </p:sp>
      <p:grpSp>
        <p:nvGrpSpPr>
          <p:cNvPr id="29" name="组合 3"/>
          <p:cNvGrpSpPr/>
          <p:nvPr/>
        </p:nvGrpSpPr>
        <p:grpSpPr>
          <a:xfrm>
            <a:off x="327626" y="234401"/>
            <a:ext cx="438352" cy="621987"/>
            <a:chOff x="265635" y="269251"/>
            <a:chExt cx="438352" cy="621987"/>
          </a:xfrm>
        </p:grpSpPr>
        <p:sp>
          <p:nvSpPr>
            <p:cNvPr id="30"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1"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2"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1437265188"/>
      </p:ext>
    </p:extLst>
  </p:cSld>
  <p:clrMapOvr>
    <a:masterClrMapping/>
  </p:clrMapOvr>
  <mc:AlternateContent xmlns:mc="http://schemas.openxmlformats.org/markup-compatibility/2006" xmlns:p14="http://schemas.microsoft.com/office/powerpoint/2010/main">
    <mc:Choice Requires="p14">
      <p:transition spd="slow" p14:dur="1300" advTm="0">
        <p14:pan dir="u"/>
      </p:transition>
    </mc:Choice>
    <mc:Fallback xmlns="">
      <p:transition spd="slow" advTm="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sz="half" idx="1"/>
          </p:nvPr>
        </p:nvSpPr>
        <p:spPr>
          <a:xfrm>
            <a:off x="582304" y="640308"/>
            <a:ext cx="10670117" cy="620713"/>
          </a:xfrm>
        </p:spPr>
        <p:txBody>
          <a:bodyPr vert="horz" lIns="91440" tIns="45720" rIns="91440" bIns="45720" rtlCol="0" anchor="ctr">
            <a:normAutofit/>
          </a:bodyPr>
          <a:lstStyle/>
          <a:p>
            <a:pPr>
              <a:spcBef>
                <a:spcPct val="0"/>
              </a:spcBef>
              <a:buNone/>
            </a:pPr>
            <a:r>
              <a:rPr lang="zh-CN" altLang="en-US" sz="3200" b="1" dirty="0">
                <a:latin typeface="微软雅黑" panose="020B0503020204020204" pitchFamily="34" charset="-122"/>
                <a:ea typeface="微软雅黑" panose="020B0503020204020204" pitchFamily="34" charset="-122"/>
                <a:cs typeface="+mj-cs"/>
              </a:rPr>
              <a:t>中断向量法示意图。</a:t>
            </a:r>
          </a:p>
        </p:txBody>
      </p:sp>
      <p:sp>
        <p:nvSpPr>
          <p:cNvPr id="20484" name="Rectangle 4"/>
          <p:cNvSpPr>
            <a:spLocks noChangeArrowheads="1"/>
          </p:cNvSpPr>
          <p:nvPr/>
        </p:nvSpPr>
        <p:spPr bwMode="auto">
          <a:xfrm>
            <a:off x="0" y="2213851"/>
            <a:ext cx="184731" cy="369332"/>
          </a:xfrm>
          <a:prstGeom prst="rect">
            <a:avLst/>
          </a:prstGeom>
          <a:noFill/>
          <a:ln w="9525">
            <a:noFill/>
            <a:miter lim="800000"/>
            <a:headEnd/>
            <a:tailEnd/>
          </a:ln>
        </p:spPr>
        <p:txBody>
          <a:bodyPr wrap="none" anchor="ctr">
            <a:spAutoFit/>
          </a:bodyPr>
          <a:lstStyle/>
          <a:p>
            <a:pPr eaLnBrk="1" hangingPunct="1"/>
            <a:endParaRPr lang="zh-CN" altLang="en-US"/>
          </a:p>
        </p:txBody>
      </p:sp>
      <p:graphicFrame>
        <p:nvGraphicFramePr>
          <p:cNvPr id="20485" name="Object 5"/>
          <p:cNvGraphicFramePr>
            <a:graphicFrameLocks noChangeAspect="1"/>
          </p:cNvGraphicFramePr>
          <p:nvPr>
            <p:extLst>
              <p:ext uri="{D42A27DB-BD31-4B8C-83A1-F6EECF244321}">
                <p14:modId xmlns:p14="http://schemas.microsoft.com/office/powerpoint/2010/main" val="1181299324"/>
              </p:ext>
            </p:extLst>
          </p:nvPr>
        </p:nvGraphicFramePr>
        <p:xfrm>
          <a:off x="1076877" y="1434735"/>
          <a:ext cx="10369549" cy="4111625"/>
        </p:xfrm>
        <a:graphic>
          <a:graphicData uri="http://schemas.openxmlformats.org/presentationml/2006/ole">
            <mc:AlternateContent xmlns:mc="http://schemas.openxmlformats.org/markup-compatibility/2006">
              <mc:Choice xmlns:v="urn:schemas-microsoft-com:vml" Requires="v">
                <p:oleObj spid="_x0000_s62486" name="Visio" r:id="rId3" imgW="4300423" imgH="2272894" progId="Visio.Drawing.11">
                  <p:embed/>
                </p:oleObj>
              </mc:Choice>
              <mc:Fallback>
                <p:oleObj name="Visio" r:id="rId3" imgW="4300423" imgH="2272894" progId="Visio.Drawing.11">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6877" y="1434735"/>
                        <a:ext cx="10369549" cy="4111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文本框 3"/>
          <p:cNvSpPr txBox="1">
            <a:spLocks noChangeArrowheads="1"/>
          </p:cNvSpPr>
          <p:nvPr/>
        </p:nvSpPr>
        <p:spPr bwMode="auto">
          <a:xfrm>
            <a:off x="561783" y="4586036"/>
            <a:ext cx="2201244" cy="338554"/>
          </a:xfrm>
          <a:prstGeom prst="rect">
            <a:avLst/>
          </a:prstGeom>
          <a:noFill/>
          <a:ln w="9525">
            <a:noFill/>
            <a:miter lim="800000"/>
            <a:headEnd/>
            <a:tailEnd/>
          </a:ln>
        </p:spPr>
        <p:txBody>
          <a:bodyPr wrap="none">
            <a:spAutoFit/>
          </a:bodyPr>
          <a:lstStyle/>
          <a:p>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中断源发出中断请求</a:t>
            </a:r>
          </a:p>
        </p:txBody>
      </p:sp>
      <p:sp>
        <p:nvSpPr>
          <p:cNvPr id="9" name="文本框 8"/>
          <p:cNvSpPr txBox="1">
            <a:spLocks noChangeArrowheads="1"/>
          </p:cNvSpPr>
          <p:nvPr/>
        </p:nvSpPr>
        <p:spPr bwMode="auto">
          <a:xfrm>
            <a:off x="3278121" y="4809585"/>
            <a:ext cx="2015295" cy="584775"/>
          </a:xfrm>
          <a:prstGeom prst="rect">
            <a:avLst/>
          </a:prstGeom>
          <a:noFill/>
          <a:ln w="9525">
            <a:noFill/>
            <a:miter lim="800000"/>
            <a:headEnd/>
            <a:tailEnd/>
          </a:ln>
        </p:spPr>
        <p:txBody>
          <a:bodyPr wrap="none">
            <a:spAutoFit/>
          </a:bodyPr>
          <a:lstStyle/>
          <a:p>
            <a:r>
              <a:rPr lang="en-US" altLang="zh-CN" sz="1600" b="1" dirty="0">
                <a:latin typeface="微软雅黑" panose="020B0503020204020204" pitchFamily="34" charset="-122"/>
                <a:ea typeface="微软雅黑" panose="020B0503020204020204" pitchFamily="34" charset="-122"/>
              </a:rPr>
              <a:t>2.</a:t>
            </a:r>
            <a:r>
              <a:rPr lang="zh-CN" altLang="en-US" sz="1600" b="1" dirty="0">
                <a:latin typeface="微软雅黑" panose="020B0503020204020204" pitchFamily="34" charset="-122"/>
                <a:ea typeface="微软雅黑" panose="020B0503020204020204" pitchFamily="34" charset="-122"/>
              </a:rPr>
              <a:t>中断识别并将中断</a:t>
            </a:r>
            <a:endParaRPr lang="en-US" altLang="zh-CN" sz="1600" b="1" dirty="0">
              <a:latin typeface="微软雅黑" panose="020B0503020204020204" pitchFamily="34" charset="-122"/>
              <a:ea typeface="微软雅黑" panose="020B0503020204020204" pitchFamily="34" charset="-122"/>
            </a:endParaRPr>
          </a:p>
          <a:p>
            <a:r>
              <a:rPr lang="zh-CN" altLang="en-US" sz="1600" b="1" dirty="0">
                <a:latin typeface="微软雅黑" panose="020B0503020204020204" pitchFamily="34" charset="-122"/>
                <a:ea typeface="微软雅黑" panose="020B0503020204020204" pitchFamily="34" charset="-122"/>
              </a:rPr>
              <a:t>   向量号发送给</a:t>
            </a:r>
            <a:r>
              <a:rPr lang="en-US" altLang="zh-CN" sz="1600" b="1" dirty="0">
                <a:latin typeface="微软雅黑" panose="020B0503020204020204" pitchFamily="34" charset="-122"/>
                <a:ea typeface="微软雅黑" panose="020B0503020204020204" pitchFamily="34" charset="-122"/>
              </a:rPr>
              <a:t>CPU</a:t>
            </a:r>
            <a:endParaRPr lang="zh-CN" altLang="en-US" sz="1600" b="1" dirty="0">
              <a:latin typeface="微软雅黑" panose="020B0503020204020204" pitchFamily="34" charset="-122"/>
              <a:ea typeface="微软雅黑" panose="020B0503020204020204" pitchFamily="34" charset="-122"/>
            </a:endParaRPr>
          </a:p>
        </p:txBody>
      </p:sp>
      <p:sp>
        <p:nvSpPr>
          <p:cNvPr id="10" name="文本框 9"/>
          <p:cNvSpPr txBox="1">
            <a:spLocks noChangeArrowheads="1"/>
          </p:cNvSpPr>
          <p:nvPr/>
        </p:nvSpPr>
        <p:spPr bwMode="auto">
          <a:xfrm>
            <a:off x="5915310" y="5350348"/>
            <a:ext cx="2032929" cy="584775"/>
          </a:xfrm>
          <a:prstGeom prst="rect">
            <a:avLst/>
          </a:prstGeom>
          <a:noFill/>
          <a:ln w="9525">
            <a:noFill/>
            <a:miter lim="800000"/>
            <a:headEnd/>
            <a:tailEnd/>
          </a:ln>
        </p:spPr>
        <p:txBody>
          <a:bodyPr wrap="none">
            <a:spAutoFit/>
          </a:bodyPr>
          <a:lstStyle/>
          <a:p>
            <a:r>
              <a:rPr lang="en-US" altLang="zh-CN" sz="1600" b="1" dirty="0">
                <a:latin typeface="微软雅黑" panose="020B0503020204020204" pitchFamily="34" charset="-122"/>
                <a:ea typeface="微软雅黑" panose="020B0503020204020204" pitchFamily="34" charset="-122"/>
              </a:rPr>
              <a:t>3.CPU</a:t>
            </a:r>
            <a:r>
              <a:rPr lang="zh-CN" altLang="en-US" sz="1600" b="1" dirty="0">
                <a:latin typeface="微软雅黑" panose="020B0503020204020204" pitchFamily="34" charset="-122"/>
                <a:ea typeface="微软雅黑" panose="020B0503020204020204" pitchFamily="34" charset="-122"/>
              </a:rPr>
              <a:t>计算得到中断</a:t>
            </a:r>
            <a:endParaRPr lang="en-US" altLang="zh-CN" sz="1600" b="1" dirty="0">
              <a:latin typeface="微软雅黑" panose="020B0503020204020204" pitchFamily="34" charset="-122"/>
              <a:ea typeface="微软雅黑" panose="020B0503020204020204" pitchFamily="34" charset="-122"/>
            </a:endParaRPr>
          </a:p>
          <a:p>
            <a:r>
              <a:rPr lang="zh-CN" altLang="en-US" sz="1600" b="1" dirty="0">
                <a:latin typeface="微软雅黑" panose="020B0503020204020204" pitchFamily="34" charset="-122"/>
                <a:ea typeface="微软雅黑" panose="020B0503020204020204" pitchFamily="34" charset="-122"/>
              </a:rPr>
              <a:t>   源的中断向量地址</a:t>
            </a:r>
          </a:p>
        </p:txBody>
      </p:sp>
      <p:sp>
        <p:nvSpPr>
          <p:cNvPr id="11" name="文本框 10"/>
          <p:cNvSpPr txBox="1">
            <a:spLocks noChangeArrowheads="1"/>
          </p:cNvSpPr>
          <p:nvPr/>
        </p:nvSpPr>
        <p:spPr bwMode="auto">
          <a:xfrm>
            <a:off x="8613476" y="5850698"/>
            <a:ext cx="2201244" cy="584775"/>
          </a:xfrm>
          <a:prstGeom prst="rect">
            <a:avLst/>
          </a:prstGeom>
          <a:noFill/>
          <a:ln w="9525">
            <a:noFill/>
            <a:miter lim="800000"/>
            <a:headEnd/>
            <a:tailEnd/>
          </a:ln>
        </p:spPr>
        <p:txBody>
          <a:bodyPr wrap="none">
            <a:spAutoFit/>
          </a:bodyPr>
          <a:lstStyle/>
          <a:p>
            <a:r>
              <a:rPr lang="en-US" altLang="zh-CN" sz="1600" b="1" dirty="0">
                <a:latin typeface="微软雅黑" panose="020B0503020204020204" pitchFamily="34" charset="-122"/>
                <a:ea typeface="微软雅黑" panose="020B0503020204020204" pitchFamily="34" charset="-122"/>
              </a:rPr>
              <a:t>4.</a:t>
            </a:r>
            <a:r>
              <a:rPr lang="zh-CN" altLang="en-US" sz="1600" b="1" dirty="0">
                <a:latin typeface="微软雅黑" panose="020B0503020204020204" pitchFamily="34" charset="-122"/>
                <a:ea typeface="微软雅黑" panose="020B0503020204020204" pitchFamily="34" charset="-122"/>
              </a:rPr>
              <a:t>从内存表中获取中断</a:t>
            </a:r>
            <a:endParaRPr lang="en-US" altLang="zh-CN" sz="1600" b="1" dirty="0">
              <a:latin typeface="微软雅黑" panose="020B0503020204020204" pitchFamily="34" charset="-122"/>
              <a:ea typeface="微软雅黑" panose="020B0503020204020204" pitchFamily="34" charset="-122"/>
            </a:endParaRPr>
          </a:p>
          <a:p>
            <a:r>
              <a:rPr lang="zh-CN" altLang="en-US" sz="1600" b="1" dirty="0">
                <a:latin typeface="微软雅黑" panose="020B0503020204020204" pitchFamily="34" charset="-122"/>
                <a:ea typeface="微软雅黑" panose="020B0503020204020204" pitchFamily="34" charset="-122"/>
              </a:rPr>
              <a:t>   服务程序入口地址</a:t>
            </a:r>
          </a:p>
        </p:txBody>
      </p:sp>
      <p:cxnSp>
        <p:nvCxnSpPr>
          <p:cNvPr id="8" name="肘形连接符 7"/>
          <p:cNvCxnSpPr>
            <a:stCxn id="4" idx="2"/>
          </p:cNvCxnSpPr>
          <p:nvPr/>
        </p:nvCxnSpPr>
        <p:spPr>
          <a:xfrm rot="16200000" flipH="1">
            <a:off x="2323037" y="4263958"/>
            <a:ext cx="177383" cy="1498646"/>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肘形连接符 15"/>
          <p:cNvCxnSpPr/>
          <p:nvPr/>
        </p:nvCxnSpPr>
        <p:spPr>
          <a:xfrm rot="16200000" flipH="1">
            <a:off x="4953853" y="4859512"/>
            <a:ext cx="207963" cy="1299633"/>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肘形连接符 16"/>
          <p:cNvCxnSpPr/>
          <p:nvPr/>
        </p:nvCxnSpPr>
        <p:spPr>
          <a:xfrm rot="16200000" flipH="1">
            <a:off x="7683570" y="5389288"/>
            <a:ext cx="207962" cy="1299633"/>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内容占位符 2"/>
          <p:cNvSpPr txBox="1">
            <a:spLocks/>
          </p:cNvSpPr>
          <p:nvPr/>
        </p:nvSpPr>
        <p:spPr>
          <a:xfrm>
            <a:off x="554218" y="1392964"/>
            <a:ext cx="11144975" cy="5161659"/>
          </a:xfrm>
          <a:prstGeom prst="rect">
            <a:avLst/>
          </a:prstGeom>
          <a:ln w="28575">
            <a:solidFill>
              <a:srgbClr val="01C0B0"/>
            </a:solidFill>
          </a:ln>
        </p:spPr>
        <p:txBody>
          <a:bodyPr vert="horz" lIns="91440" tIns="45720" rIns="91440" bIns="45720" rtlCol="0">
            <a:no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None/>
              <a:tabLst/>
              <a:defRPr/>
            </a:pPr>
            <a:r>
              <a:rPr kumimoji="0" lang="en-US" altLang="zh-CN" sz="2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endPar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ppt_x"/>
                                          </p:val>
                                        </p:tav>
                                        <p:tav tm="100000">
                                          <p:val>
                                            <p:strVal val="#ppt_x"/>
                                          </p:val>
                                        </p:tav>
                                      </p:tavLst>
                                    </p:anim>
                                    <p:anim calcmode="lin" valueType="num">
                                      <p:cBhvr additive="base">
                                        <p:cTn id="34" dur="500" fill="hold"/>
                                        <p:tgtEl>
                                          <p:spTgt spid="1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75773" y="309965"/>
            <a:ext cx="5974331" cy="584541"/>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200" b="1">
                <a:latin typeface="微软雅黑" panose="020B0503020204020204" pitchFamily="34" charset="-122"/>
                <a:ea typeface="微软雅黑" panose="020B0503020204020204" pitchFamily="34" charset="-122"/>
                <a:cs typeface="+mj-cs"/>
              </a:defRPr>
            </a:lvl1pPr>
          </a:lstStyle>
          <a:p>
            <a:r>
              <a:rPr lang="zh-CN" altLang="en-US" dirty="0"/>
              <a:t>中断服务</a:t>
            </a:r>
          </a:p>
        </p:txBody>
      </p:sp>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Oval 5"/>
          <p:cNvSpPr>
            <a:spLocks noChangeArrowheads="1"/>
          </p:cNvSpPr>
          <p:nvPr/>
        </p:nvSpPr>
        <p:spPr bwMode="auto">
          <a:xfrm>
            <a:off x="4660561" y="2862377"/>
            <a:ext cx="1679318" cy="1681858"/>
          </a:xfrm>
          <a:prstGeom prst="ellipse">
            <a:avLst/>
          </a:pr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6"/>
          <p:cNvSpPr>
            <a:spLocks noChangeArrowheads="1"/>
          </p:cNvSpPr>
          <p:nvPr/>
        </p:nvSpPr>
        <p:spPr bwMode="auto">
          <a:xfrm>
            <a:off x="3374165" y="1586081"/>
            <a:ext cx="4416288" cy="4425810"/>
          </a:xfrm>
          <a:prstGeom prst="ellipse">
            <a:avLst/>
          </a:prstGeom>
          <a:noFill/>
          <a:ln w="12700" cap="flat">
            <a:solidFill>
              <a:srgbClr val="2E2C2C"/>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0" name="Oval 7"/>
          <p:cNvSpPr>
            <a:spLocks noChangeArrowheads="1"/>
          </p:cNvSpPr>
          <p:nvPr/>
        </p:nvSpPr>
        <p:spPr bwMode="auto">
          <a:xfrm>
            <a:off x="4736248" y="891238"/>
            <a:ext cx="1434324" cy="1358057"/>
          </a:xfrm>
          <a:prstGeom prst="ellipse">
            <a:avLst/>
          </a:prstGeom>
          <a:solidFill>
            <a:schemeClr val="accent4"/>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Oval 8"/>
          <p:cNvSpPr>
            <a:spLocks noChangeArrowheads="1"/>
          </p:cNvSpPr>
          <p:nvPr/>
        </p:nvSpPr>
        <p:spPr bwMode="auto">
          <a:xfrm>
            <a:off x="6837276" y="2421185"/>
            <a:ext cx="1434325" cy="1355582"/>
          </a:xfrm>
          <a:prstGeom prst="ellipse">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Oval 9"/>
          <p:cNvSpPr>
            <a:spLocks noChangeArrowheads="1"/>
          </p:cNvSpPr>
          <p:nvPr/>
        </p:nvSpPr>
        <p:spPr bwMode="auto">
          <a:xfrm>
            <a:off x="6034315" y="4893348"/>
            <a:ext cx="1434324" cy="1358057"/>
          </a:xfrm>
          <a:prstGeom prst="ellipse">
            <a:avLst/>
          </a:prstGeom>
          <a:solidFill>
            <a:schemeClr val="accent6">
              <a:lumMod val="75000"/>
            </a:schemeClr>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Oval 10"/>
          <p:cNvSpPr>
            <a:spLocks noChangeArrowheads="1"/>
          </p:cNvSpPr>
          <p:nvPr/>
        </p:nvSpPr>
        <p:spPr bwMode="auto">
          <a:xfrm>
            <a:off x="3295000" y="4773623"/>
            <a:ext cx="1434324" cy="1358057"/>
          </a:xfrm>
          <a:prstGeom prst="ellipse">
            <a:avLst/>
          </a:prstGeom>
          <a:solidFill>
            <a:schemeClr val="accent1">
              <a:lumMod val="75000"/>
            </a:schemeClr>
          </a:solidFill>
          <a:ln>
            <a:noFill/>
          </a:ln>
        </p:spPr>
        <p:txBody>
          <a:bodyPr vert="horz" wrap="square" lIns="91398" tIns="45699" rIns="91398" bIns="45699" numCol="1" anchor="t" anchorCtr="0" compatLnSpc="1">
            <a:prstTxWarp prst="textNoShape">
              <a:avLst/>
            </a:prstTxWarp>
          </a:bodyPr>
          <a:lstStyle/>
          <a:p>
            <a:endParaRPr lang="zh-CN" altLang="en-US" sz="2800" b="1">
              <a:solidFill>
                <a:schemeClr val="bg1"/>
              </a:solidFill>
              <a:latin typeface="微软雅黑" panose="020B0503020204020204" pitchFamily="34" charset="-122"/>
              <a:ea typeface="微软雅黑" panose="020B0503020204020204" pitchFamily="34" charset="-122"/>
            </a:endParaRPr>
          </a:p>
        </p:txBody>
      </p:sp>
      <p:sp>
        <p:nvSpPr>
          <p:cNvPr id="14" name="Oval 11"/>
          <p:cNvSpPr>
            <a:spLocks noChangeArrowheads="1"/>
          </p:cNvSpPr>
          <p:nvPr/>
        </p:nvSpPr>
        <p:spPr bwMode="auto">
          <a:xfrm>
            <a:off x="2634743" y="2419405"/>
            <a:ext cx="1436947" cy="1358056"/>
          </a:xfrm>
          <a:prstGeom prst="ellipse">
            <a:avLst/>
          </a:prstGeom>
          <a:solidFill>
            <a:srgbClr val="00B0F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5" name="Line 12"/>
          <p:cNvSpPr>
            <a:spLocks noChangeShapeType="1"/>
          </p:cNvSpPr>
          <p:nvPr/>
        </p:nvSpPr>
        <p:spPr bwMode="auto">
          <a:xfrm flipV="1">
            <a:off x="6293695" y="3353610"/>
            <a:ext cx="606188" cy="196774"/>
          </a:xfrm>
          <a:prstGeom prst="line">
            <a:avLst/>
          </a:prstGeom>
          <a:noFill/>
          <a:ln w="12700" cap="flat">
            <a:solidFill>
              <a:srgbClr val="2E2C2C"/>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6" name="Line 13"/>
          <p:cNvSpPr>
            <a:spLocks noChangeShapeType="1"/>
          </p:cNvSpPr>
          <p:nvPr/>
        </p:nvSpPr>
        <p:spPr bwMode="auto">
          <a:xfrm flipV="1">
            <a:off x="5499041" y="2224451"/>
            <a:ext cx="0" cy="637926"/>
          </a:xfrm>
          <a:prstGeom prst="line">
            <a:avLst/>
          </a:prstGeom>
          <a:noFill/>
          <a:ln w="12700" cap="flat">
            <a:solidFill>
              <a:srgbClr val="2E2C2C"/>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7" name="Line 14"/>
          <p:cNvSpPr>
            <a:spLocks noChangeShapeType="1"/>
          </p:cNvSpPr>
          <p:nvPr/>
        </p:nvSpPr>
        <p:spPr bwMode="auto">
          <a:xfrm flipH="1" flipV="1">
            <a:off x="4071690" y="3353610"/>
            <a:ext cx="606188" cy="196774"/>
          </a:xfrm>
          <a:prstGeom prst="line">
            <a:avLst/>
          </a:prstGeom>
          <a:noFill/>
          <a:ln w="12700" cap="flat">
            <a:solidFill>
              <a:srgbClr val="2E2C2C"/>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8" name="Line 15"/>
          <p:cNvSpPr>
            <a:spLocks noChangeShapeType="1"/>
          </p:cNvSpPr>
          <p:nvPr/>
        </p:nvSpPr>
        <p:spPr bwMode="auto">
          <a:xfrm flipH="1">
            <a:off x="4656263" y="4357401"/>
            <a:ext cx="374504" cy="515738"/>
          </a:xfrm>
          <a:prstGeom prst="line">
            <a:avLst/>
          </a:prstGeom>
          <a:noFill/>
          <a:ln w="12700" cap="flat">
            <a:solidFill>
              <a:srgbClr val="2E2C2C"/>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9" name="Line 16"/>
          <p:cNvSpPr>
            <a:spLocks noChangeShapeType="1"/>
          </p:cNvSpPr>
          <p:nvPr/>
        </p:nvSpPr>
        <p:spPr bwMode="auto">
          <a:xfrm>
            <a:off x="5984112" y="4334460"/>
            <a:ext cx="372917" cy="515738"/>
          </a:xfrm>
          <a:prstGeom prst="line">
            <a:avLst/>
          </a:prstGeom>
          <a:noFill/>
          <a:ln w="12700" cap="flat">
            <a:solidFill>
              <a:srgbClr val="2E2C2C"/>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29" name="TextBox 26"/>
          <p:cNvSpPr txBox="1"/>
          <p:nvPr/>
        </p:nvSpPr>
        <p:spPr>
          <a:xfrm>
            <a:off x="13601222" y="8373762"/>
            <a:ext cx="1107996" cy="461665"/>
          </a:xfrm>
          <a:prstGeom prst="rect">
            <a:avLst/>
          </a:prstGeom>
          <a:noFill/>
        </p:spPr>
        <p:txBody>
          <a:bodyPr wrap="none" rtlCol="0">
            <a:spAutoFit/>
          </a:bodyPr>
          <a:lstStyle/>
          <a:p>
            <a:r>
              <a:rPr lang="zh-CN" altLang="en-US" sz="2400" dirty="0"/>
              <a:t>延时符</a:t>
            </a:r>
          </a:p>
        </p:txBody>
      </p:sp>
      <p:sp>
        <p:nvSpPr>
          <p:cNvPr id="4" name="矩形 3"/>
          <p:cNvSpPr/>
          <p:nvPr/>
        </p:nvSpPr>
        <p:spPr>
          <a:xfrm>
            <a:off x="5115963" y="3494595"/>
            <a:ext cx="902811" cy="523220"/>
          </a:xfrm>
          <a:prstGeom prst="rect">
            <a:avLst/>
          </a:prstGeom>
        </p:spPr>
        <p:txBody>
          <a:bodyPr wrap="non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过程</a:t>
            </a:r>
          </a:p>
        </p:txBody>
      </p:sp>
      <p:sp>
        <p:nvSpPr>
          <p:cNvPr id="21" name="矩形 20"/>
          <p:cNvSpPr/>
          <p:nvPr/>
        </p:nvSpPr>
        <p:spPr>
          <a:xfrm>
            <a:off x="4597177" y="1089079"/>
            <a:ext cx="1364476" cy="954107"/>
          </a:xfrm>
          <a:prstGeom prst="rect">
            <a:avLst/>
          </a:prstGeom>
        </p:spPr>
        <p:txBody>
          <a:bodyPr wrap="none">
            <a:spAutoFit/>
          </a:bodyPr>
          <a:lstStyle/>
          <a:p>
            <a:pPr lvl="1"/>
            <a:r>
              <a:rPr lang="zh-CN" altLang="en-US" sz="2800" b="1" dirty="0">
                <a:solidFill>
                  <a:schemeClr val="bg1"/>
                </a:solidFill>
                <a:latin typeface="微软雅黑" panose="020B0503020204020204" pitchFamily="34" charset="-122"/>
                <a:ea typeface="微软雅黑" panose="020B0503020204020204" pitchFamily="34" charset="-122"/>
              </a:rPr>
              <a:t>保护</a:t>
            </a:r>
            <a:endParaRPr lang="en-US" altLang="zh-CN" sz="2800" b="1" dirty="0">
              <a:solidFill>
                <a:schemeClr val="bg1"/>
              </a:solidFill>
              <a:latin typeface="微软雅黑" panose="020B0503020204020204" pitchFamily="34" charset="-122"/>
              <a:ea typeface="微软雅黑" panose="020B0503020204020204" pitchFamily="34" charset="-122"/>
            </a:endParaRPr>
          </a:p>
          <a:p>
            <a:pPr lvl="1"/>
            <a:r>
              <a:rPr lang="zh-CN" altLang="en-US" sz="2800" b="1" dirty="0">
                <a:solidFill>
                  <a:schemeClr val="bg1"/>
                </a:solidFill>
                <a:latin typeface="微软雅黑" panose="020B0503020204020204" pitchFamily="34" charset="-122"/>
                <a:ea typeface="微软雅黑" panose="020B0503020204020204" pitchFamily="34" charset="-122"/>
              </a:rPr>
              <a:t>现场</a:t>
            </a:r>
          </a:p>
        </p:txBody>
      </p:sp>
      <p:sp>
        <p:nvSpPr>
          <p:cNvPr id="22" name="矩形 21"/>
          <p:cNvSpPr/>
          <p:nvPr/>
        </p:nvSpPr>
        <p:spPr>
          <a:xfrm>
            <a:off x="6690198" y="2621379"/>
            <a:ext cx="1364476" cy="954107"/>
          </a:xfrm>
          <a:prstGeom prst="rect">
            <a:avLst/>
          </a:prstGeom>
        </p:spPr>
        <p:txBody>
          <a:bodyPr wrap="none">
            <a:spAutoFit/>
          </a:bodyPr>
          <a:lstStyle/>
          <a:p>
            <a:pPr lvl="1"/>
            <a:r>
              <a:rPr lang="zh-CN" altLang="en-US" sz="2800" b="1" dirty="0">
                <a:solidFill>
                  <a:schemeClr val="bg1"/>
                </a:solidFill>
                <a:latin typeface="微软雅黑" panose="020B0503020204020204" pitchFamily="34" charset="-122"/>
                <a:ea typeface="微软雅黑" panose="020B0503020204020204" pitchFamily="34" charset="-122"/>
              </a:rPr>
              <a:t>中断</a:t>
            </a:r>
            <a:endParaRPr lang="en-US" altLang="zh-CN" sz="2800" b="1" dirty="0">
              <a:solidFill>
                <a:schemeClr val="bg1"/>
              </a:solidFill>
              <a:latin typeface="微软雅黑" panose="020B0503020204020204" pitchFamily="34" charset="-122"/>
              <a:ea typeface="微软雅黑" panose="020B0503020204020204" pitchFamily="34" charset="-122"/>
            </a:endParaRPr>
          </a:p>
          <a:p>
            <a:pPr lvl="1"/>
            <a:r>
              <a:rPr lang="zh-CN" altLang="en-US" sz="2800" b="1" dirty="0">
                <a:solidFill>
                  <a:schemeClr val="bg1"/>
                </a:solidFill>
                <a:latin typeface="微软雅黑" panose="020B0503020204020204" pitchFamily="34" charset="-122"/>
                <a:ea typeface="微软雅黑" panose="020B0503020204020204" pitchFamily="34" charset="-122"/>
              </a:rPr>
              <a:t>服务</a:t>
            </a:r>
          </a:p>
        </p:txBody>
      </p:sp>
      <p:sp>
        <p:nvSpPr>
          <p:cNvPr id="33" name="矩形 32"/>
          <p:cNvSpPr/>
          <p:nvPr/>
        </p:nvSpPr>
        <p:spPr>
          <a:xfrm>
            <a:off x="5870786" y="5139021"/>
            <a:ext cx="1364476" cy="954107"/>
          </a:xfrm>
          <a:prstGeom prst="rect">
            <a:avLst/>
          </a:prstGeom>
        </p:spPr>
        <p:txBody>
          <a:bodyPr wrap="none">
            <a:spAutoFit/>
          </a:bodyPr>
          <a:lstStyle/>
          <a:p>
            <a:pPr lvl="1"/>
            <a:r>
              <a:rPr lang="zh-CN" altLang="en-US" sz="2800" b="1" dirty="0">
                <a:solidFill>
                  <a:schemeClr val="bg1"/>
                </a:solidFill>
                <a:latin typeface="微软雅黑" panose="020B0503020204020204" pitchFamily="34" charset="-122"/>
                <a:ea typeface="微软雅黑" panose="020B0503020204020204" pitchFamily="34" charset="-122"/>
              </a:rPr>
              <a:t>恢复</a:t>
            </a:r>
            <a:endParaRPr lang="en-US" altLang="zh-CN" sz="2800" b="1" dirty="0">
              <a:solidFill>
                <a:schemeClr val="bg1"/>
              </a:solidFill>
              <a:latin typeface="微软雅黑" panose="020B0503020204020204" pitchFamily="34" charset="-122"/>
              <a:ea typeface="微软雅黑" panose="020B0503020204020204" pitchFamily="34" charset="-122"/>
            </a:endParaRPr>
          </a:p>
          <a:p>
            <a:pPr lvl="1"/>
            <a:r>
              <a:rPr lang="zh-CN" altLang="en-US" sz="2800" b="1" dirty="0">
                <a:solidFill>
                  <a:schemeClr val="bg1"/>
                </a:solidFill>
                <a:latin typeface="微软雅黑" panose="020B0503020204020204" pitchFamily="34" charset="-122"/>
                <a:ea typeface="微软雅黑" panose="020B0503020204020204" pitchFamily="34" charset="-122"/>
              </a:rPr>
              <a:t>现场</a:t>
            </a:r>
          </a:p>
        </p:txBody>
      </p:sp>
      <p:sp>
        <p:nvSpPr>
          <p:cNvPr id="35" name="矩形 34"/>
          <p:cNvSpPr/>
          <p:nvPr/>
        </p:nvSpPr>
        <p:spPr>
          <a:xfrm>
            <a:off x="2873628" y="5265023"/>
            <a:ext cx="1723549" cy="523220"/>
          </a:xfrm>
          <a:prstGeom prst="rect">
            <a:avLst/>
          </a:prstGeom>
        </p:spPr>
        <p:txBody>
          <a:bodyPr wrap="none">
            <a:spAutoFit/>
          </a:bodyPr>
          <a:lstStyle/>
          <a:p>
            <a:pPr lvl="1"/>
            <a:r>
              <a:rPr lang="zh-CN" altLang="en-US" sz="2800" b="1" dirty="0">
                <a:solidFill>
                  <a:schemeClr val="bg1"/>
                </a:solidFill>
                <a:latin typeface="微软雅黑" panose="020B0503020204020204" pitchFamily="34" charset="-122"/>
                <a:ea typeface="微软雅黑" panose="020B0503020204020204" pitchFamily="34" charset="-122"/>
              </a:rPr>
              <a:t>开中断</a:t>
            </a:r>
          </a:p>
        </p:txBody>
      </p:sp>
      <p:sp>
        <p:nvSpPr>
          <p:cNvPr id="36" name="矩形 35"/>
          <p:cNvSpPr/>
          <p:nvPr/>
        </p:nvSpPr>
        <p:spPr>
          <a:xfrm>
            <a:off x="2429316" y="2650431"/>
            <a:ext cx="1471878" cy="954107"/>
          </a:xfrm>
          <a:prstGeom prst="rect">
            <a:avLst/>
          </a:prstGeom>
        </p:spPr>
        <p:txBody>
          <a:bodyPr wrap="none">
            <a:spAutoFit/>
          </a:bodyPr>
          <a:lstStyle/>
          <a:p>
            <a:pPr lvl="1"/>
            <a:r>
              <a:rPr lang="zh-CN" altLang="en-US" sz="2800" b="1" dirty="0">
                <a:solidFill>
                  <a:schemeClr val="bg1"/>
                </a:solidFill>
                <a:latin typeface="微软雅黑" panose="020B0503020204020204" pitchFamily="34" charset="-122"/>
                <a:ea typeface="微软雅黑" panose="020B0503020204020204" pitchFamily="34" charset="-122"/>
              </a:rPr>
              <a:t>中断</a:t>
            </a:r>
            <a:endParaRPr lang="en-US" altLang="zh-CN" sz="2800" b="1" dirty="0">
              <a:solidFill>
                <a:schemeClr val="bg1"/>
              </a:solidFill>
              <a:latin typeface="微软雅黑" panose="020B0503020204020204" pitchFamily="34" charset="-122"/>
              <a:ea typeface="微软雅黑" panose="020B0503020204020204" pitchFamily="34" charset="-122"/>
            </a:endParaRPr>
          </a:p>
          <a:p>
            <a:pPr lvl="1"/>
            <a:r>
              <a:rPr lang="zh-CN" altLang="en-US" sz="2800" b="1" dirty="0">
                <a:solidFill>
                  <a:schemeClr val="bg1"/>
                </a:solidFill>
                <a:latin typeface="微软雅黑" panose="020B0503020204020204" pitchFamily="34" charset="-122"/>
                <a:ea typeface="微软雅黑" panose="020B0503020204020204" pitchFamily="34" charset="-122"/>
              </a:rPr>
              <a:t>返回 </a:t>
            </a:r>
          </a:p>
        </p:txBody>
      </p:sp>
    </p:spTree>
    <p:extLst>
      <p:ext uri="{BB962C8B-B14F-4D97-AF65-F5344CB8AC3E}">
        <p14:creationId xmlns:p14="http://schemas.microsoft.com/office/powerpoint/2010/main" val="4056266721"/>
      </p:ext>
    </p:extLst>
  </p:cSld>
  <p:clrMapOvr>
    <a:masterClrMapping/>
  </p:clrMapOvr>
  <mc:AlternateContent xmlns:mc="http://schemas.openxmlformats.org/markup-compatibility/2006" xmlns:p14="http://schemas.microsoft.com/office/powerpoint/2010/main">
    <mc:Choice Requires="p14">
      <p:transition spd="slow" p14:dur="1300" advTm="0">
        <p14:pan dir="u"/>
      </p:transition>
    </mc:Choice>
    <mc:Fallback xmlns="">
      <p:transition spd="slow" advTm="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356558" y="753623"/>
            <a:ext cx="8432800" cy="533400"/>
          </a:xfrm>
        </p:spPr>
        <p:txBody>
          <a:bodyPr>
            <a:normAutofit/>
          </a:bodyPr>
          <a:lstStyle/>
          <a:p>
            <a:pPr algn="l" eaLnBrk="1" hangingPunct="1"/>
            <a:r>
              <a:rPr lang="zh-CN" altLang="en-US" sz="3200" b="1" dirty="0">
                <a:latin typeface="微软雅黑" panose="020B0503020204020204" pitchFamily="34" charset="-122"/>
                <a:ea typeface="微软雅黑" panose="020B0503020204020204" pitchFamily="34" charset="-122"/>
              </a:rPr>
              <a:t>单级中断和多级中断 </a:t>
            </a:r>
          </a:p>
        </p:txBody>
      </p:sp>
      <p:sp>
        <p:nvSpPr>
          <p:cNvPr id="22531" name="Rectangle 3"/>
          <p:cNvSpPr>
            <a:spLocks noGrp="1" noChangeArrowheads="1"/>
          </p:cNvSpPr>
          <p:nvPr>
            <p:ph type="body" sz="half" idx="1"/>
          </p:nvPr>
        </p:nvSpPr>
        <p:spPr>
          <a:xfrm>
            <a:off x="894765" y="2425532"/>
            <a:ext cx="10720198" cy="2547521"/>
          </a:xfrm>
          <a:ln w="28575">
            <a:solidFill>
              <a:srgbClr val="FFC000"/>
            </a:solidFill>
          </a:ln>
        </p:spPr>
        <p:txBody>
          <a:bodyPr>
            <a:normAutofit/>
          </a:bodyPr>
          <a:lstStyle/>
          <a:p>
            <a:pPr marL="0" indent="0" eaLnBrk="1" hangingPunct="1">
              <a:lnSpc>
                <a:spcPct val="200000"/>
              </a:lnSpc>
              <a:buNone/>
            </a:pPr>
            <a:r>
              <a:rPr lang="zh-CN" altLang="en-US" b="1" dirty="0">
                <a:solidFill>
                  <a:srgbClr val="FF0000"/>
                </a:solidFill>
                <a:latin typeface="微软雅黑" panose="020B0503020204020204" pitchFamily="34" charset="-122"/>
                <a:ea typeface="微软雅黑" panose="020B0503020204020204" pitchFamily="34" charset="-122"/>
              </a:rPr>
              <a:t>中断优先权</a:t>
            </a:r>
            <a:r>
              <a:rPr lang="zh-CN" altLang="en-US" b="1" dirty="0">
                <a:latin typeface="微软雅黑" panose="020B0503020204020204" pitchFamily="34" charset="-122"/>
                <a:ea typeface="微软雅黑" panose="020B0503020204020204" pitchFamily="34" charset="-122"/>
              </a:rPr>
              <a:t>：根据中断源处理的轻重缓急确定每个中断源的优先权。</a:t>
            </a:r>
            <a:endParaRPr lang="en-US" altLang="zh-CN" b="1" dirty="0">
              <a:latin typeface="微软雅黑" panose="020B0503020204020204" pitchFamily="34" charset="-122"/>
              <a:ea typeface="微软雅黑" panose="020B0503020204020204" pitchFamily="34" charset="-122"/>
            </a:endParaRPr>
          </a:p>
          <a:p>
            <a:pPr marL="0" indent="0" eaLnBrk="1" hangingPunct="1">
              <a:lnSpc>
                <a:spcPct val="200000"/>
              </a:lnSpc>
              <a:buNone/>
            </a:pPr>
            <a:r>
              <a:rPr lang="zh-CN" altLang="en-US" b="1" dirty="0">
                <a:latin typeface="微软雅黑" panose="020B0503020204020204" pitchFamily="34" charset="-122"/>
                <a:ea typeface="微软雅黑" panose="020B0503020204020204" pitchFamily="34" charset="-122"/>
              </a:rPr>
              <a:t>当同时有多个中断源有中断请求时，优先权决定了中断响应的顺序。</a:t>
            </a:r>
            <a:endParaRPr lang="en-US" altLang="zh-CN" b="1" dirty="0">
              <a:latin typeface="微软雅黑" panose="020B0503020204020204" pitchFamily="34" charset="-122"/>
              <a:ea typeface="微软雅黑" panose="020B0503020204020204" pitchFamily="34" charset="-122"/>
            </a:endParaRPr>
          </a:p>
        </p:txBody>
      </p:sp>
      <p:grpSp>
        <p:nvGrpSpPr>
          <p:cNvPr id="4" name="组合 3"/>
          <p:cNvGrpSpPr/>
          <p:nvPr/>
        </p:nvGrpSpPr>
        <p:grpSpPr>
          <a:xfrm>
            <a:off x="634125" y="665036"/>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5"/>
          <p:cNvSpPr>
            <a:spLocks/>
          </p:cNvSpPr>
          <p:nvPr/>
        </p:nvSpPr>
        <p:spPr bwMode="auto">
          <a:xfrm>
            <a:off x="1186989" y="1413566"/>
            <a:ext cx="304681" cy="4308380"/>
          </a:xfrm>
          <a:custGeom>
            <a:avLst/>
            <a:gdLst>
              <a:gd name="T0" fmla="*/ 175 w 351"/>
              <a:gd name="T1" fmla="*/ 0 h 4948"/>
              <a:gd name="T2" fmla="*/ 175 w 351"/>
              <a:gd name="T3" fmla="*/ 0 h 4948"/>
              <a:gd name="T4" fmla="*/ 351 w 351"/>
              <a:gd name="T5" fmla="*/ 176 h 4948"/>
              <a:gd name="T6" fmla="*/ 351 w 351"/>
              <a:gd name="T7" fmla="*/ 4772 h 4948"/>
              <a:gd name="T8" fmla="*/ 175 w 351"/>
              <a:gd name="T9" fmla="*/ 4948 h 4948"/>
              <a:gd name="T10" fmla="*/ 175 w 351"/>
              <a:gd name="T11" fmla="*/ 4948 h 4948"/>
              <a:gd name="T12" fmla="*/ 0 w 351"/>
              <a:gd name="T13" fmla="*/ 4772 h 4948"/>
              <a:gd name="T14" fmla="*/ 0 w 351"/>
              <a:gd name="T15" fmla="*/ 176 h 4948"/>
              <a:gd name="T16" fmla="*/ 175 w 351"/>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948">
                <a:moveTo>
                  <a:pt x="175" y="0"/>
                </a:moveTo>
                <a:lnTo>
                  <a:pt x="175" y="0"/>
                </a:lnTo>
                <a:cubicBezTo>
                  <a:pt x="272" y="0"/>
                  <a:pt x="351" y="79"/>
                  <a:pt x="351" y="176"/>
                </a:cubicBezTo>
                <a:lnTo>
                  <a:pt x="351" y="4772"/>
                </a:lnTo>
                <a:cubicBezTo>
                  <a:pt x="351" y="4869"/>
                  <a:pt x="272" y="4948"/>
                  <a:pt x="175" y="4948"/>
                </a:cubicBezTo>
                <a:lnTo>
                  <a:pt x="175" y="4948"/>
                </a:lnTo>
                <a:cubicBezTo>
                  <a:pt x="79" y="4948"/>
                  <a:pt x="0" y="4869"/>
                  <a:pt x="0" y="4772"/>
                </a:cubicBezTo>
                <a:lnTo>
                  <a:pt x="0" y="176"/>
                </a:lnTo>
                <a:cubicBezTo>
                  <a:pt x="0" y="79"/>
                  <a:pt x="79" y="0"/>
                  <a:pt x="175"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6"/>
          <p:cNvSpPr>
            <a:spLocks/>
          </p:cNvSpPr>
          <p:nvPr/>
        </p:nvSpPr>
        <p:spPr bwMode="auto">
          <a:xfrm>
            <a:off x="1186989" y="1892805"/>
            <a:ext cx="304681" cy="3829143"/>
          </a:xfrm>
          <a:custGeom>
            <a:avLst/>
            <a:gdLst>
              <a:gd name="T0" fmla="*/ 175 w 351"/>
              <a:gd name="T1" fmla="*/ 0 h 4397"/>
              <a:gd name="T2" fmla="*/ 175 w 351"/>
              <a:gd name="T3" fmla="*/ 0 h 4397"/>
              <a:gd name="T4" fmla="*/ 351 w 351"/>
              <a:gd name="T5" fmla="*/ 143 h 4397"/>
              <a:gd name="T6" fmla="*/ 351 w 351"/>
              <a:gd name="T7" fmla="*/ 4254 h 4397"/>
              <a:gd name="T8" fmla="*/ 175 w 351"/>
              <a:gd name="T9" fmla="*/ 4397 h 4397"/>
              <a:gd name="T10" fmla="*/ 175 w 351"/>
              <a:gd name="T11" fmla="*/ 4397 h 4397"/>
              <a:gd name="T12" fmla="*/ 0 w 351"/>
              <a:gd name="T13" fmla="*/ 4254 h 4397"/>
              <a:gd name="T14" fmla="*/ 0 w 351"/>
              <a:gd name="T15" fmla="*/ 143 h 4397"/>
              <a:gd name="T16" fmla="*/ 175 w 351"/>
              <a:gd name="T17" fmla="*/ 0 h 4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397">
                <a:moveTo>
                  <a:pt x="175" y="0"/>
                </a:moveTo>
                <a:lnTo>
                  <a:pt x="175" y="0"/>
                </a:lnTo>
                <a:cubicBezTo>
                  <a:pt x="272" y="0"/>
                  <a:pt x="351" y="64"/>
                  <a:pt x="351" y="143"/>
                </a:cubicBezTo>
                <a:lnTo>
                  <a:pt x="351" y="4254"/>
                </a:lnTo>
                <a:cubicBezTo>
                  <a:pt x="351" y="4332"/>
                  <a:pt x="272" y="4397"/>
                  <a:pt x="175" y="4397"/>
                </a:cubicBezTo>
                <a:lnTo>
                  <a:pt x="175" y="4397"/>
                </a:lnTo>
                <a:cubicBezTo>
                  <a:pt x="79" y="4397"/>
                  <a:pt x="0" y="4332"/>
                  <a:pt x="0" y="4254"/>
                </a:cubicBezTo>
                <a:lnTo>
                  <a:pt x="0" y="143"/>
                </a:lnTo>
                <a:cubicBezTo>
                  <a:pt x="0" y="64"/>
                  <a:pt x="79" y="0"/>
                  <a:pt x="175" y="0"/>
                </a:cubicBezTo>
                <a:close/>
              </a:path>
            </a:pathLst>
          </a:custGeom>
          <a:solidFill>
            <a:srgbClr val="00A3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0" name="Oval 7"/>
          <p:cNvSpPr>
            <a:spLocks noChangeArrowheads="1"/>
          </p:cNvSpPr>
          <p:nvPr/>
        </p:nvSpPr>
        <p:spPr bwMode="auto">
          <a:xfrm>
            <a:off x="1056865" y="5353789"/>
            <a:ext cx="585559" cy="585559"/>
          </a:xfrm>
          <a:prstGeom prst="ellipse">
            <a:avLst/>
          </a:prstGeom>
          <a:solidFill>
            <a:srgbClr val="00A3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8"/>
          <p:cNvSpPr>
            <a:spLocks/>
          </p:cNvSpPr>
          <p:nvPr/>
        </p:nvSpPr>
        <p:spPr bwMode="auto">
          <a:xfrm>
            <a:off x="2361453" y="1413566"/>
            <a:ext cx="306268" cy="4308380"/>
          </a:xfrm>
          <a:custGeom>
            <a:avLst/>
            <a:gdLst>
              <a:gd name="T0" fmla="*/ 175 w 351"/>
              <a:gd name="T1" fmla="*/ 0 h 4948"/>
              <a:gd name="T2" fmla="*/ 175 w 351"/>
              <a:gd name="T3" fmla="*/ 0 h 4948"/>
              <a:gd name="T4" fmla="*/ 351 w 351"/>
              <a:gd name="T5" fmla="*/ 176 h 4948"/>
              <a:gd name="T6" fmla="*/ 351 w 351"/>
              <a:gd name="T7" fmla="*/ 4772 h 4948"/>
              <a:gd name="T8" fmla="*/ 175 w 351"/>
              <a:gd name="T9" fmla="*/ 4948 h 4948"/>
              <a:gd name="T10" fmla="*/ 175 w 351"/>
              <a:gd name="T11" fmla="*/ 4948 h 4948"/>
              <a:gd name="T12" fmla="*/ 0 w 351"/>
              <a:gd name="T13" fmla="*/ 4772 h 4948"/>
              <a:gd name="T14" fmla="*/ 0 w 351"/>
              <a:gd name="T15" fmla="*/ 176 h 4948"/>
              <a:gd name="T16" fmla="*/ 175 w 351"/>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948">
                <a:moveTo>
                  <a:pt x="175" y="0"/>
                </a:moveTo>
                <a:lnTo>
                  <a:pt x="175" y="0"/>
                </a:lnTo>
                <a:cubicBezTo>
                  <a:pt x="272" y="0"/>
                  <a:pt x="351" y="79"/>
                  <a:pt x="351" y="176"/>
                </a:cubicBezTo>
                <a:lnTo>
                  <a:pt x="351" y="4772"/>
                </a:lnTo>
                <a:cubicBezTo>
                  <a:pt x="351" y="4869"/>
                  <a:pt x="272" y="4948"/>
                  <a:pt x="175" y="4948"/>
                </a:cubicBezTo>
                <a:lnTo>
                  <a:pt x="175" y="4948"/>
                </a:lnTo>
                <a:cubicBezTo>
                  <a:pt x="79" y="4948"/>
                  <a:pt x="0" y="4869"/>
                  <a:pt x="0" y="4772"/>
                </a:cubicBezTo>
                <a:lnTo>
                  <a:pt x="0" y="176"/>
                </a:lnTo>
                <a:cubicBezTo>
                  <a:pt x="0" y="79"/>
                  <a:pt x="79" y="0"/>
                  <a:pt x="175"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9"/>
          <p:cNvSpPr>
            <a:spLocks/>
          </p:cNvSpPr>
          <p:nvPr/>
        </p:nvSpPr>
        <p:spPr bwMode="auto">
          <a:xfrm>
            <a:off x="2361453" y="2389499"/>
            <a:ext cx="306268" cy="3332449"/>
          </a:xfrm>
          <a:custGeom>
            <a:avLst/>
            <a:gdLst>
              <a:gd name="T0" fmla="*/ 175 w 351"/>
              <a:gd name="T1" fmla="*/ 0 h 3828"/>
              <a:gd name="T2" fmla="*/ 175 w 351"/>
              <a:gd name="T3" fmla="*/ 0 h 3828"/>
              <a:gd name="T4" fmla="*/ 351 w 351"/>
              <a:gd name="T5" fmla="*/ 124 h 3828"/>
              <a:gd name="T6" fmla="*/ 351 w 351"/>
              <a:gd name="T7" fmla="*/ 3703 h 3828"/>
              <a:gd name="T8" fmla="*/ 175 w 351"/>
              <a:gd name="T9" fmla="*/ 3828 h 3828"/>
              <a:gd name="T10" fmla="*/ 175 w 351"/>
              <a:gd name="T11" fmla="*/ 3828 h 3828"/>
              <a:gd name="T12" fmla="*/ 0 w 351"/>
              <a:gd name="T13" fmla="*/ 3703 h 3828"/>
              <a:gd name="T14" fmla="*/ 0 w 351"/>
              <a:gd name="T15" fmla="*/ 124 h 3828"/>
              <a:gd name="T16" fmla="*/ 175 w 351"/>
              <a:gd name="T17" fmla="*/ 0 h 3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3828">
                <a:moveTo>
                  <a:pt x="175" y="0"/>
                </a:moveTo>
                <a:lnTo>
                  <a:pt x="175" y="0"/>
                </a:lnTo>
                <a:cubicBezTo>
                  <a:pt x="272" y="0"/>
                  <a:pt x="351" y="56"/>
                  <a:pt x="351" y="124"/>
                </a:cubicBezTo>
                <a:lnTo>
                  <a:pt x="351" y="3703"/>
                </a:lnTo>
                <a:cubicBezTo>
                  <a:pt x="351" y="3772"/>
                  <a:pt x="272" y="3828"/>
                  <a:pt x="175" y="3828"/>
                </a:cubicBezTo>
                <a:lnTo>
                  <a:pt x="175" y="3828"/>
                </a:lnTo>
                <a:cubicBezTo>
                  <a:pt x="79" y="3828"/>
                  <a:pt x="0" y="3772"/>
                  <a:pt x="0" y="3703"/>
                </a:cubicBezTo>
                <a:lnTo>
                  <a:pt x="0" y="124"/>
                </a:lnTo>
                <a:cubicBezTo>
                  <a:pt x="0" y="56"/>
                  <a:pt x="79" y="0"/>
                  <a:pt x="175" y="0"/>
                </a:cubicBezTo>
                <a:close/>
              </a:path>
            </a:pathLst>
          </a:custGeom>
          <a:solidFill>
            <a:srgbClr val="93CA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3" name="Oval 10"/>
          <p:cNvSpPr>
            <a:spLocks noChangeArrowheads="1"/>
          </p:cNvSpPr>
          <p:nvPr/>
        </p:nvSpPr>
        <p:spPr bwMode="auto">
          <a:xfrm>
            <a:off x="2231329" y="5353789"/>
            <a:ext cx="585559" cy="585559"/>
          </a:xfrm>
          <a:prstGeom prst="ellipse">
            <a:avLst/>
          </a:prstGeom>
          <a:solidFill>
            <a:srgbClr val="93CA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4" name="Freeform 11"/>
          <p:cNvSpPr>
            <a:spLocks/>
          </p:cNvSpPr>
          <p:nvPr/>
        </p:nvSpPr>
        <p:spPr bwMode="auto">
          <a:xfrm>
            <a:off x="3461731" y="1413566"/>
            <a:ext cx="306268" cy="4308380"/>
          </a:xfrm>
          <a:custGeom>
            <a:avLst/>
            <a:gdLst>
              <a:gd name="T0" fmla="*/ 175 w 351"/>
              <a:gd name="T1" fmla="*/ 0 h 4948"/>
              <a:gd name="T2" fmla="*/ 175 w 351"/>
              <a:gd name="T3" fmla="*/ 0 h 4948"/>
              <a:gd name="T4" fmla="*/ 351 w 351"/>
              <a:gd name="T5" fmla="*/ 176 h 4948"/>
              <a:gd name="T6" fmla="*/ 351 w 351"/>
              <a:gd name="T7" fmla="*/ 4772 h 4948"/>
              <a:gd name="T8" fmla="*/ 175 w 351"/>
              <a:gd name="T9" fmla="*/ 4948 h 4948"/>
              <a:gd name="T10" fmla="*/ 175 w 351"/>
              <a:gd name="T11" fmla="*/ 4948 h 4948"/>
              <a:gd name="T12" fmla="*/ 0 w 351"/>
              <a:gd name="T13" fmla="*/ 4772 h 4948"/>
              <a:gd name="T14" fmla="*/ 0 w 351"/>
              <a:gd name="T15" fmla="*/ 176 h 4948"/>
              <a:gd name="T16" fmla="*/ 175 w 351"/>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948">
                <a:moveTo>
                  <a:pt x="175" y="0"/>
                </a:moveTo>
                <a:lnTo>
                  <a:pt x="175" y="0"/>
                </a:lnTo>
                <a:cubicBezTo>
                  <a:pt x="272" y="0"/>
                  <a:pt x="351" y="79"/>
                  <a:pt x="351" y="176"/>
                </a:cubicBezTo>
                <a:lnTo>
                  <a:pt x="351" y="4772"/>
                </a:lnTo>
                <a:cubicBezTo>
                  <a:pt x="351" y="4869"/>
                  <a:pt x="272" y="4948"/>
                  <a:pt x="175" y="4948"/>
                </a:cubicBezTo>
                <a:lnTo>
                  <a:pt x="175" y="4948"/>
                </a:lnTo>
                <a:cubicBezTo>
                  <a:pt x="79" y="4948"/>
                  <a:pt x="0" y="4869"/>
                  <a:pt x="0" y="4772"/>
                </a:cubicBezTo>
                <a:lnTo>
                  <a:pt x="0" y="176"/>
                </a:lnTo>
                <a:cubicBezTo>
                  <a:pt x="0" y="79"/>
                  <a:pt x="79" y="0"/>
                  <a:pt x="175"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12"/>
          <p:cNvSpPr>
            <a:spLocks/>
          </p:cNvSpPr>
          <p:nvPr/>
        </p:nvSpPr>
        <p:spPr bwMode="auto">
          <a:xfrm>
            <a:off x="3461731" y="1591295"/>
            <a:ext cx="306268" cy="4130649"/>
          </a:xfrm>
          <a:custGeom>
            <a:avLst/>
            <a:gdLst>
              <a:gd name="T0" fmla="*/ 175 w 351"/>
              <a:gd name="T1" fmla="*/ 0 h 4744"/>
              <a:gd name="T2" fmla="*/ 175 w 351"/>
              <a:gd name="T3" fmla="*/ 0 h 4744"/>
              <a:gd name="T4" fmla="*/ 351 w 351"/>
              <a:gd name="T5" fmla="*/ 154 h 4744"/>
              <a:gd name="T6" fmla="*/ 351 w 351"/>
              <a:gd name="T7" fmla="*/ 4589 h 4744"/>
              <a:gd name="T8" fmla="*/ 175 w 351"/>
              <a:gd name="T9" fmla="*/ 4744 h 4744"/>
              <a:gd name="T10" fmla="*/ 175 w 351"/>
              <a:gd name="T11" fmla="*/ 4744 h 4744"/>
              <a:gd name="T12" fmla="*/ 0 w 351"/>
              <a:gd name="T13" fmla="*/ 4589 h 4744"/>
              <a:gd name="T14" fmla="*/ 0 w 351"/>
              <a:gd name="T15" fmla="*/ 154 h 4744"/>
              <a:gd name="T16" fmla="*/ 175 w 351"/>
              <a:gd name="T17" fmla="*/ 0 h 4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744">
                <a:moveTo>
                  <a:pt x="175" y="0"/>
                </a:moveTo>
                <a:lnTo>
                  <a:pt x="175" y="0"/>
                </a:lnTo>
                <a:cubicBezTo>
                  <a:pt x="272" y="0"/>
                  <a:pt x="351" y="69"/>
                  <a:pt x="351" y="154"/>
                </a:cubicBezTo>
                <a:lnTo>
                  <a:pt x="351" y="4589"/>
                </a:lnTo>
                <a:cubicBezTo>
                  <a:pt x="351" y="4674"/>
                  <a:pt x="272" y="4744"/>
                  <a:pt x="175" y="4744"/>
                </a:cubicBezTo>
                <a:lnTo>
                  <a:pt x="175" y="4744"/>
                </a:lnTo>
                <a:cubicBezTo>
                  <a:pt x="79" y="4744"/>
                  <a:pt x="0" y="4674"/>
                  <a:pt x="0" y="4589"/>
                </a:cubicBezTo>
                <a:lnTo>
                  <a:pt x="0" y="154"/>
                </a:lnTo>
                <a:cubicBezTo>
                  <a:pt x="0" y="69"/>
                  <a:pt x="79" y="0"/>
                  <a:pt x="175" y="0"/>
                </a:cubicBezTo>
                <a:close/>
              </a:path>
            </a:pathLst>
          </a:custGeom>
          <a:solidFill>
            <a:schemeClr val="accent6">
              <a:lumMod val="75000"/>
            </a:schemeClr>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6" name="Oval 13"/>
          <p:cNvSpPr>
            <a:spLocks noChangeArrowheads="1"/>
          </p:cNvSpPr>
          <p:nvPr/>
        </p:nvSpPr>
        <p:spPr bwMode="auto">
          <a:xfrm>
            <a:off x="3331607" y="5353789"/>
            <a:ext cx="585559" cy="585559"/>
          </a:xfrm>
          <a:prstGeom prst="ellipse">
            <a:avLst/>
          </a:prstGeom>
          <a:solidFill>
            <a:schemeClr val="accent6">
              <a:lumMod val="75000"/>
            </a:schemeClr>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7" name="Freeform 14"/>
          <p:cNvSpPr>
            <a:spLocks/>
          </p:cNvSpPr>
          <p:nvPr/>
        </p:nvSpPr>
        <p:spPr bwMode="auto">
          <a:xfrm>
            <a:off x="4703241" y="1413566"/>
            <a:ext cx="306268" cy="4308380"/>
          </a:xfrm>
          <a:custGeom>
            <a:avLst/>
            <a:gdLst>
              <a:gd name="T0" fmla="*/ 176 w 352"/>
              <a:gd name="T1" fmla="*/ 0 h 4948"/>
              <a:gd name="T2" fmla="*/ 176 w 352"/>
              <a:gd name="T3" fmla="*/ 0 h 4948"/>
              <a:gd name="T4" fmla="*/ 352 w 352"/>
              <a:gd name="T5" fmla="*/ 176 h 4948"/>
              <a:gd name="T6" fmla="*/ 352 w 352"/>
              <a:gd name="T7" fmla="*/ 4772 h 4948"/>
              <a:gd name="T8" fmla="*/ 176 w 352"/>
              <a:gd name="T9" fmla="*/ 4948 h 4948"/>
              <a:gd name="T10" fmla="*/ 176 w 352"/>
              <a:gd name="T11" fmla="*/ 4948 h 4948"/>
              <a:gd name="T12" fmla="*/ 0 w 352"/>
              <a:gd name="T13" fmla="*/ 4772 h 4948"/>
              <a:gd name="T14" fmla="*/ 0 w 352"/>
              <a:gd name="T15" fmla="*/ 176 h 4948"/>
              <a:gd name="T16" fmla="*/ 176 w 352"/>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948">
                <a:moveTo>
                  <a:pt x="176" y="0"/>
                </a:moveTo>
                <a:lnTo>
                  <a:pt x="176" y="0"/>
                </a:lnTo>
                <a:cubicBezTo>
                  <a:pt x="273" y="0"/>
                  <a:pt x="352" y="79"/>
                  <a:pt x="352" y="176"/>
                </a:cubicBezTo>
                <a:lnTo>
                  <a:pt x="352" y="4772"/>
                </a:lnTo>
                <a:cubicBezTo>
                  <a:pt x="352" y="4869"/>
                  <a:pt x="273" y="4948"/>
                  <a:pt x="176" y="4948"/>
                </a:cubicBezTo>
                <a:lnTo>
                  <a:pt x="176" y="4948"/>
                </a:lnTo>
                <a:cubicBezTo>
                  <a:pt x="79" y="4948"/>
                  <a:pt x="0" y="4869"/>
                  <a:pt x="0" y="4772"/>
                </a:cubicBezTo>
                <a:lnTo>
                  <a:pt x="0" y="176"/>
                </a:lnTo>
                <a:cubicBezTo>
                  <a:pt x="0" y="79"/>
                  <a:pt x="79" y="0"/>
                  <a:pt x="176"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8" name="Freeform 15"/>
          <p:cNvSpPr>
            <a:spLocks/>
          </p:cNvSpPr>
          <p:nvPr/>
        </p:nvSpPr>
        <p:spPr bwMode="auto">
          <a:xfrm>
            <a:off x="4703241" y="2061387"/>
            <a:ext cx="306268" cy="3660561"/>
          </a:xfrm>
          <a:custGeom>
            <a:avLst/>
            <a:gdLst>
              <a:gd name="T0" fmla="*/ 176 w 352"/>
              <a:gd name="T1" fmla="*/ 0 h 4581"/>
              <a:gd name="T2" fmla="*/ 176 w 352"/>
              <a:gd name="T3" fmla="*/ 0 h 4581"/>
              <a:gd name="T4" fmla="*/ 352 w 352"/>
              <a:gd name="T5" fmla="*/ 149 h 4581"/>
              <a:gd name="T6" fmla="*/ 352 w 352"/>
              <a:gd name="T7" fmla="*/ 4432 h 4581"/>
              <a:gd name="T8" fmla="*/ 176 w 352"/>
              <a:gd name="T9" fmla="*/ 4581 h 4581"/>
              <a:gd name="T10" fmla="*/ 176 w 352"/>
              <a:gd name="T11" fmla="*/ 4581 h 4581"/>
              <a:gd name="T12" fmla="*/ 0 w 352"/>
              <a:gd name="T13" fmla="*/ 4432 h 4581"/>
              <a:gd name="T14" fmla="*/ 0 w 352"/>
              <a:gd name="T15" fmla="*/ 149 h 4581"/>
              <a:gd name="T16" fmla="*/ 176 w 352"/>
              <a:gd name="T17" fmla="*/ 0 h 4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581">
                <a:moveTo>
                  <a:pt x="176" y="0"/>
                </a:moveTo>
                <a:lnTo>
                  <a:pt x="176" y="0"/>
                </a:lnTo>
                <a:cubicBezTo>
                  <a:pt x="273" y="0"/>
                  <a:pt x="352" y="67"/>
                  <a:pt x="352" y="149"/>
                </a:cubicBezTo>
                <a:lnTo>
                  <a:pt x="352" y="4432"/>
                </a:lnTo>
                <a:cubicBezTo>
                  <a:pt x="352" y="4514"/>
                  <a:pt x="273" y="4581"/>
                  <a:pt x="176" y="4581"/>
                </a:cubicBezTo>
                <a:lnTo>
                  <a:pt x="176" y="4581"/>
                </a:lnTo>
                <a:cubicBezTo>
                  <a:pt x="79" y="4581"/>
                  <a:pt x="0" y="4514"/>
                  <a:pt x="0" y="4432"/>
                </a:cubicBezTo>
                <a:lnTo>
                  <a:pt x="0" y="149"/>
                </a:lnTo>
                <a:cubicBezTo>
                  <a:pt x="0" y="67"/>
                  <a:pt x="79" y="0"/>
                  <a:pt x="176" y="0"/>
                </a:cubicBezTo>
                <a:close/>
              </a:path>
            </a:pathLst>
          </a:cu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9" name="Oval 16"/>
          <p:cNvSpPr>
            <a:spLocks noChangeArrowheads="1"/>
          </p:cNvSpPr>
          <p:nvPr/>
        </p:nvSpPr>
        <p:spPr bwMode="auto">
          <a:xfrm>
            <a:off x="4574706" y="5353789"/>
            <a:ext cx="585559" cy="585559"/>
          </a:xfrm>
          <a:prstGeom prst="ellipse">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5" name="矩形 83"/>
          <p:cNvSpPr>
            <a:spLocks noChangeArrowheads="1"/>
          </p:cNvSpPr>
          <p:nvPr/>
        </p:nvSpPr>
        <p:spPr bwMode="auto">
          <a:xfrm>
            <a:off x="6217993" y="1067360"/>
            <a:ext cx="5107491" cy="5150472"/>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26" name="TextBox 84"/>
          <p:cNvSpPr txBox="1">
            <a:spLocks noChangeArrowheads="1"/>
          </p:cNvSpPr>
          <p:nvPr/>
        </p:nvSpPr>
        <p:spPr bwMode="auto">
          <a:xfrm>
            <a:off x="6407005" y="956872"/>
            <a:ext cx="4972361" cy="5733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98" tIns="45699" rIns="91398" bIns="45699">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200000"/>
              </a:lnSpc>
            </a:pPr>
            <a:r>
              <a:rPr lang="zh-CN" altLang="en-US" sz="2800" b="1" dirty="0">
                <a:solidFill>
                  <a:srgbClr val="FF0000"/>
                </a:solidFill>
                <a:latin typeface="微软雅黑" panose="020B0503020204020204" pitchFamily="34" charset="-122"/>
                <a:ea typeface="微软雅黑" panose="020B0503020204020204" pitchFamily="34" charset="-122"/>
              </a:rPr>
              <a:t>中断级</a:t>
            </a:r>
            <a:r>
              <a:rPr lang="zh-CN" altLang="en-US" sz="2800" b="1" dirty="0">
                <a:latin typeface="微软雅黑" panose="020B0503020204020204" pitchFamily="34" charset="-122"/>
                <a:ea typeface="微软雅黑" panose="020B0503020204020204" pitchFamily="34" charset="-122"/>
              </a:rPr>
              <a:t>：如果机器系统的中断源很多，还可以在中断优先权的基础上进一步分级，高一级的任何一个中断源的优先权都比低一级的任何一个中断源的优先权高。 </a:t>
            </a:r>
          </a:p>
          <a:p>
            <a:pPr algn="just">
              <a:lnSpc>
                <a:spcPct val="200000"/>
              </a:lnSpc>
            </a:pPr>
            <a:endParaRPr lang="zh-CN" altLang="en-US" sz="1799" b="1" dirty="0">
              <a:solidFill>
                <a:srgbClr val="595959"/>
              </a:solidFill>
              <a:latin typeface="微软雅黑" pitchFamily="34" charset="-122"/>
              <a:ea typeface="微软雅黑" pitchFamily="34" charset="-122"/>
              <a:sym typeface="微软雅黑" pitchFamily="34" charset="-122"/>
            </a:endParaRPr>
          </a:p>
        </p:txBody>
      </p:sp>
      <p:sp>
        <p:nvSpPr>
          <p:cNvPr id="27" name="Freeform 12"/>
          <p:cNvSpPr>
            <a:spLocks/>
          </p:cNvSpPr>
          <p:nvPr/>
        </p:nvSpPr>
        <p:spPr bwMode="auto">
          <a:xfrm>
            <a:off x="6069285" y="899088"/>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p:spPr>
        <p:txBody>
          <a:bodyPr lIns="91398" tIns="45699" rIns="91398" bIns="45699"/>
          <a:lstStyle/>
          <a:p>
            <a:endParaRPr lang="zh-CN" altLang="en-US" sz="1799"/>
          </a:p>
        </p:txBody>
      </p:sp>
      <p:sp>
        <p:nvSpPr>
          <p:cNvPr id="28" name="Freeform 12"/>
          <p:cNvSpPr>
            <a:spLocks/>
          </p:cNvSpPr>
          <p:nvPr/>
        </p:nvSpPr>
        <p:spPr bwMode="auto">
          <a:xfrm flipH="1" flipV="1">
            <a:off x="10904816" y="5802770"/>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p:spPr>
        <p:txBody>
          <a:bodyPr lIns="91398" tIns="45699" rIns="91398" bIns="45699"/>
          <a:lstStyle/>
          <a:p>
            <a:endParaRPr lang="zh-CN" altLang="en-US" sz="1799"/>
          </a:p>
        </p:txBody>
      </p:sp>
      <p:sp>
        <p:nvSpPr>
          <p:cNvPr id="3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Tree>
    <p:extLst>
      <p:ext uri="{BB962C8B-B14F-4D97-AF65-F5344CB8AC3E}">
        <p14:creationId xmlns:p14="http://schemas.microsoft.com/office/powerpoint/2010/main" val="226848693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bwMode="auto">
          <a:xfrm>
            <a:off x="1245654" y="873191"/>
            <a:ext cx="4304914" cy="2424404"/>
          </a:xfrm>
          <a:prstGeom prst="rect">
            <a:avLst/>
          </a:prstGeom>
          <a:blipFill>
            <a:blip r:embed="rId3" cstate="screen">
              <a:extLst>
                <a:ext uri="{28A0092B-C50C-407E-A947-70E740481C1C}">
                  <a14:useLocalDpi xmlns:a14="http://schemas.microsoft.com/office/drawing/2010/main"/>
                </a:ext>
              </a:extLst>
            </a:blip>
            <a:stretch>
              <a:fillRect/>
            </a:stretch>
          </a:blipFill>
          <a:ln w="9525" cap="flat" cmpd="sng" algn="ctr">
            <a:solidFill>
              <a:schemeClr val="accent1">
                <a:lumMod val="60000"/>
                <a:lumOff val="40000"/>
              </a:schemeClr>
            </a:solidFill>
            <a:prstDash val="solid"/>
            <a:round/>
            <a:headEnd type="none" w="med" len="med"/>
            <a:tailEnd type="none" w="med" len="med"/>
          </a:ln>
          <a:effec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4" name="矩形 13"/>
          <p:cNvSpPr/>
          <p:nvPr/>
        </p:nvSpPr>
        <p:spPr bwMode="auto">
          <a:xfrm>
            <a:off x="6616806" y="873191"/>
            <a:ext cx="4209578" cy="2424404"/>
          </a:xfrm>
          <a:prstGeom prst="rect">
            <a:avLst/>
          </a:prstGeom>
          <a:blipFill>
            <a:blip r:embed="rId4" cstate="screen">
              <a:extLst>
                <a:ext uri="{28A0092B-C50C-407E-A947-70E740481C1C}">
                  <a14:useLocalDpi xmlns:a14="http://schemas.microsoft.com/office/drawing/2010/main"/>
                </a:ext>
              </a:extLst>
            </a:blip>
            <a:stretch>
              <a:fillRect/>
            </a:stretch>
          </a:blipFill>
          <a:ln w="9525" cap="flat" cmpd="sng" algn="ctr">
            <a:solidFill>
              <a:schemeClr val="accent1">
                <a:lumMod val="60000"/>
                <a:lumOff val="40000"/>
              </a:schemeClr>
            </a:solidFill>
            <a:prstDash val="solid"/>
            <a:round/>
            <a:headEnd type="none" w="med" len="med"/>
            <a:tailEnd type="none" w="med" len="med"/>
          </a:ln>
          <a:effec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6" name="矩形 15"/>
          <p:cNvSpPr/>
          <p:nvPr/>
        </p:nvSpPr>
        <p:spPr bwMode="auto">
          <a:xfrm>
            <a:off x="0" y="3774457"/>
            <a:ext cx="12192000" cy="647819"/>
          </a:xfrm>
          <a:prstGeom prst="rect">
            <a:avLst/>
          </a:prstGeom>
          <a:solidFill>
            <a:srgbClr val="04BEB0"/>
          </a:solidFill>
          <a:ln w="9525" cap="flat" cmpd="sng" algn="ctr">
            <a:noFill/>
            <a:prstDash val="solid"/>
            <a:round/>
            <a:headEnd type="none" w="med" len="med"/>
            <a:tailEnd type="none" w="med" len="med"/>
          </a:ln>
          <a:effec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8" name="TextBox 17"/>
          <p:cNvSpPr txBox="1"/>
          <p:nvPr/>
        </p:nvSpPr>
        <p:spPr>
          <a:xfrm>
            <a:off x="1152661" y="4513645"/>
            <a:ext cx="4397907" cy="2031283"/>
          </a:xfrm>
          <a:prstGeom prst="rect">
            <a:avLst/>
          </a:prstGeom>
          <a:noFill/>
        </p:spPr>
        <p:txBody>
          <a:bodyPr wrap="square" lIns="91398" tIns="45699" rIns="91398" bIns="45699" rtlCol="0">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如果一个机器系统只有一个中断级，则称该机器的中断系统为</a:t>
            </a:r>
            <a:r>
              <a:rPr lang="zh-CN" altLang="en-US" sz="2800" b="1" dirty="0">
                <a:solidFill>
                  <a:srgbClr val="04BEB0"/>
                </a:solidFill>
                <a:latin typeface="微软雅黑" panose="020B0503020204020204" pitchFamily="34" charset="-122"/>
                <a:ea typeface="微软雅黑" panose="020B0503020204020204" pitchFamily="34" charset="-122"/>
              </a:rPr>
              <a:t>单级中断系统</a:t>
            </a:r>
            <a:r>
              <a:rPr lang="zh-CN" altLang="en-US" sz="2800" b="1" dirty="0">
                <a:latin typeface="微软雅黑" panose="020B0503020204020204" pitchFamily="34" charset="-122"/>
                <a:ea typeface="微软雅黑" panose="020B0503020204020204" pitchFamily="34" charset="-122"/>
              </a:rPr>
              <a:t>；</a:t>
            </a:r>
          </a:p>
        </p:txBody>
      </p:sp>
      <p:sp>
        <p:nvSpPr>
          <p:cNvPr id="19" name="TextBox 18"/>
          <p:cNvSpPr txBox="1"/>
          <p:nvPr/>
        </p:nvSpPr>
        <p:spPr>
          <a:xfrm>
            <a:off x="1409334" y="3865826"/>
            <a:ext cx="3487017" cy="523178"/>
          </a:xfrm>
          <a:prstGeom prst="rect">
            <a:avLst/>
          </a:prstGeom>
          <a:noFill/>
        </p:spPr>
        <p:txBody>
          <a:bodyPr wrap="square" lIns="91398" tIns="45699" rIns="91398" bIns="45699" rtlCol="0">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rPr>
              <a:t>单级中断系统</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sp>
        <p:nvSpPr>
          <p:cNvPr id="2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6872164" y="4513645"/>
            <a:ext cx="4421422" cy="2031325"/>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如果一个机器系统有多个中断级，则称该机器的中断系统为</a:t>
            </a:r>
            <a:r>
              <a:rPr lang="zh-CN" altLang="en-US" sz="2800" b="1" dirty="0">
                <a:solidFill>
                  <a:srgbClr val="04BEB0"/>
                </a:solidFill>
                <a:latin typeface="微软雅黑" panose="020B0503020204020204" pitchFamily="34" charset="-122"/>
                <a:ea typeface="微软雅黑" panose="020B0503020204020204" pitchFamily="34" charset="-122"/>
              </a:rPr>
              <a:t>多级中断系统</a:t>
            </a:r>
            <a:r>
              <a:rPr lang="zh-CN" altLang="en-US" sz="2800" b="1" dirty="0">
                <a:latin typeface="微软雅黑" panose="020B0503020204020204" pitchFamily="34" charset="-122"/>
                <a:ea typeface="微软雅黑" panose="020B0503020204020204" pitchFamily="34" charset="-122"/>
              </a:rPr>
              <a:t>。 </a:t>
            </a:r>
          </a:p>
        </p:txBody>
      </p:sp>
      <p:sp>
        <p:nvSpPr>
          <p:cNvPr id="24" name="TextBox 18"/>
          <p:cNvSpPr txBox="1"/>
          <p:nvPr/>
        </p:nvSpPr>
        <p:spPr>
          <a:xfrm>
            <a:off x="7339367" y="3836777"/>
            <a:ext cx="3487017" cy="523178"/>
          </a:xfrm>
          <a:prstGeom prst="rect">
            <a:avLst/>
          </a:prstGeom>
          <a:noFill/>
        </p:spPr>
        <p:txBody>
          <a:bodyPr wrap="square" lIns="91398" tIns="45699" rIns="91398" bIns="45699" rtlCol="0">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rPr>
              <a:t>多级中断系统</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11842755"/>
      </p:ext>
    </p:extLst>
  </p:cSld>
  <p:clrMapOvr>
    <a:masterClrMapping/>
  </p:clrMapOvr>
  <mc:AlternateContent xmlns:mc="http://schemas.openxmlformats.org/markup-compatibility/2006" xmlns:p14="http://schemas.microsoft.com/office/powerpoint/2010/main">
    <mc:Choice Requires="p14">
      <p:transition spd="slow" p14:dur="1300" advTm="0">
        <p14:pan dir="u"/>
      </p:transition>
    </mc:Choice>
    <mc:Fallback xmlns="">
      <p:transition spd="slow" advTm="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3" name="Object 4"/>
          <p:cNvGraphicFramePr>
            <a:graphicFrameLocks noGrp="1" noChangeAspect="1"/>
          </p:cNvGraphicFramePr>
          <p:nvPr>
            <p:ph sz="half" idx="4294967295"/>
            <p:extLst>
              <p:ext uri="{D42A27DB-BD31-4B8C-83A1-F6EECF244321}">
                <p14:modId xmlns:p14="http://schemas.microsoft.com/office/powerpoint/2010/main" val="2111981298"/>
              </p:ext>
            </p:extLst>
          </p:nvPr>
        </p:nvGraphicFramePr>
        <p:xfrm>
          <a:off x="2589213" y="1628775"/>
          <a:ext cx="6629400" cy="4102100"/>
        </p:xfrm>
        <a:graphic>
          <a:graphicData uri="http://schemas.openxmlformats.org/presentationml/2006/ole">
            <mc:AlternateContent xmlns:mc="http://schemas.openxmlformats.org/markup-compatibility/2006">
              <mc:Choice xmlns:v="urn:schemas-microsoft-com:vml" Requires="v">
                <p:oleObj spid="_x0000_s63510" name="Visio" r:id="rId3" imgW="2939811" imgH="1819971" progId="Visio.Drawing.11">
                  <p:embed/>
                </p:oleObj>
              </mc:Choice>
              <mc:Fallback>
                <p:oleObj name="Visio" r:id="rId3" imgW="2939811" imgH="1819971" progId="Visio.Drawing.11">
                  <p:embed/>
                  <p:pic>
                    <p:nvPicPr>
                      <p:cNvPr id="0" name="Object 4"/>
                      <p:cNvPicPr>
                        <a:picLocks noChangeAspect="1" noChangeArrowheads="1"/>
                      </p:cNvPicPr>
                      <p:nvPr/>
                    </p:nvPicPr>
                    <p:blipFill>
                      <a:blip r:embed="rId4"/>
                      <a:srcRect/>
                      <a:stretch>
                        <a:fillRect/>
                      </a:stretch>
                    </p:blipFill>
                    <p:spPr bwMode="auto">
                      <a:xfrm>
                        <a:off x="2589213" y="1628775"/>
                        <a:ext cx="6629400" cy="410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内容占位符 2"/>
          <p:cNvSpPr txBox="1">
            <a:spLocks/>
          </p:cNvSpPr>
          <p:nvPr/>
        </p:nvSpPr>
        <p:spPr>
          <a:xfrm>
            <a:off x="417740" y="1323832"/>
            <a:ext cx="11414869" cy="4476465"/>
          </a:xfrm>
          <a:prstGeom prst="rect">
            <a:avLst/>
          </a:prstGeom>
          <a:ln w="28575">
            <a:solidFill>
              <a:srgbClr val="01C0B0"/>
            </a:solidFill>
          </a:ln>
        </p:spPr>
        <p:txBody>
          <a:bodyPr vert="horz" lIns="91440" tIns="45720" rIns="91440" bIns="45720" rtlCol="0">
            <a:no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None/>
              <a:tabLst/>
              <a:defRPr/>
            </a:pPr>
            <a:r>
              <a:rPr kumimoji="0" lang="en-US" altLang="zh-CN" sz="2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endPar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9456763" y="2014629"/>
            <a:ext cx="2735237" cy="2528499"/>
          </a:xfrm>
          <a:prstGeom prst="rect">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Oval 9"/>
          <p:cNvSpPr>
            <a:spLocks noChangeArrowheads="1"/>
          </p:cNvSpPr>
          <p:nvPr/>
        </p:nvSpPr>
        <p:spPr bwMode="auto">
          <a:xfrm>
            <a:off x="10248541" y="2746632"/>
            <a:ext cx="1100235" cy="1108082"/>
          </a:xfrm>
          <a:prstGeom prst="ellipse">
            <a:avLst/>
          </a:prstGeom>
          <a:solidFill>
            <a:srgbClr val="FFFFFF"/>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53" name="Freeform 40"/>
          <p:cNvSpPr>
            <a:spLocks noEditPoints="1"/>
          </p:cNvSpPr>
          <p:nvPr/>
        </p:nvSpPr>
        <p:spPr bwMode="auto">
          <a:xfrm>
            <a:off x="10384010" y="3120475"/>
            <a:ext cx="784720" cy="524170"/>
          </a:xfrm>
          <a:custGeom>
            <a:avLst/>
            <a:gdLst>
              <a:gd name="T0" fmla="*/ 544 w 564"/>
              <a:gd name="T1" fmla="*/ 27 h 376"/>
              <a:gd name="T2" fmla="*/ 544 w 564"/>
              <a:gd name="T3" fmla="*/ 309 h 376"/>
              <a:gd name="T4" fmla="*/ 536 w 564"/>
              <a:gd name="T5" fmla="*/ 309 h 376"/>
              <a:gd name="T6" fmla="*/ 518 w 564"/>
              <a:gd name="T7" fmla="*/ 308 h 376"/>
              <a:gd name="T8" fmla="*/ 285 w 564"/>
              <a:gd name="T9" fmla="*/ 367 h 376"/>
              <a:gd name="T10" fmla="*/ 282 w 564"/>
              <a:gd name="T11" fmla="*/ 368 h 376"/>
              <a:gd name="T12" fmla="*/ 279 w 564"/>
              <a:gd name="T13" fmla="*/ 367 h 376"/>
              <a:gd name="T14" fmla="*/ 46 w 564"/>
              <a:gd name="T15" fmla="*/ 308 h 376"/>
              <a:gd name="T16" fmla="*/ 28 w 564"/>
              <a:gd name="T17" fmla="*/ 309 h 376"/>
              <a:gd name="T18" fmla="*/ 20 w 564"/>
              <a:gd name="T19" fmla="*/ 309 h 376"/>
              <a:gd name="T20" fmla="*/ 20 w 564"/>
              <a:gd name="T21" fmla="*/ 27 h 376"/>
              <a:gd name="T22" fmla="*/ 0 w 564"/>
              <a:gd name="T23" fmla="*/ 27 h 376"/>
              <a:gd name="T24" fmla="*/ 0 w 564"/>
              <a:gd name="T25" fmla="*/ 320 h 376"/>
              <a:gd name="T26" fmla="*/ 282 w 564"/>
              <a:gd name="T27" fmla="*/ 376 h 376"/>
              <a:gd name="T28" fmla="*/ 564 w 564"/>
              <a:gd name="T29" fmla="*/ 320 h 376"/>
              <a:gd name="T30" fmla="*/ 564 w 564"/>
              <a:gd name="T31" fmla="*/ 27 h 376"/>
              <a:gd name="T32" fmla="*/ 544 w 564"/>
              <a:gd name="T33" fmla="*/ 27 h 376"/>
              <a:gd name="T34" fmla="*/ 272 w 564"/>
              <a:gd name="T35" fmla="*/ 319 h 376"/>
              <a:gd name="T36" fmla="*/ 272 w 564"/>
              <a:gd name="T37" fmla="*/ 63 h 376"/>
              <a:gd name="T38" fmla="*/ 77 w 564"/>
              <a:gd name="T39" fmla="*/ 1 h 376"/>
              <a:gd name="T40" fmla="*/ 77 w 564"/>
              <a:gd name="T41" fmla="*/ 269 h 376"/>
              <a:gd name="T42" fmla="*/ 84 w 564"/>
              <a:gd name="T43" fmla="*/ 269 h 376"/>
              <a:gd name="T44" fmla="*/ 272 w 564"/>
              <a:gd name="T45" fmla="*/ 319 h 376"/>
              <a:gd name="T46" fmla="*/ 487 w 564"/>
              <a:gd name="T47" fmla="*/ 269 h 376"/>
              <a:gd name="T48" fmla="*/ 487 w 564"/>
              <a:gd name="T49" fmla="*/ 1 h 376"/>
              <a:gd name="T50" fmla="*/ 292 w 564"/>
              <a:gd name="T51" fmla="*/ 63 h 376"/>
              <a:gd name="T52" fmla="*/ 292 w 564"/>
              <a:gd name="T53" fmla="*/ 319 h 376"/>
              <a:gd name="T54" fmla="*/ 480 w 564"/>
              <a:gd name="T55" fmla="*/ 269 h 376"/>
              <a:gd name="T56" fmla="*/ 487 w 564"/>
              <a:gd name="T57" fmla="*/ 269 h 376"/>
              <a:gd name="T58" fmla="*/ 282 w 564"/>
              <a:gd name="T59" fmla="*/ 361 h 376"/>
              <a:gd name="T60" fmla="*/ 531 w 564"/>
              <a:gd name="T61" fmla="*/ 302 h 376"/>
              <a:gd name="T62" fmla="*/ 531 w 564"/>
              <a:gd name="T63" fmla="*/ 5 h 376"/>
              <a:gd name="T64" fmla="*/ 501 w 564"/>
              <a:gd name="T65" fmla="*/ 5 h 376"/>
              <a:gd name="T66" fmla="*/ 501 w 564"/>
              <a:gd name="T67" fmla="*/ 283 h 376"/>
              <a:gd name="T68" fmla="*/ 493 w 564"/>
              <a:gd name="T69" fmla="*/ 282 h 376"/>
              <a:gd name="T70" fmla="*/ 478 w 564"/>
              <a:gd name="T71" fmla="*/ 282 h 376"/>
              <a:gd name="T72" fmla="*/ 287 w 564"/>
              <a:gd name="T73" fmla="*/ 337 h 376"/>
              <a:gd name="T74" fmla="*/ 282 w 564"/>
              <a:gd name="T75" fmla="*/ 340 h 376"/>
              <a:gd name="T76" fmla="*/ 277 w 564"/>
              <a:gd name="T77" fmla="*/ 337 h 376"/>
              <a:gd name="T78" fmla="*/ 86 w 564"/>
              <a:gd name="T79" fmla="*/ 282 h 376"/>
              <a:gd name="T80" fmla="*/ 71 w 564"/>
              <a:gd name="T81" fmla="*/ 282 h 376"/>
              <a:gd name="T82" fmla="*/ 63 w 564"/>
              <a:gd name="T83" fmla="*/ 283 h 376"/>
              <a:gd name="T84" fmla="*/ 63 w 564"/>
              <a:gd name="T85" fmla="*/ 5 h 376"/>
              <a:gd name="T86" fmla="*/ 33 w 564"/>
              <a:gd name="T87" fmla="*/ 5 h 376"/>
              <a:gd name="T88" fmla="*/ 33 w 564"/>
              <a:gd name="T89" fmla="*/ 302 h 376"/>
              <a:gd name="T90" fmla="*/ 282 w 564"/>
              <a:gd name="T91" fmla="*/ 361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4" h="376">
                <a:moveTo>
                  <a:pt x="544" y="27"/>
                </a:moveTo>
                <a:lnTo>
                  <a:pt x="544" y="309"/>
                </a:lnTo>
                <a:lnTo>
                  <a:pt x="536" y="309"/>
                </a:lnTo>
                <a:cubicBezTo>
                  <a:pt x="530" y="308"/>
                  <a:pt x="524" y="308"/>
                  <a:pt x="518" y="308"/>
                </a:cubicBezTo>
                <a:cubicBezTo>
                  <a:pt x="440" y="308"/>
                  <a:pt x="357" y="329"/>
                  <a:pt x="285" y="367"/>
                </a:cubicBezTo>
                <a:lnTo>
                  <a:pt x="282" y="368"/>
                </a:lnTo>
                <a:lnTo>
                  <a:pt x="279" y="367"/>
                </a:lnTo>
                <a:cubicBezTo>
                  <a:pt x="207" y="329"/>
                  <a:pt x="124" y="308"/>
                  <a:pt x="46" y="308"/>
                </a:cubicBezTo>
                <a:cubicBezTo>
                  <a:pt x="40" y="308"/>
                  <a:pt x="34" y="308"/>
                  <a:pt x="28" y="309"/>
                </a:cubicBezTo>
                <a:lnTo>
                  <a:pt x="20" y="309"/>
                </a:lnTo>
                <a:lnTo>
                  <a:pt x="20" y="27"/>
                </a:lnTo>
                <a:cubicBezTo>
                  <a:pt x="13" y="27"/>
                  <a:pt x="6" y="27"/>
                  <a:pt x="0" y="27"/>
                </a:cubicBezTo>
                <a:lnTo>
                  <a:pt x="0" y="320"/>
                </a:lnTo>
                <a:cubicBezTo>
                  <a:pt x="94" y="317"/>
                  <a:pt x="194" y="338"/>
                  <a:pt x="282" y="376"/>
                </a:cubicBezTo>
                <a:cubicBezTo>
                  <a:pt x="370" y="338"/>
                  <a:pt x="470" y="317"/>
                  <a:pt x="564" y="320"/>
                </a:cubicBezTo>
                <a:lnTo>
                  <a:pt x="564" y="27"/>
                </a:lnTo>
                <a:cubicBezTo>
                  <a:pt x="558" y="27"/>
                  <a:pt x="551" y="27"/>
                  <a:pt x="544" y="27"/>
                </a:cubicBezTo>
                <a:close/>
                <a:moveTo>
                  <a:pt x="272" y="319"/>
                </a:moveTo>
                <a:lnTo>
                  <a:pt x="272" y="63"/>
                </a:lnTo>
                <a:cubicBezTo>
                  <a:pt x="212" y="22"/>
                  <a:pt x="142" y="0"/>
                  <a:pt x="77" y="1"/>
                </a:cubicBezTo>
                <a:lnTo>
                  <a:pt x="77" y="269"/>
                </a:lnTo>
                <a:cubicBezTo>
                  <a:pt x="79" y="269"/>
                  <a:pt x="82" y="269"/>
                  <a:pt x="84" y="269"/>
                </a:cubicBezTo>
                <a:cubicBezTo>
                  <a:pt x="147" y="269"/>
                  <a:pt x="214" y="287"/>
                  <a:pt x="272" y="319"/>
                </a:cubicBezTo>
                <a:close/>
                <a:moveTo>
                  <a:pt x="487" y="269"/>
                </a:moveTo>
                <a:lnTo>
                  <a:pt x="487" y="1"/>
                </a:lnTo>
                <a:cubicBezTo>
                  <a:pt x="422" y="0"/>
                  <a:pt x="352" y="22"/>
                  <a:pt x="292" y="63"/>
                </a:cubicBezTo>
                <a:lnTo>
                  <a:pt x="292" y="319"/>
                </a:lnTo>
                <a:cubicBezTo>
                  <a:pt x="350" y="287"/>
                  <a:pt x="417" y="269"/>
                  <a:pt x="480" y="269"/>
                </a:cubicBezTo>
                <a:cubicBezTo>
                  <a:pt x="482" y="269"/>
                  <a:pt x="485" y="269"/>
                  <a:pt x="487" y="269"/>
                </a:cubicBezTo>
                <a:close/>
                <a:moveTo>
                  <a:pt x="282" y="361"/>
                </a:moveTo>
                <a:cubicBezTo>
                  <a:pt x="362" y="318"/>
                  <a:pt x="451" y="299"/>
                  <a:pt x="531" y="302"/>
                </a:cubicBezTo>
                <a:lnTo>
                  <a:pt x="531" y="5"/>
                </a:lnTo>
                <a:cubicBezTo>
                  <a:pt x="521" y="5"/>
                  <a:pt x="511" y="5"/>
                  <a:pt x="501" y="5"/>
                </a:cubicBezTo>
                <a:lnTo>
                  <a:pt x="501" y="283"/>
                </a:lnTo>
                <a:lnTo>
                  <a:pt x="493" y="282"/>
                </a:lnTo>
                <a:cubicBezTo>
                  <a:pt x="488" y="282"/>
                  <a:pt x="483" y="282"/>
                  <a:pt x="478" y="282"/>
                </a:cubicBezTo>
                <a:cubicBezTo>
                  <a:pt x="414" y="282"/>
                  <a:pt x="346" y="301"/>
                  <a:pt x="287" y="337"/>
                </a:cubicBezTo>
                <a:lnTo>
                  <a:pt x="282" y="340"/>
                </a:lnTo>
                <a:lnTo>
                  <a:pt x="277" y="337"/>
                </a:lnTo>
                <a:cubicBezTo>
                  <a:pt x="218" y="301"/>
                  <a:pt x="150" y="282"/>
                  <a:pt x="86" y="282"/>
                </a:cubicBezTo>
                <a:cubicBezTo>
                  <a:pt x="81" y="282"/>
                  <a:pt x="76" y="282"/>
                  <a:pt x="71" y="282"/>
                </a:cubicBezTo>
                <a:lnTo>
                  <a:pt x="63" y="283"/>
                </a:lnTo>
                <a:lnTo>
                  <a:pt x="63" y="5"/>
                </a:lnTo>
                <a:cubicBezTo>
                  <a:pt x="53" y="5"/>
                  <a:pt x="43" y="5"/>
                  <a:pt x="33" y="5"/>
                </a:cubicBezTo>
                <a:lnTo>
                  <a:pt x="33" y="302"/>
                </a:lnTo>
                <a:cubicBezTo>
                  <a:pt x="113" y="299"/>
                  <a:pt x="202" y="318"/>
                  <a:pt x="282" y="361"/>
                </a:cubicBezTo>
                <a:close/>
              </a:path>
            </a:pathLst>
          </a:cu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TextBox 26"/>
          <p:cNvSpPr txBox="1"/>
          <p:nvPr/>
        </p:nvSpPr>
        <p:spPr>
          <a:xfrm>
            <a:off x="23603416" y="8441882"/>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1065976" y="1467158"/>
            <a:ext cx="7684933" cy="3539430"/>
          </a:xfrm>
          <a:prstGeom prst="rect">
            <a:avLst/>
          </a:prstGeom>
        </p:spPr>
        <p:txBody>
          <a:bodyPr wrap="square">
            <a:spAutoFit/>
          </a:bodyPr>
          <a:lstStyle/>
          <a:p>
            <a:pPr algn="just">
              <a:lnSpc>
                <a:spcPct val="200000"/>
              </a:lnSpc>
            </a:pPr>
            <a:r>
              <a:rPr lang="zh-CN" altLang="en-US" sz="2800" b="1" dirty="0">
                <a:latin typeface="微软雅黑" panose="020B0503020204020204" pitchFamily="34" charset="-122"/>
                <a:ea typeface="微软雅黑" panose="020B0503020204020204" pitchFamily="34" charset="-122"/>
              </a:rPr>
              <a:t>在单级中断系统中，当</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正在处理一个中断时，不再响应其它新的中断源的中断请求，即使新的中断源的优先权更高也不予响应，只有一个中断处理完毕后再响应新的中断请求。</a:t>
            </a:r>
          </a:p>
        </p:txBody>
      </p:sp>
    </p:spTree>
    <p:extLst>
      <p:ext uri="{BB962C8B-B14F-4D97-AF65-F5344CB8AC3E}">
        <p14:creationId xmlns:p14="http://schemas.microsoft.com/office/powerpoint/2010/main" val="9882420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25371" y="0"/>
            <a:ext cx="10515600" cy="1325563"/>
          </a:xfrm>
        </p:spPr>
        <p:txBody>
          <a:bodyPr vert="horz" lIns="91440" tIns="45720" rIns="91440" bIns="45720" rtlCol="0" anchor="ctr">
            <a:normAutofit/>
          </a:bodyPr>
          <a:lstStyle/>
          <a:p>
            <a:br>
              <a:rPr lang="en-US" altLang="zh-CN" sz="3200" b="1" dirty="0">
                <a:latin typeface="微软雅黑" panose="020B0503020204020204" pitchFamily="34" charset="-122"/>
                <a:ea typeface="微软雅黑" panose="020B0503020204020204" pitchFamily="34" charset="-122"/>
              </a:rPr>
            </a:br>
            <a:r>
              <a:rPr lang="zh-CN" altLang="en-US" sz="3200" b="1" dirty="0">
                <a:latin typeface="微软雅黑" panose="020B0503020204020204" pitchFamily="34" charset="-122"/>
                <a:ea typeface="微软雅黑" panose="020B0503020204020204" pitchFamily="34" charset="-122"/>
              </a:rPr>
              <a:t>多重中断</a:t>
            </a:r>
            <a:endParaRPr lang="en-US" altLang="zh-CN" sz="3200" b="1" dirty="0">
              <a:latin typeface="微软雅黑" panose="020B0503020204020204" pitchFamily="34" charset="-122"/>
              <a:ea typeface="微软雅黑" panose="020B0503020204020204" pitchFamily="34" charset="-122"/>
            </a:endParaRPr>
          </a:p>
        </p:txBody>
      </p:sp>
      <p:sp>
        <p:nvSpPr>
          <p:cNvPr id="8195" name="Rectangle 3"/>
          <p:cNvSpPr>
            <a:spLocks noGrp="1" noChangeArrowheads="1"/>
          </p:cNvSpPr>
          <p:nvPr>
            <p:ph type="body" idx="1"/>
          </p:nvPr>
        </p:nvSpPr>
        <p:spPr>
          <a:xfrm>
            <a:off x="1787647" y="1446866"/>
            <a:ext cx="9486411" cy="1730570"/>
          </a:xfrm>
        </p:spPr>
        <p:txBody>
          <a:bodyPr>
            <a:normAutofit lnSpcReduction="10000"/>
          </a:bodyPr>
          <a:lstStyle/>
          <a:p>
            <a:pPr marL="0" lvl="1">
              <a:lnSpc>
                <a:spcPct val="200000"/>
              </a:lnSpc>
              <a:buNone/>
            </a:pPr>
            <a:r>
              <a:rPr lang="zh-CN" altLang="en-US" sz="2800" b="1" dirty="0">
                <a:latin typeface="微软雅黑" panose="020B0503020204020204" pitchFamily="34" charset="-122"/>
                <a:ea typeface="微软雅黑" panose="020B0503020204020204" pitchFamily="34" charset="-122"/>
              </a:rPr>
              <a:t>在多级中断系统中，则允许高优先级的中断源再中断低优先级的中断服务，这称为多重中断或中断嵌套。</a:t>
            </a:r>
            <a:endParaRPr lang="en-US" altLang="zh-CN" sz="2800" b="1" dirty="0">
              <a:latin typeface="微软雅黑" panose="020B0503020204020204" pitchFamily="34" charset="-122"/>
              <a:ea typeface="微软雅黑" panose="020B0503020204020204" pitchFamily="34" charset="-122"/>
            </a:endParaRPr>
          </a:p>
          <a:p>
            <a:pPr marL="0" lvl="1">
              <a:lnSpc>
                <a:spcPct val="200000"/>
              </a:lnSpc>
              <a:buNone/>
            </a:pPr>
            <a:endParaRPr lang="en-US" altLang="zh-CN" sz="2800" b="1" dirty="0">
              <a:latin typeface="微软雅黑" panose="020B0503020204020204" pitchFamily="34" charset="-122"/>
              <a:ea typeface="微软雅黑" panose="020B0503020204020204" pitchFamily="34" charset="-122"/>
            </a:endParaRPr>
          </a:p>
          <a:p>
            <a:pPr marL="0" lvl="1">
              <a:lnSpc>
                <a:spcPct val="200000"/>
              </a:lnSpc>
              <a:buNone/>
            </a:pPr>
            <a:endParaRPr lang="zh-CN" altLang="en-US" sz="2800" b="1" dirty="0">
              <a:latin typeface="微软雅黑" panose="020B0503020204020204" pitchFamily="34" charset="-122"/>
              <a:ea typeface="微软雅黑" panose="020B0503020204020204" pitchFamily="34" charset="-122"/>
            </a:endParaRPr>
          </a:p>
          <a:p>
            <a:pPr marL="0" indent="0" eaLnBrk="1" hangingPunct="1">
              <a:lnSpc>
                <a:spcPct val="200000"/>
              </a:lnSpc>
              <a:buNone/>
            </a:pPr>
            <a:endParaRPr lang="en-US" altLang="zh-CN" b="1" dirty="0">
              <a:latin typeface="微软雅黑" panose="020B0503020204020204" pitchFamily="34" charset="-122"/>
              <a:ea typeface="微软雅黑" panose="020B0503020204020204" pitchFamily="34" charset="-122"/>
            </a:endParaRPr>
          </a:p>
          <a:p>
            <a:pPr marL="0" indent="0" eaLnBrk="1" hangingPunct="1">
              <a:lnSpc>
                <a:spcPct val="200000"/>
              </a:lnSpc>
              <a:buNone/>
            </a:pPr>
            <a:endParaRPr lang="en-US" altLang="zh-CN" b="1" dirty="0">
              <a:latin typeface="微软雅黑" panose="020B0503020204020204" pitchFamily="34" charset="-122"/>
              <a:ea typeface="微软雅黑" panose="020B0503020204020204" pitchFamily="34" charset="-122"/>
            </a:endParaRPr>
          </a:p>
        </p:txBody>
      </p:sp>
      <p:grpSp>
        <p:nvGrpSpPr>
          <p:cNvPr id="3" name="组合 3"/>
          <p:cNvGrpSpPr/>
          <p:nvPr/>
        </p:nvGrpSpPr>
        <p:grpSpPr>
          <a:xfrm>
            <a:off x="456704" y="596797"/>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Freeform 14"/>
          <p:cNvSpPr>
            <a:spLocks/>
          </p:cNvSpPr>
          <p:nvPr/>
        </p:nvSpPr>
        <p:spPr bwMode="auto">
          <a:xfrm>
            <a:off x="704638" y="1754594"/>
            <a:ext cx="646909" cy="64648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solidFill>
                <a:schemeClr val="accent1"/>
              </a:solidFill>
            </a:endParaRPr>
          </a:p>
        </p:txBody>
      </p:sp>
      <p:sp>
        <p:nvSpPr>
          <p:cNvPr id="9" name="Freeform 14"/>
          <p:cNvSpPr>
            <a:spLocks/>
          </p:cNvSpPr>
          <p:nvPr/>
        </p:nvSpPr>
        <p:spPr bwMode="auto">
          <a:xfrm>
            <a:off x="772877" y="3542865"/>
            <a:ext cx="646909" cy="64648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FFC000"/>
          </a:solidFill>
          <a:ln>
            <a:noFill/>
          </a:ln>
        </p:spPr>
        <p:txBody>
          <a:bodyPr vert="horz" wrap="square" lIns="91398" tIns="45699" rIns="91398" bIns="45699" numCol="1" anchor="t" anchorCtr="0" compatLnSpc="1">
            <a:prstTxWarp prst="textNoShape">
              <a:avLst/>
            </a:prstTxWarp>
          </a:bodyPr>
          <a:lstStyle/>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zh-CN" altLang="en-US" sz="1799" dirty="0">
              <a:solidFill>
                <a:schemeClr val="accent1"/>
              </a:solidFill>
            </a:endParaRPr>
          </a:p>
        </p:txBody>
      </p:sp>
      <p:sp>
        <p:nvSpPr>
          <p:cNvPr id="10" name="文本框 9"/>
          <p:cNvSpPr txBox="1"/>
          <p:nvPr/>
        </p:nvSpPr>
        <p:spPr>
          <a:xfrm>
            <a:off x="806100" y="1788931"/>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875001" y="3631794"/>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834303" y="4865760"/>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1743781" y="3266379"/>
            <a:ext cx="9797190" cy="4401205"/>
          </a:xfrm>
          <a:prstGeom prst="rect">
            <a:avLst/>
          </a:prstGeom>
        </p:spPr>
        <p:txBody>
          <a:bodyPr wrap="square">
            <a:spAutoFit/>
          </a:bodyPr>
          <a:lstStyle/>
          <a:p>
            <a:pPr marL="0" lvl="1">
              <a:lnSpc>
                <a:spcPct val="200000"/>
              </a:lnSpc>
            </a:pPr>
            <a:r>
              <a:rPr lang="zh-CN" altLang="en-US" sz="2800" b="1" dirty="0">
                <a:latin typeface="微软雅黑" panose="020B0503020204020204" pitchFamily="34" charset="-122"/>
                <a:ea typeface="微软雅黑" panose="020B0503020204020204" pitchFamily="34" charset="-122"/>
              </a:rPr>
              <a:t>理论上多重中断可以无限制地嵌套。</a:t>
            </a:r>
          </a:p>
          <a:p>
            <a:pPr marL="0" lvl="1">
              <a:lnSpc>
                <a:spcPct val="200000"/>
              </a:lnSpc>
            </a:pPr>
            <a:endParaRPr lang="zh-CN" altLang="en-US" sz="2800" b="1" dirty="0">
              <a:latin typeface="微软雅黑" panose="020B0503020204020204" pitchFamily="34" charset="-122"/>
              <a:ea typeface="微软雅黑" panose="020B0503020204020204" pitchFamily="34" charset="-122"/>
            </a:endParaRPr>
          </a:p>
          <a:p>
            <a:pPr marL="0" lvl="1">
              <a:lnSpc>
                <a:spcPct val="200000"/>
              </a:lnSpc>
            </a:pPr>
            <a:endParaRPr lang="zh-CN" altLang="en-US" sz="2800" b="1" dirty="0">
              <a:latin typeface="微软雅黑" panose="020B0503020204020204" pitchFamily="34" charset="-122"/>
              <a:ea typeface="微软雅黑" panose="020B0503020204020204" pitchFamily="34" charset="-122"/>
            </a:endParaRPr>
          </a:p>
          <a:p>
            <a:pPr marL="0" lvl="1">
              <a:lnSpc>
                <a:spcPct val="200000"/>
              </a:lnSpc>
            </a:pPr>
            <a:endParaRPr lang="zh-CN" altLang="en-US" sz="2800" b="1" dirty="0">
              <a:latin typeface="微软雅黑" panose="020B0503020204020204" pitchFamily="34" charset="-122"/>
              <a:ea typeface="微软雅黑" panose="020B0503020204020204" pitchFamily="34" charset="-122"/>
            </a:endParaRPr>
          </a:p>
          <a:p>
            <a:pPr>
              <a:lnSpc>
                <a:spcPct val="200000"/>
              </a:lnSpc>
            </a:pP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7396408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vert="horz" lIns="91440" tIns="45720" rIns="91440" bIns="45720" rtlCol="0" anchor="ctr">
            <a:normAutofit/>
          </a:bodyPr>
          <a:lstStyle/>
          <a:p>
            <a:r>
              <a:rPr lang="zh-CN" altLang="en-US" sz="3200" b="1" dirty="0">
                <a:latin typeface="微软雅黑" panose="020B0503020204020204" pitchFamily="34" charset="-122"/>
                <a:ea typeface="微软雅黑" panose="020B0503020204020204" pitchFamily="34" charset="-122"/>
              </a:rPr>
              <a:t>中断接口电路 </a:t>
            </a:r>
          </a:p>
        </p:txBody>
      </p:sp>
      <p:sp>
        <p:nvSpPr>
          <p:cNvPr id="28675" name="Rectangle 4"/>
          <p:cNvSpPr>
            <a:spLocks noChangeArrowheads="1"/>
          </p:cNvSpPr>
          <p:nvPr/>
        </p:nvSpPr>
        <p:spPr bwMode="auto">
          <a:xfrm>
            <a:off x="0" y="2295525"/>
            <a:ext cx="184731" cy="369332"/>
          </a:xfrm>
          <a:prstGeom prst="rect">
            <a:avLst/>
          </a:prstGeom>
          <a:noFill/>
          <a:ln w="9525">
            <a:noFill/>
            <a:miter lim="800000"/>
            <a:headEnd/>
            <a:tailEnd/>
          </a:ln>
        </p:spPr>
        <p:txBody>
          <a:bodyPr wrap="none" anchor="ctr">
            <a:spAutoFit/>
          </a:bodyPr>
          <a:lstStyle/>
          <a:p>
            <a:pPr eaLnBrk="1" hangingPunct="1"/>
            <a:endParaRPr lang="zh-CN" altLang="en-US"/>
          </a:p>
        </p:txBody>
      </p:sp>
      <p:graphicFrame>
        <p:nvGraphicFramePr>
          <p:cNvPr id="28676" name="Object 5"/>
          <p:cNvGraphicFramePr>
            <a:graphicFrameLocks noChangeAspect="1"/>
          </p:cNvGraphicFramePr>
          <p:nvPr>
            <p:extLst>
              <p:ext uri="{D42A27DB-BD31-4B8C-83A1-F6EECF244321}">
                <p14:modId xmlns:p14="http://schemas.microsoft.com/office/powerpoint/2010/main" val="3750150843"/>
              </p:ext>
            </p:extLst>
          </p:nvPr>
        </p:nvGraphicFramePr>
        <p:xfrm>
          <a:off x="1529697" y="1773239"/>
          <a:ext cx="9049996" cy="4200271"/>
        </p:xfrm>
        <a:graphic>
          <a:graphicData uri="http://schemas.openxmlformats.org/presentationml/2006/ole">
            <mc:AlternateContent xmlns:mc="http://schemas.openxmlformats.org/markup-compatibility/2006">
              <mc:Choice xmlns:v="urn:schemas-microsoft-com:vml" Requires="v">
                <p:oleObj spid="_x0000_s64534" name="Visio" r:id="rId3" imgW="4055974" imgH="2111959" progId="Visio.Drawing.11">
                  <p:embed/>
                </p:oleObj>
              </mc:Choice>
              <mc:Fallback>
                <p:oleObj name="Visio" r:id="rId3" imgW="4055974" imgH="2111959" progId="Visio.Drawing.11">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9697" y="1773239"/>
                        <a:ext cx="9049996" cy="4200271"/>
                      </a:xfrm>
                      <a:prstGeom prst="rect">
                        <a:avLst/>
                      </a:prstGeom>
                      <a:noFill/>
                    </p:spPr>
                  </p:pic>
                </p:oleObj>
              </mc:Fallback>
            </mc:AlternateContent>
          </a:graphicData>
        </a:graphic>
      </p:graphicFrame>
      <p:sp>
        <p:nvSpPr>
          <p:cNvPr id="5" name="内容占位符 2"/>
          <p:cNvSpPr txBox="1">
            <a:spLocks/>
          </p:cNvSpPr>
          <p:nvPr/>
        </p:nvSpPr>
        <p:spPr>
          <a:xfrm>
            <a:off x="431388" y="1733265"/>
            <a:ext cx="11414869" cy="4476465"/>
          </a:xfrm>
          <a:prstGeom prst="rect">
            <a:avLst/>
          </a:prstGeom>
          <a:ln w="28575">
            <a:solidFill>
              <a:srgbClr val="01C0B0"/>
            </a:solidFill>
          </a:ln>
        </p:spPr>
        <p:txBody>
          <a:bodyPr vert="horz" lIns="91440" tIns="45720" rIns="91440" bIns="45720" rtlCol="0">
            <a:no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None/>
              <a:tabLst/>
              <a:defRPr/>
            </a:pPr>
            <a:r>
              <a:rPr kumimoji="0" lang="en-US" altLang="zh-CN" sz="2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endPar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47757" y="2340487"/>
            <a:ext cx="6598050" cy="1698614"/>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3"/>
          <p:cNvSpPr txBox="1">
            <a:spLocks noChangeArrowheads="1"/>
          </p:cNvSpPr>
          <p:nvPr/>
        </p:nvSpPr>
        <p:spPr bwMode="auto">
          <a:xfrm>
            <a:off x="4098285" y="2541722"/>
            <a:ext cx="4678532"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ctr"/>
            <a:r>
              <a:rPr lang="zh-CN" altLang="en-US" sz="6000" b="1" dirty="0">
                <a:solidFill>
                  <a:schemeClr val="bg1"/>
                </a:solidFill>
                <a:latin typeface="微软雅黑" panose="020B0503020204020204" pitchFamily="34" charset="-122"/>
                <a:ea typeface="微软雅黑" panose="020B0503020204020204" pitchFamily="34" charset="-122"/>
              </a:rPr>
              <a:t>谢 谢！</a:t>
            </a:r>
            <a:endParaRPr lang="en-US" altLang="zh-CN" sz="6000" b="1" dirty="0">
              <a:solidFill>
                <a:schemeClr val="bg1"/>
              </a:solidFill>
              <a:latin typeface="微软雅黑" panose="020B0503020204020204" pitchFamily="34" charset="-122"/>
              <a:ea typeface="微软雅黑" panose="020B0503020204020204" pitchFamily="34" charset="-122"/>
            </a:endParaRPr>
          </a:p>
        </p:txBody>
      </p:sp>
      <p:sp>
        <p:nvSpPr>
          <p:cNvPr id="6"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7"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1"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2"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14"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5"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6"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7"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1234856327"/>
      </p:ext>
    </p:extLst>
  </p:cSld>
  <p:clrMapOvr>
    <a:masterClrMapping/>
  </p:clrMapOvr>
  <mc:AlternateContent xmlns:mc="http://schemas.openxmlformats.org/markup-compatibility/2006" xmlns:p14="http://schemas.microsoft.com/office/powerpoint/2010/main">
    <mc:Choice Requires="p14">
      <p:transition spd="slow" p14:dur="59000">
        <p:push dir="u"/>
      </p:transition>
    </mc:Choice>
    <mc:Fallback xmlns="">
      <p:transition spd="slow">
        <p:push dir="u"/>
      </p:transition>
    </mc:Fallback>
  </mc:AlternateContent>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509</TotalTime>
  <Words>962</Words>
  <Application>Microsoft Office PowerPoint</Application>
  <PresentationFormat>宽屏</PresentationFormat>
  <Paragraphs>203</Paragraphs>
  <Slides>27</Slides>
  <Notes>13</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27</vt:i4>
      </vt:variant>
    </vt:vector>
  </HeadingPairs>
  <TitlesOfParts>
    <vt:vector size="35" baseType="lpstr">
      <vt:lpstr>宋体</vt:lpstr>
      <vt:lpstr>微软雅黑</vt:lpstr>
      <vt:lpstr>Arial</vt:lpstr>
      <vt:lpstr>Calibri</vt:lpstr>
      <vt:lpstr>Calibri Light</vt:lpstr>
      <vt:lpstr>Wingdings</vt:lpstr>
      <vt:lpstr>第一PPT，www.1ppt.com</vt:lpstr>
      <vt:lpstr>Visio</vt:lpstr>
      <vt:lpstr>PowerPoint 演示文稿</vt:lpstr>
      <vt:lpstr>PowerPoint 演示文稿</vt:lpstr>
      <vt:lpstr>中断控制方式 </vt:lpstr>
      <vt:lpstr>PowerPoint 演示文稿</vt:lpstr>
      <vt:lpstr>PowerPoint 演示文稿</vt:lpstr>
      <vt:lpstr>PowerPoint 演示文稿</vt:lpstr>
      <vt:lpstr>PowerPoint 演示文稿</vt:lpstr>
      <vt:lpstr>PowerPoint 演示文稿</vt:lpstr>
      <vt:lpstr>中断控制的基本原理 </vt:lpstr>
      <vt:lpstr>中断处理过程 </vt:lpstr>
      <vt:lpstr>中断请求的建立</vt:lpstr>
      <vt:lpstr>PowerPoint 演示文稿</vt:lpstr>
      <vt:lpstr>在中断响应周期里，中断系统主要完成以下三项功能</vt:lpstr>
      <vt:lpstr>PowerPoint 演示文稿</vt:lpstr>
      <vt:lpstr>PowerPoint 演示文稿</vt:lpstr>
      <vt:lpstr> 中断向量法 </vt:lpstr>
      <vt:lpstr>步骤</vt:lpstr>
      <vt:lpstr>PowerPoint 演示文稿</vt:lpstr>
      <vt:lpstr>PowerPoint 演示文稿</vt:lpstr>
      <vt:lpstr>单级中断和多级中断 </vt:lpstr>
      <vt:lpstr>PowerPoint 演示文稿</vt:lpstr>
      <vt:lpstr>PowerPoint 演示文稿</vt:lpstr>
      <vt:lpstr>PowerPoint 演示文稿</vt:lpstr>
      <vt:lpstr>PowerPoint 演示文稿</vt:lpstr>
      <vt:lpstr> 多重中断</vt:lpstr>
      <vt:lpstr>中断接口电路 </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07述职报告</dc:title>
  <dc:creator>user</dc:creator>
  <cp:lastModifiedBy>龚 开宸</cp:lastModifiedBy>
  <cp:revision>71</cp:revision>
  <dcterms:created xsi:type="dcterms:W3CDTF">2016-06-01T05:10:04Z</dcterms:created>
  <dcterms:modified xsi:type="dcterms:W3CDTF">2022-05-23T15:49:38Z</dcterms:modified>
</cp:coreProperties>
</file>