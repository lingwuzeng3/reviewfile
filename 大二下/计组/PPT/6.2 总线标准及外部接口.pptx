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89" r:id="rId2"/>
    <p:sldId id="312" r:id="rId3"/>
    <p:sldId id="309" r:id="rId4"/>
    <p:sldId id="310" r:id="rId5"/>
    <p:sldId id="294" r:id="rId6"/>
    <p:sldId id="295" r:id="rId7"/>
    <p:sldId id="311" r:id="rId8"/>
    <p:sldId id="313" r:id="rId9"/>
    <p:sldId id="298" r:id="rId10"/>
    <p:sldId id="316" r:id="rId11"/>
    <p:sldId id="300" r:id="rId12"/>
    <p:sldId id="317" r:id="rId13"/>
    <p:sldId id="314" r:id="rId14"/>
    <p:sldId id="315" r:id="rId15"/>
    <p:sldId id="304" r:id="rId16"/>
    <p:sldId id="305" r:id="rId17"/>
    <p:sldId id="306" r:id="rId18"/>
    <p:sldId id="307" r:id="rId19"/>
    <p:sldId id="308" r:id="rId20"/>
    <p:sldId id="318"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02B9E7"/>
    <a:srgbClr val="01C0B0"/>
    <a:srgbClr val="04B0BE"/>
    <a:srgbClr val="04BE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0" d="100"/>
          <a:sy n="70" d="100"/>
        </p:scale>
        <p:origin x="48" y="48"/>
      </p:cViewPr>
      <p:guideLst>
        <p:guide orient="horz" pos="2160"/>
        <p:guide pos="3840"/>
      </p:guideLst>
    </p:cSldViewPr>
  </p:slideViewPr>
  <p:notesTextViewPr>
    <p:cViewPr>
      <p:scale>
        <a:sx n="1" d="1"/>
        <a:sy n="1" d="1"/>
      </p:scale>
      <p:origin x="0" y="0"/>
    </p:cViewPr>
  </p:notesTextViewPr>
  <p:sorterViewPr>
    <p:cViewPr>
      <p:scale>
        <a:sx n="60" d="100"/>
        <a:sy n="60" d="100"/>
      </p:scale>
      <p:origin x="0" y="0"/>
    </p:cViewPr>
  </p:sorterViewPr>
  <p:notesViewPr>
    <p:cSldViewPr snapToGrid="0" showGuides="1">
      <p:cViewPr varScale="1">
        <p:scale>
          <a:sx n="57" d="100"/>
          <a:sy n="57" d="100"/>
        </p:scale>
        <p:origin x="2808" y="3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0E8A95-114D-4BB9-A729-058920B2735F}" type="datetimeFigureOut">
              <a:rPr lang="zh-CN" altLang="en-US" smtClean="0"/>
              <a:t>2017/5/26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D8029B-87F6-42DD-8185-B8A2A8D30728}" type="slidenum">
              <a:rPr lang="zh-CN" altLang="en-US" smtClean="0"/>
              <a:t>‹#›</a:t>
            </a:fld>
            <a:endParaRPr lang="zh-CN" altLang="en-US"/>
          </a:p>
        </p:txBody>
      </p:sp>
    </p:spTree>
    <p:extLst>
      <p:ext uri="{BB962C8B-B14F-4D97-AF65-F5344CB8AC3E}">
        <p14:creationId xmlns:p14="http://schemas.microsoft.com/office/powerpoint/2010/main" val="2923389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6D8029B-87F6-42DD-8185-B8A2A8D30728}" type="slidenum">
              <a:rPr lang="zh-CN" altLang="en-US" smtClean="0"/>
              <a:t>1</a:t>
            </a:fld>
            <a:endParaRPr lang="zh-CN" altLang="en-US"/>
          </a:p>
        </p:txBody>
      </p:sp>
    </p:spTree>
    <p:extLst>
      <p:ext uri="{BB962C8B-B14F-4D97-AF65-F5344CB8AC3E}">
        <p14:creationId xmlns:p14="http://schemas.microsoft.com/office/powerpoint/2010/main" val="1890656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1013921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3</a:t>
            </a:fld>
            <a:endParaRPr lang="en-US">
              <a:solidFill>
                <a:prstClr val="black"/>
              </a:solidFill>
            </a:endParaRPr>
          </a:p>
        </p:txBody>
      </p:sp>
    </p:spTree>
    <p:extLst>
      <p:ext uri="{BB962C8B-B14F-4D97-AF65-F5344CB8AC3E}">
        <p14:creationId xmlns:p14="http://schemas.microsoft.com/office/powerpoint/2010/main" val="2161640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791866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7</a:t>
            </a:fld>
            <a:endParaRPr lang="en-US">
              <a:solidFill>
                <a:prstClr val="black"/>
              </a:solidFill>
            </a:endParaRPr>
          </a:p>
        </p:txBody>
      </p:sp>
    </p:spTree>
    <p:extLst>
      <p:ext uri="{BB962C8B-B14F-4D97-AF65-F5344CB8AC3E}">
        <p14:creationId xmlns:p14="http://schemas.microsoft.com/office/powerpoint/2010/main" val="3558036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8</a:t>
            </a:fld>
            <a:endParaRPr lang="en-US">
              <a:solidFill>
                <a:prstClr val="black"/>
              </a:solidFill>
            </a:endParaRPr>
          </a:p>
        </p:txBody>
      </p:sp>
    </p:spTree>
    <p:extLst>
      <p:ext uri="{BB962C8B-B14F-4D97-AF65-F5344CB8AC3E}">
        <p14:creationId xmlns:p14="http://schemas.microsoft.com/office/powerpoint/2010/main" val="31604868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10</a:t>
            </a:fld>
            <a:endParaRPr lang="en-US">
              <a:solidFill>
                <a:prstClr val="black"/>
              </a:solidFill>
            </a:endParaRPr>
          </a:p>
        </p:txBody>
      </p:sp>
    </p:spTree>
    <p:extLst>
      <p:ext uri="{BB962C8B-B14F-4D97-AF65-F5344CB8AC3E}">
        <p14:creationId xmlns:p14="http://schemas.microsoft.com/office/powerpoint/2010/main" val="2294764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1452334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1464540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1F41D1-EB0D-4857-8E93-8C1C831E6153}" type="slidenum">
              <a:rPr lang="zh-CN" altLang="en-US" smtClean="0"/>
              <a:t>14</a:t>
            </a:fld>
            <a:endParaRPr lang="zh-CN" altLang="en-US"/>
          </a:p>
        </p:txBody>
      </p:sp>
    </p:spTree>
    <p:extLst>
      <p:ext uri="{BB962C8B-B14F-4D97-AF65-F5344CB8AC3E}">
        <p14:creationId xmlns:p14="http://schemas.microsoft.com/office/powerpoint/2010/main" val="1927046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953354890"/>
      </p:ext>
    </p:extLst>
  </p:cSld>
  <p:clrMapOvr>
    <a:masterClrMapping/>
  </p:clrMapOvr>
  <mc:AlternateContent xmlns:mc="http://schemas.openxmlformats.org/markup-compatibility/2006" xmlns:p14="http://schemas.microsoft.com/office/powerpoint/2010/main">
    <mc:Choice Requires="p14">
      <p:transition advTm="0">
        <p14:prism/>
      </p:transition>
    </mc:Choice>
    <mc:Fallback xmlns="">
      <p:transition advTm="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33343571"/>
      </p:ext>
    </p:extLst>
  </p:cSld>
  <p:clrMapOvr>
    <a:masterClrMapping/>
  </p:clrMapOvr>
  <mc:AlternateContent xmlns:mc="http://schemas.openxmlformats.org/markup-compatibility/2006" xmlns:p14="http://schemas.microsoft.com/office/powerpoint/2010/main">
    <mc:Choice Requires="p14">
      <p:transition advTm="0">
        <p14:prism/>
      </p:transition>
    </mc:Choice>
    <mc:Fallback xmlns="">
      <p:transition advTm="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018862345"/>
      </p:ext>
    </p:extLst>
  </p:cSld>
  <p:clrMapOvr>
    <a:masterClrMapping/>
  </p:clrMapOvr>
  <mc:AlternateContent xmlns:mc="http://schemas.openxmlformats.org/markup-compatibility/2006" xmlns:p14="http://schemas.microsoft.com/office/powerpoint/2010/main">
    <mc:Choice Requires="p14">
      <p:transition advTm="0">
        <p14:prism/>
      </p:transition>
    </mc:Choice>
    <mc:Fallback xmlns="">
      <p:transition advTm="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676858996"/>
      </p:ext>
    </p:extLst>
  </p:cSld>
  <p:clrMapOvr>
    <a:masterClrMapping/>
  </p:clrMapOvr>
  <mc:AlternateContent xmlns:mc="http://schemas.openxmlformats.org/markup-compatibility/2006" xmlns:p14="http://schemas.microsoft.com/office/powerpoint/2010/main">
    <mc:Choice Requires="p14">
      <p:transition advTm="0">
        <p14:prism/>
      </p:transition>
    </mc:Choice>
    <mc:Fallback xmlns="">
      <p:transition advTm="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77365401"/>
      </p:ext>
    </p:extLst>
  </p:cSld>
  <p:clrMapOvr>
    <a:masterClrMapping/>
  </p:clrMapOvr>
  <mc:AlternateContent xmlns:mc="http://schemas.openxmlformats.org/markup-compatibility/2006" xmlns:p14="http://schemas.microsoft.com/office/powerpoint/2010/main">
    <mc:Choice Requires="p14">
      <p:transition advTm="0">
        <p14:prism/>
      </p:transition>
    </mc:Choice>
    <mc:Fallback xmlns="">
      <p:transition advTm="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739278484"/>
      </p:ext>
    </p:extLst>
  </p:cSld>
  <p:clrMapOvr>
    <a:masterClrMapping/>
  </p:clrMapOvr>
  <mc:AlternateContent xmlns:mc="http://schemas.openxmlformats.org/markup-compatibility/2006" xmlns:p14="http://schemas.microsoft.com/office/powerpoint/2010/main">
    <mc:Choice Requires="p14">
      <p:transition advTm="0">
        <p14:prism/>
      </p:transition>
    </mc:Choice>
    <mc:Fallback xmlns="">
      <p:transition advTm="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473886793"/>
      </p:ext>
    </p:extLst>
  </p:cSld>
  <p:clrMapOvr>
    <a:masterClrMapping/>
  </p:clrMapOvr>
  <mc:AlternateContent xmlns:mc="http://schemas.openxmlformats.org/markup-compatibility/2006" xmlns:p14="http://schemas.microsoft.com/office/powerpoint/2010/main">
    <mc:Choice Requires="p14">
      <p:transition advTm="0">
        <p14:prism/>
      </p:transition>
    </mc:Choice>
    <mc:Fallback xmlns="">
      <p:transition advTm="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383394598"/>
      </p:ext>
    </p:extLst>
  </p:cSld>
  <p:clrMapOvr>
    <a:masterClrMapping/>
  </p:clrMapOvr>
  <mc:AlternateContent xmlns:mc="http://schemas.openxmlformats.org/markup-compatibility/2006" xmlns:p14="http://schemas.microsoft.com/office/powerpoint/2010/main">
    <mc:Choice Requires="p14">
      <p:transition advTm="0">
        <p14:prism/>
      </p:transition>
    </mc:Choice>
    <mc:Fallback xmlns="">
      <p:transition advTm="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827041094"/>
      </p:ext>
    </p:extLst>
  </p:cSld>
  <p:clrMapOvr>
    <a:masterClrMapping/>
  </p:clrMapOvr>
  <mc:AlternateContent xmlns:mc="http://schemas.openxmlformats.org/markup-compatibility/2006" xmlns:p14="http://schemas.microsoft.com/office/powerpoint/2010/main">
    <mc:Choice Requires="p14">
      <p:transition advTm="0">
        <p14:prism/>
      </p:transition>
    </mc:Choice>
    <mc:Fallback xmlns="">
      <p:transition advTm="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303071220"/>
      </p:ext>
    </p:extLst>
  </p:cSld>
  <p:clrMapOvr>
    <a:masterClrMapping/>
  </p:clrMapOvr>
  <mc:AlternateContent xmlns:mc="http://schemas.openxmlformats.org/markup-compatibility/2006" xmlns:p14="http://schemas.microsoft.com/office/powerpoint/2010/main">
    <mc:Choice Requires="p14">
      <p:transition advTm="0">
        <p14:prism/>
      </p:transition>
    </mc:Choice>
    <mc:Fallback xmlns="">
      <p:transition advTm="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104753532"/>
      </p:ext>
    </p:extLst>
  </p:cSld>
  <p:clrMapOvr>
    <a:masterClrMapping/>
  </p:clrMapOvr>
  <mc:AlternateContent xmlns:mc="http://schemas.openxmlformats.org/markup-compatibility/2006" xmlns:p14="http://schemas.microsoft.com/office/powerpoint/2010/main">
    <mc:Choice Requires="p14">
      <p:transition advTm="0">
        <p14:prism/>
      </p:transition>
    </mc:Choice>
    <mc:Fallback xmlns="">
      <p:transition advTm="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AAD024-C6D2-498C-B6F9-0F94E70CC562}" type="datetimeFigureOut">
              <a:rPr lang="zh-CN" altLang="en-US" smtClean="0"/>
              <a:t>2017/5/26</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720530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advTm="0">
        <p14:prism/>
      </p:transition>
    </mc:Choice>
    <mc:Fallback xmlns="">
      <p:transition advTm="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7.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464751" y="2708127"/>
            <a:ext cx="7361637" cy="1173708"/>
          </a:xfrm>
          <a:prstGeom prst="rect">
            <a:avLst/>
          </a:prstGeom>
          <a:solidFill>
            <a:srgbClr val="02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7"/>
          <p:cNvSpPr>
            <a:spLocks/>
          </p:cNvSpPr>
          <p:nvPr/>
        </p:nvSpPr>
        <p:spPr bwMode="auto">
          <a:xfrm>
            <a:off x="10799813" y="5496958"/>
            <a:ext cx="1079283" cy="1080463"/>
          </a:xfrm>
          <a:custGeom>
            <a:avLst/>
            <a:gdLst>
              <a:gd name="T0" fmla="*/ 2199 w 2504"/>
              <a:gd name="T1" fmla="*/ 0 h 2504"/>
              <a:gd name="T2" fmla="*/ 2504 w 2504"/>
              <a:gd name="T3" fmla="*/ 0 h 2504"/>
              <a:gd name="T4" fmla="*/ 2504 w 2504"/>
              <a:gd name="T5" fmla="*/ 2504 h 2504"/>
              <a:gd name="T6" fmla="*/ 0 w 2504"/>
              <a:gd name="T7" fmla="*/ 2504 h 2504"/>
              <a:gd name="T8" fmla="*/ 0 w 2504"/>
              <a:gd name="T9" fmla="*/ 2199 h 2504"/>
              <a:gd name="T10" fmla="*/ 1970 w 2504"/>
              <a:gd name="T11" fmla="*/ 2199 h 2504"/>
              <a:gd name="T12" fmla="*/ 87 w 2504"/>
              <a:gd name="T13" fmla="*/ 315 h 2504"/>
              <a:gd name="T14" fmla="*/ 303 w 2504"/>
              <a:gd name="T15" fmla="*/ 99 h 2504"/>
              <a:gd name="T16" fmla="*/ 2199 w 2504"/>
              <a:gd name="T17" fmla="*/ 1996 h 2504"/>
              <a:gd name="T18" fmla="*/ 2199 w 2504"/>
              <a:gd name="T19" fmla="*/ 0 h 2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4" h="2504">
                <a:moveTo>
                  <a:pt x="2199" y="0"/>
                </a:moveTo>
                <a:lnTo>
                  <a:pt x="2504" y="0"/>
                </a:lnTo>
                <a:lnTo>
                  <a:pt x="2504" y="2504"/>
                </a:lnTo>
                <a:lnTo>
                  <a:pt x="0" y="2504"/>
                </a:lnTo>
                <a:lnTo>
                  <a:pt x="0" y="2199"/>
                </a:lnTo>
                <a:lnTo>
                  <a:pt x="1970" y="2199"/>
                </a:lnTo>
                <a:lnTo>
                  <a:pt x="87" y="315"/>
                </a:lnTo>
                <a:lnTo>
                  <a:pt x="303" y="99"/>
                </a:lnTo>
                <a:lnTo>
                  <a:pt x="2199" y="1996"/>
                </a:lnTo>
                <a:lnTo>
                  <a:pt x="2199" y="0"/>
                </a:lnTo>
                <a:close/>
              </a:path>
            </a:pathLst>
          </a:custGeom>
          <a:solidFill>
            <a:schemeClr val="bg1">
              <a:lumMod val="75000"/>
            </a:schemeClr>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6" name="Rectangle 3"/>
          <p:cNvSpPr txBox="1">
            <a:spLocks noChangeArrowheads="1"/>
          </p:cNvSpPr>
          <p:nvPr/>
        </p:nvSpPr>
        <p:spPr bwMode="auto">
          <a:xfrm>
            <a:off x="2464751" y="3071514"/>
            <a:ext cx="7355676" cy="1296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pPr algn="dist"/>
            <a:r>
              <a:rPr lang="zh-CN" altLang="en-US" sz="6000" b="1" dirty="0">
                <a:solidFill>
                  <a:schemeClr val="bg1"/>
                </a:solidFill>
                <a:latin typeface="微软雅黑" panose="020B0503020204020204" pitchFamily="34" charset="-122"/>
                <a:ea typeface="微软雅黑" panose="020B0503020204020204" pitchFamily="34" charset="-122"/>
              </a:rPr>
              <a:t>总线标准及外部接口</a:t>
            </a:r>
          </a:p>
          <a:p>
            <a:pPr algn="dist"/>
            <a:endParaRPr lang="en-US" altLang="zh-CN" sz="6000" b="1" dirty="0">
              <a:solidFill>
                <a:schemeClr val="bg1"/>
              </a:solidFill>
              <a:latin typeface="微软雅黑" panose="020B0503020204020204" pitchFamily="34" charset="-122"/>
              <a:ea typeface="微软雅黑" panose="020B0503020204020204" pitchFamily="34" charset="-122"/>
            </a:endParaRPr>
          </a:p>
        </p:txBody>
      </p:sp>
      <p:sp>
        <p:nvSpPr>
          <p:cNvPr id="7" name="Rectangle 6"/>
          <p:cNvSpPr>
            <a:spLocks noChangeArrowheads="1"/>
          </p:cNvSpPr>
          <p:nvPr/>
        </p:nvSpPr>
        <p:spPr bwMode="auto">
          <a:xfrm>
            <a:off x="6353950" y="5153618"/>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8" name="Rectangle 7"/>
          <p:cNvSpPr>
            <a:spLocks noChangeArrowheads="1"/>
          </p:cNvSpPr>
          <p:nvPr/>
        </p:nvSpPr>
        <p:spPr bwMode="auto">
          <a:xfrm>
            <a:off x="7620664" y="5153618"/>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9" name="Rectangle 8"/>
          <p:cNvSpPr>
            <a:spLocks noChangeArrowheads="1"/>
          </p:cNvSpPr>
          <p:nvPr/>
        </p:nvSpPr>
        <p:spPr bwMode="auto">
          <a:xfrm>
            <a:off x="8885806" y="5153618"/>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0" name="Rectangle 9"/>
          <p:cNvSpPr>
            <a:spLocks noChangeArrowheads="1"/>
          </p:cNvSpPr>
          <p:nvPr/>
        </p:nvSpPr>
        <p:spPr bwMode="auto">
          <a:xfrm>
            <a:off x="10152517" y="5153618"/>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2" name="Freeform 9"/>
          <p:cNvSpPr>
            <a:spLocks noEditPoints="1"/>
          </p:cNvSpPr>
          <p:nvPr/>
        </p:nvSpPr>
        <p:spPr bwMode="auto">
          <a:xfrm>
            <a:off x="10057335" y="4692974"/>
            <a:ext cx="373115" cy="37468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484849"/>
              </a:solidFill>
            </a:endParaRPr>
          </a:p>
        </p:txBody>
      </p:sp>
      <p:sp>
        <p:nvSpPr>
          <p:cNvPr id="13" name="Rectangle 4"/>
          <p:cNvSpPr txBox="1">
            <a:spLocks noChangeArrowheads="1"/>
          </p:cNvSpPr>
          <p:nvPr/>
        </p:nvSpPr>
        <p:spPr bwMode="auto">
          <a:xfrm>
            <a:off x="10466453" y="4703232"/>
            <a:ext cx="1899476" cy="353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rtlCol="0">
            <a:spAutoFit/>
          </a:bodyPr>
          <a:lstStyle>
            <a:defPPr>
              <a:defRPr lang="zh-CN"/>
            </a:defPPr>
            <a:lvl1pPr>
              <a:defRPr sz="2400" b="1">
                <a:latin typeface="+mj-ea"/>
                <a:ea typeface="+mj-ea"/>
              </a:defRPr>
            </a:lvl1pPr>
          </a:lstStyle>
          <a:p>
            <a:r>
              <a:rPr lang="zh-CN" altLang="en-US" sz="1700" dirty="0">
                <a:solidFill>
                  <a:schemeClr val="bg1"/>
                </a:solidFill>
              </a:rPr>
              <a:t>汇报人：代用名</a:t>
            </a:r>
          </a:p>
        </p:txBody>
      </p:sp>
      <p:sp>
        <p:nvSpPr>
          <p:cNvPr id="14" name="Freeform 10"/>
          <p:cNvSpPr>
            <a:spLocks noChangeAspect="1" noEditPoints="1"/>
          </p:cNvSpPr>
          <p:nvPr/>
        </p:nvSpPr>
        <p:spPr bwMode="auto">
          <a:xfrm>
            <a:off x="6417691" y="4693112"/>
            <a:ext cx="372836" cy="3744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grpSp>
        <p:nvGrpSpPr>
          <p:cNvPr id="15" name="组合 14"/>
          <p:cNvGrpSpPr/>
          <p:nvPr/>
        </p:nvGrpSpPr>
        <p:grpSpPr>
          <a:xfrm>
            <a:off x="262818" y="198604"/>
            <a:ext cx="473877" cy="484825"/>
            <a:chOff x="702608" y="-1899592"/>
            <a:chExt cx="1054013" cy="1078364"/>
          </a:xfrm>
        </p:grpSpPr>
        <p:sp>
          <p:nvSpPr>
            <p:cNvPr id="16" name="Oval 5"/>
            <p:cNvSpPr>
              <a:spLocks noChangeArrowheads="1"/>
            </p:cNvSpPr>
            <p:nvPr/>
          </p:nvSpPr>
          <p:spPr bwMode="auto">
            <a:xfrm>
              <a:off x="702608" y="-1899592"/>
              <a:ext cx="1054013" cy="1078364"/>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9"/>
            <p:cNvSpPr>
              <a:spLocks noEditPoints="1"/>
            </p:cNvSpPr>
            <p:nvPr/>
          </p:nvSpPr>
          <p:spPr bwMode="auto">
            <a:xfrm>
              <a:off x="904366" y="-1555211"/>
              <a:ext cx="650496" cy="445260"/>
            </a:xfrm>
            <a:custGeom>
              <a:avLst/>
              <a:gdLst>
                <a:gd name="T0" fmla="*/ 380 w 394"/>
                <a:gd name="T1" fmla="*/ 19 h 263"/>
                <a:gd name="T2" fmla="*/ 380 w 394"/>
                <a:gd name="T3" fmla="*/ 216 h 263"/>
                <a:gd name="T4" fmla="*/ 374 w 394"/>
                <a:gd name="T5" fmla="*/ 216 h 263"/>
                <a:gd name="T6" fmla="*/ 362 w 394"/>
                <a:gd name="T7" fmla="*/ 215 h 263"/>
                <a:gd name="T8" fmla="*/ 199 w 394"/>
                <a:gd name="T9" fmla="*/ 256 h 263"/>
                <a:gd name="T10" fmla="*/ 197 w 394"/>
                <a:gd name="T11" fmla="*/ 257 h 263"/>
                <a:gd name="T12" fmla="*/ 195 w 394"/>
                <a:gd name="T13" fmla="*/ 256 h 263"/>
                <a:gd name="T14" fmla="*/ 33 w 394"/>
                <a:gd name="T15" fmla="*/ 215 h 263"/>
                <a:gd name="T16" fmla="*/ 20 w 394"/>
                <a:gd name="T17" fmla="*/ 216 h 263"/>
                <a:gd name="T18" fmla="*/ 14 w 394"/>
                <a:gd name="T19" fmla="*/ 216 h 263"/>
                <a:gd name="T20" fmla="*/ 14 w 394"/>
                <a:gd name="T21" fmla="*/ 19 h 263"/>
                <a:gd name="T22" fmla="*/ 0 w 394"/>
                <a:gd name="T23" fmla="*/ 19 h 263"/>
                <a:gd name="T24" fmla="*/ 0 w 394"/>
                <a:gd name="T25" fmla="*/ 223 h 263"/>
                <a:gd name="T26" fmla="*/ 197 w 394"/>
                <a:gd name="T27" fmla="*/ 263 h 263"/>
                <a:gd name="T28" fmla="*/ 394 w 394"/>
                <a:gd name="T29" fmla="*/ 223 h 263"/>
                <a:gd name="T30" fmla="*/ 394 w 394"/>
                <a:gd name="T31" fmla="*/ 19 h 263"/>
                <a:gd name="T32" fmla="*/ 380 w 394"/>
                <a:gd name="T33" fmla="*/ 19 h 263"/>
                <a:gd name="T34" fmla="*/ 191 w 394"/>
                <a:gd name="T35" fmla="*/ 223 h 263"/>
                <a:gd name="T36" fmla="*/ 191 w 394"/>
                <a:gd name="T37" fmla="*/ 44 h 263"/>
                <a:gd name="T38" fmla="*/ 54 w 394"/>
                <a:gd name="T39" fmla="*/ 2 h 263"/>
                <a:gd name="T40" fmla="*/ 54 w 394"/>
                <a:gd name="T41" fmla="*/ 188 h 263"/>
                <a:gd name="T42" fmla="*/ 59 w 394"/>
                <a:gd name="T43" fmla="*/ 188 h 263"/>
                <a:gd name="T44" fmla="*/ 191 w 394"/>
                <a:gd name="T45" fmla="*/ 223 h 263"/>
                <a:gd name="T46" fmla="*/ 340 w 394"/>
                <a:gd name="T47" fmla="*/ 188 h 263"/>
                <a:gd name="T48" fmla="*/ 340 w 394"/>
                <a:gd name="T49" fmla="*/ 2 h 263"/>
                <a:gd name="T50" fmla="*/ 204 w 394"/>
                <a:gd name="T51" fmla="*/ 44 h 263"/>
                <a:gd name="T52" fmla="*/ 204 w 394"/>
                <a:gd name="T53" fmla="*/ 223 h 263"/>
                <a:gd name="T54" fmla="*/ 335 w 394"/>
                <a:gd name="T55" fmla="*/ 188 h 263"/>
                <a:gd name="T56" fmla="*/ 340 w 394"/>
                <a:gd name="T57" fmla="*/ 188 h 263"/>
                <a:gd name="T58" fmla="*/ 197 w 394"/>
                <a:gd name="T59" fmla="*/ 252 h 263"/>
                <a:gd name="T60" fmla="*/ 371 w 394"/>
                <a:gd name="T61" fmla="*/ 211 h 263"/>
                <a:gd name="T62" fmla="*/ 371 w 394"/>
                <a:gd name="T63" fmla="*/ 4 h 263"/>
                <a:gd name="T64" fmla="*/ 350 w 394"/>
                <a:gd name="T65" fmla="*/ 4 h 263"/>
                <a:gd name="T66" fmla="*/ 350 w 394"/>
                <a:gd name="T67" fmla="*/ 198 h 263"/>
                <a:gd name="T68" fmla="*/ 344 w 394"/>
                <a:gd name="T69" fmla="*/ 197 h 263"/>
                <a:gd name="T70" fmla="*/ 334 w 394"/>
                <a:gd name="T71" fmla="*/ 197 h 263"/>
                <a:gd name="T72" fmla="*/ 201 w 394"/>
                <a:gd name="T73" fmla="*/ 235 h 263"/>
                <a:gd name="T74" fmla="*/ 197 w 394"/>
                <a:gd name="T75" fmla="*/ 237 h 263"/>
                <a:gd name="T76" fmla="*/ 194 w 394"/>
                <a:gd name="T77" fmla="*/ 235 h 263"/>
                <a:gd name="T78" fmla="*/ 60 w 394"/>
                <a:gd name="T79" fmla="*/ 197 h 263"/>
                <a:gd name="T80" fmla="*/ 50 w 394"/>
                <a:gd name="T81" fmla="*/ 197 h 263"/>
                <a:gd name="T82" fmla="*/ 45 w 394"/>
                <a:gd name="T83" fmla="*/ 198 h 263"/>
                <a:gd name="T84" fmla="*/ 45 w 394"/>
                <a:gd name="T85" fmla="*/ 4 h 263"/>
                <a:gd name="T86" fmla="*/ 24 w 394"/>
                <a:gd name="T87" fmla="*/ 4 h 263"/>
                <a:gd name="T88" fmla="*/ 24 w 394"/>
                <a:gd name="T89" fmla="*/ 211 h 263"/>
                <a:gd name="T90" fmla="*/ 197 w 394"/>
                <a:gd name="T91" fmla="*/ 25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4" h="263">
                  <a:moveTo>
                    <a:pt x="380" y="19"/>
                  </a:moveTo>
                  <a:lnTo>
                    <a:pt x="380" y="216"/>
                  </a:lnTo>
                  <a:lnTo>
                    <a:pt x="374" y="216"/>
                  </a:lnTo>
                  <a:cubicBezTo>
                    <a:pt x="370" y="215"/>
                    <a:pt x="366" y="215"/>
                    <a:pt x="362" y="215"/>
                  </a:cubicBezTo>
                  <a:cubicBezTo>
                    <a:pt x="307" y="215"/>
                    <a:pt x="250" y="230"/>
                    <a:pt x="199" y="256"/>
                  </a:cubicBezTo>
                  <a:lnTo>
                    <a:pt x="197" y="257"/>
                  </a:lnTo>
                  <a:lnTo>
                    <a:pt x="195" y="256"/>
                  </a:lnTo>
                  <a:cubicBezTo>
                    <a:pt x="145" y="230"/>
                    <a:pt x="87" y="215"/>
                    <a:pt x="33" y="215"/>
                  </a:cubicBezTo>
                  <a:cubicBezTo>
                    <a:pt x="28" y="215"/>
                    <a:pt x="24" y="215"/>
                    <a:pt x="20" y="216"/>
                  </a:cubicBezTo>
                  <a:lnTo>
                    <a:pt x="14" y="216"/>
                  </a:lnTo>
                  <a:lnTo>
                    <a:pt x="14" y="19"/>
                  </a:lnTo>
                  <a:cubicBezTo>
                    <a:pt x="10" y="19"/>
                    <a:pt x="5" y="19"/>
                    <a:pt x="0" y="19"/>
                  </a:cubicBezTo>
                  <a:lnTo>
                    <a:pt x="0" y="223"/>
                  </a:lnTo>
                  <a:cubicBezTo>
                    <a:pt x="66" y="222"/>
                    <a:pt x="136" y="236"/>
                    <a:pt x="197" y="263"/>
                  </a:cubicBezTo>
                  <a:cubicBezTo>
                    <a:pt x="259" y="236"/>
                    <a:pt x="328" y="222"/>
                    <a:pt x="394" y="223"/>
                  </a:cubicBezTo>
                  <a:lnTo>
                    <a:pt x="394" y="19"/>
                  </a:lnTo>
                  <a:cubicBezTo>
                    <a:pt x="389" y="19"/>
                    <a:pt x="385" y="19"/>
                    <a:pt x="380" y="19"/>
                  </a:cubicBezTo>
                  <a:close/>
                  <a:moveTo>
                    <a:pt x="191" y="223"/>
                  </a:moveTo>
                  <a:lnTo>
                    <a:pt x="191" y="44"/>
                  </a:lnTo>
                  <a:cubicBezTo>
                    <a:pt x="148" y="16"/>
                    <a:pt x="100" y="0"/>
                    <a:pt x="54" y="2"/>
                  </a:cubicBezTo>
                  <a:lnTo>
                    <a:pt x="54" y="188"/>
                  </a:lnTo>
                  <a:cubicBezTo>
                    <a:pt x="56" y="188"/>
                    <a:pt x="58" y="188"/>
                    <a:pt x="59" y="188"/>
                  </a:cubicBezTo>
                  <a:cubicBezTo>
                    <a:pt x="103" y="188"/>
                    <a:pt x="150" y="200"/>
                    <a:pt x="191" y="223"/>
                  </a:cubicBezTo>
                  <a:close/>
                  <a:moveTo>
                    <a:pt x="340" y="188"/>
                  </a:moveTo>
                  <a:lnTo>
                    <a:pt x="340" y="2"/>
                  </a:lnTo>
                  <a:cubicBezTo>
                    <a:pt x="295" y="0"/>
                    <a:pt x="246" y="16"/>
                    <a:pt x="204" y="44"/>
                  </a:cubicBezTo>
                  <a:lnTo>
                    <a:pt x="204" y="223"/>
                  </a:lnTo>
                  <a:cubicBezTo>
                    <a:pt x="245" y="200"/>
                    <a:pt x="291" y="188"/>
                    <a:pt x="335" y="188"/>
                  </a:cubicBezTo>
                  <a:cubicBezTo>
                    <a:pt x="337" y="188"/>
                    <a:pt x="339" y="188"/>
                    <a:pt x="340" y="188"/>
                  </a:cubicBezTo>
                  <a:close/>
                  <a:moveTo>
                    <a:pt x="197" y="252"/>
                  </a:moveTo>
                  <a:cubicBezTo>
                    <a:pt x="253" y="222"/>
                    <a:pt x="315" y="209"/>
                    <a:pt x="371" y="211"/>
                  </a:cubicBezTo>
                  <a:lnTo>
                    <a:pt x="371" y="4"/>
                  </a:lnTo>
                  <a:cubicBezTo>
                    <a:pt x="364" y="4"/>
                    <a:pt x="357" y="4"/>
                    <a:pt x="350" y="4"/>
                  </a:cubicBezTo>
                  <a:lnTo>
                    <a:pt x="350" y="198"/>
                  </a:lnTo>
                  <a:lnTo>
                    <a:pt x="344" y="197"/>
                  </a:lnTo>
                  <a:cubicBezTo>
                    <a:pt x="341" y="197"/>
                    <a:pt x="337" y="197"/>
                    <a:pt x="334" y="197"/>
                  </a:cubicBezTo>
                  <a:cubicBezTo>
                    <a:pt x="289" y="197"/>
                    <a:pt x="242" y="211"/>
                    <a:pt x="201" y="235"/>
                  </a:cubicBezTo>
                  <a:lnTo>
                    <a:pt x="197" y="237"/>
                  </a:lnTo>
                  <a:lnTo>
                    <a:pt x="194" y="235"/>
                  </a:lnTo>
                  <a:cubicBezTo>
                    <a:pt x="153" y="211"/>
                    <a:pt x="105" y="197"/>
                    <a:pt x="60" y="197"/>
                  </a:cubicBezTo>
                  <a:cubicBezTo>
                    <a:pt x="57" y="197"/>
                    <a:pt x="54" y="197"/>
                    <a:pt x="50" y="197"/>
                  </a:cubicBezTo>
                  <a:lnTo>
                    <a:pt x="45" y="198"/>
                  </a:lnTo>
                  <a:lnTo>
                    <a:pt x="45" y="4"/>
                  </a:lnTo>
                  <a:cubicBezTo>
                    <a:pt x="38" y="4"/>
                    <a:pt x="31" y="4"/>
                    <a:pt x="24" y="4"/>
                  </a:cubicBezTo>
                  <a:lnTo>
                    <a:pt x="24" y="211"/>
                  </a:lnTo>
                  <a:cubicBezTo>
                    <a:pt x="79" y="209"/>
                    <a:pt x="142" y="222"/>
                    <a:pt x="197" y="2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8" name="组合 17"/>
          <p:cNvGrpSpPr/>
          <p:nvPr/>
        </p:nvGrpSpPr>
        <p:grpSpPr>
          <a:xfrm>
            <a:off x="868029" y="198604"/>
            <a:ext cx="472312" cy="484825"/>
            <a:chOff x="2014036" y="-1899592"/>
            <a:chExt cx="1050534" cy="1078364"/>
          </a:xfrm>
        </p:grpSpPr>
        <p:sp>
          <p:nvSpPr>
            <p:cNvPr id="19" name="Oval 6"/>
            <p:cNvSpPr>
              <a:spLocks noChangeArrowheads="1"/>
            </p:cNvSpPr>
            <p:nvPr/>
          </p:nvSpPr>
          <p:spPr bwMode="auto">
            <a:xfrm>
              <a:off x="2014036" y="-1899592"/>
              <a:ext cx="1050534" cy="1078364"/>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10"/>
            <p:cNvSpPr>
              <a:spLocks noEditPoints="1"/>
            </p:cNvSpPr>
            <p:nvPr/>
          </p:nvSpPr>
          <p:spPr bwMode="auto">
            <a:xfrm>
              <a:off x="2313195" y="-1670005"/>
              <a:ext cx="553096" cy="640061"/>
            </a:xfrm>
            <a:custGeom>
              <a:avLst/>
              <a:gdLst>
                <a:gd name="T0" fmla="*/ 214 w 336"/>
                <a:gd name="T1" fmla="*/ 48 h 380"/>
                <a:gd name="T2" fmla="*/ 167 w 336"/>
                <a:gd name="T3" fmla="*/ 95 h 380"/>
                <a:gd name="T4" fmla="*/ 119 w 336"/>
                <a:gd name="T5" fmla="*/ 95 h 380"/>
                <a:gd name="T6" fmla="*/ 72 w 336"/>
                <a:gd name="T7" fmla="*/ 48 h 380"/>
                <a:gd name="T8" fmla="*/ 119 w 336"/>
                <a:gd name="T9" fmla="*/ 0 h 380"/>
                <a:gd name="T10" fmla="*/ 167 w 336"/>
                <a:gd name="T11" fmla="*/ 0 h 380"/>
                <a:gd name="T12" fmla="*/ 214 w 336"/>
                <a:gd name="T13" fmla="*/ 48 h 380"/>
                <a:gd name="T14" fmla="*/ 237 w 336"/>
                <a:gd name="T15" fmla="*/ 48 h 380"/>
                <a:gd name="T16" fmla="*/ 238 w 336"/>
                <a:gd name="T17" fmla="*/ 59 h 380"/>
                <a:gd name="T18" fmla="*/ 179 w 336"/>
                <a:gd name="T19" fmla="*/ 118 h 380"/>
                <a:gd name="T20" fmla="*/ 107 w 336"/>
                <a:gd name="T21" fmla="*/ 118 h 380"/>
                <a:gd name="T22" fmla="*/ 48 w 336"/>
                <a:gd name="T23" fmla="*/ 59 h 380"/>
                <a:gd name="T24" fmla="*/ 49 w 336"/>
                <a:gd name="T25" fmla="*/ 48 h 380"/>
                <a:gd name="T26" fmla="*/ 0 w 336"/>
                <a:gd name="T27" fmla="*/ 106 h 380"/>
                <a:gd name="T28" fmla="*/ 0 w 336"/>
                <a:gd name="T29" fmla="*/ 320 h 380"/>
                <a:gd name="T30" fmla="*/ 60 w 336"/>
                <a:gd name="T31" fmla="*/ 380 h 380"/>
                <a:gd name="T32" fmla="*/ 218 w 336"/>
                <a:gd name="T33" fmla="*/ 380 h 380"/>
                <a:gd name="T34" fmla="*/ 153 w 336"/>
                <a:gd name="T35" fmla="*/ 282 h 380"/>
                <a:gd name="T36" fmla="*/ 260 w 336"/>
                <a:gd name="T37" fmla="*/ 176 h 380"/>
                <a:gd name="T38" fmla="*/ 286 w 336"/>
                <a:gd name="T39" fmla="*/ 179 h 380"/>
                <a:gd name="T40" fmla="*/ 286 w 336"/>
                <a:gd name="T41" fmla="*/ 106 h 380"/>
                <a:gd name="T42" fmla="*/ 237 w 336"/>
                <a:gd name="T43" fmla="*/ 48 h 380"/>
                <a:gd name="T44" fmla="*/ 134 w 336"/>
                <a:gd name="T45" fmla="*/ 238 h 380"/>
                <a:gd name="T46" fmla="*/ 134 w 336"/>
                <a:gd name="T47" fmla="*/ 238 h 380"/>
                <a:gd name="T48" fmla="*/ 60 w 336"/>
                <a:gd name="T49" fmla="*/ 238 h 380"/>
                <a:gd name="T50" fmla="*/ 48 w 336"/>
                <a:gd name="T51" fmla="*/ 226 h 380"/>
                <a:gd name="T52" fmla="*/ 60 w 336"/>
                <a:gd name="T53" fmla="*/ 214 h 380"/>
                <a:gd name="T54" fmla="*/ 134 w 336"/>
                <a:gd name="T55" fmla="*/ 214 h 380"/>
                <a:gd name="T56" fmla="*/ 146 w 336"/>
                <a:gd name="T57" fmla="*/ 226 h 380"/>
                <a:gd name="T58" fmla="*/ 134 w 336"/>
                <a:gd name="T59" fmla="*/ 238 h 380"/>
                <a:gd name="T60" fmla="*/ 158 w 336"/>
                <a:gd name="T61" fmla="*/ 190 h 380"/>
                <a:gd name="T62" fmla="*/ 158 w 336"/>
                <a:gd name="T63" fmla="*/ 190 h 380"/>
                <a:gd name="T64" fmla="*/ 60 w 336"/>
                <a:gd name="T65" fmla="*/ 190 h 380"/>
                <a:gd name="T66" fmla="*/ 48 w 336"/>
                <a:gd name="T67" fmla="*/ 178 h 380"/>
                <a:gd name="T68" fmla="*/ 60 w 336"/>
                <a:gd name="T69" fmla="*/ 167 h 380"/>
                <a:gd name="T70" fmla="*/ 158 w 336"/>
                <a:gd name="T71" fmla="*/ 167 h 380"/>
                <a:gd name="T72" fmla="*/ 170 w 336"/>
                <a:gd name="T73" fmla="*/ 178 h 380"/>
                <a:gd name="T74" fmla="*/ 158 w 336"/>
                <a:gd name="T75" fmla="*/ 190 h 380"/>
                <a:gd name="T76" fmla="*/ 279 w 336"/>
                <a:gd name="T77" fmla="*/ 208 h 380"/>
                <a:gd name="T78" fmla="*/ 260 w 336"/>
                <a:gd name="T79" fmla="*/ 206 h 380"/>
                <a:gd name="T80" fmla="*/ 184 w 336"/>
                <a:gd name="T81" fmla="*/ 281 h 380"/>
                <a:gd name="T82" fmla="*/ 244 w 336"/>
                <a:gd name="T83" fmla="*/ 356 h 380"/>
                <a:gd name="T84" fmla="*/ 260 w 336"/>
                <a:gd name="T85" fmla="*/ 357 h 380"/>
                <a:gd name="T86" fmla="*/ 336 w 336"/>
                <a:gd name="T87" fmla="*/ 281 h 380"/>
                <a:gd name="T88" fmla="*/ 279 w 336"/>
                <a:gd name="T89" fmla="*/ 208 h 380"/>
                <a:gd name="T90" fmla="*/ 303 w 336"/>
                <a:gd name="T91" fmla="*/ 271 h 380"/>
                <a:gd name="T92" fmla="*/ 303 w 336"/>
                <a:gd name="T93" fmla="*/ 271 h 380"/>
                <a:gd name="T94" fmla="*/ 279 w 336"/>
                <a:gd name="T95" fmla="*/ 295 h 380"/>
                <a:gd name="T96" fmla="*/ 260 w 336"/>
                <a:gd name="T97" fmla="*/ 314 h 380"/>
                <a:gd name="T98" fmla="*/ 239 w 336"/>
                <a:gd name="T99" fmla="*/ 314 h 380"/>
                <a:gd name="T100" fmla="*/ 217 w 336"/>
                <a:gd name="T101" fmla="*/ 292 h 380"/>
                <a:gd name="T102" fmla="*/ 217 w 336"/>
                <a:gd name="T103" fmla="*/ 271 h 380"/>
                <a:gd name="T104" fmla="*/ 239 w 336"/>
                <a:gd name="T105" fmla="*/ 271 h 380"/>
                <a:gd name="T106" fmla="*/ 250 w 336"/>
                <a:gd name="T107" fmla="*/ 281 h 380"/>
                <a:gd name="T108" fmla="*/ 279 w 336"/>
                <a:gd name="T109" fmla="*/ 252 h 380"/>
                <a:gd name="T110" fmla="*/ 282 w 336"/>
                <a:gd name="T111" fmla="*/ 249 h 380"/>
                <a:gd name="T112" fmla="*/ 303 w 336"/>
                <a:gd name="T113" fmla="*/ 249 h 380"/>
                <a:gd name="T114" fmla="*/ 303 w 336"/>
                <a:gd name="T115" fmla="*/ 271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36" h="380">
                  <a:moveTo>
                    <a:pt x="214" y="48"/>
                  </a:moveTo>
                  <a:cubicBezTo>
                    <a:pt x="214" y="74"/>
                    <a:pt x="193" y="95"/>
                    <a:pt x="167" y="95"/>
                  </a:cubicBezTo>
                  <a:lnTo>
                    <a:pt x="119" y="95"/>
                  </a:lnTo>
                  <a:cubicBezTo>
                    <a:pt x="93" y="95"/>
                    <a:pt x="72" y="74"/>
                    <a:pt x="72" y="48"/>
                  </a:cubicBezTo>
                  <a:cubicBezTo>
                    <a:pt x="72" y="21"/>
                    <a:pt x="93" y="0"/>
                    <a:pt x="119" y="0"/>
                  </a:cubicBezTo>
                  <a:lnTo>
                    <a:pt x="167" y="0"/>
                  </a:lnTo>
                  <a:cubicBezTo>
                    <a:pt x="193" y="0"/>
                    <a:pt x="214" y="21"/>
                    <a:pt x="214" y="48"/>
                  </a:cubicBezTo>
                  <a:close/>
                  <a:moveTo>
                    <a:pt x="237" y="48"/>
                  </a:moveTo>
                  <a:cubicBezTo>
                    <a:pt x="238" y="51"/>
                    <a:pt x="238" y="55"/>
                    <a:pt x="238" y="59"/>
                  </a:cubicBezTo>
                  <a:cubicBezTo>
                    <a:pt x="238" y="91"/>
                    <a:pt x="211" y="118"/>
                    <a:pt x="179" y="118"/>
                  </a:cubicBezTo>
                  <a:lnTo>
                    <a:pt x="107" y="118"/>
                  </a:lnTo>
                  <a:cubicBezTo>
                    <a:pt x="74" y="118"/>
                    <a:pt x="48" y="91"/>
                    <a:pt x="48" y="59"/>
                  </a:cubicBezTo>
                  <a:cubicBezTo>
                    <a:pt x="48" y="55"/>
                    <a:pt x="48" y="51"/>
                    <a:pt x="49" y="48"/>
                  </a:cubicBezTo>
                  <a:cubicBezTo>
                    <a:pt x="21" y="53"/>
                    <a:pt x="0" y="77"/>
                    <a:pt x="0" y="106"/>
                  </a:cubicBezTo>
                  <a:lnTo>
                    <a:pt x="0" y="320"/>
                  </a:lnTo>
                  <a:cubicBezTo>
                    <a:pt x="0" y="353"/>
                    <a:pt x="27" y="380"/>
                    <a:pt x="60" y="380"/>
                  </a:cubicBezTo>
                  <a:lnTo>
                    <a:pt x="218" y="380"/>
                  </a:lnTo>
                  <a:cubicBezTo>
                    <a:pt x="180" y="363"/>
                    <a:pt x="153" y="326"/>
                    <a:pt x="153" y="282"/>
                  </a:cubicBezTo>
                  <a:cubicBezTo>
                    <a:pt x="153" y="223"/>
                    <a:pt x="201" y="176"/>
                    <a:pt x="260" y="176"/>
                  </a:cubicBezTo>
                  <a:cubicBezTo>
                    <a:pt x="269" y="176"/>
                    <a:pt x="277" y="177"/>
                    <a:pt x="286" y="179"/>
                  </a:cubicBezTo>
                  <a:lnTo>
                    <a:pt x="286" y="106"/>
                  </a:lnTo>
                  <a:cubicBezTo>
                    <a:pt x="286" y="77"/>
                    <a:pt x="265" y="53"/>
                    <a:pt x="237" y="48"/>
                  </a:cubicBezTo>
                  <a:close/>
                  <a:moveTo>
                    <a:pt x="134" y="238"/>
                  </a:moveTo>
                  <a:lnTo>
                    <a:pt x="134" y="238"/>
                  </a:lnTo>
                  <a:lnTo>
                    <a:pt x="60" y="238"/>
                  </a:lnTo>
                  <a:cubicBezTo>
                    <a:pt x="53" y="238"/>
                    <a:pt x="48" y="233"/>
                    <a:pt x="48" y="226"/>
                  </a:cubicBezTo>
                  <a:cubicBezTo>
                    <a:pt x="48" y="219"/>
                    <a:pt x="53" y="214"/>
                    <a:pt x="60" y="214"/>
                  </a:cubicBezTo>
                  <a:lnTo>
                    <a:pt x="134" y="214"/>
                  </a:lnTo>
                  <a:cubicBezTo>
                    <a:pt x="141" y="214"/>
                    <a:pt x="146" y="219"/>
                    <a:pt x="146" y="226"/>
                  </a:cubicBezTo>
                  <a:cubicBezTo>
                    <a:pt x="146" y="233"/>
                    <a:pt x="141" y="238"/>
                    <a:pt x="134" y="238"/>
                  </a:cubicBezTo>
                  <a:close/>
                  <a:moveTo>
                    <a:pt x="158" y="190"/>
                  </a:moveTo>
                  <a:lnTo>
                    <a:pt x="158" y="190"/>
                  </a:lnTo>
                  <a:lnTo>
                    <a:pt x="60" y="190"/>
                  </a:lnTo>
                  <a:cubicBezTo>
                    <a:pt x="53" y="190"/>
                    <a:pt x="48" y="185"/>
                    <a:pt x="48" y="178"/>
                  </a:cubicBezTo>
                  <a:cubicBezTo>
                    <a:pt x="48" y="172"/>
                    <a:pt x="53" y="167"/>
                    <a:pt x="60" y="167"/>
                  </a:cubicBezTo>
                  <a:lnTo>
                    <a:pt x="158" y="167"/>
                  </a:lnTo>
                  <a:cubicBezTo>
                    <a:pt x="164" y="167"/>
                    <a:pt x="170" y="172"/>
                    <a:pt x="170" y="178"/>
                  </a:cubicBezTo>
                  <a:cubicBezTo>
                    <a:pt x="170" y="185"/>
                    <a:pt x="164" y="190"/>
                    <a:pt x="158" y="190"/>
                  </a:cubicBezTo>
                  <a:close/>
                  <a:moveTo>
                    <a:pt x="279" y="208"/>
                  </a:moveTo>
                  <a:cubicBezTo>
                    <a:pt x="273" y="207"/>
                    <a:pt x="267" y="206"/>
                    <a:pt x="260" y="206"/>
                  </a:cubicBezTo>
                  <a:cubicBezTo>
                    <a:pt x="218" y="206"/>
                    <a:pt x="184" y="240"/>
                    <a:pt x="184" y="281"/>
                  </a:cubicBezTo>
                  <a:cubicBezTo>
                    <a:pt x="184" y="318"/>
                    <a:pt x="210" y="348"/>
                    <a:pt x="244" y="356"/>
                  </a:cubicBezTo>
                  <a:cubicBezTo>
                    <a:pt x="249" y="357"/>
                    <a:pt x="255" y="357"/>
                    <a:pt x="260" y="357"/>
                  </a:cubicBezTo>
                  <a:cubicBezTo>
                    <a:pt x="302" y="357"/>
                    <a:pt x="336" y="323"/>
                    <a:pt x="336" y="281"/>
                  </a:cubicBezTo>
                  <a:cubicBezTo>
                    <a:pt x="336" y="246"/>
                    <a:pt x="312" y="216"/>
                    <a:pt x="279" y="208"/>
                  </a:cubicBezTo>
                  <a:close/>
                  <a:moveTo>
                    <a:pt x="303" y="271"/>
                  </a:moveTo>
                  <a:lnTo>
                    <a:pt x="303" y="271"/>
                  </a:lnTo>
                  <a:lnTo>
                    <a:pt x="279" y="295"/>
                  </a:lnTo>
                  <a:lnTo>
                    <a:pt x="260" y="314"/>
                  </a:lnTo>
                  <a:cubicBezTo>
                    <a:pt x="254" y="320"/>
                    <a:pt x="245" y="320"/>
                    <a:pt x="239" y="314"/>
                  </a:cubicBezTo>
                  <a:lnTo>
                    <a:pt x="217" y="292"/>
                  </a:lnTo>
                  <a:cubicBezTo>
                    <a:pt x="211" y="286"/>
                    <a:pt x="211" y="277"/>
                    <a:pt x="217" y="271"/>
                  </a:cubicBezTo>
                  <a:cubicBezTo>
                    <a:pt x="223" y="265"/>
                    <a:pt x="233" y="265"/>
                    <a:pt x="239" y="271"/>
                  </a:cubicBezTo>
                  <a:lnTo>
                    <a:pt x="250" y="281"/>
                  </a:lnTo>
                  <a:lnTo>
                    <a:pt x="279" y="252"/>
                  </a:lnTo>
                  <a:lnTo>
                    <a:pt x="282" y="249"/>
                  </a:lnTo>
                  <a:cubicBezTo>
                    <a:pt x="288" y="243"/>
                    <a:pt x="297" y="243"/>
                    <a:pt x="303" y="249"/>
                  </a:cubicBezTo>
                  <a:cubicBezTo>
                    <a:pt x="309" y="255"/>
                    <a:pt x="309" y="265"/>
                    <a:pt x="303" y="27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 name="组合 20"/>
          <p:cNvGrpSpPr/>
          <p:nvPr/>
        </p:nvGrpSpPr>
        <p:grpSpPr>
          <a:xfrm>
            <a:off x="1471677" y="198604"/>
            <a:ext cx="472312" cy="484825"/>
            <a:chOff x="3252414" y="-1899592"/>
            <a:chExt cx="1050534" cy="1078364"/>
          </a:xfrm>
        </p:grpSpPr>
        <p:sp>
          <p:nvSpPr>
            <p:cNvPr id="22" name="Oval 7"/>
            <p:cNvSpPr>
              <a:spLocks noChangeArrowheads="1"/>
            </p:cNvSpPr>
            <p:nvPr/>
          </p:nvSpPr>
          <p:spPr bwMode="auto">
            <a:xfrm>
              <a:off x="3252414" y="-1899592"/>
              <a:ext cx="1050534" cy="1078364"/>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11"/>
            <p:cNvSpPr>
              <a:spLocks noEditPoints="1"/>
            </p:cNvSpPr>
            <p:nvPr/>
          </p:nvSpPr>
          <p:spPr bwMode="auto">
            <a:xfrm>
              <a:off x="3450694" y="-1683919"/>
              <a:ext cx="594839" cy="647018"/>
            </a:xfrm>
            <a:custGeom>
              <a:avLst/>
              <a:gdLst>
                <a:gd name="T0" fmla="*/ 136 w 360"/>
                <a:gd name="T1" fmla="*/ 238 h 383"/>
                <a:gd name="T2" fmla="*/ 130 w 360"/>
                <a:gd name="T3" fmla="*/ 217 h 383"/>
                <a:gd name="T4" fmla="*/ 157 w 360"/>
                <a:gd name="T5" fmla="*/ 104 h 383"/>
                <a:gd name="T6" fmla="*/ 187 w 360"/>
                <a:gd name="T7" fmla="*/ 195 h 383"/>
                <a:gd name="T8" fmla="*/ 223 w 360"/>
                <a:gd name="T9" fmla="*/ 90 h 383"/>
                <a:gd name="T10" fmla="*/ 142 w 360"/>
                <a:gd name="T11" fmla="*/ 179 h 383"/>
                <a:gd name="T12" fmla="*/ 136 w 360"/>
                <a:gd name="T13" fmla="*/ 191 h 383"/>
                <a:gd name="T14" fmla="*/ 185 w 360"/>
                <a:gd name="T15" fmla="*/ 220 h 383"/>
                <a:gd name="T16" fmla="*/ 237 w 360"/>
                <a:gd name="T17" fmla="*/ 76 h 383"/>
                <a:gd name="T18" fmla="*/ 240 w 360"/>
                <a:gd name="T19" fmla="*/ 49 h 383"/>
                <a:gd name="T20" fmla="*/ 237 w 360"/>
                <a:gd name="T21" fmla="*/ 76 h 383"/>
                <a:gd name="T22" fmla="*/ 281 w 360"/>
                <a:gd name="T23" fmla="*/ 90 h 383"/>
                <a:gd name="T24" fmla="*/ 253 w 360"/>
                <a:gd name="T25" fmla="*/ 93 h 383"/>
                <a:gd name="T26" fmla="*/ 205 w 360"/>
                <a:gd name="T27" fmla="*/ 64 h 383"/>
                <a:gd name="T28" fmla="*/ 194 w 360"/>
                <a:gd name="T29" fmla="*/ 39 h 383"/>
                <a:gd name="T30" fmla="*/ 205 w 360"/>
                <a:gd name="T31" fmla="*/ 64 h 383"/>
                <a:gd name="T32" fmla="*/ 159 w 360"/>
                <a:gd name="T33" fmla="*/ 48 h 383"/>
                <a:gd name="T34" fmla="*/ 161 w 360"/>
                <a:gd name="T35" fmla="*/ 76 h 383"/>
                <a:gd name="T36" fmla="*/ 264 w 360"/>
                <a:gd name="T37" fmla="*/ 137 h 383"/>
                <a:gd name="T38" fmla="*/ 290 w 360"/>
                <a:gd name="T39" fmla="*/ 125 h 383"/>
                <a:gd name="T40" fmla="*/ 264 w 360"/>
                <a:gd name="T41" fmla="*/ 137 h 383"/>
                <a:gd name="T42" fmla="*/ 132 w 360"/>
                <a:gd name="T43" fmla="*/ 196 h 383"/>
                <a:gd name="T44" fmla="*/ 126 w 360"/>
                <a:gd name="T45" fmla="*/ 208 h 383"/>
                <a:gd name="T46" fmla="*/ 175 w 360"/>
                <a:gd name="T47" fmla="*/ 237 h 383"/>
                <a:gd name="T48" fmla="*/ 131 w 360"/>
                <a:gd name="T49" fmla="*/ 383 h 383"/>
                <a:gd name="T50" fmla="*/ 141 w 360"/>
                <a:gd name="T51" fmla="*/ 22 h 383"/>
                <a:gd name="T52" fmla="*/ 342 w 360"/>
                <a:gd name="T53" fmla="*/ 109 h 383"/>
                <a:gd name="T54" fmla="*/ 345 w 360"/>
                <a:gd name="T55" fmla="*/ 167 h 383"/>
                <a:gd name="T56" fmla="*/ 356 w 360"/>
                <a:gd name="T57" fmla="*/ 240 h 383"/>
                <a:gd name="T58" fmla="*/ 343 w 360"/>
                <a:gd name="T59" fmla="*/ 301 h 383"/>
                <a:gd name="T60" fmla="*/ 269 w 360"/>
                <a:gd name="T61" fmla="*/ 318 h 383"/>
                <a:gd name="T62" fmla="*/ 131 w 360"/>
                <a:gd name="T63" fmla="*/ 383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0" h="383">
                  <a:moveTo>
                    <a:pt x="130" y="217"/>
                  </a:moveTo>
                  <a:cubicBezTo>
                    <a:pt x="126" y="224"/>
                    <a:pt x="129" y="234"/>
                    <a:pt x="136" y="238"/>
                  </a:cubicBezTo>
                  <a:cubicBezTo>
                    <a:pt x="143" y="242"/>
                    <a:pt x="151" y="241"/>
                    <a:pt x="156" y="236"/>
                  </a:cubicBezTo>
                  <a:lnTo>
                    <a:pt x="130" y="217"/>
                  </a:lnTo>
                  <a:close/>
                  <a:moveTo>
                    <a:pt x="223" y="90"/>
                  </a:moveTo>
                  <a:cubicBezTo>
                    <a:pt x="199" y="76"/>
                    <a:pt x="170" y="83"/>
                    <a:pt x="157" y="104"/>
                  </a:cubicBezTo>
                  <a:cubicBezTo>
                    <a:pt x="144" y="127"/>
                    <a:pt x="161" y="151"/>
                    <a:pt x="149" y="174"/>
                  </a:cubicBezTo>
                  <a:lnTo>
                    <a:pt x="187" y="195"/>
                  </a:lnTo>
                  <a:cubicBezTo>
                    <a:pt x="201" y="174"/>
                    <a:pt x="231" y="176"/>
                    <a:pt x="243" y="154"/>
                  </a:cubicBezTo>
                  <a:cubicBezTo>
                    <a:pt x="256" y="132"/>
                    <a:pt x="247" y="104"/>
                    <a:pt x="223" y="90"/>
                  </a:cubicBezTo>
                  <a:close/>
                  <a:moveTo>
                    <a:pt x="183" y="209"/>
                  </a:moveTo>
                  <a:lnTo>
                    <a:pt x="142" y="179"/>
                  </a:lnTo>
                  <a:cubicBezTo>
                    <a:pt x="139" y="176"/>
                    <a:pt x="135" y="177"/>
                    <a:pt x="133" y="181"/>
                  </a:cubicBezTo>
                  <a:cubicBezTo>
                    <a:pt x="132" y="184"/>
                    <a:pt x="132" y="188"/>
                    <a:pt x="136" y="191"/>
                  </a:cubicBezTo>
                  <a:lnTo>
                    <a:pt x="176" y="221"/>
                  </a:lnTo>
                  <a:cubicBezTo>
                    <a:pt x="179" y="224"/>
                    <a:pt x="183" y="223"/>
                    <a:pt x="185" y="220"/>
                  </a:cubicBezTo>
                  <a:cubicBezTo>
                    <a:pt x="187" y="216"/>
                    <a:pt x="186" y="212"/>
                    <a:pt x="183" y="209"/>
                  </a:cubicBezTo>
                  <a:close/>
                  <a:moveTo>
                    <a:pt x="237" y="76"/>
                  </a:moveTo>
                  <a:lnTo>
                    <a:pt x="250" y="54"/>
                  </a:lnTo>
                  <a:lnTo>
                    <a:pt x="240" y="49"/>
                  </a:lnTo>
                  <a:lnTo>
                    <a:pt x="227" y="70"/>
                  </a:lnTo>
                  <a:lnTo>
                    <a:pt x="237" y="76"/>
                  </a:lnTo>
                  <a:close/>
                  <a:moveTo>
                    <a:pt x="259" y="103"/>
                  </a:moveTo>
                  <a:lnTo>
                    <a:pt x="281" y="90"/>
                  </a:lnTo>
                  <a:lnTo>
                    <a:pt x="275" y="80"/>
                  </a:lnTo>
                  <a:lnTo>
                    <a:pt x="253" y="93"/>
                  </a:lnTo>
                  <a:lnTo>
                    <a:pt x="259" y="103"/>
                  </a:lnTo>
                  <a:close/>
                  <a:moveTo>
                    <a:pt x="205" y="64"/>
                  </a:moveTo>
                  <a:lnTo>
                    <a:pt x="205" y="39"/>
                  </a:lnTo>
                  <a:lnTo>
                    <a:pt x="194" y="39"/>
                  </a:lnTo>
                  <a:lnTo>
                    <a:pt x="194" y="64"/>
                  </a:lnTo>
                  <a:lnTo>
                    <a:pt x="205" y="64"/>
                  </a:lnTo>
                  <a:close/>
                  <a:moveTo>
                    <a:pt x="172" y="70"/>
                  </a:moveTo>
                  <a:lnTo>
                    <a:pt x="159" y="48"/>
                  </a:lnTo>
                  <a:lnTo>
                    <a:pt x="149" y="54"/>
                  </a:lnTo>
                  <a:lnTo>
                    <a:pt x="161" y="76"/>
                  </a:lnTo>
                  <a:lnTo>
                    <a:pt x="172" y="70"/>
                  </a:lnTo>
                  <a:close/>
                  <a:moveTo>
                    <a:pt x="264" y="137"/>
                  </a:moveTo>
                  <a:lnTo>
                    <a:pt x="290" y="137"/>
                  </a:lnTo>
                  <a:lnTo>
                    <a:pt x="290" y="125"/>
                  </a:lnTo>
                  <a:lnTo>
                    <a:pt x="264" y="125"/>
                  </a:lnTo>
                  <a:lnTo>
                    <a:pt x="264" y="137"/>
                  </a:lnTo>
                  <a:close/>
                  <a:moveTo>
                    <a:pt x="173" y="227"/>
                  </a:moveTo>
                  <a:lnTo>
                    <a:pt x="132" y="196"/>
                  </a:lnTo>
                  <a:cubicBezTo>
                    <a:pt x="129" y="194"/>
                    <a:pt x="125" y="195"/>
                    <a:pt x="123" y="198"/>
                  </a:cubicBezTo>
                  <a:cubicBezTo>
                    <a:pt x="122" y="201"/>
                    <a:pt x="122" y="206"/>
                    <a:pt x="126" y="208"/>
                  </a:cubicBezTo>
                  <a:lnTo>
                    <a:pt x="166" y="239"/>
                  </a:lnTo>
                  <a:cubicBezTo>
                    <a:pt x="169" y="241"/>
                    <a:pt x="173" y="240"/>
                    <a:pt x="175" y="237"/>
                  </a:cubicBezTo>
                  <a:cubicBezTo>
                    <a:pt x="177" y="234"/>
                    <a:pt x="176" y="229"/>
                    <a:pt x="173" y="227"/>
                  </a:cubicBezTo>
                  <a:close/>
                  <a:moveTo>
                    <a:pt x="131" y="383"/>
                  </a:moveTo>
                  <a:cubicBezTo>
                    <a:pt x="136" y="353"/>
                    <a:pt x="136" y="321"/>
                    <a:pt x="127" y="293"/>
                  </a:cubicBezTo>
                  <a:cubicBezTo>
                    <a:pt x="0" y="221"/>
                    <a:pt x="34" y="56"/>
                    <a:pt x="141" y="22"/>
                  </a:cubicBezTo>
                  <a:cubicBezTo>
                    <a:pt x="197" y="0"/>
                    <a:pt x="274" y="13"/>
                    <a:pt x="323" y="63"/>
                  </a:cubicBezTo>
                  <a:cubicBezTo>
                    <a:pt x="360" y="99"/>
                    <a:pt x="342" y="109"/>
                    <a:pt x="342" y="109"/>
                  </a:cubicBezTo>
                  <a:lnTo>
                    <a:pt x="334" y="113"/>
                  </a:lnTo>
                  <a:cubicBezTo>
                    <a:pt x="339" y="131"/>
                    <a:pt x="346" y="162"/>
                    <a:pt x="345" y="167"/>
                  </a:cubicBezTo>
                  <a:cubicBezTo>
                    <a:pt x="344" y="173"/>
                    <a:pt x="337" y="179"/>
                    <a:pt x="337" y="179"/>
                  </a:cubicBezTo>
                  <a:lnTo>
                    <a:pt x="356" y="240"/>
                  </a:lnTo>
                  <a:lnTo>
                    <a:pt x="339" y="246"/>
                  </a:lnTo>
                  <a:cubicBezTo>
                    <a:pt x="343" y="266"/>
                    <a:pt x="345" y="282"/>
                    <a:pt x="343" y="301"/>
                  </a:cubicBezTo>
                  <a:cubicBezTo>
                    <a:pt x="343" y="305"/>
                    <a:pt x="332" y="314"/>
                    <a:pt x="323" y="315"/>
                  </a:cubicBezTo>
                  <a:lnTo>
                    <a:pt x="269" y="318"/>
                  </a:lnTo>
                  <a:lnTo>
                    <a:pt x="272" y="383"/>
                  </a:lnTo>
                  <a:lnTo>
                    <a:pt x="131" y="3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4" name="组合 23"/>
          <p:cNvGrpSpPr/>
          <p:nvPr/>
        </p:nvGrpSpPr>
        <p:grpSpPr>
          <a:xfrm>
            <a:off x="2075327" y="198604"/>
            <a:ext cx="473877" cy="484825"/>
            <a:chOff x="4553407" y="-1899592"/>
            <a:chExt cx="1054013" cy="1078364"/>
          </a:xfrm>
        </p:grpSpPr>
        <p:sp>
          <p:nvSpPr>
            <p:cNvPr id="25" name="Oval 8"/>
            <p:cNvSpPr>
              <a:spLocks noChangeArrowheads="1"/>
            </p:cNvSpPr>
            <p:nvPr/>
          </p:nvSpPr>
          <p:spPr bwMode="auto">
            <a:xfrm>
              <a:off x="4553407" y="-1899592"/>
              <a:ext cx="1054013" cy="1078364"/>
            </a:xfrm>
            <a:prstGeom prst="ellipse">
              <a:avLst/>
            </a:pr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12"/>
            <p:cNvSpPr>
              <a:spLocks noEditPoints="1"/>
            </p:cNvSpPr>
            <p:nvPr/>
          </p:nvSpPr>
          <p:spPr bwMode="auto">
            <a:xfrm>
              <a:off x="4824737" y="-1683919"/>
              <a:ext cx="594839" cy="650497"/>
            </a:xfrm>
            <a:custGeom>
              <a:avLst/>
              <a:gdLst>
                <a:gd name="T0" fmla="*/ 108 w 360"/>
                <a:gd name="T1" fmla="*/ 59 h 384"/>
                <a:gd name="T2" fmla="*/ 236 w 360"/>
                <a:gd name="T3" fmla="*/ 43 h 384"/>
                <a:gd name="T4" fmla="*/ 190 w 360"/>
                <a:gd name="T5" fmla="*/ 26 h 384"/>
                <a:gd name="T6" fmla="*/ 138 w 360"/>
                <a:gd name="T7" fmla="*/ 26 h 384"/>
                <a:gd name="T8" fmla="*/ 92 w 360"/>
                <a:gd name="T9" fmla="*/ 43 h 384"/>
                <a:gd name="T10" fmla="*/ 296 w 360"/>
                <a:gd name="T11" fmla="*/ 332 h 384"/>
                <a:gd name="T12" fmla="*/ 301 w 360"/>
                <a:gd name="T13" fmla="*/ 321 h 384"/>
                <a:gd name="T14" fmla="*/ 280 w 360"/>
                <a:gd name="T15" fmla="*/ 249 h 384"/>
                <a:gd name="T16" fmla="*/ 267 w 360"/>
                <a:gd name="T17" fmla="*/ 249 h 384"/>
                <a:gd name="T18" fmla="*/ 267 w 360"/>
                <a:gd name="T19" fmla="*/ 304 h 384"/>
                <a:gd name="T20" fmla="*/ 268 w 360"/>
                <a:gd name="T21" fmla="*/ 306 h 384"/>
                <a:gd name="T22" fmla="*/ 268 w 360"/>
                <a:gd name="T23" fmla="*/ 307 h 384"/>
                <a:gd name="T24" fmla="*/ 269 w 360"/>
                <a:gd name="T25" fmla="*/ 308 h 384"/>
                <a:gd name="T26" fmla="*/ 343 w 360"/>
                <a:gd name="T27" fmla="*/ 253 h 384"/>
                <a:gd name="T28" fmla="*/ 274 w 360"/>
                <a:gd name="T29" fmla="*/ 217 h 384"/>
                <a:gd name="T30" fmla="*/ 258 w 360"/>
                <a:gd name="T31" fmla="*/ 382 h 384"/>
                <a:gd name="T32" fmla="*/ 356 w 360"/>
                <a:gd name="T33" fmla="*/ 316 h 384"/>
                <a:gd name="T34" fmla="*/ 343 w 360"/>
                <a:gd name="T35" fmla="*/ 313 h 384"/>
                <a:gd name="T36" fmla="*/ 274 w 360"/>
                <a:gd name="T37" fmla="*/ 371 h 384"/>
                <a:gd name="T38" fmla="*/ 205 w 360"/>
                <a:gd name="T39" fmla="*/ 287 h 384"/>
                <a:gd name="T40" fmla="*/ 287 w 360"/>
                <a:gd name="T41" fmla="*/ 231 h 384"/>
                <a:gd name="T42" fmla="*/ 343 w 360"/>
                <a:gd name="T43" fmla="*/ 313 h 384"/>
                <a:gd name="T44" fmla="*/ 121 w 360"/>
                <a:gd name="T45" fmla="*/ 313 h 384"/>
                <a:gd name="T46" fmla="*/ 206 w 360"/>
                <a:gd name="T47" fmla="*/ 228 h 384"/>
                <a:gd name="T48" fmla="*/ 224 w 360"/>
                <a:gd name="T49" fmla="*/ 215 h 384"/>
                <a:gd name="T50" fmla="*/ 311 w 360"/>
                <a:gd name="T51" fmla="*/ 130 h 384"/>
                <a:gd name="T52" fmla="*/ 314 w 360"/>
                <a:gd name="T53" fmla="*/ 210 h 384"/>
                <a:gd name="T54" fmla="*/ 328 w 360"/>
                <a:gd name="T55" fmla="*/ 215 h 384"/>
                <a:gd name="T56" fmla="*/ 328 w 360"/>
                <a:gd name="T57" fmla="*/ 88 h 384"/>
                <a:gd name="T58" fmla="*/ 17 w 360"/>
                <a:gd name="T59" fmla="*/ 71 h 384"/>
                <a:gd name="T60" fmla="*/ 0 w 360"/>
                <a:gd name="T61" fmla="*/ 134 h 384"/>
                <a:gd name="T62" fmla="*/ 0 w 360"/>
                <a:gd name="T63" fmla="*/ 228 h 384"/>
                <a:gd name="T64" fmla="*/ 0 w 360"/>
                <a:gd name="T65" fmla="*/ 319 h 384"/>
                <a:gd name="T66" fmla="*/ 181 w 360"/>
                <a:gd name="T67" fmla="*/ 336 h 384"/>
                <a:gd name="T68" fmla="*/ 14 w 360"/>
                <a:gd name="T69" fmla="*/ 134 h 384"/>
                <a:gd name="T70" fmla="*/ 17 w 360"/>
                <a:gd name="T71" fmla="*/ 130 h 384"/>
                <a:gd name="T72" fmla="*/ 107 w 360"/>
                <a:gd name="T73" fmla="*/ 215 h 384"/>
                <a:gd name="T74" fmla="*/ 14 w 360"/>
                <a:gd name="T75" fmla="*/ 134 h 384"/>
                <a:gd name="T76" fmla="*/ 107 w 360"/>
                <a:gd name="T77" fmla="*/ 228 h 384"/>
                <a:gd name="T78" fmla="*/ 17 w 360"/>
                <a:gd name="T79" fmla="*/ 313 h 384"/>
                <a:gd name="T80" fmla="*/ 14 w 360"/>
                <a:gd name="T81" fmla="*/ 228 h 384"/>
                <a:gd name="T82" fmla="*/ 121 w 360"/>
                <a:gd name="T83" fmla="*/ 215 h 384"/>
                <a:gd name="T84" fmla="*/ 121 w 360"/>
                <a:gd name="T85" fmla="*/ 130 h 384"/>
                <a:gd name="T86" fmla="*/ 210 w 360"/>
                <a:gd name="T87" fmla="*/ 215 h 384"/>
                <a:gd name="T88" fmla="*/ 217 w 360"/>
                <a:gd name="T89" fmla="*/ 88 h 384"/>
                <a:gd name="T90" fmla="*/ 229 w 360"/>
                <a:gd name="T91" fmla="*/ 100 h 384"/>
                <a:gd name="T92" fmla="*/ 205 w 360"/>
                <a:gd name="T93" fmla="*/ 100 h 384"/>
                <a:gd name="T94" fmla="*/ 114 w 360"/>
                <a:gd name="T95" fmla="*/ 88 h 384"/>
                <a:gd name="T96" fmla="*/ 126 w 360"/>
                <a:gd name="T97" fmla="*/ 100 h 384"/>
                <a:gd name="T98" fmla="*/ 103 w 360"/>
                <a:gd name="T99" fmla="*/ 10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0" h="384">
                  <a:moveTo>
                    <a:pt x="92" y="43"/>
                  </a:moveTo>
                  <a:cubicBezTo>
                    <a:pt x="92" y="52"/>
                    <a:pt x="100" y="59"/>
                    <a:pt x="108" y="59"/>
                  </a:cubicBezTo>
                  <a:lnTo>
                    <a:pt x="220" y="59"/>
                  </a:lnTo>
                  <a:cubicBezTo>
                    <a:pt x="229" y="59"/>
                    <a:pt x="236" y="52"/>
                    <a:pt x="236" y="43"/>
                  </a:cubicBezTo>
                  <a:cubicBezTo>
                    <a:pt x="236" y="34"/>
                    <a:pt x="229" y="26"/>
                    <a:pt x="220" y="26"/>
                  </a:cubicBezTo>
                  <a:lnTo>
                    <a:pt x="190" y="26"/>
                  </a:lnTo>
                  <a:cubicBezTo>
                    <a:pt x="190" y="12"/>
                    <a:pt x="179" y="0"/>
                    <a:pt x="164" y="0"/>
                  </a:cubicBezTo>
                  <a:cubicBezTo>
                    <a:pt x="150" y="0"/>
                    <a:pt x="138" y="12"/>
                    <a:pt x="138" y="26"/>
                  </a:cubicBezTo>
                  <a:lnTo>
                    <a:pt x="108" y="26"/>
                  </a:lnTo>
                  <a:cubicBezTo>
                    <a:pt x="100" y="26"/>
                    <a:pt x="92" y="34"/>
                    <a:pt x="92" y="43"/>
                  </a:cubicBezTo>
                  <a:close/>
                  <a:moveTo>
                    <a:pt x="292" y="330"/>
                  </a:moveTo>
                  <a:cubicBezTo>
                    <a:pt x="293" y="332"/>
                    <a:pt x="295" y="332"/>
                    <a:pt x="296" y="332"/>
                  </a:cubicBezTo>
                  <a:cubicBezTo>
                    <a:pt x="298" y="332"/>
                    <a:pt x="300" y="332"/>
                    <a:pt x="301" y="330"/>
                  </a:cubicBezTo>
                  <a:cubicBezTo>
                    <a:pt x="304" y="328"/>
                    <a:pt x="304" y="323"/>
                    <a:pt x="301" y="321"/>
                  </a:cubicBezTo>
                  <a:lnTo>
                    <a:pt x="280" y="300"/>
                  </a:lnTo>
                  <a:lnTo>
                    <a:pt x="280" y="249"/>
                  </a:lnTo>
                  <a:cubicBezTo>
                    <a:pt x="280" y="245"/>
                    <a:pt x="278" y="242"/>
                    <a:pt x="274" y="242"/>
                  </a:cubicBezTo>
                  <a:cubicBezTo>
                    <a:pt x="270" y="242"/>
                    <a:pt x="267" y="245"/>
                    <a:pt x="267" y="249"/>
                  </a:cubicBezTo>
                  <a:lnTo>
                    <a:pt x="267" y="303"/>
                  </a:lnTo>
                  <a:cubicBezTo>
                    <a:pt x="267" y="303"/>
                    <a:pt x="267" y="304"/>
                    <a:pt x="267" y="304"/>
                  </a:cubicBezTo>
                  <a:cubicBezTo>
                    <a:pt x="267" y="305"/>
                    <a:pt x="267" y="305"/>
                    <a:pt x="267" y="305"/>
                  </a:cubicBezTo>
                  <a:cubicBezTo>
                    <a:pt x="267" y="305"/>
                    <a:pt x="268" y="305"/>
                    <a:pt x="268" y="306"/>
                  </a:cubicBezTo>
                  <a:cubicBezTo>
                    <a:pt x="268" y="306"/>
                    <a:pt x="268" y="306"/>
                    <a:pt x="268" y="306"/>
                  </a:cubicBezTo>
                  <a:cubicBezTo>
                    <a:pt x="268" y="306"/>
                    <a:pt x="268" y="307"/>
                    <a:pt x="268" y="307"/>
                  </a:cubicBezTo>
                  <a:cubicBezTo>
                    <a:pt x="268" y="307"/>
                    <a:pt x="269" y="307"/>
                    <a:pt x="269" y="308"/>
                  </a:cubicBezTo>
                  <a:cubicBezTo>
                    <a:pt x="269" y="308"/>
                    <a:pt x="269" y="308"/>
                    <a:pt x="269" y="308"/>
                  </a:cubicBezTo>
                  <a:lnTo>
                    <a:pt x="292" y="330"/>
                  </a:lnTo>
                  <a:close/>
                  <a:moveTo>
                    <a:pt x="343" y="253"/>
                  </a:moveTo>
                  <a:cubicBezTo>
                    <a:pt x="330" y="235"/>
                    <a:pt x="311" y="222"/>
                    <a:pt x="289" y="218"/>
                  </a:cubicBezTo>
                  <a:cubicBezTo>
                    <a:pt x="284" y="217"/>
                    <a:pt x="279" y="217"/>
                    <a:pt x="274" y="217"/>
                  </a:cubicBezTo>
                  <a:cubicBezTo>
                    <a:pt x="234" y="217"/>
                    <a:pt x="199" y="245"/>
                    <a:pt x="192" y="285"/>
                  </a:cubicBezTo>
                  <a:cubicBezTo>
                    <a:pt x="183" y="330"/>
                    <a:pt x="213" y="373"/>
                    <a:pt x="258" y="382"/>
                  </a:cubicBezTo>
                  <a:cubicBezTo>
                    <a:pt x="263" y="383"/>
                    <a:pt x="269" y="384"/>
                    <a:pt x="274" y="384"/>
                  </a:cubicBezTo>
                  <a:cubicBezTo>
                    <a:pt x="314" y="384"/>
                    <a:pt x="348" y="355"/>
                    <a:pt x="356" y="316"/>
                  </a:cubicBezTo>
                  <a:cubicBezTo>
                    <a:pt x="360" y="294"/>
                    <a:pt x="355" y="272"/>
                    <a:pt x="343" y="253"/>
                  </a:cubicBezTo>
                  <a:close/>
                  <a:moveTo>
                    <a:pt x="343" y="313"/>
                  </a:moveTo>
                  <a:lnTo>
                    <a:pt x="343" y="313"/>
                  </a:lnTo>
                  <a:cubicBezTo>
                    <a:pt x="337" y="347"/>
                    <a:pt x="308" y="371"/>
                    <a:pt x="274" y="371"/>
                  </a:cubicBezTo>
                  <a:cubicBezTo>
                    <a:pt x="269" y="371"/>
                    <a:pt x="265" y="370"/>
                    <a:pt x="261" y="369"/>
                  </a:cubicBezTo>
                  <a:cubicBezTo>
                    <a:pt x="222" y="362"/>
                    <a:pt x="197" y="325"/>
                    <a:pt x="205" y="287"/>
                  </a:cubicBezTo>
                  <a:cubicBezTo>
                    <a:pt x="211" y="254"/>
                    <a:pt x="240" y="230"/>
                    <a:pt x="274" y="230"/>
                  </a:cubicBezTo>
                  <a:cubicBezTo>
                    <a:pt x="278" y="230"/>
                    <a:pt x="283" y="230"/>
                    <a:pt x="287" y="231"/>
                  </a:cubicBezTo>
                  <a:cubicBezTo>
                    <a:pt x="306" y="234"/>
                    <a:pt x="322" y="245"/>
                    <a:pt x="332" y="261"/>
                  </a:cubicBezTo>
                  <a:cubicBezTo>
                    <a:pt x="343" y="276"/>
                    <a:pt x="347" y="295"/>
                    <a:pt x="343" y="313"/>
                  </a:cubicBezTo>
                  <a:close/>
                  <a:moveTo>
                    <a:pt x="176" y="313"/>
                  </a:moveTo>
                  <a:lnTo>
                    <a:pt x="121" y="313"/>
                  </a:lnTo>
                  <a:lnTo>
                    <a:pt x="121" y="228"/>
                  </a:lnTo>
                  <a:lnTo>
                    <a:pt x="206" y="228"/>
                  </a:lnTo>
                  <a:cubicBezTo>
                    <a:pt x="211" y="223"/>
                    <a:pt x="217" y="218"/>
                    <a:pt x="224" y="215"/>
                  </a:cubicBezTo>
                  <a:lnTo>
                    <a:pt x="224" y="215"/>
                  </a:lnTo>
                  <a:lnTo>
                    <a:pt x="224" y="130"/>
                  </a:lnTo>
                  <a:lnTo>
                    <a:pt x="311" y="130"/>
                  </a:lnTo>
                  <a:cubicBezTo>
                    <a:pt x="313" y="130"/>
                    <a:pt x="314" y="132"/>
                    <a:pt x="314" y="134"/>
                  </a:cubicBezTo>
                  <a:lnTo>
                    <a:pt x="314" y="210"/>
                  </a:lnTo>
                  <a:cubicBezTo>
                    <a:pt x="319" y="212"/>
                    <a:pt x="324" y="215"/>
                    <a:pt x="328" y="217"/>
                  </a:cubicBezTo>
                  <a:lnTo>
                    <a:pt x="328" y="215"/>
                  </a:lnTo>
                  <a:lnTo>
                    <a:pt x="328" y="134"/>
                  </a:lnTo>
                  <a:lnTo>
                    <a:pt x="328" y="88"/>
                  </a:lnTo>
                  <a:cubicBezTo>
                    <a:pt x="328" y="79"/>
                    <a:pt x="320" y="71"/>
                    <a:pt x="311" y="71"/>
                  </a:cubicBezTo>
                  <a:lnTo>
                    <a:pt x="17" y="71"/>
                  </a:lnTo>
                  <a:cubicBezTo>
                    <a:pt x="8" y="71"/>
                    <a:pt x="0" y="79"/>
                    <a:pt x="0" y="88"/>
                  </a:cubicBezTo>
                  <a:lnTo>
                    <a:pt x="0" y="134"/>
                  </a:lnTo>
                  <a:lnTo>
                    <a:pt x="0" y="215"/>
                  </a:lnTo>
                  <a:lnTo>
                    <a:pt x="0" y="228"/>
                  </a:lnTo>
                  <a:lnTo>
                    <a:pt x="0" y="309"/>
                  </a:lnTo>
                  <a:lnTo>
                    <a:pt x="0" y="319"/>
                  </a:lnTo>
                  <a:cubicBezTo>
                    <a:pt x="0" y="329"/>
                    <a:pt x="8" y="336"/>
                    <a:pt x="17" y="336"/>
                  </a:cubicBezTo>
                  <a:lnTo>
                    <a:pt x="181" y="336"/>
                  </a:lnTo>
                  <a:cubicBezTo>
                    <a:pt x="179" y="329"/>
                    <a:pt x="177" y="321"/>
                    <a:pt x="176" y="313"/>
                  </a:cubicBezTo>
                  <a:close/>
                  <a:moveTo>
                    <a:pt x="14" y="134"/>
                  </a:moveTo>
                  <a:lnTo>
                    <a:pt x="14" y="134"/>
                  </a:lnTo>
                  <a:cubicBezTo>
                    <a:pt x="14" y="132"/>
                    <a:pt x="15" y="130"/>
                    <a:pt x="17" y="130"/>
                  </a:cubicBezTo>
                  <a:lnTo>
                    <a:pt x="107" y="130"/>
                  </a:lnTo>
                  <a:lnTo>
                    <a:pt x="107" y="215"/>
                  </a:lnTo>
                  <a:lnTo>
                    <a:pt x="14" y="215"/>
                  </a:lnTo>
                  <a:lnTo>
                    <a:pt x="14" y="134"/>
                  </a:lnTo>
                  <a:close/>
                  <a:moveTo>
                    <a:pt x="107" y="228"/>
                  </a:moveTo>
                  <a:lnTo>
                    <a:pt x="107" y="228"/>
                  </a:lnTo>
                  <a:lnTo>
                    <a:pt x="107" y="313"/>
                  </a:lnTo>
                  <a:lnTo>
                    <a:pt x="17" y="313"/>
                  </a:lnTo>
                  <a:cubicBezTo>
                    <a:pt x="15" y="313"/>
                    <a:pt x="14" y="311"/>
                    <a:pt x="14" y="309"/>
                  </a:cubicBezTo>
                  <a:lnTo>
                    <a:pt x="14" y="228"/>
                  </a:lnTo>
                  <a:lnTo>
                    <a:pt x="107" y="228"/>
                  </a:lnTo>
                  <a:close/>
                  <a:moveTo>
                    <a:pt x="121" y="215"/>
                  </a:moveTo>
                  <a:lnTo>
                    <a:pt x="121" y="215"/>
                  </a:lnTo>
                  <a:lnTo>
                    <a:pt x="121" y="130"/>
                  </a:lnTo>
                  <a:lnTo>
                    <a:pt x="210" y="130"/>
                  </a:lnTo>
                  <a:lnTo>
                    <a:pt x="210" y="215"/>
                  </a:lnTo>
                  <a:lnTo>
                    <a:pt x="121" y="215"/>
                  </a:lnTo>
                  <a:close/>
                  <a:moveTo>
                    <a:pt x="217" y="88"/>
                  </a:moveTo>
                  <a:lnTo>
                    <a:pt x="217" y="88"/>
                  </a:lnTo>
                  <a:cubicBezTo>
                    <a:pt x="223" y="88"/>
                    <a:pt x="229" y="94"/>
                    <a:pt x="229" y="100"/>
                  </a:cubicBezTo>
                  <a:cubicBezTo>
                    <a:pt x="229" y="106"/>
                    <a:pt x="223" y="111"/>
                    <a:pt x="217" y="111"/>
                  </a:cubicBezTo>
                  <a:cubicBezTo>
                    <a:pt x="211" y="111"/>
                    <a:pt x="205" y="106"/>
                    <a:pt x="205" y="100"/>
                  </a:cubicBezTo>
                  <a:cubicBezTo>
                    <a:pt x="205" y="94"/>
                    <a:pt x="211" y="88"/>
                    <a:pt x="217" y="88"/>
                  </a:cubicBezTo>
                  <a:close/>
                  <a:moveTo>
                    <a:pt x="114" y="88"/>
                  </a:moveTo>
                  <a:lnTo>
                    <a:pt x="114" y="88"/>
                  </a:lnTo>
                  <a:cubicBezTo>
                    <a:pt x="120" y="88"/>
                    <a:pt x="126" y="94"/>
                    <a:pt x="126" y="100"/>
                  </a:cubicBezTo>
                  <a:cubicBezTo>
                    <a:pt x="126" y="106"/>
                    <a:pt x="120" y="111"/>
                    <a:pt x="114" y="111"/>
                  </a:cubicBezTo>
                  <a:cubicBezTo>
                    <a:pt x="108" y="111"/>
                    <a:pt x="103" y="106"/>
                    <a:pt x="103" y="100"/>
                  </a:cubicBezTo>
                  <a:cubicBezTo>
                    <a:pt x="103" y="94"/>
                    <a:pt x="108" y="88"/>
                    <a:pt x="114" y="8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7"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8" name="Rectangle 6"/>
          <p:cNvSpPr>
            <a:spLocks noChangeArrowheads="1"/>
          </p:cNvSpPr>
          <p:nvPr/>
        </p:nvSpPr>
        <p:spPr bwMode="auto">
          <a:xfrm>
            <a:off x="0" y="1109114"/>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9" name="Rectangle 7"/>
          <p:cNvSpPr>
            <a:spLocks noChangeArrowheads="1"/>
          </p:cNvSpPr>
          <p:nvPr/>
        </p:nvSpPr>
        <p:spPr bwMode="auto">
          <a:xfrm>
            <a:off x="1266714" y="1109114"/>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0" name="Rectangle 8"/>
          <p:cNvSpPr>
            <a:spLocks noChangeArrowheads="1"/>
          </p:cNvSpPr>
          <p:nvPr/>
        </p:nvSpPr>
        <p:spPr bwMode="auto">
          <a:xfrm>
            <a:off x="2531856" y="1109114"/>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1" name="Rectangle 9"/>
          <p:cNvSpPr>
            <a:spLocks noChangeArrowheads="1"/>
          </p:cNvSpPr>
          <p:nvPr/>
        </p:nvSpPr>
        <p:spPr bwMode="auto">
          <a:xfrm>
            <a:off x="3798567" y="1109114"/>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Tree>
    <p:extLst>
      <p:ext uri="{BB962C8B-B14F-4D97-AF65-F5344CB8AC3E}">
        <p14:creationId xmlns:p14="http://schemas.microsoft.com/office/powerpoint/2010/main" val="3546422696"/>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42026" y="251899"/>
            <a:ext cx="5974331" cy="584541"/>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b="1" dirty="0">
                <a:solidFill>
                  <a:schemeClr val="tx1"/>
                </a:solidFill>
                <a:latin typeface="微软雅黑" panose="020B0503020204020204" pitchFamily="34" charset="-122"/>
                <a:ea typeface="微软雅黑" panose="020B0503020204020204" pitchFamily="34" charset="-122"/>
              </a:rPr>
              <a:t>总线标准</a:t>
            </a:r>
          </a:p>
        </p:txBody>
      </p:sp>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pic>
        <p:nvPicPr>
          <p:cNvPr id="5122" name="Picture 2" descr="E:\我的文档\商务图片\19147185_150127007000_2.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044426" y="3666022"/>
            <a:ext cx="5022365" cy="2821733"/>
          </a:xfrm>
          <a:prstGeom prst="rect">
            <a:avLst/>
          </a:prstGeom>
          <a:noFill/>
          <a:ln>
            <a:solidFill>
              <a:schemeClr val="accent1">
                <a:lumMod val="40000"/>
                <a:lumOff val="60000"/>
              </a:schemeClr>
            </a:solidFill>
          </a:ln>
          <a:extLst>
            <a:ext uri="{909E8E84-426E-40DD-AFC4-6F175D3DCCD1}">
              <a14:hiddenFill xmlns:a14="http://schemas.microsoft.com/office/drawing/2010/main">
                <a:solidFill>
                  <a:srgbClr val="FFFFFF"/>
                </a:solidFill>
              </a14:hiddenFill>
            </a:ext>
          </a:extLst>
        </p:spPr>
      </p:pic>
      <p:pic>
        <p:nvPicPr>
          <p:cNvPr id="5123" name="Picture 3" descr="E:\我的文档\商务图片\Nipic_1082507_20091207090526024812.jpg"/>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6228894" y="3661058"/>
            <a:ext cx="5110573" cy="2826697"/>
          </a:xfrm>
          <a:prstGeom prst="rect">
            <a:avLst/>
          </a:prstGeom>
          <a:noFill/>
          <a:ln>
            <a:solidFill>
              <a:schemeClr val="accent1">
                <a:lumMod val="40000"/>
                <a:lumOff val="60000"/>
              </a:schemeClr>
            </a:solidFill>
          </a:ln>
          <a:extLst>
            <a:ext uri="{909E8E84-426E-40DD-AFC4-6F175D3DCCD1}">
              <a14:hiddenFill xmlns:a14="http://schemas.microsoft.com/office/drawing/2010/main">
                <a:solidFill>
                  <a:srgbClr val="FFFFFF"/>
                </a:solidFill>
              </a14:hiddenFill>
            </a:ext>
          </a:extLst>
        </p:spPr>
      </p:pic>
      <p:sp>
        <p:nvSpPr>
          <p:cNvPr id="8" name="矩形 83"/>
          <p:cNvSpPr>
            <a:spLocks noChangeArrowheads="1"/>
          </p:cNvSpPr>
          <p:nvPr/>
        </p:nvSpPr>
        <p:spPr bwMode="auto">
          <a:xfrm>
            <a:off x="1045556" y="1289258"/>
            <a:ext cx="10222393" cy="2116756"/>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9" name="TextBox 84"/>
          <p:cNvSpPr txBox="1">
            <a:spLocks noChangeArrowheads="1"/>
          </p:cNvSpPr>
          <p:nvPr/>
        </p:nvSpPr>
        <p:spPr bwMode="auto">
          <a:xfrm>
            <a:off x="1235185" y="1395832"/>
            <a:ext cx="9777981" cy="2547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98" tIns="45699" rIns="91398" bIns="45699">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a:lnSpc>
                <a:spcPct val="200000"/>
              </a:lnSpc>
            </a:pPr>
            <a:r>
              <a:rPr lang="zh-CN" altLang="en-US" sz="2800" b="1" dirty="0">
                <a:latin typeface="微软雅黑" panose="020B0503020204020204" pitchFamily="34" charset="-122"/>
                <a:ea typeface="微软雅黑" panose="020B0503020204020204" pitchFamily="34" charset="-122"/>
              </a:rPr>
              <a:t>总线标准是指芯片之间、部件之间、插板之间或系统之间通过总线进行连接和通信时应遵守的一些协议与规范。</a:t>
            </a:r>
          </a:p>
          <a:p>
            <a:pPr algn="just">
              <a:lnSpc>
                <a:spcPct val="200000"/>
              </a:lnSpc>
            </a:pPr>
            <a:endParaRPr lang="zh-CN" altLang="en-US" sz="2800" b="1" dirty="0">
              <a:solidFill>
                <a:srgbClr val="595959"/>
              </a:solidFill>
              <a:latin typeface="微软雅黑" panose="020B0503020204020204" pitchFamily="34" charset="-122"/>
              <a:ea typeface="微软雅黑" panose="020B0503020204020204" pitchFamily="34" charset="-122"/>
              <a:sym typeface="微软雅黑" pitchFamily="34" charset="-122"/>
            </a:endParaRPr>
          </a:p>
        </p:txBody>
      </p:sp>
      <p:sp>
        <p:nvSpPr>
          <p:cNvPr id="10" name="Freeform 12"/>
          <p:cNvSpPr>
            <a:spLocks/>
          </p:cNvSpPr>
          <p:nvPr/>
        </p:nvSpPr>
        <p:spPr bwMode="auto">
          <a:xfrm>
            <a:off x="970969" y="1143266"/>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11" name="Freeform 12"/>
          <p:cNvSpPr>
            <a:spLocks/>
          </p:cNvSpPr>
          <p:nvPr/>
        </p:nvSpPr>
        <p:spPr bwMode="auto">
          <a:xfrm flipH="1" flipV="1">
            <a:off x="10811033" y="2944796"/>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398" tIns="45699" rIns="91398" bIns="45699"/>
          <a:lstStyle/>
          <a:p>
            <a:endParaRPr lang="zh-CN" altLang="en-US" sz="1799"/>
          </a:p>
        </p:txBody>
      </p:sp>
      <p:sp>
        <p:nvSpPr>
          <p:cNvPr id="12"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Tree>
    <p:extLst>
      <p:ext uri="{BB962C8B-B14F-4D97-AF65-F5344CB8AC3E}">
        <p14:creationId xmlns:p14="http://schemas.microsoft.com/office/powerpoint/2010/main" val="4141195637"/>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419340" y="224824"/>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9" name="Oval 7"/>
          <p:cNvSpPr>
            <a:spLocks noChangeArrowheads="1"/>
          </p:cNvSpPr>
          <p:nvPr/>
        </p:nvSpPr>
        <p:spPr bwMode="auto">
          <a:xfrm>
            <a:off x="3029682" y="2904891"/>
            <a:ext cx="831525" cy="829939"/>
          </a:xfrm>
          <a:prstGeom prst="ellipse">
            <a:avLst/>
          </a:pr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Oval 6"/>
          <p:cNvSpPr>
            <a:spLocks noChangeArrowheads="1"/>
          </p:cNvSpPr>
          <p:nvPr/>
        </p:nvSpPr>
        <p:spPr bwMode="auto">
          <a:xfrm>
            <a:off x="2623116" y="1412843"/>
            <a:ext cx="831525" cy="831526"/>
          </a:xfrm>
          <a:prstGeom prst="ellipse">
            <a:avLst/>
          </a:pr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5" name="Freeform 13"/>
          <p:cNvSpPr>
            <a:spLocks/>
          </p:cNvSpPr>
          <p:nvPr/>
        </p:nvSpPr>
        <p:spPr bwMode="auto">
          <a:xfrm>
            <a:off x="3038879" y="2101130"/>
            <a:ext cx="30151" cy="3174"/>
          </a:xfrm>
          <a:custGeom>
            <a:avLst/>
            <a:gdLst>
              <a:gd name="T0" fmla="*/ 0 w 43"/>
              <a:gd name="T1" fmla="*/ 0 h 5"/>
              <a:gd name="T2" fmla="*/ 1 w 43"/>
              <a:gd name="T3" fmla="*/ 5 h 5"/>
              <a:gd name="T4" fmla="*/ 43 w 43"/>
              <a:gd name="T5" fmla="*/ 3 h 5"/>
              <a:gd name="T6" fmla="*/ 0 w 43"/>
              <a:gd name="T7" fmla="*/ 0 h 5"/>
            </a:gdLst>
            <a:ahLst/>
            <a:cxnLst>
              <a:cxn ang="0">
                <a:pos x="T0" y="T1"/>
              </a:cxn>
              <a:cxn ang="0">
                <a:pos x="T2" y="T3"/>
              </a:cxn>
              <a:cxn ang="0">
                <a:pos x="T4" y="T5"/>
              </a:cxn>
              <a:cxn ang="0">
                <a:pos x="T6" y="T7"/>
              </a:cxn>
            </a:cxnLst>
            <a:rect l="0" t="0" r="r" b="b"/>
            <a:pathLst>
              <a:path w="43" h="5">
                <a:moveTo>
                  <a:pt x="0" y="0"/>
                </a:moveTo>
                <a:lnTo>
                  <a:pt x="1" y="5"/>
                </a:lnTo>
                <a:lnTo>
                  <a:pt x="43" y="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7" name="Oval 9"/>
          <p:cNvSpPr>
            <a:spLocks noChangeArrowheads="1"/>
          </p:cNvSpPr>
          <p:nvPr/>
        </p:nvSpPr>
        <p:spPr bwMode="auto">
          <a:xfrm>
            <a:off x="3038878" y="4312395"/>
            <a:ext cx="831525" cy="831526"/>
          </a:xfrm>
          <a:prstGeom prst="ellipse">
            <a:avLst/>
          </a:prstGeom>
          <a:solidFill>
            <a:schemeClr val="accent6">
              <a:lumMod val="75000"/>
            </a:schemeClr>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23" name="Oval 8"/>
          <p:cNvSpPr>
            <a:spLocks noChangeArrowheads="1"/>
          </p:cNvSpPr>
          <p:nvPr/>
        </p:nvSpPr>
        <p:spPr bwMode="auto">
          <a:xfrm>
            <a:off x="2392568" y="5524149"/>
            <a:ext cx="831525" cy="829939"/>
          </a:xfrm>
          <a:prstGeom prst="ellipse">
            <a:avLst/>
          </a:prstGeom>
          <a:solidFill>
            <a:schemeClr val="accent1"/>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26" name="Oval 5"/>
          <p:cNvSpPr>
            <a:spLocks noChangeArrowheads="1"/>
          </p:cNvSpPr>
          <p:nvPr/>
        </p:nvSpPr>
        <p:spPr bwMode="auto">
          <a:xfrm>
            <a:off x="441371" y="2727516"/>
            <a:ext cx="2376931" cy="2376928"/>
          </a:xfrm>
          <a:prstGeom prst="ellipse">
            <a:avLst/>
          </a:pr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6" name="Freeform 5"/>
          <p:cNvSpPr>
            <a:spLocks noEditPoints="1"/>
          </p:cNvSpPr>
          <p:nvPr/>
        </p:nvSpPr>
        <p:spPr bwMode="auto">
          <a:xfrm>
            <a:off x="1166266" y="3232641"/>
            <a:ext cx="927140" cy="1175561"/>
          </a:xfrm>
          <a:custGeom>
            <a:avLst/>
            <a:gdLst>
              <a:gd name="T0" fmla="*/ 622 w 794"/>
              <a:gd name="T1" fmla="*/ 491 h 1018"/>
              <a:gd name="T2" fmla="*/ 481 w 794"/>
              <a:gd name="T3" fmla="*/ 612 h 1018"/>
              <a:gd name="T4" fmla="*/ 667 w 794"/>
              <a:gd name="T5" fmla="*/ 641 h 1018"/>
              <a:gd name="T6" fmla="*/ 672 w 794"/>
              <a:gd name="T7" fmla="*/ 487 h 1018"/>
              <a:gd name="T8" fmla="*/ 794 w 794"/>
              <a:gd name="T9" fmla="*/ 420 h 1018"/>
              <a:gd name="T10" fmla="*/ 747 w 794"/>
              <a:gd name="T11" fmla="*/ 487 h 1018"/>
              <a:gd name="T12" fmla="*/ 713 w 794"/>
              <a:gd name="T13" fmla="*/ 679 h 1018"/>
              <a:gd name="T14" fmla="*/ 631 w 794"/>
              <a:gd name="T15" fmla="*/ 709 h 1018"/>
              <a:gd name="T16" fmla="*/ 442 w 794"/>
              <a:gd name="T17" fmla="*/ 719 h 1018"/>
              <a:gd name="T18" fmla="*/ 627 w 794"/>
              <a:gd name="T19" fmla="*/ 911 h 1018"/>
              <a:gd name="T20" fmla="*/ 659 w 794"/>
              <a:gd name="T21" fmla="*/ 971 h 1018"/>
              <a:gd name="T22" fmla="*/ 565 w 794"/>
              <a:gd name="T23" fmla="*/ 971 h 1018"/>
              <a:gd name="T24" fmla="*/ 428 w 794"/>
              <a:gd name="T25" fmla="*/ 906 h 1018"/>
              <a:gd name="T26" fmla="*/ 456 w 794"/>
              <a:gd name="T27" fmla="*/ 971 h 1018"/>
              <a:gd name="T28" fmla="*/ 361 w 794"/>
              <a:gd name="T29" fmla="*/ 971 h 1018"/>
              <a:gd name="T30" fmla="*/ 381 w 794"/>
              <a:gd name="T31" fmla="*/ 905 h 1018"/>
              <a:gd name="T32" fmla="*/ 243 w 794"/>
              <a:gd name="T33" fmla="*/ 971 h 1018"/>
              <a:gd name="T34" fmla="*/ 148 w 794"/>
              <a:gd name="T35" fmla="*/ 971 h 1018"/>
              <a:gd name="T36" fmla="*/ 173 w 794"/>
              <a:gd name="T37" fmla="*/ 911 h 1018"/>
              <a:gd name="T38" fmla="*/ 346 w 794"/>
              <a:gd name="T39" fmla="*/ 719 h 1018"/>
              <a:gd name="T40" fmla="*/ 154 w 794"/>
              <a:gd name="T41" fmla="*/ 706 h 1018"/>
              <a:gd name="T42" fmla="*/ 81 w 794"/>
              <a:gd name="T43" fmla="*/ 679 h 1018"/>
              <a:gd name="T44" fmla="*/ 47 w 794"/>
              <a:gd name="T45" fmla="*/ 487 h 1018"/>
              <a:gd name="T46" fmla="*/ 0 w 794"/>
              <a:gd name="T47" fmla="*/ 420 h 1018"/>
              <a:gd name="T48" fmla="*/ 122 w 794"/>
              <a:gd name="T49" fmla="*/ 487 h 1018"/>
              <a:gd name="T50" fmla="*/ 127 w 794"/>
              <a:gd name="T51" fmla="*/ 641 h 1018"/>
              <a:gd name="T52" fmla="*/ 316 w 794"/>
              <a:gd name="T53" fmla="*/ 611 h 1018"/>
              <a:gd name="T54" fmla="*/ 168 w 794"/>
              <a:gd name="T55" fmla="*/ 491 h 1018"/>
              <a:gd name="T56" fmla="*/ 591 w 794"/>
              <a:gd name="T57" fmla="*/ 126 h 1018"/>
              <a:gd name="T58" fmla="*/ 494 w 794"/>
              <a:gd name="T59" fmla="*/ 168 h 1018"/>
              <a:gd name="T60" fmla="*/ 297 w 794"/>
              <a:gd name="T61" fmla="*/ 194 h 1018"/>
              <a:gd name="T62" fmla="*/ 287 w 794"/>
              <a:gd name="T63" fmla="*/ 273 h 1018"/>
              <a:gd name="T64" fmla="*/ 504 w 794"/>
              <a:gd name="T65" fmla="*/ 299 h 1018"/>
              <a:gd name="T66" fmla="*/ 287 w 794"/>
              <a:gd name="T67" fmla="*/ 273 h 1018"/>
              <a:gd name="T68" fmla="*/ 514 w 794"/>
              <a:gd name="T69" fmla="*/ 383 h 1018"/>
              <a:gd name="T70" fmla="*/ 277 w 794"/>
              <a:gd name="T71" fmla="*/ 409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94" h="1018">
                <a:moveTo>
                  <a:pt x="591" y="126"/>
                </a:moveTo>
                <a:cubicBezTo>
                  <a:pt x="601" y="248"/>
                  <a:pt x="611" y="370"/>
                  <a:pt x="622" y="491"/>
                </a:cubicBezTo>
                <a:cubicBezTo>
                  <a:pt x="607" y="518"/>
                  <a:pt x="550" y="536"/>
                  <a:pt x="481" y="544"/>
                </a:cubicBezTo>
                <a:lnTo>
                  <a:pt x="481" y="612"/>
                </a:lnTo>
                <a:cubicBezTo>
                  <a:pt x="548" y="619"/>
                  <a:pt x="604" y="634"/>
                  <a:pt x="624" y="657"/>
                </a:cubicBezTo>
                <a:lnTo>
                  <a:pt x="667" y="641"/>
                </a:lnTo>
                <a:lnTo>
                  <a:pt x="695" y="487"/>
                </a:lnTo>
                <a:lnTo>
                  <a:pt x="672" y="487"/>
                </a:lnTo>
                <a:lnTo>
                  <a:pt x="654" y="420"/>
                </a:lnTo>
                <a:lnTo>
                  <a:pt x="794" y="420"/>
                </a:lnTo>
                <a:lnTo>
                  <a:pt x="776" y="487"/>
                </a:lnTo>
                <a:lnTo>
                  <a:pt x="747" y="487"/>
                </a:lnTo>
                <a:lnTo>
                  <a:pt x="715" y="665"/>
                </a:lnTo>
                <a:lnTo>
                  <a:pt x="713" y="679"/>
                </a:lnTo>
                <a:lnTo>
                  <a:pt x="699" y="684"/>
                </a:lnTo>
                <a:lnTo>
                  <a:pt x="631" y="709"/>
                </a:lnTo>
                <a:lnTo>
                  <a:pt x="631" y="719"/>
                </a:lnTo>
                <a:lnTo>
                  <a:pt x="442" y="719"/>
                </a:lnTo>
                <a:lnTo>
                  <a:pt x="442" y="866"/>
                </a:lnTo>
                <a:cubicBezTo>
                  <a:pt x="504" y="871"/>
                  <a:pt x="565" y="887"/>
                  <a:pt x="627" y="911"/>
                </a:cubicBezTo>
                <a:lnTo>
                  <a:pt x="621" y="925"/>
                </a:lnTo>
                <a:cubicBezTo>
                  <a:pt x="643" y="929"/>
                  <a:pt x="659" y="948"/>
                  <a:pt x="659" y="971"/>
                </a:cubicBezTo>
                <a:cubicBezTo>
                  <a:pt x="659" y="997"/>
                  <a:pt x="638" y="1018"/>
                  <a:pt x="612" y="1018"/>
                </a:cubicBezTo>
                <a:cubicBezTo>
                  <a:pt x="586" y="1018"/>
                  <a:pt x="565" y="997"/>
                  <a:pt x="565" y="971"/>
                </a:cubicBezTo>
                <a:cubicBezTo>
                  <a:pt x="565" y="958"/>
                  <a:pt x="570" y="946"/>
                  <a:pt x="579" y="938"/>
                </a:cubicBezTo>
                <a:cubicBezTo>
                  <a:pt x="528" y="920"/>
                  <a:pt x="478" y="910"/>
                  <a:pt x="428" y="906"/>
                </a:cubicBezTo>
                <a:lnTo>
                  <a:pt x="430" y="929"/>
                </a:lnTo>
                <a:cubicBezTo>
                  <a:pt x="445" y="937"/>
                  <a:pt x="456" y="953"/>
                  <a:pt x="456" y="971"/>
                </a:cubicBezTo>
                <a:cubicBezTo>
                  <a:pt x="456" y="997"/>
                  <a:pt x="434" y="1018"/>
                  <a:pt x="408" y="1018"/>
                </a:cubicBezTo>
                <a:cubicBezTo>
                  <a:pt x="382" y="1018"/>
                  <a:pt x="361" y="997"/>
                  <a:pt x="361" y="971"/>
                </a:cubicBezTo>
                <a:cubicBezTo>
                  <a:pt x="361" y="954"/>
                  <a:pt x="370" y="940"/>
                  <a:pt x="383" y="931"/>
                </a:cubicBezTo>
                <a:lnTo>
                  <a:pt x="381" y="905"/>
                </a:lnTo>
                <a:cubicBezTo>
                  <a:pt x="330" y="907"/>
                  <a:pt x="278" y="916"/>
                  <a:pt x="226" y="935"/>
                </a:cubicBezTo>
                <a:cubicBezTo>
                  <a:pt x="236" y="943"/>
                  <a:pt x="243" y="956"/>
                  <a:pt x="243" y="971"/>
                </a:cubicBezTo>
                <a:cubicBezTo>
                  <a:pt x="243" y="997"/>
                  <a:pt x="222" y="1018"/>
                  <a:pt x="196" y="1018"/>
                </a:cubicBezTo>
                <a:cubicBezTo>
                  <a:pt x="170" y="1018"/>
                  <a:pt x="148" y="997"/>
                  <a:pt x="148" y="971"/>
                </a:cubicBezTo>
                <a:cubicBezTo>
                  <a:pt x="148" y="950"/>
                  <a:pt x="162" y="933"/>
                  <a:pt x="180" y="927"/>
                </a:cubicBezTo>
                <a:lnTo>
                  <a:pt x="173" y="911"/>
                </a:lnTo>
                <a:cubicBezTo>
                  <a:pt x="231" y="886"/>
                  <a:pt x="288" y="871"/>
                  <a:pt x="346" y="866"/>
                </a:cubicBezTo>
                <a:lnTo>
                  <a:pt x="346" y="719"/>
                </a:lnTo>
                <a:lnTo>
                  <a:pt x="154" y="719"/>
                </a:lnTo>
                <a:lnTo>
                  <a:pt x="154" y="706"/>
                </a:lnTo>
                <a:lnTo>
                  <a:pt x="95" y="684"/>
                </a:lnTo>
                <a:lnTo>
                  <a:pt x="81" y="679"/>
                </a:lnTo>
                <a:lnTo>
                  <a:pt x="78" y="665"/>
                </a:lnTo>
                <a:lnTo>
                  <a:pt x="47" y="487"/>
                </a:lnTo>
                <a:lnTo>
                  <a:pt x="17" y="487"/>
                </a:lnTo>
                <a:lnTo>
                  <a:pt x="0" y="420"/>
                </a:lnTo>
                <a:lnTo>
                  <a:pt x="139" y="420"/>
                </a:lnTo>
                <a:lnTo>
                  <a:pt x="122" y="487"/>
                </a:lnTo>
                <a:lnTo>
                  <a:pt x="99" y="487"/>
                </a:lnTo>
                <a:lnTo>
                  <a:pt x="127" y="641"/>
                </a:lnTo>
                <a:lnTo>
                  <a:pt x="163" y="654"/>
                </a:lnTo>
                <a:cubicBezTo>
                  <a:pt x="186" y="631"/>
                  <a:pt x="246" y="617"/>
                  <a:pt x="316" y="611"/>
                </a:cubicBezTo>
                <a:lnTo>
                  <a:pt x="316" y="546"/>
                </a:lnTo>
                <a:cubicBezTo>
                  <a:pt x="240" y="539"/>
                  <a:pt x="178" y="521"/>
                  <a:pt x="168" y="491"/>
                </a:cubicBezTo>
                <a:cubicBezTo>
                  <a:pt x="178" y="370"/>
                  <a:pt x="189" y="248"/>
                  <a:pt x="199" y="126"/>
                </a:cubicBezTo>
                <a:cubicBezTo>
                  <a:pt x="219" y="6"/>
                  <a:pt x="561" y="0"/>
                  <a:pt x="591" y="126"/>
                </a:cubicBezTo>
                <a:close/>
                <a:moveTo>
                  <a:pt x="297" y="168"/>
                </a:moveTo>
                <a:lnTo>
                  <a:pt x="494" y="168"/>
                </a:lnTo>
                <a:lnTo>
                  <a:pt x="494" y="194"/>
                </a:lnTo>
                <a:lnTo>
                  <a:pt x="297" y="194"/>
                </a:lnTo>
                <a:lnTo>
                  <a:pt x="297" y="168"/>
                </a:lnTo>
                <a:close/>
                <a:moveTo>
                  <a:pt x="287" y="273"/>
                </a:moveTo>
                <a:lnTo>
                  <a:pt x="504" y="273"/>
                </a:lnTo>
                <a:lnTo>
                  <a:pt x="504" y="299"/>
                </a:lnTo>
                <a:lnTo>
                  <a:pt x="287" y="299"/>
                </a:lnTo>
                <a:lnTo>
                  <a:pt x="287" y="273"/>
                </a:lnTo>
                <a:close/>
                <a:moveTo>
                  <a:pt x="277" y="383"/>
                </a:moveTo>
                <a:lnTo>
                  <a:pt x="514" y="383"/>
                </a:lnTo>
                <a:lnTo>
                  <a:pt x="514" y="409"/>
                </a:lnTo>
                <a:lnTo>
                  <a:pt x="277" y="409"/>
                </a:lnTo>
                <a:lnTo>
                  <a:pt x="277" y="383"/>
                </a:lnTo>
                <a:close/>
              </a:path>
            </a:pathLst>
          </a:custGeom>
          <a:solidFill>
            <a:schemeClr val="bg1"/>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7" name="TextBox 36"/>
          <p:cNvSpPr txBox="1"/>
          <p:nvPr/>
        </p:nvSpPr>
        <p:spPr>
          <a:xfrm>
            <a:off x="2693313" y="1559434"/>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01</a:t>
            </a:r>
            <a:endParaRPr lang="zh-CN" altLang="en-US" sz="3199" b="1" dirty="0">
              <a:solidFill>
                <a:schemeClr val="bg1"/>
              </a:solidFill>
              <a:latin typeface="微软雅黑" pitchFamily="34" charset="-122"/>
              <a:ea typeface="微软雅黑" pitchFamily="34" charset="-122"/>
            </a:endParaRPr>
          </a:p>
        </p:txBody>
      </p:sp>
      <p:sp>
        <p:nvSpPr>
          <p:cNvPr id="39" name="TextBox 38"/>
          <p:cNvSpPr txBox="1"/>
          <p:nvPr/>
        </p:nvSpPr>
        <p:spPr>
          <a:xfrm>
            <a:off x="3114174" y="3032757"/>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02</a:t>
            </a:r>
            <a:endParaRPr lang="zh-CN" altLang="en-US" sz="3199" b="1" dirty="0">
              <a:solidFill>
                <a:schemeClr val="bg1"/>
              </a:solidFill>
              <a:latin typeface="微软雅黑" pitchFamily="34" charset="-122"/>
              <a:ea typeface="微软雅黑" pitchFamily="34" charset="-122"/>
            </a:endParaRPr>
          </a:p>
        </p:txBody>
      </p:sp>
      <p:sp>
        <p:nvSpPr>
          <p:cNvPr id="40" name="TextBox 39"/>
          <p:cNvSpPr txBox="1"/>
          <p:nvPr/>
        </p:nvSpPr>
        <p:spPr>
          <a:xfrm>
            <a:off x="3107610" y="4419199"/>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03</a:t>
            </a:r>
            <a:endParaRPr lang="zh-CN" altLang="en-US" sz="3199" b="1" dirty="0">
              <a:solidFill>
                <a:schemeClr val="bg1"/>
              </a:solidFill>
              <a:latin typeface="微软雅黑" pitchFamily="34" charset="-122"/>
              <a:ea typeface="微软雅黑" pitchFamily="34" charset="-122"/>
            </a:endParaRPr>
          </a:p>
        </p:txBody>
      </p:sp>
      <p:sp>
        <p:nvSpPr>
          <p:cNvPr id="41" name="TextBox 40"/>
          <p:cNvSpPr txBox="1"/>
          <p:nvPr/>
        </p:nvSpPr>
        <p:spPr>
          <a:xfrm>
            <a:off x="2472737" y="5641679"/>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04</a:t>
            </a:r>
            <a:endParaRPr lang="zh-CN" altLang="en-US" sz="3199" b="1" dirty="0">
              <a:solidFill>
                <a:schemeClr val="bg1"/>
              </a:solidFill>
              <a:latin typeface="微软雅黑" pitchFamily="34" charset="-122"/>
              <a:ea typeface="微软雅黑" pitchFamily="34" charset="-122"/>
            </a:endParaRPr>
          </a:p>
        </p:txBody>
      </p:sp>
      <p:sp>
        <p:nvSpPr>
          <p:cNvPr id="38" name="TextBox 26"/>
          <p:cNvSpPr txBox="1"/>
          <p:nvPr/>
        </p:nvSpPr>
        <p:spPr>
          <a:xfrm>
            <a:off x="13358703" y="8278109"/>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917589" y="258007"/>
            <a:ext cx="8392041" cy="535531"/>
          </a:xfrm>
          <a:prstGeom prst="rect">
            <a:avLst/>
          </a:prstGeom>
        </p:spPr>
        <p:txBody>
          <a:bodyPr wrap="none">
            <a:spAutoFit/>
          </a:bodyPr>
          <a:lstStyle/>
          <a:p>
            <a:pPr>
              <a:lnSpc>
                <a:spcPct val="90000"/>
              </a:lnSpc>
              <a:spcBef>
                <a:spcPct val="0"/>
              </a:spcBef>
            </a:pPr>
            <a:r>
              <a:rPr lang="zh-CN" altLang="en-US" sz="3200" b="1" dirty="0">
                <a:latin typeface="微软雅黑" panose="020B0503020204020204" pitchFamily="34" charset="-122"/>
                <a:ea typeface="微软雅黑" panose="020B0503020204020204" pitchFamily="34" charset="-122"/>
              </a:rPr>
              <a:t>总线标准主要定义以下几个方面特性（规范）</a:t>
            </a:r>
          </a:p>
        </p:txBody>
      </p:sp>
      <p:sp>
        <p:nvSpPr>
          <p:cNvPr id="4" name="矩形 3"/>
          <p:cNvSpPr/>
          <p:nvPr/>
        </p:nvSpPr>
        <p:spPr>
          <a:xfrm>
            <a:off x="3599947" y="2872070"/>
            <a:ext cx="8101186" cy="1384995"/>
          </a:xfrm>
          <a:prstGeom prst="rect">
            <a:avLst/>
          </a:prstGeom>
        </p:spPr>
        <p:txBody>
          <a:bodyPr wrap="square">
            <a:spAutoFit/>
          </a:bodyPr>
          <a:lstStyle/>
          <a:p>
            <a:pPr lvl="1">
              <a:lnSpc>
                <a:spcPct val="150000"/>
              </a:lnSpc>
            </a:pPr>
            <a:r>
              <a:rPr lang="zh-CN" altLang="en-US" sz="2800" b="1" dirty="0">
                <a:latin typeface="微软雅黑" panose="020B0503020204020204" pitchFamily="34" charset="-122"/>
                <a:ea typeface="微软雅黑" panose="020B0503020204020204" pitchFamily="34" charset="-122"/>
              </a:rPr>
              <a:t>电气特性：定义每一条线上信号的传递方向及有效电平范围。</a:t>
            </a:r>
          </a:p>
        </p:txBody>
      </p:sp>
      <p:sp>
        <p:nvSpPr>
          <p:cNvPr id="8" name="矩形 7"/>
          <p:cNvSpPr/>
          <p:nvPr/>
        </p:nvSpPr>
        <p:spPr>
          <a:xfrm>
            <a:off x="3594897" y="4212182"/>
            <a:ext cx="8338170" cy="1384995"/>
          </a:xfrm>
          <a:prstGeom prst="rect">
            <a:avLst/>
          </a:prstGeom>
        </p:spPr>
        <p:txBody>
          <a:bodyPr wrap="square">
            <a:spAutoFit/>
          </a:bodyPr>
          <a:lstStyle/>
          <a:p>
            <a:pPr lvl="1">
              <a:lnSpc>
                <a:spcPct val="150000"/>
              </a:lnSpc>
            </a:pPr>
            <a:r>
              <a:rPr lang="zh-CN" altLang="en-US" sz="2800" b="1" dirty="0">
                <a:latin typeface="微软雅黑" panose="020B0503020204020204" pitchFamily="34" charset="-122"/>
                <a:ea typeface="微软雅黑" panose="020B0503020204020204" pitchFamily="34" charset="-122"/>
              </a:rPr>
              <a:t>功能特性：描述总线中每一条线的功能，如定义地址线、数据线和各种控制及状态信号线。</a:t>
            </a:r>
          </a:p>
        </p:txBody>
      </p:sp>
      <p:sp>
        <p:nvSpPr>
          <p:cNvPr id="10" name="矩形 9"/>
          <p:cNvSpPr/>
          <p:nvPr/>
        </p:nvSpPr>
        <p:spPr>
          <a:xfrm>
            <a:off x="3183850" y="5634808"/>
            <a:ext cx="9451663" cy="738664"/>
          </a:xfrm>
          <a:prstGeom prst="rect">
            <a:avLst/>
          </a:prstGeom>
        </p:spPr>
        <p:txBody>
          <a:bodyPr wrap="square">
            <a:spAutoFit/>
          </a:bodyPr>
          <a:lstStyle/>
          <a:p>
            <a:pPr lvl="1">
              <a:lnSpc>
                <a:spcPct val="150000"/>
              </a:lnSpc>
            </a:pPr>
            <a:r>
              <a:rPr lang="zh-CN" altLang="en-US" sz="2800" b="1" dirty="0">
                <a:latin typeface="微软雅黑" panose="020B0503020204020204" pitchFamily="34" charset="-122"/>
                <a:ea typeface="微软雅黑" panose="020B0503020204020204" pitchFamily="34" charset="-122"/>
              </a:rPr>
              <a:t>时间特性：即定义信号线之间的时序关系。 </a:t>
            </a:r>
          </a:p>
        </p:txBody>
      </p:sp>
      <p:sp>
        <p:nvSpPr>
          <p:cNvPr id="12" name="矩形 11"/>
          <p:cNvSpPr/>
          <p:nvPr/>
        </p:nvSpPr>
        <p:spPr>
          <a:xfrm>
            <a:off x="3553508" y="873566"/>
            <a:ext cx="7907211" cy="2031325"/>
          </a:xfrm>
          <a:prstGeom prst="rect">
            <a:avLst/>
          </a:prstGeom>
        </p:spPr>
        <p:txBody>
          <a:bodyPr wrap="square">
            <a:spAutoFit/>
          </a:bodyPr>
          <a:lstStyle/>
          <a:p>
            <a:pPr lvl="1">
              <a:lnSpc>
                <a:spcPct val="150000"/>
              </a:lnSpc>
            </a:pPr>
            <a:r>
              <a:rPr lang="zh-CN" altLang="en-US" sz="2800" b="1" dirty="0">
                <a:latin typeface="微软雅黑" panose="020B0503020204020204" pitchFamily="34" charset="-122"/>
                <a:ea typeface="微软雅黑" panose="020B0503020204020204" pitchFamily="34" charset="-122"/>
              </a:rPr>
              <a:t>物理特性：指总线的物理连接方式，包括总线信号线的条数，总线的插头、插座的形状和物理尺寸，引脚线的排列方式等。</a:t>
            </a:r>
          </a:p>
        </p:txBody>
      </p:sp>
    </p:spTree>
    <p:extLst>
      <p:ext uri="{BB962C8B-B14F-4D97-AF65-F5344CB8AC3E}">
        <p14:creationId xmlns:p14="http://schemas.microsoft.com/office/powerpoint/2010/main" val="1159006847"/>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75773" y="284081"/>
            <a:ext cx="5974331" cy="535489"/>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nSpc>
                <a:spcPct val="90000"/>
              </a:lnSpc>
              <a:spcBef>
                <a:spcPct val="0"/>
              </a:spcBef>
            </a:pPr>
            <a:r>
              <a:rPr lang="zh-CN" altLang="en-US" b="1" dirty="0">
                <a:solidFill>
                  <a:schemeClr val="tx1"/>
                </a:solidFill>
                <a:latin typeface="微软雅黑" panose="020B0503020204020204" pitchFamily="34" charset="-122"/>
                <a:ea typeface="微软雅黑" panose="020B0503020204020204" pitchFamily="34" charset="-122"/>
              </a:rPr>
              <a:t>总线标准举例</a:t>
            </a:r>
          </a:p>
        </p:txBody>
      </p:sp>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9" name="Line 5"/>
          <p:cNvSpPr>
            <a:spLocks noChangeShapeType="1"/>
          </p:cNvSpPr>
          <p:nvPr/>
        </p:nvSpPr>
        <p:spPr bwMode="auto">
          <a:xfrm>
            <a:off x="1234435" y="1454440"/>
            <a:ext cx="0" cy="4909085"/>
          </a:xfrm>
          <a:prstGeom prst="line">
            <a:avLst/>
          </a:prstGeom>
          <a:noFill/>
          <a:ln w="12700" cap="flat">
            <a:solidFill>
              <a:srgbClr val="2E2C2C"/>
            </a:solidFill>
            <a:prstDash val="solid"/>
            <a:miter lim="800000"/>
            <a:headEnd/>
            <a:tailEn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70" name="Oval 6"/>
          <p:cNvSpPr>
            <a:spLocks noChangeArrowheads="1"/>
          </p:cNvSpPr>
          <p:nvPr/>
        </p:nvSpPr>
        <p:spPr bwMode="auto">
          <a:xfrm>
            <a:off x="1098544" y="5820798"/>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72" name="Freeform 9"/>
          <p:cNvSpPr>
            <a:spLocks/>
          </p:cNvSpPr>
          <p:nvPr/>
        </p:nvSpPr>
        <p:spPr bwMode="auto">
          <a:xfrm>
            <a:off x="1593095" y="1589756"/>
            <a:ext cx="165036" cy="207882"/>
          </a:xfrm>
          <a:custGeom>
            <a:avLst/>
            <a:gdLst>
              <a:gd name="T0" fmla="*/ 184 w 205"/>
              <a:gd name="T1" fmla="*/ 109 h 262"/>
              <a:gd name="T2" fmla="*/ 109 w 205"/>
              <a:gd name="T3" fmla="*/ 61 h 262"/>
              <a:gd name="T4" fmla="*/ 32 w 205"/>
              <a:gd name="T5" fmla="*/ 11 h 262"/>
              <a:gd name="T6" fmla="*/ 0 w 205"/>
              <a:gd name="T7" fmla="*/ 34 h 262"/>
              <a:gd name="T8" fmla="*/ 0 w 205"/>
              <a:gd name="T9" fmla="*/ 131 h 262"/>
              <a:gd name="T10" fmla="*/ 0 w 205"/>
              <a:gd name="T11" fmla="*/ 230 h 262"/>
              <a:gd name="T12" fmla="*/ 34 w 205"/>
              <a:gd name="T13" fmla="*/ 250 h 262"/>
              <a:gd name="T14" fmla="*/ 109 w 205"/>
              <a:gd name="T15" fmla="*/ 202 h 262"/>
              <a:gd name="T16" fmla="*/ 186 w 205"/>
              <a:gd name="T17" fmla="*/ 152 h 262"/>
              <a:gd name="T18" fmla="*/ 184 w 205"/>
              <a:gd name="T19" fmla="*/ 109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2">
                <a:moveTo>
                  <a:pt x="184" y="109"/>
                </a:moveTo>
                <a:lnTo>
                  <a:pt x="109" y="61"/>
                </a:lnTo>
                <a:cubicBezTo>
                  <a:pt x="83" y="44"/>
                  <a:pt x="58" y="28"/>
                  <a:pt x="32" y="11"/>
                </a:cubicBezTo>
                <a:cubicBezTo>
                  <a:pt x="11" y="0"/>
                  <a:pt x="0" y="9"/>
                  <a:pt x="0" y="34"/>
                </a:cubicBezTo>
                <a:lnTo>
                  <a:pt x="0" y="131"/>
                </a:lnTo>
                <a:cubicBezTo>
                  <a:pt x="0" y="164"/>
                  <a:pt x="0" y="197"/>
                  <a:pt x="0" y="230"/>
                </a:cubicBezTo>
                <a:cubicBezTo>
                  <a:pt x="2" y="256"/>
                  <a:pt x="14" y="262"/>
                  <a:pt x="34" y="250"/>
                </a:cubicBezTo>
                <a:lnTo>
                  <a:pt x="109" y="202"/>
                </a:lnTo>
                <a:cubicBezTo>
                  <a:pt x="135" y="185"/>
                  <a:pt x="160" y="169"/>
                  <a:pt x="186" y="152"/>
                </a:cubicBezTo>
                <a:cubicBezTo>
                  <a:pt x="205" y="137"/>
                  <a:pt x="203" y="122"/>
                  <a:pt x="184" y="109"/>
                </a:cubicBezTo>
                <a:close/>
              </a:path>
            </a:pathLst>
          </a:custGeom>
          <a:solidFill>
            <a:srgbClr val="01C0B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grpSp>
        <p:nvGrpSpPr>
          <p:cNvPr id="74" name="组合 73"/>
          <p:cNvGrpSpPr/>
          <p:nvPr/>
        </p:nvGrpSpPr>
        <p:grpSpPr>
          <a:xfrm>
            <a:off x="875773" y="1417907"/>
            <a:ext cx="717324" cy="523092"/>
            <a:chOff x="912759" y="1007596"/>
            <a:chExt cx="717604" cy="523296"/>
          </a:xfrm>
        </p:grpSpPr>
        <p:sp>
          <p:nvSpPr>
            <p:cNvPr id="75" name="Freeform 8"/>
            <p:cNvSpPr>
              <a:spLocks/>
            </p:cNvSpPr>
            <p:nvPr/>
          </p:nvSpPr>
          <p:spPr bwMode="auto">
            <a:xfrm>
              <a:off x="985838" y="1052513"/>
              <a:ext cx="615950" cy="433387"/>
            </a:xfrm>
            <a:custGeom>
              <a:avLst/>
              <a:gdLst>
                <a:gd name="T0" fmla="*/ 43 w 764"/>
                <a:gd name="T1" fmla="*/ 0 h 549"/>
                <a:gd name="T2" fmla="*/ 721 w 764"/>
                <a:gd name="T3" fmla="*/ 0 h 549"/>
                <a:gd name="T4" fmla="*/ 764 w 764"/>
                <a:gd name="T5" fmla="*/ 43 h 549"/>
                <a:gd name="T6" fmla="*/ 764 w 764"/>
                <a:gd name="T7" fmla="*/ 506 h 549"/>
                <a:gd name="T8" fmla="*/ 721 w 764"/>
                <a:gd name="T9" fmla="*/ 549 h 549"/>
                <a:gd name="T10" fmla="*/ 43 w 764"/>
                <a:gd name="T11" fmla="*/ 549 h 549"/>
                <a:gd name="T12" fmla="*/ 0 w 764"/>
                <a:gd name="T13" fmla="*/ 506 h 549"/>
                <a:gd name="T14" fmla="*/ 0 w 764"/>
                <a:gd name="T15" fmla="*/ 43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3"/>
                  </a:cubicBezTo>
                  <a:lnTo>
                    <a:pt x="764" y="506"/>
                  </a:lnTo>
                  <a:cubicBezTo>
                    <a:pt x="764" y="530"/>
                    <a:pt x="744" y="549"/>
                    <a:pt x="721" y="549"/>
                  </a:cubicBezTo>
                  <a:lnTo>
                    <a:pt x="43" y="549"/>
                  </a:lnTo>
                  <a:cubicBezTo>
                    <a:pt x="20" y="549"/>
                    <a:pt x="0" y="530"/>
                    <a:pt x="0" y="506"/>
                  </a:cubicBezTo>
                  <a:lnTo>
                    <a:pt x="0" y="43"/>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76" name="TextBox 75"/>
            <p:cNvSpPr txBox="1"/>
            <p:nvPr/>
          </p:nvSpPr>
          <p:spPr>
            <a:xfrm>
              <a:off x="912759" y="1007596"/>
              <a:ext cx="717604" cy="523296"/>
            </a:xfrm>
            <a:prstGeom prst="rect">
              <a:avLst/>
            </a:prstGeom>
            <a:solidFill>
              <a:srgbClr val="01C0B0"/>
            </a:solidFill>
          </p:spPr>
          <p:txBody>
            <a:bodyPr wrap="square" rtlCol="0">
              <a:spAutoFit/>
            </a:bodyPr>
            <a:lstStyle/>
            <a:p>
              <a:pPr algn="ctr"/>
              <a:endParaRPr lang="zh-CN" altLang="en-US" sz="2799" dirty="0">
                <a:solidFill>
                  <a:schemeClr val="bg1"/>
                </a:solidFill>
                <a:latin typeface="+mn-ea"/>
              </a:endParaRPr>
            </a:p>
          </p:txBody>
        </p:sp>
      </p:grpSp>
      <p:sp>
        <p:nvSpPr>
          <p:cNvPr id="90" name="Oval 6"/>
          <p:cNvSpPr>
            <a:spLocks noChangeArrowheads="1"/>
          </p:cNvSpPr>
          <p:nvPr/>
        </p:nvSpPr>
        <p:spPr bwMode="auto">
          <a:xfrm>
            <a:off x="1115420" y="3020406"/>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91" name="Oval 7"/>
          <p:cNvSpPr>
            <a:spLocks noChangeArrowheads="1"/>
          </p:cNvSpPr>
          <p:nvPr/>
        </p:nvSpPr>
        <p:spPr bwMode="auto">
          <a:xfrm>
            <a:off x="1093490" y="4433767"/>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27" name="TextBox 26"/>
          <p:cNvSpPr txBox="1"/>
          <p:nvPr/>
        </p:nvSpPr>
        <p:spPr>
          <a:xfrm>
            <a:off x="14087780" y="8363664"/>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1951759" y="891238"/>
            <a:ext cx="9494293" cy="1643527"/>
          </a:xfrm>
          <a:prstGeom prst="rect">
            <a:avLst/>
          </a:prstGeom>
        </p:spPr>
        <p:txBody>
          <a:bodyPr wrap="square">
            <a:spAutoFit/>
          </a:bodyPr>
          <a:lstStyle/>
          <a:p>
            <a:pPr>
              <a:lnSpc>
                <a:spcPct val="120000"/>
              </a:lnSpc>
            </a:pPr>
            <a:r>
              <a:rPr lang="en-US" altLang="zh-CN" sz="2800" b="1" dirty="0">
                <a:solidFill>
                  <a:srgbClr val="FF0000"/>
                </a:solidFill>
                <a:latin typeface="微软雅黑" panose="020B0503020204020204" pitchFamily="34" charset="-122"/>
                <a:ea typeface="微软雅黑" panose="020B0503020204020204" pitchFamily="34" charset="-122"/>
              </a:rPr>
              <a:t>ISA</a:t>
            </a:r>
            <a:r>
              <a:rPr lang="zh-CN" altLang="en-US" sz="2800" b="1" dirty="0">
                <a:solidFill>
                  <a:srgbClr val="FF0000"/>
                </a:solidFill>
                <a:latin typeface="微软雅黑" panose="020B0503020204020204" pitchFamily="34" charset="-122"/>
                <a:ea typeface="微软雅黑" panose="020B0503020204020204" pitchFamily="34" charset="-122"/>
              </a:rPr>
              <a:t>总线</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1987</a:t>
            </a:r>
            <a:r>
              <a:rPr lang="zh-CN" altLang="en-US" sz="2800" b="1" dirty="0">
                <a:latin typeface="微软雅黑" panose="020B0503020204020204" pitchFamily="34" charset="-122"/>
                <a:ea typeface="微软雅黑" panose="020B0503020204020204" pitchFamily="34" charset="-122"/>
              </a:rPr>
              <a:t>年</a:t>
            </a:r>
            <a:r>
              <a:rPr lang="en-US" altLang="zh-CN" sz="2800" b="1" dirty="0">
                <a:latin typeface="微软雅黑" panose="020B0503020204020204" pitchFamily="34" charset="-122"/>
                <a:ea typeface="微软雅黑" panose="020B0503020204020204" pitchFamily="34" charset="-122"/>
              </a:rPr>
              <a:t>IEEE</a:t>
            </a:r>
            <a:r>
              <a:rPr lang="zh-CN" altLang="en-US" sz="2800" b="1" dirty="0">
                <a:latin typeface="微软雅黑" panose="020B0503020204020204" pitchFamily="34" charset="-122"/>
                <a:ea typeface="微软雅黑" panose="020B0503020204020204" pitchFamily="34" charset="-122"/>
              </a:rPr>
              <a:t>以</a:t>
            </a:r>
            <a:r>
              <a:rPr lang="en-US" altLang="zh-CN" sz="2800" b="1" dirty="0">
                <a:latin typeface="微软雅黑" panose="020B0503020204020204" pitchFamily="34" charset="-122"/>
                <a:ea typeface="微软雅黑" panose="020B0503020204020204" pitchFamily="34" charset="-122"/>
              </a:rPr>
              <a:t>IBM </a:t>
            </a:r>
            <a:r>
              <a:rPr lang="zh-CN" altLang="en-US" sz="2800" b="1" dirty="0">
                <a:latin typeface="微软雅黑" panose="020B0503020204020204" pitchFamily="34" charset="-122"/>
                <a:ea typeface="微软雅黑" panose="020B0503020204020204" pitchFamily="34" charset="-122"/>
              </a:rPr>
              <a:t>公司的</a:t>
            </a:r>
            <a:r>
              <a:rPr lang="en-US" altLang="zh-CN" sz="2800" b="1" dirty="0">
                <a:latin typeface="微软雅黑" panose="020B0503020204020204" pitchFamily="34" charset="-122"/>
                <a:ea typeface="微软雅黑" panose="020B0503020204020204" pitchFamily="34" charset="-122"/>
              </a:rPr>
              <a:t>XT/AT</a:t>
            </a:r>
            <a:r>
              <a:rPr lang="zh-CN" altLang="en-US" sz="2800" b="1" dirty="0">
                <a:latin typeface="微软雅黑" panose="020B0503020204020204" pitchFamily="34" charset="-122"/>
                <a:ea typeface="微软雅黑" panose="020B0503020204020204" pitchFamily="34" charset="-122"/>
              </a:rPr>
              <a:t>总线为蓝本，定义工业标准体系结构</a:t>
            </a:r>
            <a:r>
              <a:rPr lang="en-US" altLang="zh-CN" sz="2800" b="1" dirty="0">
                <a:latin typeface="微软雅黑" panose="020B0503020204020204" pitchFamily="34" charset="-122"/>
                <a:ea typeface="微软雅黑" panose="020B0503020204020204" pitchFamily="34" charset="-122"/>
              </a:rPr>
              <a:t>ISA</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Industry Standard Architecture</a:t>
            </a:r>
            <a:r>
              <a:rPr lang="zh-CN" altLang="en-US" sz="2800" b="1" dirty="0">
                <a:latin typeface="微软雅黑" panose="020B0503020204020204" pitchFamily="34" charset="-122"/>
                <a:ea typeface="微软雅黑" panose="020B0503020204020204" pitchFamily="34" charset="-122"/>
              </a:rPr>
              <a:t>）</a:t>
            </a:r>
            <a:endParaRPr lang="en-US" altLang="zh-CN" sz="2800" b="1" dirty="0">
              <a:latin typeface="微软雅黑" panose="020B0503020204020204" pitchFamily="34" charset="-122"/>
              <a:ea typeface="微软雅黑" panose="020B0503020204020204" pitchFamily="34" charset="-122"/>
            </a:endParaRPr>
          </a:p>
        </p:txBody>
      </p:sp>
      <p:sp>
        <p:nvSpPr>
          <p:cNvPr id="3" name="矩形 2"/>
          <p:cNvSpPr/>
          <p:nvPr/>
        </p:nvSpPr>
        <p:spPr>
          <a:xfrm>
            <a:off x="1494709" y="2693664"/>
            <a:ext cx="9494293" cy="1126462"/>
          </a:xfrm>
          <a:prstGeom prst="rect">
            <a:avLst/>
          </a:prstGeom>
        </p:spPr>
        <p:txBody>
          <a:bodyPr wrap="square">
            <a:spAutoFit/>
          </a:bodyPr>
          <a:lstStyle/>
          <a:p>
            <a:pPr lvl="1">
              <a:lnSpc>
                <a:spcPct val="120000"/>
              </a:lnSpc>
            </a:pPr>
            <a:r>
              <a:rPr lang="en-US" altLang="zh-CN" sz="2800" b="1" dirty="0">
                <a:latin typeface="微软雅黑" panose="020B0503020204020204" pitchFamily="34" charset="-122"/>
                <a:ea typeface="微软雅黑" panose="020B0503020204020204" pitchFamily="34" charset="-122"/>
              </a:rPr>
              <a:t>1981</a:t>
            </a:r>
            <a:r>
              <a:rPr lang="zh-CN" altLang="en-US" sz="2800" b="1" dirty="0">
                <a:latin typeface="微软雅黑" panose="020B0503020204020204" pitchFamily="34" charset="-122"/>
                <a:ea typeface="微软雅黑" panose="020B0503020204020204" pitchFamily="34" charset="-122"/>
              </a:rPr>
              <a:t>年</a:t>
            </a:r>
            <a:r>
              <a:rPr lang="en-US" altLang="zh-CN" sz="2800" b="1" dirty="0">
                <a:latin typeface="微软雅黑" panose="020B0503020204020204" pitchFamily="34" charset="-122"/>
                <a:ea typeface="微软雅黑" panose="020B0503020204020204" pitchFamily="34" charset="-122"/>
              </a:rPr>
              <a:t>IBM</a:t>
            </a:r>
            <a:r>
              <a:rPr lang="zh-CN" altLang="en-US" sz="2800" b="1" dirty="0">
                <a:latin typeface="微软雅黑" panose="020B0503020204020204" pitchFamily="34" charset="-122"/>
                <a:ea typeface="微软雅黑" panose="020B0503020204020204" pitchFamily="34" charset="-122"/>
              </a:rPr>
              <a:t>公司推出了基于</a:t>
            </a:r>
            <a:r>
              <a:rPr lang="en-US" altLang="zh-CN" sz="2800" b="1" dirty="0">
                <a:latin typeface="微软雅黑" panose="020B0503020204020204" pitchFamily="34" charset="-122"/>
                <a:ea typeface="微软雅黑" panose="020B0503020204020204" pitchFamily="34" charset="-122"/>
              </a:rPr>
              <a:t>8088 CPU</a:t>
            </a:r>
            <a:r>
              <a:rPr lang="zh-CN" altLang="en-US" sz="2800" b="1" dirty="0">
                <a:latin typeface="微软雅黑" panose="020B0503020204020204" pitchFamily="34" charset="-122"/>
                <a:ea typeface="微软雅黑" panose="020B0503020204020204" pitchFamily="34" charset="-122"/>
              </a:rPr>
              <a:t>的</a:t>
            </a:r>
            <a:r>
              <a:rPr lang="en-US" altLang="zh-CN" sz="2800" b="1" dirty="0">
                <a:latin typeface="微软雅黑" panose="020B0503020204020204" pitchFamily="34" charset="-122"/>
                <a:ea typeface="微软雅黑" panose="020B0503020204020204" pitchFamily="34" charset="-122"/>
              </a:rPr>
              <a:t>IBM PC</a:t>
            </a:r>
            <a:r>
              <a:rPr lang="zh-CN" altLang="en-US" sz="2800" b="1" dirty="0">
                <a:latin typeface="微软雅黑" panose="020B0503020204020204" pitchFamily="34" charset="-122"/>
                <a:ea typeface="微软雅黑" panose="020B0503020204020204" pitchFamily="34" charset="-122"/>
              </a:rPr>
              <a:t>微型计算机，使用了一个</a:t>
            </a:r>
            <a:r>
              <a:rPr lang="en-US" altLang="zh-CN" sz="2800" b="1" dirty="0">
                <a:latin typeface="微软雅黑" panose="020B0503020204020204" pitchFamily="34" charset="-122"/>
                <a:ea typeface="微软雅黑" panose="020B0503020204020204" pitchFamily="34" charset="-122"/>
              </a:rPr>
              <a:t>62</a:t>
            </a:r>
            <a:r>
              <a:rPr lang="zh-CN" altLang="en-US" sz="2800" b="1" dirty="0">
                <a:latin typeface="微软雅黑" panose="020B0503020204020204" pitchFamily="34" charset="-122"/>
                <a:ea typeface="微软雅黑" panose="020B0503020204020204" pitchFamily="34" charset="-122"/>
              </a:rPr>
              <a:t>条引脚的</a:t>
            </a:r>
            <a:r>
              <a:rPr lang="en-US" altLang="zh-CN" sz="2800" b="1" dirty="0">
                <a:latin typeface="微软雅黑" panose="020B0503020204020204" pitchFamily="34" charset="-122"/>
                <a:ea typeface="微软雅黑" panose="020B0503020204020204" pitchFamily="34" charset="-122"/>
              </a:rPr>
              <a:t>XT</a:t>
            </a:r>
            <a:r>
              <a:rPr lang="zh-CN" altLang="en-US" sz="2800" b="1" dirty="0">
                <a:latin typeface="微软雅黑" panose="020B0503020204020204" pitchFamily="34" charset="-122"/>
                <a:ea typeface="微软雅黑" panose="020B0503020204020204" pitchFamily="34" charset="-122"/>
              </a:rPr>
              <a:t>总线。</a:t>
            </a:r>
          </a:p>
        </p:txBody>
      </p:sp>
      <p:sp>
        <p:nvSpPr>
          <p:cNvPr id="4" name="矩形 3"/>
          <p:cNvSpPr/>
          <p:nvPr/>
        </p:nvSpPr>
        <p:spPr>
          <a:xfrm>
            <a:off x="1520048" y="4009560"/>
            <a:ext cx="9494293" cy="1126462"/>
          </a:xfrm>
          <a:prstGeom prst="rect">
            <a:avLst/>
          </a:prstGeom>
        </p:spPr>
        <p:txBody>
          <a:bodyPr wrap="square">
            <a:spAutoFit/>
          </a:bodyPr>
          <a:lstStyle/>
          <a:p>
            <a:pPr lvl="1">
              <a:lnSpc>
                <a:spcPct val="120000"/>
              </a:lnSpc>
            </a:pPr>
            <a:r>
              <a:rPr lang="en-US" altLang="zh-CN" sz="2800" b="1" dirty="0">
                <a:latin typeface="微软雅黑" panose="020B0503020204020204" pitchFamily="34" charset="-122"/>
                <a:ea typeface="微软雅黑" panose="020B0503020204020204" pitchFamily="34" charset="-122"/>
              </a:rPr>
              <a:t>1984</a:t>
            </a:r>
            <a:r>
              <a:rPr lang="zh-CN" altLang="en-US" sz="2800" b="1" dirty="0">
                <a:latin typeface="微软雅黑" panose="020B0503020204020204" pitchFamily="34" charset="-122"/>
                <a:ea typeface="微软雅黑" panose="020B0503020204020204" pitchFamily="34" charset="-122"/>
              </a:rPr>
              <a:t>年</a:t>
            </a:r>
            <a:r>
              <a:rPr lang="en-US" altLang="zh-CN" sz="2800" b="1" dirty="0">
                <a:latin typeface="微软雅黑" panose="020B0503020204020204" pitchFamily="34" charset="-122"/>
                <a:ea typeface="微软雅黑" panose="020B0503020204020204" pitchFamily="34" charset="-122"/>
              </a:rPr>
              <a:t>IBM</a:t>
            </a:r>
            <a:r>
              <a:rPr lang="zh-CN" altLang="en-US" sz="2800" b="1" dirty="0">
                <a:latin typeface="微软雅黑" panose="020B0503020204020204" pitchFamily="34" charset="-122"/>
                <a:ea typeface="微软雅黑" panose="020B0503020204020204" pitchFamily="34" charset="-122"/>
              </a:rPr>
              <a:t>公司又推出了基于</a:t>
            </a:r>
            <a:r>
              <a:rPr lang="en-US" altLang="zh-CN" sz="2800" b="1" dirty="0">
                <a:latin typeface="微软雅黑" panose="020B0503020204020204" pitchFamily="34" charset="-122"/>
                <a:ea typeface="微软雅黑" panose="020B0503020204020204" pitchFamily="34" charset="-122"/>
              </a:rPr>
              <a:t>80286 CPU</a:t>
            </a:r>
            <a:r>
              <a:rPr lang="zh-CN" altLang="en-US" sz="2800" b="1" dirty="0">
                <a:latin typeface="微软雅黑" panose="020B0503020204020204" pitchFamily="34" charset="-122"/>
                <a:ea typeface="微软雅黑" panose="020B0503020204020204" pitchFamily="34" charset="-122"/>
              </a:rPr>
              <a:t>的</a:t>
            </a:r>
            <a:r>
              <a:rPr lang="en-US" altLang="zh-CN" sz="2800" b="1" dirty="0">
                <a:latin typeface="微软雅黑" panose="020B0503020204020204" pitchFamily="34" charset="-122"/>
                <a:ea typeface="微软雅黑" panose="020B0503020204020204" pitchFamily="34" charset="-122"/>
              </a:rPr>
              <a:t>IBM PC/AT</a:t>
            </a:r>
            <a:r>
              <a:rPr lang="zh-CN" altLang="en-US" sz="2800" b="1" dirty="0">
                <a:latin typeface="微软雅黑" panose="020B0503020204020204" pitchFamily="34" charset="-122"/>
                <a:ea typeface="微软雅黑" panose="020B0503020204020204" pitchFamily="34" charset="-122"/>
              </a:rPr>
              <a:t>机，其上使用的总线称为</a:t>
            </a:r>
            <a:r>
              <a:rPr lang="en-US" altLang="zh-CN" sz="2800" b="1" dirty="0">
                <a:latin typeface="微软雅黑" panose="020B0503020204020204" pitchFamily="34" charset="-122"/>
                <a:ea typeface="微软雅黑" panose="020B0503020204020204" pitchFamily="34" charset="-122"/>
              </a:rPr>
              <a:t>AT</a:t>
            </a:r>
            <a:r>
              <a:rPr lang="zh-CN" altLang="en-US" sz="2800" b="1" dirty="0">
                <a:latin typeface="微软雅黑" panose="020B0503020204020204" pitchFamily="34" charset="-122"/>
                <a:ea typeface="微软雅黑" panose="020B0503020204020204" pitchFamily="34" charset="-122"/>
              </a:rPr>
              <a:t>总线。</a:t>
            </a:r>
          </a:p>
        </p:txBody>
      </p:sp>
      <p:sp>
        <p:nvSpPr>
          <p:cNvPr id="8" name="矩形 7"/>
          <p:cNvSpPr/>
          <p:nvPr/>
        </p:nvSpPr>
        <p:spPr>
          <a:xfrm>
            <a:off x="1520047" y="5374996"/>
            <a:ext cx="9494293" cy="1126462"/>
          </a:xfrm>
          <a:prstGeom prst="rect">
            <a:avLst/>
          </a:prstGeom>
        </p:spPr>
        <p:txBody>
          <a:bodyPr wrap="square">
            <a:spAutoFit/>
          </a:bodyPr>
          <a:lstStyle/>
          <a:p>
            <a:pPr lvl="1">
              <a:lnSpc>
                <a:spcPct val="120000"/>
              </a:lnSpc>
            </a:pPr>
            <a:r>
              <a:rPr lang="en-US" altLang="zh-CN" sz="2800" b="1" dirty="0">
                <a:latin typeface="微软雅黑" panose="020B0503020204020204" pitchFamily="34" charset="-122"/>
                <a:ea typeface="微软雅黑" panose="020B0503020204020204" pitchFamily="34" charset="-122"/>
              </a:rPr>
              <a:t>AT</a:t>
            </a:r>
            <a:r>
              <a:rPr lang="zh-CN" altLang="en-US" sz="2800" b="1" dirty="0">
                <a:latin typeface="微软雅黑" panose="020B0503020204020204" pitchFamily="34" charset="-122"/>
                <a:ea typeface="微软雅黑" panose="020B0503020204020204" pitchFamily="34" charset="-122"/>
              </a:rPr>
              <a:t>总线是在原</a:t>
            </a:r>
            <a:r>
              <a:rPr lang="en-US" altLang="zh-CN" sz="2800" b="1" dirty="0">
                <a:latin typeface="微软雅黑" panose="020B0503020204020204" pitchFamily="34" charset="-122"/>
                <a:ea typeface="微软雅黑" panose="020B0503020204020204" pitchFamily="34" charset="-122"/>
              </a:rPr>
              <a:t>XT</a:t>
            </a:r>
            <a:r>
              <a:rPr lang="zh-CN" altLang="en-US" sz="2800" b="1" dirty="0">
                <a:latin typeface="微软雅黑" panose="020B0503020204020204" pitchFamily="34" charset="-122"/>
                <a:ea typeface="微软雅黑" panose="020B0503020204020204" pitchFamily="34" charset="-122"/>
              </a:rPr>
              <a:t>总线的基础上扩充而来，总线引脚在原来的</a:t>
            </a:r>
            <a:r>
              <a:rPr lang="en-US" altLang="zh-CN" sz="2800" b="1" dirty="0">
                <a:latin typeface="微软雅黑" panose="020B0503020204020204" pitchFamily="34" charset="-122"/>
                <a:ea typeface="微软雅黑" panose="020B0503020204020204" pitchFamily="34" charset="-122"/>
              </a:rPr>
              <a:t>62</a:t>
            </a:r>
            <a:r>
              <a:rPr lang="zh-CN" altLang="en-US" sz="2800" b="1" dirty="0">
                <a:latin typeface="微软雅黑" panose="020B0503020204020204" pitchFamily="34" charset="-122"/>
                <a:ea typeface="微软雅黑" panose="020B0503020204020204" pitchFamily="34" charset="-122"/>
              </a:rPr>
              <a:t>条基础上增加了</a:t>
            </a:r>
            <a:r>
              <a:rPr lang="en-US" altLang="zh-CN" sz="2800" b="1" dirty="0">
                <a:latin typeface="微软雅黑" panose="020B0503020204020204" pitchFamily="34" charset="-122"/>
                <a:ea typeface="微软雅黑" panose="020B0503020204020204" pitchFamily="34" charset="-122"/>
              </a:rPr>
              <a:t>36</a:t>
            </a:r>
            <a:r>
              <a:rPr lang="zh-CN" altLang="en-US" sz="2800" b="1" dirty="0">
                <a:latin typeface="微软雅黑" panose="020B0503020204020204" pitchFamily="34" charset="-122"/>
                <a:ea typeface="微软雅黑" panose="020B0503020204020204" pitchFamily="34" charset="-122"/>
              </a:rPr>
              <a:t>条，从而扩充到</a:t>
            </a:r>
            <a:r>
              <a:rPr lang="en-US" altLang="zh-CN" sz="2800" b="1" dirty="0">
                <a:latin typeface="微软雅黑" panose="020B0503020204020204" pitchFamily="34" charset="-122"/>
                <a:ea typeface="微软雅黑" panose="020B0503020204020204" pitchFamily="34" charset="-122"/>
              </a:rPr>
              <a:t>98</a:t>
            </a:r>
            <a:r>
              <a:rPr lang="zh-CN" altLang="en-US" sz="2800" b="1" dirty="0">
                <a:latin typeface="微软雅黑" panose="020B0503020204020204" pitchFamily="34" charset="-122"/>
                <a:ea typeface="微软雅黑" panose="020B0503020204020204" pitchFamily="34" charset="-122"/>
              </a:rPr>
              <a:t>条引脚。 </a:t>
            </a:r>
            <a:endParaRPr lang="en-US" altLang="zh-CN"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72984951"/>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1" name="Group 9"/>
          <p:cNvGrpSpPr>
            <a:grpSpLocks noChangeAspect="1"/>
          </p:cNvGrpSpPr>
          <p:nvPr/>
        </p:nvGrpSpPr>
        <p:grpSpPr bwMode="auto">
          <a:xfrm>
            <a:off x="1109790" y="1309413"/>
            <a:ext cx="8634148" cy="4054475"/>
            <a:chOff x="1326" y="3659"/>
            <a:chExt cx="7608" cy="3591"/>
          </a:xfrm>
        </p:grpSpPr>
        <p:sp>
          <p:nvSpPr>
            <p:cNvPr id="7172" name="AutoShape 10"/>
            <p:cNvSpPr>
              <a:spLocks noChangeAspect="1" noChangeArrowheads="1"/>
            </p:cNvSpPr>
            <p:nvPr/>
          </p:nvSpPr>
          <p:spPr bwMode="auto">
            <a:xfrm>
              <a:off x="1765" y="3659"/>
              <a:ext cx="7169" cy="3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sp>
          <p:nvSpPr>
            <p:cNvPr id="7173" name="Text Box 11"/>
            <p:cNvSpPr txBox="1">
              <a:spLocks noChangeArrowheads="1"/>
            </p:cNvSpPr>
            <p:nvPr/>
          </p:nvSpPr>
          <p:spPr bwMode="auto">
            <a:xfrm>
              <a:off x="1326" y="3792"/>
              <a:ext cx="1715" cy="3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just" eaLnBrk="1" hangingPunct="1">
                <a:spcBef>
                  <a:spcPct val="0"/>
                </a:spcBef>
                <a:buFontTx/>
                <a:buNone/>
              </a:pPr>
              <a:r>
                <a:rPr lang="en-US" altLang="zh-CN" sz="2400" b="1" dirty="0">
                  <a:latin typeface="微软雅黑" panose="020B0503020204020204" pitchFamily="34" charset="-122"/>
                  <a:ea typeface="微软雅黑" panose="020B0503020204020204" pitchFamily="34" charset="-122"/>
                </a:rPr>
                <a:t>ISA</a:t>
              </a:r>
              <a:r>
                <a:rPr lang="zh-CN" altLang="en-US" sz="2400" b="1" dirty="0">
                  <a:latin typeface="微软雅黑" panose="020B0503020204020204" pitchFamily="34" charset="-122"/>
                  <a:ea typeface="微软雅黑" panose="020B0503020204020204" pitchFamily="34" charset="-122"/>
                </a:rPr>
                <a:t>总线插槽</a:t>
              </a:r>
            </a:p>
          </p:txBody>
        </p:sp>
        <p:pic>
          <p:nvPicPr>
            <p:cNvPr id="7174" name="Picture 12" descr="Image000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0" y="3659"/>
              <a:ext cx="4842" cy="3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5" name="Text Box 13"/>
            <p:cNvSpPr txBox="1">
              <a:spLocks noChangeArrowheads="1"/>
            </p:cNvSpPr>
            <p:nvPr/>
          </p:nvSpPr>
          <p:spPr bwMode="auto">
            <a:xfrm>
              <a:off x="1326" y="4457"/>
              <a:ext cx="1715" cy="6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just" eaLnBrk="1" hangingPunct="1">
                <a:spcBef>
                  <a:spcPct val="0"/>
                </a:spcBef>
                <a:buFontTx/>
                <a:buNone/>
              </a:pPr>
              <a:r>
                <a:rPr lang="en-US" altLang="zh-CN" sz="2400" b="1">
                  <a:latin typeface="微软雅黑" panose="020B0503020204020204" pitchFamily="34" charset="-122"/>
                  <a:ea typeface="微软雅黑" panose="020B0503020204020204" pitchFamily="34" charset="-122"/>
                </a:rPr>
                <a:t>XT</a:t>
              </a:r>
              <a:r>
                <a:rPr lang="zh-CN" altLang="en-US" sz="2400" b="1">
                  <a:latin typeface="微软雅黑" panose="020B0503020204020204" pitchFamily="34" charset="-122"/>
                  <a:ea typeface="微软雅黑" panose="020B0503020204020204" pitchFamily="34" charset="-122"/>
                </a:rPr>
                <a:t>总线</a:t>
              </a:r>
            </a:p>
            <a:p>
              <a:pPr algn="just" eaLnBrk="1" hangingPunct="1">
                <a:spcBef>
                  <a:spcPct val="0"/>
                </a:spcBef>
                <a:buFontTx/>
                <a:buNone/>
              </a:pPr>
              <a:r>
                <a:rPr lang="en-US" altLang="zh-CN" sz="2400" b="1">
                  <a:latin typeface="微软雅黑" panose="020B0503020204020204" pitchFamily="34" charset="-122"/>
                  <a:ea typeface="微软雅黑" panose="020B0503020204020204" pitchFamily="34" charset="-122"/>
                </a:rPr>
                <a:t>62</a:t>
              </a:r>
              <a:r>
                <a:rPr lang="zh-CN" altLang="en-US" sz="2400" b="1">
                  <a:latin typeface="微软雅黑" panose="020B0503020204020204" pitchFamily="34" charset="-122"/>
                  <a:ea typeface="微软雅黑" panose="020B0503020204020204" pitchFamily="34" charset="-122"/>
                </a:rPr>
                <a:t>引脚插槽</a:t>
              </a:r>
            </a:p>
          </p:txBody>
        </p:sp>
        <p:sp>
          <p:nvSpPr>
            <p:cNvPr id="7176" name="Text Box 14"/>
            <p:cNvSpPr txBox="1">
              <a:spLocks noChangeArrowheads="1"/>
            </p:cNvSpPr>
            <p:nvPr/>
          </p:nvSpPr>
          <p:spPr bwMode="auto">
            <a:xfrm>
              <a:off x="1326" y="5521"/>
              <a:ext cx="1716" cy="6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just" eaLnBrk="1" hangingPunct="1">
                <a:spcBef>
                  <a:spcPct val="0"/>
                </a:spcBef>
                <a:buFontTx/>
                <a:buNone/>
              </a:pPr>
              <a:r>
                <a:rPr lang="en-US" altLang="zh-CN" sz="2400" b="1">
                  <a:latin typeface="微软雅黑" panose="020B0503020204020204" pitchFamily="34" charset="-122"/>
                  <a:ea typeface="微软雅黑" panose="020B0503020204020204" pitchFamily="34" charset="-122"/>
                </a:rPr>
                <a:t>AT</a:t>
              </a:r>
              <a:r>
                <a:rPr lang="zh-CN" altLang="en-US" sz="2400" b="1">
                  <a:latin typeface="微软雅黑" panose="020B0503020204020204" pitchFamily="34" charset="-122"/>
                  <a:ea typeface="微软雅黑" panose="020B0503020204020204" pitchFamily="34" charset="-122"/>
                </a:rPr>
                <a:t>总线新增</a:t>
              </a:r>
            </a:p>
            <a:p>
              <a:pPr algn="just" eaLnBrk="1" hangingPunct="1">
                <a:spcBef>
                  <a:spcPct val="0"/>
                </a:spcBef>
                <a:buFontTx/>
                <a:buNone/>
              </a:pPr>
              <a:r>
                <a:rPr lang="en-US" altLang="zh-CN" sz="2400" b="1">
                  <a:latin typeface="微软雅黑" panose="020B0503020204020204" pitchFamily="34" charset="-122"/>
                  <a:ea typeface="微软雅黑" panose="020B0503020204020204" pitchFamily="34" charset="-122"/>
                </a:rPr>
                <a:t>36</a:t>
              </a:r>
              <a:r>
                <a:rPr lang="zh-CN" altLang="en-US" sz="2400" b="1">
                  <a:latin typeface="微软雅黑" panose="020B0503020204020204" pitchFamily="34" charset="-122"/>
                  <a:ea typeface="微软雅黑" panose="020B0503020204020204" pitchFamily="34" charset="-122"/>
                </a:rPr>
                <a:t>引脚插槽</a:t>
              </a:r>
            </a:p>
          </p:txBody>
        </p:sp>
        <p:sp>
          <p:nvSpPr>
            <p:cNvPr id="7177" name="Line 15"/>
            <p:cNvSpPr>
              <a:spLocks noChangeShapeType="1"/>
            </p:cNvSpPr>
            <p:nvPr/>
          </p:nvSpPr>
          <p:spPr bwMode="auto">
            <a:xfrm>
              <a:off x="3162" y="4191"/>
              <a:ext cx="558" cy="13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8" name="Line 16"/>
            <p:cNvSpPr>
              <a:spLocks noChangeShapeType="1"/>
            </p:cNvSpPr>
            <p:nvPr/>
          </p:nvSpPr>
          <p:spPr bwMode="auto">
            <a:xfrm>
              <a:off x="2975" y="4856"/>
              <a:ext cx="74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9" name="Line 17"/>
            <p:cNvSpPr>
              <a:spLocks noChangeShapeType="1"/>
            </p:cNvSpPr>
            <p:nvPr/>
          </p:nvSpPr>
          <p:spPr bwMode="auto">
            <a:xfrm>
              <a:off x="3068" y="5920"/>
              <a:ext cx="654"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930589746"/>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type="body" idx="1"/>
          </p:nvPr>
        </p:nvSpPr>
        <p:spPr>
          <a:xfrm>
            <a:off x="3195850" y="1314171"/>
            <a:ext cx="8229600" cy="4797425"/>
          </a:xfrm>
        </p:spPr>
        <p:txBody>
          <a:bodyPr/>
          <a:lstStyle/>
          <a:p>
            <a:pPr marL="0" indent="0" eaLnBrk="1" hangingPunct="1">
              <a:lnSpc>
                <a:spcPct val="150000"/>
              </a:lnSpc>
              <a:buNone/>
            </a:pPr>
            <a:r>
              <a:rPr lang="en-US" altLang="zh-CN" b="1" dirty="0">
                <a:solidFill>
                  <a:srgbClr val="FF0000"/>
                </a:solidFill>
                <a:latin typeface="微软雅黑" panose="020B0503020204020204" pitchFamily="34" charset="-122"/>
                <a:ea typeface="微软雅黑" panose="020B0503020204020204" pitchFamily="34" charset="-122"/>
              </a:rPr>
              <a:t>PCI</a:t>
            </a:r>
            <a:r>
              <a:rPr lang="zh-CN" altLang="en-US" b="1" dirty="0">
                <a:solidFill>
                  <a:srgbClr val="FF0000"/>
                </a:solidFill>
                <a:latin typeface="微软雅黑" panose="020B0503020204020204" pitchFamily="34" charset="-122"/>
                <a:ea typeface="微软雅黑" panose="020B0503020204020204" pitchFamily="34" charset="-122"/>
              </a:rPr>
              <a:t>总线</a:t>
            </a:r>
            <a:r>
              <a:rPr lang="zh-CN" altLang="en-US" b="1" dirty="0">
                <a:latin typeface="微软雅黑" panose="020B0503020204020204" pitchFamily="34" charset="-122"/>
                <a:ea typeface="微软雅黑" panose="020B0503020204020204" pitchFamily="34" charset="-122"/>
              </a:rPr>
              <a:t>：由</a:t>
            </a:r>
            <a:r>
              <a:rPr lang="en-US" altLang="zh-CN" b="1" dirty="0">
                <a:latin typeface="微软雅黑" panose="020B0503020204020204" pitchFamily="34" charset="-122"/>
                <a:ea typeface="微软雅黑" panose="020B0503020204020204" pitchFamily="34" charset="-122"/>
              </a:rPr>
              <a:t>Intel</a:t>
            </a:r>
            <a:r>
              <a:rPr lang="zh-CN" altLang="en-US" b="1" dirty="0">
                <a:latin typeface="微软雅黑" panose="020B0503020204020204" pitchFamily="34" charset="-122"/>
                <a:ea typeface="微软雅黑" panose="020B0503020204020204" pitchFamily="34" charset="-122"/>
              </a:rPr>
              <a:t>公司首先提出了</a:t>
            </a:r>
            <a:r>
              <a:rPr lang="en-US" altLang="zh-CN" b="1" dirty="0">
                <a:latin typeface="微软雅黑" panose="020B0503020204020204" pitchFamily="34" charset="-122"/>
                <a:ea typeface="微软雅黑" panose="020B0503020204020204" pitchFamily="34" charset="-122"/>
              </a:rPr>
              <a:t>PCI</a:t>
            </a:r>
            <a:r>
              <a:rPr lang="zh-CN" altLang="en-US" b="1" dirty="0">
                <a:latin typeface="微软雅黑" panose="020B0503020204020204" pitchFamily="34" charset="-122"/>
                <a:ea typeface="微软雅黑" panose="020B0503020204020204" pitchFamily="34" charset="-122"/>
              </a:rPr>
              <a:t>总线概念（</a:t>
            </a:r>
            <a:r>
              <a:rPr lang="en-US" altLang="zh-CN" b="1" dirty="0">
                <a:latin typeface="微软雅黑" panose="020B0503020204020204" pitchFamily="34" charset="-122"/>
                <a:ea typeface="微软雅黑" panose="020B0503020204020204" pitchFamily="34" charset="-122"/>
              </a:rPr>
              <a:t>Peripheral Component Interconnect</a:t>
            </a:r>
            <a:r>
              <a:rPr lang="zh-CN" altLang="en-US" b="1" dirty="0">
                <a:latin typeface="微软雅黑" panose="020B0503020204020204" pitchFamily="34" charset="-122"/>
                <a:ea typeface="微软雅黑" panose="020B0503020204020204" pitchFamily="34" charset="-122"/>
              </a:rPr>
              <a:t>），之后</a:t>
            </a:r>
            <a:r>
              <a:rPr lang="en-US" altLang="zh-CN" b="1" dirty="0">
                <a:latin typeface="微软雅黑" panose="020B0503020204020204" pitchFamily="34" charset="-122"/>
                <a:ea typeface="微软雅黑" panose="020B0503020204020204" pitchFamily="34" charset="-122"/>
              </a:rPr>
              <a:t>Intel</a:t>
            </a:r>
            <a:r>
              <a:rPr lang="zh-CN" altLang="en-US" b="1" dirty="0">
                <a:latin typeface="微软雅黑" panose="020B0503020204020204" pitchFamily="34" charset="-122"/>
                <a:ea typeface="微软雅黑" panose="020B0503020204020204" pitchFamily="34" charset="-122"/>
              </a:rPr>
              <a:t>联合</a:t>
            </a:r>
            <a:r>
              <a:rPr lang="en-US" altLang="zh-CN" b="1" dirty="0">
                <a:latin typeface="微软雅黑" panose="020B0503020204020204" pitchFamily="34" charset="-122"/>
                <a:ea typeface="微软雅黑" panose="020B0503020204020204" pitchFamily="34" charset="-122"/>
              </a:rPr>
              <a:t>IBM</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Compaq</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AST</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HP</a:t>
            </a:r>
            <a:r>
              <a:rPr lang="zh-CN" altLang="en-US" b="1"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Apple</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DEC </a:t>
            </a:r>
            <a:r>
              <a:rPr lang="zh-CN" altLang="en-US" b="1" dirty="0">
                <a:latin typeface="微软雅黑" panose="020B0503020204020204" pitchFamily="34" charset="-122"/>
                <a:ea typeface="微软雅黑" panose="020B0503020204020204" pitchFamily="34" charset="-122"/>
              </a:rPr>
              <a:t>等</a:t>
            </a:r>
            <a:r>
              <a:rPr lang="en-US" altLang="zh-CN" b="1" dirty="0">
                <a:latin typeface="微软雅黑" panose="020B0503020204020204" pitchFamily="34" charset="-122"/>
                <a:ea typeface="微软雅黑" panose="020B0503020204020204" pitchFamily="34" charset="-122"/>
              </a:rPr>
              <a:t>100</a:t>
            </a:r>
            <a:r>
              <a:rPr lang="zh-CN" altLang="en-US" b="1" dirty="0">
                <a:latin typeface="微软雅黑" panose="020B0503020204020204" pitchFamily="34" charset="-122"/>
                <a:ea typeface="微软雅黑" panose="020B0503020204020204" pitchFamily="34" charset="-122"/>
              </a:rPr>
              <a:t>多家公司共同开发总线，并于</a:t>
            </a:r>
            <a:r>
              <a:rPr lang="en-US" altLang="zh-CN" b="1" dirty="0">
                <a:latin typeface="微软雅黑" panose="020B0503020204020204" pitchFamily="34" charset="-122"/>
                <a:ea typeface="微软雅黑" panose="020B0503020204020204" pitchFamily="34" charset="-122"/>
              </a:rPr>
              <a:t>1993</a:t>
            </a:r>
            <a:r>
              <a:rPr lang="zh-CN" altLang="en-US" b="1" dirty="0">
                <a:latin typeface="微软雅黑" panose="020B0503020204020204" pitchFamily="34" charset="-122"/>
                <a:ea typeface="微软雅黑" panose="020B0503020204020204" pitchFamily="34" charset="-122"/>
              </a:rPr>
              <a:t>年推出了</a:t>
            </a:r>
            <a:r>
              <a:rPr lang="en-US" altLang="zh-CN" b="1" dirty="0">
                <a:latin typeface="微软雅黑" panose="020B0503020204020204" pitchFamily="34" charset="-122"/>
                <a:ea typeface="微软雅黑" panose="020B0503020204020204" pitchFamily="34" charset="-122"/>
              </a:rPr>
              <a:t>PCI</a:t>
            </a:r>
            <a:r>
              <a:rPr lang="zh-CN" altLang="en-US" b="1" dirty="0">
                <a:latin typeface="微软雅黑" panose="020B0503020204020204" pitchFamily="34" charset="-122"/>
                <a:ea typeface="微软雅黑" panose="020B0503020204020204" pitchFamily="34" charset="-122"/>
              </a:rPr>
              <a:t>总线标准，称为继</a:t>
            </a:r>
            <a:r>
              <a:rPr lang="en-US" altLang="zh-CN" b="1" dirty="0">
                <a:latin typeface="微软雅黑" panose="020B0503020204020204" pitchFamily="34" charset="-122"/>
                <a:ea typeface="微软雅黑" panose="020B0503020204020204" pitchFamily="34" charset="-122"/>
              </a:rPr>
              <a:t>ISA</a:t>
            </a:r>
            <a:r>
              <a:rPr lang="zh-CN" altLang="en-US" b="1" dirty="0">
                <a:latin typeface="微软雅黑" panose="020B0503020204020204" pitchFamily="34" charset="-122"/>
                <a:ea typeface="微软雅黑" panose="020B0503020204020204" pitchFamily="34" charset="-122"/>
              </a:rPr>
              <a:t>总线之后广泛用于微型计算机的总线标准。 </a:t>
            </a:r>
          </a:p>
        </p:txBody>
      </p:sp>
      <p:sp>
        <p:nvSpPr>
          <p:cNvPr id="4" name="Rectangle 5"/>
          <p:cNvSpPr>
            <a:spLocks noChangeArrowheads="1"/>
          </p:cNvSpPr>
          <p:nvPr/>
        </p:nvSpPr>
        <p:spPr bwMode="auto">
          <a:xfrm>
            <a:off x="-22289" y="2164754"/>
            <a:ext cx="2735237" cy="2528499"/>
          </a:xfrm>
          <a:prstGeom prst="rect">
            <a:avLst/>
          </a:prstGeom>
          <a:solidFill>
            <a:srgbClr val="02B9E7"/>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5" name="Oval 9"/>
          <p:cNvSpPr>
            <a:spLocks noChangeArrowheads="1"/>
          </p:cNvSpPr>
          <p:nvPr/>
        </p:nvSpPr>
        <p:spPr bwMode="auto">
          <a:xfrm>
            <a:off x="769489" y="2896757"/>
            <a:ext cx="1100235" cy="1108082"/>
          </a:xfrm>
          <a:prstGeom prst="ellipse">
            <a:avLst/>
          </a:prstGeom>
          <a:solidFill>
            <a:srgbClr val="FFFFFF"/>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40"/>
          <p:cNvSpPr>
            <a:spLocks noEditPoints="1"/>
          </p:cNvSpPr>
          <p:nvPr/>
        </p:nvSpPr>
        <p:spPr bwMode="auto">
          <a:xfrm>
            <a:off x="927247" y="3188714"/>
            <a:ext cx="784720" cy="524170"/>
          </a:xfrm>
          <a:custGeom>
            <a:avLst/>
            <a:gdLst>
              <a:gd name="T0" fmla="*/ 544 w 564"/>
              <a:gd name="T1" fmla="*/ 27 h 376"/>
              <a:gd name="T2" fmla="*/ 544 w 564"/>
              <a:gd name="T3" fmla="*/ 309 h 376"/>
              <a:gd name="T4" fmla="*/ 536 w 564"/>
              <a:gd name="T5" fmla="*/ 309 h 376"/>
              <a:gd name="T6" fmla="*/ 518 w 564"/>
              <a:gd name="T7" fmla="*/ 308 h 376"/>
              <a:gd name="T8" fmla="*/ 285 w 564"/>
              <a:gd name="T9" fmla="*/ 367 h 376"/>
              <a:gd name="T10" fmla="*/ 282 w 564"/>
              <a:gd name="T11" fmla="*/ 368 h 376"/>
              <a:gd name="T12" fmla="*/ 279 w 564"/>
              <a:gd name="T13" fmla="*/ 367 h 376"/>
              <a:gd name="T14" fmla="*/ 46 w 564"/>
              <a:gd name="T15" fmla="*/ 308 h 376"/>
              <a:gd name="T16" fmla="*/ 28 w 564"/>
              <a:gd name="T17" fmla="*/ 309 h 376"/>
              <a:gd name="T18" fmla="*/ 20 w 564"/>
              <a:gd name="T19" fmla="*/ 309 h 376"/>
              <a:gd name="T20" fmla="*/ 20 w 564"/>
              <a:gd name="T21" fmla="*/ 27 h 376"/>
              <a:gd name="T22" fmla="*/ 0 w 564"/>
              <a:gd name="T23" fmla="*/ 27 h 376"/>
              <a:gd name="T24" fmla="*/ 0 w 564"/>
              <a:gd name="T25" fmla="*/ 320 h 376"/>
              <a:gd name="T26" fmla="*/ 282 w 564"/>
              <a:gd name="T27" fmla="*/ 376 h 376"/>
              <a:gd name="T28" fmla="*/ 564 w 564"/>
              <a:gd name="T29" fmla="*/ 320 h 376"/>
              <a:gd name="T30" fmla="*/ 564 w 564"/>
              <a:gd name="T31" fmla="*/ 27 h 376"/>
              <a:gd name="T32" fmla="*/ 544 w 564"/>
              <a:gd name="T33" fmla="*/ 27 h 376"/>
              <a:gd name="T34" fmla="*/ 272 w 564"/>
              <a:gd name="T35" fmla="*/ 319 h 376"/>
              <a:gd name="T36" fmla="*/ 272 w 564"/>
              <a:gd name="T37" fmla="*/ 63 h 376"/>
              <a:gd name="T38" fmla="*/ 77 w 564"/>
              <a:gd name="T39" fmla="*/ 1 h 376"/>
              <a:gd name="T40" fmla="*/ 77 w 564"/>
              <a:gd name="T41" fmla="*/ 269 h 376"/>
              <a:gd name="T42" fmla="*/ 84 w 564"/>
              <a:gd name="T43" fmla="*/ 269 h 376"/>
              <a:gd name="T44" fmla="*/ 272 w 564"/>
              <a:gd name="T45" fmla="*/ 319 h 376"/>
              <a:gd name="T46" fmla="*/ 487 w 564"/>
              <a:gd name="T47" fmla="*/ 269 h 376"/>
              <a:gd name="T48" fmla="*/ 487 w 564"/>
              <a:gd name="T49" fmla="*/ 1 h 376"/>
              <a:gd name="T50" fmla="*/ 292 w 564"/>
              <a:gd name="T51" fmla="*/ 63 h 376"/>
              <a:gd name="T52" fmla="*/ 292 w 564"/>
              <a:gd name="T53" fmla="*/ 319 h 376"/>
              <a:gd name="T54" fmla="*/ 480 w 564"/>
              <a:gd name="T55" fmla="*/ 269 h 376"/>
              <a:gd name="T56" fmla="*/ 487 w 564"/>
              <a:gd name="T57" fmla="*/ 269 h 376"/>
              <a:gd name="T58" fmla="*/ 282 w 564"/>
              <a:gd name="T59" fmla="*/ 361 h 376"/>
              <a:gd name="T60" fmla="*/ 531 w 564"/>
              <a:gd name="T61" fmla="*/ 302 h 376"/>
              <a:gd name="T62" fmla="*/ 531 w 564"/>
              <a:gd name="T63" fmla="*/ 5 h 376"/>
              <a:gd name="T64" fmla="*/ 501 w 564"/>
              <a:gd name="T65" fmla="*/ 5 h 376"/>
              <a:gd name="T66" fmla="*/ 501 w 564"/>
              <a:gd name="T67" fmla="*/ 283 h 376"/>
              <a:gd name="T68" fmla="*/ 493 w 564"/>
              <a:gd name="T69" fmla="*/ 282 h 376"/>
              <a:gd name="T70" fmla="*/ 478 w 564"/>
              <a:gd name="T71" fmla="*/ 282 h 376"/>
              <a:gd name="T72" fmla="*/ 287 w 564"/>
              <a:gd name="T73" fmla="*/ 337 h 376"/>
              <a:gd name="T74" fmla="*/ 282 w 564"/>
              <a:gd name="T75" fmla="*/ 340 h 376"/>
              <a:gd name="T76" fmla="*/ 277 w 564"/>
              <a:gd name="T77" fmla="*/ 337 h 376"/>
              <a:gd name="T78" fmla="*/ 86 w 564"/>
              <a:gd name="T79" fmla="*/ 282 h 376"/>
              <a:gd name="T80" fmla="*/ 71 w 564"/>
              <a:gd name="T81" fmla="*/ 282 h 376"/>
              <a:gd name="T82" fmla="*/ 63 w 564"/>
              <a:gd name="T83" fmla="*/ 283 h 376"/>
              <a:gd name="T84" fmla="*/ 63 w 564"/>
              <a:gd name="T85" fmla="*/ 5 h 376"/>
              <a:gd name="T86" fmla="*/ 33 w 564"/>
              <a:gd name="T87" fmla="*/ 5 h 376"/>
              <a:gd name="T88" fmla="*/ 33 w 564"/>
              <a:gd name="T89" fmla="*/ 302 h 376"/>
              <a:gd name="T90" fmla="*/ 282 w 564"/>
              <a:gd name="T91" fmla="*/ 361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4" h="376">
                <a:moveTo>
                  <a:pt x="544" y="27"/>
                </a:moveTo>
                <a:lnTo>
                  <a:pt x="544" y="309"/>
                </a:lnTo>
                <a:lnTo>
                  <a:pt x="536" y="309"/>
                </a:lnTo>
                <a:cubicBezTo>
                  <a:pt x="530" y="308"/>
                  <a:pt x="524" y="308"/>
                  <a:pt x="518" y="308"/>
                </a:cubicBezTo>
                <a:cubicBezTo>
                  <a:pt x="440" y="308"/>
                  <a:pt x="357" y="329"/>
                  <a:pt x="285" y="367"/>
                </a:cubicBezTo>
                <a:lnTo>
                  <a:pt x="282" y="368"/>
                </a:lnTo>
                <a:lnTo>
                  <a:pt x="279" y="367"/>
                </a:lnTo>
                <a:cubicBezTo>
                  <a:pt x="207" y="329"/>
                  <a:pt x="124" y="308"/>
                  <a:pt x="46" y="308"/>
                </a:cubicBezTo>
                <a:cubicBezTo>
                  <a:pt x="40" y="308"/>
                  <a:pt x="34" y="308"/>
                  <a:pt x="28" y="309"/>
                </a:cubicBezTo>
                <a:lnTo>
                  <a:pt x="20" y="309"/>
                </a:lnTo>
                <a:lnTo>
                  <a:pt x="20" y="27"/>
                </a:lnTo>
                <a:cubicBezTo>
                  <a:pt x="13" y="27"/>
                  <a:pt x="6" y="27"/>
                  <a:pt x="0" y="27"/>
                </a:cubicBezTo>
                <a:lnTo>
                  <a:pt x="0" y="320"/>
                </a:lnTo>
                <a:cubicBezTo>
                  <a:pt x="94" y="317"/>
                  <a:pt x="194" y="338"/>
                  <a:pt x="282" y="376"/>
                </a:cubicBezTo>
                <a:cubicBezTo>
                  <a:pt x="370" y="338"/>
                  <a:pt x="470" y="317"/>
                  <a:pt x="564" y="320"/>
                </a:cubicBezTo>
                <a:lnTo>
                  <a:pt x="564" y="27"/>
                </a:lnTo>
                <a:cubicBezTo>
                  <a:pt x="558" y="27"/>
                  <a:pt x="551" y="27"/>
                  <a:pt x="544" y="27"/>
                </a:cubicBezTo>
                <a:close/>
                <a:moveTo>
                  <a:pt x="272" y="319"/>
                </a:moveTo>
                <a:lnTo>
                  <a:pt x="272" y="63"/>
                </a:lnTo>
                <a:cubicBezTo>
                  <a:pt x="212" y="22"/>
                  <a:pt x="142" y="0"/>
                  <a:pt x="77" y="1"/>
                </a:cubicBezTo>
                <a:lnTo>
                  <a:pt x="77" y="269"/>
                </a:lnTo>
                <a:cubicBezTo>
                  <a:pt x="79" y="269"/>
                  <a:pt x="82" y="269"/>
                  <a:pt x="84" y="269"/>
                </a:cubicBezTo>
                <a:cubicBezTo>
                  <a:pt x="147" y="269"/>
                  <a:pt x="214" y="287"/>
                  <a:pt x="272" y="319"/>
                </a:cubicBezTo>
                <a:close/>
                <a:moveTo>
                  <a:pt x="487" y="269"/>
                </a:moveTo>
                <a:lnTo>
                  <a:pt x="487" y="1"/>
                </a:lnTo>
                <a:cubicBezTo>
                  <a:pt x="422" y="0"/>
                  <a:pt x="352" y="22"/>
                  <a:pt x="292" y="63"/>
                </a:cubicBezTo>
                <a:lnTo>
                  <a:pt x="292" y="319"/>
                </a:lnTo>
                <a:cubicBezTo>
                  <a:pt x="350" y="287"/>
                  <a:pt x="417" y="269"/>
                  <a:pt x="480" y="269"/>
                </a:cubicBezTo>
                <a:cubicBezTo>
                  <a:pt x="482" y="269"/>
                  <a:pt x="485" y="269"/>
                  <a:pt x="487" y="269"/>
                </a:cubicBezTo>
                <a:close/>
                <a:moveTo>
                  <a:pt x="282" y="361"/>
                </a:moveTo>
                <a:cubicBezTo>
                  <a:pt x="362" y="318"/>
                  <a:pt x="451" y="299"/>
                  <a:pt x="531" y="302"/>
                </a:cubicBezTo>
                <a:lnTo>
                  <a:pt x="531" y="5"/>
                </a:lnTo>
                <a:cubicBezTo>
                  <a:pt x="521" y="5"/>
                  <a:pt x="511" y="5"/>
                  <a:pt x="501" y="5"/>
                </a:cubicBezTo>
                <a:lnTo>
                  <a:pt x="501" y="283"/>
                </a:lnTo>
                <a:lnTo>
                  <a:pt x="493" y="282"/>
                </a:lnTo>
                <a:cubicBezTo>
                  <a:pt x="488" y="282"/>
                  <a:pt x="483" y="282"/>
                  <a:pt x="478" y="282"/>
                </a:cubicBezTo>
                <a:cubicBezTo>
                  <a:pt x="414" y="282"/>
                  <a:pt x="346" y="301"/>
                  <a:pt x="287" y="337"/>
                </a:cubicBezTo>
                <a:lnTo>
                  <a:pt x="282" y="340"/>
                </a:lnTo>
                <a:lnTo>
                  <a:pt x="277" y="337"/>
                </a:lnTo>
                <a:cubicBezTo>
                  <a:pt x="218" y="301"/>
                  <a:pt x="150" y="282"/>
                  <a:pt x="86" y="282"/>
                </a:cubicBezTo>
                <a:cubicBezTo>
                  <a:pt x="81" y="282"/>
                  <a:pt x="76" y="282"/>
                  <a:pt x="71" y="282"/>
                </a:cubicBezTo>
                <a:lnTo>
                  <a:pt x="63" y="283"/>
                </a:lnTo>
                <a:lnTo>
                  <a:pt x="63" y="5"/>
                </a:lnTo>
                <a:cubicBezTo>
                  <a:pt x="53" y="5"/>
                  <a:pt x="43" y="5"/>
                  <a:pt x="33" y="5"/>
                </a:cubicBezTo>
                <a:lnTo>
                  <a:pt x="33" y="302"/>
                </a:lnTo>
                <a:cubicBezTo>
                  <a:pt x="113" y="299"/>
                  <a:pt x="202" y="318"/>
                  <a:pt x="282" y="361"/>
                </a:cubicBezTo>
                <a:close/>
              </a:path>
            </a:pathLst>
          </a:custGeom>
          <a:solidFill>
            <a:srgbClr val="02B9E7"/>
          </a:solidFill>
          <a:ln>
            <a:noFill/>
          </a:ln>
        </p:spPr>
        <p:txBody>
          <a:bodyPr vert="horz" wrap="square" lIns="91398" tIns="45699" rIns="91398" bIns="45699" numCol="1" anchor="t" anchorCtr="0" compatLnSpc="1">
            <a:prstTxWarp prst="textNoShape">
              <a:avLst/>
            </a:prstTxWarp>
          </a:bodyPr>
          <a:lstStyle/>
          <a:p>
            <a:endParaRPr lang="zh-CN" altLang="en-US" sz="1799"/>
          </a:p>
        </p:txBody>
      </p:sp>
    </p:spTree>
    <p:extLst>
      <p:ext uri="{BB962C8B-B14F-4D97-AF65-F5344CB8AC3E}">
        <p14:creationId xmlns:p14="http://schemas.microsoft.com/office/powerpoint/2010/main" val="913223341"/>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Oval 5"/>
          <p:cNvSpPr>
            <a:spLocks noChangeArrowheads="1"/>
          </p:cNvSpPr>
          <p:nvPr/>
        </p:nvSpPr>
        <p:spPr bwMode="auto">
          <a:xfrm>
            <a:off x="5025701" y="3153129"/>
            <a:ext cx="1696376" cy="1698941"/>
          </a:xfrm>
          <a:prstGeom prst="ellipse">
            <a:avLst/>
          </a:pr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Oval 6"/>
          <p:cNvSpPr>
            <a:spLocks noChangeArrowheads="1"/>
          </p:cNvSpPr>
          <p:nvPr/>
        </p:nvSpPr>
        <p:spPr bwMode="auto">
          <a:xfrm>
            <a:off x="3664954" y="1828810"/>
            <a:ext cx="4416288" cy="4425810"/>
          </a:xfrm>
          <a:prstGeom prst="ellipse">
            <a:avLst/>
          </a:prstGeom>
          <a:noFill/>
          <a:ln w="12700" cap="flat">
            <a:solidFill>
              <a:srgbClr val="2E2C2C"/>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0" name="Oval 7"/>
          <p:cNvSpPr>
            <a:spLocks noChangeArrowheads="1"/>
          </p:cNvSpPr>
          <p:nvPr/>
        </p:nvSpPr>
        <p:spPr bwMode="auto">
          <a:xfrm>
            <a:off x="5439086" y="1394008"/>
            <a:ext cx="868024" cy="871199"/>
          </a:xfrm>
          <a:prstGeom prst="ellipse">
            <a:avLst/>
          </a:prstGeom>
          <a:solidFill>
            <a:schemeClr val="accent4"/>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Oval 8"/>
          <p:cNvSpPr>
            <a:spLocks noChangeArrowheads="1"/>
          </p:cNvSpPr>
          <p:nvPr/>
        </p:nvSpPr>
        <p:spPr bwMode="auto">
          <a:xfrm>
            <a:off x="7540114" y="2923762"/>
            <a:ext cx="868024" cy="869611"/>
          </a:xfrm>
          <a:prstGeom prst="ellipse">
            <a:avLst/>
          </a:pr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Oval 9"/>
          <p:cNvSpPr>
            <a:spLocks noChangeArrowheads="1"/>
          </p:cNvSpPr>
          <p:nvPr/>
        </p:nvSpPr>
        <p:spPr bwMode="auto">
          <a:xfrm>
            <a:off x="6737153" y="5396118"/>
            <a:ext cx="868024" cy="871199"/>
          </a:xfrm>
          <a:prstGeom prst="ellipse">
            <a:avLst/>
          </a:prstGeom>
          <a:solidFill>
            <a:schemeClr val="accent6">
              <a:lumMod val="75000"/>
            </a:schemeClr>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Oval 10"/>
          <p:cNvSpPr>
            <a:spLocks noChangeArrowheads="1"/>
          </p:cNvSpPr>
          <p:nvPr/>
        </p:nvSpPr>
        <p:spPr bwMode="auto">
          <a:xfrm>
            <a:off x="4141018" y="5396118"/>
            <a:ext cx="868024" cy="871199"/>
          </a:xfrm>
          <a:prstGeom prst="ellipse">
            <a:avLst/>
          </a:prstGeom>
          <a:solidFill>
            <a:schemeClr val="accent1">
              <a:lumMod val="75000"/>
            </a:schemeClr>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4" name="Oval 11"/>
          <p:cNvSpPr>
            <a:spLocks noChangeArrowheads="1"/>
          </p:cNvSpPr>
          <p:nvPr/>
        </p:nvSpPr>
        <p:spPr bwMode="auto">
          <a:xfrm>
            <a:off x="3338055" y="2922173"/>
            <a:ext cx="869611" cy="871199"/>
          </a:xfrm>
          <a:prstGeom prst="ellipse">
            <a:avLst/>
          </a:prstGeom>
          <a:solidFill>
            <a:srgbClr val="00B0F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5" name="Line 12"/>
          <p:cNvSpPr>
            <a:spLocks noChangeShapeType="1"/>
          </p:cNvSpPr>
          <p:nvPr/>
        </p:nvSpPr>
        <p:spPr bwMode="auto">
          <a:xfrm flipV="1">
            <a:off x="6918059" y="3504556"/>
            <a:ext cx="606188" cy="196774"/>
          </a:xfrm>
          <a:prstGeom prst="line">
            <a:avLst/>
          </a:prstGeom>
          <a:noFill/>
          <a:ln w="12700" cap="flat">
            <a:solidFill>
              <a:srgbClr val="2E2C2C"/>
            </a:solidFill>
            <a:prstDash val="solid"/>
            <a:miter lim="800000"/>
            <a:headEnd type="none" w="med" len="med"/>
            <a:tailEnd type="triangle" w="lg" len="lg"/>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6" name="Line 13"/>
          <p:cNvSpPr>
            <a:spLocks noChangeShapeType="1"/>
          </p:cNvSpPr>
          <p:nvPr/>
        </p:nvSpPr>
        <p:spPr bwMode="auto">
          <a:xfrm flipV="1">
            <a:off x="5873889" y="2423007"/>
            <a:ext cx="0" cy="579933"/>
          </a:xfrm>
          <a:prstGeom prst="line">
            <a:avLst/>
          </a:prstGeom>
          <a:noFill/>
          <a:ln w="12700" cap="flat">
            <a:solidFill>
              <a:srgbClr val="2E2C2C"/>
            </a:solidFill>
            <a:prstDash val="solid"/>
            <a:miter lim="800000"/>
            <a:headEnd type="none" w="med" len="med"/>
            <a:tailEnd type="triangle" w="lg" len="lg"/>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7" name="Line 14"/>
          <p:cNvSpPr>
            <a:spLocks noChangeShapeType="1"/>
          </p:cNvSpPr>
          <p:nvPr/>
        </p:nvSpPr>
        <p:spPr bwMode="auto">
          <a:xfrm flipH="1" flipV="1">
            <a:off x="4221949" y="3504556"/>
            <a:ext cx="606188" cy="196774"/>
          </a:xfrm>
          <a:prstGeom prst="line">
            <a:avLst/>
          </a:prstGeom>
          <a:noFill/>
          <a:ln w="12700" cap="flat">
            <a:solidFill>
              <a:srgbClr val="2E2C2C"/>
            </a:solidFill>
            <a:prstDash val="solid"/>
            <a:miter lim="800000"/>
            <a:headEnd type="none" w="med" len="med"/>
            <a:tailEnd type="triangle" w="lg" len="lg"/>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8" name="Line 15"/>
          <p:cNvSpPr>
            <a:spLocks noChangeShapeType="1"/>
          </p:cNvSpPr>
          <p:nvPr/>
        </p:nvSpPr>
        <p:spPr bwMode="auto">
          <a:xfrm flipH="1">
            <a:off x="4853525" y="4932748"/>
            <a:ext cx="374504" cy="515738"/>
          </a:xfrm>
          <a:prstGeom prst="line">
            <a:avLst/>
          </a:prstGeom>
          <a:noFill/>
          <a:ln w="12700" cap="flat">
            <a:solidFill>
              <a:srgbClr val="2E2C2C"/>
            </a:solidFill>
            <a:prstDash val="solid"/>
            <a:miter lim="800000"/>
            <a:headEnd type="none" w="med" len="med"/>
            <a:tailEnd type="triangle" w="lg" len="lg"/>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9" name="Line 16"/>
          <p:cNvSpPr>
            <a:spLocks noChangeShapeType="1"/>
          </p:cNvSpPr>
          <p:nvPr/>
        </p:nvSpPr>
        <p:spPr bwMode="auto">
          <a:xfrm>
            <a:off x="6519753" y="4932748"/>
            <a:ext cx="372917" cy="515738"/>
          </a:xfrm>
          <a:prstGeom prst="line">
            <a:avLst/>
          </a:prstGeom>
          <a:noFill/>
          <a:ln w="12700" cap="flat">
            <a:solidFill>
              <a:srgbClr val="2E2C2C"/>
            </a:solidFill>
            <a:prstDash val="solid"/>
            <a:miter lim="800000"/>
            <a:headEnd type="none" w="med" len="med"/>
            <a:tailEnd type="triangle" w="lg" len="lg"/>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20" name="TextBox 19"/>
          <p:cNvSpPr txBox="1"/>
          <p:nvPr/>
        </p:nvSpPr>
        <p:spPr>
          <a:xfrm>
            <a:off x="5318281" y="3685011"/>
            <a:ext cx="1218536" cy="646288"/>
          </a:xfrm>
          <a:prstGeom prst="rect">
            <a:avLst/>
          </a:prstGeom>
          <a:noFill/>
        </p:spPr>
        <p:txBody>
          <a:bodyPr wrap="square" lIns="91398" tIns="45699" rIns="91398" bIns="45699" rtlCol="0">
            <a:spAutoFit/>
          </a:bodyPr>
          <a:lstStyle/>
          <a:p>
            <a:pPr algn="ctr"/>
            <a:r>
              <a:rPr lang="zh-CN" altLang="en-US" sz="3600" b="1" dirty="0">
                <a:solidFill>
                  <a:schemeClr val="bg1"/>
                </a:solidFill>
                <a:latin typeface="微软雅黑" panose="020B0503020204020204" pitchFamily="34" charset="-122"/>
                <a:ea typeface="微软雅黑" panose="020B0503020204020204" pitchFamily="34" charset="-122"/>
              </a:rPr>
              <a:t>特点</a:t>
            </a:r>
          </a:p>
        </p:txBody>
      </p:sp>
      <p:sp>
        <p:nvSpPr>
          <p:cNvPr id="23" name="TextBox 22"/>
          <p:cNvSpPr txBox="1"/>
          <p:nvPr/>
        </p:nvSpPr>
        <p:spPr>
          <a:xfrm>
            <a:off x="5480541" y="1521538"/>
            <a:ext cx="793252" cy="646288"/>
          </a:xfrm>
          <a:prstGeom prst="rect">
            <a:avLst/>
          </a:prstGeom>
          <a:noFill/>
        </p:spPr>
        <p:txBody>
          <a:bodyPr wrap="square" lIns="91398" tIns="45699" rIns="91398" bIns="45699" rtlCol="0">
            <a:spAutoFit/>
          </a:bodyPr>
          <a:lstStyle/>
          <a:p>
            <a:pPr algn="ctr"/>
            <a:r>
              <a:rPr lang="en-US" altLang="zh-CN" sz="3600" b="1" dirty="0">
                <a:solidFill>
                  <a:schemeClr val="bg1"/>
                </a:solidFill>
                <a:latin typeface="微软雅黑" panose="020B0503020204020204" pitchFamily="34" charset="-122"/>
                <a:ea typeface="微软雅黑" panose="020B0503020204020204" pitchFamily="34" charset="-122"/>
              </a:rPr>
              <a:t>1</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29" name="TextBox 26"/>
          <p:cNvSpPr txBox="1"/>
          <p:nvPr/>
        </p:nvSpPr>
        <p:spPr>
          <a:xfrm>
            <a:off x="13892011" y="8616491"/>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782207" y="392614"/>
            <a:ext cx="5381601" cy="535531"/>
          </a:xfrm>
          <a:prstGeom prst="rect">
            <a:avLst/>
          </a:prstGeom>
        </p:spPr>
        <p:txBody>
          <a:bodyPr wrap="none">
            <a:spAutoFit/>
          </a:bodyPr>
          <a:lstStyle/>
          <a:p>
            <a:pPr>
              <a:lnSpc>
                <a:spcPct val="90000"/>
              </a:lnSpc>
              <a:spcBef>
                <a:spcPct val="0"/>
              </a:spcBef>
            </a:pPr>
            <a:r>
              <a:rPr lang="en-US" altLang="zh-CN" sz="3200" b="1" dirty="0">
                <a:latin typeface="微软雅黑" panose="020B0503020204020204" pitchFamily="34" charset="-122"/>
                <a:ea typeface="微软雅黑" panose="020B0503020204020204" pitchFamily="34" charset="-122"/>
              </a:rPr>
              <a:t>PCI</a:t>
            </a:r>
            <a:r>
              <a:rPr lang="zh-CN" altLang="en-US" sz="3200" b="1" dirty="0">
                <a:latin typeface="微软雅黑" panose="020B0503020204020204" pitchFamily="34" charset="-122"/>
                <a:ea typeface="微软雅黑" panose="020B0503020204020204" pitchFamily="34" charset="-122"/>
              </a:rPr>
              <a:t>总线主要有以下一些特点</a:t>
            </a:r>
          </a:p>
        </p:txBody>
      </p:sp>
      <p:sp>
        <p:nvSpPr>
          <p:cNvPr id="33" name="TextBox 22"/>
          <p:cNvSpPr txBox="1"/>
          <p:nvPr/>
        </p:nvSpPr>
        <p:spPr>
          <a:xfrm>
            <a:off x="7580570" y="3055042"/>
            <a:ext cx="793252" cy="646288"/>
          </a:xfrm>
          <a:prstGeom prst="rect">
            <a:avLst/>
          </a:prstGeom>
          <a:noFill/>
        </p:spPr>
        <p:txBody>
          <a:bodyPr wrap="square" lIns="91398" tIns="45699" rIns="91398" bIns="45699" rtlCol="0">
            <a:spAutoFit/>
          </a:bodyPr>
          <a:lstStyle/>
          <a:p>
            <a:pPr algn="ctr"/>
            <a:r>
              <a:rPr lang="en-US" altLang="zh-CN" sz="3600" b="1" dirty="0">
                <a:solidFill>
                  <a:schemeClr val="bg1"/>
                </a:solidFill>
                <a:latin typeface="微软雅黑" panose="020B0503020204020204" pitchFamily="34" charset="-122"/>
                <a:ea typeface="微软雅黑" panose="020B0503020204020204" pitchFamily="34" charset="-122"/>
              </a:rPr>
              <a:t>2</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35" name="TextBox 22"/>
          <p:cNvSpPr txBox="1"/>
          <p:nvPr/>
        </p:nvSpPr>
        <p:spPr>
          <a:xfrm>
            <a:off x="6753757" y="5528409"/>
            <a:ext cx="793252" cy="646288"/>
          </a:xfrm>
          <a:prstGeom prst="rect">
            <a:avLst/>
          </a:prstGeom>
          <a:noFill/>
        </p:spPr>
        <p:txBody>
          <a:bodyPr wrap="square" lIns="91398" tIns="45699" rIns="91398" bIns="45699" rtlCol="0">
            <a:spAutoFit/>
          </a:bodyPr>
          <a:lstStyle/>
          <a:p>
            <a:pPr algn="ctr"/>
            <a:r>
              <a:rPr lang="en-US" altLang="zh-CN" sz="3600" b="1" dirty="0">
                <a:solidFill>
                  <a:schemeClr val="bg1"/>
                </a:solidFill>
                <a:latin typeface="微软雅黑" panose="020B0503020204020204" pitchFamily="34" charset="-122"/>
                <a:ea typeface="微软雅黑" panose="020B0503020204020204" pitchFamily="34" charset="-122"/>
              </a:rPr>
              <a:t>3</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36" name="TextBox 22"/>
          <p:cNvSpPr txBox="1"/>
          <p:nvPr/>
        </p:nvSpPr>
        <p:spPr>
          <a:xfrm>
            <a:off x="4141018" y="5560144"/>
            <a:ext cx="793252" cy="646288"/>
          </a:xfrm>
          <a:prstGeom prst="rect">
            <a:avLst/>
          </a:prstGeom>
          <a:noFill/>
        </p:spPr>
        <p:txBody>
          <a:bodyPr wrap="square" lIns="91398" tIns="45699" rIns="91398" bIns="45699" rtlCol="0">
            <a:spAutoFit/>
          </a:bodyPr>
          <a:lstStyle/>
          <a:p>
            <a:pPr algn="ctr"/>
            <a:r>
              <a:rPr lang="en-US" altLang="zh-CN" sz="3600" b="1" dirty="0">
                <a:solidFill>
                  <a:schemeClr val="bg1"/>
                </a:solidFill>
                <a:latin typeface="微软雅黑" panose="020B0503020204020204" pitchFamily="34" charset="-122"/>
                <a:ea typeface="微软雅黑" panose="020B0503020204020204" pitchFamily="34" charset="-122"/>
              </a:rPr>
              <a:t>4</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37" name="TextBox 22"/>
          <p:cNvSpPr txBox="1"/>
          <p:nvPr/>
        </p:nvSpPr>
        <p:spPr>
          <a:xfrm>
            <a:off x="3357210" y="3055042"/>
            <a:ext cx="793252" cy="646288"/>
          </a:xfrm>
          <a:prstGeom prst="rect">
            <a:avLst/>
          </a:prstGeom>
          <a:noFill/>
        </p:spPr>
        <p:txBody>
          <a:bodyPr wrap="square" lIns="91398" tIns="45699" rIns="91398" bIns="45699" rtlCol="0">
            <a:spAutoFit/>
          </a:bodyPr>
          <a:lstStyle/>
          <a:p>
            <a:pPr algn="ctr"/>
            <a:r>
              <a:rPr lang="en-US" altLang="zh-CN" sz="3600" b="1" dirty="0">
                <a:solidFill>
                  <a:schemeClr val="bg1"/>
                </a:solidFill>
                <a:latin typeface="微软雅黑" panose="020B0503020204020204" pitchFamily="34" charset="-122"/>
                <a:ea typeface="微软雅黑" panose="020B0503020204020204" pitchFamily="34" charset="-122"/>
              </a:rPr>
              <a:t>5</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3" name="矩形 2"/>
          <p:cNvSpPr/>
          <p:nvPr/>
        </p:nvSpPr>
        <p:spPr>
          <a:xfrm>
            <a:off x="4288229" y="871952"/>
            <a:ext cx="2906565" cy="523220"/>
          </a:xfrm>
          <a:prstGeom prst="rect">
            <a:avLst/>
          </a:prstGeom>
        </p:spPr>
        <p:txBody>
          <a:bodyPr wrap="none">
            <a:spAutoFit/>
          </a:bodyPr>
          <a:lstStyle/>
          <a:p>
            <a:pPr lvl="1"/>
            <a:r>
              <a:rPr lang="zh-CN" altLang="en-US" sz="2800" b="1" dirty="0">
                <a:latin typeface="微软雅黑" panose="020B0503020204020204" pitchFamily="34" charset="-122"/>
                <a:ea typeface="微软雅黑" panose="020B0503020204020204" pitchFamily="34" charset="-122"/>
              </a:rPr>
              <a:t>数据传输率高 </a:t>
            </a:r>
          </a:p>
        </p:txBody>
      </p:sp>
      <p:sp>
        <p:nvSpPr>
          <p:cNvPr id="4" name="矩形 3"/>
          <p:cNvSpPr/>
          <p:nvPr/>
        </p:nvSpPr>
        <p:spPr>
          <a:xfrm>
            <a:off x="8121698" y="3052924"/>
            <a:ext cx="2800767" cy="523220"/>
          </a:xfrm>
          <a:prstGeom prst="rect">
            <a:avLst/>
          </a:prstGeom>
        </p:spPr>
        <p:txBody>
          <a:bodyPr wrap="none">
            <a:spAutoFit/>
          </a:bodyPr>
          <a:lstStyle/>
          <a:p>
            <a:pPr lvl="1"/>
            <a:r>
              <a:rPr lang="zh-CN" altLang="en-US" sz="2800" b="1" dirty="0">
                <a:latin typeface="微软雅黑" panose="020B0503020204020204" pitchFamily="34" charset="-122"/>
                <a:ea typeface="微软雅黑" panose="020B0503020204020204" pitchFamily="34" charset="-122"/>
              </a:rPr>
              <a:t>支持猝发传输</a:t>
            </a:r>
            <a:endParaRPr lang="en-US" altLang="zh-CN" sz="2800" b="1" dirty="0">
              <a:latin typeface="微软雅黑" panose="020B0503020204020204" pitchFamily="34" charset="-122"/>
              <a:ea typeface="微软雅黑" panose="020B0503020204020204" pitchFamily="34" charset="-122"/>
            </a:endParaRPr>
          </a:p>
        </p:txBody>
      </p:sp>
      <p:sp>
        <p:nvSpPr>
          <p:cNvPr id="21" name="矩形 20"/>
          <p:cNvSpPr/>
          <p:nvPr/>
        </p:nvSpPr>
        <p:spPr>
          <a:xfrm>
            <a:off x="7315860" y="5711432"/>
            <a:ext cx="2800767" cy="523220"/>
          </a:xfrm>
          <a:prstGeom prst="rect">
            <a:avLst/>
          </a:prstGeom>
        </p:spPr>
        <p:txBody>
          <a:bodyPr wrap="none">
            <a:spAutoFit/>
          </a:bodyPr>
          <a:lstStyle/>
          <a:p>
            <a:pPr lvl="1"/>
            <a:r>
              <a:rPr lang="zh-CN" altLang="en-US" sz="2800" b="1" dirty="0">
                <a:latin typeface="微软雅黑" panose="020B0503020204020204" pitchFamily="34" charset="-122"/>
                <a:ea typeface="微软雅黑" panose="020B0503020204020204" pitchFamily="34" charset="-122"/>
              </a:rPr>
              <a:t>支持多主设备</a:t>
            </a:r>
          </a:p>
        </p:txBody>
      </p:sp>
      <p:sp>
        <p:nvSpPr>
          <p:cNvPr id="22" name="矩形 21"/>
          <p:cNvSpPr/>
          <p:nvPr/>
        </p:nvSpPr>
        <p:spPr>
          <a:xfrm>
            <a:off x="855885" y="5772691"/>
            <a:ext cx="2800767" cy="523220"/>
          </a:xfrm>
          <a:prstGeom prst="rect">
            <a:avLst/>
          </a:prstGeom>
        </p:spPr>
        <p:txBody>
          <a:bodyPr wrap="none">
            <a:spAutoFit/>
          </a:bodyPr>
          <a:lstStyle/>
          <a:p>
            <a:pPr lvl="1"/>
            <a:r>
              <a:rPr lang="zh-CN" altLang="en-US" sz="2800" b="1" dirty="0">
                <a:latin typeface="微软雅黑" panose="020B0503020204020204" pitchFamily="34" charset="-122"/>
                <a:ea typeface="微软雅黑" panose="020B0503020204020204" pitchFamily="34" charset="-122"/>
              </a:rPr>
              <a:t>独立于处理器</a:t>
            </a:r>
          </a:p>
        </p:txBody>
      </p:sp>
      <p:sp>
        <p:nvSpPr>
          <p:cNvPr id="38" name="矩形 37"/>
          <p:cNvSpPr/>
          <p:nvPr/>
        </p:nvSpPr>
        <p:spPr>
          <a:xfrm>
            <a:off x="358434" y="3052924"/>
            <a:ext cx="2800767" cy="523220"/>
          </a:xfrm>
          <a:prstGeom prst="rect">
            <a:avLst/>
          </a:prstGeom>
        </p:spPr>
        <p:txBody>
          <a:bodyPr wrap="none">
            <a:spAutoFit/>
          </a:bodyPr>
          <a:lstStyle/>
          <a:p>
            <a:pPr lvl="1"/>
            <a:r>
              <a:rPr lang="zh-CN" altLang="en-US" sz="2800" b="1" dirty="0">
                <a:latin typeface="微软雅黑" panose="020B0503020204020204" pitchFamily="34" charset="-122"/>
                <a:ea typeface="微软雅黑" panose="020B0503020204020204" pitchFamily="34" charset="-122"/>
              </a:rPr>
              <a:t>支持即插即用</a:t>
            </a:r>
            <a:endParaRPr lang="en-US" altLang="zh-CN"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58828484"/>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5"/>
          <p:cNvSpPr>
            <a:spLocks noChangeArrowheads="1"/>
          </p:cNvSpPr>
          <p:nvPr/>
        </p:nvSpPr>
        <p:spPr bwMode="auto">
          <a:xfrm>
            <a:off x="816338" y="1684195"/>
            <a:ext cx="1573899" cy="1563688"/>
          </a:xfrm>
          <a:prstGeom prst="ellipse">
            <a:avLst/>
          </a:prstGeom>
          <a:solidFill>
            <a:srgbClr val="04B0BE"/>
          </a:solidFill>
          <a:ln w="38100" cap="flat">
            <a:solidFill>
              <a:srgbClr val="04B0BE"/>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9" name="Oval 6"/>
          <p:cNvSpPr>
            <a:spLocks noChangeArrowheads="1"/>
          </p:cNvSpPr>
          <p:nvPr/>
        </p:nvSpPr>
        <p:spPr bwMode="auto">
          <a:xfrm>
            <a:off x="9787066" y="3825153"/>
            <a:ext cx="1573899" cy="1563688"/>
          </a:xfrm>
          <a:prstGeom prst="ellipse">
            <a:avLst/>
          </a:prstGeom>
          <a:solidFill>
            <a:srgbClr val="FFC000"/>
          </a:solidFill>
          <a:ln w="38100" cap="flat">
            <a:solidFill>
              <a:srgbClr val="FFC000"/>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10"/>
          <p:cNvSpPr>
            <a:spLocks noEditPoints="1"/>
          </p:cNvSpPr>
          <p:nvPr/>
        </p:nvSpPr>
        <p:spPr bwMode="auto">
          <a:xfrm>
            <a:off x="2481968" y="2292701"/>
            <a:ext cx="365303" cy="362962"/>
          </a:xfrm>
          <a:custGeom>
            <a:avLst/>
            <a:gdLst>
              <a:gd name="T0" fmla="*/ 173 w 346"/>
              <a:gd name="T1" fmla="*/ 0 h 346"/>
              <a:gd name="T2" fmla="*/ 346 w 346"/>
              <a:gd name="T3" fmla="*/ 173 h 346"/>
              <a:gd name="T4" fmla="*/ 173 w 346"/>
              <a:gd name="T5" fmla="*/ 346 h 346"/>
              <a:gd name="T6" fmla="*/ 0 w 346"/>
              <a:gd name="T7" fmla="*/ 173 h 346"/>
              <a:gd name="T8" fmla="*/ 173 w 346"/>
              <a:gd name="T9" fmla="*/ 0 h 346"/>
              <a:gd name="T10" fmla="*/ 277 w 346"/>
              <a:gd name="T11" fmla="*/ 176 h 346"/>
              <a:gd name="T12" fmla="*/ 204 w 346"/>
              <a:gd name="T13" fmla="*/ 218 h 346"/>
              <a:gd name="T14" fmla="*/ 131 w 346"/>
              <a:gd name="T15" fmla="*/ 260 h 346"/>
              <a:gd name="T16" fmla="*/ 131 w 346"/>
              <a:gd name="T17" fmla="*/ 176 h 346"/>
              <a:gd name="T18" fmla="*/ 131 w 346"/>
              <a:gd name="T19" fmla="*/ 92 h 346"/>
              <a:gd name="T20" fmla="*/ 204 w 346"/>
              <a:gd name="T21" fmla="*/ 134 h 346"/>
              <a:gd name="T22" fmla="*/ 277 w 346"/>
              <a:gd name="T23" fmla="*/ 17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268" y="0"/>
                  <a:pt x="346" y="77"/>
                  <a:pt x="346" y="173"/>
                </a:cubicBezTo>
                <a:cubicBezTo>
                  <a:pt x="346" y="268"/>
                  <a:pt x="268" y="346"/>
                  <a:pt x="173" y="346"/>
                </a:cubicBezTo>
                <a:cubicBezTo>
                  <a:pt x="77" y="346"/>
                  <a:pt x="0" y="268"/>
                  <a:pt x="0" y="173"/>
                </a:cubicBezTo>
                <a:cubicBezTo>
                  <a:pt x="0" y="77"/>
                  <a:pt x="77" y="0"/>
                  <a:pt x="173" y="0"/>
                </a:cubicBezTo>
                <a:close/>
                <a:moveTo>
                  <a:pt x="277" y="176"/>
                </a:moveTo>
                <a:lnTo>
                  <a:pt x="204" y="218"/>
                </a:lnTo>
                <a:lnTo>
                  <a:pt x="131" y="260"/>
                </a:lnTo>
                <a:lnTo>
                  <a:pt x="131" y="176"/>
                </a:lnTo>
                <a:lnTo>
                  <a:pt x="131" y="92"/>
                </a:lnTo>
                <a:lnTo>
                  <a:pt x="204" y="134"/>
                </a:lnTo>
                <a:lnTo>
                  <a:pt x="277" y="176"/>
                </a:lnTo>
                <a:close/>
              </a:path>
            </a:pathLst>
          </a:custGeom>
          <a:solidFill>
            <a:srgbClr val="04B0BE"/>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11"/>
          <p:cNvSpPr>
            <a:spLocks noEditPoints="1"/>
          </p:cNvSpPr>
          <p:nvPr/>
        </p:nvSpPr>
        <p:spPr bwMode="auto">
          <a:xfrm>
            <a:off x="9342582" y="4403269"/>
            <a:ext cx="365303" cy="362962"/>
          </a:xfrm>
          <a:custGeom>
            <a:avLst/>
            <a:gdLst>
              <a:gd name="T0" fmla="*/ 173 w 346"/>
              <a:gd name="T1" fmla="*/ 0 h 346"/>
              <a:gd name="T2" fmla="*/ 0 w 346"/>
              <a:gd name="T3" fmla="*/ 173 h 346"/>
              <a:gd name="T4" fmla="*/ 173 w 346"/>
              <a:gd name="T5" fmla="*/ 346 h 346"/>
              <a:gd name="T6" fmla="*/ 346 w 346"/>
              <a:gd name="T7" fmla="*/ 173 h 346"/>
              <a:gd name="T8" fmla="*/ 173 w 346"/>
              <a:gd name="T9" fmla="*/ 0 h 346"/>
              <a:gd name="T10" fmla="*/ 69 w 346"/>
              <a:gd name="T11" fmla="*/ 177 h 346"/>
              <a:gd name="T12" fmla="*/ 142 w 346"/>
              <a:gd name="T13" fmla="*/ 219 h 346"/>
              <a:gd name="T14" fmla="*/ 215 w 346"/>
              <a:gd name="T15" fmla="*/ 261 h 346"/>
              <a:gd name="T16" fmla="*/ 215 w 346"/>
              <a:gd name="T17" fmla="*/ 177 h 346"/>
              <a:gd name="T18" fmla="*/ 215 w 346"/>
              <a:gd name="T19" fmla="*/ 93 h 346"/>
              <a:gd name="T20" fmla="*/ 142 w 346"/>
              <a:gd name="T21" fmla="*/ 135 h 346"/>
              <a:gd name="T22" fmla="*/ 69 w 346"/>
              <a:gd name="T23" fmla="*/ 177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78" y="0"/>
                  <a:pt x="0" y="78"/>
                  <a:pt x="0" y="173"/>
                </a:cubicBezTo>
                <a:cubicBezTo>
                  <a:pt x="0" y="269"/>
                  <a:pt x="78" y="346"/>
                  <a:pt x="173" y="346"/>
                </a:cubicBezTo>
                <a:cubicBezTo>
                  <a:pt x="269" y="346"/>
                  <a:pt x="346" y="269"/>
                  <a:pt x="346" y="173"/>
                </a:cubicBezTo>
                <a:cubicBezTo>
                  <a:pt x="346" y="78"/>
                  <a:pt x="269" y="0"/>
                  <a:pt x="173" y="0"/>
                </a:cubicBezTo>
                <a:close/>
                <a:moveTo>
                  <a:pt x="69" y="177"/>
                </a:moveTo>
                <a:lnTo>
                  <a:pt x="142" y="219"/>
                </a:lnTo>
                <a:lnTo>
                  <a:pt x="215" y="261"/>
                </a:lnTo>
                <a:lnTo>
                  <a:pt x="215" y="177"/>
                </a:lnTo>
                <a:lnTo>
                  <a:pt x="215" y="93"/>
                </a:lnTo>
                <a:lnTo>
                  <a:pt x="142" y="135"/>
                </a:lnTo>
                <a:lnTo>
                  <a:pt x="69" y="177"/>
                </a:lnTo>
                <a:close/>
              </a:path>
            </a:pathLst>
          </a:cu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4" name="TextBox 13"/>
          <p:cNvSpPr txBox="1"/>
          <p:nvPr/>
        </p:nvSpPr>
        <p:spPr>
          <a:xfrm flipH="1">
            <a:off x="1052775" y="2004555"/>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01</a:t>
            </a:r>
          </a:p>
        </p:txBody>
      </p:sp>
      <p:sp>
        <p:nvSpPr>
          <p:cNvPr id="15" name="TextBox 14"/>
          <p:cNvSpPr txBox="1"/>
          <p:nvPr/>
        </p:nvSpPr>
        <p:spPr>
          <a:xfrm flipH="1">
            <a:off x="10031954" y="4145513"/>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02</a:t>
            </a:r>
          </a:p>
        </p:txBody>
      </p:sp>
      <p:sp>
        <p:nvSpPr>
          <p:cNvPr id="23" name="TextBox 26"/>
          <p:cNvSpPr txBox="1"/>
          <p:nvPr/>
        </p:nvSpPr>
        <p:spPr>
          <a:xfrm>
            <a:off x="14119357" y="8127985"/>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3130070" y="1811589"/>
            <a:ext cx="8213094" cy="1384995"/>
          </a:xfrm>
          <a:prstGeom prst="rect">
            <a:avLst/>
          </a:prstGeom>
        </p:spPr>
        <p:txBody>
          <a:bodyPr wrap="square">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PCI</a:t>
            </a:r>
            <a:r>
              <a:rPr lang="zh-CN" altLang="en-US" sz="2800" b="1" dirty="0">
                <a:latin typeface="微软雅黑" panose="020B0503020204020204" pitchFamily="34" charset="-122"/>
                <a:ea typeface="微软雅黑" panose="020B0503020204020204" pitchFamily="34" charset="-122"/>
              </a:rPr>
              <a:t>总线的系统结构：支持多总线结构，允许</a:t>
            </a:r>
            <a:r>
              <a:rPr lang="en-US" altLang="zh-CN" sz="2800" b="1" dirty="0">
                <a:latin typeface="微软雅黑" panose="020B0503020204020204" pitchFamily="34" charset="-122"/>
                <a:ea typeface="微软雅黑" panose="020B0503020204020204" pitchFamily="34" charset="-122"/>
              </a:rPr>
              <a:t>PCI</a:t>
            </a:r>
            <a:r>
              <a:rPr lang="zh-CN" altLang="en-US" sz="2800" b="1" dirty="0">
                <a:latin typeface="微软雅黑" panose="020B0503020204020204" pitchFamily="34" charset="-122"/>
                <a:ea typeface="微软雅黑" panose="020B0503020204020204" pitchFamily="34" charset="-122"/>
              </a:rPr>
              <a:t>总线和</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总线及其它总线在同一个机器系统中并存。</a:t>
            </a:r>
          </a:p>
        </p:txBody>
      </p:sp>
      <p:sp>
        <p:nvSpPr>
          <p:cNvPr id="3" name="矩形 2"/>
          <p:cNvSpPr/>
          <p:nvPr/>
        </p:nvSpPr>
        <p:spPr>
          <a:xfrm>
            <a:off x="816338" y="4145513"/>
            <a:ext cx="11749274" cy="738664"/>
          </a:xfrm>
          <a:prstGeom prst="rect">
            <a:avLst/>
          </a:prstGeom>
        </p:spPr>
        <p:txBody>
          <a:bodyPr wrap="square">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PCI</a:t>
            </a:r>
            <a:r>
              <a:rPr lang="zh-CN" altLang="en-US" sz="2800" b="1" dirty="0">
                <a:latin typeface="微软雅黑" panose="020B0503020204020204" pitchFamily="34" charset="-122"/>
                <a:ea typeface="微软雅黑" panose="020B0503020204020204" pitchFamily="34" charset="-122"/>
              </a:rPr>
              <a:t>总线和</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总线及其它总线之间通过“桥”互连。</a:t>
            </a:r>
          </a:p>
        </p:txBody>
      </p:sp>
    </p:spTree>
    <p:extLst>
      <p:ext uri="{BB962C8B-B14F-4D97-AF65-F5344CB8AC3E}">
        <p14:creationId xmlns:p14="http://schemas.microsoft.com/office/powerpoint/2010/main" val="241440629"/>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6"/>
          <p:cNvSpPr>
            <a:spLocks noChangeArrowheads="1"/>
          </p:cNvSpPr>
          <p:nvPr/>
        </p:nvSpPr>
        <p:spPr bwMode="auto">
          <a:xfrm>
            <a:off x="1524001" y="17584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graphicFrame>
        <p:nvGraphicFramePr>
          <p:cNvPr id="11268" name="Object 5"/>
          <p:cNvGraphicFramePr>
            <a:graphicFrameLocks noChangeAspect="1"/>
          </p:cNvGraphicFramePr>
          <p:nvPr>
            <p:extLst>
              <p:ext uri="{D42A27DB-BD31-4B8C-83A1-F6EECF244321}">
                <p14:modId xmlns:p14="http://schemas.microsoft.com/office/powerpoint/2010/main" val="353093703"/>
              </p:ext>
            </p:extLst>
          </p:nvPr>
        </p:nvGraphicFramePr>
        <p:xfrm>
          <a:off x="1390680" y="755375"/>
          <a:ext cx="9568868" cy="5419864"/>
        </p:xfrm>
        <a:graphic>
          <a:graphicData uri="http://schemas.openxmlformats.org/presentationml/2006/ole">
            <mc:AlternateContent xmlns:mc="http://schemas.openxmlformats.org/markup-compatibility/2006">
              <mc:Choice xmlns:v="urn:schemas-microsoft-com:vml" Requires="v">
                <p:oleObj spid="_x0000_s1040" name="Visio" r:id="rId3" imgW="4538265" imgH="2968805" progId="Visio.Drawing.11">
                  <p:embed/>
                </p:oleObj>
              </mc:Choice>
              <mc:Fallback>
                <p:oleObj name="Visio" r:id="rId3" imgW="4538265" imgH="2968805" progId="Visio.Drawing.11">
                  <p:embed/>
                  <p:pic>
                    <p:nvPicPr>
                      <p:cNvPr id="11268"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0680" y="755375"/>
                        <a:ext cx="9568868" cy="541986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494794129"/>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707937" y="285009"/>
            <a:ext cx="5974331" cy="535489"/>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nSpc>
                <a:spcPct val="90000"/>
              </a:lnSpc>
              <a:spcBef>
                <a:spcPct val="0"/>
              </a:spcBef>
            </a:pPr>
            <a:r>
              <a:rPr lang="zh-CN" altLang="en-US" b="1" dirty="0">
                <a:solidFill>
                  <a:schemeClr val="tx1"/>
                </a:solidFill>
                <a:latin typeface="微软雅黑" panose="020B0503020204020204" pitchFamily="34" charset="-122"/>
                <a:ea typeface="微软雅黑" panose="020B0503020204020204" pitchFamily="34" charset="-122"/>
              </a:rPr>
              <a:t>外部总线接口</a:t>
            </a:r>
          </a:p>
        </p:txBody>
      </p:sp>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Freeform 5"/>
          <p:cNvSpPr>
            <a:spLocks/>
          </p:cNvSpPr>
          <p:nvPr/>
        </p:nvSpPr>
        <p:spPr bwMode="auto">
          <a:xfrm>
            <a:off x="1186989" y="1413566"/>
            <a:ext cx="304681" cy="4308380"/>
          </a:xfrm>
          <a:custGeom>
            <a:avLst/>
            <a:gdLst>
              <a:gd name="T0" fmla="*/ 175 w 351"/>
              <a:gd name="T1" fmla="*/ 0 h 4948"/>
              <a:gd name="T2" fmla="*/ 175 w 351"/>
              <a:gd name="T3" fmla="*/ 0 h 4948"/>
              <a:gd name="T4" fmla="*/ 351 w 351"/>
              <a:gd name="T5" fmla="*/ 176 h 4948"/>
              <a:gd name="T6" fmla="*/ 351 w 351"/>
              <a:gd name="T7" fmla="*/ 4772 h 4948"/>
              <a:gd name="T8" fmla="*/ 175 w 351"/>
              <a:gd name="T9" fmla="*/ 4948 h 4948"/>
              <a:gd name="T10" fmla="*/ 175 w 351"/>
              <a:gd name="T11" fmla="*/ 4948 h 4948"/>
              <a:gd name="T12" fmla="*/ 0 w 351"/>
              <a:gd name="T13" fmla="*/ 4772 h 4948"/>
              <a:gd name="T14" fmla="*/ 0 w 351"/>
              <a:gd name="T15" fmla="*/ 176 h 4948"/>
              <a:gd name="T16" fmla="*/ 175 w 351"/>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948">
                <a:moveTo>
                  <a:pt x="175" y="0"/>
                </a:moveTo>
                <a:lnTo>
                  <a:pt x="175" y="0"/>
                </a:lnTo>
                <a:cubicBezTo>
                  <a:pt x="272" y="0"/>
                  <a:pt x="351" y="79"/>
                  <a:pt x="351" y="176"/>
                </a:cubicBezTo>
                <a:lnTo>
                  <a:pt x="351" y="4772"/>
                </a:lnTo>
                <a:cubicBezTo>
                  <a:pt x="351" y="4869"/>
                  <a:pt x="272" y="4948"/>
                  <a:pt x="175" y="4948"/>
                </a:cubicBezTo>
                <a:lnTo>
                  <a:pt x="175" y="4948"/>
                </a:lnTo>
                <a:cubicBezTo>
                  <a:pt x="79" y="4948"/>
                  <a:pt x="0" y="4869"/>
                  <a:pt x="0" y="4772"/>
                </a:cubicBezTo>
                <a:lnTo>
                  <a:pt x="0" y="176"/>
                </a:lnTo>
                <a:cubicBezTo>
                  <a:pt x="0" y="79"/>
                  <a:pt x="79" y="0"/>
                  <a:pt x="175"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6"/>
          <p:cNvSpPr>
            <a:spLocks/>
          </p:cNvSpPr>
          <p:nvPr/>
        </p:nvSpPr>
        <p:spPr bwMode="auto">
          <a:xfrm>
            <a:off x="1186989" y="1892805"/>
            <a:ext cx="304681" cy="3829143"/>
          </a:xfrm>
          <a:custGeom>
            <a:avLst/>
            <a:gdLst>
              <a:gd name="T0" fmla="*/ 175 w 351"/>
              <a:gd name="T1" fmla="*/ 0 h 4397"/>
              <a:gd name="T2" fmla="*/ 175 w 351"/>
              <a:gd name="T3" fmla="*/ 0 h 4397"/>
              <a:gd name="T4" fmla="*/ 351 w 351"/>
              <a:gd name="T5" fmla="*/ 143 h 4397"/>
              <a:gd name="T6" fmla="*/ 351 w 351"/>
              <a:gd name="T7" fmla="*/ 4254 h 4397"/>
              <a:gd name="T8" fmla="*/ 175 w 351"/>
              <a:gd name="T9" fmla="*/ 4397 h 4397"/>
              <a:gd name="T10" fmla="*/ 175 w 351"/>
              <a:gd name="T11" fmla="*/ 4397 h 4397"/>
              <a:gd name="T12" fmla="*/ 0 w 351"/>
              <a:gd name="T13" fmla="*/ 4254 h 4397"/>
              <a:gd name="T14" fmla="*/ 0 w 351"/>
              <a:gd name="T15" fmla="*/ 143 h 4397"/>
              <a:gd name="T16" fmla="*/ 175 w 351"/>
              <a:gd name="T17" fmla="*/ 0 h 4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397">
                <a:moveTo>
                  <a:pt x="175" y="0"/>
                </a:moveTo>
                <a:lnTo>
                  <a:pt x="175" y="0"/>
                </a:lnTo>
                <a:cubicBezTo>
                  <a:pt x="272" y="0"/>
                  <a:pt x="351" y="64"/>
                  <a:pt x="351" y="143"/>
                </a:cubicBezTo>
                <a:lnTo>
                  <a:pt x="351" y="4254"/>
                </a:lnTo>
                <a:cubicBezTo>
                  <a:pt x="351" y="4332"/>
                  <a:pt x="272" y="4397"/>
                  <a:pt x="175" y="4397"/>
                </a:cubicBezTo>
                <a:lnTo>
                  <a:pt x="175" y="4397"/>
                </a:lnTo>
                <a:cubicBezTo>
                  <a:pt x="79" y="4397"/>
                  <a:pt x="0" y="4332"/>
                  <a:pt x="0" y="4254"/>
                </a:cubicBezTo>
                <a:lnTo>
                  <a:pt x="0" y="143"/>
                </a:lnTo>
                <a:cubicBezTo>
                  <a:pt x="0" y="64"/>
                  <a:pt x="79" y="0"/>
                  <a:pt x="175" y="0"/>
                </a:cubicBezTo>
                <a:close/>
              </a:path>
            </a:pathLst>
          </a:custGeom>
          <a:solidFill>
            <a:srgbClr val="00A3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0" name="Oval 7"/>
          <p:cNvSpPr>
            <a:spLocks noChangeArrowheads="1"/>
          </p:cNvSpPr>
          <p:nvPr/>
        </p:nvSpPr>
        <p:spPr bwMode="auto">
          <a:xfrm>
            <a:off x="1056865" y="5353789"/>
            <a:ext cx="585559" cy="585559"/>
          </a:xfrm>
          <a:prstGeom prst="ellipse">
            <a:avLst/>
          </a:prstGeom>
          <a:solidFill>
            <a:srgbClr val="00A3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8"/>
          <p:cNvSpPr>
            <a:spLocks/>
          </p:cNvSpPr>
          <p:nvPr/>
        </p:nvSpPr>
        <p:spPr bwMode="auto">
          <a:xfrm>
            <a:off x="2361453" y="1413566"/>
            <a:ext cx="306268" cy="4308380"/>
          </a:xfrm>
          <a:custGeom>
            <a:avLst/>
            <a:gdLst>
              <a:gd name="T0" fmla="*/ 175 w 351"/>
              <a:gd name="T1" fmla="*/ 0 h 4948"/>
              <a:gd name="T2" fmla="*/ 175 w 351"/>
              <a:gd name="T3" fmla="*/ 0 h 4948"/>
              <a:gd name="T4" fmla="*/ 351 w 351"/>
              <a:gd name="T5" fmla="*/ 176 h 4948"/>
              <a:gd name="T6" fmla="*/ 351 w 351"/>
              <a:gd name="T7" fmla="*/ 4772 h 4948"/>
              <a:gd name="T8" fmla="*/ 175 w 351"/>
              <a:gd name="T9" fmla="*/ 4948 h 4948"/>
              <a:gd name="T10" fmla="*/ 175 w 351"/>
              <a:gd name="T11" fmla="*/ 4948 h 4948"/>
              <a:gd name="T12" fmla="*/ 0 w 351"/>
              <a:gd name="T13" fmla="*/ 4772 h 4948"/>
              <a:gd name="T14" fmla="*/ 0 w 351"/>
              <a:gd name="T15" fmla="*/ 176 h 4948"/>
              <a:gd name="T16" fmla="*/ 175 w 351"/>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948">
                <a:moveTo>
                  <a:pt x="175" y="0"/>
                </a:moveTo>
                <a:lnTo>
                  <a:pt x="175" y="0"/>
                </a:lnTo>
                <a:cubicBezTo>
                  <a:pt x="272" y="0"/>
                  <a:pt x="351" y="79"/>
                  <a:pt x="351" y="176"/>
                </a:cubicBezTo>
                <a:lnTo>
                  <a:pt x="351" y="4772"/>
                </a:lnTo>
                <a:cubicBezTo>
                  <a:pt x="351" y="4869"/>
                  <a:pt x="272" y="4948"/>
                  <a:pt x="175" y="4948"/>
                </a:cubicBezTo>
                <a:lnTo>
                  <a:pt x="175" y="4948"/>
                </a:lnTo>
                <a:cubicBezTo>
                  <a:pt x="79" y="4948"/>
                  <a:pt x="0" y="4869"/>
                  <a:pt x="0" y="4772"/>
                </a:cubicBezTo>
                <a:lnTo>
                  <a:pt x="0" y="176"/>
                </a:lnTo>
                <a:cubicBezTo>
                  <a:pt x="0" y="79"/>
                  <a:pt x="79" y="0"/>
                  <a:pt x="175"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9"/>
          <p:cNvSpPr>
            <a:spLocks/>
          </p:cNvSpPr>
          <p:nvPr/>
        </p:nvSpPr>
        <p:spPr bwMode="auto">
          <a:xfrm>
            <a:off x="2361453" y="2389499"/>
            <a:ext cx="306268" cy="3332449"/>
          </a:xfrm>
          <a:custGeom>
            <a:avLst/>
            <a:gdLst>
              <a:gd name="T0" fmla="*/ 175 w 351"/>
              <a:gd name="T1" fmla="*/ 0 h 3828"/>
              <a:gd name="T2" fmla="*/ 175 w 351"/>
              <a:gd name="T3" fmla="*/ 0 h 3828"/>
              <a:gd name="T4" fmla="*/ 351 w 351"/>
              <a:gd name="T5" fmla="*/ 124 h 3828"/>
              <a:gd name="T6" fmla="*/ 351 w 351"/>
              <a:gd name="T7" fmla="*/ 3703 h 3828"/>
              <a:gd name="T8" fmla="*/ 175 w 351"/>
              <a:gd name="T9" fmla="*/ 3828 h 3828"/>
              <a:gd name="T10" fmla="*/ 175 w 351"/>
              <a:gd name="T11" fmla="*/ 3828 h 3828"/>
              <a:gd name="T12" fmla="*/ 0 w 351"/>
              <a:gd name="T13" fmla="*/ 3703 h 3828"/>
              <a:gd name="T14" fmla="*/ 0 w 351"/>
              <a:gd name="T15" fmla="*/ 124 h 3828"/>
              <a:gd name="T16" fmla="*/ 175 w 351"/>
              <a:gd name="T17" fmla="*/ 0 h 3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3828">
                <a:moveTo>
                  <a:pt x="175" y="0"/>
                </a:moveTo>
                <a:lnTo>
                  <a:pt x="175" y="0"/>
                </a:lnTo>
                <a:cubicBezTo>
                  <a:pt x="272" y="0"/>
                  <a:pt x="351" y="56"/>
                  <a:pt x="351" y="124"/>
                </a:cubicBezTo>
                <a:lnTo>
                  <a:pt x="351" y="3703"/>
                </a:lnTo>
                <a:cubicBezTo>
                  <a:pt x="351" y="3772"/>
                  <a:pt x="272" y="3828"/>
                  <a:pt x="175" y="3828"/>
                </a:cubicBezTo>
                <a:lnTo>
                  <a:pt x="175" y="3828"/>
                </a:lnTo>
                <a:cubicBezTo>
                  <a:pt x="79" y="3828"/>
                  <a:pt x="0" y="3772"/>
                  <a:pt x="0" y="3703"/>
                </a:cubicBezTo>
                <a:lnTo>
                  <a:pt x="0" y="124"/>
                </a:lnTo>
                <a:cubicBezTo>
                  <a:pt x="0" y="56"/>
                  <a:pt x="79" y="0"/>
                  <a:pt x="175" y="0"/>
                </a:cubicBezTo>
                <a:close/>
              </a:path>
            </a:pathLst>
          </a:custGeom>
          <a:solidFill>
            <a:srgbClr val="93CA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3" name="Oval 10"/>
          <p:cNvSpPr>
            <a:spLocks noChangeArrowheads="1"/>
          </p:cNvSpPr>
          <p:nvPr/>
        </p:nvSpPr>
        <p:spPr bwMode="auto">
          <a:xfrm>
            <a:off x="2231329" y="5353789"/>
            <a:ext cx="585559" cy="585559"/>
          </a:xfrm>
          <a:prstGeom prst="ellipse">
            <a:avLst/>
          </a:prstGeom>
          <a:solidFill>
            <a:srgbClr val="93CA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4" name="Freeform 11"/>
          <p:cNvSpPr>
            <a:spLocks/>
          </p:cNvSpPr>
          <p:nvPr/>
        </p:nvSpPr>
        <p:spPr bwMode="auto">
          <a:xfrm>
            <a:off x="3461731" y="1413566"/>
            <a:ext cx="306268" cy="4308380"/>
          </a:xfrm>
          <a:custGeom>
            <a:avLst/>
            <a:gdLst>
              <a:gd name="T0" fmla="*/ 175 w 351"/>
              <a:gd name="T1" fmla="*/ 0 h 4948"/>
              <a:gd name="T2" fmla="*/ 175 w 351"/>
              <a:gd name="T3" fmla="*/ 0 h 4948"/>
              <a:gd name="T4" fmla="*/ 351 w 351"/>
              <a:gd name="T5" fmla="*/ 176 h 4948"/>
              <a:gd name="T6" fmla="*/ 351 w 351"/>
              <a:gd name="T7" fmla="*/ 4772 h 4948"/>
              <a:gd name="T8" fmla="*/ 175 w 351"/>
              <a:gd name="T9" fmla="*/ 4948 h 4948"/>
              <a:gd name="T10" fmla="*/ 175 w 351"/>
              <a:gd name="T11" fmla="*/ 4948 h 4948"/>
              <a:gd name="T12" fmla="*/ 0 w 351"/>
              <a:gd name="T13" fmla="*/ 4772 h 4948"/>
              <a:gd name="T14" fmla="*/ 0 w 351"/>
              <a:gd name="T15" fmla="*/ 176 h 4948"/>
              <a:gd name="T16" fmla="*/ 175 w 351"/>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948">
                <a:moveTo>
                  <a:pt x="175" y="0"/>
                </a:moveTo>
                <a:lnTo>
                  <a:pt x="175" y="0"/>
                </a:lnTo>
                <a:cubicBezTo>
                  <a:pt x="272" y="0"/>
                  <a:pt x="351" y="79"/>
                  <a:pt x="351" y="176"/>
                </a:cubicBezTo>
                <a:lnTo>
                  <a:pt x="351" y="4772"/>
                </a:lnTo>
                <a:cubicBezTo>
                  <a:pt x="351" y="4869"/>
                  <a:pt x="272" y="4948"/>
                  <a:pt x="175" y="4948"/>
                </a:cubicBezTo>
                <a:lnTo>
                  <a:pt x="175" y="4948"/>
                </a:lnTo>
                <a:cubicBezTo>
                  <a:pt x="79" y="4948"/>
                  <a:pt x="0" y="4869"/>
                  <a:pt x="0" y="4772"/>
                </a:cubicBezTo>
                <a:lnTo>
                  <a:pt x="0" y="176"/>
                </a:lnTo>
                <a:cubicBezTo>
                  <a:pt x="0" y="79"/>
                  <a:pt x="79" y="0"/>
                  <a:pt x="175"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5" name="Freeform 12"/>
          <p:cNvSpPr>
            <a:spLocks/>
          </p:cNvSpPr>
          <p:nvPr/>
        </p:nvSpPr>
        <p:spPr bwMode="auto">
          <a:xfrm>
            <a:off x="3461731" y="1591295"/>
            <a:ext cx="306268" cy="4130649"/>
          </a:xfrm>
          <a:custGeom>
            <a:avLst/>
            <a:gdLst>
              <a:gd name="T0" fmla="*/ 175 w 351"/>
              <a:gd name="T1" fmla="*/ 0 h 4744"/>
              <a:gd name="T2" fmla="*/ 175 w 351"/>
              <a:gd name="T3" fmla="*/ 0 h 4744"/>
              <a:gd name="T4" fmla="*/ 351 w 351"/>
              <a:gd name="T5" fmla="*/ 154 h 4744"/>
              <a:gd name="T6" fmla="*/ 351 w 351"/>
              <a:gd name="T7" fmla="*/ 4589 h 4744"/>
              <a:gd name="T8" fmla="*/ 175 w 351"/>
              <a:gd name="T9" fmla="*/ 4744 h 4744"/>
              <a:gd name="T10" fmla="*/ 175 w 351"/>
              <a:gd name="T11" fmla="*/ 4744 h 4744"/>
              <a:gd name="T12" fmla="*/ 0 w 351"/>
              <a:gd name="T13" fmla="*/ 4589 h 4744"/>
              <a:gd name="T14" fmla="*/ 0 w 351"/>
              <a:gd name="T15" fmla="*/ 154 h 4744"/>
              <a:gd name="T16" fmla="*/ 175 w 351"/>
              <a:gd name="T17" fmla="*/ 0 h 4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744">
                <a:moveTo>
                  <a:pt x="175" y="0"/>
                </a:moveTo>
                <a:lnTo>
                  <a:pt x="175" y="0"/>
                </a:lnTo>
                <a:cubicBezTo>
                  <a:pt x="272" y="0"/>
                  <a:pt x="351" y="69"/>
                  <a:pt x="351" y="154"/>
                </a:cubicBezTo>
                <a:lnTo>
                  <a:pt x="351" y="4589"/>
                </a:lnTo>
                <a:cubicBezTo>
                  <a:pt x="351" y="4674"/>
                  <a:pt x="272" y="4744"/>
                  <a:pt x="175" y="4744"/>
                </a:cubicBezTo>
                <a:lnTo>
                  <a:pt x="175" y="4744"/>
                </a:lnTo>
                <a:cubicBezTo>
                  <a:pt x="79" y="4744"/>
                  <a:pt x="0" y="4674"/>
                  <a:pt x="0" y="4589"/>
                </a:cubicBezTo>
                <a:lnTo>
                  <a:pt x="0" y="154"/>
                </a:lnTo>
                <a:cubicBezTo>
                  <a:pt x="0" y="69"/>
                  <a:pt x="79" y="0"/>
                  <a:pt x="175" y="0"/>
                </a:cubicBezTo>
                <a:close/>
              </a:path>
            </a:pathLst>
          </a:custGeom>
          <a:solidFill>
            <a:schemeClr val="accent6">
              <a:lumMod val="75000"/>
            </a:schemeClr>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6" name="Oval 13"/>
          <p:cNvSpPr>
            <a:spLocks noChangeArrowheads="1"/>
          </p:cNvSpPr>
          <p:nvPr/>
        </p:nvSpPr>
        <p:spPr bwMode="auto">
          <a:xfrm>
            <a:off x="3331607" y="5353789"/>
            <a:ext cx="585559" cy="585559"/>
          </a:xfrm>
          <a:prstGeom prst="ellipse">
            <a:avLst/>
          </a:prstGeom>
          <a:solidFill>
            <a:schemeClr val="accent6">
              <a:lumMod val="75000"/>
            </a:schemeClr>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7" name="Freeform 14"/>
          <p:cNvSpPr>
            <a:spLocks/>
          </p:cNvSpPr>
          <p:nvPr/>
        </p:nvSpPr>
        <p:spPr bwMode="auto">
          <a:xfrm>
            <a:off x="4703241" y="1413566"/>
            <a:ext cx="306268" cy="4308380"/>
          </a:xfrm>
          <a:custGeom>
            <a:avLst/>
            <a:gdLst>
              <a:gd name="T0" fmla="*/ 176 w 352"/>
              <a:gd name="T1" fmla="*/ 0 h 4948"/>
              <a:gd name="T2" fmla="*/ 176 w 352"/>
              <a:gd name="T3" fmla="*/ 0 h 4948"/>
              <a:gd name="T4" fmla="*/ 352 w 352"/>
              <a:gd name="T5" fmla="*/ 176 h 4948"/>
              <a:gd name="T6" fmla="*/ 352 w 352"/>
              <a:gd name="T7" fmla="*/ 4772 h 4948"/>
              <a:gd name="T8" fmla="*/ 176 w 352"/>
              <a:gd name="T9" fmla="*/ 4948 h 4948"/>
              <a:gd name="T10" fmla="*/ 176 w 352"/>
              <a:gd name="T11" fmla="*/ 4948 h 4948"/>
              <a:gd name="T12" fmla="*/ 0 w 352"/>
              <a:gd name="T13" fmla="*/ 4772 h 4948"/>
              <a:gd name="T14" fmla="*/ 0 w 352"/>
              <a:gd name="T15" fmla="*/ 176 h 4948"/>
              <a:gd name="T16" fmla="*/ 176 w 352"/>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948">
                <a:moveTo>
                  <a:pt x="176" y="0"/>
                </a:moveTo>
                <a:lnTo>
                  <a:pt x="176" y="0"/>
                </a:lnTo>
                <a:cubicBezTo>
                  <a:pt x="273" y="0"/>
                  <a:pt x="352" y="79"/>
                  <a:pt x="352" y="176"/>
                </a:cubicBezTo>
                <a:lnTo>
                  <a:pt x="352" y="4772"/>
                </a:lnTo>
                <a:cubicBezTo>
                  <a:pt x="352" y="4869"/>
                  <a:pt x="273" y="4948"/>
                  <a:pt x="176" y="4948"/>
                </a:cubicBezTo>
                <a:lnTo>
                  <a:pt x="176" y="4948"/>
                </a:lnTo>
                <a:cubicBezTo>
                  <a:pt x="79" y="4948"/>
                  <a:pt x="0" y="4869"/>
                  <a:pt x="0" y="4772"/>
                </a:cubicBezTo>
                <a:lnTo>
                  <a:pt x="0" y="176"/>
                </a:lnTo>
                <a:cubicBezTo>
                  <a:pt x="0" y="79"/>
                  <a:pt x="79" y="0"/>
                  <a:pt x="176"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8" name="Freeform 15"/>
          <p:cNvSpPr>
            <a:spLocks/>
          </p:cNvSpPr>
          <p:nvPr/>
        </p:nvSpPr>
        <p:spPr bwMode="auto">
          <a:xfrm>
            <a:off x="4703241" y="2061387"/>
            <a:ext cx="306268" cy="3660561"/>
          </a:xfrm>
          <a:custGeom>
            <a:avLst/>
            <a:gdLst>
              <a:gd name="T0" fmla="*/ 176 w 352"/>
              <a:gd name="T1" fmla="*/ 0 h 4581"/>
              <a:gd name="T2" fmla="*/ 176 w 352"/>
              <a:gd name="T3" fmla="*/ 0 h 4581"/>
              <a:gd name="T4" fmla="*/ 352 w 352"/>
              <a:gd name="T5" fmla="*/ 149 h 4581"/>
              <a:gd name="T6" fmla="*/ 352 w 352"/>
              <a:gd name="T7" fmla="*/ 4432 h 4581"/>
              <a:gd name="T8" fmla="*/ 176 w 352"/>
              <a:gd name="T9" fmla="*/ 4581 h 4581"/>
              <a:gd name="T10" fmla="*/ 176 w 352"/>
              <a:gd name="T11" fmla="*/ 4581 h 4581"/>
              <a:gd name="T12" fmla="*/ 0 w 352"/>
              <a:gd name="T13" fmla="*/ 4432 h 4581"/>
              <a:gd name="T14" fmla="*/ 0 w 352"/>
              <a:gd name="T15" fmla="*/ 149 h 4581"/>
              <a:gd name="T16" fmla="*/ 176 w 352"/>
              <a:gd name="T17" fmla="*/ 0 h 4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581">
                <a:moveTo>
                  <a:pt x="176" y="0"/>
                </a:moveTo>
                <a:lnTo>
                  <a:pt x="176" y="0"/>
                </a:lnTo>
                <a:cubicBezTo>
                  <a:pt x="273" y="0"/>
                  <a:pt x="352" y="67"/>
                  <a:pt x="352" y="149"/>
                </a:cubicBezTo>
                <a:lnTo>
                  <a:pt x="352" y="4432"/>
                </a:lnTo>
                <a:cubicBezTo>
                  <a:pt x="352" y="4514"/>
                  <a:pt x="273" y="4581"/>
                  <a:pt x="176" y="4581"/>
                </a:cubicBezTo>
                <a:lnTo>
                  <a:pt x="176" y="4581"/>
                </a:lnTo>
                <a:cubicBezTo>
                  <a:pt x="79" y="4581"/>
                  <a:pt x="0" y="4514"/>
                  <a:pt x="0" y="4432"/>
                </a:cubicBezTo>
                <a:lnTo>
                  <a:pt x="0" y="149"/>
                </a:lnTo>
                <a:cubicBezTo>
                  <a:pt x="0" y="67"/>
                  <a:pt x="79" y="0"/>
                  <a:pt x="176" y="0"/>
                </a:cubicBezTo>
                <a:close/>
              </a:path>
            </a:pathLst>
          </a:cu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9" name="Oval 16"/>
          <p:cNvSpPr>
            <a:spLocks noChangeArrowheads="1"/>
          </p:cNvSpPr>
          <p:nvPr/>
        </p:nvSpPr>
        <p:spPr bwMode="auto">
          <a:xfrm>
            <a:off x="4574706" y="5353789"/>
            <a:ext cx="585559" cy="585559"/>
          </a:xfrm>
          <a:prstGeom prst="ellipse">
            <a:avLst/>
          </a:pr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25" name="矩形 83"/>
          <p:cNvSpPr>
            <a:spLocks noChangeArrowheads="1"/>
          </p:cNvSpPr>
          <p:nvPr/>
        </p:nvSpPr>
        <p:spPr bwMode="auto">
          <a:xfrm>
            <a:off x="5652247" y="1078173"/>
            <a:ext cx="5673237" cy="5139659"/>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27" name="Freeform 12"/>
          <p:cNvSpPr>
            <a:spLocks/>
          </p:cNvSpPr>
          <p:nvPr/>
        </p:nvSpPr>
        <p:spPr bwMode="auto">
          <a:xfrm>
            <a:off x="5555615" y="963217"/>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28" name="Freeform 12"/>
          <p:cNvSpPr>
            <a:spLocks/>
          </p:cNvSpPr>
          <p:nvPr/>
        </p:nvSpPr>
        <p:spPr bwMode="auto">
          <a:xfrm flipH="1" flipV="1">
            <a:off x="10904816" y="5802770"/>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33"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5768322" y="1025129"/>
            <a:ext cx="5557162" cy="5262979"/>
          </a:xfrm>
          <a:prstGeom prst="rect">
            <a:avLst/>
          </a:prstGeom>
        </p:spPr>
        <p:txBody>
          <a:bodyPr wrap="squar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计算机与外部设备之间除了通过设备适配器经总线互连外，还可通过一些标准的外部总线连接。</a:t>
            </a:r>
          </a:p>
          <a:p>
            <a:pPr>
              <a:lnSpc>
                <a:spcPct val="150000"/>
              </a:lnSpc>
            </a:pPr>
            <a:r>
              <a:rPr lang="zh-CN" altLang="en-US" sz="2800" b="1" dirty="0">
                <a:latin typeface="微软雅黑" panose="020B0503020204020204" pitchFamily="34" charset="-122"/>
                <a:ea typeface="微软雅黑" panose="020B0503020204020204" pitchFamily="34" charset="-122"/>
              </a:rPr>
              <a:t>一般来讲，计算机主板上集成了一些常用的标准外部总线接口，如串行接口、并行接口、</a:t>
            </a:r>
            <a:r>
              <a:rPr lang="en-US" altLang="zh-CN" sz="2800" b="1" dirty="0">
                <a:latin typeface="微软雅黑" panose="020B0503020204020204" pitchFamily="34" charset="-122"/>
                <a:ea typeface="微软雅黑" panose="020B0503020204020204" pitchFamily="34" charset="-122"/>
              </a:rPr>
              <a:t>USB</a:t>
            </a:r>
            <a:r>
              <a:rPr lang="zh-CN" altLang="en-US" sz="2800" b="1" dirty="0">
                <a:latin typeface="微软雅黑" panose="020B0503020204020204" pitchFamily="34" charset="-122"/>
                <a:ea typeface="微软雅黑" panose="020B0503020204020204" pitchFamily="34" charset="-122"/>
              </a:rPr>
              <a:t>接口，有的机器还有</a:t>
            </a:r>
            <a:r>
              <a:rPr lang="en-US" altLang="zh-CN" sz="2800" b="1" dirty="0">
                <a:latin typeface="微软雅黑" panose="020B0503020204020204" pitchFamily="34" charset="-122"/>
                <a:ea typeface="微软雅黑" panose="020B0503020204020204" pitchFamily="34" charset="-122"/>
              </a:rPr>
              <a:t>IEEE1394</a:t>
            </a:r>
            <a:r>
              <a:rPr lang="zh-CN" altLang="en-US" sz="2800" b="1" dirty="0">
                <a:latin typeface="微软雅黑" panose="020B0503020204020204" pitchFamily="34" charset="-122"/>
                <a:ea typeface="微软雅黑" panose="020B0503020204020204" pitchFamily="34" charset="-122"/>
              </a:rPr>
              <a:t>接口、</a:t>
            </a:r>
            <a:r>
              <a:rPr lang="en-US" altLang="zh-CN" sz="2800" b="1" dirty="0">
                <a:latin typeface="微软雅黑" panose="020B0503020204020204" pitchFamily="34" charset="-122"/>
                <a:ea typeface="微软雅黑" panose="020B0503020204020204" pitchFamily="34" charset="-122"/>
              </a:rPr>
              <a:t>SCSI</a:t>
            </a:r>
            <a:r>
              <a:rPr lang="zh-CN" altLang="en-US" sz="2800" b="1" dirty="0">
                <a:latin typeface="微软雅黑" panose="020B0503020204020204" pitchFamily="34" charset="-122"/>
                <a:ea typeface="微软雅黑" panose="020B0503020204020204" pitchFamily="34" charset="-122"/>
              </a:rPr>
              <a:t>接口等。 </a:t>
            </a:r>
          </a:p>
        </p:txBody>
      </p:sp>
    </p:spTree>
    <p:extLst>
      <p:ext uri="{BB962C8B-B14F-4D97-AF65-F5344CB8AC3E}">
        <p14:creationId xmlns:p14="http://schemas.microsoft.com/office/powerpoint/2010/main" val="3376343282"/>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875773" y="-38111"/>
            <a:ext cx="10515600" cy="1325563"/>
          </a:xfrm>
        </p:spPr>
        <p:txBody>
          <a:bodyPr>
            <a:normAutofit/>
          </a:bodyPr>
          <a:lstStyle/>
          <a:p>
            <a:r>
              <a:rPr lang="en-US" altLang="zh-CN" sz="3200" b="1" dirty="0">
                <a:latin typeface="微软雅黑" panose="020B0503020204020204" pitchFamily="34" charset="-122"/>
                <a:ea typeface="微软雅黑" panose="020B0503020204020204" pitchFamily="34" charset="-122"/>
                <a:cs typeface="+mn-cs"/>
              </a:rPr>
              <a:t>USB</a:t>
            </a:r>
            <a:r>
              <a:rPr lang="zh-CN" altLang="en-US" sz="3200" b="1" dirty="0">
                <a:latin typeface="微软雅黑" panose="020B0503020204020204" pitchFamily="34" charset="-122"/>
                <a:ea typeface="微软雅黑" panose="020B0503020204020204" pitchFamily="34" charset="-122"/>
                <a:cs typeface="+mn-cs"/>
              </a:rPr>
              <a:t>接口 </a:t>
            </a:r>
          </a:p>
        </p:txBody>
      </p:sp>
      <p:sp>
        <p:nvSpPr>
          <p:cNvPr id="16387" name="Rectangle 3"/>
          <p:cNvSpPr>
            <a:spLocks noGrp="1" noChangeArrowheads="1"/>
          </p:cNvSpPr>
          <p:nvPr>
            <p:ph type="body" idx="1"/>
          </p:nvPr>
        </p:nvSpPr>
        <p:spPr>
          <a:xfrm>
            <a:off x="1447800" y="1624429"/>
            <a:ext cx="9127435" cy="4351338"/>
          </a:xfrm>
          <a:ln w="28575">
            <a:solidFill>
              <a:srgbClr val="02B9E7"/>
            </a:solidFill>
          </a:ln>
        </p:spPr>
        <p:txBody>
          <a:bodyPr>
            <a:normAutofit lnSpcReduction="10000"/>
          </a:bodyPr>
          <a:lstStyle/>
          <a:p>
            <a:pPr marL="0" indent="0" eaLnBrk="1" hangingPunct="1">
              <a:lnSpc>
                <a:spcPct val="200000"/>
              </a:lnSpc>
              <a:buNone/>
              <a:defRPr/>
            </a:pPr>
            <a:r>
              <a:rPr lang="en-US" altLang="zh-CN" b="1" dirty="0">
                <a:latin typeface="微软雅黑" panose="020B0503020204020204" pitchFamily="34" charset="-122"/>
                <a:ea typeface="微软雅黑" panose="020B0503020204020204" pitchFamily="34" charset="-122"/>
              </a:rPr>
              <a:t>USB</a:t>
            </a:r>
            <a:r>
              <a:rPr lang="zh-CN" altLang="en-US" b="1" dirty="0">
                <a:latin typeface="微软雅黑" panose="020B0503020204020204" pitchFamily="34" charset="-122"/>
                <a:ea typeface="微软雅黑" panose="020B0503020204020204" pitchFamily="34" charset="-122"/>
              </a:rPr>
              <a:t>：通用串行总线（</a:t>
            </a:r>
            <a:r>
              <a:rPr lang="en-US" altLang="zh-CN" b="1" dirty="0">
                <a:latin typeface="微软雅黑" panose="020B0503020204020204" pitchFamily="34" charset="-122"/>
                <a:ea typeface="微软雅黑" panose="020B0503020204020204" pitchFamily="34" charset="-122"/>
              </a:rPr>
              <a:t>Universal Serial Bus</a:t>
            </a:r>
            <a:r>
              <a:rPr lang="zh-CN" altLang="en-US" b="1" dirty="0">
                <a:latin typeface="微软雅黑" panose="020B0503020204020204" pitchFamily="34" charset="-122"/>
                <a:ea typeface="微软雅黑" panose="020B0503020204020204" pitchFamily="34" charset="-122"/>
              </a:rPr>
              <a:t>），是连接计算机与外部设备的一种串口总线标准。</a:t>
            </a:r>
            <a:endParaRPr lang="en-US" altLang="zh-CN" b="1" dirty="0">
              <a:latin typeface="微软雅黑" panose="020B0503020204020204" pitchFamily="34" charset="-122"/>
              <a:ea typeface="微软雅黑" panose="020B0503020204020204" pitchFamily="34" charset="-122"/>
            </a:endParaRPr>
          </a:p>
          <a:p>
            <a:pPr marL="0" indent="0" eaLnBrk="1" hangingPunct="1">
              <a:lnSpc>
                <a:spcPct val="200000"/>
              </a:lnSpc>
              <a:buNone/>
              <a:defRPr/>
            </a:pPr>
            <a:r>
              <a:rPr lang="en-US" altLang="zh-CN" b="1" dirty="0">
                <a:latin typeface="微软雅黑" panose="020B0503020204020204" pitchFamily="34" charset="-122"/>
                <a:ea typeface="微软雅黑" panose="020B0503020204020204" pitchFamily="34" charset="-122"/>
              </a:rPr>
              <a:t>1994</a:t>
            </a:r>
            <a:r>
              <a:rPr lang="zh-CN" altLang="en-US" b="1" dirty="0">
                <a:latin typeface="微软雅黑" panose="020B0503020204020204" pitchFamily="34" charset="-122"/>
                <a:ea typeface="微软雅黑" panose="020B0503020204020204" pitchFamily="34" charset="-122"/>
              </a:rPr>
              <a:t>年底由英特尔等多家公司联合制定并在</a:t>
            </a:r>
            <a:r>
              <a:rPr lang="en-US" altLang="zh-CN" b="1" dirty="0">
                <a:latin typeface="微软雅黑" panose="020B0503020204020204" pitchFamily="34" charset="-122"/>
                <a:ea typeface="微软雅黑" panose="020B0503020204020204" pitchFamily="34" charset="-122"/>
              </a:rPr>
              <a:t>1996</a:t>
            </a:r>
            <a:r>
              <a:rPr lang="zh-CN" altLang="en-US" b="1" dirty="0">
                <a:latin typeface="微软雅黑" panose="020B0503020204020204" pitchFamily="34" charset="-122"/>
                <a:ea typeface="微软雅黑" panose="020B0503020204020204" pitchFamily="34" charset="-122"/>
              </a:rPr>
              <a:t>年推出后，逐步替代了串口和并口，成为当今电脑与外部设备连接的外部接口标准。</a:t>
            </a:r>
          </a:p>
        </p:txBody>
      </p:sp>
      <p:grpSp>
        <p:nvGrpSpPr>
          <p:cNvPr id="4" name="组合 3"/>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1375164170"/>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23902" y="323826"/>
            <a:ext cx="5974331" cy="535489"/>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nSpc>
                <a:spcPct val="90000"/>
              </a:lnSpc>
              <a:spcBef>
                <a:spcPct val="0"/>
              </a:spcBef>
            </a:pPr>
            <a:r>
              <a:rPr lang="en-US" altLang="zh-CN" b="1" dirty="0">
                <a:solidFill>
                  <a:schemeClr val="tx1"/>
                </a:solidFill>
                <a:latin typeface="微软雅黑" panose="020B0503020204020204" pitchFamily="34" charset="-122"/>
                <a:ea typeface="微软雅黑" panose="020B0503020204020204" pitchFamily="34" charset="-122"/>
              </a:rPr>
              <a:t>USB</a:t>
            </a:r>
            <a:r>
              <a:rPr lang="zh-CN" altLang="en-US" b="1" dirty="0">
                <a:solidFill>
                  <a:schemeClr val="tx1"/>
                </a:solidFill>
                <a:latin typeface="微软雅黑" panose="020B0503020204020204" pitchFamily="34" charset="-122"/>
                <a:ea typeface="微软雅黑" panose="020B0503020204020204" pitchFamily="34" charset="-122"/>
              </a:rPr>
              <a:t>接口的特点 </a:t>
            </a:r>
          </a:p>
        </p:txBody>
      </p:sp>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9" name="Oval 7"/>
          <p:cNvSpPr>
            <a:spLocks noChangeArrowheads="1"/>
          </p:cNvSpPr>
          <p:nvPr/>
        </p:nvSpPr>
        <p:spPr bwMode="auto">
          <a:xfrm>
            <a:off x="4343330" y="2746456"/>
            <a:ext cx="831525" cy="829939"/>
          </a:xfrm>
          <a:prstGeom prst="ellipse">
            <a:avLst/>
          </a:pr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Oval 6"/>
          <p:cNvSpPr>
            <a:spLocks noChangeArrowheads="1"/>
          </p:cNvSpPr>
          <p:nvPr/>
        </p:nvSpPr>
        <p:spPr bwMode="auto">
          <a:xfrm>
            <a:off x="3827593" y="1553119"/>
            <a:ext cx="831525" cy="831526"/>
          </a:xfrm>
          <a:prstGeom prst="ellipse">
            <a:avLst/>
          </a:pr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5" name="Freeform 13"/>
          <p:cNvSpPr>
            <a:spLocks/>
          </p:cNvSpPr>
          <p:nvPr/>
        </p:nvSpPr>
        <p:spPr bwMode="auto">
          <a:xfrm>
            <a:off x="4387761" y="2046639"/>
            <a:ext cx="30151" cy="3174"/>
          </a:xfrm>
          <a:custGeom>
            <a:avLst/>
            <a:gdLst>
              <a:gd name="T0" fmla="*/ 0 w 43"/>
              <a:gd name="T1" fmla="*/ 0 h 5"/>
              <a:gd name="T2" fmla="*/ 1 w 43"/>
              <a:gd name="T3" fmla="*/ 5 h 5"/>
              <a:gd name="T4" fmla="*/ 43 w 43"/>
              <a:gd name="T5" fmla="*/ 3 h 5"/>
              <a:gd name="T6" fmla="*/ 0 w 43"/>
              <a:gd name="T7" fmla="*/ 0 h 5"/>
            </a:gdLst>
            <a:ahLst/>
            <a:cxnLst>
              <a:cxn ang="0">
                <a:pos x="T0" y="T1"/>
              </a:cxn>
              <a:cxn ang="0">
                <a:pos x="T2" y="T3"/>
              </a:cxn>
              <a:cxn ang="0">
                <a:pos x="T4" y="T5"/>
              </a:cxn>
              <a:cxn ang="0">
                <a:pos x="T6" y="T7"/>
              </a:cxn>
            </a:cxnLst>
            <a:rect l="0" t="0" r="r" b="b"/>
            <a:pathLst>
              <a:path w="43" h="5">
                <a:moveTo>
                  <a:pt x="0" y="0"/>
                </a:moveTo>
                <a:lnTo>
                  <a:pt x="1" y="5"/>
                </a:lnTo>
                <a:lnTo>
                  <a:pt x="43" y="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7" name="Oval 9"/>
          <p:cNvSpPr>
            <a:spLocks noChangeArrowheads="1"/>
          </p:cNvSpPr>
          <p:nvPr/>
        </p:nvSpPr>
        <p:spPr bwMode="auto">
          <a:xfrm>
            <a:off x="4343330" y="4201620"/>
            <a:ext cx="831525" cy="831526"/>
          </a:xfrm>
          <a:prstGeom prst="ellipse">
            <a:avLst/>
          </a:prstGeom>
          <a:solidFill>
            <a:schemeClr val="accent6">
              <a:lumMod val="75000"/>
            </a:schemeClr>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23" name="Oval 8"/>
          <p:cNvSpPr>
            <a:spLocks noChangeArrowheads="1"/>
          </p:cNvSpPr>
          <p:nvPr/>
        </p:nvSpPr>
        <p:spPr bwMode="auto">
          <a:xfrm>
            <a:off x="3827593" y="5394957"/>
            <a:ext cx="831525" cy="829939"/>
          </a:xfrm>
          <a:prstGeom prst="ellipse">
            <a:avLst/>
          </a:prstGeom>
          <a:solidFill>
            <a:schemeClr val="accent1"/>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26" name="Oval 5"/>
          <p:cNvSpPr>
            <a:spLocks noChangeArrowheads="1"/>
          </p:cNvSpPr>
          <p:nvPr/>
        </p:nvSpPr>
        <p:spPr bwMode="auto">
          <a:xfrm>
            <a:off x="1761583" y="2795755"/>
            <a:ext cx="2376931" cy="2376928"/>
          </a:xfrm>
          <a:prstGeom prst="ellipse">
            <a:avLst/>
          </a:pr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6" name="Freeform 5"/>
          <p:cNvSpPr>
            <a:spLocks noEditPoints="1"/>
          </p:cNvSpPr>
          <p:nvPr/>
        </p:nvSpPr>
        <p:spPr bwMode="auto">
          <a:xfrm>
            <a:off x="2486478" y="3376617"/>
            <a:ext cx="927140" cy="1175561"/>
          </a:xfrm>
          <a:custGeom>
            <a:avLst/>
            <a:gdLst>
              <a:gd name="T0" fmla="*/ 622 w 794"/>
              <a:gd name="T1" fmla="*/ 491 h 1018"/>
              <a:gd name="T2" fmla="*/ 481 w 794"/>
              <a:gd name="T3" fmla="*/ 612 h 1018"/>
              <a:gd name="T4" fmla="*/ 667 w 794"/>
              <a:gd name="T5" fmla="*/ 641 h 1018"/>
              <a:gd name="T6" fmla="*/ 672 w 794"/>
              <a:gd name="T7" fmla="*/ 487 h 1018"/>
              <a:gd name="T8" fmla="*/ 794 w 794"/>
              <a:gd name="T9" fmla="*/ 420 h 1018"/>
              <a:gd name="T10" fmla="*/ 747 w 794"/>
              <a:gd name="T11" fmla="*/ 487 h 1018"/>
              <a:gd name="T12" fmla="*/ 713 w 794"/>
              <a:gd name="T13" fmla="*/ 679 h 1018"/>
              <a:gd name="T14" fmla="*/ 631 w 794"/>
              <a:gd name="T15" fmla="*/ 709 h 1018"/>
              <a:gd name="T16" fmla="*/ 442 w 794"/>
              <a:gd name="T17" fmla="*/ 719 h 1018"/>
              <a:gd name="T18" fmla="*/ 627 w 794"/>
              <a:gd name="T19" fmla="*/ 911 h 1018"/>
              <a:gd name="T20" fmla="*/ 659 w 794"/>
              <a:gd name="T21" fmla="*/ 971 h 1018"/>
              <a:gd name="T22" fmla="*/ 565 w 794"/>
              <a:gd name="T23" fmla="*/ 971 h 1018"/>
              <a:gd name="T24" fmla="*/ 428 w 794"/>
              <a:gd name="T25" fmla="*/ 906 h 1018"/>
              <a:gd name="T26" fmla="*/ 456 w 794"/>
              <a:gd name="T27" fmla="*/ 971 h 1018"/>
              <a:gd name="T28" fmla="*/ 361 w 794"/>
              <a:gd name="T29" fmla="*/ 971 h 1018"/>
              <a:gd name="T30" fmla="*/ 381 w 794"/>
              <a:gd name="T31" fmla="*/ 905 h 1018"/>
              <a:gd name="T32" fmla="*/ 243 w 794"/>
              <a:gd name="T33" fmla="*/ 971 h 1018"/>
              <a:gd name="T34" fmla="*/ 148 w 794"/>
              <a:gd name="T35" fmla="*/ 971 h 1018"/>
              <a:gd name="T36" fmla="*/ 173 w 794"/>
              <a:gd name="T37" fmla="*/ 911 h 1018"/>
              <a:gd name="T38" fmla="*/ 346 w 794"/>
              <a:gd name="T39" fmla="*/ 719 h 1018"/>
              <a:gd name="T40" fmla="*/ 154 w 794"/>
              <a:gd name="T41" fmla="*/ 706 h 1018"/>
              <a:gd name="T42" fmla="*/ 81 w 794"/>
              <a:gd name="T43" fmla="*/ 679 h 1018"/>
              <a:gd name="T44" fmla="*/ 47 w 794"/>
              <a:gd name="T45" fmla="*/ 487 h 1018"/>
              <a:gd name="T46" fmla="*/ 0 w 794"/>
              <a:gd name="T47" fmla="*/ 420 h 1018"/>
              <a:gd name="T48" fmla="*/ 122 w 794"/>
              <a:gd name="T49" fmla="*/ 487 h 1018"/>
              <a:gd name="T50" fmla="*/ 127 w 794"/>
              <a:gd name="T51" fmla="*/ 641 h 1018"/>
              <a:gd name="T52" fmla="*/ 316 w 794"/>
              <a:gd name="T53" fmla="*/ 611 h 1018"/>
              <a:gd name="T54" fmla="*/ 168 w 794"/>
              <a:gd name="T55" fmla="*/ 491 h 1018"/>
              <a:gd name="T56" fmla="*/ 591 w 794"/>
              <a:gd name="T57" fmla="*/ 126 h 1018"/>
              <a:gd name="T58" fmla="*/ 494 w 794"/>
              <a:gd name="T59" fmla="*/ 168 h 1018"/>
              <a:gd name="T60" fmla="*/ 297 w 794"/>
              <a:gd name="T61" fmla="*/ 194 h 1018"/>
              <a:gd name="T62" fmla="*/ 287 w 794"/>
              <a:gd name="T63" fmla="*/ 273 h 1018"/>
              <a:gd name="T64" fmla="*/ 504 w 794"/>
              <a:gd name="T65" fmla="*/ 299 h 1018"/>
              <a:gd name="T66" fmla="*/ 287 w 794"/>
              <a:gd name="T67" fmla="*/ 273 h 1018"/>
              <a:gd name="T68" fmla="*/ 514 w 794"/>
              <a:gd name="T69" fmla="*/ 383 h 1018"/>
              <a:gd name="T70" fmla="*/ 277 w 794"/>
              <a:gd name="T71" fmla="*/ 409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94" h="1018">
                <a:moveTo>
                  <a:pt x="591" y="126"/>
                </a:moveTo>
                <a:cubicBezTo>
                  <a:pt x="601" y="248"/>
                  <a:pt x="611" y="370"/>
                  <a:pt x="622" y="491"/>
                </a:cubicBezTo>
                <a:cubicBezTo>
                  <a:pt x="607" y="518"/>
                  <a:pt x="550" y="536"/>
                  <a:pt x="481" y="544"/>
                </a:cubicBezTo>
                <a:lnTo>
                  <a:pt x="481" y="612"/>
                </a:lnTo>
                <a:cubicBezTo>
                  <a:pt x="548" y="619"/>
                  <a:pt x="604" y="634"/>
                  <a:pt x="624" y="657"/>
                </a:cubicBezTo>
                <a:lnTo>
                  <a:pt x="667" y="641"/>
                </a:lnTo>
                <a:lnTo>
                  <a:pt x="695" y="487"/>
                </a:lnTo>
                <a:lnTo>
                  <a:pt x="672" y="487"/>
                </a:lnTo>
                <a:lnTo>
                  <a:pt x="654" y="420"/>
                </a:lnTo>
                <a:lnTo>
                  <a:pt x="794" y="420"/>
                </a:lnTo>
                <a:lnTo>
                  <a:pt x="776" y="487"/>
                </a:lnTo>
                <a:lnTo>
                  <a:pt x="747" y="487"/>
                </a:lnTo>
                <a:lnTo>
                  <a:pt x="715" y="665"/>
                </a:lnTo>
                <a:lnTo>
                  <a:pt x="713" y="679"/>
                </a:lnTo>
                <a:lnTo>
                  <a:pt x="699" y="684"/>
                </a:lnTo>
                <a:lnTo>
                  <a:pt x="631" y="709"/>
                </a:lnTo>
                <a:lnTo>
                  <a:pt x="631" y="719"/>
                </a:lnTo>
                <a:lnTo>
                  <a:pt x="442" y="719"/>
                </a:lnTo>
                <a:lnTo>
                  <a:pt x="442" y="866"/>
                </a:lnTo>
                <a:cubicBezTo>
                  <a:pt x="504" y="871"/>
                  <a:pt x="565" y="887"/>
                  <a:pt x="627" y="911"/>
                </a:cubicBezTo>
                <a:lnTo>
                  <a:pt x="621" y="925"/>
                </a:lnTo>
                <a:cubicBezTo>
                  <a:pt x="643" y="929"/>
                  <a:pt x="659" y="948"/>
                  <a:pt x="659" y="971"/>
                </a:cubicBezTo>
                <a:cubicBezTo>
                  <a:pt x="659" y="997"/>
                  <a:pt x="638" y="1018"/>
                  <a:pt x="612" y="1018"/>
                </a:cubicBezTo>
                <a:cubicBezTo>
                  <a:pt x="586" y="1018"/>
                  <a:pt x="565" y="997"/>
                  <a:pt x="565" y="971"/>
                </a:cubicBezTo>
                <a:cubicBezTo>
                  <a:pt x="565" y="958"/>
                  <a:pt x="570" y="946"/>
                  <a:pt x="579" y="938"/>
                </a:cubicBezTo>
                <a:cubicBezTo>
                  <a:pt x="528" y="920"/>
                  <a:pt x="478" y="910"/>
                  <a:pt x="428" y="906"/>
                </a:cubicBezTo>
                <a:lnTo>
                  <a:pt x="430" y="929"/>
                </a:lnTo>
                <a:cubicBezTo>
                  <a:pt x="445" y="937"/>
                  <a:pt x="456" y="953"/>
                  <a:pt x="456" y="971"/>
                </a:cubicBezTo>
                <a:cubicBezTo>
                  <a:pt x="456" y="997"/>
                  <a:pt x="434" y="1018"/>
                  <a:pt x="408" y="1018"/>
                </a:cubicBezTo>
                <a:cubicBezTo>
                  <a:pt x="382" y="1018"/>
                  <a:pt x="361" y="997"/>
                  <a:pt x="361" y="971"/>
                </a:cubicBezTo>
                <a:cubicBezTo>
                  <a:pt x="361" y="954"/>
                  <a:pt x="370" y="940"/>
                  <a:pt x="383" y="931"/>
                </a:cubicBezTo>
                <a:lnTo>
                  <a:pt x="381" y="905"/>
                </a:lnTo>
                <a:cubicBezTo>
                  <a:pt x="330" y="907"/>
                  <a:pt x="278" y="916"/>
                  <a:pt x="226" y="935"/>
                </a:cubicBezTo>
                <a:cubicBezTo>
                  <a:pt x="236" y="943"/>
                  <a:pt x="243" y="956"/>
                  <a:pt x="243" y="971"/>
                </a:cubicBezTo>
                <a:cubicBezTo>
                  <a:pt x="243" y="997"/>
                  <a:pt x="222" y="1018"/>
                  <a:pt x="196" y="1018"/>
                </a:cubicBezTo>
                <a:cubicBezTo>
                  <a:pt x="170" y="1018"/>
                  <a:pt x="148" y="997"/>
                  <a:pt x="148" y="971"/>
                </a:cubicBezTo>
                <a:cubicBezTo>
                  <a:pt x="148" y="950"/>
                  <a:pt x="162" y="933"/>
                  <a:pt x="180" y="927"/>
                </a:cubicBezTo>
                <a:lnTo>
                  <a:pt x="173" y="911"/>
                </a:lnTo>
                <a:cubicBezTo>
                  <a:pt x="231" y="886"/>
                  <a:pt x="288" y="871"/>
                  <a:pt x="346" y="866"/>
                </a:cubicBezTo>
                <a:lnTo>
                  <a:pt x="346" y="719"/>
                </a:lnTo>
                <a:lnTo>
                  <a:pt x="154" y="719"/>
                </a:lnTo>
                <a:lnTo>
                  <a:pt x="154" y="706"/>
                </a:lnTo>
                <a:lnTo>
                  <a:pt x="95" y="684"/>
                </a:lnTo>
                <a:lnTo>
                  <a:pt x="81" y="679"/>
                </a:lnTo>
                <a:lnTo>
                  <a:pt x="78" y="665"/>
                </a:lnTo>
                <a:lnTo>
                  <a:pt x="47" y="487"/>
                </a:lnTo>
                <a:lnTo>
                  <a:pt x="17" y="487"/>
                </a:lnTo>
                <a:lnTo>
                  <a:pt x="0" y="420"/>
                </a:lnTo>
                <a:lnTo>
                  <a:pt x="139" y="420"/>
                </a:lnTo>
                <a:lnTo>
                  <a:pt x="122" y="487"/>
                </a:lnTo>
                <a:lnTo>
                  <a:pt x="99" y="487"/>
                </a:lnTo>
                <a:lnTo>
                  <a:pt x="127" y="641"/>
                </a:lnTo>
                <a:lnTo>
                  <a:pt x="163" y="654"/>
                </a:lnTo>
                <a:cubicBezTo>
                  <a:pt x="186" y="631"/>
                  <a:pt x="246" y="617"/>
                  <a:pt x="316" y="611"/>
                </a:cubicBezTo>
                <a:lnTo>
                  <a:pt x="316" y="546"/>
                </a:lnTo>
                <a:cubicBezTo>
                  <a:pt x="240" y="539"/>
                  <a:pt x="178" y="521"/>
                  <a:pt x="168" y="491"/>
                </a:cubicBezTo>
                <a:cubicBezTo>
                  <a:pt x="178" y="370"/>
                  <a:pt x="189" y="248"/>
                  <a:pt x="199" y="126"/>
                </a:cubicBezTo>
                <a:cubicBezTo>
                  <a:pt x="219" y="6"/>
                  <a:pt x="561" y="0"/>
                  <a:pt x="591" y="126"/>
                </a:cubicBezTo>
                <a:close/>
                <a:moveTo>
                  <a:pt x="297" y="168"/>
                </a:moveTo>
                <a:lnTo>
                  <a:pt x="494" y="168"/>
                </a:lnTo>
                <a:lnTo>
                  <a:pt x="494" y="194"/>
                </a:lnTo>
                <a:lnTo>
                  <a:pt x="297" y="194"/>
                </a:lnTo>
                <a:lnTo>
                  <a:pt x="297" y="168"/>
                </a:lnTo>
                <a:close/>
                <a:moveTo>
                  <a:pt x="287" y="273"/>
                </a:moveTo>
                <a:lnTo>
                  <a:pt x="504" y="273"/>
                </a:lnTo>
                <a:lnTo>
                  <a:pt x="504" y="299"/>
                </a:lnTo>
                <a:lnTo>
                  <a:pt x="287" y="299"/>
                </a:lnTo>
                <a:lnTo>
                  <a:pt x="287" y="273"/>
                </a:lnTo>
                <a:close/>
                <a:moveTo>
                  <a:pt x="277" y="383"/>
                </a:moveTo>
                <a:lnTo>
                  <a:pt x="514" y="383"/>
                </a:lnTo>
                <a:lnTo>
                  <a:pt x="514" y="409"/>
                </a:lnTo>
                <a:lnTo>
                  <a:pt x="277" y="409"/>
                </a:lnTo>
                <a:lnTo>
                  <a:pt x="277" y="383"/>
                </a:lnTo>
                <a:close/>
              </a:path>
            </a:pathLst>
          </a:custGeom>
          <a:solidFill>
            <a:schemeClr val="bg1"/>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7" name="TextBox 36"/>
          <p:cNvSpPr txBox="1"/>
          <p:nvPr/>
        </p:nvSpPr>
        <p:spPr>
          <a:xfrm>
            <a:off x="3923522" y="1676610"/>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01</a:t>
            </a:r>
            <a:endParaRPr lang="zh-CN" altLang="en-US" sz="3199" b="1" dirty="0">
              <a:solidFill>
                <a:schemeClr val="bg1"/>
              </a:solidFill>
              <a:latin typeface="微软雅黑" pitchFamily="34" charset="-122"/>
              <a:ea typeface="微软雅黑" pitchFamily="34" charset="-122"/>
            </a:endParaRPr>
          </a:p>
        </p:txBody>
      </p:sp>
      <p:sp>
        <p:nvSpPr>
          <p:cNvPr id="39" name="TextBox 38"/>
          <p:cNvSpPr txBox="1"/>
          <p:nvPr/>
        </p:nvSpPr>
        <p:spPr>
          <a:xfrm>
            <a:off x="4427822" y="2874322"/>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02</a:t>
            </a:r>
            <a:endParaRPr lang="zh-CN" altLang="en-US" sz="3199" b="1" dirty="0">
              <a:solidFill>
                <a:schemeClr val="bg1"/>
              </a:solidFill>
              <a:latin typeface="微软雅黑" pitchFamily="34" charset="-122"/>
              <a:ea typeface="微软雅黑" pitchFamily="34" charset="-122"/>
            </a:endParaRPr>
          </a:p>
        </p:txBody>
      </p:sp>
      <p:sp>
        <p:nvSpPr>
          <p:cNvPr id="40" name="TextBox 39"/>
          <p:cNvSpPr txBox="1"/>
          <p:nvPr/>
        </p:nvSpPr>
        <p:spPr>
          <a:xfrm>
            <a:off x="4412062" y="4308424"/>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03</a:t>
            </a:r>
            <a:endParaRPr lang="zh-CN" altLang="en-US" sz="3199" b="1" dirty="0">
              <a:solidFill>
                <a:schemeClr val="bg1"/>
              </a:solidFill>
              <a:latin typeface="微软雅黑" pitchFamily="34" charset="-122"/>
              <a:ea typeface="微软雅黑" pitchFamily="34" charset="-122"/>
            </a:endParaRPr>
          </a:p>
        </p:txBody>
      </p:sp>
      <p:sp>
        <p:nvSpPr>
          <p:cNvPr id="41" name="TextBox 40"/>
          <p:cNvSpPr txBox="1"/>
          <p:nvPr/>
        </p:nvSpPr>
        <p:spPr>
          <a:xfrm>
            <a:off x="3907762" y="5512487"/>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04</a:t>
            </a:r>
            <a:endParaRPr lang="zh-CN" altLang="en-US" sz="3199" b="1" dirty="0">
              <a:solidFill>
                <a:schemeClr val="bg1"/>
              </a:solidFill>
              <a:latin typeface="微软雅黑" pitchFamily="34" charset="-122"/>
              <a:ea typeface="微软雅黑" pitchFamily="34" charset="-122"/>
            </a:endParaRPr>
          </a:p>
        </p:txBody>
      </p:sp>
      <p:sp>
        <p:nvSpPr>
          <p:cNvPr id="38" name="TextBox 26"/>
          <p:cNvSpPr txBox="1"/>
          <p:nvPr/>
        </p:nvSpPr>
        <p:spPr>
          <a:xfrm>
            <a:off x="14678915" y="8346348"/>
            <a:ext cx="1107996" cy="461665"/>
          </a:xfrm>
          <a:prstGeom prst="rect">
            <a:avLst/>
          </a:prstGeom>
          <a:noFill/>
        </p:spPr>
        <p:txBody>
          <a:bodyPr wrap="none" rtlCol="0">
            <a:spAutoFit/>
          </a:bodyPr>
          <a:lstStyle/>
          <a:p>
            <a:r>
              <a:rPr lang="zh-CN" altLang="en-US" sz="2400" dirty="0"/>
              <a:t>延时符</a:t>
            </a:r>
          </a:p>
        </p:txBody>
      </p:sp>
      <p:sp>
        <p:nvSpPr>
          <p:cNvPr id="3" name="矩形 2"/>
          <p:cNvSpPr/>
          <p:nvPr/>
        </p:nvSpPr>
        <p:spPr>
          <a:xfrm>
            <a:off x="5793051" y="1698906"/>
            <a:ext cx="1367682"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高速度 </a:t>
            </a:r>
          </a:p>
        </p:txBody>
      </p:sp>
      <p:sp>
        <p:nvSpPr>
          <p:cNvPr id="4" name="矩形 3"/>
          <p:cNvSpPr/>
          <p:nvPr/>
        </p:nvSpPr>
        <p:spPr>
          <a:xfrm>
            <a:off x="5793050" y="2853397"/>
            <a:ext cx="3881191"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即插即用和支持热插拔 </a:t>
            </a:r>
          </a:p>
        </p:txBody>
      </p:sp>
      <p:sp>
        <p:nvSpPr>
          <p:cNvPr id="8" name="矩形 7"/>
          <p:cNvSpPr/>
          <p:nvPr/>
        </p:nvSpPr>
        <p:spPr>
          <a:xfrm>
            <a:off x="5793050" y="4308424"/>
            <a:ext cx="3163045"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可以连接多个设备 </a:t>
            </a:r>
          </a:p>
        </p:txBody>
      </p:sp>
      <p:sp>
        <p:nvSpPr>
          <p:cNvPr id="10" name="矩形 9"/>
          <p:cNvSpPr/>
          <p:nvPr/>
        </p:nvSpPr>
        <p:spPr>
          <a:xfrm>
            <a:off x="5793049" y="5559245"/>
            <a:ext cx="3881191"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支持多种数据传输方式 </a:t>
            </a:r>
          </a:p>
        </p:txBody>
      </p:sp>
    </p:spTree>
    <p:extLst>
      <p:ext uri="{BB962C8B-B14F-4D97-AF65-F5344CB8AC3E}">
        <p14:creationId xmlns:p14="http://schemas.microsoft.com/office/powerpoint/2010/main" val="1560428022"/>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bwMode="auto">
          <a:xfrm>
            <a:off x="771932" y="2045022"/>
            <a:ext cx="2998194" cy="2998194"/>
          </a:xfrm>
          <a:prstGeom prst="ellipse">
            <a:avLst/>
          </a:prstGeom>
          <a:solidFill>
            <a:srgbClr val="FFC00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8" name="Freeform 5"/>
          <p:cNvSpPr>
            <a:spLocks noEditPoints="1"/>
          </p:cNvSpPr>
          <p:nvPr/>
        </p:nvSpPr>
        <p:spPr bwMode="auto">
          <a:xfrm>
            <a:off x="1527454" y="2539027"/>
            <a:ext cx="1707023" cy="1951087"/>
          </a:xfrm>
          <a:custGeom>
            <a:avLst/>
            <a:gdLst>
              <a:gd name="T0" fmla="*/ 1232 w 1933"/>
              <a:gd name="T1" fmla="*/ 274 h 2183"/>
              <a:gd name="T2" fmla="*/ 958 w 1933"/>
              <a:gd name="T3" fmla="*/ 547 h 2183"/>
              <a:gd name="T4" fmla="*/ 684 w 1933"/>
              <a:gd name="T5" fmla="*/ 547 h 2183"/>
              <a:gd name="T6" fmla="*/ 411 w 1933"/>
              <a:gd name="T7" fmla="*/ 274 h 2183"/>
              <a:gd name="T8" fmla="*/ 684 w 1933"/>
              <a:gd name="T9" fmla="*/ 0 h 2183"/>
              <a:gd name="T10" fmla="*/ 958 w 1933"/>
              <a:gd name="T11" fmla="*/ 0 h 2183"/>
              <a:gd name="T12" fmla="*/ 1232 w 1933"/>
              <a:gd name="T13" fmla="*/ 274 h 2183"/>
              <a:gd name="T14" fmla="*/ 1362 w 1933"/>
              <a:gd name="T15" fmla="*/ 274 h 2183"/>
              <a:gd name="T16" fmla="*/ 1368 w 1933"/>
              <a:gd name="T17" fmla="*/ 336 h 2183"/>
              <a:gd name="T18" fmla="*/ 1026 w 1933"/>
              <a:gd name="T19" fmla="*/ 678 h 2183"/>
              <a:gd name="T20" fmla="*/ 616 w 1933"/>
              <a:gd name="T21" fmla="*/ 678 h 2183"/>
              <a:gd name="T22" fmla="*/ 274 w 1933"/>
              <a:gd name="T23" fmla="*/ 336 h 2183"/>
              <a:gd name="T24" fmla="*/ 280 w 1933"/>
              <a:gd name="T25" fmla="*/ 274 h 2183"/>
              <a:gd name="T26" fmla="*/ 0 w 1933"/>
              <a:gd name="T27" fmla="*/ 610 h 2183"/>
              <a:gd name="T28" fmla="*/ 0 w 1933"/>
              <a:gd name="T29" fmla="*/ 1841 h 2183"/>
              <a:gd name="T30" fmla="*/ 342 w 1933"/>
              <a:gd name="T31" fmla="*/ 2183 h 2183"/>
              <a:gd name="T32" fmla="*/ 1253 w 1933"/>
              <a:gd name="T33" fmla="*/ 2183 h 2183"/>
              <a:gd name="T34" fmla="*/ 881 w 1933"/>
              <a:gd name="T35" fmla="*/ 1620 h 2183"/>
              <a:gd name="T36" fmla="*/ 1492 w 1933"/>
              <a:gd name="T37" fmla="*/ 1009 h 2183"/>
              <a:gd name="T38" fmla="*/ 1642 w 1933"/>
              <a:gd name="T39" fmla="*/ 1028 h 2183"/>
              <a:gd name="T40" fmla="*/ 1642 w 1933"/>
              <a:gd name="T41" fmla="*/ 610 h 2183"/>
              <a:gd name="T42" fmla="*/ 1362 w 1933"/>
              <a:gd name="T43" fmla="*/ 274 h 2183"/>
              <a:gd name="T44" fmla="*/ 770 w 1933"/>
              <a:gd name="T45" fmla="*/ 1368 h 2183"/>
              <a:gd name="T46" fmla="*/ 770 w 1933"/>
              <a:gd name="T47" fmla="*/ 1368 h 2183"/>
              <a:gd name="T48" fmla="*/ 342 w 1933"/>
              <a:gd name="T49" fmla="*/ 1368 h 2183"/>
              <a:gd name="T50" fmla="*/ 274 w 1933"/>
              <a:gd name="T51" fmla="*/ 1300 h 2183"/>
              <a:gd name="T52" fmla="*/ 342 w 1933"/>
              <a:gd name="T53" fmla="*/ 1232 h 2183"/>
              <a:gd name="T54" fmla="*/ 770 w 1933"/>
              <a:gd name="T55" fmla="*/ 1232 h 2183"/>
              <a:gd name="T56" fmla="*/ 838 w 1933"/>
              <a:gd name="T57" fmla="*/ 1300 h 2183"/>
              <a:gd name="T58" fmla="*/ 770 w 1933"/>
              <a:gd name="T59" fmla="*/ 1368 h 2183"/>
              <a:gd name="T60" fmla="*/ 907 w 1933"/>
              <a:gd name="T61" fmla="*/ 1095 h 2183"/>
              <a:gd name="T62" fmla="*/ 907 w 1933"/>
              <a:gd name="T63" fmla="*/ 1095 h 2183"/>
              <a:gd name="T64" fmla="*/ 342 w 1933"/>
              <a:gd name="T65" fmla="*/ 1095 h 2183"/>
              <a:gd name="T66" fmla="*/ 274 w 1933"/>
              <a:gd name="T67" fmla="*/ 1026 h 2183"/>
              <a:gd name="T68" fmla="*/ 342 w 1933"/>
              <a:gd name="T69" fmla="*/ 958 h 2183"/>
              <a:gd name="T70" fmla="*/ 907 w 1933"/>
              <a:gd name="T71" fmla="*/ 958 h 2183"/>
              <a:gd name="T72" fmla="*/ 975 w 1933"/>
              <a:gd name="T73" fmla="*/ 1026 h 2183"/>
              <a:gd name="T74" fmla="*/ 907 w 1933"/>
              <a:gd name="T75" fmla="*/ 1095 h 2183"/>
              <a:gd name="T76" fmla="*/ 1605 w 1933"/>
              <a:gd name="T77" fmla="*/ 1197 h 2183"/>
              <a:gd name="T78" fmla="*/ 1497 w 1933"/>
              <a:gd name="T79" fmla="*/ 1183 h 2183"/>
              <a:gd name="T80" fmla="*/ 1060 w 1933"/>
              <a:gd name="T81" fmla="*/ 1619 h 2183"/>
              <a:gd name="T82" fmla="*/ 1405 w 1933"/>
              <a:gd name="T83" fmla="*/ 2045 h 2183"/>
              <a:gd name="T84" fmla="*/ 1497 w 1933"/>
              <a:gd name="T85" fmla="*/ 2055 h 2183"/>
              <a:gd name="T86" fmla="*/ 1933 w 1933"/>
              <a:gd name="T87" fmla="*/ 1619 h 2183"/>
              <a:gd name="T88" fmla="*/ 1605 w 1933"/>
              <a:gd name="T89" fmla="*/ 1197 h 2183"/>
              <a:gd name="T90" fmla="*/ 1743 w 1933"/>
              <a:gd name="T91" fmla="*/ 1557 h 2183"/>
              <a:gd name="T92" fmla="*/ 1743 w 1933"/>
              <a:gd name="T93" fmla="*/ 1557 h 2183"/>
              <a:gd name="T94" fmla="*/ 1605 w 1933"/>
              <a:gd name="T95" fmla="*/ 1695 h 2183"/>
              <a:gd name="T96" fmla="*/ 1497 w 1933"/>
              <a:gd name="T97" fmla="*/ 1804 h 2183"/>
              <a:gd name="T98" fmla="*/ 1373 w 1933"/>
              <a:gd name="T99" fmla="*/ 1804 h 2183"/>
              <a:gd name="T100" fmla="*/ 1250 w 1933"/>
              <a:gd name="T101" fmla="*/ 1681 h 2183"/>
              <a:gd name="T102" fmla="*/ 1250 w 1933"/>
              <a:gd name="T103" fmla="*/ 1557 h 2183"/>
              <a:gd name="T104" fmla="*/ 1373 w 1933"/>
              <a:gd name="T105" fmla="*/ 1557 h 2183"/>
              <a:gd name="T106" fmla="*/ 1435 w 1933"/>
              <a:gd name="T107" fmla="*/ 1619 h 2183"/>
              <a:gd name="T108" fmla="*/ 1605 w 1933"/>
              <a:gd name="T109" fmla="*/ 1448 h 2183"/>
              <a:gd name="T110" fmla="*/ 1620 w 1933"/>
              <a:gd name="T111" fmla="*/ 1434 h 2183"/>
              <a:gd name="T112" fmla="*/ 1743 w 1933"/>
              <a:gd name="T113" fmla="*/ 1434 h 2183"/>
              <a:gd name="T114" fmla="*/ 1743 w 1933"/>
              <a:gd name="T115" fmla="*/ 1557 h 2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933" h="2183">
                <a:moveTo>
                  <a:pt x="1232" y="274"/>
                </a:moveTo>
                <a:cubicBezTo>
                  <a:pt x="1232" y="425"/>
                  <a:pt x="1109" y="547"/>
                  <a:pt x="958" y="547"/>
                </a:cubicBezTo>
                <a:lnTo>
                  <a:pt x="684" y="547"/>
                </a:lnTo>
                <a:cubicBezTo>
                  <a:pt x="533" y="547"/>
                  <a:pt x="411" y="425"/>
                  <a:pt x="411" y="274"/>
                </a:cubicBezTo>
                <a:cubicBezTo>
                  <a:pt x="411" y="122"/>
                  <a:pt x="533" y="0"/>
                  <a:pt x="684" y="0"/>
                </a:cubicBezTo>
                <a:lnTo>
                  <a:pt x="958" y="0"/>
                </a:lnTo>
                <a:cubicBezTo>
                  <a:pt x="1109" y="0"/>
                  <a:pt x="1232" y="122"/>
                  <a:pt x="1232" y="274"/>
                </a:cubicBezTo>
                <a:close/>
                <a:moveTo>
                  <a:pt x="1362" y="274"/>
                </a:moveTo>
                <a:cubicBezTo>
                  <a:pt x="1366" y="294"/>
                  <a:pt x="1368" y="315"/>
                  <a:pt x="1368" y="336"/>
                </a:cubicBezTo>
                <a:cubicBezTo>
                  <a:pt x="1368" y="525"/>
                  <a:pt x="1215" y="678"/>
                  <a:pt x="1026" y="678"/>
                </a:cubicBezTo>
                <a:lnTo>
                  <a:pt x="616" y="678"/>
                </a:lnTo>
                <a:cubicBezTo>
                  <a:pt x="427" y="678"/>
                  <a:pt x="274" y="525"/>
                  <a:pt x="274" y="336"/>
                </a:cubicBezTo>
                <a:cubicBezTo>
                  <a:pt x="274" y="315"/>
                  <a:pt x="276" y="294"/>
                  <a:pt x="280" y="274"/>
                </a:cubicBezTo>
                <a:cubicBezTo>
                  <a:pt x="121" y="303"/>
                  <a:pt x="0" y="442"/>
                  <a:pt x="0" y="610"/>
                </a:cubicBezTo>
                <a:lnTo>
                  <a:pt x="0" y="1841"/>
                </a:lnTo>
                <a:cubicBezTo>
                  <a:pt x="0" y="2030"/>
                  <a:pt x="153" y="2183"/>
                  <a:pt x="342" y="2183"/>
                </a:cubicBezTo>
                <a:lnTo>
                  <a:pt x="1253" y="2183"/>
                </a:lnTo>
                <a:cubicBezTo>
                  <a:pt x="1034" y="2090"/>
                  <a:pt x="881" y="1873"/>
                  <a:pt x="881" y="1620"/>
                </a:cubicBezTo>
                <a:cubicBezTo>
                  <a:pt x="881" y="1283"/>
                  <a:pt x="1155" y="1009"/>
                  <a:pt x="1492" y="1009"/>
                </a:cubicBezTo>
                <a:cubicBezTo>
                  <a:pt x="1544" y="1009"/>
                  <a:pt x="1594" y="1016"/>
                  <a:pt x="1642" y="1028"/>
                </a:cubicBezTo>
                <a:lnTo>
                  <a:pt x="1642" y="610"/>
                </a:lnTo>
                <a:cubicBezTo>
                  <a:pt x="1642" y="442"/>
                  <a:pt x="1521" y="303"/>
                  <a:pt x="1362" y="274"/>
                </a:cubicBezTo>
                <a:close/>
                <a:moveTo>
                  <a:pt x="770" y="1368"/>
                </a:moveTo>
                <a:lnTo>
                  <a:pt x="770" y="1368"/>
                </a:lnTo>
                <a:lnTo>
                  <a:pt x="342" y="1368"/>
                </a:lnTo>
                <a:cubicBezTo>
                  <a:pt x="304" y="1368"/>
                  <a:pt x="274" y="1338"/>
                  <a:pt x="274" y="1300"/>
                </a:cubicBezTo>
                <a:cubicBezTo>
                  <a:pt x="274" y="1262"/>
                  <a:pt x="304" y="1232"/>
                  <a:pt x="342" y="1232"/>
                </a:cubicBezTo>
                <a:lnTo>
                  <a:pt x="770" y="1232"/>
                </a:lnTo>
                <a:cubicBezTo>
                  <a:pt x="807" y="1232"/>
                  <a:pt x="838" y="1262"/>
                  <a:pt x="838" y="1300"/>
                </a:cubicBezTo>
                <a:cubicBezTo>
                  <a:pt x="838" y="1338"/>
                  <a:pt x="807" y="1368"/>
                  <a:pt x="770" y="1368"/>
                </a:cubicBezTo>
                <a:close/>
                <a:moveTo>
                  <a:pt x="907" y="1095"/>
                </a:moveTo>
                <a:lnTo>
                  <a:pt x="907" y="1095"/>
                </a:lnTo>
                <a:lnTo>
                  <a:pt x="342" y="1095"/>
                </a:lnTo>
                <a:cubicBezTo>
                  <a:pt x="304" y="1095"/>
                  <a:pt x="274" y="1064"/>
                  <a:pt x="274" y="1026"/>
                </a:cubicBezTo>
                <a:cubicBezTo>
                  <a:pt x="274" y="988"/>
                  <a:pt x="304" y="958"/>
                  <a:pt x="342" y="958"/>
                </a:cubicBezTo>
                <a:lnTo>
                  <a:pt x="907" y="958"/>
                </a:lnTo>
                <a:cubicBezTo>
                  <a:pt x="944" y="958"/>
                  <a:pt x="975" y="988"/>
                  <a:pt x="975" y="1026"/>
                </a:cubicBezTo>
                <a:cubicBezTo>
                  <a:pt x="975" y="1064"/>
                  <a:pt x="944" y="1095"/>
                  <a:pt x="907" y="1095"/>
                </a:cubicBezTo>
                <a:close/>
                <a:moveTo>
                  <a:pt x="1605" y="1197"/>
                </a:moveTo>
                <a:cubicBezTo>
                  <a:pt x="1571" y="1187"/>
                  <a:pt x="1534" y="1183"/>
                  <a:pt x="1497" y="1183"/>
                </a:cubicBezTo>
                <a:cubicBezTo>
                  <a:pt x="1256" y="1183"/>
                  <a:pt x="1060" y="1378"/>
                  <a:pt x="1060" y="1619"/>
                </a:cubicBezTo>
                <a:cubicBezTo>
                  <a:pt x="1060" y="1828"/>
                  <a:pt x="1208" y="2003"/>
                  <a:pt x="1405" y="2045"/>
                </a:cubicBezTo>
                <a:cubicBezTo>
                  <a:pt x="1434" y="2051"/>
                  <a:pt x="1465" y="2055"/>
                  <a:pt x="1497" y="2055"/>
                </a:cubicBezTo>
                <a:cubicBezTo>
                  <a:pt x="1737" y="2055"/>
                  <a:pt x="1933" y="1860"/>
                  <a:pt x="1933" y="1619"/>
                </a:cubicBezTo>
                <a:cubicBezTo>
                  <a:pt x="1933" y="1416"/>
                  <a:pt x="1794" y="1245"/>
                  <a:pt x="1605" y="1197"/>
                </a:cubicBezTo>
                <a:close/>
                <a:moveTo>
                  <a:pt x="1743" y="1557"/>
                </a:moveTo>
                <a:lnTo>
                  <a:pt x="1743" y="1557"/>
                </a:lnTo>
                <a:lnTo>
                  <a:pt x="1605" y="1695"/>
                </a:lnTo>
                <a:lnTo>
                  <a:pt x="1497" y="1804"/>
                </a:lnTo>
                <a:cubicBezTo>
                  <a:pt x="1462" y="1838"/>
                  <a:pt x="1407" y="1838"/>
                  <a:pt x="1373" y="1804"/>
                </a:cubicBezTo>
                <a:lnTo>
                  <a:pt x="1250" y="1681"/>
                </a:lnTo>
                <a:cubicBezTo>
                  <a:pt x="1216" y="1646"/>
                  <a:pt x="1216" y="1591"/>
                  <a:pt x="1250" y="1557"/>
                </a:cubicBezTo>
                <a:cubicBezTo>
                  <a:pt x="1284" y="1523"/>
                  <a:pt x="1339" y="1523"/>
                  <a:pt x="1373" y="1557"/>
                </a:cubicBezTo>
                <a:lnTo>
                  <a:pt x="1435" y="1619"/>
                </a:lnTo>
                <a:lnTo>
                  <a:pt x="1605" y="1448"/>
                </a:lnTo>
                <a:lnTo>
                  <a:pt x="1620" y="1434"/>
                </a:lnTo>
                <a:cubicBezTo>
                  <a:pt x="1654" y="1400"/>
                  <a:pt x="1709" y="1400"/>
                  <a:pt x="1743" y="1434"/>
                </a:cubicBezTo>
                <a:cubicBezTo>
                  <a:pt x="1777" y="1468"/>
                  <a:pt x="1777" y="1523"/>
                  <a:pt x="1743" y="1557"/>
                </a:cubicBezTo>
                <a:close/>
              </a:path>
            </a:pathLst>
          </a:custGeom>
          <a:solidFill>
            <a:schemeClr val="bg1"/>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0" name="椭圆 29"/>
          <p:cNvSpPr>
            <a:spLocks noChangeAspect="1"/>
          </p:cNvSpPr>
          <p:nvPr/>
        </p:nvSpPr>
        <p:spPr bwMode="auto">
          <a:xfrm>
            <a:off x="4246764" y="1355682"/>
            <a:ext cx="417437" cy="417437"/>
          </a:xfrm>
          <a:prstGeom prst="ellipse">
            <a:avLst/>
          </a:prstGeom>
          <a:solidFill>
            <a:srgbClr val="92D05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1</a:t>
            </a:r>
            <a:endParaRPr lang="zh-CN" altLang="en-US" sz="1599" b="1" dirty="0">
              <a:solidFill>
                <a:schemeClr val="bg1"/>
              </a:solidFill>
              <a:latin typeface="+mn-ea"/>
            </a:endParaRPr>
          </a:p>
        </p:txBody>
      </p:sp>
      <p:sp>
        <p:nvSpPr>
          <p:cNvPr id="32" name="椭圆 31"/>
          <p:cNvSpPr>
            <a:spLocks noChangeAspect="1"/>
          </p:cNvSpPr>
          <p:nvPr/>
        </p:nvSpPr>
        <p:spPr bwMode="auto">
          <a:xfrm>
            <a:off x="4246764" y="2340180"/>
            <a:ext cx="417437" cy="417437"/>
          </a:xfrm>
          <a:prstGeom prst="ellipse">
            <a:avLst/>
          </a:prstGeom>
          <a:solidFill>
            <a:srgbClr val="FFC00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2</a:t>
            </a:r>
            <a:endParaRPr lang="zh-CN" altLang="en-US" sz="1599" b="1" dirty="0">
              <a:solidFill>
                <a:schemeClr val="bg1"/>
              </a:solidFill>
              <a:latin typeface="+mn-ea"/>
            </a:endParaRPr>
          </a:p>
        </p:txBody>
      </p:sp>
      <p:sp>
        <p:nvSpPr>
          <p:cNvPr id="34" name="椭圆 33"/>
          <p:cNvSpPr>
            <a:spLocks noChangeAspect="1"/>
          </p:cNvSpPr>
          <p:nvPr/>
        </p:nvSpPr>
        <p:spPr bwMode="auto">
          <a:xfrm>
            <a:off x="4246764" y="3364903"/>
            <a:ext cx="417437" cy="417437"/>
          </a:xfrm>
          <a:prstGeom prst="ellipse">
            <a:avLst/>
          </a:prstGeom>
          <a:solidFill>
            <a:srgbClr val="04B0BE"/>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3</a:t>
            </a:r>
            <a:endParaRPr lang="zh-CN" altLang="en-US" sz="1599" b="1" dirty="0">
              <a:solidFill>
                <a:schemeClr val="bg1"/>
              </a:solidFill>
              <a:latin typeface="+mn-ea"/>
            </a:endParaRPr>
          </a:p>
        </p:txBody>
      </p:sp>
      <p:sp>
        <p:nvSpPr>
          <p:cNvPr id="36" name="椭圆 35"/>
          <p:cNvSpPr>
            <a:spLocks noChangeAspect="1"/>
          </p:cNvSpPr>
          <p:nvPr/>
        </p:nvSpPr>
        <p:spPr bwMode="auto">
          <a:xfrm>
            <a:off x="4246764" y="4357743"/>
            <a:ext cx="417437" cy="417437"/>
          </a:xfrm>
          <a:prstGeom prst="ellipse">
            <a:avLst/>
          </a:prstGeom>
          <a:solidFill>
            <a:schemeClr val="accent6">
              <a:lumMod val="75000"/>
            </a:schemeClr>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4</a:t>
            </a:r>
            <a:endParaRPr lang="zh-CN" altLang="en-US" sz="1599" b="1" dirty="0">
              <a:solidFill>
                <a:schemeClr val="bg1"/>
              </a:solidFill>
              <a:latin typeface="+mn-ea"/>
            </a:endParaRPr>
          </a:p>
        </p:txBody>
      </p:sp>
      <p:sp>
        <p:nvSpPr>
          <p:cNvPr id="38" name="椭圆 37"/>
          <p:cNvSpPr>
            <a:spLocks noChangeAspect="1"/>
          </p:cNvSpPr>
          <p:nvPr/>
        </p:nvSpPr>
        <p:spPr bwMode="auto">
          <a:xfrm>
            <a:off x="4246764" y="5319065"/>
            <a:ext cx="417437" cy="417437"/>
          </a:xfrm>
          <a:prstGeom prst="ellipse">
            <a:avLst/>
          </a:prstGeom>
          <a:solidFill>
            <a:schemeClr val="accent2">
              <a:lumMod val="75000"/>
            </a:schemeClr>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5</a:t>
            </a:r>
            <a:endParaRPr lang="zh-CN" altLang="en-US" sz="1599" b="1" dirty="0">
              <a:solidFill>
                <a:schemeClr val="bg1"/>
              </a:solidFill>
              <a:latin typeface="+mn-ea"/>
            </a:endParaRPr>
          </a:p>
        </p:txBody>
      </p:sp>
      <p:sp>
        <p:nvSpPr>
          <p:cNvPr id="19" name="TextBox 26"/>
          <p:cNvSpPr txBox="1"/>
          <p:nvPr/>
        </p:nvSpPr>
        <p:spPr>
          <a:xfrm>
            <a:off x="14023822" y="8280316"/>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4802946" y="1330733"/>
            <a:ext cx="6437981" cy="523220"/>
          </a:xfrm>
          <a:prstGeom prst="rect">
            <a:avLst/>
          </a:prstGeom>
        </p:spPr>
        <p:txBody>
          <a:bodyPr wrap="none">
            <a:spAutoFit/>
          </a:bodyPr>
          <a:lstStyle/>
          <a:p>
            <a:r>
              <a:rPr lang="en-US" altLang="zh-CN" sz="2800" b="1" dirty="0">
                <a:latin typeface="微软雅黑" panose="020B0503020204020204" pitchFamily="34" charset="-122"/>
                <a:ea typeface="微软雅黑" panose="020B0503020204020204" pitchFamily="34" charset="-122"/>
              </a:rPr>
              <a:t>1996</a:t>
            </a:r>
            <a:r>
              <a:rPr lang="zh-CN" altLang="en-US" sz="2800" b="1" dirty="0">
                <a:latin typeface="微软雅黑" panose="020B0503020204020204" pitchFamily="34" charset="-122"/>
                <a:ea typeface="微软雅黑" panose="020B0503020204020204" pitchFamily="34" charset="-122"/>
              </a:rPr>
              <a:t>年的</a:t>
            </a:r>
            <a:r>
              <a:rPr lang="en-US" altLang="zh-CN" sz="2800" b="1" dirty="0">
                <a:latin typeface="微软雅黑" panose="020B0503020204020204" pitchFamily="34" charset="-122"/>
                <a:ea typeface="微软雅黑" panose="020B0503020204020204" pitchFamily="34" charset="-122"/>
              </a:rPr>
              <a:t>USB1.0</a:t>
            </a:r>
            <a:r>
              <a:rPr lang="zh-CN" altLang="en-US" sz="2800" b="1" dirty="0">
                <a:latin typeface="微软雅黑" panose="020B0503020204020204" pitchFamily="34" charset="-122"/>
                <a:ea typeface="微软雅黑" panose="020B0503020204020204" pitchFamily="34" charset="-122"/>
              </a:rPr>
              <a:t>传输速度为</a:t>
            </a:r>
            <a:r>
              <a:rPr lang="en-US" altLang="zh-CN" sz="2800" b="1" dirty="0">
                <a:latin typeface="微软雅黑" panose="020B0503020204020204" pitchFamily="34" charset="-122"/>
                <a:ea typeface="微软雅黑" panose="020B0503020204020204" pitchFamily="34" charset="-122"/>
              </a:rPr>
              <a:t>1.5Mbps</a:t>
            </a:r>
          </a:p>
        </p:txBody>
      </p:sp>
      <p:sp>
        <p:nvSpPr>
          <p:cNvPr id="3" name="矩形 2"/>
          <p:cNvSpPr/>
          <p:nvPr/>
        </p:nvSpPr>
        <p:spPr>
          <a:xfrm>
            <a:off x="4802946" y="2291178"/>
            <a:ext cx="6335389" cy="523220"/>
          </a:xfrm>
          <a:prstGeom prst="rect">
            <a:avLst/>
          </a:prstGeom>
        </p:spPr>
        <p:txBody>
          <a:bodyPr wrap="none">
            <a:spAutoFit/>
          </a:bodyPr>
          <a:lstStyle/>
          <a:p>
            <a:r>
              <a:rPr lang="en-US" altLang="zh-CN" sz="2800" b="1" dirty="0">
                <a:latin typeface="微软雅黑" panose="020B0503020204020204" pitchFamily="34" charset="-122"/>
                <a:ea typeface="微软雅黑" panose="020B0503020204020204" pitchFamily="34" charset="-122"/>
              </a:rPr>
              <a:t>1998</a:t>
            </a:r>
            <a:r>
              <a:rPr lang="zh-CN" altLang="en-US" sz="2800" b="1" dirty="0">
                <a:latin typeface="微软雅黑" panose="020B0503020204020204" pitchFamily="34" charset="-122"/>
                <a:ea typeface="微软雅黑" panose="020B0503020204020204" pitchFamily="34" charset="-122"/>
              </a:rPr>
              <a:t>年的</a:t>
            </a:r>
            <a:r>
              <a:rPr lang="en-US" altLang="zh-CN" sz="2800" b="1" dirty="0">
                <a:latin typeface="微软雅黑" panose="020B0503020204020204" pitchFamily="34" charset="-122"/>
                <a:ea typeface="微软雅黑" panose="020B0503020204020204" pitchFamily="34" charset="-122"/>
              </a:rPr>
              <a:t>USB1.1</a:t>
            </a:r>
            <a:r>
              <a:rPr lang="zh-CN" altLang="en-US" sz="2800" b="1" dirty="0">
                <a:latin typeface="微软雅黑" panose="020B0503020204020204" pitchFamily="34" charset="-122"/>
                <a:ea typeface="微软雅黑" panose="020B0503020204020204" pitchFamily="34" charset="-122"/>
              </a:rPr>
              <a:t>传输速度为</a:t>
            </a:r>
            <a:r>
              <a:rPr lang="en-US" altLang="zh-CN" sz="2800" b="1" dirty="0">
                <a:latin typeface="微软雅黑" panose="020B0503020204020204" pitchFamily="34" charset="-122"/>
                <a:ea typeface="微软雅黑" panose="020B0503020204020204" pitchFamily="34" charset="-122"/>
              </a:rPr>
              <a:t>12Mbps</a:t>
            </a:r>
          </a:p>
        </p:txBody>
      </p:sp>
      <p:sp>
        <p:nvSpPr>
          <p:cNvPr id="4" name="矩形 3"/>
          <p:cNvSpPr/>
          <p:nvPr/>
        </p:nvSpPr>
        <p:spPr>
          <a:xfrm>
            <a:off x="4802946" y="3315901"/>
            <a:ext cx="6556603" cy="523220"/>
          </a:xfrm>
          <a:prstGeom prst="rect">
            <a:avLst/>
          </a:prstGeom>
        </p:spPr>
        <p:txBody>
          <a:bodyPr wrap="none">
            <a:spAutoFit/>
          </a:bodyPr>
          <a:lstStyle/>
          <a:p>
            <a:r>
              <a:rPr lang="en-US" altLang="zh-CN" sz="2800" b="1" dirty="0">
                <a:latin typeface="微软雅黑" panose="020B0503020204020204" pitchFamily="34" charset="-122"/>
                <a:ea typeface="微软雅黑" panose="020B0503020204020204" pitchFamily="34" charset="-122"/>
              </a:rPr>
              <a:t>2000</a:t>
            </a:r>
            <a:r>
              <a:rPr lang="zh-CN" altLang="en-US" sz="2800" b="1" dirty="0">
                <a:latin typeface="微软雅黑" panose="020B0503020204020204" pitchFamily="34" charset="-122"/>
                <a:ea typeface="微软雅黑" panose="020B0503020204020204" pitchFamily="34" charset="-122"/>
              </a:rPr>
              <a:t>年的</a:t>
            </a:r>
            <a:r>
              <a:rPr lang="en-US" altLang="zh-CN" sz="2800" b="1" dirty="0">
                <a:latin typeface="微软雅黑" panose="020B0503020204020204" pitchFamily="34" charset="-122"/>
                <a:ea typeface="微软雅黑" panose="020B0503020204020204" pitchFamily="34" charset="-122"/>
              </a:rPr>
              <a:t>USB2.0</a:t>
            </a:r>
            <a:r>
              <a:rPr lang="zh-CN" altLang="en-US" sz="2800" b="1" dirty="0">
                <a:latin typeface="微软雅黑" panose="020B0503020204020204" pitchFamily="34" charset="-122"/>
                <a:ea typeface="微软雅黑" panose="020B0503020204020204" pitchFamily="34" charset="-122"/>
              </a:rPr>
              <a:t>传输速度达</a:t>
            </a:r>
            <a:r>
              <a:rPr lang="en-US" altLang="zh-CN" sz="2800" b="1" dirty="0">
                <a:latin typeface="微软雅黑" panose="020B0503020204020204" pitchFamily="34" charset="-122"/>
                <a:ea typeface="微软雅黑" panose="020B0503020204020204" pitchFamily="34" charset="-122"/>
              </a:rPr>
              <a:t>480Mbps</a:t>
            </a:r>
          </a:p>
        </p:txBody>
      </p:sp>
      <p:sp>
        <p:nvSpPr>
          <p:cNvPr id="9" name="矩形 8"/>
          <p:cNvSpPr/>
          <p:nvPr/>
        </p:nvSpPr>
        <p:spPr>
          <a:xfrm>
            <a:off x="4802946" y="4308741"/>
            <a:ext cx="6019597" cy="523220"/>
          </a:xfrm>
          <a:prstGeom prst="rect">
            <a:avLst/>
          </a:prstGeom>
        </p:spPr>
        <p:txBody>
          <a:bodyPr wrap="none">
            <a:spAutoFit/>
          </a:bodyPr>
          <a:lstStyle/>
          <a:p>
            <a:r>
              <a:rPr lang="en-US" altLang="zh-CN" sz="2800" b="1" dirty="0">
                <a:latin typeface="微软雅黑" panose="020B0503020204020204" pitchFamily="34" charset="-122"/>
                <a:ea typeface="微软雅黑" panose="020B0503020204020204" pitchFamily="34" charset="-122"/>
              </a:rPr>
              <a:t>2008</a:t>
            </a:r>
            <a:r>
              <a:rPr lang="zh-CN" altLang="en-US" sz="2800" b="1" dirty="0">
                <a:latin typeface="微软雅黑" panose="020B0503020204020204" pitchFamily="34" charset="-122"/>
                <a:ea typeface="微软雅黑" panose="020B0503020204020204" pitchFamily="34" charset="-122"/>
              </a:rPr>
              <a:t>年的</a:t>
            </a:r>
            <a:r>
              <a:rPr lang="en-US" altLang="zh-CN" sz="2800" b="1" dirty="0">
                <a:latin typeface="微软雅黑" panose="020B0503020204020204" pitchFamily="34" charset="-122"/>
                <a:ea typeface="微软雅黑" panose="020B0503020204020204" pitchFamily="34" charset="-122"/>
              </a:rPr>
              <a:t>USB3.0</a:t>
            </a:r>
            <a:r>
              <a:rPr lang="zh-CN" altLang="en-US" sz="2800" b="1" dirty="0">
                <a:latin typeface="微软雅黑" panose="020B0503020204020204" pitchFamily="34" charset="-122"/>
                <a:ea typeface="微软雅黑" panose="020B0503020204020204" pitchFamily="34" charset="-122"/>
              </a:rPr>
              <a:t>传输速度达</a:t>
            </a:r>
            <a:r>
              <a:rPr lang="en-US" altLang="zh-CN" sz="2800" b="1" dirty="0">
                <a:latin typeface="微软雅黑" panose="020B0503020204020204" pitchFamily="34" charset="-122"/>
                <a:ea typeface="微软雅黑" panose="020B0503020204020204" pitchFamily="34" charset="-122"/>
              </a:rPr>
              <a:t>5Gbps</a:t>
            </a:r>
          </a:p>
        </p:txBody>
      </p:sp>
      <p:sp>
        <p:nvSpPr>
          <p:cNvPr id="12" name="矩形 11"/>
          <p:cNvSpPr/>
          <p:nvPr/>
        </p:nvSpPr>
        <p:spPr>
          <a:xfrm>
            <a:off x="4802946" y="5303172"/>
            <a:ext cx="5715026"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最新的</a:t>
            </a:r>
            <a:r>
              <a:rPr lang="en-US" altLang="zh-CN" sz="2800" b="1" dirty="0">
                <a:latin typeface="微软雅黑" panose="020B0503020204020204" pitchFamily="34" charset="-122"/>
                <a:ea typeface="微软雅黑" panose="020B0503020204020204" pitchFamily="34" charset="-122"/>
              </a:rPr>
              <a:t>USB3.1</a:t>
            </a:r>
            <a:r>
              <a:rPr lang="zh-CN" altLang="en-US" sz="2800" b="1" dirty="0">
                <a:latin typeface="微软雅黑" panose="020B0503020204020204" pitchFamily="34" charset="-122"/>
                <a:ea typeface="微软雅黑" panose="020B0503020204020204" pitchFamily="34" charset="-122"/>
              </a:rPr>
              <a:t>传输速度达</a:t>
            </a:r>
            <a:r>
              <a:rPr lang="en-US" altLang="zh-CN" sz="2800" b="1" dirty="0">
                <a:latin typeface="微软雅黑" panose="020B0503020204020204" pitchFamily="34" charset="-122"/>
                <a:ea typeface="微软雅黑" panose="020B0503020204020204" pitchFamily="34" charset="-122"/>
              </a:rPr>
              <a:t>10Gbps</a:t>
            </a:r>
          </a:p>
        </p:txBody>
      </p:sp>
    </p:spTree>
    <p:extLst>
      <p:ext uri="{BB962C8B-B14F-4D97-AF65-F5344CB8AC3E}">
        <p14:creationId xmlns:p14="http://schemas.microsoft.com/office/powerpoint/2010/main" val="21767593"/>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1434609" y="1833034"/>
            <a:ext cx="9313819" cy="3684587"/>
          </a:xfrm>
          <a:prstGeom prst="rect">
            <a:avLst/>
          </a:prstGeom>
          <a:solidFill>
            <a:schemeClr val="bg1">
              <a:lumMod val="50000"/>
            </a:schemeClr>
          </a:solidFill>
          <a:ln>
            <a:solidFill>
              <a:srgbClr val="0089D2"/>
            </a:solidFill>
          </a:ln>
          <a:effectLst>
            <a:outerShdw blurRad="50800"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21" name="矩形 20"/>
          <p:cNvSpPr/>
          <p:nvPr/>
        </p:nvSpPr>
        <p:spPr>
          <a:xfrm>
            <a:off x="1409605" y="1769534"/>
            <a:ext cx="9313819" cy="3684587"/>
          </a:xfrm>
          <a:prstGeom prst="rect">
            <a:avLst/>
          </a:prstGeom>
          <a:solidFill>
            <a:srgbClr val="F9F9F9"/>
          </a:solidFill>
          <a:ln>
            <a:noFill/>
          </a:ln>
          <a:effectLst>
            <a:outerShdw blurRad="50800"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15" name="矩形 5"/>
          <p:cNvSpPr>
            <a:spLocks noChangeArrowheads="1"/>
          </p:cNvSpPr>
          <p:nvPr/>
        </p:nvSpPr>
        <p:spPr bwMode="auto">
          <a:xfrm>
            <a:off x="1427165" y="1807634"/>
            <a:ext cx="9337675" cy="3684587"/>
          </a:xfrm>
          <a:prstGeom prst="rect">
            <a:avLst/>
          </a:prstGeom>
          <a:noFill/>
          <a:ln w="19050">
            <a:solidFill>
              <a:srgbClr val="0089D2"/>
            </a:solidFill>
            <a:bevel/>
            <a:headEnd/>
            <a:tailEnd/>
          </a:ln>
        </p:spPr>
        <p:txBody>
          <a:bodyPr lIns="91424" tIns="45713" rIns="91424" bIns="45713" anchor="ctr"/>
          <a:lstStyle/>
          <a:p>
            <a:pPr algn="ctr"/>
            <a:endParaRPr lang="zh-CN" altLang="zh-CN" sz="24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pic>
        <p:nvPicPr>
          <p:cNvPr id="18" name="Picture 6"/>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rot="854817">
            <a:off x="8974774" y="5241992"/>
            <a:ext cx="1658468" cy="1050719"/>
          </a:xfrm>
          <a:prstGeom prst="rect">
            <a:avLst/>
          </a:prstGeom>
          <a:solidFill>
            <a:srgbClr val="FFFFFF">
              <a:shade val="85000"/>
            </a:srgbClr>
          </a:solidFill>
          <a:ln w="1143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a:extLst/>
        </p:spPr>
      </p:pic>
      <p:pic>
        <p:nvPicPr>
          <p:cNvPr id="23" name="Picture 172"/>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929707" y="127871"/>
            <a:ext cx="2206912" cy="91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矩形 23"/>
          <p:cNvSpPr/>
          <p:nvPr/>
        </p:nvSpPr>
        <p:spPr>
          <a:xfrm>
            <a:off x="0" y="6748043"/>
            <a:ext cx="12192000" cy="134292"/>
          </a:xfrm>
          <a:prstGeom prst="rect">
            <a:avLst/>
          </a:prstGeom>
          <a:solidFill>
            <a:srgbClr val="04B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25" name="文本框 24"/>
          <p:cNvSpPr txBox="1"/>
          <p:nvPr/>
        </p:nvSpPr>
        <p:spPr>
          <a:xfrm>
            <a:off x="13425202" y="7905750"/>
            <a:ext cx="877163" cy="369332"/>
          </a:xfrm>
          <a:prstGeom prst="rect">
            <a:avLst/>
          </a:prstGeom>
          <a:noFill/>
        </p:spPr>
        <p:txBody>
          <a:bodyPr wrap="none" rtlCol="0">
            <a:spAutoFit/>
          </a:bodyPr>
          <a:lstStyle/>
          <a:p>
            <a:r>
              <a:rPr lang="zh-CN" altLang="en-US" dirty="0"/>
              <a:t>延迟符</a:t>
            </a:r>
          </a:p>
        </p:txBody>
      </p:sp>
      <p:sp>
        <p:nvSpPr>
          <p:cNvPr id="2" name="矩形 1"/>
          <p:cNvSpPr/>
          <p:nvPr/>
        </p:nvSpPr>
        <p:spPr>
          <a:xfrm>
            <a:off x="1409605" y="1192624"/>
            <a:ext cx="3204723" cy="584775"/>
          </a:xfrm>
          <a:prstGeom prst="rect">
            <a:avLst/>
          </a:prstGeom>
        </p:spPr>
        <p:txBody>
          <a:bodyPr wrap="none">
            <a:spAutoFit/>
          </a:bodyPr>
          <a:lstStyle/>
          <a:p>
            <a:r>
              <a:rPr lang="en-US" altLang="zh-CN" sz="3200" b="1" dirty="0">
                <a:solidFill>
                  <a:srgbClr val="01C0B0"/>
                </a:solidFill>
                <a:latin typeface="微软雅黑" panose="020B0503020204020204" pitchFamily="34" charset="-122"/>
                <a:ea typeface="微软雅黑" panose="020B0503020204020204" pitchFamily="34" charset="-122"/>
              </a:rPr>
              <a:t>USB</a:t>
            </a:r>
            <a:r>
              <a:rPr lang="zh-CN" altLang="en-US" sz="3200" b="1" dirty="0">
                <a:solidFill>
                  <a:srgbClr val="01C0B0"/>
                </a:solidFill>
                <a:latin typeface="微软雅黑" panose="020B0503020204020204" pitchFamily="34" charset="-122"/>
                <a:ea typeface="微软雅黑" panose="020B0503020204020204" pitchFamily="34" charset="-122"/>
              </a:rPr>
              <a:t>的配置结构 </a:t>
            </a:r>
          </a:p>
        </p:txBody>
      </p:sp>
      <p:sp>
        <p:nvSpPr>
          <p:cNvPr id="3" name="矩形 2"/>
          <p:cNvSpPr/>
          <p:nvPr/>
        </p:nvSpPr>
        <p:spPr>
          <a:xfrm>
            <a:off x="1883953" y="1987933"/>
            <a:ext cx="8415130" cy="3323987"/>
          </a:xfrm>
          <a:prstGeom prst="rect">
            <a:avLst/>
          </a:prstGeom>
        </p:spPr>
        <p:txBody>
          <a:bodyPr wrap="square">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USB</a:t>
            </a:r>
            <a:r>
              <a:rPr lang="zh-CN" altLang="en-US" sz="2800" b="1" dirty="0">
                <a:latin typeface="微软雅黑" panose="020B0503020204020204" pitchFamily="34" charset="-122"/>
                <a:ea typeface="微软雅黑" panose="020B0503020204020204" pitchFamily="34" charset="-122"/>
              </a:rPr>
              <a:t>的物理连接采用的是一种分层的星型结构，</a:t>
            </a:r>
            <a:r>
              <a:rPr lang="en-US" altLang="zh-CN" sz="2800" b="1" dirty="0">
                <a:latin typeface="微软雅黑" panose="020B0503020204020204" pitchFamily="34" charset="-122"/>
                <a:ea typeface="微软雅黑" panose="020B0503020204020204" pitchFamily="34" charset="-122"/>
              </a:rPr>
              <a:t>USB Hub</a:t>
            </a:r>
            <a:r>
              <a:rPr lang="zh-CN" altLang="en-US" sz="2800" b="1" dirty="0">
                <a:latin typeface="微软雅黑" panose="020B0503020204020204" pitchFamily="34" charset="-122"/>
                <a:ea typeface="微软雅黑" panose="020B0503020204020204" pitchFamily="34" charset="-122"/>
              </a:rPr>
              <a:t>是每个星型结构的中心，主机则相当于根</a:t>
            </a:r>
            <a:r>
              <a:rPr lang="en-US" altLang="zh-CN" sz="2800" b="1" dirty="0">
                <a:latin typeface="微软雅黑" panose="020B0503020204020204" pitchFamily="34" charset="-122"/>
                <a:ea typeface="微软雅黑" panose="020B0503020204020204" pitchFamily="34" charset="-122"/>
              </a:rPr>
              <a:t>Hub</a:t>
            </a:r>
            <a:r>
              <a:rPr lang="zh-CN" altLang="en-US" sz="2800" b="1" dirty="0">
                <a:latin typeface="微软雅黑" panose="020B0503020204020204" pitchFamily="34" charset="-122"/>
                <a:ea typeface="微软雅黑" panose="020B0503020204020204" pitchFamily="34" charset="-122"/>
              </a:rPr>
              <a:t>，所有</a:t>
            </a:r>
            <a:r>
              <a:rPr lang="en-US" altLang="zh-CN" sz="2800" b="1" dirty="0">
                <a:latin typeface="微软雅黑" panose="020B0503020204020204" pitchFamily="34" charset="-122"/>
                <a:ea typeface="微软雅黑" panose="020B0503020204020204" pitchFamily="34" charset="-122"/>
              </a:rPr>
              <a:t>USB</a:t>
            </a:r>
            <a:r>
              <a:rPr lang="zh-CN" altLang="en-US" sz="2800" b="1" dirty="0">
                <a:latin typeface="微软雅黑" panose="020B0503020204020204" pitchFamily="34" charset="-122"/>
                <a:ea typeface="微软雅黑" panose="020B0503020204020204" pitchFamily="34" charset="-122"/>
              </a:rPr>
              <a:t>设备或者直接与主机相连，或者与</a:t>
            </a:r>
            <a:r>
              <a:rPr lang="en-US" altLang="zh-CN" sz="2800" b="1" dirty="0">
                <a:latin typeface="微软雅黑" panose="020B0503020204020204" pitchFamily="34" charset="-122"/>
                <a:ea typeface="微软雅黑" panose="020B0503020204020204" pitchFamily="34" charset="-122"/>
              </a:rPr>
              <a:t>USB Hub</a:t>
            </a:r>
            <a:r>
              <a:rPr lang="zh-CN" altLang="en-US" sz="2800" b="1" dirty="0">
                <a:latin typeface="微软雅黑" panose="020B0503020204020204" pitchFamily="34" charset="-122"/>
                <a:ea typeface="微软雅黑" panose="020B0503020204020204" pitchFamily="34" charset="-122"/>
              </a:rPr>
              <a:t>相连。</a:t>
            </a:r>
            <a:r>
              <a:rPr lang="en-US" altLang="zh-CN" sz="2800" b="1" dirty="0">
                <a:latin typeface="微软雅黑" panose="020B0503020204020204" pitchFamily="34" charset="-122"/>
                <a:ea typeface="微软雅黑" panose="020B0503020204020204" pitchFamily="34" charset="-122"/>
              </a:rPr>
              <a:t>USB Hub</a:t>
            </a:r>
            <a:r>
              <a:rPr lang="zh-CN" altLang="en-US" sz="2800" b="1" dirty="0">
                <a:latin typeface="微软雅黑" panose="020B0503020204020204" pitchFamily="34" charset="-122"/>
                <a:ea typeface="微软雅黑" panose="020B0503020204020204" pitchFamily="34" charset="-122"/>
              </a:rPr>
              <a:t>可以级联，最多可达</a:t>
            </a:r>
            <a:r>
              <a:rPr lang="en-US" altLang="zh-CN" sz="2800" b="1" dirty="0">
                <a:latin typeface="微软雅黑" panose="020B0503020204020204" pitchFamily="34" charset="-122"/>
                <a:ea typeface="微软雅黑" panose="020B0503020204020204" pitchFamily="34" charset="-122"/>
              </a:rPr>
              <a:t>5</a:t>
            </a:r>
            <a:r>
              <a:rPr lang="zh-CN" altLang="en-US" sz="2800" b="1" dirty="0">
                <a:latin typeface="微软雅黑" panose="020B0503020204020204" pitchFamily="34" charset="-122"/>
                <a:ea typeface="微软雅黑" panose="020B0503020204020204" pitchFamily="34" charset="-122"/>
              </a:rPr>
              <a:t>层，所连接设备最多</a:t>
            </a:r>
            <a:r>
              <a:rPr lang="en-US" altLang="zh-CN" sz="2800" b="1" dirty="0">
                <a:latin typeface="微软雅黑" panose="020B0503020204020204" pitchFamily="34" charset="-122"/>
                <a:ea typeface="微软雅黑" panose="020B0503020204020204" pitchFamily="34" charset="-122"/>
              </a:rPr>
              <a:t>127</a:t>
            </a:r>
            <a:r>
              <a:rPr lang="zh-CN" altLang="en-US" sz="2800" b="1" dirty="0">
                <a:latin typeface="微软雅黑" panose="020B0503020204020204" pitchFamily="34" charset="-122"/>
                <a:ea typeface="微软雅黑" panose="020B0503020204020204" pitchFamily="34" charset="-122"/>
              </a:rPr>
              <a:t>个。 </a:t>
            </a:r>
          </a:p>
        </p:txBody>
      </p:sp>
    </p:spTree>
    <p:extLst>
      <p:ext uri="{BB962C8B-B14F-4D97-AF65-F5344CB8AC3E}">
        <p14:creationId xmlns:p14="http://schemas.microsoft.com/office/powerpoint/2010/main" val="1931803008"/>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6"/>
          <p:cNvSpPr>
            <a:spLocks noChangeArrowheads="1"/>
          </p:cNvSpPr>
          <p:nvPr/>
        </p:nvSpPr>
        <p:spPr bwMode="auto">
          <a:xfrm>
            <a:off x="1524001" y="19965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graphicFrame>
        <p:nvGraphicFramePr>
          <p:cNvPr id="17412" name="Object 5"/>
          <p:cNvGraphicFramePr>
            <a:graphicFrameLocks noChangeAspect="1"/>
          </p:cNvGraphicFramePr>
          <p:nvPr>
            <p:extLst>
              <p:ext uri="{D42A27DB-BD31-4B8C-83A1-F6EECF244321}">
                <p14:modId xmlns:p14="http://schemas.microsoft.com/office/powerpoint/2010/main" val="372075192"/>
              </p:ext>
            </p:extLst>
          </p:nvPr>
        </p:nvGraphicFramePr>
        <p:xfrm>
          <a:off x="1258956" y="795132"/>
          <a:ext cx="9819861" cy="5444850"/>
        </p:xfrm>
        <a:graphic>
          <a:graphicData uri="http://schemas.openxmlformats.org/presentationml/2006/ole">
            <mc:AlternateContent xmlns:mc="http://schemas.openxmlformats.org/markup-compatibility/2006">
              <mc:Choice xmlns:v="urn:schemas-microsoft-com:vml" Requires="v">
                <p:oleObj spid="_x0000_s2064" name="Visio" r:id="rId3" imgW="3940759" imgH="2596896" progId="Visio.Drawing.11">
                  <p:embed/>
                </p:oleObj>
              </mc:Choice>
              <mc:Fallback>
                <p:oleObj name="Visio" r:id="rId3" imgW="3940759" imgH="2596896" progId="Visio.Drawing.11">
                  <p:embed/>
                  <p:pic>
                    <p:nvPicPr>
                      <p:cNvPr id="17412"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956" y="795132"/>
                        <a:ext cx="9819861" cy="544485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787033676"/>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875773" y="-117251"/>
            <a:ext cx="10515600" cy="1325563"/>
          </a:xfrm>
        </p:spPr>
        <p:txBody>
          <a:bodyPr/>
          <a:lstStyle/>
          <a:p>
            <a:r>
              <a:rPr lang="en-US" altLang="zh-CN" sz="3200" b="1" dirty="0">
                <a:latin typeface="微软雅黑" panose="020B0503020204020204" pitchFamily="34" charset="-122"/>
                <a:ea typeface="微软雅黑" panose="020B0503020204020204" pitchFamily="34" charset="-122"/>
                <a:cs typeface="+mn-cs"/>
              </a:rPr>
              <a:t>USB</a:t>
            </a:r>
            <a:r>
              <a:rPr lang="zh-CN" altLang="en-US" sz="3200" b="1" dirty="0">
                <a:latin typeface="微软雅黑" panose="020B0503020204020204" pitchFamily="34" charset="-122"/>
                <a:ea typeface="微软雅黑" panose="020B0503020204020204" pitchFamily="34" charset="-122"/>
                <a:cs typeface="+mn-cs"/>
              </a:rPr>
              <a:t>的接口类型 </a:t>
            </a:r>
          </a:p>
        </p:txBody>
      </p:sp>
      <p:sp>
        <p:nvSpPr>
          <p:cNvPr id="18435" name="Rectangle 3"/>
          <p:cNvSpPr>
            <a:spLocks noGrp="1" noChangeArrowheads="1"/>
          </p:cNvSpPr>
          <p:nvPr>
            <p:ph type="body" idx="1"/>
          </p:nvPr>
        </p:nvSpPr>
        <p:spPr>
          <a:xfrm>
            <a:off x="2654679" y="3810692"/>
            <a:ext cx="8503649" cy="1571038"/>
          </a:xfrm>
        </p:spPr>
        <p:txBody>
          <a:bodyPr>
            <a:normAutofit/>
          </a:bodyPr>
          <a:lstStyle/>
          <a:p>
            <a:pPr marL="0" indent="0" eaLnBrk="1" hangingPunct="1">
              <a:lnSpc>
                <a:spcPct val="150000"/>
              </a:lnSpc>
              <a:buNone/>
            </a:pPr>
            <a:r>
              <a:rPr lang="zh-CN" altLang="en-US" b="1" dirty="0">
                <a:latin typeface="微软雅黑" panose="020B0503020204020204" pitchFamily="34" charset="-122"/>
                <a:ea typeface="微软雅黑" panose="020B0503020204020204" pitchFamily="34" charset="-122"/>
              </a:rPr>
              <a:t>根据</a:t>
            </a:r>
            <a:r>
              <a:rPr lang="en-US" altLang="zh-CN" b="1" dirty="0">
                <a:latin typeface="微软雅黑" panose="020B0503020204020204" pitchFamily="34" charset="-122"/>
                <a:ea typeface="微软雅黑" panose="020B0503020204020204" pitchFamily="34" charset="-122"/>
              </a:rPr>
              <a:t>USB</a:t>
            </a:r>
            <a:r>
              <a:rPr lang="zh-CN" altLang="en-US" b="1" dirty="0">
                <a:latin typeface="微软雅黑" panose="020B0503020204020204" pitchFamily="34" charset="-122"/>
                <a:ea typeface="微软雅黑" panose="020B0503020204020204" pitchFamily="34" charset="-122"/>
              </a:rPr>
              <a:t>的不同版本以及所连接对象的不同，</a:t>
            </a:r>
            <a:r>
              <a:rPr lang="en-US" altLang="zh-CN" b="1" dirty="0">
                <a:latin typeface="微软雅黑" panose="020B0503020204020204" pitchFamily="34" charset="-122"/>
                <a:ea typeface="微软雅黑" panose="020B0503020204020204" pitchFamily="34" charset="-122"/>
              </a:rPr>
              <a:t>USB</a:t>
            </a:r>
            <a:r>
              <a:rPr lang="zh-CN" altLang="en-US" b="1" dirty="0">
                <a:latin typeface="微软雅黑" panose="020B0503020204020204" pitchFamily="34" charset="-122"/>
                <a:ea typeface="微软雅黑" panose="020B0503020204020204" pitchFamily="34" charset="-122"/>
              </a:rPr>
              <a:t>接口也有很多不同的种类。 </a:t>
            </a:r>
          </a:p>
        </p:txBody>
      </p:sp>
      <p:grpSp>
        <p:nvGrpSpPr>
          <p:cNvPr id="4" name="组合 3"/>
          <p:cNvGrpSpPr/>
          <p:nvPr/>
        </p:nvGrpSpPr>
        <p:grpSpPr>
          <a:xfrm>
            <a:off x="816431" y="1455631"/>
            <a:ext cx="1304416" cy="1526579"/>
            <a:chOff x="1446900" y="2132856"/>
            <a:chExt cx="1304925" cy="1527175"/>
          </a:xfrm>
        </p:grpSpPr>
        <p:sp>
          <p:nvSpPr>
            <p:cNvPr id="5" name="Freeform 5"/>
            <p:cNvSpPr>
              <a:spLocks/>
            </p:cNvSpPr>
            <p:nvPr/>
          </p:nvSpPr>
          <p:spPr bwMode="auto">
            <a:xfrm>
              <a:off x="1446900" y="2132856"/>
              <a:ext cx="1304925"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89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3" y="0"/>
                    <a:pt x="1654" y="370"/>
                    <a:pt x="1654" y="827"/>
                  </a:cubicBezTo>
                  <a:cubicBezTo>
                    <a:pt x="1654" y="1182"/>
                    <a:pt x="1430" y="1485"/>
                    <a:pt x="1116" y="1602"/>
                  </a:cubicBezTo>
                  <a:lnTo>
                    <a:pt x="995" y="1741"/>
                  </a:lnTo>
                  <a:cubicBezTo>
                    <a:pt x="953" y="1788"/>
                    <a:pt x="912" y="1836"/>
                    <a:pt x="870" y="1884"/>
                  </a:cubicBezTo>
                  <a:cubicBezTo>
                    <a:pt x="845" y="1916"/>
                    <a:pt x="818" y="1918"/>
                    <a:pt x="789" y="1889"/>
                  </a:cubicBezTo>
                  <a:cubicBezTo>
                    <a:pt x="746" y="1840"/>
                    <a:pt x="703" y="1790"/>
                    <a:pt x="660" y="1741"/>
                  </a:cubicBezTo>
                  <a:lnTo>
                    <a:pt x="540" y="1603"/>
                  </a:lnTo>
                  <a:cubicBezTo>
                    <a:pt x="225" y="1486"/>
                    <a:pt x="0" y="1183"/>
                    <a:pt x="0" y="827"/>
                  </a:cubicBezTo>
                  <a:cubicBezTo>
                    <a:pt x="0" y="370"/>
                    <a:pt x="370" y="0"/>
                    <a:pt x="827" y="0"/>
                  </a:cubicBezTo>
                  <a:close/>
                </a:path>
              </a:pathLst>
            </a:custGeom>
            <a:solidFill>
              <a:srgbClr val="92D050"/>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6" name="Freeform 16"/>
            <p:cNvSpPr>
              <a:spLocks noEditPoints="1"/>
            </p:cNvSpPr>
            <p:nvPr/>
          </p:nvSpPr>
          <p:spPr bwMode="auto">
            <a:xfrm>
              <a:off x="1668969" y="2542449"/>
              <a:ext cx="860788" cy="500028"/>
            </a:xfrm>
            <a:custGeom>
              <a:avLst/>
              <a:gdLst>
                <a:gd name="T0" fmla="*/ 712 w 739"/>
                <a:gd name="T1" fmla="*/ 36 h 492"/>
                <a:gd name="T2" fmla="*/ 712 w 739"/>
                <a:gd name="T3" fmla="*/ 404 h 492"/>
                <a:gd name="T4" fmla="*/ 702 w 739"/>
                <a:gd name="T5" fmla="*/ 404 h 492"/>
                <a:gd name="T6" fmla="*/ 678 w 739"/>
                <a:gd name="T7" fmla="*/ 403 h 492"/>
                <a:gd name="T8" fmla="*/ 373 w 739"/>
                <a:gd name="T9" fmla="*/ 480 h 492"/>
                <a:gd name="T10" fmla="*/ 369 w 739"/>
                <a:gd name="T11" fmla="*/ 482 h 492"/>
                <a:gd name="T12" fmla="*/ 365 w 739"/>
                <a:gd name="T13" fmla="*/ 480 h 492"/>
                <a:gd name="T14" fmla="*/ 60 w 739"/>
                <a:gd name="T15" fmla="*/ 403 h 492"/>
                <a:gd name="T16" fmla="*/ 37 w 739"/>
                <a:gd name="T17" fmla="*/ 404 h 492"/>
                <a:gd name="T18" fmla="*/ 26 w 739"/>
                <a:gd name="T19" fmla="*/ 404 h 492"/>
                <a:gd name="T20" fmla="*/ 26 w 739"/>
                <a:gd name="T21" fmla="*/ 36 h 492"/>
                <a:gd name="T22" fmla="*/ 0 w 739"/>
                <a:gd name="T23" fmla="*/ 36 h 492"/>
                <a:gd name="T24" fmla="*/ 0 w 739"/>
                <a:gd name="T25" fmla="*/ 418 h 492"/>
                <a:gd name="T26" fmla="*/ 369 w 739"/>
                <a:gd name="T27" fmla="*/ 492 h 492"/>
                <a:gd name="T28" fmla="*/ 739 w 739"/>
                <a:gd name="T29" fmla="*/ 418 h 492"/>
                <a:gd name="T30" fmla="*/ 739 w 739"/>
                <a:gd name="T31" fmla="*/ 36 h 492"/>
                <a:gd name="T32" fmla="*/ 712 w 739"/>
                <a:gd name="T33" fmla="*/ 36 h 492"/>
                <a:gd name="T34" fmla="*/ 357 w 739"/>
                <a:gd name="T35" fmla="*/ 418 h 492"/>
                <a:gd name="T36" fmla="*/ 357 w 739"/>
                <a:gd name="T37" fmla="*/ 82 h 492"/>
                <a:gd name="T38" fmla="*/ 101 w 739"/>
                <a:gd name="T39" fmla="*/ 2 h 492"/>
                <a:gd name="T40" fmla="*/ 101 w 739"/>
                <a:gd name="T41" fmla="*/ 352 h 492"/>
                <a:gd name="T42" fmla="*/ 111 w 739"/>
                <a:gd name="T43" fmla="*/ 352 h 492"/>
                <a:gd name="T44" fmla="*/ 357 w 739"/>
                <a:gd name="T45" fmla="*/ 418 h 492"/>
                <a:gd name="T46" fmla="*/ 638 w 739"/>
                <a:gd name="T47" fmla="*/ 352 h 492"/>
                <a:gd name="T48" fmla="*/ 638 w 739"/>
                <a:gd name="T49" fmla="*/ 2 h 492"/>
                <a:gd name="T50" fmla="*/ 382 w 739"/>
                <a:gd name="T51" fmla="*/ 82 h 492"/>
                <a:gd name="T52" fmla="*/ 382 w 739"/>
                <a:gd name="T53" fmla="*/ 418 h 492"/>
                <a:gd name="T54" fmla="*/ 628 w 739"/>
                <a:gd name="T55" fmla="*/ 352 h 492"/>
                <a:gd name="T56" fmla="*/ 638 w 739"/>
                <a:gd name="T57" fmla="*/ 352 h 492"/>
                <a:gd name="T58" fmla="*/ 369 w 739"/>
                <a:gd name="T59" fmla="*/ 473 h 492"/>
                <a:gd name="T60" fmla="*/ 695 w 739"/>
                <a:gd name="T61" fmla="*/ 395 h 492"/>
                <a:gd name="T62" fmla="*/ 695 w 739"/>
                <a:gd name="T63" fmla="*/ 7 h 492"/>
                <a:gd name="T64" fmla="*/ 655 w 739"/>
                <a:gd name="T65" fmla="*/ 7 h 492"/>
                <a:gd name="T66" fmla="*/ 655 w 739"/>
                <a:gd name="T67" fmla="*/ 370 h 492"/>
                <a:gd name="T68" fmla="*/ 645 w 739"/>
                <a:gd name="T69" fmla="*/ 370 h 492"/>
                <a:gd name="T70" fmla="*/ 626 w 739"/>
                <a:gd name="T71" fmla="*/ 369 h 492"/>
                <a:gd name="T72" fmla="*/ 376 w 739"/>
                <a:gd name="T73" fmla="*/ 441 h 492"/>
                <a:gd name="T74" fmla="*/ 369 w 739"/>
                <a:gd name="T75" fmla="*/ 445 h 492"/>
                <a:gd name="T76" fmla="*/ 363 w 739"/>
                <a:gd name="T77" fmla="*/ 441 h 492"/>
                <a:gd name="T78" fmla="*/ 113 w 739"/>
                <a:gd name="T79" fmla="*/ 369 h 492"/>
                <a:gd name="T80" fmla="*/ 93 w 739"/>
                <a:gd name="T81" fmla="*/ 370 h 492"/>
                <a:gd name="T82" fmla="*/ 83 w 739"/>
                <a:gd name="T83" fmla="*/ 370 h 492"/>
                <a:gd name="T84" fmla="*/ 83 w 739"/>
                <a:gd name="T85" fmla="*/ 7 h 492"/>
                <a:gd name="T86" fmla="*/ 44 w 739"/>
                <a:gd name="T87" fmla="*/ 7 h 492"/>
                <a:gd name="T88" fmla="*/ 44 w 739"/>
                <a:gd name="T89" fmla="*/ 395 h 492"/>
                <a:gd name="T90" fmla="*/ 369 w 739"/>
                <a:gd name="T91" fmla="*/ 473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9" h="492">
                  <a:moveTo>
                    <a:pt x="712" y="36"/>
                  </a:moveTo>
                  <a:lnTo>
                    <a:pt x="712" y="404"/>
                  </a:lnTo>
                  <a:lnTo>
                    <a:pt x="702" y="404"/>
                  </a:lnTo>
                  <a:cubicBezTo>
                    <a:pt x="694" y="404"/>
                    <a:pt x="686" y="403"/>
                    <a:pt x="678" y="403"/>
                  </a:cubicBezTo>
                  <a:cubicBezTo>
                    <a:pt x="576" y="403"/>
                    <a:pt x="467" y="430"/>
                    <a:pt x="373" y="480"/>
                  </a:cubicBezTo>
                  <a:lnTo>
                    <a:pt x="369" y="482"/>
                  </a:lnTo>
                  <a:lnTo>
                    <a:pt x="365" y="480"/>
                  </a:lnTo>
                  <a:cubicBezTo>
                    <a:pt x="271" y="430"/>
                    <a:pt x="163" y="403"/>
                    <a:pt x="60" y="403"/>
                  </a:cubicBezTo>
                  <a:cubicBezTo>
                    <a:pt x="52" y="403"/>
                    <a:pt x="45" y="404"/>
                    <a:pt x="37" y="404"/>
                  </a:cubicBezTo>
                  <a:lnTo>
                    <a:pt x="26" y="404"/>
                  </a:lnTo>
                  <a:lnTo>
                    <a:pt x="26" y="36"/>
                  </a:lnTo>
                  <a:cubicBezTo>
                    <a:pt x="17" y="36"/>
                    <a:pt x="9" y="36"/>
                    <a:pt x="0" y="36"/>
                  </a:cubicBezTo>
                  <a:lnTo>
                    <a:pt x="0" y="418"/>
                  </a:lnTo>
                  <a:cubicBezTo>
                    <a:pt x="123" y="415"/>
                    <a:pt x="254" y="442"/>
                    <a:pt x="369" y="492"/>
                  </a:cubicBezTo>
                  <a:cubicBezTo>
                    <a:pt x="484" y="442"/>
                    <a:pt x="616" y="415"/>
                    <a:pt x="739" y="418"/>
                  </a:cubicBezTo>
                  <a:lnTo>
                    <a:pt x="739" y="36"/>
                  </a:lnTo>
                  <a:cubicBezTo>
                    <a:pt x="730" y="36"/>
                    <a:pt x="721" y="36"/>
                    <a:pt x="712" y="36"/>
                  </a:cubicBezTo>
                  <a:close/>
                  <a:moveTo>
                    <a:pt x="357" y="418"/>
                  </a:moveTo>
                  <a:lnTo>
                    <a:pt x="357" y="82"/>
                  </a:lnTo>
                  <a:cubicBezTo>
                    <a:pt x="277" y="28"/>
                    <a:pt x="186" y="0"/>
                    <a:pt x="101" y="2"/>
                  </a:cubicBezTo>
                  <a:lnTo>
                    <a:pt x="101" y="352"/>
                  </a:lnTo>
                  <a:cubicBezTo>
                    <a:pt x="104" y="352"/>
                    <a:pt x="107" y="352"/>
                    <a:pt x="111" y="352"/>
                  </a:cubicBezTo>
                  <a:cubicBezTo>
                    <a:pt x="193" y="352"/>
                    <a:pt x="280" y="375"/>
                    <a:pt x="357" y="418"/>
                  </a:cubicBezTo>
                  <a:close/>
                  <a:moveTo>
                    <a:pt x="638" y="352"/>
                  </a:moveTo>
                  <a:lnTo>
                    <a:pt x="638" y="2"/>
                  </a:lnTo>
                  <a:cubicBezTo>
                    <a:pt x="552" y="0"/>
                    <a:pt x="461" y="28"/>
                    <a:pt x="382" y="82"/>
                  </a:cubicBezTo>
                  <a:lnTo>
                    <a:pt x="382" y="418"/>
                  </a:lnTo>
                  <a:cubicBezTo>
                    <a:pt x="459" y="375"/>
                    <a:pt x="545" y="352"/>
                    <a:pt x="628" y="352"/>
                  </a:cubicBezTo>
                  <a:cubicBezTo>
                    <a:pt x="631" y="352"/>
                    <a:pt x="635" y="352"/>
                    <a:pt x="638" y="352"/>
                  </a:cubicBezTo>
                  <a:close/>
                  <a:moveTo>
                    <a:pt x="369" y="473"/>
                  </a:moveTo>
                  <a:cubicBezTo>
                    <a:pt x="473" y="417"/>
                    <a:pt x="590" y="391"/>
                    <a:pt x="695" y="395"/>
                  </a:cubicBezTo>
                  <a:lnTo>
                    <a:pt x="695" y="7"/>
                  </a:lnTo>
                  <a:cubicBezTo>
                    <a:pt x="682" y="6"/>
                    <a:pt x="669" y="6"/>
                    <a:pt x="655" y="7"/>
                  </a:cubicBezTo>
                  <a:lnTo>
                    <a:pt x="655" y="370"/>
                  </a:lnTo>
                  <a:lnTo>
                    <a:pt x="645" y="370"/>
                  </a:lnTo>
                  <a:cubicBezTo>
                    <a:pt x="639" y="369"/>
                    <a:pt x="632" y="369"/>
                    <a:pt x="626" y="369"/>
                  </a:cubicBezTo>
                  <a:cubicBezTo>
                    <a:pt x="542" y="369"/>
                    <a:pt x="453" y="395"/>
                    <a:pt x="376" y="441"/>
                  </a:cubicBezTo>
                  <a:lnTo>
                    <a:pt x="369" y="445"/>
                  </a:lnTo>
                  <a:lnTo>
                    <a:pt x="363" y="441"/>
                  </a:lnTo>
                  <a:cubicBezTo>
                    <a:pt x="286" y="395"/>
                    <a:pt x="197" y="369"/>
                    <a:pt x="113" y="369"/>
                  </a:cubicBezTo>
                  <a:cubicBezTo>
                    <a:pt x="106" y="369"/>
                    <a:pt x="100" y="369"/>
                    <a:pt x="93" y="370"/>
                  </a:cubicBezTo>
                  <a:lnTo>
                    <a:pt x="83" y="370"/>
                  </a:lnTo>
                  <a:lnTo>
                    <a:pt x="83" y="7"/>
                  </a:lnTo>
                  <a:cubicBezTo>
                    <a:pt x="70" y="6"/>
                    <a:pt x="57" y="6"/>
                    <a:pt x="44" y="7"/>
                  </a:cubicBezTo>
                  <a:lnTo>
                    <a:pt x="44" y="395"/>
                  </a:lnTo>
                  <a:cubicBezTo>
                    <a:pt x="148" y="391"/>
                    <a:pt x="265" y="417"/>
                    <a:pt x="369" y="47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grpSp>
        <p:nvGrpSpPr>
          <p:cNvPr id="7" name="组合 6"/>
          <p:cNvGrpSpPr/>
          <p:nvPr/>
        </p:nvGrpSpPr>
        <p:grpSpPr>
          <a:xfrm>
            <a:off x="875773" y="3855151"/>
            <a:ext cx="1304416" cy="1526579"/>
            <a:chOff x="4022275" y="2132856"/>
            <a:chExt cx="1304925" cy="1527175"/>
          </a:xfrm>
        </p:grpSpPr>
        <p:sp>
          <p:nvSpPr>
            <p:cNvPr id="8" name="Freeform 6"/>
            <p:cNvSpPr>
              <a:spLocks/>
            </p:cNvSpPr>
            <p:nvPr/>
          </p:nvSpPr>
          <p:spPr bwMode="auto">
            <a:xfrm>
              <a:off x="4022275" y="2132856"/>
              <a:ext cx="1304925"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90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4" y="0"/>
                    <a:pt x="1654" y="370"/>
                    <a:pt x="1654" y="827"/>
                  </a:cubicBezTo>
                  <a:cubicBezTo>
                    <a:pt x="1654" y="1182"/>
                    <a:pt x="1430" y="1485"/>
                    <a:pt x="1116" y="1602"/>
                  </a:cubicBezTo>
                  <a:lnTo>
                    <a:pt x="995" y="1741"/>
                  </a:lnTo>
                  <a:cubicBezTo>
                    <a:pt x="954" y="1788"/>
                    <a:pt x="912" y="1836"/>
                    <a:pt x="870" y="1884"/>
                  </a:cubicBezTo>
                  <a:cubicBezTo>
                    <a:pt x="845" y="1916"/>
                    <a:pt x="818" y="1918"/>
                    <a:pt x="790" y="1889"/>
                  </a:cubicBezTo>
                  <a:cubicBezTo>
                    <a:pt x="747" y="1840"/>
                    <a:pt x="703" y="1790"/>
                    <a:pt x="660" y="1741"/>
                  </a:cubicBezTo>
                  <a:lnTo>
                    <a:pt x="540" y="1603"/>
                  </a:lnTo>
                  <a:cubicBezTo>
                    <a:pt x="225" y="1486"/>
                    <a:pt x="0" y="1183"/>
                    <a:pt x="0" y="827"/>
                  </a:cubicBezTo>
                  <a:cubicBezTo>
                    <a:pt x="0" y="370"/>
                    <a:pt x="371" y="0"/>
                    <a:pt x="827" y="0"/>
                  </a:cubicBezTo>
                  <a:close/>
                </a:path>
              </a:pathLst>
            </a:custGeom>
            <a:solidFill>
              <a:schemeClr val="accent4"/>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9" name="Freeform 9"/>
            <p:cNvSpPr>
              <a:spLocks noEditPoints="1"/>
            </p:cNvSpPr>
            <p:nvPr/>
          </p:nvSpPr>
          <p:spPr bwMode="auto">
            <a:xfrm>
              <a:off x="4399628" y="2380272"/>
              <a:ext cx="650316" cy="737858"/>
            </a:xfrm>
            <a:custGeom>
              <a:avLst/>
              <a:gdLst>
                <a:gd name="T0" fmla="*/ 402 w 630"/>
                <a:gd name="T1" fmla="*/ 89 h 711"/>
                <a:gd name="T2" fmla="*/ 313 w 630"/>
                <a:gd name="T3" fmla="*/ 178 h 711"/>
                <a:gd name="T4" fmla="*/ 223 w 630"/>
                <a:gd name="T5" fmla="*/ 178 h 711"/>
                <a:gd name="T6" fmla="*/ 134 w 630"/>
                <a:gd name="T7" fmla="*/ 89 h 711"/>
                <a:gd name="T8" fmla="*/ 223 w 630"/>
                <a:gd name="T9" fmla="*/ 0 h 711"/>
                <a:gd name="T10" fmla="*/ 313 w 630"/>
                <a:gd name="T11" fmla="*/ 0 h 711"/>
                <a:gd name="T12" fmla="*/ 402 w 630"/>
                <a:gd name="T13" fmla="*/ 89 h 711"/>
                <a:gd name="T14" fmla="*/ 445 w 630"/>
                <a:gd name="T15" fmla="*/ 89 h 711"/>
                <a:gd name="T16" fmla="*/ 446 w 630"/>
                <a:gd name="T17" fmla="*/ 109 h 711"/>
                <a:gd name="T18" fmla="*/ 335 w 630"/>
                <a:gd name="T19" fmla="*/ 221 h 711"/>
                <a:gd name="T20" fmla="*/ 201 w 630"/>
                <a:gd name="T21" fmla="*/ 221 h 711"/>
                <a:gd name="T22" fmla="*/ 90 w 630"/>
                <a:gd name="T23" fmla="*/ 109 h 711"/>
                <a:gd name="T24" fmla="*/ 92 w 630"/>
                <a:gd name="T25" fmla="*/ 89 h 711"/>
                <a:gd name="T26" fmla="*/ 0 w 630"/>
                <a:gd name="T27" fmla="*/ 198 h 711"/>
                <a:gd name="T28" fmla="*/ 0 w 630"/>
                <a:gd name="T29" fmla="*/ 600 h 711"/>
                <a:gd name="T30" fmla="*/ 112 w 630"/>
                <a:gd name="T31" fmla="*/ 711 h 711"/>
                <a:gd name="T32" fmla="*/ 409 w 630"/>
                <a:gd name="T33" fmla="*/ 711 h 711"/>
                <a:gd name="T34" fmla="*/ 288 w 630"/>
                <a:gd name="T35" fmla="*/ 528 h 711"/>
                <a:gd name="T36" fmla="*/ 487 w 630"/>
                <a:gd name="T37" fmla="*/ 328 h 711"/>
                <a:gd name="T38" fmla="*/ 536 w 630"/>
                <a:gd name="T39" fmla="*/ 335 h 711"/>
                <a:gd name="T40" fmla="*/ 536 w 630"/>
                <a:gd name="T41" fmla="*/ 198 h 711"/>
                <a:gd name="T42" fmla="*/ 445 w 630"/>
                <a:gd name="T43" fmla="*/ 89 h 711"/>
                <a:gd name="T44" fmla="*/ 251 w 630"/>
                <a:gd name="T45" fmla="*/ 446 h 711"/>
                <a:gd name="T46" fmla="*/ 251 w 630"/>
                <a:gd name="T47" fmla="*/ 446 h 711"/>
                <a:gd name="T48" fmla="*/ 112 w 630"/>
                <a:gd name="T49" fmla="*/ 446 h 711"/>
                <a:gd name="T50" fmla="*/ 90 w 630"/>
                <a:gd name="T51" fmla="*/ 423 h 711"/>
                <a:gd name="T52" fmla="*/ 112 w 630"/>
                <a:gd name="T53" fmla="*/ 401 h 711"/>
                <a:gd name="T54" fmla="*/ 251 w 630"/>
                <a:gd name="T55" fmla="*/ 401 h 711"/>
                <a:gd name="T56" fmla="*/ 274 w 630"/>
                <a:gd name="T57" fmla="*/ 423 h 711"/>
                <a:gd name="T58" fmla="*/ 251 w 630"/>
                <a:gd name="T59" fmla="*/ 446 h 711"/>
                <a:gd name="T60" fmla="*/ 296 w 630"/>
                <a:gd name="T61" fmla="*/ 356 h 711"/>
                <a:gd name="T62" fmla="*/ 296 w 630"/>
                <a:gd name="T63" fmla="*/ 356 h 711"/>
                <a:gd name="T64" fmla="*/ 112 w 630"/>
                <a:gd name="T65" fmla="*/ 356 h 711"/>
                <a:gd name="T66" fmla="*/ 90 w 630"/>
                <a:gd name="T67" fmla="*/ 334 h 711"/>
                <a:gd name="T68" fmla="*/ 112 w 630"/>
                <a:gd name="T69" fmla="*/ 312 h 711"/>
                <a:gd name="T70" fmla="*/ 296 w 630"/>
                <a:gd name="T71" fmla="*/ 312 h 711"/>
                <a:gd name="T72" fmla="*/ 318 w 630"/>
                <a:gd name="T73" fmla="*/ 334 h 711"/>
                <a:gd name="T74" fmla="*/ 296 w 630"/>
                <a:gd name="T75" fmla="*/ 356 h 711"/>
                <a:gd name="T76" fmla="*/ 524 w 630"/>
                <a:gd name="T77" fmla="*/ 390 h 711"/>
                <a:gd name="T78" fmla="*/ 488 w 630"/>
                <a:gd name="T79" fmla="*/ 385 h 711"/>
                <a:gd name="T80" fmla="*/ 346 w 630"/>
                <a:gd name="T81" fmla="*/ 527 h 711"/>
                <a:gd name="T82" fmla="*/ 458 w 630"/>
                <a:gd name="T83" fmla="*/ 666 h 711"/>
                <a:gd name="T84" fmla="*/ 488 w 630"/>
                <a:gd name="T85" fmla="*/ 669 h 711"/>
                <a:gd name="T86" fmla="*/ 630 w 630"/>
                <a:gd name="T87" fmla="*/ 527 h 711"/>
                <a:gd name="T88" fmla="*/ 524 w 630"/>
                <a:gd name="T89" fmla="*/ 390 h 711"/>
                <a:gd name="T90" fmla="*/ 569 w 630"/>
                <a:gd name="T91" fmla="*/ 507 h 711"/>
                <a:gd name="T92" fmla="*/ 569 w 630"/>
                <a:gd name="T93" fmla="*/ 507 h 711"/>
                <a:gd name="T94" fmla="*/ 524 w 630"/>
                <a:gd name="T95" fmla="*/ 552 h 711"/>
                <a:gd name="T96" fmla="*/ 488 w 630"/>
                <a:gd name="T97" fmla="*/ 588 h 711"/>
                <a:gd name="T98" fmla="*/ 448 w 630"/>
                <a:gd name="T99" fmla="*/ 588 h 711"/>
                <a:gd name="T100" fmla="*/ 408 w 630"/>
                <a:gd name="T101" fmla="*/ 547 h 711"/>
                <a:gd name="T102" fmla="*/ 408 w 630"/>
                <a:gd name="T103" fmla="*/ 507 h 711"/>
                <a:gd name="T104" fmla="*/ 448 w 630"/>
                <a:gd name="T105" fmla="*/ 507 h 711"/>
                <a:gd name="T106" fmla="*/ 468 w 630"/>
                <a:gd name="T107" fmla="*/ 527 h 711"/>
                <a:gd name="T108" fmla="*/ 524 w 630"/>
                <a:gd name="T109" fmla="*/ 472 h 711"/>
                <a:gd name="T110" fmla="*/ 528 w 630"/>
                <a:gd name="T111" fmla="*/ 467 h 711"/>
                <a:gd name="T112" fmla="*/ 569 w 630"/>
                <a:gd name="T113" fmla="*/ 467 h 711"/>
                <a:gd name="T114" fmla="*/ 569 w 630"/>
                <a:gd name="T115" fmla="*/ 507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0" h="711">
                  <a:moveTo>
                    <a:pt x="402" y="89"/>
                  </a:moveTo>
                  <a:cubicBezTo>
                    <a:pt x="402" y="138"/>
                    <a:pt x="362" y="178"/>
                    <a:pt x="313" y="178"/>
                  </a:cubicBezTo>
                  <a:lnTo>
                    <a:pt x="223" y="178"/>
                  </a:lnTo>
                  <a:cubicBezTo>
                    <a:pt x="174" y="178"/>
                    <a:pt x="134" y="138"/>
                    <a:pt x="134" y="89"/>
                  </a:cubicBezTo>
                  <a:cubicBezTo>
                    <a:pt x="134" y="39"/>
                    <a:pt x="174" y="0"/>
                    <a:pt x="223" y="0"/>
                  </a:cubicBezTo>
                  <a:lnTo>
                    <a:pt x="313" y="0"/>
                  </a:lnTo>
                  <a:cubicBezTo>
                    <a:pt x="362" y="0"/>
                    <a:pt x="402" y="39"/>
                    <a:pt x="402" y="89"/>
                  </a:cubicBezTo>
                  <a:close/>
                  <a:moveTo>
                    <a:pt x="445" y="89"/>
                  </a:moveTo>
                  <a:cubicBezTo>
                    <a:pt x="446" y="95"/>
                    <a:pt x="446" y="102"/>
                    <a:pt x="446" y="109"/>
                  </a:cubicBezTo>
                  <a:cubicBezTo>
                    <a:pt x="446" y="171"/>
                    <a:pt x="397" y="221"/>
                    <a:pt x="335" y="221"/>
                  </a:cubicBezTo>
                  <a:lnTo>
                    <a:pt x="201" y="221"/>
                  </a:lnTo>
                  <a:cubicBezTo>
                    <a:pt x="140" y="221"/>
                    <a:pt x="90" y="171"/>
                    <a:pt x="90" y="109"/>
                  </a:cubicBezTo>
                  <a:cubicBezTo>
                    <a:pt x="90" y="102"/>
                    <a:pt x="90" y="95"/>
                    <a:pt x="92" y="89"/>
                  </a:cubicBezTo>
                  <a:cubicBezTo>
                    <a:pt x="40" y="98"/>
                    <a:pt x="0" y="144"/>
                    <a:pt x="0" y="198"/>
                  </a:cubicBezTo>
                  <a:lnTo>
                    <a:pt x="0" y="600"/>
                  </a:lnTo>
                  <a:cubicBezTo>
                    <a:pt x="0" y="661"/>
                    <a:pt x="50" y="711"/>
                    <a:pt x="112" y="711"/>
                  </a:cubicBezTo>
                  <a:lnTo>
                    <a:pt x="409" y="711"/>
                  </a:lnTo>
                  <a:cubicBezTo>
                    <a:pt x="338" y="681"/>
                    <a:pt x="288" y="610"/>
                    <a:pt x="288" y="528"/>
                  </a:cubicBezTo>
                  <a:cubicBezTo>
                    <a:pt x="288" y="418"/>
                    <a:pt x="377" y="328"/>
                    <a:pt x="487" y="328"/>
                  </a:cubicBezTo>
                  <a:cubicBezTo>
                    <a:pt x="504" y="328"/>
                    <a:pt x="520" y="331"/>
                    <a:pt x="536" y="335"/>
                  </a:cubicBezTo>
                  <a:lnTo>
                    <a:pt x="536" y="198"/>
                  </a:lnTo>
                  <a:cubicBezTo>
                    <a:pt x="536" y="144"/>
                    <a:pt x="496" y="98"/>
                    <a:pt x="445" y="89"/>
                  </a:cubicBezTo>
                  <a:close/>
                  <a:moveTo>
                    <a:pt x="251" y="446"/>
                  </a:moveTo>
                  <a:lnTo>
                    <a:pt x="251" y="446"/>
                  </a:lnTo>
                  <a:lnTo>
                    <a:pt x="112" y="446"/>
                  </a:lnTo>
                  <a:cubicBezTo>
                    <a:pt x="100" y="446"/>
                    <a:pt x="90" y="436"/>
                    <a:pt x="90" y="423"/>
                  </a:cubicBezTo>
                  <a:cubicBezTo>
                    <a:pt x="90" y="411"/>
                    <a:pt x="100" y="401"/>
                    <a:pt x="112" y="401"/>
                  </a:cubicBezTo>
                  <a:lnTo>
                    <a:pt x="251" y="401"/>
                  </a:lnTo>
                  <a:cubicBezTo>
                    <a:pt x="264" y="401"/>
                    <a:pt x="274" y="411"/>
                    <a:pt x="274" y="423"/>
                  </a:cubicBezTo>
                  <a:cubicBezTo>
                    <a:pt x="274" y="436"/>
                    <a:pt x="264" y="446"/>
                    <a:pt x="251" y="446"/>
                  </a:cubicBezTo>
                  <a:close/>
                  <a:moveTo>
                    <a:pt x="296" y="356"/>
                  </a:moveTo>
                  <a:lnTo>
                    <a:pt x="296" y="356"/>
                  </a:lnTo>
                  <a:lnTo>
                    <a:pt x="112" y="356"/>
                  </a:lnTo>
                  <a:cubicBezTo>
                    <a:pt x="100" y="356"/>
                    <a:pt x="90" y="346"/>
                    <a:pt x="90" y="334"/>
                  </a:cubicBezTo>
                  <a:cubicBezTo>
                    <a:pt x="90" y="322"/>
                    <a:pt x="100" y="312"/>
                    <a:pt x="112" y="312"/>
                  </a:cubicBezTo>
                  <a:lnTo>
                    <a:pt x="296" y="312"/>
                  </a:lnTo>
                  <a:cubicBezTo>
                    <a:pt x="308" y="312"/>
                    <a:pt x="318" y="322"/>
                    <a:pt x="318" y="334"/>
                  </a:cubicBezTo>
                  <a:cubicBezTo>
                    <a:pt x="318" y="346"/>
                    <a:pt x="308" y="356"/>
                    <a:pt x="296" y="356"/>
                  </a:cubicBezTo>
                  <a:close/>
                  <a:moveTo>
                    <a:pt x="524" y="390"/>
                  </a:moveTo>
                  <a:cubicBezTo>
                    <a:pt x="512" y="387"/>
                    <a:pt x="501" y="385"/>
                    <a:pt x="488" y="385"/>
                  </a:cubicBezTo>
                  <a:cubicBezTo>
                    <a:pt x="410" y="385"/>
                    <a:pt x="346" y="449"/>
                    <a:pt x="346" y="527"/>
                  </a:cubicBezTo>
                  <a:cubicBezTo>
                    <a:pt x="346" y="596"/>
                    <a:pt x="394" y="652"/>
                    <a:pt x="458" y="666"/>
                  </a:cubicBezTo>
                  <a:cubicBezTo>
                    <a:pt x="468" y="668"/>
                    <a:pt x="478" y="669"/>
                    <a:pt x="488" y="669"/>
                  </a:cubicBezTo>
                  <a:cubicBezTo>
                    <a:pt x="567" y="669"/>
                    <a:pt x="630" y="606"/>
                    <a:pt x="630" y="527"/>
                  </a:cubicBezTo>
                  <a:cubicBezTo>
                    <a:pt x="630" y="461"/>
                    <a:pt x="585" y="405"/>
                    <a:pt x="524" y="390"/>
                  </a:cubicBezTo>
                  <a:close/>
                  <a:moveTo>
                    <a:pt x="569" y="507"/>
                  </a:moveTo>
                  <a:lnTo>
                    <a:pt x="569" y="507"/>
                  </a:lnTo>
                  <a:lnTo>
                    <a:pt x="524" y="552"/>
                  </a:lnTo>
                  <a:lnTo>
                    <a:pt x="488" y="588"/>
                  </a:lnTo>
                  <a:cubicBezTo>
                    <a:pt x="477" y="599"/>
                    <a:pt x="459" y="599"/>
                    <a:pt x="448" y="588"/>
                  </a:cubicBezTo>
                  <a:lnTo>
                    <a:pt x="408" y="547"/>
                  </a:lnTo>
                  <a:cubicBezTo>
                    <a:pt x="397" y="536"/>
                    <a:pt x="397" y="518"/>
                    <a:pt x="408" y="507"/>
                  </a:cubicBezTo>
                  <a:cubicBezTo>
                    <a:pt x="419" y="496"/>
                    <a:pt x="437" y="496"/>
                    <a:pt x="448" y="507"/>
                  </a:cubicBezTo>
                  <a:lnTo>
                    <a:pt x="468" y="527"/>
                  </a:lnTo>
                  <a:lnTo>
                    <a:pt x="524" y="472"/>
                  </a:lnTo>
                  <a:lnTo>
                    <a:pt x="528" y="467"/>
                  </a:lnTo>
                  <a:cubicBezTo>
                    <a:pt x="540" y="456"/>
                    <a:pt x="558" y="456"/>
                    <a:pt x="569" y="467"/>
                  </a:cubicBezTo>
                  <a:cubicBezTo>
                    <a:pt x="580" y="478"/>
                    <a:pt x="580" y="496"/>
                    <a:pt x="569" y="50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grpSp>
        <p:nvGrpSpPr>
          <p:cNvPr id="10" name="组合 9"/>
          <p:cNvGrpSpPr/>
          <p:nvPr/>
        </p:nvGrpSpPr>
        <p:grpSpPr>
          <a:xfrm>
            <a:off x="265635" y="269251"/>
            <a:ext cx="438352" cy="621987"/>
            <a:chOff x="265635" y="269251"/>
            <a:chExt cx="438352" cy="621987"/>
          </a:xfrm>
        </p:grpSpPr>
        <p:sp>
          <p:nvSpPr>
            <p:cNvPr id="11"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2" name="矩形 1"/>
          <p:cNvSpPr/>
          <p:nvPr/>
        </p:nvSpPr>
        <p:spPr>
          <a:xfrm>
            <a:off x="2601671" y="1422482"/>
            <a:ext cx="8609667" cy="1384995"/>
          </a:xfrm>
          <a:prstGeom prst="rect">
            <a:avLst/>
          </a:prstGeom>
        </p:spPr>
        <p:txBody>
          <a:bodyPr wrap="square">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USB</a:t>
            </a:r>
            <a:r>
              <a:rPr lang="zh-CN" altLang="en-US" sz="2800" b="1" dirty="0">
                <a:latin typeface="微软雅黑" panose="020B0503020204020204" pitchFamily="34" charset="-122"/>
                <a:ea typeface="微软雅黑" panose="020B0503020204020204" pitchFamily="34" charset="-122"/>
              </a:rPr>
              <a:t>电缆分为屏蔽型和非屏蔽型两种，我们通常使用的大多数都是非屏蔽型的</a:t>
            </a:r>
            <a:r>
              <a:rPr lang="en-US" altLang="zh-CN" sz="2800" b="1" dirty="0">
                <a:latin typeface="微软雅黑" panose="020B0503020204020204" pitchFamily="34" charset="-122"/>
                <a:ea typeface="微软雅黑" panose="020B0503020204020204" pitchFamily="34" charset="-122"/>
              </a:rPr>
              <a:t>USB</a:t>
            </a:r>
            <a:r>
              <a:rPr lang="zh-CN" altLang="en-US" sz="2800" b="1" dirty="0">
                <a:latin typeface="微软雅黑" panose="020B0503020204020204" pitchFamily="34" charset="-122"/>
                <a:ea typeface="微软雅黑" panose="020B0503020204020204" pitchFamily="34" charset="-122"/>
              </a:rPr>
              <a:t>电缆。</a:t>
            </a:r>
          </a:p>
        </p:txBody>
      </p:sp>
    </p:spTree>
    <p:extLst>
      <p:ext uri="{BB962C8B-B14F-4D97-AF65-F5344CB8AC3E}">
        <p14:creationId xmlns:p14="http://schemas.microsoft.com/office/powerpoint/2010/main" val="350657026"/>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7131" y="549424"/>
            <a:ext cx="3990975" cy="2819400"/>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7131" y="4006868"/>
            <a:ext cx="7162800" cy="2066925"/>
          </a:xfrm>
          <a:prstGeom prst="rect">
            <a:avLst/>
          </a:prstGeom>
        </p:spPr>
      </p:pic>
      <p:sp>
        <p:nvSpPr>
          <p:cNvPr id="5" name="矩形 4"/>
          <p:cNvSpPr/>
          <p:nvPr/>
        </p:nvSpPr>
        <p:spPr>
          <a:xfrm>
            <a:off x="6609650" y="549424"/>
            <a:ext cx="3124009" cy="2677656"/>
          </a:xfrm>
          <a:prstGeom prst="rect">
            <a:avLst/>
          </a:prstGeom>
        </p:spPr>
        <p:txBody>
          <a:bodyPr wrap="square">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USB</a:t>
            </a:r>
            <a:r>
              <a:rPr lang="zh-CN" altLang="en-US" sz="2800" b="1" dirty="0">
                <a:latin typeface="微软雅黑" panose="020B0503020204020204" pitchFamily="34" charset="-122"/>
                <a:ea typeface="微软雅黑" panose="020B0503020204020204" pitchFamily="34" charset="-122"/>
              </a:rPr>
              <a:t>标准</a:t>
            </a:r>
            <a:r>
              <a:rPr lang="en-US" altLang="zh-CN" sz="2800" b="1" dirty="0">
                <a:latin typeface="微软雅黑" panose="020B0503020204020204" pitchFamily="34" charset="-122"/>
                <a:ea typeface="微软雅黑" panose="020B0503020204020204" pitchFamily="34" charset="-122"/>
              </a:rPr>
              <a:t>A</a:t>
            </a:r>
            <a:r>
              <a:rPr lang="zh-CN" altLang="en-US" sz="2800" b="1" dirty="0">
                <a:latin typeface="微软雅黑" panose="020B0503020204020204" pitchFamily="34" charset="-122"/>
                <a:ea typeface="微软雅黑" panose="020B0503020204020204" pitchFamily="34" charset="-122"/>
              </a:rPr>
              <a:t>型</a:t>
            </a:r>
            <a:endParaRPr lang="en-US" altLang="zh-CN" sz="2800" b="1" dirty="0">
              <a:latin typeface="微软雅黑" panose="020B0503020204020204" pitchFamily="34" charset="-122"/>
              <a:ea typeface="微软雅黑" panose="020B0503020204020204" pitchFamily="34" charset="-122"/>
            </a:endParaRPr>
          </a:p>
          <a:p>
            <a:pPr>
              <a:lnSpc>
                <a:spcPct val="150000"/>
              </a:lnSpc>
            </a:pPr>
            <a:r>
              <a:rPr lang="en-US" altLang="zh-CN" sz="2800" b="1" dirty="0">
                <a:latin typeface="微软雅黑" panose="020B0503020204020204" pitchFamily="34" charset="-122"/>
                <a:ea typeface="微软雅黑" panose="020B0503020204020204" pitchFamily="34" charset="-122"/>
              </a:rPr>
              <a:t>USB</a:t>
            </a:r>
            <a:r>
              <a:rPr lang="zh-CN" altLang="en-US" sz="2800" b="1" dirty="0">
                <a:latin typeface="微软雅黑" panose="020B0503020204020204" pitchFamily="34" charset="-122"/>
                <a:ea typeface="微软雅黑" panose="020B0503020204020204" pitchFamily="34" charset="-122"/>
              </a:rPr>
              <a:t>标准</a:t>
            </a:r>
            <a:r>
              <a:rPr lang="en-US" altLang="zh-CN" sz="2800" b="1" dirty="0">
                <a:latin typeface="微软雅黑" panose="020B0503020204020204" pitchFamily="34" charset="-122"/>
                <a:ea typeface="微软雅黑" panose="020B0503020204020204" pitchFamily="34" charset="-122"/>
              </a:rPr>
              <a:t>B</a:t>
            </a:r>
            <a:r>
              <a:rPr lang="zh-CN" altLang="en-US" sz="2800" b="1" dirty="0">
                <a:latin typeface="微软雅黑" panose="020B0503020204020204" pitchFamily="34" charset="-122"/>
                <a:ea typeface="微软雅黑" panose="020B0503020204020204" pitchFamily="34" charset="-122"/>
              </a:rPr>
              <a:t>型</a:t>
            </a:r>
            <a:endParaRPr lang="en-US" altLang="zh-CN" sz="2800" b="1" dirty="0">
              <a:latin typeface="微软雅黑" panose="020B0503020204020204" pitchFamily="34" charset="-122"/>
              <a:ea typeface="微软雅黑" panose="020B0503020204020204" pitchFamily="34" charset="-122"/>
            </a:endParaRPr>
          </a:p>
          <a:p>
            <a:pPr>
              <a:lnSpc>
                <a:spcPct val="150000"/>
              </a:lnSpc>
            </a:pPr>
            <a:r>
              <a:rPr lang="en-US" altLang="zh-CN" sz="2800" b="1" dirty="0">
                <a:latin typeface="微软雅黑" panose="020B0503020204020204" pitchFamily="34" charset="-122"/>
                <a:ea typeface="微软雅黑" panose="020B0503020204020204" pitchFamily="34" charset="-122"/>
              </a:rPr>
              <a:t>USB Micro</a:t>
            </a:r>
          </a:p>
          <a:p>
            <a:pPr>
              <a:lnSpc>
                <a:spcPct val="150000"/>
              </a:lnSpc>
            </a:pPr>
            <a:r>
              <a:rPr lang="en-US" altLang="zh-CN" sz="2800" b="1" dirty="0">
                <a:latin typeface="微软雅黑" panose="020B0503020204020204" pitchFamily="34" charset="-122"/>
                <a:ea typeface="微软雅黑" panose="020B0503020204020204" pitchFamily="34" charset="-122"/>
              </a:rPr>
              <a:t>USB Mini</a:t>
            </a:r>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56289868"/>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1130117" y="1857554"/>
            <a:ext cx="7576972" cy="4351338"/>
          </a:xfrm>
        </p:spPr>
        <p:txBody>
          <a:bodyPr/>
          <a:lstStyle/>
          <a:p>
            <a:pPr marL="0" indent="0" eaLnBrk="1" hangingPunct="1">
              <a:lnSpc>
                <a:spcPct val="200000"/>
              </a:lnSpc>
              <a:buNone/>
            </a:pPr>
            <a:r>
              <a:rPr lang="zh-CN" altLang="en-US" b="1" dirty="0">
                <a:latin typeface="微软雅黑" panose="020B0503020204020204" pitchFamily="34" charset="-122"/>
                <a:ea typeface="微软雅黑" panose="020B0503020204020204" pitchFamily="34" charset="-122"/>
              </a:rPr>
              <a:t>标准</a:t>
            </a:r>
            <a:r>
              <a:rPr lang="en-US" altLang="zh-CN" b="1" dirty="0">
                <a:latin typeface="微软雅黑" panose="020B0503020204020204" pitchFamily="34" charset="-122"/>
                <a:ea typeface="微软雅黑" panose="020B0503020204020204" pitchFamily="34" charset="-122"/>
              </a:rPr>
              <a:t>USB</a:t>
            </a:r>
            <a:r>
              <a:rPr lang="zh-CN" altLang="en-US" b="1" dirty="0">
                <a:latin typeface="微软雅黑" panose="020B0503020204020204" pitchFamily="34" charset="-122"/>
                <a:ea typeface="微软雅黑" panose="020B0503020204020204" pitchFamily="34" charset="-122"/>
              </a:rPr>
              <a:t>是通过一根</a:t>
            </a:r>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线电缆来传输信号和电源的，其中两线组成一对传输数据的差模信号线，另两线则提供了</a:t>
            </a:r>
            <a:r>
              <a:rPr lang="en-US" altLang="zh-CN" b="1" dirty="0">
                <a:latin typeface="微软雅黑" panose="020B0503020204020204" pitchFamily="34" charset="-122"/>
                <a:ea typeface="微软雅黑" panose="020B0503020204020204" pitchFamily="34" charset="-122"/>
              </a:rPr>
              <a:t>+5V</a:t>
            </a:r>
            <a:r>
              <a:rPr lang="zh-CN" altLang="en-US" b="1" dirty="0">
                <a:latin typeface="微软雅黑" panose="020B0503020204020204" pitchFamily="34" charset="-122"/>
                <a:ea typeface="微软雅黑" panose="020B0503020204020204" pitchFamily="34" charset="-122"/>
              </a:rPr>
              <a:t>的电源。</a:t>
            </a:r>
          </a:p>
        </p:txBody>
      </p:sp>
      <p:sp>
        <p:nvSpPr>
          <p:cNvPr id="4" name="Rectangle 5"/>
          <p:cNvSpPr>
            <a:spLocks noChangeArrowheads="1"/>
          </p:cNvSpPr>
          <p:nvPr/>
        </p:nvSpPr>
        <p:spPr bwMode="auto">
          <a:xfrm>
            <a:off x="9407075" y="2164754"/>
            <a:ext cx="2784925" cy="2528499"/>
          </a:xfrm>
          <a:prstGeom prst="rect">
            <a:avLst/>
          </a:pr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5" name="Oval 9"/>
          <p:cNvSpPr>
            <a:spLocks noChangeArrowheads="1"/>
          </p:cNvSpPr>
          <p:nvPr/>
        </p:nvSpPr>
        <p:spPr bwMode="auto">
          <a:xfrm>
            <a:off x="10228006" y="2925141"/>
            <a:ext cx="1100235" cy="1108082"/>
          </a:xfrm>
          <a:prstGeom prst="ellipse">
            <a:avLst/>
          </a:prstGeom>
          <a:solidFill>
            <a:srgbClr val="FFFFFF"/>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9"/>
          <p:cNvSpPr>
            <a:spLocks noEditPoints="1"/>
          </p:cNvSpPr>
          <p:nvPr/>
        </p:nvSpPr>
        <p:spPr bwMode="auto">
          <a:xfrm>
            <a:off x="10506148" y="3092886"/>
            <a:ext cx="680933" cy="772597"/>
          </a:xfrm>
          <a:custGeom>
            <a:avLst/>
            <a:gdLst>
              <a:gd name="T0" fmla="*/ 402 w 630"/>
              <a:gd name="T1" fmla="*/ 89 h 711"/>
              <a:gd name="T2" fmla="*/ 313 w 630"/>
              <a:gd name="T3" fmla="*/ 178 h 711"/>
              <a:gd name="T4" fmla="*/ 223 w 630"/>
              <a:gd name="T5" fmla="*/ 178 h 711"/>
              <a:gd name="T6" fmla="*/ 134 w 630"/>
              <a:gd name="T7" fmla="*/ 89 h 711"/>
              <a:gd name="T8" fmla="*/ 223 w 630"/>
              <a:gd name="T9" fmla="*/ 0 h 711"/>
              <a:gd name="T10" fmla="*/ 313 w 630"/>
              <a:gd name="T11" fmla="*/ 0 h 711"/>
              <a:gd name="T12" fmla="*/ 402 w 630"/>
              <a:gd name="T13" fmla="*/ 89 h 711"/>
              <a:gd name="T14" fmla="*/ 445 w 630"/>
              <a:gd name="T15" fmla="*/ 89 h 711"/>
              <a:gd name="T16" fmla="*/ 446 w 630"/>
              <a:gd name="T17" fmla="*/ 109 h 711"/>
              <a:gd name="T18" fmla="*/ 335 w 630"/>
              <a:gd name="T19" fmla="*/ 221 h 711"/>
              <a:gd name="T20" fmla="*/ 201 w 630"/>
              <a:gd name="T21" fmla="*/ 221 h 711"/>
              <a:gd name="T22" fmla="*/ 90 w 630"/>
              <a:gd name="T23" fmla="*/ 109 h 711"/>
              <a:gd name="T24" fmla="*/ 92 w 630"/>
              <a:gd name="T25" fmla="*/ 89 h 711"/>
              <a:gd name="T26" fmla="*/ 0 w 630"/>
              <a:gd name="T27" fmla="*/ 198 h 711"/>
              <a:gd name="T28" fmla="*/ 0 w 630"/>
              <a:gd name="T29" fmla="*/ 600 h 711"/>
              <a:gd name="T30" fmla="*/ 112 w 630"/>
              <a:gd name="T31" fmla="*/ 711 h 711"/>
              <a:gd name="T32" fmla="*/ 409 w 630"/>
              <a:gd name="T33" fmla="*/ 711 h 711"/>
              <a:gd name="T34" fmla="*/ 288 w 630"/>
              <a:gd name="T35" fmla="*/ 528 h 711"/>
              <a:gd name="T36" fmla="*/ 487 w 630"/>
              <a:gd name="T37" fmla="*/ 328 h 711"/>
              <a:gd name="T38" fmla="*/ 536 w 630"/>
              <a:gd name="T39" fmla="*/ 335 h 711"/>
              <a:gd name="T40" fmla="*/ 536 w 630"/>
              <a:gd name="T41" fmla="*/ 198 h 711"/>
              <a:gd name="T42" fmla="*/ 445 w 630"/>
              <a:gd name="T43" fmla="*/ 89 h 711"/>
              <a:gd name="T44" fmla="*/ 251 w 630"/>
              <a:gd name="T45" fmla="*/ 446 h 711"/>
              <a:gd name="T46" fmla="*/ 251 w 630"/>
              <a:gd name="T47" fmla="*/ 446 h 711"/>
              <a:gd name="T48" fmla="*/ 112 w 630"/>
              <a:gd name="T49" fmla="*/ 446 h 711"/>
              <a:gd name="T50" fmla="*/ 90 w 630"/>
              <a:gd name="T51" fmla="*/ 423 h 711"/>
              <a:gd name="T52" fmla="*/ 112 w 630"/>
              <a:gd name="T53" fmla="*/ 401 h 711"/>
              <a:gd name="T54" fmla="*/ 251 w 630"/>
              <a:gd name="T55" fmla="*/ 401 h 711"/>
              <a:gd name="T56" fmla="*/ 274 w 630"/>
              <a:gd name="T57" fmla="*/ 423 h 711"/>
              <a:gd name="T58" fmla="*/ 251 w 630"/>
              <a:gd name="T59" fmla="*/ 446 h 711"/>
              <a:gd name="T60" fmla="*/ 296 w 630"/>
              <a:gd name="T61" fmla="*/ 356 h 711"/>
              <a:gd name="T62" fmla="*/ 296 w 630"/>
              <a:gd name="T63" fmla="*/ 356 h 711"/>
              <a:gd name="T64" fmla="*/ 112 w 630"/>
              <a:gd name="T65" fmla="*/ 356 h 711"/>
              <a:gd name="T66" fmla="*/ 90 w 630"/>
              <a:gd name="T67" fmla="*/ 334 h 711"/>
              <a:gd name="T68" fmla="*/ 112 w 630"/>
              <a:gd name="T69" fmla="*/ 312 h 711"/>
              <a:gd name="T70" fmla="*/ 296 w 630"/>
              <a:gd name="T71" fmla="*/ 312 h 711"/>
              <a:gd name="T72" fmla="*/ 318 w 630"/>
              <a:gd name="T73" fmla="*/ 334 h 711"/>
              <a:gd name="T74" fmla="*/ 296 w 630"/>
              <a:gd name="T75" fmla="*/ 356 h 711"/>
              <a:gd name="T76" fmla="*/ 524 w 630"/>
              <a:gd name="T77" fmla="*/ 390 h 711"/>
              <a:gd name="T78" fmla="*/ 488 w 630"/>
              <a:gd name="T79" fmla="*/ 385 h 711"/>
              <a:gd name="T80" fmla="*/ 346 w 630"/>
              <a:gd name="T81" fmla="*/ 527 h 711"/>
              <a:gd name="T82" fmla="*/ 458 w 630"/>
              <a:gd name="T83" fmla="*/ 666 h 711"/>
              <a:gd name="T84" fmla="*/ 488 w 630"/>
              <a:gd name="T85" fmla="*/ 669 h 711"/>
              <a:gd name="T86" fmla="*/ 630 w 630"/>
              <a:gd name="T87" fmla="*/ 527 h 711"/>
              <a:gd name="T88" fmla="*/ 524 w 630"/>
              <a:gd name="T89" fmla="*/ 390 h 711"/>
              <a:gd name="T90" fmla="*/ 569 w 630"/>
              <a:gd name="T91" fmla="*/ 507 h 711"/>
              <a:gd name="T92" fmla="*/ 569 w 630"/>
              <a:gd name="T93" fmla="*/ 507 h 711"/>
              <a:gd name="T94" fmla="*/ 524 w 630"/>
              <a:gd name="T95" fmla="*/ 552 h 711"/>
              <a:gd name="T96" fmla="*/ 488 w 630"/>
              <a:gd name="T97" fmla="*/ 588 h 711"/>
              <a:gd name="T98" fmla="*/ 448 w 630"/>
              <a:gd name="T99" fmla="*/ 588 h 711"/>
              <a:gd name="T100" fmla="*/ 408 w 630"/>
              <a:gd name="T101" fmla="*/ 547 h 711"/>
              <a:gd name="T102" fmla="*/ 408 w 630"/>
              <a:gd name="T103" fmla="*/ 507 h 711"/>
              <a:gd name="T104" fmla="*/ 448 w 630"/>
              <a:gd name="T105" fmla="*/ 507 h 711"/>
              <a:gd name="T106" fmla="*/ 468 w 630"/>
              <a:gd name="T107" fmla="*/ 527 h 711"/>
              <a:gd name="T108" fmla="*/ 524 w 630"/>
              <a:gd name="T109" fmla="*/ 472 h 711"/>
              <a:gd name="T110" fmla="*/ 528 w 630"/>
              <a:gd name="T111" fmla="*/ 467 h 711"/>
              <a:gd name="T112" fmla="*/ 569 w 630"/>
              <a:gd name="T113" fmla="*/ 467 h 711"/>
              <a:gd name="T114" fmla="*/ 569 w 630"/>
              <a:gd name="T115" fmla="*/ 507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0" h="711">
                <a:moveTo>
                  <a:pt x="402" y="89"/>
                </a:moveTo>
                <a:cubicBezTo>
                  <a:pt x="402" y="138"/>
                  <a:pt x="362" y="178"/>
                  <a:pt x="313" y="178"/>
                </a:cubicBezTo>
                <a:lnTo>
                  <a:pt x="223" y="178"/>
                </a:lnTo>
                <a:cubicBezTo>
                  <a:pt x="174" y="178"/>
                  <a:pt x="134" y="138"/>
                  <a:pt x="134" y="89"/>
                </a:cubicBezTo>
                <a:cubicBezTo>
                  <a:pt x="134" y="39"/>
                  <a:pt x="174" y="0"/>
                  <a:pt x="223" y="0"/>
                </a:cubicBezTo>
                <a:lnTo>
                  <a:pt x="313" y="0"/>
                </a:lnTo>
                <a:cubicBezTo>
                  <a:pt x="362" y="0"/>
                  <a:pt x="402" y="39"/>
                  <a:pt x="402" y="89"/>
                </a:cubicBezTo>
                <a:close/>
                <a:moveTo>
                  <a:pt x="445" y="89"/>
                </a:moveTo>
                <a:cubicBezTo>
                  <a:pt x="446" y="95"/>
                  <a:pt x="446" y="102"/>
                  <a:pt x="446" y="109"/>
                </a:cubicBezTo>
                <a:cubicBezTo>
                  <a:pt x="446" y="171"/>
                  <a:pt x="397" y="221"/>
                  <a:pt x="335" y="221"/>
                </a:cubicBezTo>
                <a:lnTo>
                  <a:pt x="201" y="221"/>
                </a:lnTo>
                <a:cubicBezTo>
                  <a:pt x="140" y="221"/>
                  <a:pt x="90" y="171"/>
                  <a:pt x="90" y="109"/>
                </a:cubicBezTo>
                <a:cubicBezTo>
                  <a:pt x="90" y="102"/>
                  <a:pt x="90" y="95"/>
                  <a:pt x="92" y="89"/>
                </a:cubicBezTo>
                <a:cubicBezTo>
                  <a:pt x="40" y="98"/>
                  <a:pt x="0" y="144"/>
                  <a:pt x="0" y="198"/>
                </a:cubicBezTo>
                <a:lnTo>
                  <a:pt x="0" y="600"/>
                </a:lnTo>
                <a:cubicBezTo>
                  <a:pt x="0" y="661"/>
                  <a:pt x="50" y="711"/>
                  <a:pt x="112" y="711"/>
                </a:cubicBezTo>
                <a:lnTo>
                  <a:pt x="409" y="711"/>
                </a:lnTo>
                <a:cubicBezTo>
                  <a:pt x="338" y="681"/>
                  <a:pt x="288" y="610"/>
                  <a:pt x="288" y="528"/>
                </a:cubicBezTo>
                <a:cubicBezTo>
                  <a:pt x="288" y="418"/>
                  <a:pt x="377" y="328"/>
                  <a:pt x="487" y="328"/>
                </a:cubicBezTo>
                <a:cubicBezTo>
                  <a:pt x="504" y="328"/>
                  <a:pt x="520" y="331"/>
                  <a:pt x="536" y="335"/>
                </a:cubicBezTo>
                <a:lnTo>
                  <a:pt x="536" y="198"/>
                </a:lnTo>
                <a:cubicBezTo>
                  <a:pt x="536" y="144"/>
                  <a:pt x="496" y="98"/>
                  <a:pt x="445" y="89"/>
                </a:cubicBezTo>
                <a:close/>
                <a:moveTo>
                  <a:pt x="251" y="446"/>
                </a:moveTo>
                <a:lnTo>
                  <a:pt x="251" y="446"/>
                </a:lnTo>
                <a:lnTo>
                  <a:pt x="112" y="446"/>
                </a:lnTo>
                <a:cubicBezTo>
                  <a:pt x="100" y="446"/>
                  <a:pt x="90" y="436"/>
                  <a:pt x="90" y="423"/>
                </a:cubicBezTo>
                <a:cubicBezTo>
                  <a:pt x="90" y="411"/>
                  <a:pt x="100" y="401"/>
                  <a:pt x="112" y="401"/>
                </a:cubicBezTo>
                <a:lnTo>
                  <a:pt x="251" y="401"/>
                </a:lnTo>
                <a:cubicBezTo>
                  <a:pt x="264" y="401"/>
                  <a:pt x="274" y="411"/>
                  <a:pt x="274" y="423"/>
                </a:cubicBezTo>
                <a:cubicBezTo>
                  <a:pt x="274" y="436"/>
                  <a:pt x="264" y="446"/>
                  <a:pt x="251" y="446"/>
                </a:cubicBezTo>
                <a:close/>
                <a:moveTo>
                  <a:pt x="296" y="356"/>
                </a:moveTo>
                <a:lnTo>
                  <a:pt x="296" y="356"/>
                </a:lnTo>
                <a:lnTo>
                  <a:pt x="112" y="356"/>
                </a:lnTo>
                <a:cubicBezTo>
                  <a:pt x="100" y="356"/>
                  <a:pt x="90" y="346"/>
                  <a:pt x="90" y="334"/>
                </a:cubicBezTo>
                <a:cubicBezTo>
                  <a:pt x="90" y="322"/>
                  <a:pt x="100" y="312"/>
                  <a:pt x="112" y="312"/>
                </a:cubicBezTo>
                <a:lnTo>
                  <a:pt x="296" y="312"/>
                </a:lnTo>
                <a:cubicBezTo>
                  <a:pt x="308" y="312"/>
                  <a:pt x="318" y="322"/>
                  <a:pt x="318" y="334"/>
                </a:cubicBezTo>
                <a:cubicBezTo>
                  <a:pt x="318" y="346"/>
                  <a:pt x="308" y="356"/>
                  <a:pt x="296" y="356"/>
                </a:cubicBezTo>
                <a:close/>
                <a:moveTo>
                  <a:pt x="524" y="390"/>
                </a:moveTo>
                <a:cubicBezTo>
                  <a:pt x="512" y="387"/>
                  <a:pt x="501" y="385"/>
                  <a:pt x="488" y="385"/>
                </a:cubicBezTo>
                <a:cubicBezTo>
                  <a:pt x="410" y="385"/>
                  <a:pt x="346" y="449"/>
                  <a:pt x="346" y="527"/>
                </a:cubicBezTo>
                <a:cubicBezTo>
                  <a:pt x="346" y="596"/>
                  <a:pt x="394" y="652"/>
                  <a:pt x="458" y="666"/>
                </a:cubicBezTo>
                <a:cubicBezTo>
                  <a:pt x="468" y="668"/>
                  <a:pt x="478" y="669"/>
                  <a:pt x="488" y="669"/>
                </a:cubicBezTo>
                <a:cubicBezTo>
                  <a:pt x="567" y="669"/>
                  <a:pt x="630" y="606"/>
                  <a:pt x="630" y="527"/>
                </a:cubicBezTo>
                <a:cubicBezTo>
                  <a:pt x="630" y="461"/>
                  <a:pt x="585" y="405"/>
                  <a:pt x="524" y="390"/>
                </a:cubicBezTo>
                <a:close/>
                <a:moveTo>
                  <a:pt x="569" y="507"/>
                </a:moveTo>
                <a:lnTo>
                  <a:pt x="569" y="507"/>
                </a:lnTo>
                <a:lnTo>
                  <a:pt x="524" y="552"/>
                </a:lnTo>
                <a:lnTo>
                  <a:pt x="488" y="588"/>
                </a:lnTo>
                <a:cubicBezTo>
                  <a:pt x="477" y="599"/>
                  <a:pt x="459" y="599"/>
                  <a:pt x="448" y="588"/>
                </a:cubicBezTo>
                <a:lnTo>
                  <a:pt x="408" y="547"/>
                </a:lnTo>
                <a:cubicBezTo>
                  <a:pt x="397" y="536"/>
                  <a:pt x="397" y="518"/>
                  <a:pt x="408" y="507"/>
                </a:cubicBezTo>
                <a:cubicBezTo>
                  <a:pt x="419" y="496"/>
                  <a:pt x="437" y="496"/>
                  <a:pt x="448" y="507"/>
                </a:cubicBezTo>
                <a:lnTo>
                  <a:pt x="468" y="527"/>
                </a:lnTo>
                <a:lnTo>
                  <a:pt x="524" y="472"/>
                </a:lnTo>
                <a:lnTo>
                  <a:pt x="528" y="467"/>
                </a:lnTo>
                <a:cubicBezTo>
                  <a:pt x="540" y="456"/>
                  <a:pt x="558" y="456"/>
                  <a:pt x="569" y="467"/>
                </a:cubicBezTo>
                <a:cubicBezTo>
                  <a:pt x="580" y="478"/>
                  <a:pt x="580" y="496"/>
                  <a:pt x="569" y="507"/>
                </a:cubicBezTo>
                <a:close/>
              </a:path>
            </a:pathLst>
          </a:cu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Tree>
    <p:extLst>
      <p:ext uri="{BB962C8B-B14F-4D97-AF65-F5344CB8AC3E}">
        <p14:creationId xmlns:p14="http://schemas.microsoft.com/office/powerpoint/2010/main" val="463237822"/>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bwMode="auto">
          <a:xfrm>
            <a:off x="6020751" y="1492817"/>
            <a:ext cx="4678692" cy="4867040"/>
          </a:xfrm>
          <a:prstGeom prst="rect">
            <a:avLst/>
          </a:prstGeom>
          <a:solidFill>
            <a:schemeClr val="bg1">
              <a:lumMod val="95000"/>
            </a:schemeClr>
          </a:solidFill>
          <a:ln w="9525" cap="flat" cmpd="sng" algn="ctr">
            <a:solidFill>
              <a:schemeClr val="accent1">
                <a:lumMod val="60000"/>
                <a:lumOff val="40000"/>
              </a:schemeClr>
            </a:solid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5" name="矩形 4"/>
          <p:cNvSpPr/>
          <p:nvPr/>
        </p:nvSpPr>
        <p:spPr bwMode="auto">
          <a:xfrm>
            <a:off x="838200" y="1492817"/>
            <a:ext cx="4678692" cy="4867040"/>
          </a:xfrm>
          <a:prstGeom prst="rect">
            <a:avLst/>
          </a:prstGeom>
          <a:solidFill>
            <a:schemeClr val="bg1">
              <a:lumMod val="95000"/>
            </a:schemeClr>
          </a:solidFill>
          <a:ln w="9525" cap="flat" cmpd="sng" algn="ctr">
            <a:solidFill>
              <a:schemeClr val="accent1">
                <a:lumMod val="60000"/>
                <a:lumOff val="40000"/>
              </a:schemeClr>
            </a:solid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grpSp>
        <p:nvGrpSpPr>
          <p:cNvPr id="6" name="组合 5"/>
          <p:cNvGrpSpPr/>
          <p:nvPr/>
        </p:nvGrpSpPr>
        <p:grpSpPr>
          <a:xfrm>
            <a:off x="2653148" y="942020"/>
            <a:ext cx="1010843" cy="1010844"/>
            <a:chOff x="1230014" y="1296938"/>
            <a:chExt cx="1011238" cy="1011238"/>
          </a:xfrm>
        </p:grpSpPr>
        <p:sp>
          <p:nvSpPr>
            <p:cNvPr id="7" name="Oval 13"/>
            <p:cNvSpPr>
              <a:spLocks noChangeArrowheads="1"/>
            </p:cNvSpPr>
            <p:nvPr/>
          </p:nvSpPr>
          <p:spPr bwMode="auto">
            <a:xfrm>
              <a:off x="1230014" y="1296938"/>
              <a:ext cx="1011238" cy="1011238"/>
            </a:xfrm>
            <a:prstGeom prst="ellipse">
              <a:avLst/>
            </a:prstGeom>
            <a:solidFill>
              <a:srgbClr val="FFC000"/>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8" name="TextBox 14"/>
            <p:cNvSpPr txBox="1"/>
            <p:nvPr/>
          </p:nvSpPr>
          <p:spPr>
            <a:xfrm>
              <a:off x="1282081" y="1429117"/>
              <a:ext cx="868522" cy="707842"/>
            </a:xfrm>
            <a:prstGeom prst="rect">
              <a:avLst/>
            </a:prstGeom>
            <a:noFill/>
          </p:spPr>
          <p:txBody>
            <a:bodyPr wrap="square" rtlCol="0">
              <a:spAutoFit/>
            </a:bodyPr>
            <a:lstStyle/>
            <a:p>
              <a:pPr algn="ctr"/>
              <a:r>
                <a:rPr lang="en-US" altLang="zh-CN" sz="3998" dirty="0">
                  <a:solidFill>
                    <a:schemeClr val="bg1"/>
                  </a:solidFill>
                  <a:latin typeface="+mn-ea"/>
                </a:rPr>
                <a:t>01</a:t>
              </a:r>
              <a:endParaRPr lang="zh-CN" altLang="en-US" sz="3998" dirty="0">
                <a:solidFill>
                  <a:schemeClr val="bg1"/>
                </a:solidFill>
                <a:latin typeface="+mn-ea"/>
              </a:endParaRPr>
            </a:p>
          </p:txBody>
        </p:sp>
      </p:grpSp>
      <p:grpSp>
        <p:nvGrpSpPr>
          <p:cNvPr id="9" name="组合 8"/>
          <p:cNvGrpSpPr/>
          <p:nvPr/>
        </p:nvGrpSpPr>
        <p:grpSpPr>
          <a:xfrm>
            <a:off x="7430479" y="987395"/>
            <a:ext cx="1010843" cy="1010844"/>
            <a:chOff x="6470754" y="1296938"/>
            <a:chExt cx="1011238" cy="1011238"/>
          </a:xfrm>
        </p:grpSpPr>
        <p:sp>
          <p:nvSpPr>
            <p:cNvPr id="10" name="Oval 13"/>
            <p:cNvSpPr>
              <a:spLocks noChangeArrowheads="1"/>
            </p:cNvSpPr>
            <p:nvPr/>
          </p:nvSpPr>
          <p:spPr bwMode="auto">
            <a:xfrm>
              <a:off x="6470754" y="1296938"/>
              <a:ext cx="1011238" cy="1011238"/>
            </a:xfrm>
            <a:prstGeom prst="ellipse">
              <a:avLst/>
            </a:prstGeom>
            <a:solidFill>
              <a:srgbClr val="92D050"/>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11" name="TextBox 19"/>
            <p:cNvSpPr txBox="1"/>
            <p:nvPr/>
          </p:nvSpPr>
          <p:spPr>
            <a:xfrm>
              <a:off x="6522821" y="1429117"/>
              <a:ext cx="868522" cy="707842"/>
            </a:xfrm>
            <a:prstGeom prst="rect">
              <a:avLst/>
            </a:prstGeom>
            <a:noFill/>
          </p:spPr>
          <p:txBody>
            <a:bodyPr wrap="square" rtlCol="0">
              <a:spAutoFit/>
            </a:bodyPr>
            <a:lstStyle/>
            <a:p>
              <a:pPr algn="ctr"/>
              <a:r>
                <a:rPr lang="en-US" altLang="zh-CN" sz="3998" dirty="0">
                  <a:solidFill>
                    <a:schemeClr val="bg1"/>
                  </a:solidFill>
                  <a:latin typeface="+mn-ea"/>
                </a:rPr>
                <a:t>02</a:t>
              </a:r>
              <a:endParaRPr lang="zh-CN" altLang="en-US" sz="3998" dirty="0">
                <a:solidFill>
                  <a:schemeClr val="bg1"/>
                </a:solidFill>
                <a:latin typeface="+mn-ea"/>
              </a:endParaRPr>
            </a:p>
          </p:txBody>
        </p:sp>
      </p:grpSp>
      <p:sp>
        <p:nvSpPr>
          <p:cNvPr id="21507" name="Rectangle 3"/>
          <p:cNvSpPr>
            <a:spLocks noGrp="1" noChangeArrowheads="1"/>
          </p:cNvSpPr>
          <p:nvPr>
            <p:ph type="body" idx="1"/>
          </p:nvPr>
        </p:nvSpPr>
        <p:spPr>
          <a:xfrm>
            <a:off x="5565451" y="1318748"/>
            <a:ext cx="4991359" cy="5430069"/>
          </a:xfrm>
        </p:spPr>
        <p:txBody>
          <a:bodyPr>
            <a:normAutofit/>
          </a:bodyPr>
          <a:lstStyle/>
          <a:p>
            <a:pPr marL="0" indent="0">
              <a:lnSpc>
                <a:spcPct val="150000"/>
              </a:lnSpc>
              <a:buNone/>
            </a:pPr>
            <a:endParaRPr lang="en-US" altLang="zh-CN" b="1" dirty="0">
              <a:latin typeface="微软雅黑" panose="020B0503020204020204" pitchFamily="34" charset="-122"/>
              <a:ea typeface="微软雅黑" panose="020B0503020204020204" pitchFamily="34" charset="-122"/>
            </a:endParaRPr>
          </a:p>
          <a:p>
            <a:pPr marL="457200" lvl="1" indent="0" eaLnBrk="1" hangingPunct="1">
              <a:lnSpc>
                <a:spcPct val="150000"/>
              </a:lnSpc>
              <a:buNone/>
            </a:pPr>
            <a:r>
              <a:rPr lang="zh-CN" altLang="en-US" sz="2800" b="1" dirty="0">
                <a:latin typeface="微软雅黑" panose="020B0503020204020204" pitchFamily="34" charset="-122"/>
                <a:ea typeface="微软雅黑" panose="020B0503020204020204" pitchFamily="34" charset="-122"/>
              </a:rPr>
              <a:t>另一种</a:t>
            </a:r>
            <a:r>
              <a:rPr lang="en-US" altLang="zh-CN" sz="2800" b="1" dirty="0">
                <a:latin typeface="微软雅黑" panose="020B0503020204020204" pitchFamily="34" charset="-122"/>
                <a:ea typeface="微软雅黑" panose="020B0503020204020204" pitchFamily="34" charset="-122"/>
              </a:rPr>
              <a:t>USB</a:t>
            </a:r>
            <a:r>
              <a:rPr lang="zh-CN" altLang="en-US" sz="2800" b="1" dirty="0">
                <a:latin typeface="微软雅黑" panose="020B0503020204020204" pitchFamily="34" charset="-122"/>
                <a:ea typeface="微软雅黑" panose="020B0503020204020204" pitchFamily="34" charset="-122"/>
              </a:rPr>
              <a:t>设备需要单独供电，这类设备通常都是机电一体的装置，如</a:t>
            </a:r>
            <a:r>
              <a:rPr lang="en-US" altLang="zh-CN" sz="2800" b="1" dirty="0">
                <a:latin typeface="微软雅黑" panose="020B0503020204020204" pitchFamily="34" charset="-122"/>
                <a:ea typeface="微软雅黑" panose="020B0503020204020204" pitchFamily="34" charset="-122"/>
              </a:rPr>
              <a:t>USB</a:t>
            </a:r>
            <a:r>
              <a:rPr lang="zh-CN" altLang="en-US" sz="2800" b="1" dirty="0">
                <a:latin typeface="微软雅黑" panose="020B0503020204020204" pitchFamily="34" charset="-122"/>
                <a:ea typeface="微软雅黑" panose="020B0503020204020204" pitchFamily="34" charset="-122"/>
              </a:rPr>
              <a:t>接口的扫描仪、打印机等，因为这些设备的机械传动部分需要大功率的电源才能驱动。</a:t>
            </a:r>
          </a:p>
          <a:p>
            <a:pPr marL="0" indent="0" eaLnBrk="1" hangingPunct="1">
              <a:lnSpc>
                <a:spcPct val="150000"/>
              </a:lnSpc>
              <a:buNone/>
            </a:pPr>
            <a:endParaRPr lang="zh-CN" altLang="en-US" b="1" dirty="0">
              <a:latin typeface="微软雅黑" panose="020B0503020204020204" pitchFamily="34" charset="-122"/>
              <a:ea typeface="微软雅黑" panose="020B0503020204020204" pitchFamily="34" charset="-122"/>
            </a:endParaRPr>
          </a:p>
        </p:txBody>
      </p:sp>
      <p:grpSp>
        <p:nvGrpSpPr>
          <p:cNvPr id="12" name="组合 11"/>
          <p:cNvGrpSpPr/>
          <p:nvPr/>
        </p:nvGrpSpPr>
        <p:grpSpPr>
          <a:xfrm>
            <a:off x="265635" y="269251"/>
            <a:ext cx="438352" cy="621987"/>
            <a:chOff x="265635" y="269251"/>
            <a:chExt cx="438352" cy="621987"/>
          </a:xfrm>
        </p:grpSpPr>
        <p:sp>
          <p:nvSpPr>
            <p:cNvPr id="13"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4"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5"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2" name="矩形 1"/>
          <p:cNvSpPr/>
          <p:nvPr/>
        </p:nvSpPr>
        <p:spPr>
          <a:xfrm>
            <a:off x="875773" y="324584"/>
            <a:ext cx="5955476" cy="535531"/>
          </a:xfrm>
          <a:prstGeom prst="rect">
            <a:avLst/>
          </a:prstGeom>
        </p:spPr>
        <p:txBody>
          <a:bodyPr wrap="none">
            <a:spAutoFit/>
          </a:bodyPr>
          <a:lstStyle/>
          <a:p>
            <a:pPr>
              <a:lnSpc>
                <a:spcPct val="90000"/>
              </a:lnSpc>
              <a:spcBef>
                <a:spcPct val="0"/>
              </a:spcBef>
            </a:pPr>
            <a:r>
              <a:rPr lang="en-US" altLang="zh-CN" sz="3200" b="1" dirty="0">
                <a:latin typeface="微软雅黑" panose="020B0503020204020204" pitchFamily="34" charset="-122"/>
                <a:ea typeface="微软雅黑" panose="020B0503020204020204" pitchFamily="34" charset="-122"/>
              </a:rPr>
              <a:t>USB</a:t>
            </a:r>
            <a:r>
              <a:rPr lang="zh-CN" altLang="en-US" sz="3200" b="1" dirty="0">
                <a:latin typeface="微软雅黑" panose="020B0503020204020204" pitchFamily="34" charset="-122"/>
                <a:ea typeface="微软雅黑" panose="020B0503020204020204" pitchFamily="34" charset="-122"/>
              </a:rPr>
              <a:t>设备的供电通常有两种方式</a:t>
            </a:r>
          </a:p>
        </p:txBody>
      </p:sp>
      <p:sp>
        <p:nvSpPr>
          <p:cNvPr id="3" name="矩形 2"/>
          <p:cNvSpPr/>
          <p:nvPr/>
        </p:nvSpPr>
        <p:spPr>
          <a:xfrm>
            <a:off x="526275" y="1845430"/>
            <a:ext cx="4987129" cy="4616648"/>
          </a:xfrm>
          <a:prstGeom prst="rect">
            <a:avLst/>
          </a:prstGeom>
        </p:spPr>
        <p:txBody>
          <a:bodyPr wrap="square">
            <a:spAutoFit/>
          </a:bodyPr>
          <a:lstStyle/>
          <a:p>
            <a:pPr lvl="1">
              <a:lnSpc>
                <a:spcPct val="150000"/>
              </a:lnSpc>
            </a:pPr>
            <a:r>
              <a:rPr lang="zh-CN" altLang="en-US" sz="2800" b="1" dirty="0">
                <a:latin typeface="微软雅黑" panose="020B0503020204020204" pitchFamily="34" charset="-122"/>
                <a:ea typeface="微软雅黑" panose="020B0503020204020204" pitchFamily="34" charset="-122"/>
              </a:rPr>
              <a:t>一种是设备本身不带独立的电源适配器，电源由主机的</a:t>
            </a:r>
            <a:r>
              <a:rPr lang="en-US" altLang="zh-CN" sz="2800" b="1" dirty="0">
                <a:latin typeface="微软雅黑" panose="020B0503020204020204" pitchFamily="34" charset="-122"/>
                <a:ea typeface="微软雅黑" panose="020B0503020204020204" pitchFamily="34" charset="-122"/>
              </a:rPr>
              <a:t>USB</a:t>
            </a:r>
            <a:r>
              <a:rPr lang="zh-CN" altLang="en-US" sz="2800" b="1" dirty="0">
                <a:latin typeface="微软雅黑" panose="020B0503020204020204" pitchFamily="34" charset="-122"/>
                <a:ea typeface="微软雅黑" panose="020B0503020204020204" pitchFamily="34" charset="-122"/>
              </a:rPr>
              <a:t>接口直接供应。这种设备大多是耗电量不大的纯电路类产品，如</a:t>
            </a:r>
            <a:r>
              <a:rPr lang="en-US" altLang="zh-CN" sz="2800" b="1" dirty="0">
                <a:latin typeface="微软雅黑" panose="020B0503020204020204" pitchFamily="34" charset="-122"/>
                <a:ea typeface="微软雅黑" panose="020B0503020204020204" pitchFamily="34" charset="-122"/>
              </a:rPr>
              <a:t>USB</a:t>
            </a:r>
            <a:r>
              <a:rPr lang="zh-CN" altLang="en-US" sz="2800" b="1" dirty="0">
                <a:latin typeface="微软雅黑" panose="020B0503020204020204" pitchFamily="34" charset="-122"/>
                <a:ea typeface="微软雅黑" panose="020B0503020204020204" pitchFamily="34" charset="-122"/>
              </a:rPr>
              <a:t>接口的</a:t>
            </a:r>
            <a:r>
              <a:rPr lang="en-US" altLang="zh-CN" sz="2800" b="1" dirty="0">
                <a:latin typeface="微软雅黑" panose="020B0503020204020204" pitchFamily="34" charset="-122"/>
                <a:ea typeface="微软雅黑" panose="020B0503020204020204" pitchFamily="34" charset="-122"/>
              </a:rPr>
              <a:t>U</a:t>
            </a:r>
            <a:r>
              <a:rPr lang="zh-CN" altLang="en-US" sz="2800" b="1" dirty="0">
                <a:latin typeface="微软雅黑" panose="020B0503020204020204" pitchFamily="34" charset="-122"/>
                <a:ea typeface="微软雅黑" panose="020B0503020204020204" pitchFamily="34" charset="-122"/>
              </a:rPr>
              <a:t>盘</a:t>
            </a:r>
            <a:r>
              <a:rPr lang="zh-CN" altLang="en-US" sz="2800" b="1">
                <a:latin typeface="微软雅黑" panose="020B0503020204020204" pitchFamily="34" charset="-122"/>
                <a:ea typeface="微软雅黑" panose="020B0503020204020204" pitchFamily="34" charset="-122"/>
              </a:rPr>
              <a:t>、鼠标以及一些小电器如</a:t>
            </a:r>
            <a:r>
              <a:rPr lang="en-US" altLang="zh-CN" sz="2800" b="1">
                <a:latin typeface="微软雅黑" panose="020B0503020204020204" pitchFamily="34" charset="-122"/>
                <a:ea typeface="微软雅黑" panose="020B0503020204020204" pitchFamily="34" charset="-122"/>
              </a:rPr>
              <a:t>MP3</a:t>
            </a:r>
            <a:r>
              <a:rPr lang="zh-CN" altLang="en-US" sz="2800" b="1" dirty="0">
                <a:latin typeface="微软雅黑" panose="020B0503020204020204" pitchFamily="34" charset="-122"/>
                <a:ea typeface="微软雅黑" panose="020B0503020204020204" pitchFamily="34" charset="-122"/>
              </a:rPr>
              <a:t>等；</a:t>
            </a:r>
            <a:endParaRPr lang="en-US" altLang="zh-CN"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14178046"/>
      </p:ext>
    </p:extLst>
  </p:cSld>
  <p:clrMapOvr>
    <a:masterClrMapping/>
  </p:clrMapOvr>
  <mc:AlternateContent xmlns:mc="http://schemas.openxmlformats.org/markup-compatibility/2006" xmlns:p14="http://schemas.microsoft.com/office/powerpoint/2010/main">
    <mc:Choice Requires="p14">
      <p:transition spd="med" advTm="0">
        <p14:prism/>
      </p:transition>
    </mc:Choice>
    <mc:Fallback xmlns="">
      <p:transition spd="med" advTm="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47757" y="2340487"/>
            <a:ext cx="6598050" cy="1698614"/>
          </a:xfrm>
          <a:prstGeom prst="rect">
            <a:avLst/>
          </a:prstGeom>
          <a:solidFill>
            <a:srgbClr val="02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3"/>
          <p:cNvSpPr txBox="1">
            <a:spLocks noChangeArrowheads="1"/>
          </p:cNvSpPr>
          <p:nvPr/>
        </p:nvSpPr>
        <p:spPr bwMode="auto">
          <a:xfrm>
            <a:off x="4098285" y="2541722"/>
            <a:ext cx="4678532" cy="1296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pPr algn="ctr"/>
            <a:r>
              <a:rPr lang="zh-CN" altLang="en-US" sz="6000" b="1" dirty="0">
                <a:solidFill>
                  <a:schemeClr val="bg1"/>
                </a:solidFill>
                <a:latin typeface="微软雅黑" panose="020B0503020204020204" pitchFamily="34" charset="-122"/>
                <a:ea typeface="微软雅黑" panose="020B0503020204020204" pitchFamily="34" charset="-122"/>
              </a:rPr>
              <a:t>谢 谢！</a:t>
            </a:r>
            <a:endParaRPr lang="en-US" altLang="zh-CN" sz="6000" b="1" dirty="0">
              <a:solidFill>
                <a:schemeClr val="bg1"/>
              </a:solidFill>
              <a:latin typeface="微软雅黑" panose="020B0503020204020204" pitchFamily="34" charset="-122"/>
              <a:ea typeface="微软雅黑" panose="020B0503020204020204" pitchFamily="34" charset="-122"/>
            </a:endParaRPr>
          </a:p>
        </p:txBody>
      </p:sp>
      <p:sp>
        <p:nvSpPr>
          <p:cNvPr id="6" name="Rectangle 6"/>
          <p:cNvSpPr>
            <a:spLocks noChangeArrowheads="1"/>
          </p:cNvSpPr>
          <p:nvPr/>
        </p:nvSpPr>
        <p:spPr bwMode="auto">
          <a:xfrm>
            <a:off x="6353950" y="5153618"/>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7" name="Rectangle 7"/>
          <p:cNvSpPr>
            <a:spLocks noChangeArrowheads="1"/>
          </p:cNvSpPr>
          <p:nvPr/>
        </p:nvSpPr>
        <p:spPr bwMode="auto">
          <a:xfrm>
            <a:off x="7620664" y="5153618"/>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8" name="Rectangle 8"/>
          <p:cNvSpPr>
            <a:spLocks noChangeArrowheads="1"/>
          </p:cNvSpPr>
          <p:nvPr/>
        </p:nvSpPr>
        <p:spPr bwMode="auto">
          <a:xfrm>
            <a:off x="8885806" y="5153618"/>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9" name="Rectangle 9"/>
          <p:cNvSpPr>
            <a:spLocks noChangeArrowheads="1"/>
          </p:cNvSpPr>
          <p:nvPr/>
        </p:nvSpPr>
        <p:spPr bwMode="auto">
          <a:xfrm>
            <a:off x="10152517" y="5153618"/>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0" name="Freeform 9"/>
          <p:cNvSpPr>
            <a:spLocks noEditPoints="1"/>
          </p:cNvSpPr>
          <p:nvPr/>
        </p:nvSpPr>
        <p:spPr bwMode="auto">
          <a:xfrm>
            <a:off x="10057335" y="4692974"/>
            <a:ext cx="373115" cy="37468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484849"/>
              </a:solidFill>
            </a:endParaRPr>
          </a:p>
        </p:txBody>
      </p:sp>
      <p:sp>
        <p:nvSpPr>
          <p:cNvPr id="11" name="Rectangle 4"/>
          <p:cNvSpPr txBox="1">
            <a:spLocks noChangeArrowheads="1"/>
          </p:cNvSpPr>
          <p:nvPr/>
        </p:nvSpPr>
        <p:spPr bwMode="auto">
          <a:xfrm>
            <a:off x="10466453" y="4703232"/>
            <a:ext cx="1899476" cy="353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rtlCol="0">
            <a:spAutoFit/>
          </a:bodyPr>
          <a:lstStyle>
            <a:defPPr>
              <a:defRPr lang="zh-CN"/>
            </a:defPPr>
            <a:lvl1pPr>
              <a:defRPr sz="2400" b="1">
                <a:latin typeface="+mj-ea"/>
                <a:ea typeface="+mj-ea"/>
              </a:defRPr>
            </a:lvl1pPr>
          </a:lstStyle>
          <a:p>
            <a:r>
              <a:rPr lang="zh-CN" altLang="en-US" sz="1700" dirty="0">
                <a:solidFill>
                  <a:schemeClr val="bg1"/>
                </a:solidFill>
              </a:rPr>
              <a:t>汇报人：代用名</a:t>
            </a:r>
          </a:p>
        </p:txBody>
      </p:sp>
      <p:sp>
        <p:nvSpPr>
          <p:cNvPr id="12" name="Freeform 10"/>
          <p:cNvSpPr>
            <a:spLocks noChangeAspect="1" noEditPoints="1"/>
          </p:cNvSpPr>
          <p:nvPr/>
        </p:nvSpPr>
        <p:spPr bwMode="auto">
          <a:xfrm>
            <a:off x="6417691" y="4693112"/>
            <a:ext cx="372836" cy="3744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3"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14" name="Rectangle 6"/>
          <p:cNvSpPr>
            <a:spLocks noChangeArrowheads="1"/>
          </p:cNvSpPr>
          <p:nvPr/>
        </p:nvSpPr>
        <p:spPr bwMode="auto">
          <a:xfrm>
            <a:off x="0" y="1109114"/>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5" name="Rectangle 7"/>
          <p:cNvSpPr>
            <a:spLocks noChangeArrowheads="1"/>
          </p:cNvSpPr>
          <p:nvPr/>
        </p:nvSpPr>
        <p:spPr bwMode="auto">
          <a:xfrm>
            <a:off x="1266714" y="1109114"/>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6" name="Rectangle 8"/>
          <p:cNvSpPr>
            <a:spLocks noChangeArrowheads="1"/>
          </p:cNvSpPr>
          <p:nvPr/>
        </p:nvSpPr>
        <p:spPr bwMode="auto">
          <a:xfrm>
            <a:off x="2531856" y="1109114"/>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7" name="Rectangle 9"/>
          <p:cNvSpPr>
            <a:spLocks noChangeArrowheads="1"/>
          </p:cNvSpPr>
          <p:nvPr/>
        </p:nvSpPr>
        <p:spPr bwMode="auto">
          <a:xfrm>
            <a:off x="3798567" y="1109114"/>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Tree>
    <p:extLst>
      <p:ext uri="{BB962C8B-B14F-4D97-AF65-F5344CB8AC3E}">
        <p14:creationId xmlns:p14="http://schemas.microsoft.com/office/powerpoint/2010/main" val="1976011635"/>
      </p:ext>
    </p:extLst>
  </p:cSld>
  <p:clrMapOvr>
    <a:masterClrMapping/>
  </p:clrMapOvr>
  <mc:AlternateContent xmlns:mc="http://schemas.openxmlformats.org/markup-compatibility/2006" xmlns:p14="http://schemas.microsoft.com/office/powerpoint/2010/main">
    <mc:Choice Requires="p14">
      <p:transition advTm="0">
        <p14:prism/>
      </p:transition>
    </mc:Choice>
    <mc:Fallback xmlns="">
      <p:transition advTm="0">
        <p:fade/>
      </p:transition>
    </mc:Fallback>
  </mc:AlternateContent>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230</TotalTime>
  <Words>881</Words>
  <Application>Microsoft Office PowerPoint</Application>
  <PresentationFormat>宽屏</PresentationFormat>
  <Paragraphs>104</Paragraphs>
  <Slides>20</Slides>
  <Notes>10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20</vt:i4>
      </vt:variant>
    </vt:vector>
  </HeadingPairs>
  <TitlesOfParts>
    <vt:vector size="27" baseType="lpstr">
      <vt:lpstr>宋体</vt:lpstr>
      <vt:lpstr>微软雅黑</vt:lpstr>
      <vt:lpstr>Arial</vt:lpstr>
      <vt:lpstr>Calibri</vt:lpstr>
      <vt:lpstr>Calibri Light</vt:lpstr>
      <vt:lpstr>第一PPT，www.1ppt.com</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USB接口 </vt:lpstr>
      <vt:lpstr>PowerPoint 演示文稿</vt:lpstr>
      <vt:lpstr>PowerPoint 演示文稿</vt:lpstr>
      <vt:lpstr>PowerPoint 演示文稿</vt:lpstr>
      <vt:lpstr>PowerPoint 演示文稿</vt:lpstr>
      <vt:lpstr>USB的接口类型 </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07述职报告</dc:title>
  <dc:creator>user</dc:creator>
  <cp:lastModifiedBy>文光</cp:lastModifiedBy>
  <cp:revision>36</cp:revision>
  <dcterms:created xsi:type="dcterms:W3CDTF">2016-06-01T05:10:04Z</dcterms:created>
  <dcterms:modified xsi:type="dcterms:W3CDTF">2017-05-26T05:46:02Z</dcterms:modified>
</cp:coreProperties>
</file>