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89" r:id="rId2"/>
    <p:sldId id="308" r:id="rId3"/>
    <p:sldId id="309" r:id="rId4"/>
    <p:sldId id="310" r:id="rId5"/>
    <p:sldId id="295" r:id="rId6"/>
    <p:sldId id="296" r:id="rId7"/>
    <p:sldId id="297" r:id="rId8"/>
    <p:sldId id="298" r:id="rId9"/>
    <p:sldId id="299" r:id="rId10"/>
    <p:sldId id="311" r:id="rId11"/>
    <p:sldId id="312" r:id="rId12"/>
    <p:sldId id="313" r:id="rId13"/>
    <p:sldId id="314" r:id="rId14"/>
    <p:sldId id="304" r:id="rId15"/>
    <p:sldId id="305" r:id="rId16"/>
    <p:sldId id="306" r:id="rId17"/>
    <p:sldId id="307" r:id="rId18"/>
    <p:sldId id="29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2B9E7"/>
    <a:srgbClr val="01C0B0"/>
    <a:srgbClr val="04B0BE"/>
    <a:srgbClr val="04BE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775" autoAdjust="0"/>
    <p:restoredTop sz="94660"/>
  </p:normalViewPr>
  <p:slideViewPr>
    <p:cSldViewPr snapToGrid="0" showGuides="1">
      <p:cViewPr varScale="1">
        <p:scale>
          <a:sx n="78" d="100"/>
          <a:sy n="78" d="100"/>
        </p:scale>
        <p:origin x="90" y="378"/>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t>2017/6/5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a:t>
            </a:fld>
            <a:endParaRPr lang="zh-CN" altLang="en-US"/>
          </a:p>
        </p:txBody>
      </p:sp>
    </p:spTree>
    <p:extLst>
      <p:ext uri="{BB962C8B-B14F-4D97-AF65-F5344CB8AC3E}">
        <p14:creationId xmlns:p14="http://schemas.microsoft.com/office/powerpoint/2010/main" val="1614255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86235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3</a:t>
            </a:fld>
            <a:endParaRPr lang="zh-CN" altLang="en-US"/>
          </a:p>
        </p:txBody>
      </p:sp>
    </p:spTree>
    <p:extLst>
      <p:ext uri="{BB962C8B-B14F-4D97-AF65-F5344CB8AC3E}">
        <p14:creationId xmlns:p14="http://schemas.microsoft.com/office/powerpoint/2010/main" val="2582074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636928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55284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3681438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2220956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926842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t>18</a:t>
            </a:fld>
            <a:endParaRPr lang="zh-CN" altLang="en-US"/>
          </a:p>
        </p:txBody>
      </p:sp>
    </p:spTree>
    <p:extLst>
      <p:ext uri="{BB962C8B-B14F-4D97-AF65-F5344CB8AC3E}">
        <p14:creationId xmlns:p14="http://schemas.microsoft.com/office/powerpoint/2010/main" val="2790971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52800" y="228600"/>
            <a:ext cx="84328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8F26A215-1E01-4726-BC00-9940A4166ACF}" type="slidenum">
              <a:rPr lang="zh-CN" altLang="en-US"/>
              <a:pPr>
                <a:defRPr/>
              </a:pPr>
              <a:t>‹#›</a:t>
            </a:fld>
            <a:endParaRPr lang="en-US" altLang="zh-CN"/>
          </a:p>
        </p:txBody>
      </p:sp>
    </p:spTree>
    <p:extLst>
      <p:ext uri="{BB962C8B-B14F-4D97-AF65-F5344CB8AC3E}">
        <p14:creationId xmlns:p14="http://schemas.microsoft.com/office/powerpoint/2010/main" val="360247573"/>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t>2017/6/5</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6.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506385"/>
            <a:ext cx="6598050" cy="1478761"/>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3037268" y="2541722"/>
            <a:ext cx="6419027"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r>
              <a:rPr lang="zh-CN" altLang="en-US" sz="5400" b="1" dirty="0">
                <a:solidFill>
                  <a:schemeClr val="bg1"/>
                </a:solidFill>
                <a:latin typeface="微软雅黑" panose="020B0503020204020204" pitchFamily="34" charset="-122"/>
                <a:ea typeface="微软雅黑" panose="020B0503020204020204" pitchFamily="34" charset="-122"/>
              </a:rPr>
              <a:t>计算机系统的并行性</a:t>
            </a:r>
            <a:endParaRPr lang="en-US" altLang="zh-CN" sz="54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椭圆 8"/>
          <p:cNvSpPr/>
          <p:nvPr/>
        </p:nvSpPr>
        <p:spPr bwMode="auto">
          <a:xfrm>
            <a:off x="1417307" y="1395811"/>
            <a:ext cx="799664" cy="799664"/>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TextBox 9"/>
          <p:cNvSpPr txBox="1"/>
          <p:nvPr/>
        </p:nvSpPr>
        <p:spPr>
          <a:xfrm>
            <a:off x="1471670" y="1503373"/>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01</a:t>
            </a:r>
            <a:endParaRPr lang="zh-CN" altLang="en-US" sz="3199" b="1" dirty="0">
              <a:solidFill>
                <a:schemeClr val="bg1"/>
              </a:solidFill>
              <a:latin typeface="+mj-ea"/>
              <a:ea typeface="+mj-ea"/>
            </a:endParaRPr>
          </a:p>
        </p:txBody>
      </p:sp>
      <p:sp>
        <p:nvSpPr>
          <p:cNvPr id="11" name="椭圆 10"/>
          <p:cNvSpPr/>
          <p:nvPr/>
        </p:nvSpPr>
        <p:spPr bwMode="auto">
          <a:xfrm>
            <a:off x="1417307" y="3331383"/>
            <a:ext cx="799664" cy="799664"/>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2" name="TextBox 11"/>
          <p:cNvSpPr txBox="1"/>
          <p:nvPr/>
        </p:nvSpPr>
        <p:spPr>
          <a:xfrm>
            <a:off x="1471670" y="3438944"/>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02</a:t>
            </a:r>
            <a:endParaRPr lang="zh-CN" altLang="en-US" sz="3199" b="1" dirty="0">
              <a:solidFill>
                <a:schemeClr val="bg1"/>
              </a:solidFill>
              <a:latin typeface="+mj-ea"/>
              <a:ea typeface="+mj-ea"/>
            </a:endParaRPr>
          </a:p>
        </p:txBody>
      </p:sp>
      <p:sp>
        <p:nvSpPr>
          <p:cNvPr id="13" name="椭圆 12"/>
          <p:cNvSpPr/>
          <p:nvPr/>
        </p:nvSpPr>
        <p:spPr bwMode="auto">
          <a:xfrm>
            <a:off x="1417307" y="5319892"/>
            <a:ext cx="799664" cy="799664"/>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4" name="TextBox 13"/>
          <p:cNvSpPr txBox="1"/>
          <p:nvPr/>
        </p:nvSpPr>
        <p:spPr>
          <a:xfrm>
            <a:off x="1471670" y="5427455"/>
            <a:ext cx="598156" cy="584605"/>
          </a:xfrm>
          <a:prstGeom prst="rect">
            <a:avLst/>
          </a:prstGeom>
          <a:noFill/>
        </p:spPr>
        <p:txBody>
          <a:bodyPr wrap="none" lIns="91398" tIns="45699" rIns="91398" bIns="45699" rtlCol="0">
            <a:spAutoFit/>
          </a:bodyPr>
          <a:lstStyle/>
          <a:p>
            <a:r>
              <a:rPr lang="en-US" altLang="zh-CN" sz="3199" b="1" dirty="0">
                <a:solidFill>
                  <a:schemeClr val="bg1"/>
                </a:solidFill>
                <a:latin typeface="+mj-ea"/>
                <a:ea typeface="+mj-ea"/>
              </a:rPr>
              <a:t>03</a:t>
            </a:r>
            <a:endParaRPr lang="zh-CN" altLang="en-US" sz="3199" b="1" dirty="0">
              <a:solidFill>
                <a:schemeClr val="bg1"/>
              </a:solidFill>
              <a:latin typeface="+mj-ea"/>
              <a:ea typeface="+mj-ea"/>
            </a:endParaRPr>
          </a:p>
        </p:txBody>
      </p:sp>
      <p:cxnSp>
        <p:nvCxnSpPr>
          <p:cNvPr id="15" name="直接连接符 14"/>
          <p:cNvCxnSpPr/>
          <p:nvPr/>
        </p:nvCxnSpPr>
        <p:spPr bwMode="auto">
          <a:xfrm>
            <a:off x="1823604" y="4139187"/>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p:nvPr/>
        </p:nvCxnSpPr>
        <p:spPr bwMode="auto">
          <a:xfrm>
            <a:off x="1823604" y="2200785"/>
            <a:ext cx="0" cy="1143541"/>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1" name="矩形 20"/>
          <p:cNvSpPr/>
          <p:nvPr/>
        </p:nvSpPr>
        <p:spPr>
          <a:xfrm>
            <a:off x="0" y="275451"/>
            <a:ext cx="11316227" cy="646331"/>
          </a:xfrm>
          <a:prstGeom prst="rect">
            <a:avLst/>
          </a:prstGeom>
        </p:spPr>
        <p:txBody>
          <a:bodyPr wrap="square">
            <a:spAutoFit/>
          </a:bodyPr>
          <a:lstStyle/>
          <a:p>
            <a:pPr algn="ctr">
              <a:lnSpc>
                <a:spcPct val="150000"/>
              </a:lnSpc>
              <a:defRPr/>
            </a:pPr>
            <a:r>
              <a:rPr lang="zh-CN" altLang="en-US" sz="2400" b="1" dirty="0">
                <a:latin typeface="微软雅黑" panose="020B0503020204020204" pitchFamily="34" charset="-122"/>
                <a:ea typeface="微软雅黑" panose="020B0503020204020204" pitchFamily="34" charset="-122"/>
              </a:rPr>
              <a:t>计算机体系结构、计算机组织和计算机实现三者互不相同但又互相影响</a:t>
            </a:r>
          </a:p>
        </p:txBody>
      </p:sp>
      <p:sp>
        <p:nvSpPr>
          <p:cNvPr id="2" name="矩形 1"/>
          <p:cNvSpPr/>
          <p:nvPr/>
        </p:nvSpPr>
        <p:spPr>
          <a:xfrm>
            <a:off x="2623268" y="1302538"/>
            <a:ext cx="8182851" cy="1200329"/>
          </a:xfrm>
          <a:prstGeom prst="rect">
            <a:avLst/>
          </a:prstGeom>
        </p:spPr>
        <p:txBody>
          <a:bodyPr wrap="square">
            <a:spAutoFit/>
          </a:bodyPr>
          <a:lstStyle/>
          <a:p>
            <a:pPr>
              <a:lnSpc>
                <a:spcPct val="150000"/>
              </a:lnSpc>
              <a:spcBef>
                <a:spcPct val="0"/>
              </a:spcBef>
            </a:pPr>
            <a:r>
              <a:rPr lang="zh-CN" altLang="en-US" sz="2400" b="1" dirty="0">
                <a:solidFill>
                  <a:srgbClr val="000000"/>
                </a:solidFill>
                <a:latin typeface="微软雅黑" panose="020B0503020204020204" pitchFamily="34" charset="-122"/>
                <a:ea typeface="微软雅黑" panose="020B0503020204020204" pitchFamily="34" charset="-122"/>
              </a:rPr>
              <a:t>计算机体系结构：是程序员所看到的计算机的属性，即概念性结构和功能特性</a:t>
            </a:r>
            <a:r>
              <a:rPr lang="zh-CN" altLang="en-US" sz="2400" b="1" dirty="0" smtClean="0">
                <a:solidFill>
                  <a:srgbClr val="000000"/>
                </a:solidFill>
                <a:latin typeface="微软雅黑" panose="020B0503020204020204" pitchFamily="34" charset="-122"/>
                <a:ea typeface="微软雅黑" panose="020B0503020204020204" pitchFamily="34" charset="-122"/>
              </a:rPr>
              <a:t>；</a:t>
            </a:r>
            <a:r>
              <a:rPr lang="en-US" altLang="zh-CN" sz="2400" b="1" dirty="0" smtClean="0">
                <a:solidFill>
                  <a:srgbClr val="000000"/>
                </a:solidFill>
                <a:latin typeface="微软雅黑" panose="020B0503020204020204" pitchFamily="34" charset="-122"/>
                <a:ea typeface="微软雅黑" panose="020B0503020204020204" pitchFamily="34" charset="-122"/>
              </a:rPr>
              <a:t>(</a:t>
            </a:r>
            <a:r>
              <a:rPr lang="zh-CN" altLang="en-US" sz="2400" b="1" dirty="0" smtClean="0">
                <a:solidFill>
                  <a:srgbClr val="000000"/>
                </a:solidFill>
                <a:latin typeface="微软雅黑" panose="020B0503020204020204" pitchFamily="34" charset="-122"/>
                <a:ea typeface="微软雅黑" panose="020B0503020204020204" pitchFamily="34" charset="-122"/>
              </a:rPr>
              <a:t>外特性</a:t>
            </a:r>
            <a:r>
              <a:rPr lang="en-US" altLang="zh-CN" sz="2400" b="1" dirty="0" smtClean="0">
                <a:solidFill>
                  <a:srgbClr val="000000"/>
                </a:solidFill>
                <a:latin typeface="微软雅黑" panose="020B0503020204020204" pitchFamily="34" charset="-122"/>
                <a:ea typeface="微软雅黑" panose="020B0503020204020204" pitchFamily="34" charset="-122"/>
              </a:rPr>
              <a:t>)</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4" name="矩形 3"/>
          <p:cNvSpPr/>
          <p:nvPr/>
        </p:nvSpPr>
        <p:spPr>
          <a:xfrm>
            <a:off x="2749079" y="3131050"/>
            <a:ext cx="8329996" cy="1200329"/>
          </a:xfrm>
          <a:prstGeom prst="rect">
            <a:avLst/>
          </a:prstGeom>
        </p:spPr>
        <p:txBody>
          <a:bodyPr wrap="square">
            <a:spAutoFit/>
          </a:bodyPr>
          <a:lstStyle/>
          <a:p>
            <a:pPr>
              <a:lnSpc>
                <a:spcPct val="150000"/>
              </a:lnSpc>
              <a:spcBef>
                <a:spcPct val="0"/>
              </a:spcBef>
            </a:pPr>
            <a:r>
              <a:rPr lang="zh-CN" altLang="en-US" sz="2400" b="1" dirty="0">
                <a:solidFill>
                  <a:srgbClr val="000000"/>
                </a:solidFill>
                <a:latin typeface="微软雅黑" panose="020B0503020204020204" pitchFamily="34" charset="-122"/>
                <a:ea typeface="微软雅黑" panose="020B0503020204020204" pitchFamily="34" charset="-122"/>
              </a:rPr>
              <a:t>计算机组织（</a:t>
            </a:r>
            <a:r>
              <a:rPr lang="en-US" altLang="zh-CN" sz="2400" b="1" dirty="0">
                <a:solidFill>
                  <a:srgbClr val="000000"/>
                </a:solidFill>
                <a:latin typeface="微软雅黑" panose="020B0503020204020204" pitchFamily="34" charset="-122"/>
                <a:ea typeface="微软雅黑" panose="020B0503020204020204" pitchFamily="34" charset="-122"/>
              </a:rPr>
              <a:t>Computer Organization</a:t>
            </a:r>
            <a:r>
              <a:rPr lang="zh-CN" altLang="en-US" sz="2400" b="1" dirty="0">
                <a:solidFill>
                  <a:srgbClr val="000000"/>
                </a:solidFill>
                <a:latin typeface="微软雅黑" panose="020B0503020204020204" pitchFamily="34" charset="-122"/>
                <a:ea typeface="微软雅黑" panose="020B0503020204020204" pitchFamily="34" charset="-122"/>
              </a:rPr>
              <a:t>）：所研究的是计算机系统的逻辑实现；</a:t>
            </a:r>
          </a:p>
        </p:txBody>
      </p:sp>
      <p:sp>
        <p:nvSpPr>
          <p:cNvPr id="8" name="矩形 7"/>
          <p:cNvSpPr/>
          <p:nvPr/>
        </p:nvSpPr>
        <p:spPr>
          <a:xfrm>
            <a:off x="2867672" y="5119559"/>
            <a:ext cx="8211403" cy="1200329"/>
          </a:xfrm>
          <a:prstGeom prst="rect">
            <a:avLst/>
          </a:prstGeom>
        </p:spPr>
        <p:txBody>
          <a:bodyPr wrap="square">
            <a:spAutoFit/>
          </a:bodyPr>
          <a:lstStyle/>
          <a:p>
            <a:pPr>
              <a:lnSpc>
                <a:spcPct val="150000"/>
              </a:lnSpc>
              <a:spcBef>
                <a:spcPct val="0"/>
              </a:spcBef>
            </a:pPr>
            <a:r>
              <a:rPr lang="zh-CN" altLang="en-US" sz="2400" b="1" dirty="0">
                <a:solidFill>
                  <a:srgbClr val="000000"/>
                </a:solidFill>
                <a:latin typeface="微软雅黑" panose="020B0503020204020204" pitchFamily="34" charset="-122"/>
                <a:ea typeface="微软雅黑" panose="020B0503020204020204" pitchFamily="34" charset="-122"/>
              </a:rPr>
              <a:t>计算机实现</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Computer Implementation</a:t>
            </a:r>
            <a:r>
              <a:rPr lang="zh-CN" altLang="en-US" sz="2400" b="1" dirty="0">
                <a:latin typeface="微软雅黑" panose="020B0503020204020204" pitchFamily="34" charset="-122"/>
                <a:ea typeface="微软雅黑" panose="020B0503020204020204" pitchFamily="34" charset="-122"/>
              </a:rPr>
              <a:t>）：所研究的是计算机系统的物理实现。</a:t>
            </a:r>
          </a:p>
        </p:txBody>
      </p:sp>
    </p:spTree>
    <p:extLst>
      <p:ext uri="{BB962C8B-B14F-4D97-AF65-F5344CB8AC3E}">
        <p14:creationId xmlns:p14="http://schemas.microsoft.com/office/powerpoint/2010/main" val="502988078"/>
      </p:ext>
    </p:extLst>
  </p:cSld>
  <p:clrMapOvr>
    <a:masterClrMapping/>
  </p:clrMapOvr>
  <mc:AlternateContent xmlns:mc="http://schemas.openxmlformats.org/markup-compatibility/2006" xmlns:p14="http://schemas.microsoft.com/office/powerpoint/2010/main">
    <mc:Choice Requires="p14">
      <p:transition spd="slow" advTm="7144">
        <p14:gallery dir="l"/>
      </p:transition>
    </mc:Choice>
    <mc:Fallback xmlns="">
      <p:transition spd="slow" advTm="7144">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434609" y="1444767"/>
            <a:ext cx="9313819" cy="4367283"/>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409605" y="1381267"/>
            <a:ext cx="9313819" cy="4367283"/>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427165" y="1419367"/>
            <a:ext cx="9337675" cy="4367283"/>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978067" y="5131682"/>
            <a:ext cx="1658468" cy="1245401"/>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425202" y="7905750"/>
            <a:ext cx="877163" cy="369332"/>
          </a:xfrm>
          <a:prstGeom prst="rect">
            <a:avLst/>
          </a:prstGeom>
          <a:noFill/>
        </p:spPr>
        <p:txBody>
          <a:bodyPr wrap="none" rtlCol="0">
            <a:spAutoFit/>
          </a:bodyPr>
          <a:lstStyle/>
          <a:p>
            <a:r>
              <a:rPr lang="zh-CN" altLang="en-US" dirty="0"/>
              <a:t>延迟符</a:t>
            </a:r>
          </a:p>
        </p:txBody>
      </p:sp>
      <p:sp>
        <p:nvSpPr>
          <p:cNvPr id="2" name="矩形 1"/>
          <p:cNvSpPr/>
          <p:nvPr/>
        </p:nvSpPr>
        <p:spPr>
          <a:xfrm>
            <a:off x="1409605" y="724561"/>
            <a:ext cx="6630205" cy="633187"/>
          </a:xfrm>
          <a:prstGeom prst="rect">
            <a:avLst/>
          </a:prstGeom>
        </p:spPr>
        <p:txBody>
          <a:bodyPr wrap="square">
            <a:spAutoFit/>
          </a:bodyPr>
          <a:lstStyle/>
          <a:p>
            <a:pPr>
              <a:lnSpc>
                <a:spcPct val="120000"/>
              </a:lnSpc>
            </a:pPr>
            <a:r>
              <a:rPr lang="zh-CN" altLang="en-US" sz="3200" b="1" dirty="0">
                <a:solidFill>
                  <a:srgbClr val="01C0B0"/>
                </a:solidFill>
                <a:latin typeface="微软雅黑" panose="020B0503020204020204" pitchFamily="34" charset="-122"/>
                <a:ea typeface="微软雅黑" panose="020B0503020204020204" pitchFamily="34" charset="-122"/>
              </a:rPr>
              <a:t>并行计算机体系结构的分类 </a:t>
            </a:r>
          </a:p>
        </p:txBody>
      </p:sp>
      <p:sp>
        <p:nvSpPr>
          <p:cNvPr id="3" name="矩形 2"/>
          <p:cNvSpPr/>
          <p:nvPr/>
        </p:nvSpPr>
        <p:spPr>
          <a:xfrm>
            <a:off x="1448252" y="1513983"/>
            <a:ext cx="9347793" cy="4228850"/>
          </a:xfrm>
          <a:prstGeom prst="rect">
            <a:avLst/>
          </a:prstGeom>
        </p:spPr>
        <p:txBody>
          <a:bodyPr wrap="square">
            <a:spAutoFit/>
          </a:bodyPr>
          <a:lstStyle/>
          <a:p>
            <a:pPr>
              <a:lnSpc>
                <a:spcPct val="120000"/>
              </a:lnSpc>
            </a:pPr>
            <a:r>
              <a:rPr lang="en-US" altLang="zh-CN" sz="2800" b="1" dirty="0">
                <a:solidFill>
                  <a:srgbClr val="000000"/>
                </a:solidFill>
                <a:latin typeface="微软雅黑" panose="020B0503020204020204" pitchFamily="34" charset="-122"/>
                <a:ea typeface="微软雅黑" panose="020B0503020204020204" pitchFamily="34" charset="-122"/>
              </a:rPr>
              <a:t>Flynn</a:t>
            </a:r>
            <a:r>
              <a:rPr lang="zh-CN" altLang="en-US" sz="2800" b="1" dirty="0">
                <a:solidFill>
                  <a:srgbClr val="000000"/>
                </a:solidFill>
                <a:latin typeface="微软雅黑" panose="020B0503020204020204" pitchFamily="34" charset="-122"/>
                <a:ea typeface="微软雅黑" panose="020B0503020204020204" pitchFamily="34" charset="-122"/>
              </a:rPr>
              <a:t>（弗林）分类法</a:t>
            </a:r>
            <a:r>
              <a:rPr lang="zh-CN" altLang="en-US" sz="2800" b="1" dirty="0">
                <a:latin typeface="微软雅黑" panose="020B0503020204020204" pitchFamily="34" charset="-122"/>
                <a:ea typeface="微软雅黑" panose="020B0503020204020204" pitchFamily="34" charset="-122"/>
              </a:rPr>
              <a:t>：美国的弗林（</a:t>
            </a:r>
            <a:r>
              <a:rPr lang="en-US" altLang="zh-CN" sz="2800" b="1" dirty="0">
                <a:latin typeface="微软雅黑" panose="020B0503020204020204" pitchFamily="34" charset="-122"/>
                <a:ea typeface="微软雅黑" panose="020B0503020204020204" pitchFamily="34" charset="-122"/>
              </a:rPr>
              <a:t>Michael Flynn</a:t>
            </a:r>
            <a:r>
              <a:rPr lang="zh-CN" altLang="en-US" sz="2800" b="1" dirty="0">
                <a:latin typeface="微软雅黑" panose="020B0503020204020204" pitchFamily="34" charset="-122"/>
                <a:ea typeface="微软雅黑" panose="020B0503020204020204" pitchFamily="34" charset="-122"/>
              </a:rPr>
              <a:t>）于</a:t>
            </a:r>
            <a:r>
              <a:rPr lang="en-US" altLang="zh-CN" sz="2800" b="1" dirty="0">
                <a:latin typeface="微软雅黑" panose="020B0503020204020204" pitchFamily="34" charset="-122"/>
                <a:ea typeface="微软雅黑" panose="020B0503020204020204" pitchFamily="34" charset="-122"/>
              </a:rPr>
              <a:t>1966</a:t>
            </a:r>
            <a:r>
              <a:rPr lang="zh-CN" altLang="en-US" sz="2800" b="1" dirty="0">
                <a:latin typeface="微软雅黑" panose="020B0503020204020204" pitchFamily="34" charset="-122"/>
                <a:ea typeface="微软雅黑" panose="020B0503020204020204" pitchFamily="34" charset="-122"/>
              </a:rPr>
              <a:t>年提出的分类法。这种分类法主要依据指令流和数据流的多倍性关系来对计算机系统进行分类。</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b="1" dirty="0">
                <a:solidFill>
                  <a:srgbClr val="FF3300"/>
                </a:solidFill>
                <a:latin typeface="微软雅黑" panose="020B0503020204020204" pitchFamily="34" charset="-122"/>
                <a:ea typeface="微软雅黑" panose="020B0503020204020204" pitchFamily="34" charset="-122"/>
              </a:rPr>
              <a:t>指令流</a:t>
            </a:r>
            <a:r>
              <a:rPr lang="zh-CN" altLang="en-US" sz="2800" b="1" dirty="0">
                <a:latin typeface="微软雅黑" panose="020B0503020204020204" pitchFamily="34" charset="-122"/>
                <a:ea typeface="微软雅黑" panose="020B0503020204020204" pitchFamily="34" charset="-122"/>
              </a:rPr>
              <a:t>是指机器执行的指令序列；</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b="1" dirty="0">
                <a:solidFill>
                  <a:srgbClr val="FF3300"/>
                </a:solidFill>
                <a:latin typeface="微软雅黑" panose="020B0503020204020204" pitchFamily="34" charset="-122"/>
                <a:ea typeface="微软雅黑" panose="020B0503020204020204" pitchFamily="34" charset="-122"/>
              </a:rPr>
              <a:t>数据流</a:t>
            </a:r>
            <a:r>
              <a:rPr lang="zh-CN" altLang="en-US" sz="2800" b="1" dirty="0">
                <a:latin typeface="微软雅黑" panose="020B0503020204020204" pitchFamily="34" charset="-122"/>
                <a:ea typeface="微软雅黑" panose="020B0503020204020204" pitchFamily="34" charset="-122"/>
              </a:rPr>
              <a:t>是指由指令流调用的数据序列，包括输入数据和中间结果；</a:t>
            </a:r>
            <a:endParaRPr lang="en-US" altLang="zh-CN" sz="2800" b="1" dirty="0">
              <a:latin typeface="微软雅黑" panose="020B0503020204020204" pitchFamily="34" charset="-122"/>
              <a:ea typeface="微软雅黑" panose="020B0503020204020204" pitchFamily="34" charset="-122"/>
            </a:endParaRPr>
          </a:p>
          <a:p>
            <a:pPr>
              <a:lnSpc>
                <a:spcPct val="120000"/>
              </a:lnSpc>
            </a:pPr>
            <a:r>
              <a:rPr lang="zh-CN" altLang="en-US" sz="2800" b="1" dirty="0">
                <a:solidFill>
                  <a:srgbClr val="FF3300"/>
                </a:solidFill>
                <a:latin typeface="微软雅黑" panose="020B0503020204020204" pitchFamily="34" charset="-122"/>
                <a:ea typeface="微软雅黑" panose="020B0503020204020204" pitchFamily="34" charset="-122"/>
              </a:rPr>
              <a:t>多倍性</a:t>
            </a:r>
            <a:r>
              <a:rPr lang="zh-CN" altLang="en-US" sz="2800" b="1" dirty="0">
                <a:latin typeface="微软雅黑" panose="020B0503020204020204" pitchFamily="34" charset="-122"/>
                <a:ea typeface="微软雅黑" panose="020B0503020204020204" pitchFamily="34" charset="-122"/>
              </a:rPr>
              <a:t>是指在系统瓶颈部件上处于同一执行阶段的指令或数据的最大可能数。 </a:t>
            </a:r>
          </a:p>
        </p:txBody>
      </p:sp>
    </p:spTree>
    <p:extLst>
      <p:ext uri="{BB962C8B-B14F-4D97-AF65-F5344CB8AC3E}">
        <p14:creationId xmlns:p14="http://schemas.microsoft.com/office/powerpoint/2010/main" val="1355182331"/>
      </p:ext>
    </p:extLst>
  </p:cSld>
  <p:clrMapOvr>
    <a:masterClrMapping/>
  </p:clrMapOvr>
  <mc:AlternateContent xmlns:mc="http://schemas.openxmlformats.org/markup-compatibility/2006" xmlns:p14="http://schemas.microsoft.com/office/powerpoint/2010/main">
    <mc:Choice Requires="p14">
      <p:transition spd="slow" advClick="0" advTm="0">
        <p14:gallery dir="l"/>
      </p:transition>
    </mc:Choice>
    <mc:Fallback xmlns="">
      <p:transition spd="slow" advClick="0" advTm="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9" name="Oval 7"/>
          <p:cNvSpPr>
            <a:spLocks noChangeArrowheads="1"/>
          </p:cNvSpPr>
          <p:nvPr/>
        </p:nvSpPr>
        <p:spPr bwMode="auto">
          <a:xfrm>
            <a:off x="3023118" y="3046707"/>
            <a:ext cx="831525" cy="82993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6"/>
          <p:cNvSpPr>
            <a:spLocks noChangeArrowheads="1"/>
          </p:cNvSpPr>
          <p:nvPr/>
        </p:nvSpPr>
        <p:spPr bwMode="auto">
          <a:xfrm>
            <a:off x="2507381" y="1853370"/>
            <a:ext cx="831525" cy="831526"/>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3"/>
          <p:cNvSpPr>
            <a:spLocks/>
          </p:cNvSpPr>
          <p:nvPr/>
        </p:nvSpPr>
        <p:spPr bwMode="auto">
          <a:xfrm>
            <a:off x="3067549" y="2346890"/>
            <a:ext cx="30151" cy="3174"/>
          </a:xfrm>
          <a:custGeom>
            <a:avLst/>
            <a:gdLst>
              <a:gd name="T0" fmla="*/ 0 w 43"/>
              <a:gd name="T1" fmla="*/ 0 h 5"/>
              <a:gd name="T2" fmla="*/ 1 w 43"/>
              <a:gd name="T3" fmla="*/ 5 h 5"/>
              <a:gd name="T4" fmla="*/ 43 w 43"/>
              <a:gd name="T5" fmla="*/ 3 h 5"/>
              <a:gd name="T6" fmla="*/ 0 w 43"/>
              <a:gd name="T7" fmla="*/ 0 h 5"/>
            </a:gdLst>
            <a:ahLst/>
            <a:cxnLst>
              <a:cxn ang="0">
                <a:pos x="T0" y="T1"/>
              </a:cxn>
              <a:cxn ang="0">
                <a:pos x="T2" y="T3"/>
              </a:cxn>
              <a:cxn ang="0">
                <a:pos x="T4" y="T5"/>
              </a:cxn>
              <a:cxn ang="0">
                <a:pos x="T6" y="T7"/>
              </a:cxn>
            </a:cxnLst>
            <a:rect l="0" t="0" r="r" b="b"/>
            <a:pathLst>
              <a:path w="43" h="5">
                <a:moveTo>
                  <a:pt x="0" y="0"/>
                </a:moveTo>
                <a:lnTo>
                  <a:pt x="1" y="5"/>
                </a:lnTo>
                <a:lnTo>
                  <a:pt x="43" y="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Oval 9"/>
          <p:cNvSpPr>
            <a:spLocks noChangeArrowheads="1"/>
          </p:cNvSpPr>
          <p:nvPr/>
        </p:nvSpPr>
        <p:spPr bwMode="auto">
          <a:xfrm>
            <a:off x="3023118" y="4501871"/>
            <a:ext cx="831525" cy="831526"/>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3" name="Oval 8"/>
          <p:cNvSpPr>
            <a:spLocks noChangeArrowheads="1"/>
          </p:cNvSpPr>
          <p:nvPr/>
        </p:nvSpPr>
        <p:spPr bwMode="auto">
          <a:xfrm>
            <a:off x="2507381" y="5695208"/>
            <a:ext cx="831525" cy="829939"/>
          </a:xfrm>
          <a:prstGeom prst="ellipse">
            <a:avLst/>
          </a:pr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6" name="Oval 5"/>
          <p:cNvSpPr>
            <a:spLocks noChangeArrowheads="1"/>
          </p:cNvSpPr>
          <p:nvPr/>
        </p:nvSpPr>
        <p:spPr bwMode="auto">
          <a:xfrm>
            <a:off x="441371" y="3096006"/>
            <a:ext cx="2376931" cy="2376928"/>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6" name="Freeform 5"/>
          <p:cNvSpPr>
            <a:spLocks noEditPoints="1"/>
          </p:cNvSpPr>
          <p:nvPr/>
        </p:nvSpPr>
        <p:spPr bwMode="auto">
          <a:xfrm>
            <a:off x="1166266" y="3759178"/>
            <a:ext cx="927140" cy="1175561"/>
          </a:xfrm>
          <a:custGeom>
            <a:avLst/>
            <a:gdLst>
              <a:gd name="T0" fmla="*/ 622 w 794"/>
              <a:gd name="T1" fmla="*/ 491 h 1018"/>
              <a:gd name="T2" fmla="*/ 481 w 794"/>
              <a:gd name="T3" fmla="*/ 612 h 1018"/>
              <a:gd name="T4" fmla="*/ 667 w 794"/>
              <a:gd name="T5" fmla="*/ 641 h 1018"/>
              <a:gd name="T6" fmla="*/ 672 w 794"/>
              <a:gd name="T7" fmla="*/ 487 h 1018"/>
              <a:gd name="T8" fmla="*/ 794 w 794"/>
              <a:gd name="T9" fmla="*/ 420 h 1018"/>
              <a:gd name="T10" fmla="*/ 747 w 794"/>
              <a:gd name="T11" fmla="*/ 487 h 1018"/>
              <a:gd name="T12" fmla="*/ 713 w 794"/>
              <a:gd name="T13" fmla="*/ 679 h 1018"/>
              <a:gd name="T14" fmla="*/ 631 w 794"/>
              <a:gd name="T15" fmla="*/ 709 h 1018"/>
              <a:gd name="T16" fmla="*/ 442 w 794"/>
              <a:gd name="T17" fmla="*/ 719 h 1018"/>
              <a:gd name="T18" fmla="*/ 627 w 794"/>
              <a:gd name="T19" fmla="*/ 911 h 1018"/>
              <a:gd name="T20" fmla="*/ 659 w 794"/>
              <a:gd name="T21" fmla="*/ 971 h 1018"/>
              <a:gd name="T22" fmla="*/ 565 w 794"/>
              <a:gd name="T23" fmla="*/ 971 h 1018"/>
              <a:gd name="T24" fmla="*/ 428 w 794"/>
              <a:gd name="T25" fmla="*/ 906 h 1018"/>
              <a:gd name="T26" fmla="*/ 456 w 794"/>
              <a:gd name="T27" fmla="*/ 971 h 1018"/>
              <a:gd name="T28" fmla="*/ 361 w 794"/>
              <a:gd name="T29" fmla="*/ 971 h 1018"/>
              <a:gd name="T30" fmla="*/ 381 w 794"/>
              <a:gd name="T31" fmla="*/ 905 h 1018"/>
              <a:gd name="T32" fmla="*/ 243 w 794"/>
              <a:gd name="T33" fmla="*/ 971 h 1018"/>
              <a:gd name="T34" fmla="*/ 148 w 794"/>
              <a:gd name="T35" fmla="*/ 971 h 1018"/>
              <a:gd name="T36" fmla="*/ 173 w 794"/>
              <a:gd name="T37" fmla="*/ 911 h 1018"/>
              <a:gd name="T38" fmla="*/ 346 w 794"/>
              <a:gd name="T39" fmla="*/ 719 h 1018"/>
              <a:gd name="T40" fmla="*/ 154 w 794"/>
              <a:gd name="T41" fmla="*/ 706 h 1018"/>
              <a:gd name="T42" fmla="*/ 81 w 794"/>
              <a:gd name="T43" fmla="*/ 679 h 1018"/>
              <a:gd name="T44" fmla="*/ 47 w 794"/>
              <a:gd name="T45" fmla="*/ 487 h 1018"/>
              <a:gd name="T46" fmla="*/ 0 w 794"/>
              <a:gd name="T47" fmla="*/ 420 h 1018"/>
              <a:gd name="T48" fmla="*/ 122 w 794"/>
              <a:gd name="T49" fmla="*/ 487 h 1018"/>
              <a:gd name="T50" fmla="*/ 127 w 794"/>
              <a:gd name="T51" fmla="*/ 641 h 1018"/>
              <a:gd name="T52" fmla="*/ 316 w 794"/>
              <a:gd name="T53" fmla="*/ 611 h 1018"/>
              <a:gd name="T54" fmla="*/ 168 w 794"/>
              <a:gd name="T55" fmla="*/ 491 h 1018"/>
              <a:gd name="T56" fmla="*/ 591 w 794"/>
              <a:gd name="T57" fmla="*/ 126 h 1018"/>
              <a:gd name="T58" fmla="*/ 494 w 794"/>
              <a:gd name="T59" fmla="*/ 168 h 1018"/>
              <a:gd name="T60" fmla="*/ 297 w 794"/>
              <a:gd name="T61" fmla="*/ 194 h 1018"/>
              <a:gd name="T62" fmla="*/ 287 w 794"/>
              <a:gd name="T63" fmla="*/ 273 h 1018"/>
              <a:gd name="T64" fmla="*/ 504 w 794"/>
              <a:gd name="T65" fmla="*/ 299 h 1018"/>
              <a:gd name="T66" fmla="*/ 287 w 794"/>
              <a:gd name="T67" fmla="*/ 273 h 1018"/>
              <a:gd name="T68" fmla="*/ 514 w 794"/>
              <a:gd name="T69" fmla="*/ 383 h 1018"/>
              <a:gd name="T70" fmla="*/ 277 w 794"/>
              <a:gd name="T71" fmla="*/ 409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4" h="1018">
                <a:moveTo>
                  <a:pt x="591" y="126"/>
                </a:moveTo>
                <a:cubicBezTo>
                  <a:pt x="601" y="248"/>
                  <a:pt x="611" y="370"/>
                  <a:pt x="622" y="491"/>
                </a:cubicBezTo>
                <a:cubicBezTo>
                  <a:pt x="607" y="518"/>
                  <a:pt x="550" y="536"/>
                  <a:pt x="481" y="544"/>
                </a:cubicBezTo>
                <a:lnTo>
                  <a:pt x="481" y="612"/>
                </a:lnTo>
                <a:cubicBezTo>
                  <a:pt x="548" y="619"/>
                  <a:pt x="604" y="634"/>
                  <a:pt x="624" y="657"/>
                </a:cubicBezTo>
                <a:lnTo>
                  <a:pt x="667" y="641"/>
                </a:lnTo>
                <a:lnTo>
                  <a:pt x="695" y="487"/>
                </a:lnTo>
                <a:lnTo>
                  <a:pt x="672" y="487"/>
                </a:lnTo>
                <a:lnTo>
                  <a:pt x="654" y="420"/>
                </a:lnTo>
                <a:lnTo>
                  <a:pt x="794" y="420"/>
                </a:lnTo>
                <a:lnTo>
                  <a:pt x="776" y="487"/>
                </a:lnTo>
                <a:lnTo>
                  <a:pt x="747" y="487"/>
                </a:lnTo>
                <a:lnTo>
                  <a:pt x="715" y="665"/>
                </a:lnTo>
                <a:lnTo>
                  <a:pt x="713" y="679"/>
                </a:lnTo>
                <a:lnTo>
                  <a:pt x="699" y="684"/>
                </a:lnTo>
                <a:lnTo>
                  <a:pt x="631" y="709"/>
                </a:lnTo>
                <a:lnTo>
                  <a:pt x="631" y="719"/>
                </a:lnTo>
                <a:lnTo>
                  <a:pt x="442" y="719"/>
                </a:lnTo>
                <a:lnTo>
                  <a:pt x="442" y="866"/>
                </a:lnTo>
                <a:cubicBezTo>
                  <a:pt x="504" y="871"/>
                  <a:pt x="565" y="887"/>
                  <a:pt x="627" y="911"/>
                </a:cubicBezTo>
                <a:lnTo>
                  <a:pt x="621" y="925"/>
                </a:lnTo>
                <a:cubicBezTo>
                  <a:pt x="643" y="929"/>
                  <a:pt x="659" y="948"/>
                  <a:pt x="659" y="971"/>
                </a:cubicBezTo>
                <a:cubicBezTo>
                  <a:pt x="659" y="997"/>
                  <a:pt x="638" y="1018"/>
                  <a:pt x="612" y="1018"/>
                </a:cubicBezTo>
                <a:cubicBezTo>
                  <a:pt x="586" y="1018"/>
                  <a:pt x="565" y="997"/>
                  <a:pt x="565" y="971"/>
                </a:cubicBezTo>
                <a:cubicBezTo>
                  <a:pt x="565" y="958"/>
                  <a:pt x="570" y="946"/>
                  <a:pt x="579" y="938"/>
                </a:cubicBezTo>
                <a:cubicBezTo>
                  <a:pt x="528" y="920"/>
                  <a:pt x="478" y="910"/>
                  <a:pt x="428" y="906"/>
                </a:cubicBezTo>
                <a:lnTo>
                  <a:pt x="430" y="929"/>
                </a:lnTo>
                <a:cubicBezTo>
                  <a:pt x="445" y="937"/>
                  <a:pt x="456" y="953"/>
                  <a:pt x="456" y="971"/>
                </a:cubicBezTo>
                <a:cubicBezTo>
                  <a:pt x="456" y="997"/>
                  <a:pt x="434" y="1018"/>
                  <a:pt x="408" y="1018"/>
                </a:cubicBezTo>
                <a:cubicBezTo>
                  <a:pt x="382" y="1018"/>
                  <a:pt x="361" y="997"/>
                  <a:pt x="361" y="971"/>
                </a:cubicBezTo>
                <a:cubicBezTo>
                  <a:pt x="361" y="954"/>
                  <a:pt x="370" y="940"/>
                  <a:pt x="383" y="931"/>
                </a:cubicBezTo>
                <a:lnTo>
                  <a:pt x="381" y="905"/>
                </a:lnTo>
                <a:cubicBezTo>
                  <a:pt x="330" y="907"/>
                  <a:pt x="278" y="916"/>
                  <a:pt x="226" y="935"/>
                </a:cubicBezTo>
                <a:cubicBezTo>
                  <a:pt x="236" y="943"/>
                  <a:pt x="243" y="956"/>
                  <a:pt x="243" y="971"/>
                </a:cubicBezTo>
                <a:cubicBezTo>
                  <a:pt x="243" y="997"/>
                  <a:pt x="222" y="1018"/>
                  <a:pt x="196" y="1018"/>
                </a:cubicBezTo>
                <a:cubicBezTo>
                  <a:pt x="170" y="1018"/>
                  <a:pt x="148" y="997"/>
                  <a:pt x="148" y="971"/>
                </a:cubicBezTo>
                <a:cubicBezTo>
                  <a:pt x="148" y="950"/>
                  <a:pt x="162" y="933"/>
                  <a:pt x="180" y="927"/>
                </a:cubicBezTo>
                <a:lnTo>
                  <a:pt x="173" y="911"/>
                </a:lnTo>
                <a:cubicBezTo>
                  <a:pt x="231" y="886"/>
                  <a:pt x="288" y="871"/>
                  <a:pt x="346" y="866"/>
                </a:cubicBezTo>
                <a:lnTo>
                  <a:pt x="346" y="719"/>
                </a:lnTo>
                <a:lnTo>
                  <a:pt x="154" y="719"/>
                </a:lnTo>
                <a:lnTo>
                  <a:pt x="154" y="706"/>
                </a:lnTo>
                <a:lnTo>
                  <a:pt x="95" y="684"/>
                </a:lnTo>
                <a:lnTo>
                  <a:pt x="81" y="679"/>
                </a:lnTo>
                <a:lnTo>
                  <a:pt x="78" y="665"/>
                </a:lnTo>
                <a:lnTo>
                  <a:pt x="47" y="487"/>
                </a:lnTo>
                <a:lnTo>
                  <a:pt x="17" y="487"/>
                </a:lnTo>
                <a:lnTo>
                  <a:pt x="0" y="420"/>
                </a:lnTo>
                <a:lnTo>
                  <a:pt x="139" y="420"/>
                </a:lnTo>
                <a:lnTo>
                  <a:pt x="122" y="487"/>
                </a:lnTo>
                <a:lnTo>
                  <a:pt x="99" y="487"/>
                </a:lnTo>
                <a:lnTo>
                  <a:pt x="127" y="641"/>
                </a:lnTo>
                <a:lnTo>
                  <a:pt x="163" y="654"/>
                </a:lnTo>
                <a:cubicBezTo>
                  <a:pt x="186" y="631"/>
                  <a:pt x="246" y="617"/>
                  <a:pt x="316" y="611"/>
                </a:cubicBezTo>
                <a:lnTo>
                  <a:pt x="316" y="546"/>
                </a:lnTo>
                <a:cubicBezTo>
                  <a:pt x="240" y="539"/>
                  <a:pt x="178" y="521"/>
                  <a:pt x="168" y="491"/>
                </a:cubicBezTo>
                <a:cubicBezTo>
                  <a:pt x="178" y="370"/>
                  <a:pt x="189" y="248"/>
                  <a:pt x="199" y="126"/>
                </a:cubicBezTo>
                <a:cubicBezTo>
                  <a:pt x="219" y="6"/>
                  <a:pt x="561" y="0"/>
                  <a:pt x="591" y="126"/>
                </a:cubicBezTo>
                <a:close/>
                <a:moveTo>
                  <a:pt x="297" y="168"/>
                </a:moveTo>
                <a:lnTo>
                  <a:pt x="494" y="168"/>
                </a:lnTo>
                <a:lnTo>
                  <a:pt x="494" y="194"/>
                </a:lnTo>
                <a:lnTo>
                  <a:pt x="297" y="194"/>
                </a:lnTo>
                <a:lnTo>
                  <a:pt x="297" y="168"/>
                </a:lnTo>
                <a:close/>
                <a:moveTo>
                  <a:pt x="287" y="273"/>
                </a:moveTo>
                <a:lnTo>
                  <a:pt x="504" y="273"/>
                </a:lnTo>
                <a:lnTo>
                  <a:pt x="504" y="299"/>
                </a:lnTo>
                <a:lnTo>
                  <a:pt x="287" y="299"/>
                </a:lnTo>
                <a:lnTo>
                  <a:pt x="287" y="273"/>
                </a:lnTo>
                <a:close/>
                <a:moveTo>
                  <a:pt x="277" y="383"/>
                </a:moveTo>
                <a:lnTo>
                  <a:pt x="514" y="383"/>
                </a:lnTo>
                <a:lnTo>
                  <a:pt x="514" y="409"/>
                </a:lnTo>
                <a:lnTo>
                  <a:pt x="277" y="409"/>
                </a:lnTo>
                <a:lnTo>
                  <a:pt x="277" y="383"/>
                </a:ln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7" name="TextBox 36"/>
          <p:cNvSpPr txBox="1"/>
          <p:nvPr/>
        </p:nvSpPr>
        <p:spPr>
          <a:xfrm>
            <a:off x="2603310" y="1976861"/>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01</a:t>
            </a:r>
            <a:endParaRPr lang="zh-CN" altLang="en-US" sz="3199" b="1" dirty="0">
              <a:solidFill>
                <a:schemeClr val="bg1"/>
              </a:solidFill>
              <a:latin typeface="微软雅黑" pitchFamily="34" charset="-122"/>
              <a:ea typeface="微软雅黑" pitchFamily="34" charset="-122"/>
            </a:endParaRPr>
          </a:p>
        </p:txBody>
      </p:sp>
      <p:sp>
        <p:nvSpPr>
          <p:cNvPr id="39" name="TextBox 38"/>
          <p:cNvSpPr txBox="1"/>
          <p:nvPr/>
        </p:nvSpPr>
        <p:spPr>
          <a:xfrm>
            <a:off x="3107610" y="3174573"/>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02</a:t>
            </a:r>
            <a:endParaRPr lang="zh-CN" altLang="en-US" sz="3199" b="1" dirty="0">
              <a:solidFill>
                <a:schemeClr val="bg1"/>
              </a:solidFill>
              <a:latin typeface="微软雅黑" pitchFamily="34" charset="-122"/>
              <a:ea typeface="微软雅黑" pitchFamily="34" charset="-122"/>
            </a:endParaRPr>
          </a:p>
        </p:txBody>
      </p:sp>
      <p:sp>
        <p:nvSpPr>
          <p:cNvPr id="40" name="TextBox 39"/>
          <p:cNvSpPr txBox="1"/>
          <p:nvPr/>
        </p:nvSpPr>
        <p:spPr>
          <a:xfrm>
            <a:off x="3091850" y="4608675"/>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03</a:t>
            </a:r>
            <a:endParaRPr lang="zh-CN" altLang="en-US" sz="3199" b="1" dirty="0">
              <a:solidFill>
                <a:schemeClr val="bg1"/>
              </a:solidFill>
              <a:latin typeface="微软雅黑" pitchFamily="34" charset="-122"/>
              <a:ea typeface="微软雅黑" pitchFamily="34" charset="-122"/>
            </a:endParaRPr>
          </a:p>
        </p:txBody>
      </p:sp>
      <p:sp>
        <p:nvSpPr>
          <p:cNvPr id="41" name="TextBox 40"/>
          <p:cNvSpPr txBox="1"/>
          <p:nvPr/>
        </p:nvSpPr>
        <p:spPr>
          <a:xfrm>
            <a:off x="2587550" y="5812738"/>
            <a:ext cx="691130" cy="584605"/>
          </a:xfrm>
          <a:prstGeom prst="rect">
            <a:avLst/>
          </a:prstGeom>
          <a:noFill/>
        </p:spPr>
        <p:txBody>
          <a:bodyPr wrap="none" lIns="91398" tIns="45699" rIns="91398" bIns="45699" rtlCol="0">
            <a:spAutoFit/>
          </a:bodyPr>
          <a:lstStyle/>
          <a:p>
            <a:r>
              <a:rPr lang="en-US" altLang="zh-CN" sz="3199" b="1" dirty="0">
                <a:solidFill>
                  <a:schemeClr val="bg1"/>
                </a:solidFill>
                <a:latin typeface="微软雅黑" pitchFamily="34" charset="-122"/>
                <a:ea typeface="微软雅黑" pitchFamily="34" charset="-122"/>
              </a:rPr>
              <a:t>04</a:t>
            </a:r>
            <a:endParaRPr lang="zh-CN" altLang="en-US" sz="3199" b="1" dirty="0">
              <a:solidFill>
                <a:schemeClr val="bg1"/>
              </a:solidFill>
              <a:latin typeface="微软雅黑" pitchFamily="34" charset="-122"/>
              <a:ea typeface="微软雅黑" pitchFamily="34" charset="-122"/>
            </a:endParaRPr>
          </a:p>
        </p:txBody>
      </p:sp>
      <p:sp>
        <p:nvSpPr>
          <p:cNvPr id="38"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875773" y="166486"/>
            <a:ext cx="2239716" cy="738664"/>
          </a:xfrm>
          <a:prstGeom prst="rect">
            <a:avLst/>
          </a:prstGeom>
        </p:spPr>
        <p:txBody>
          <a:bodyPr wrap="none">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Flynn</a:t>
            </a:r>
            <a:r>
              <a:rPr lang="zh-CN" altLang="en-US" sz="2800" b="1" dirty="0">
                <a:latin typeface="微软雅黑" panose="020B0503020204020204" pitchFamily="34" charset="-122"/>
                <a:ea typeface="微软雅黑" panose="020B0503020204020204" pitchFamily="34" charset="-122"/>
              </a:rPr>
              <a:t>分类法</a:t>
            </a:r>
          </a:p>
        </p:txBody>
      </p:sp>
      <p:sp>
        <p:nvSpPr>
          <p:cNvPr id="3" name="矩形 2"/>
          <p:cNvSpPr/>
          <p:nvPr/>
        </p:nvSpPr>
        <p:spPr>
          <a:xfrm>
            <a:off x="875773" y="803998"/>
            <a:ext cx="8703024" cy="738664"/>
          </a:xfrm>
          <a:prstGeom prst="rect">
            <a:avLst/>
          </a:prstGeom>
        </p:spPr>
        <p:txBody>
          <a:bodyPr wrap="non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按照</a:t>
            </a:r>
            <a:r>
              <a:rPr lang="en-US" altLang="zh-CN" sz="2800" b="1" dirty="0">
                <a:latin typeface="微软雅黑" panose="020B0503020204020204" pitchFamily="34" charset="-122"/>
                <a:ea typeface="微软雅黑" panose="020B0503020204020204" pitchFamily="34" charset="-122"/>
              </a:rPr>
              <a:t>Flynn</a:t>
            </a:r>
            <a:r>
              <a:rPr lang="zh-CN" altLang="en-US" sz="2800" b="1" dirty="0">
                <a:latin typeface="微软雅黑" panose="020B0503020204020204" pitchFamily="34" charset="-122"/>
                <a:ea typeface="微软雅黑" panose="020B0503020204020204" pitchFamily="34" charset="-122"/>
              </a:rPr>
              <a:t>分类法，把计算机系统分成四类，分别是：</a:t>
            </a:r>
          </a:p>
        </p:txBody>
      </p:sp>
      <p:sp>
        <p:nvSpPr>
          <p:cNvPr id="4" name="矩形 3"/>
          <p:cNvSpPr/>
          <p:nvPr/>
        </p:nvSpPr>
        <p:spPr>
          <a:xfrm>
            <a:off x="3278680" y="1686300"/>
            <a:ext cx="7991640" cy="1126462"/>
          </a:xfrm>
          <a:prstGeom prst="rect">
            <a:avLst/>
          </a:prstGeom>
        </p:spPr>
        <p:txBody>
          <a:bodyPr wrap="squar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单指令流单数据流（</a:t>
            </a:r>
            <a:r>
              <a:rPr lang="en-US" altLang="zh-CN" sz="2800" b="1" dirty="0">
                <a:solidFill>
                  <a:srgbClr val="FF0000"/>
                </a:solidFill>
                <a:latin typeface="微软雅黑" panose="020B0503020204020204" pitchFamily="34" charset="-122"/>
                <a:ea typeface="微软雅黑" panose="020B0503020204020204" pitchFamily="34" charset="-122"/>
              </a:rPr>
              <a:t>SISD</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Single Instruction Stream Single Data Stream</a:t>
            </a:r>
            <a:r>
              <a:rPr lang="zh-CN" altLang="en-US" sz="2800" b="1" dirty="0">
                <a:latin typeface="微软雅黑" panose="020B0503020204020204" pitchFamily="34" charset="-122"/>
                <a:ea typeface="微软雅黑" panose="020B0503020204020204" pitchFamily="34" charset="-122"/>
              </a:rPr>
              <a:t>）</a:t>
            </a:r>
          </a:p>
        </p:txBody>
      </p:sp>
      <p:sp>
        <p:nvSpPr>
          <p:cNvPr id="8" name="矩形 7"/>
          <p:cNvSpPr/>
          <p:nvPr/>
        </p:nvSpPr>
        <p:spPr>
          <a:xfrm>
            <a:off x="3543197" y="3013598"/>
            <a:ext cx="8880144" cy="1126462"/>
          </a:xfrm>
          <a:prstGeom prst="rect">
            <a:avLst/>
          </a:prstGeom>
        </p:spPr>
        <p:txBody>
          <a:bodyPr wrap="squar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单指令流多数据流（</a:t>
            </a:r>
            <a:r>
              <a:rPr lang="en-US" altLang="zh-CN" sz="2800" b="1" dirty="0">
                <a:solidFill>
                  <a:srgbClr val="FF0000"/>
                </a:solidFill>
                <a:latin typeface="微软雅黑" panose="020B0503020204020204" pitchFamily="34" charset="-122"/>
                <a:ea typeface="微软雅黑" panose="020B0503020204020204" pitchFamily="34" charset="-122"/>
              </a:rPr>
              <a:t>SIMD</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Single Instruction Stream Multiple Data Stream</a:t>
            </a:r>
            <a:r>
              <a:rPr lang="zh-CN" altLang="en-US" sz="2800" b="1" dirty="0">
                <a:latin typeface="微软雅黑" panose="020B0503020204020204" pitchFamily="34" charset="-122"/>
                <a:ea typeface="微软雅黑" panose="020B0503020204020204" pitchFamily="34" charset="-122"/>
              </a:rPr>
              <a:t>）</a:t>
            </a:r>
          </a:p>
        </p:txBody>
      </p:sp>
      <p:sp>
        <p:nvSpPr>
          <p:cNvPr id="10" name="矩形 9"/>
          <p:cNvSpPr/>
          <p:nvPr/>
        </p:nvSpPr>
        <p:spPr>
          <a:xfrm>
            <a:off x="3543197" y="4399410"/>
            <a:ext cx="8721496" cy="1126462"/>
          </a:xfrm>
          <a:prstGeom prst="rect">
            <a:avLst/>
          </a:prstGeom>
        </p:spPr>
        <p:txBody>
          <a:bodyPr wrap="squar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多指令流单数据流（</a:t>
            </a:r>
            <a:r>
              <a:rPr lang="en-US" altLang="zh-CN" sz="2800" b="1" dirty="0">
                <a:solidFill>
                  <a:srgbClr val="FF0000"/>
                </a:solidFill>
                <a:latin typeface="微软雅黑" panose="020B0503020204020204" pitchFamily="34" charset="-122"/>
                <a:ea typeface="微软雅黑" panose="020B0503020204020204" pitchFamily="34" charset="-122"/>
              </a:rPr>
              <a:t>MISD</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Multiple Instruction Stream Single Data Stream</a:t>
            </a:r>
            <a:r>
              <a:rPr lang="zh-CN" altLang="en-US" sz="2800" b="1" dirty="0">
                <a:latin typeface="微软雅黑" panose="020B0503020204020204" pitchFamily="34" charset="-122"/>
                <a:ea typeface="微软雅黑" panose="020B0503020204020204" pitchFamily="34" charset="-122"/>
              </a:rPr>
              <a:t>）</a:t>
            </a:r>
          </a:p>
        </p:txBody>
      </p:sp>
      <p:sp>
        <p:nvSpPr>
          <p:cNvPr id="11" name="矩形 10"/>
          <p:cNvSpPr/>
          <p:nvPr/>
        </p:nvSpPr>
        <p:spPr>
          <a:xfrm>
            <a:off x="3278680" y="5695208"/>
            <a:ext cx="8356711" cy="1126462"/>
          </a:xfrm>
          <a:prstGeom prst="rect">
            <a:avLst/>
          </a:prstGeom>
        </p:spPr>
        <p:txBody>
          <a:bodyPr wrap="square">
            <a:spAutoFit/>
          </a:bodyPr>
          <a:lstStyle/>
          <a:p>
            <a:pPr lvl="1">
              <a:lnSpc>
                <a:spcPct val="120000"/>
              </a:lnSpc>
            </a:pPr>
            <a:r>
              <a:rPr lang="zh-CN" altLang="en-US" sz="2800" b="1" dirty="0">
                <a:latin typeface="微软雅黑" panose="020B0503020204020204" pitchFamily="34" charset="-122"/>
                <a:ea typeface="微软雅黑" panose="020B0503020204020204" pitchFamily="34" charset="-122"/>
              </a:rPr>
              <a:t>多指令流多数据流（</a:t>
            </a:r>
            <a:r>
              <a:rPr lang="en-US" altLang="zh-CN" sz="2800" b="1" dirty="0">
                <a:solidFill>
                  <a:srgbClr val="FF0000"/>
                </a:solidFill>
                <a:latin typeface="微软雅黑" panose="020B0503020204020204" pitchFamily="34" charset="-122"/>
                <a:ea typeface="微软雅黑" panose="020B0503020204020204" pitchFamily="34" charset="-122"/>
              </a:rPr>
              <a:t>MIMD</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Multiple Instruction Stream Multiple Data Stream</a:t>
            </a:r>
            <a:r>
              <a:rPr lang="zh-CN" altLang="en-US" sz="28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145229038"/>
      </p:ext>
    </p:extLst>
  </p:cSld>
  <p:clrMapOvr>
    <a:masterClrMapping/>
  </p:clrMapOvr>
  <mc:AlternateContent xmlns:mc="http://schemas.openxmlformats.org/markup-compatibility/2006" xmlns:p14="http://schemas.microsoft.com/office/powerpoint/2010/main">
    <mc:Choice Requires="p14">
      <p:transition spd="slow" advTm="9389">
        <p14:gallery dir="l"/>
      </p:transition>
    </mc:Choice>
    <mc:Fallback xmlns="">
      <p:transition spd="slow" advTm="9389">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83"/>
          <p:cNvSpPr>
            <a:spLocks noChangeArrowheads="1"/>
          </p:cNvSpPr>
          <p:nvPr/>
        </p:nvSpPr>
        <p:spPr bwMode="auto">
          <a:xfrm>
            <a:off x="892438" y="1126332"/>
            <a:ext cx="10222393" cy="1540153"/>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3" name="Freeform 12"/>
          <p:cNvSpPr>
            <a:spLocks/>
          </p:cNvSpPr>
          <p:nvPr/>
        </p:nvSpPr>
        <p:spPr bwMode="auto">
          <a:xfrm>
            <a:off x="817851" y="980340"/>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4" name="Freeform 12"/>
          <p:cNvSpPr>
            <a:spLocks/>
          </p:cNvSpPr>
          <p:nvPr/>
        </p:nvSpPr>
        <p:spPr bwMode="auto">
          <a:xfrm flipH="1" flipV="1">
            <a:off x="10660986" y="2223399"/>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7170" name="Rectangle 2"/>
          <p:cNvSpPr>
            <a:spLocks noGrp="1" noChangeArrowheads="1"/>
          </p:cNvSpPr>
          <p:nvPr>
            <p:ph type="title"/>
          </p:nvPr>
        </p:nvSpPr>
        <p:spPr>
          <a:xfrm>
            <a:off x="838200" y="-85502"/>
            <a:ext cx="10515600" cy="1325563"/>
          </a:xfrm>
        </p:spPr>
        <p:txBody>
          <a:bodyPr>
            <a:normAutofit/>
          </a:bodyPr>
          <a:lstStyle/>
          <a:p>
            <a:pPr algn="l" eaLnBrk="1" hangingPunct="1">
              <a:lnSpc>
                <a:spcPct val="120000"/>
              </a:lnSpc>
            </a:pPr>
            <a:r>
              <a:rPr lang="en-US" altLang="zh-CN" sz="3200" b="1" dirty="0">
                <a:latin typeface="微软雅黑" panose="020B0503020204020204" pitchFamily="34" charset="-122"/>
                <a:ea typeface="微软雅黑" panose="020B0503020204020204" pitchFamily="34" charset="-122"/>
              </a:rPr>
              <a:t>SISD</a:t>
            </a:r>
            <a:r>
              <a:rPr lang="zh-CN" altLang="en-US" sz="3200" b="1" dirty="0">
                <a:latin typeface="微软雅黑" panose="020B0503020204020204" pitchFamily="34" charset="-122"/>
                <a:ea typeface="微软雅黑" panose="020B0503020204020204" pitchFamily="34" charset="-122"/>
              </a:rPr>
              <a:t>计算机</a:t>
            </a:r>
          </a:p>
        </p:txBody>
      </p:sp>
      <p:sp>
        <p:nvSpPr>
          <p:cNvPr id="7171" name="Rectangle 3"/>
          <p:cNvSpPr>
            <a:spLocks noGrp="1" noChangeArrowheads="1"/>
          </p:cNvSpPr>
          <p:nvPr>
            <p:ph type="body" idx="1"/>
          </p:nvPr>
        </p:nvSpPr>
        <p:spPr>
          <a:xfrm>
            <a:off x="892438" y="1162845"/>
            <a:ext cx="10279567" cy="2420937"/>
          </a:xfrm>
        </p:spPr>
        <p:txBody>
          <a:bodyPr>
            <a:normAutofit/>
          </a:bodyPr>
          <a:lstStyle/>
          <a:p>
            <a:pPr marL="0" indent="0" eaLnBrk="1" hangingPunct="1">
              <a:lnSpc>
                <a:spcPct val="150000"/>
              </a:lnSpc>
              <a:buNone/>
            </a:pPr>
            <a:r>
              <a:rPr lang="en-US" altLang="zh-CN" b="1" dirty="0">
                <a:solidFill>
                  <a:srgbClr val="FF0000"/>
                </a:solidFill>
                <a:latin typeface="微软雅黑" panose="020B0503020204020204" pitchFamily="34" charset="-122"/>
                <a:ea typeface="微软雅黑" panose="020B0503020204020204" pitchFamily="34" charset="-122"/>
              </a:rPr>
              <a:t>SISD</a:t>
            </a:r>
            <a:r>
              <a:rPr lang="zh-CN" altLang="en-US" b="1" dirty="0">
                <a:latin typeface="微软雅黑" panose="020B0503020204020204" pitchFamily="34" charset="-122"/>
                <a:ea typeface="微软雅黑" panose="020B0503020204020204" pitchFamily="34" charset="-122"/>
              </a:rPr>
              <a:t>实际上就是传统的单处理器计算机。只要指令部件每次只对一条指令译码，只对一个操作部件分配数据，就属于</a:t>
            </a:r>
            <a:r>
              <a:rPr lang="en-US" altLang="zh-CN" b="1" dirty="0">
                <a:latin typeface="微软雅黑" panose="020B0503020204020204" pitchFamily="34" charset="-122"/>
                <a:ea typeface="微软雅黑" panose="020B0503020204020204" pitchFamily="34" charset="-122"/>
              </a:rPr>
              <a:t>SISD</a:t>
            </a:r>
            <a:r>
              <a:rPr lang="zh-CN" altLang="en-US" b="1" dirty="0">
                <a:latin typeface="微软雅黑" panose="020B0503020204020204" pitchFamily="34" charset="-122"/>
                <a:ea typeface="微软雅黑" panose="020B0503020204020204" pitchFamily="34" charset="-122"/>
              </a:rPr>
              <a:t>系统。</a:t>
            </a:r>
          </a:p>
        </p:txBody>
      </p:sp>
      <p:sp>
        <p:nvSpPr>
          <p:cNvPr id="7172" name="Rectangle 5"/>
          <p:cNvSpPr>
            <a:spLocks noChangeArrowheads="1"/>
          </p:cNvSpPr>
          <p:nvPr/>
        </p:nvSpPr>
        <p:spPr bwMode="auto">
          <a:xfrm>
            <a:off x="6003635" y="29061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rgbClr val="FFFFFF"/>
              </a:solidFill>
            </a:endParaRPr>
          </a:p>
        </p:txBody>
      </p:sp>
      <p:graphicFrame>
        <p:nvGraphicFramePr>
          <p:cNvPr id="7173" name="Object 4"/>
          <p:cNvGraphicFramePr>
            <a:graphicFrameLocks noChangeAspect="1"/>
          </p:cNvGraphicFramePr>
          <p:nvPr>
            <p:extLst>
              <p:ext uri="{D42A27DB-BD31-4B8C-83A1-F6EECF244321}">
                <p14:modId xmlns:p14="http://schemas.microsoft.com/office/powerpoint/2010/main" val="1461207405"/>
              </p:ext>
            </p:extLst>
          </p:nvPr>
        </p:nvGraphicFramePr>
        <p:xfrm>
          <a:off x="1986848" y="2702998"/>
          <a:ext cx="8492343" cy="1595437"/>
        </p:xfrm>
        <a:graphic>
          <a:graphicData uri="http://schemas.openxmlformats.org/presentationml/2006/ole">
            <mc:AlternateContent xmlns:mc="http://schemas.openxmlformats.org/markup-compatibility/2006">
              <mc:Choice xmlns:v="urn:schemas-microsoft-com:vml" Requires="v">
                <p:oleObj spid="_x0000_s1038" r:id="rId3" imgW="2713939" imgH="671779" progId="Visio.Drawing.11">
                  <p:embed/>
                </p:oleObj>
              </mc:Choice>
              <mc:Fallback>
                <p:oleObj r:id="rId3" imgW="2713939" imgH="671779" progId="Visio.Drawing.11">
                  <p:embed/>
                  <p:pic>
                    <p:nvPicPr>
                      <p:cNvPr id="717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6848" y="2702998"/>
                        <a:ext cx="8492343" cy="1595437"/>
                      </a:xfrm>
                      <a:prstGeom prst="rect">
                        <a:avLst/>
                      </a:prstGeom>
                      <a:noFill/>
                      <a:ln>
                        <a:noFill/>
                      </a:ln>
                    </p:spPr>
                  </p:pic>
                </p:oleObj>
              </mc:Fallback>
            </mc:AlternateContent>
          </a:graphicData>
        </a:graphic>
      </p:graphicFrame>
      <p:sp>
        <p:nvSpPr>
          <p:cNvPr id="7174" name="Text Box 6"/>
          <p:cNvSpPr txBox="1">
            <a:spLocks noChangeArrowheads="1"/>
          </p:cNvSpPr>
          <p:nvPr/>
        </p:nvSpPr>
        <p:spPr bwMode="auto">
          <a:xfrm>
            <a:off x="3915277" y="4376926"/>
            <a:ext cx="41767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CN" sz="2400" b="1" dirty="0">
                <a:latin typeface="微软雅黑" panose="020B0503020204020204" pitchFamily="34" charset="-122"/>
                <a:ea typeface="微软雅黑" panose="020B0503020204020204" pitchFamily="34" charset="-122"/>
              </a:rPr>
              <a:t>SISD</a:t>
            </a:r>
            <a:r>
              <a:rPr lang="zh-CN" altLang="en-US" sz="2400" b="1" dirty="0">
                <a:latin typeface="微软雅黑" panose="020B0503020204020204" pitchFamily="34" charset="-122"/>
                <a:ea typeface="微软雅黑" panose="020B0503020204020204" pitchFamily="34" charset="-122"/>
              </a:rPr>
              <a:t>计算机 </a:t>
            </a:r>
          </a:p>
        </p:txBody>
      </p:sp>
      <p:sp>
        <p:nvSpPr>
          <p:cNvPr id="7175" name="文本框 2"/>
          <p:cNvSpPr txBox="1">
            <a:spLocks noChangeArrowheads="1"/>
          </p:cNvSpPr>
          <p:nvPr/>
        </p:nvSpPr>
        <p:spPr bwMode="auto">
          <a:xfrm>
            <a:off x="1296642" y="5308150"/>
            <a:ext cx="978344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bg1"/>
                </a:solidFill>
                <a:latin typeface="Arial" panose="020B0604020202020204" pitchFamily="34" charset="0"/>
                <a:ea typeface="宋体" panose="02010600030101010101" pitchFamily="2" charset="-122"/>
              </a:defRPr>
            </a:lvl1pPr>
            <a:lvl2pPr marL="742950" indent="-285750">
              <a:defRPr>
                <a:solidFill>
                  <a:schemeClr val="bg1"/>
                </a:solidFill>
                <a:latin typeface="Arial" panose="020B0604020202020204" pitchFamily="34" charset="0"/>
                <a:ea typeface="宋体" panose="02010600030101010101" pitchFamily="2" charset="-122"/>
              </a:defRPr>
            </a:lvl2pPr>
            <a:lvl3pPr marL="1143000" indent="-228600">
              <a:defRPr>
                <a:solidFill>
                  <a:schemeClr val="bg1"/>
                </a:solidFill>
                <a:latin typeface="Arial" panose="020B0604020202020204" pitchFamily="34" charset="0"/>
                <a:ea typeface="宋体" panose="02010600030101010101" pitchFamily="2" charset="-122"/>
              </a:defRPr>
            </a:lvl3pPr>
            <a:lvl4pPr marL="1600200" indent="-228600">
              <a:defRPr>
                <a:solidFill>
                  <a:schemeClr val="bg1"/>
                </a:solidFill>
                <a:latin typeface="Arial" panose="020B0604020202020204" pitchFamily="34" charset="0"/>
                <a:ea typeface="宋体" panose="02010600030101010101" pitchFamily="2" charset="-122"/>
              </a:defRPr>
            </a:lvl4pPr>
            <a:lvl5pPr marL="2057400" indent="-228600">
              <a:defRPr>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bg1"/>
                </a:solidFill>
                <a:latin typeface="Arial" panose="020B0604020202020204" pitchFamily="34" charset="0"/>
                <a:ea typeface="宋体" panose="02010600030101010101" pitchFamily="2" charset="-122"/>
              </a:defRPr>
            </a:lvl9pPr>
          </a:lstStyle>
          <a:p>
            <a:pPr>
              <a:lnSpc>
                <a:spcPct val="120000"/>
              </a:lnSpc>
            </a:pPr>
            <a:r>
              <a:rPr lang="en-US" altLang="zh-CN" sz="2800" b="1" dirty="0">
                <a:solidFill>
                  <a:schemeClr val="tx1"/>
                </a:solidFill>
                <a:latin typeface="微软雅黑" panose="020B0503020204020204" pitchFamily="34" charset="-122"/>
                <a:ea typeface="微软雅黑" panose="020B0503020204020204" pitchFamily="34" charset="-122"/>
              </a:rPr>
              <a:t>CU</a:t>
            </a:r>
            <a:r>
              <a:rPr lang="zh-CN" altLang="en-US" sz="2800" b="1" dirty="0">
                <a:solidFill>
                  <a:schemeClr val="tx1"/>
                </a:solidFill>
                <a:latin typeface="微软雅黑" panose="020B0503020204020204" pitchFamily="34" charset="-122"/>
                <a:ea typeface="微软雅黑" panose="020B0503020204020204" pitchFamily="34" charset="-122"/>
              </a:rPr>
              <a:t>：控制部件；</a:t>
            </a:r>
            <a:r>
              <a:rPr lang="en-US" altLang="zh-CN" sz="2800" b="1" dirty="0">
                <a:solidFill>
                  <a:schemeClr val="tx1"/>
                </a:solidFill>
                <a:latin typeface="微软雅黑" panose="020B0503020204020204" pitchFamily="34" charset="-122"/>
                <a:ea typeface="微软雅黑" panose="020B0503020204020204" pitchFamily="34" charset="-122"/>
              </a:rPr>
              <a:t>PU</a:t>
            </a:r>
            <a:r>
              <a:rPr lang="zh-CN" altLang="en-US" sz="2800" b="1" dirty="0">
                <a:solidFill>
                  <a:schemeClr val="tx1"/>
                </a:solidFill>
                <a:latin typeface="微软雅黑" panose="020B0503020204020204" pitchFamily="34" charset="-122"/>
                <a:ea typeface="微软雅黑" panose="020B0503020204020204" pitchFamily="34" charset="-122"/>
              </a:rPr>
              <a:t>：处理机；</a:t>
            </a:r>
            <a:r>
              <a:rPr lang="en-US" altLang="zh-CN" sz="2800" b="1" dirty="0">
                <a:solidFill>
                  <a:schemeClr val="tx1"/>
                </a:solidFill>
                <a:latin typeface="微软雅黑" panose="020B0503020204020204" pitchFamily="34" charset="-122"/>
                <a:ea typeface="微软雅黑" panose="020B0503020204020204" pitchFamily="34" charset="-122"/>
              </a:rPr>
              <a:t>MM</a:t>
            </a:r>
            <a:r>
              <a:rPr lang="zh-CN" altLang="en-US" sz="2800" b="1" dirty="0">
                <a:solidFill>
                  <a:schemeClr val="tx1"/>
                </a:solidFill>
                <a:latin typeface="微软雅黑" panose="020B0503020204020204" pitchFamily="34" charset="-122"/>
                <a:ea typeface="微软雅黑" panose="020B0503020204020204" pitchFamily="34" charset="-122"/>
              </a:rPr>
              <a:t>：主存模块；</a:t>
            </a:r>
            <a:endParaRPr lang="en-US" altLang="zh-CN" sz="2800" b="1" dirty="0">
              <a:solidFill>
                <a:schemeClr val="tx1"/>
              </a:solidFill>
              <a:latin typeface="微软雅黑" panose="020B0503020204020204" pitchFamily="34" charset="-122"/>
              <a:ea typeface="微软雅黑" panose="020B0503020204020204" pitchFamily="34" charset="-122"/>
            </a:endParaRPr>
          </a:p>
          <a:p>
            <a:pPr>
              <a:lnSpc>
                <a:spcPct val="120000"/>
              </a:lnSpc>
            </a:pPr>
            <a:r>
              <a:rPr lang="en-US" altLang="zh-CN" sz="2800" b="1" dirty="0">
                <a:solidFill>
                  <a:schemeClr val="tx1"/>
                </a:solidFill>
                <a:latin typeface="微软雅黑" panose="020B0503020204020204" pitchFamily="34" charset="-122"/>
                <a:ea typeface="微软雅黑" panose="020B0503020204020204" pitchFamily="34" charset="-122"/>
              </a:rPr>
              <a:t>SM</a:t>
            </a:r>
            <a:r>
              <a:rPr lang="zh-CN" altLang="en-US" sz="2800" b="1" dirty="0">
                <a:solidFill>
                  <a:schemeClr val="tx1"/>
                </a:solidFill>
                <a:latin typeface="微软雅黑" panose="020B0503020204020204" pitchFamily="34" charset="-122"/>
                <a:ea typeface="微软雅黑" panose="020B0503020204020204" pitchFamily="34" charset="-122"/>
              </a:rPr>
              <a:t>：共享主存；</a:t>
            </a:r>
            <a:r>
              <a:rPr lang="en-US" altLang="zh-CN" sz="2800" b="1" dirty="0">
                <a:solidFill>
                  <a:schemeClr val="tx1"/>
                </a:solidFill>
                <a:latin typeface="微软雅黑" panose="020B0503020204020204" pitchFamily="34" charset="-122"/>
                <a:ea typeface="微软雅黑" panose="020B0503020204020204" pitchFamily="34" charset="-122"/>
              </a:rPr>
              <a:t>IS</a:t>
            </a:r>
            <a:r>
              <a:rPr lang="zh-CN" altLang="en-US" sz="2800" b="1" dirty="0">
                <a:solidFill>
                  <a:schemeClr val="tx1"/>
                </a:solidFill>
                <a:latin typeface="微软雅黑" panose="020B0503020204020204" pitchFamily="34" charset="-122"/>
                <a:ea typeface="微软雅黑" panose="020B0503020204020204" pitchFamily="34" charset="-122"/>
              </a:rPr>
              <a:t>：指令流； </a:t>
            </a:r>
            <a:r>
              <a:rPr lang="en-US" altLang="zh-CN" sz="2800" b="1" dirty="0">
                <a:solidFill>
                  <a:schemeClr val="tx1"/>
                </a:solidFill>
                <a:latin typeface="微软雅黑" panose="020B0503020204020204" pitchFamily="34" charset="-122"/>
                <a:ea typeface="微软雅黑" panose="020B0503020204020204" pitchFamily="34" charset="-122"/>
              </a:rPr>
              <a:t>CS</a:t>
            </a:r>
            <a:r>
              <a:rPr lang="zh-CN" altLang="en-US" sz="2800" b="1" dirty="0">
                <a:solidFill>
                  <a:schemeClr val="tx1"/>
                </a:solidFill>
                <a:latin typeface="微软雅黑" panose="020B0503020204020204" pitchFamily="34" charset="-122"/>
                <a:ea typeface="微软雅黑" panose="020B0503020204020204" pitchFamily="34" charset="-122"/>
              </a:rPr>
              <a:t>：控制流；    </a:t>
            </a:r>
            <a:r>
              <a:rPr lang="en-US" altLang="zh-CN" sz="2800" b="1" dirty="0">
                <a:solidFill>
                  <a:schemeClr val="tx1"/>
                </a:solidFill>
                <a:latin typeface="微软雅黑" panose="020B0503020204020204" pitchFamily="34" charset="-122"/>
                <a:ea typeface="微软雅黑" panose="020B0503020204020204" pitchFamily="34" charset="-122"/>
              </a:rPr>
              <a:t>DS</a:t>
            </a:r>
            <a:r>
              <a:rPr lang="zh-CN" altLang="en-US" sz="2800" b="1" dirty="0">
                <a:solidFill>
                  <a:schemeClr val="tx1"/>
                </a:solidFill>
                <a:latin typeface="微软雅黑" panose="020B0503020204020204" pitchFamily="34" charset="-122"/>
                <a:ea typeface="微软雅黑" panose="020B0503020204020204" pitchFamily="34" charset="-122"/>
              </a:rPr>
              <a:t>：数据流</a:t>
            </a:r>
          </a:p>
        </p:txBody>
      </p:sp>
      <p:grpSp>
        <p:nvGrpSpPr>
          <p:cNvPr id="8" name="组合 7"/>
          <p:cNvGrpSpPr/>
          <p:nvPr/>
        </p:nvGrpSpPr>
        <p:grpSpPr>
          <a:xfrm>
            <a:off x="265635" y="269251"/>
            <a:ext cx="438352" cy="621987"/>
            <a:chOff x="265635" y="269251"/>
            <a:chExt cx="438352" cy="621987"/>
          </a:xfrm>
        </p:grpSpPr>
        <p:sp>
          <p:nvSpPr>
            <p:cNvPr id="9"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886121161"/>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83"/>
          <p:cNvSpPr>
            <a:spLocks noChangeArrowheads="1"/>
          </p:cNvSpPr>
          <p:nvPr/>
        </p:nvSpPr>
        <p:spPr bwMode="auto">
          <a:xfrm>
            <a:off x="6217993" y="1235962"/>
            <a:ext cx="5107491" cy="4981870"/>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2" name="Freeform 12"/>
          <p:cNvSpPr>
            <a:spLocks/>
          </p:cNvSpPr>
          <p:nvPr/>
        </p:nvSpPr>
        <p:spPr bwMode="auto">
          <a:xfrm>
            <a:off x="6143407" y="1089971"/>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3" name="Freeform 12"/>
          <p:cNvSpPr>
            <a:spLocks/>
          </p:cNvSpPr>
          <p:nvPr/>
        </p:nvSpPr>
        <p:spPr bwMode="auto">
          <a:xfrm flipH="1" flipV="1">
            <a:off x="10904816" y="5802770"/>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8194" name="Rectangle 2"/>
          <p:cNvSpPr>
            <a:spLocks noGrp="1" noChangeArrowheads="1"/>
          </p:cNvSpPr>
          <p:nvPr>
            <p:ph type="title"/>
          </p:nvPr>
        </p:nvSpPr>
        <p:spPr>
          <a:xfrm>
            <a:off x="745835" y="-85502"/>
            <a:ext cx="10515600" cy="1325563"/>
          </a:xfrm>
        </p:spPr>
        <p:txBody>
          <a:bodyPr/>
          <a:lstStyle/>
          <a:p>
            <a:pPr algn="l" eaLnBrk="1" hangingPunct="1"/>
            <a:r>
              <a:rPr lang="en-US" altLang="zh-CN" sz="3200" b="1" dirty="0">
                <a:latin typeface="微软雅黑" panose="020B0503020204020204" pitchFamily="34" charset="-122"/>
                <a:ea typeface="微软雅黑" panose="020B0503020204020204" pitchFamily="34" charset="-122"/>
              </a:rPr>
              <a:t>SIMD</a:t>
            </a:r>
            <a:r>
              <a:rPr lang="zh-CN" altLang="en-US" sz="3200" b="1" dirty="0">
                <a:latin typeface="微软雅黑" panose="020B0503020204020204" pitchFamily="34" charset="-122"/>
                <a:ea typeface="微软雅黑" panose="020B0503020204020204" pitchFamily="34" charset="-122"/>
              </a:rPr>
              <a:t>计算机 </a:t>
            </a:r>
          </a:p>
        </p:txBody>
      </p:sp>
      <p:sp>
        <p:nvSpPr>
          <p:cNvPr id="8195" name="Rectangle 3"/>
          <p:cNvSpPr>
            <a:spLocks noGrp="1" noChangeArrowheads="1"/>
          </p:cNvSpPr>
          <p:nvPr>
            <p:ph type="body" idx="1"/>
          </p:nvPr>
        </p:nvSpPr>
        <p:spPr>
          <a:xfrm>
            <a:off x="6262897" y="1235962"/>
            <a:ext cx="5412231" cy="5096826"/>
          </a:xfrm>
        </p:spPr>
        <p:txBody>
          <a:bodyPr>
            <a:noAutofit/>
          </a:bodyPr>
          <a:lstStyle/>
          <a:p>
            <a:pPr marL="0" indent="0" eaLnBrk="1" hangingPunct="1">
              <a:lnSpc>
                <a:spcPct val="120000"/>
              </a:lnSpc>
              <a:buNone/>
            </a:pPr>
            <a:r>
              <a:rPr lang="en-US" altLang="zh-CN" b="1" dirty="0">
                <a:solidFill>
                  <a:srgbClr val="FF0000"/>
                </a:solidFill>
                <a:latin typeface="微软雅黑" panose="020B0503020204020204" pitchFamily="34" charset="-122"/>
                <a:ea typeface="微软雅黑" panose="020B0503020204020204" pitchFamily="34" charset="-122"/>
              </a:rPr>
              <a:t>SIMD</a:t>
            </a:r>
            <a:r>
              <a:rPr lang="zh-CN" altLang="en-US" b="1" dirty="0">
                <a:latin typeface="微软雅黑" panose="020B0503020204020204" pitchFamily="34" charset="-122"/>
                <a:ea typeface="微软雅黑" panose="020B0503020204020204" pitchFamily="34" charset="-122"/>
              </a:rPr>
              <a:t>中具有代表性的例子是相联处理机和阵列处理机。</a:t>
            </a:r>
          </a:p>
          <a:p>
            <a:pPr marL="0" indent="0" eaLnBrk="1" hangingPunct="1">
              <a:lnSpc>
                <a:spcPct val="120000"/>
              </a:lnSpc>
              <a:buNone/>
            </a:pPr>
            <a:r>
              <a:rPr lang="zh-CN" altLang="en-US" b="1" dirty="0">
                <a:latin typeface="微软雅黑" panose="020B0503020204020204" pitchFamily="34" charset="-122"/>
                <a:ea typeface="微软雅黑" panose="020B0503020204020204" pitchFamily="34" charset="-122"/>
              </a:rPr>
              <a:t>特殊地，如果“多倍性”中“处于同一执行阶段”被理解成一条指令的操作全过程，那么流水线处理机的不同子过程操作就可以看作是</a:t>
            </a:r>
            <a:r>
              <a:rPr lang="zh-CN" altLang="en-US" b="1" dirty="0">
                <a:solidFill>
                  <a:srgbClr val="0000FF"/>
                </a:solidFill>
                <a:latin typeface="微软雅黑" panose="020B0503020204020204" pitchFamily="34" charset="-122"/>
                <a:ea typeface="微软雅黑" panose="020B0503020204020204" pitchFamily="34" charset="-122"/>
              </a:rPr>
              <a:t>不同子部件处理的是同一条指令的不同阶段的数据</a:t>
            </a:r>
            <a:r>
              <a:rPr lang="zh-CN" altLang="en-US" b="1" dirty="0">
                <a:latin typeface="微软雅黑" panose="020B0503020204020204" pitchFamily="34" charset="-122"/>
                <a:ea typeface="微软雅黑" panose="020B0503020204020204" pitchFamily="34" charset="-122"/>
              </a:rPr>
              <a:t>，此时流水线处理机也可以算是</a:t>
            </a:r>
            <a:r>
              <a:rPr lang="en-US" altLang="zh-CN" b="1" dirty="0">
                <a:latin typeface="微软雅黑" panose="020B0503020204020204" pitchFamily="34" charset="-122"/>
                <a:ea typeface="微软雅黑" panose="020B0503020204020204" pitchFamily="34" charset="-122"/>
              </a:rPr>
              <a:t>SIMD</a:t>
            </a:r>
            <a:r>
              <a:rPr lang="zh-CN" altLang="en-US" b="1" dirty="0">
                <a:latin typeface="微软雅黑" panose="020B0503020204020204" pitchFamily="34" charset="-122"/>
                <a:ea typeface="微软雅黑" panose="020B0503020204020204" pitchFamily="34" charset="-122"/>
              </a:rPr>
              <a:t>。 </a:t>
            </a:r>
          </a:p>
        </p:txBody>
      </p:sp>
      <p:sp>
        <p:nvSpPr>
          <p:cNvPr id="8196" name="Rectangle 5"/>
          <p:cNvSpPr>
            <a:spLocks noChangeArrowheads="1"/>
          </p:cNvSpPr>
          <p:nvPr/>
        </p:nvSpPr>
        <p:spPr bwMode="auto">
          <a:xfrm>
            <a:off x="6003635" y="22346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rgbClr val="FFFFFF"/>
              </a:solidFill>
            </a:endParaRPr>
          </a:p>
        </p:txBody>
      </p:sp>
      <p:graphicFrame>
        <p:nvGraphicFramePr>
          <p:cNvPr id="8197" name="Object 4"/>
          <p:cNvGraphicFramePr>
            <a:graphicFrameLocks noChangeAspect="1"/>
          </p:cNvGraphicFramePr>
          <p:nvPr>
            <p:extLst>
              <p:ext uri="{D42A27DB-BD31-4B8C-83A1-F6EECF244321}">
                <p14:modId xmlns:p14="http://schemas.microsoft.com/office/powerpoint/2010/main" val="260106693"/>
              </p:ext>
            </p:extLst>
          </p:nvPr>
        </p:nvGraphicFramePr>
        <p:xfrm>
          <a:off x="308081" y="885309"/>
          <a:ext cx="4752975" cy="5150423"/>
        </p:xfrm>
        <a:graphic>
          <a:graphicData uri="http://schemas.openxmlformats.org/presentationml/2006/ole">
            <mc:AlternateContent xmlns:mc="http://schemas.openxmlformats.org/markup-compatibility/2006">
              <mc:Choice xmlns:v="urn:schemas-microsoft-com:vml" Requires="v">
                <p:oleObj spid="_x0000_s2060" r:id="rId3" imgW="2926994" imgH="2082698" progId="Visio.Drawing.11">
                  <p:embed/>
                </p:oleObj>
              </mc:Choice>
              <mc:Fallback>
                <p:oleObj r:id="rId3" imgW="2926994" imgH="2082698" progId="Visio.Drawing.11">
                  <p:embed/>
                  <p:pic>
                    <p:nvPicPr>
                      <p:cNvPr id="8197"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081" y="885309"/>
                        <a:ext cx="4752975" cy="5150423"/>
                      </a:xfrm>
                      <a:prstGeom prst="rect">
                        <a:avLst/>
                      </a:prstGeom>
                      <a:noFill/>
                      <a:ln>
                        <a:noFill/>
                      </a:ln>
                    </p:spPr>
                  </p:pic>
                </p:oleObj>
              </mc:Fallback>
            </mc:AlternateContent>
          </a:graphicData>
        </a:graphic>
      </p:graphicFrame>
      <p:sp>
        <p:nvSpPr>
          <p:cNvPr id="8198" name="Text Box 6"/>
          <p:cNvSpPr txBox="1">
            <a:spLocks noChangeArrowheads="1"/>
          </p:cNvSpPr>
          <p:nvPr/>
        </p:nvSpPr>
        <p:spPr bwMode="auto">
          <a:xfrm>
            <a:off x="950552" y="5978658"/>
            <a:ext cx="39592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CN" sz="2400" b="1" dirty="0">
                <a:latin typeface="微软雅黑" panose="020B0503020204020204" pitchFamily="34" charset="-122"/>
                <a:ea typeface="微软雅黑" panose="020B0503020204020204" pitchFamily="34" charset="-122"/>
              </a:rPr>
              <a:t>SIMD</a:t>
            </a:r>
            <a:r>
              <a:rPr lang="zh-CN" altLang="en-US" sz="2400" b="1" dirty="0">
                <a:latin typeface="微软雅黑" panose="020B0503020204020204" pitchFamily="34" charset="-122"/>
                <a:ea typeface="微软雅黑" panose="020B0503020204020204" pitchFamily="34" charset="-122"/>
              </a:rPr>
              <a:t>计算机 </a:t>
            </a:r>
          </a:p>
        </p:txBody>
      </p:sp>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3061590257"/>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83"/>
          <p:cNvSpPr>
            <a:spLocks noChangeArrowheads="1"/>
          </p:cNvSpPr>
          <p:nvPr/>
        </p:nvSpPr>
        <p:spPr bwMode="auto">
          <a:xfrm>
            <a:off x="944434" y="1060824"/>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2" name="Freeform 12"/>
          <p:cNvSpPr>
            <a:spLocks/>
          </p:cNvSpPr>
          <p:nvPr/>
        </p:nvSpPr>
        <p:spPr bwMode="auto">
          <a:xfrm>
            <a:off x="869847" y="91483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3" name="Freeform 12"/>
          <p:cNvSpPr>
            <a:spLocks/>
          </p:cNvSpPr>
          <p:nvPr/>
        </p:nvSpPr>
        <p:spPr bwMode="auto">
          <a:xfrm flipH="1" flipV="1">
            <a:off x="10709911" y="271636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dirty="0"/>
          </a:p>
        </p:txBody>
      </p:sp>
      <p:sp>
        <p:nvSpPr>
          <p:cNvPr id="9218" name="Rectangle 2"/>
          <p:cNvSpPr>
            <a:spLocks noGrp="1" noChangeArrowheads="1"/>
          </p:cNvSpPr>
          <p:nvPr>
            <p:ph type="title"/>
          </p:nvPr>
        </p:nvSpPr>
        <p:spPr>
          <a:xfrm>
            <a:off x="875773" y="-109639"/>
            <a:ext cx="12413523" cy="1325563"/>
          </a:xfrm>
        </p:spPr>
        <p:txBody>
          <a:bodyPr>
            <a:normAutofit/>
          </a:bodyPr>
          <a:lstStyle/>
          <a:p>
            <a:pPr algn="l" eaLnBrk="1" hangingPunct="1">
              <a:lnSpc>
                <a:spcPct val="150000"/>
              </a:lnSpc>
            </a:pPr>
            <a:r>
              <a:rPr lang="en-US" altLang="zh-CN" sz="3200" b="1" dirty="0">
                <a:latin typeface="微软雅黑" panose="020B0503020204020204" pitchFamily="34" charset="-122"/>
                <a:ea typeface="微软雅黑" panose="020B0503020204020204" pitchFamily="34" charset="-122"/>
              </a:rPr>
              <a:t>MISD</a:t>
            </a:r>
            <a:r>
              <a:rPr lang="zh-CN" altLang="en-US" sz="3200" b="1" dirty="0">
                <a:latin typeface="微软雅黑" panose="020B0503020204020204" pitchFamily="34" charset="-122"/>
                <a:ea typeface="微软雅黑" panose="020B0503020204020204" pitchFamily="34" charset="-122"/>
              </a:rPr>
              <a:t>计算机 </a:t>
            </a:r>
          </a:p>
        </p:txBody>
      </p:sp>
      <p:sp>
        <p:nvSpPr>
          <p:cNvPr id="9219" name="Rectangle 3"/>
          <p:cNvSpPr>
            <a:spLocks noGrp="1" noChangeArrowheads="1"/>
          </p:cNvSpPr>
          <p:nvPr>
            <p:ph type="body" idx="1"/>
          </p:nvPr>
        </p:nvSpPr>
        <p:spPr>
          <a:xfrm>
            <a:off x="1188766" y="1038225"/>
            <a:ext cx="9714931" cy="2062163"/>
          </a:xfrm>
        </p:spPr>
        <p:txBody>
          <a:bodyPr>
            <a:normAutofit/>
          </a:bodyPr>
          <a:lstStyle/>
          <a:p>
            <a:pPr marL="0" indent="0" eaLnBrk="1" hangingPunct="1">
              <a:lnSpc>
                <a:spcPct val="150000"/>
              </a:lnSpc>
              <a:buNone/>
            </a:pPr>
            <a:r>
              <a:rPr lang="en-US" altLang="zh-CN" b="1" dirty="0">
                <a:solidFill>
                  <a:srgbClr val="FF0000"/>
                </a:solidFill>
                <a:latin typeface="微软雅黑" panose="020B0503020204020204" pitchFamily="34" charset="-122"/>
                <a:ea typeface="微软雅黑" panose="020B0503020204020204" pitchFamily="34" charset="-122"/>
              </a:rPr>
              <a:t>MISD</a:t>
            </a:r>
            <a:r>
              <a:rPr lang="zh-CN" altLang="en-US" b="1" dirty="0">
                <a:latin typeface="微软雅黑" panose="020B0503020204020204" pitchFamily="34" charset="-122"/>
                <a:ea typeface="微软雅黑" panose="020B0503020204020204" pitchFamily="34" charset="-122"/>
              </a:rPr>
              <a:t>的一般形式是有</a:t>
            </a:r>
            <a:r>
              <a:rPr lang="en-US" altLang="zh-CN" b="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个处理单元</a:t>
            </a:r>
            <a:r>
              <a:rPr lang="en-US" altLang="zh-CN" b="1" dirty="0">
                <a:latin typeface="微软雅黑" panose="020B0503020204020204" pitchFamily="34" charset="-122"/>
                <a:ea typeface="微软雅黑" panose="020B0503020204020204" pitchFamily="34" charset="-122"/>
              </a:rPr>
              <a:t>PU</a:t>
            </a:r>
            <a:r>
              <a:rPr lang="zh-CN" altLang="en-US" b="1" dirty="0">
                <a:latin typeface="微软雅黑" panose="020B0503020204020204" pitchFamily="34" charset="-122"/>
                <a:ea typeface="微软雅黑" panose="020B0503020204020204" pitchFamily="34" charset="-122"/>
              </a:rPr>
              <a:t>，按</a:t>
            </a:r>
            <a:r>
              <a:rPr lang="en-US" altLang="zh-CN" b="1" dirty="0">
                <a:solidFill>
                  <a:srgbClr val="0000FF"/>
                </a:solidFill>
                <a:latin typeface="微软雅黑" panose="020B0503020204020204" pitchFamily="34" charset="-122"/>
                <a:ea typeface="微软雅黑" panose="020B0503020204020204" pitchFamily="34" charset="-122"/>
              </a:rPr>
              <a:t>n</a:t>
            </a:r>
            <a:r>
              <a:rPr lang="zh-CN" altLang="en-US" b="1" dirty="0">
                <a:solidFill>
                  <a:srgbClr val="0000FF"/>
                </a:solidFill>
                <a:latin typeface="微软雅黑" panose="020B0503020204020204" pitchFamily="34" charset="-122"/>
                <a:ea typeface="微软雅黑" panose="020B0503020204020204" pitchFamily="34" charset="-122"/>
              </a:rPr>
              <a:t>条不同指令的要求对同一个数据流</a:t>
            </a:r>
            <a:r>
              <a:rPr lang="en-US" altLang="zh-CN" b="1" dirty="0">
                <a:solidFill>
                  <a:srgbClr val="0000FF"/>
                </a:solidFill>
                <a:latin typeface="微软雅黑" panose="020B0503020204020204" pitchFamily="34" charset="-122"/>
                <a:ea typeface="微软雅黑" panose="020B0503020204020204" pitchFamily="34" charset="-122"/>
              </a:rPr>
              <a:t>DS</a:t>
            </a:r>
            <a:r>
              <a:rPr lang="zh-CN" altLang="en-US" b="1" dirty="0">
                <a:solidFill>
                  <a:srgbClr val="0000FF"/>
                </a:solidFill>
                <a:latin typeface="微软雅黑" panose="020B0503020204020204" pitchFamily="34" charset="-122"/>
                <a:ea typeface="微软雅黑" panose="020B0503020204020204" pitchFamily="34" charset="-122"/>
              </a:rPr>
              <a:t>及其中间结果进行不同的处理</a:t>
            </a:r>
            <a:r>
              <a:rPr lang="zh-CN" altLang="en-US" b="1" dirty="0">
                <a:latin typeface="微软雅黑" panose="020B0503020204020204" pitchFamily="34" charset="-122"/>
                <a:ea typeface="微软雅黑" panose="020B0503020204020204" pitchFamily="34" charset="-122"/>
              </a:rPr>
              <a:t>，一个处理单元的输出作为另一个处理单元的输入。 </a:t>
            </a:r>
          </a:p>
        </p:txBody>
      </p:sp>
      <p:sp>
        <p:nvSpPr>
          <p:cNvPr id="9220" name="Rectangle 5"/>
          <p:cNvSpPr>
            <a:spLocks noChangeArrowheads="1"/>
          </p:cNvSpPr>
          <p:nvPr/>
        </p:nvSpPr>
        <p:spPr bwMode="auto">
          <a:xfrm>
            <a:off x="6003635" y="19870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rgbClr val="FFFFFF"/>
              </a:solidFill>
            </a:endParaRPr>
          </a:p>
        </p:txBody>
      </p:sp>
      <p:graphicFrame>
        <p:nvGraphicFramePr>
          <p:cNvPr id="9221" name="Object 4"/>
          <p:cNvGraphicFramePr>
            <a:graphicFrameLocks noChangeAspect="1"/>
          </p:cNvGraphicFramePr>
          <p:nvPr>
            <p:extLst>
              <p:ext uri="{D42A27DB-BD31-4B8C-83A1-F6EECF244321}">
                <p14:modId xmlns:p14="http://schemas.microsoft.com/office/powerpoint/2010/main" val="4252425236"/>
              </p:ext>
            </p:extLst>
          </p:nvPr>
        </p:nvGraphicFramePr>
        <p:xfrm>
          <a:off x="2084459" y="3122987"/>
          <a:ext cx="8310419" cy="3351212"/>
        </p:xfrm>
        <a:graphic>
          <a:graphicData uri="http://schemas.openxmlformats.org/presentationml/2006/ole">
            <mc:AlternateContent xmlns:mc="http://schemas.openxmlformats.org/markup-compatibility/2006">
              <mc:Choice xmlns:v="urn:schemas-microsoft-com:vml" Requires="v">
                <p:oleObj spid="_x0000_s3085" r:id="rId3" imgW="5135880" imgH="2511857" progId="Visio.Drawing.11">
                  <p:embed/>
                </p:oleObj>
              </mc:Choice>
              <mc:Fallback>
                <p:oleObj r:id="rId3" imgW="5135880" imgH="2511857" progId="Visio.Drawing.11">
                  <p:embed/>
                  <p:pic>
                    <p:nvPicPr>
                      <p:cNvPr id="922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459" y="3122987"/>
                        <a:ext cx="8310419" cy="3351212"/>
                      </a:xfrm>
                      <a:prstGeom prst="rect">
                        <a:avLst/>
                      </a:prstGeom>
                      <a:noFill/>
                      <a:ln>
                        <a:noFill/>
                      </a:ln>
                    </p:spPr>
                  </p:pic>
                </p:oleObj>
              </mc:Fallback>
            </mc:AlternateContent>
          </a:graphicData>
        </a:graphic>
      </p:graphicFrame>
      <p:sp>
        <p:nvSpPr>
          <p:cNvPr id="9222" name="Text Box 6"/>
          <p:cNvSpPr txBox="1">
            <a:spLocks noChangeArrowheads="1"/>
          </p:cNvSpPr>
          <p:nvPr/>
        </p:nvSpPr>
        <p:spPr bwMode="auto">
          <a:xfrm>
            <a:off x="4275641" y="6335244"/>
            <a:ext cx="34559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CN" sz="2400" b="1" dirty="0">
                <a:latin typeface="微软雅黑" panose="020B0503020204020204" pitchFamily="34" charset="-122"/>
                <a:ea typeface="微软雅黑" panose="020B0503020204020204" pitchFamily="34" charset="-122"/>
              </a:rPr>
              <a:t>MISD</a:t>
            </a:r>
            <a:r>
              <a:rPr lang="zh-CN" altLang="en-US" sz="2400" b="1" dirty="0">
                <a:latin typeface="微软雅黑" panose="020B0503020204020204" pitchFamily="34" charset="-122"/>
                <a:ea typeface="微软雅黑" panose="020B0503020204020204" pitchFamily="34" charset="-122"/>
              </a:rPr>
              <a:t>计算机 </a:t>
            </a:r>
          </a:p>
        </p:txBody>
      </p:sp>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4" name="矩形 13"/>
          <p:cNvSpPr/>
          <p:nvPr/>
        </p:nvSpPr>
        <p:spPr>
          <a:xfrm>
            <a:off x="4742688" y="3658026"/>
            <a:ext cx="1072896" cy="176741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2611641847"/>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fltVal val="0"/>
                                          </p:val>
                                        </p:tav>
                                        <p:tav tm="100000">
                                          <p:val>
                                            <p:strVal val="#ppt_w"/>
                                          </p:val>
                                        </p:tav>
                                      </p:tavLst>
                                    </p:anim>
                                    <p:anim calcmode="lin" valueType="num">
                                      <p:cBhvr>
                                        <p:cTn id="8" dur="1000" fill="hold"/>
                                        <p:tgtEl>
                                          <p:spTgt spid="14"/>
                                        </p:tgtEl>
                                        <p:attrNameLst>
                                          <p:attrName>ppt_h</p:attrName>
                                        </p:attrNameLst>
                                      </p:cBhvr>
                                      <p:tavLst>
                                        <p:tav tm="0">
                                          <p:val>
                                            <p:fltVal val="0"/>
                                          </p:val>
                                        </p:tav>
                                        <p:tav tm="100000">
                                          <p:val>
                                            <p:strVal val="#ppt_h"/>
                                          </p:val>
                                        </p:tav>
                                      </p:tavLst>
                                    </p:anim>
                                    <p:anim calcmode="lin" valueType="num">
                                      <p:cBhvr>
                                        <p:cTn id="9" dur="1000" fill="hold"/>
                                        <p:tgtEl>
                                          <p:spTgt spid="14"/>
                                        </p:tgtEl>
                                        <p:attrNameLst>
                                          <p:attrName>style.rotation</p:attrName>
                                        </p:attrNameLst>
                                      </p:cBhvr>
                                      <p:tavLst>
                                        <p:tav tm="0">
                                          <p:val>
                                            <p:fltVal val="90"/>
                                          </p:val>
                                        </p:tav>
                                        <p:tav tm="100000">
                                          <p:val>
                                            <p:fltVal val="0"/>
                                          </p:val>
                                        </p:tav>
                                      </p:tavLst>
                                    </p:anim>
                                    <p:animEffect transition="in" filter="fade">
                                      <p:cBhvr>
                                        <p:cTn id="10"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007493" y="320138"/>
            <a:ext cx="6624638" cy="533400"/>
          </a:xfrm>
        </p:spPr>
        <p:txBody>
          <a:bodyPr>
            <a:normAutofit/>
          </a:bodyPr>
          <a:lstStyle/>
          <a:p>
            <a:pPr algn="l" eaLnBrk="1" hangingPunct="1"/>
            <a:r>
              <a:rPr lang="en-US" altLang="zh-CN" sz="3200" b="1" dirty="0">
                <a:latin typeface="微软雅黑" panose="020B0503020204020204" pitchFamily="34" charset="-122"/>
                <a:ea typeface="微软雅黑" panose="020B0503020204020204" pitchFamily="34" charset="-122"/>
              </a:rPr>
              <a:t>MIMD</a:t>
            </a:r>
            <a:r>
              <a:rPr lang="zh-CN" altLang="en-US" sz="3200" b="1" dirty="0">
                <a:latin typeface="微软雅黑" panose="020B0503020204020204" pitchFamily="34" charset="-122"/>
                <a:ea typeface="微软雅黑" panose="020B0503020204020204" pitchFamily="34" charset="-122"/>
              </a:rPr>
              <a:t>计算机 </a:t>
            </a:r>
          </a:p>
        </p:txBody>
      </p:sp>
      <p:sp>
        <p:nvSpPr>
          <p:cNvPr id="10243" name="Rectangle 3"/>
          <p:cNvSpPr>
            <a:spLocks noGrp="1" noChangeArrowheads="1"/>
          </p:cNvSpPr>
          <p:nvPr>
            <p:ph type="body" sz="half" idx="1"/>
          </p:nvPr>
        </p:nvSpPr>
        <p:spPr>
          <a:xfrm>
            <a:off x="748566" y="1546995"/>
            <a:ext cx="4590695" cy="4409364"/>
          </a:xfrm>
          <a:ln w="28575">
            <a:solidFill>
              <a:srgbClr val="01C0B0"/>
            </a:solidFill>
          </a:ln>
        </p:spPr>
        <p:txBody>
          <a:bodyPr>
            <a:noAutofit/>
          </a:bodyPr>
          <a:lstStyle/>
          <a:p>
            <a:pPr marL="0" indent="0" eaLnBrk="1" hangingPunct="1">
              <a:lnSpc>
                <a:spcPct val="120000"/>
              </a:lnSpc>
              <a:buNone/>
            </a:pPr>
            <a:r>
              <a:rPr lang="en-US" altLang="zh-CN" b="1" dirty="0">
                <a:solidFill>
                  <a:srgbClr val="FF0000"/>
                </a:solidFill>
                <a:latin typeface="微软雅黑" panose="020B0503020204020204" pitchFamily="34" charset="-122"/>
                <a:ea typeface="微软雅黑" panose="020B0503020204020204" pitchFamily="34" charset="-122"/>
              </a:rPr>
              <a:t>MIMD</a:t>
            </a:r>
            <a:r>
              <a:rPr lang="zh-CN" altLang="en-US" b="1" dirty="0">
                <a:latin typeface="微软雅黑" panose="020B0503020204020204" pitchFamily="34" charset="-122"/>
                <a:ea typeface="微软雅黑" panose="020B0503020204020204" pitchFamily="34" charset="-122"/>
              </a:rPr>
              <a:t>系统能实现作业、任务、指令、数组各级的并行，是能实现较为全面的并行处理的多机系统。</a:t>
            </a:r>
          </a:p>
          <a:p>
            <a:pPr marL="0" indent="0" eaLnBrk="1" hangingPunct="1">
              <a:lnSpc>
                <a:spcPct val="120000"/>
              </a:lnSpc>
              <a:buNone/>
            </a:pPr>
            <a:r>
              <a:rPr lang="en-US" altLang="zh-CN" b="1" dirty="0">
                <a:latin typeface="微软雅黑" panose="020B0503020204020204" pitchFamily="34" charset="-122"/>
                <a:ea typeface="微软雅黑" panose="020B0503020204020204" pitchFamily="34" charset="-122"/>
              </a:rPr>
              <a:t>MIMD</a:t>
            </a:r>
            <a:r>
              <a:rPr lang="zh-CN" altLang="en-US" b="1" dirty="0">
                <a:latin typeface="微软雅黑" panose="020B0503020204020204" pitchFamily="34" charset="-122"/>
                <a:ea typeface="微软雅黑" panose="020B0503020204020204" pitchFamily="34" charset="-122"/>
              </a:rPr>
              <a:t>一般形式是</a:t>
            </a:r>
            <a:r>
              <a:rPr lang="zh-CN" altLang="en-US" b="1" dirty="0">
                <a:solidFill>
                  <a:srgbClr val="0000FF"/>
                </a:solidFill>
                <a:latin typeface="微软雅黑" panose="020B0503020204020204" pitchFamily="34" charset="-122"/>
                <a:ea typeface="微软雅黑" panose="020B0503020204020204" pitchFamily="34" charset="-122"/>
              </a:rPr>
              <a:t>按</a:t>
            </a:r>
            <a:r>
              <a:rPr lang="en-US" altLang="zh-CN" b="1" dirty="0">
                <a:solidFill>
                  <a:srgbClr val="0000FF"/>
                </a:solidFill>
                <a:latin typeface="微软雅黑" panose="020B0503020204020204" pitchFamily="34" charset="-122"/>
                <a:ea typeface="微软雅黑" panose="020B0503020204020204" pitchFamily="34" charset="-122"/>
              </a:rPr>
              <a:t>n</a:t>
            </a:r>
            <a:r>
              <a:rPr lang="zh-CN" altLang="en-US" b="1" dirty="0">
                <a:solidFill>
                  <a:srgbClr val="0000FF"/>
                </a:solidFill>
                <a:latin typeface="微软雅黑" panose="020B0503020204020204" pitchFamily="34" charset="-122"/>
                <a:ea typeface="微软雅黑" panose="020B0503020204020204" pitchFamily="34" charset="-122"/>
              </a:rPr>
              <a:t>条不同指令的要求在</a:t>
            </a:r>
            <a:r>
              <a:rPr lang="en-US" altLang="zh-CN" b="1" dirty="0">
                <a:solidFill>
                  <a:srgbClr val="0000FF"/>
                </a:solidFill>
                <a:latin typeface="微软雅黑" panose="020B0503020204020204" pitchFamily="34" charset="-122"/>
                <a:ea typeface="微软雅黑" panose="020B0503020204020204" pitchFamily="34" charset="-122"/>
              </a:rPr>
              <a:t>n</a:t>
            </a:r>
            <a:r>
              <a:rPr lang="zh-CN" altLang="en-US" b="1" dirty="0">
                <a:solidFill>
                  <a:srgbClr val="0000FF"/>
                </a:solidFill>
                <a:latin typeface="微软雅黑" panose="020B0503020204020204" pitchFamily="34" charset="-122"/>
                <a:ea typeface="微软雅黑" panose="020B0503020204020204" pitchFamily="34" charset="-122"/>
              </a:rPr>
              <a:t>个控制单元的控制下对</a:t>
            </a:r>
            <a:r>
              <a:rPr lang="en-US" altLang="zh-CN" b="1" dirty="0">
                <a:solidFill>
                  <a:srgbClr val="0000FF"/>
                </a:solidFill>
                <a:latin typeface="微软雅黑" panose="020B0503020204020204" pitchFamily="34" charset="-122"/>
                <a:ea typeface="微软雅黑" panose="020B0503020204020204" pitchFamily="34" charset="-122"/>
              </a:rPr>
              <a:t>n</a:t>
            </a:r>
            <a:r>
              <a:rPr lang="zh-CN" altLang="en-US" b="1" dirty="0">
                <a:solidFill>
                  <a:srgbClr val="0000FF"/>
                </a:solidFill>
                <a:latin typeface="微软雅黑" panose="020B0503020204020204" pitchFamily="34" charset="-122"/>
                <a:ea typeface="微软雅黑" panose="020B0503020204020204" pitchFamily="34" charset="-122"/>
              </a:rPr>
              <a:t>个数据流及其中间结果进行不同的处理。 </a:t>
            </a:r>
          </a:p>
        </p:txBody>
      </p:sp>
      <p:sp>
        <p:nvSpPr>
          <p:cNvPr id="10244" name="Rectangle 81"/>
          <p:cNvSpPr>
            <a:spLocks noChangeArrowheads="1"/>
          </p:cNvSpPr>
          <p:nvPr/>
        </p:nvSpPr>
        <p:spPr bwMode="auto">
          <a:xfrm>
            <a:off x="6003635" y="22489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rgbClr val="FFFFFF"/>
              </a:solidFill>
            </a:endParaRPr>
          </a:p>
        </p:txBody>
      </p:sp>
      <p:graphicFrame>
        <p:nvGraphicFramePr>
          <p:cNvPr id="10245" name="Object 80"/>
          <p:cNvGraphicFramePr>
            <a:graphicFrameLocks noChangeAspect="1"/>
          </p:cNvGraphicFramePr>
          <p:nvPr>
            <p:extLst>
              <p:ext uri="{D42A27DB-BD31-4B8C-83A1-F6EECF244321}">
                <p14:modId xmlns:p14="http://schemas.microsoft.com/office/powerpoint/2010/main" val="858658462"/>
              </p:ext>
            </p:extLst>
          </p:nvPr>
        </p:nvGraphicFramePr>
        <p:xfrm>
          <a:off x="5874466" y="1483093"/>
          <a:ext cx="5479475" cy="3645090"/>
        </p:xfrm>
        <a:graphic>
          <a:graphicData uri="http://schemas.openxmlformats.org/presentationml/2006/ole">
            <mc:AlternateContent xmlns:mc="http://schemas.openxmlformats.org/markup-compatibility/2006">
              <mc:Choice xmlns:v="urn:schemas-microsoft-com:vml" Requires="v">
                <p:oleObj spid="_x0000_s4109" r:id="rId3" imgW="3947770" imgH="1990954" progId="Visio.Drawing.11">
                  <p:embed/>
                </p:oleObj>
              </mc:Choice>
              <mc:Fallback>
                <p:oleObj r:id="rId3" imgW="3947770" imgH="1990954" progId="Visio.Drawing.11">
                  <p:embed/>
                  <p:pic>
                    <p:nvPicPr>
                      <p:cNvPr id="10245" name="Object 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4466" y="1483093"/>
                        <a:ext cx="5479475" cy="3645090"/>
                      </a:xfrm>
                      <a:prstGeom prst="rect">
                        <a:avLst/>
                      </a:prstGeom>
                      <a:noFill/>
                      <a:ln>
                        <a:noFill/>
                      </a:ln>
                    </p:spPr>
                  </p:pic>
                </p:oleObj>
              </mc:Fallback>
            </mc:AlternateContent>
          </a:graphicData>
        </a:graphic>
      </p:graphicFrame>
      <p:sp>
        <p:nvSpPr>
          <p:cNvPr id="10246" name="Text Box 82"/>
          <p:cNvSpPr txBox="1">
            <a:spLocks noChangeArrowheads="1"/>
          </p:cNvSpPr>
          <p:nvPr/>
        </p:nvSpPr>
        <p:spPr bwMode="auto">
          <a:xfrm>
            <a:off x="7632131" y="5482563"/>
            <a:ext cx="26654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FontTx/>
              <a:buNone/>
            </a:pPr>
            <a:r>
              <a:rPr lang="en-US" altLang="zh-CN" sz="2400" b="1" dirty="0">
                <a:latin typeface="微软雅黑" panose="020B0503020204020204" pitchFamily="34" charset="-122"/>
                <a:ea typeface="微软雅黑" panose="020B0503020204020204" pitchFamily="34" charset="-122"/>
              </a:rPr>
              <a:t>MIMD</a:t>
            </a:r>
            <a:r>
              <a:rPr lang="zh-CN" altLang="en-US" sz="2400" b="1" dirty="0">
                <a:latin typeface="微软雅黑" panose="020B0503020204020204" pitchFamily="34" charset="-122"/>
                <a:ea typeface="微软雅黑" panose="020B0503020204020204" pitchFamily="34" charset="-122"/>
              </a:rPr>
              <a:t>计算机 </a:t>
            </a:r>
          </a:p>
        </p:txBody>
      </p:sp>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1" name="矩形 10"/>
          <p:cNvSpPr/>
          <p:nvPr/>
        </p:nvSpPr>
        <p:spPr>
          <a:xfrm>
            <a:off x="6836960" y="2060448"/>
            <a:ext cx="2270464" cy="20726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1339140369"/>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2"/>
          <p:cNvSpPr txBox="1">
            <a:spLocks noChangeArrowheads="1"/>
          </p:cNvSpPr>
          <p:nvPr/>
        </p:nvSpPr>
        <p:spPr bwMode="auto">
          <a:xfrm>
            <a:off x="1174694" y="4982129"/>
            <a:ext cx="10441824"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lvl="1" eaLnBrk="1" hangingPunct="1">
              <a:lnSpc>
                <a:spcPct val="120000"/>
              </a:lnSpc>
              <a:spcBef>
                <a:spcPct val="50000"/>
              </a:spcBef>
              <a:buSzTx/>
              <a:buNone/>
            </a:pPr>
            <a:r>
              <a:rPr lang="zh-CN" altLang="en-US" b="1" dirty="0">
                <a:latin typeface="微软雅黑" panose="020B0503020204020204" pitchFamily="34" charset="-122"/>
                <a:ea typeface="微软雅黑" panose="020B0503020204020204" pitchFamily="34" charset="-122"/>
              </a:rPr>
              <a:t>并发性</a:t>
            </a:r>
            <a:r>
              <a:rPr lang="en-US" altLang="zh-CN" b="1" dirty="0">
                <a:latin typeface="微软雅黑" panose="020B0503020204020204" pitchFamily="34" charset="-122"/>
                <a:ea typeface="微软雅黑" panose="020B0503020204020204" pitchFamily="34" charset="-122"/>
              </a:rPr>
              <a:t>(concurrency)</a:t>
            </a:r>
            <a:r>
              <a:rPr lang="zh-CN" altLang="en-US" b="1" dirty="0">
                <a:latin typeface="微软雅黑" panose="020B0503020204020204" pitchFamily="34" charset="-122"/>
                <a:ea typeface="微软雅黑" panose="020B0503020204020204" pitchFamily="34" charset="-122"/>
              </a:rPr>
              <a:t>：指两个或多个事件在同一时间间隔内发生的并行性。 </a:t>
            </a:r>
          </a:p>
        </p:txBody>
      </p:sp>
      <p:sp>
        <p:nvSpPr>
          <p:cNvPr id="11267" name="Rectangle 2"/>
          <p:cNvSpPr txBox="1">
            <a:spLocks noChangeArrowheads="1"/>
          </p:cNvSpPr>
          <p:nvPr/>
        </p:nvSpPr>
        <p:spPr bwMode="auto">
          <a:xfrm>
            <a:off x="4191000" y="381000"/>
            <a:ext cx="6324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8900000" algn="ctr" rotWithShape="0">
                    <a:srgbClr val="000000">
                      <a:alpha val="50000"/>
                    </a:srgbClr>
                  </a:outerShdw>
                </a:effectLst>
              </a14:hiddenEffects>
            </a:ext>
          </a:extLst>
        </p:spPr>
        <p:txBody>
          <a:bodyPr anchor="ct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FontTx/>
              <a:buNone/>
            </a:pPr>
            <a:r>
              <a:rPr lang="en-US" altLang="zh-CN" sz="3600">
                <a:solidFill>
                  <a:schemeClr val="bg1"/>
                </a:solidFill>
              </a:rPr>
              <a:t>8.1.2 </a:t>
            </a:r>
            <a:r>
              <a:rPr lang="zh-CN" altLang="en-US" sz="3600">
                <a:solidFill>
                  <a:schemeClr val="bg1"/>
                </a:solidFill>
              </a:rPr>
              <a:t>体系结构中的并行性</a:t>
            </a:r>
          </a:p>
        </p:txBody>
      </p:sp>
      <p:sp>
        <p:nvSpPr>
          <p:cNvPr id="4" name="Freeform 14"/>
          <p:cNvSpPr>
            <a:spLocks/>
          </p:cNvSpPr>
          <p:nvPr/>
        </p:nvSpPr>
        <p:spPr bwMode="auto">
          <a:xfrm>
            <a:off x="363032" y="1710080"/>
            <a:ext cx="1047364" cy="1046679"/>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5" name="Freeform 14"/>
          <p:cNvSpPr>
            <a:spLocks/>
          </p:cNvSpPr>
          <p:nvPr/>
        </p:nvSpPr>
        <p:spPr bwMode="auto">
          <a:xfrm>
            <a:off x="344709" y="3258988"/>
            <a:ext cx="1047364" cy="1046679"/>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6" name="Freeform 14"/>
          <p:cNvSpPr>
            <a:spLocks/>
          </p:cNvSpPr>
          <p:nvPr/>
        </p:nvSpPr>
        <p:spPr bwMode="auto">
          <a:xfrm>
            <a:off x="344709" y="5024039"/>
            <a:ext cx="1047364" cy="1046679"/>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solidFill>
                <a:schemeClr val="accent1"/>
              </a:solidFill>
            </a:endParaRPr>
          </a:p>
        </p:txBody>
      </p:sp>
      <p:sp>
        <p:nvSpPr>
          <p:cNvPr id="2" name="文本框 1"/>
          <p:cNvSpPr txBox="1"/>
          <p:nvPr/>
        </p:nvSpPr>
        <p:spPr>
          <a:xfrm>
            <a:off x="580157" y="1784404"/>
            <a:ext cx="858672" cy="923330"/>
          </a:xfrm>
          <a:prstGeom prst="rect">
            <a:avLst/>
          </a:prstGeom>
          <a:noFill/>
        </p:spPr>
        <p:txBody>
          <a:bodyPr wrap="square" rtlCol="0">
            <a:spAutoFit/>
          </a:bodyPr>
          <a:lstStyle/>
          <a:p>
            <a:r>
              <a:rPr lang="en-US" altLang="zh-CN" sz="5400" b="1" dirty="0">
                <a:solidFill>
                  <a:schemeClr val="bg1"/>
                </a:solidFill>
                <a:latin typeface="微软雅黑" panose="020B0503020204020204" pitchFamily="34" charset="-122"/>
                <a:ea typeface="微软雅黑" panose="020B0503020204020204" pitchFamily="34" charset="-122"/>
              </a:rPr>
              <a:t>1</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61834" y="3357174"/>
            <a:ext cx="858672" cy="923330"/>
          </a:xfrm>
          <a:prstGeom prst="rect">
            <a:avLst/>
          </a:prstGeom>
          <a:noFill/>
        </p:spPr>
        <p:txBody>
          <a:bodyPr wrap="square" rtlCol="0">
            <a:spAutoFit/>
          </a:bodyPr>
          <a:lstStyle/>
          <a:p>
            <a:r>
              <a:rPr lang="en-US" altLang="zh-CN" sz="5400" b="1" dirty="0">
                <a:solidFill>
                  <a:schemeClr val="bg1"/>
                </a:solidFill>
                <a:latin typeface="微软雅黑" panose="020B0503020204020204" pitchFamily="34" charset="-122"/>
                <a:ea typeface="微软雅黑" panose="020B0503020204020204" pitchFamily="34" charset="-122"/>
              </a:rPr>
              <a:t>2</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61834" y="5104526"/>
            <a:ext cx="858672" cy="923330"/>
          </a:xfrm>
          <a:prstGeom prst="rect">
            <a:avLst/>
          </a:prstGeom>
          <a:noFill/>
        </p:spPr>
        <p:txBody>
          <a:bodyPr wrap="square" rtlCol="0">
            <a:spAutoFit/>
          </a:bodyPr>
          <a:lstStyle/>
          <a:p>
            <a:r>
              <a:rPr lang="en-US" altLang="zh-CN" sz="5400" b="1" dirty="0">
                <a:solidFill>
                  <a:schemeClr val="bg1"/>
                </a:solidFill>
                <a:latin typeface="微软雅黑" panose="020B0503020204020204" pitchFamily="34" charset="-122"/>
                <a:ea typeface="微软雅黑" panose="020B0503020204020204" pitchFamily="34" charset="-122"/>
              </a:rPr>
              <a:t>3</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65635" y="269251"/>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3" name="矩形 2"/>
          <p:cNvSpPr/>
          <p:nvPr/>
        </p:nvSpPr>
        <p:spPr>
          <a:xfrm>
            <a:off x="991170" y="99256"/>
            <a:ext cx="10625348" cy="1126462"/>
          </a:xfrm>
          <a:prstGeom prst="rect">
            <a:avLst/>
          </a:prstGeom>
        </p:spPr>
        <p:txBody>
          <a:bodyPr wrap="square">
            <a:spAutoFit/>
          </a:bodyPr>
          <a:lstStyle/>
          <a:p>
            <a:pPr>
              <a:lnSpc>
                <a:spcPct val="120000"/>
              </a:lnSpc>
              <a:spcBef>
                <a:spcPct val="50000"/>
              </a:spcBef>
            </a:pPr>
            <a:r>
              <a:rPr lang="zh-CN" altLang="en-US" sz="2800" b="1" dirty="0">
                <a:latin typeface="微软雅黑" panose="020B0503020204020204" pitchFamily="34" charset="-122"/>
                <a:ea typeface="微软雅黑" panose="020B0503020204020204" pitchFamily="34" charset="-122"/>
              </a:rPr>
              <a:t>现代计算机的一个共同特点是</a:t>
            </a:r>
            <a:r>
              <a:rPr lang="zh-CN" altLang="en-US" sz="2800" b="1" dirty="0">
                <a:solidFill>
                  <a:srgbClr val="0000FF"/>
                </a:solidFill>
                <a:latin typeface="微软雅黑" panose="020B0503020204020204" pitchFamily="34" charset="-122"/>
                <a:ea typeface="微软雅黑" panose="020B0503020204020204" pitchFamily="34" charset="-122"/>
              </a:rPr>
              <a:t>大量采用并行技术</a:t>
            </a:r>
            <a:r>
              <a:rPr lang="zh-CN" altLang="en-US" sz="2800" b="1" dirty="0">
                <a:latin typeface="微软雅黑" panose="020B0503020204020204" pitchFamily="34" charset="-122"/>
                <a:ea typeface="微软雅黑" panose="020B0503020204020204" pitchFamily="34" charset="-122"/>
              </a:rPr>
              <a:t>，使计算机的性能得以不断提高。</a:t>
            </a:r>
          </a:p>
        </p:txBody>
      </p:sp>
      <p:sp>
        <p:nvSpPr>
          <p:cNvPr id="7" name="矩形 6"/>
          <p:cNvSpPr/>
          <p:nvPr/>
        </p:nvSpPr>
        <p:spPr>
          <a:xfrm>
            <a:off x="1637631" y="1375160"/>
            <a:ext cx="9978887" cy="1643527"/>
          </a:xfrm>
          <a:prstGeom prst="rect">
            <a:avLst/>
          </a:prstGeom>
        </p:spPr>
        <p:txBody>
          <a:bodyPr wrap="square">
            <a:spAutoFit/>
          </a:bodyPr>
          <a:lstStyle/>
          <a:p>
            <a:pPr>
              <a:lnSpc>
                <a:spcPct val="120000"/>
              </a:lnSpc>
              <a:spcBef>
                <a:spcPct val="50000"/>
              </a:spcBef>
            </a:pPr>
            <a:r>
              <a:rPr lang="zh-CN" altLang="en-US" sz="2800" b="1" dirty="0">
                <a:latin typeface="微软雅黑" panose="020B0503020204020204" pitchFamily="34" charset="-122"/>
                <a:ea typeface="微软雅黑" panose="020B0503020204020204" pitchFamily="34" charset="-122"/>
              </a:rPr>
              <a:t>并行性（</a:t>
            </a:r>
            <a:r>
              <a:rPr lang="en-US" altLang="zh-CN" sz="2800" b="1" dirty="0">
                <a:latin typeface="微软雅黑" panose="020B0503020204020204" pitchFamily="34" charset="-122"/>
                <a:ea typeface="微软雅黑" panose="020B0503020204020204" pitchFamily="34" charset="-122"/>
              </a:rPr>
              <a:t>parallelism</a:t>
            </a:r>
            <a:r>
              <a:rPr lang="zh-CN" altLang="en-US" sz="2800" b="1" dirty="0">
                <a:latin typeface="微软雅黑" panose="020B0503020204020204" pitchFamily="34" charset="-122"/>
                <a:ea typeface="微软雅黑" panose="020B0503020204020204" pitchFamily="34" charset="-122"/>
              </a:rPr>
              <a:t>）：指的是在同一时刻或是同一时间间隔内完成两种或两种以上性质相同或不相同的工作。只要时间上互相重叠，就存在并行性，其包含同时性和并发性两层含义。</a:t>
            </a:r>
          </a:p>
        </p:txBody>
      </p:sp>
      <p:sp>
        <p:nvSpPr>
          <p:cNvPr id="14" name="矩形 13"/>
          <p:cNvSpPr/>
          <p:nvPr/>
        </p:nvSpPr>
        <p:spPr>
          <a:xfrm>
            <a:off x="1174694" y="3266420"/>
            <a:ext cx="10441824" cy="1126462"/>
          </a:xfrm>
          <a:prstGeom prst="rect">
            <a:avLst/>
          </a:prstGeom>
        </p:spPr>
        <p:txBody>
          <a:bodyPr wrap="square">
            <a:spAutoFit/>
          </a:bodyPr>
          <a:lstStyle/>
          <a:p>
            <a:pPr lvl="1">
              <a:lnSpc>
                <a:spcPct val="120000"/>
              </a:lnSpc>
              <a:spcBef>
                <a:spcPct val="50000"/>
              </a:spcBef>
            </a:pPr>
            <a:r>
              <a:rPr lang="zh-CN" altLang="en-US" sz="2800" b="1" dirty="0">
                <a:latin typeface="微软雅黑" panose="020B0503020204020204" pitchFamily="34" charset="-122"/>
                <a:ea typeface="微软雅黑" panose="020B0503020204020204" pitchFamily="34" charset="-122"/>
              </a:rPr>
              <a:t>同时性（</a:t>
            </a:r>
            <a:r>
              <a:rPr lang="en-US" altLang="zh-CN" sz="2800" b="1" dirty="0">
                <a:latin typeface="微软雅黑" panose="020B0503020204020204" pitchFamily="34" charset="-122"/>
                <a:ea typeface="微软雅黑" panose="020B0503020204020204" pitchFamily="34" charset="-122"/>
              </a:rPr>
              <a:t>simultaneity</a:t>
            </a:r>
            <a:r>
              <a:rPr lang="zh-CN" altLang="en-US" sz="2800" b="1" dirty="0">
                <a:latin typeface="微软雅黑" panose="020B0503020204020204" pitchFamily="34" charset="-122"/>
                <a:ea typeface="微软雅黑" panose="020B0503020204020204" pitchFamily="34" charset="-122"/>
              </a:rPr>
              <a:t>）：指两个或多个事件在同一时刻发生的并行性；</a:t>
            </a:r>
          </a:p>
        </p:txBody>
      </p:sp>
    </p:spTree>
    <p:extLst>
      <p:ext uri="{BB962C8B-B14F-4D97-AF65-F5344CB8AC3E}">
        <p14:creationId xmlns:p14="http://schemas.microsoft.com/office/powerpoint/2010/main" val="1625871328"/>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43123" y="332304"/>
            <a:ext cx="7149953" cy="565562"/>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sz="2800" b="1" dirty="0">
                <a:solidFill>
                  <a:schemeClr val="tx1"/>
                </a:solidFill>
                <a:latin typeface="微软雅黑" panose="020B0503020204020204" pitchFamily="34" charset="-122"/>
                <a:ea typeface="微软雅黑" panose="020B0503020204020204" pitchFamily="34" charset="-122"/>
              </a:rPr>
              <a:t>并行性等级划分：从执行程序角度</a:t>
            </a: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椭圆 10"/>
          <p:cNvSpPr/>
          <p:nvPr/>
        </p:nvSpPr>
        <p:spPr bwMode="auto">
          <a:xfrm>
            <a:off x="265636" y="2568914"/>
            <a:ext cx="2286496" cy="2286496"/>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30" name="椭圆 29"/>
          <p:cNvSpPr>
            <a:spLocks noChangeAspect="1"/>
          </p:cNvSpPr>
          <p:nvPr/>
        </p:nvSpPr>
        <p:spPr bwMode="auto">
          <a:xfrm>
            <a:off x="2787546" y="1530475"/>
            <a:ext cx="383513" cy="383513"/>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2787546" y="2514970"/>
            <a:ext cx="383513" cy="383513"/>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2787546" y="3539696"/>
            <a:ext cx="383513" cy="383513"/>
          </a:xfrm>
          <a:prstGeom prst="ellipse">
            <a:avLst/>
          </a:prstGeom>
          <a:solidFill>
            <a:srgbClr val="02B9E7"/>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2787546" y="4661289"/>
            <a:ext cx="383513" cy="383513"/>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38" name="椭圆 37"/>
          <p:cNvSpPr>
            <a:spLocks noChangeAspect="1"/>
          </p:cNvSpPr>
          <p:nvPr/>
        </p:nvSpPr>
        <p:spPr bwMode="auto">
          <a:xfrm>
            <a:off x="2787545" y="5779051"/>
            <a:ext cx="383513" cy="383513"/>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5</a:t>
            </a:r>
            <a:endParaRPr lang="zh-CN" altLang="en-US" sz="1599" b="1" dirty="0">
              <a:solidFill>
                <a:schemeClr val="bg1"/>
              </a:solidFill>
              <a:latin typeface="+mn-ea"/>
            </a:endParaRPr>
          </a:p>
        </p:txBody>
      </p:sp>
      <p:sp>
        <p:nvSpPr>
          <p:cNvPr id="19" name="Freeform 6"/>
          <p:cNvSpPr>
            <a:spLocks noEditPoints="1"/>
          </p:cNvSpPr>
          <p:nvPr/>
        </p:nvSpPr>
        <p:spPr bwMode="auto">
          <a:xfrm>
            <a:off x="843123" y="2986901"/>
            <a:ext cx="1238828" cy="1417143"/>
          </a:xfrm>
          <a:custGeom>
            <a:avLst/>
            <a:gdLst>
              <a:gd name="T0" fmla="*/ 957 w 1932"/>
              <a:gd name="T1" fmla="*/ 547 h 2183"/>
              <a:gd name="T2" fmla="*/ 410 w 1932"/>
              <a:gd name="T3" fmla="*/ 274 h 2183"/>
              <a:gd name="T4" fmla="*/ 957 w 1932"/>
              <a:gd name="T5" fmla="*/ 0 h 2183"/>
              <a:gd name="T6" fmla="*/ 1362 w 1932"/>
              <a:gd name="T7" fmla="*/ 274 h 2183"/>
              <a:gd name="T8" fmla="*/ 1026 w 1932"/>
              <a:gd name="T9" fmla="*/ 678 h 2183"/>
              <a:gd name="T10" fmla="*/ 273 w 1932"/>
              <a:gd name="T11" fmla="*/ 336 h 2183"/>
              <a:gd name="T12" fmla="*/ 0 w 1932"/>
              <a:gd name="T13" fmla="*/ 610 h 2183"/>
              <a:gd name="T14" fmla="*/ 342 w 1932"/>
              <a:gd name="T15" fmla="*/ 2183 h 2183"/>
              <a:gd name="T16" fmla="*/ 880 w 1932"/>
              <a:gd name="T17" fmla="*/ 1620 h 2183"/>
              <a:gd name="T18" fmla="*/ 1641 w 1932"/>
              <a:gd name="T19" fmla="*/ 1028 h 2183"/>
              <a:gd name="T20" fmla="*/ 1362 w 1932"/>
              <a:gd name="T21" fmla="*/ 274 h 2183"/>
              <a:gd name="T22" fmla="*/ 769 w 1932"/>
              <a:gd name="T23" fmla="*/ 1368 h 2183"/>
              <a:gd name="T24" fmla="*/ 273 w 1932"/>
              <a:gd name="T25" fmla="*/ 1300 h 2183"/>
              <a:gd name="T26" fmla="*/ 769 w 1932"/>
              <a:gd name="T27" fmla="*/ 1232 h 2183"/>
              <a:gd name="T28" fmla="*/ 769 w 1932"/>
              <a:gd name="T29" fmla="*/ 1368 h 2183"/>
              <a:gd name="T30" fmla="*/ 906 w 1932"/>
              <a:gd name="T31" fmla="*/ 1095 h 2183"/>
              <a:gd name="T32" fmla="*/ 273 w 1932"/>
              <a:gd name="T33" fmla="*/ 1026 h 2183"/>
              <a:gd name="T34" fmla="*/ 906 w 1932"/>
              <a:gd name="T35" fmla="*/ 958 h 2183"/>
              <a:gd name="T36" fmla="*/ 906 w 1932"/>
              <a:gd name="T37" fmla="*/ 1095 h 2183"/>
              <a:gd name="T38" fmla="*/ 1496 w 1932"/>
              <a:gd name="T39" fmla="*/ 1183 h 2183"/>
              <a:gd name="T40" fmla="*/ 1404 w 1932"/>
              <a:gd name="T41" fmla="*/ 2045 h 2183"/>
              <a:gd name="T42" fmla="*/ 1932 w 1932"/>
              <a:gd name="T43" fmla="*/ 1619 h 2183"/>
              <a:gd name="T44" fmla="*/ 1692 w 1932"/>
              <a:gd name="T45" fmla="*/ 1434 h 2183"/>
              <a:gd name="T46" fmla="*/ 1686 w 1932"/>
              <a:gd name="T47" fmla="*/ 1559 h 2183"/>
              <a:gd name="T48" fmla="*/ 1686 w 1932"/>
              <a:gd name="T49" fmla="*/ 1662 h 2183"/>
              <a:gd name="T50" fmla="*/ 1692 w 1932"/>
              <a:gd name="T51" fmla="*/ 1787 h 2183"/>
              <a:gd name="T52" fmla="*/ 1515 w 1932"/>
              <a:gd name="T53" fmla="*/ 1729 h 2183"/>
              <a:gd name="T54" fmla="*/ 1338 w 1932"/>
              <a:gd name="T55" fmla="*/ 1787 h 2183"/>
              <a:gd name="T56" fmla="*/ 1345 w 1932"/>
              <a:gd name="T57" fmla="*/ 1662 h 2183"/>
              <a:gd name="T58" fmla="*/ 1345 w 1932"/>
              <a:gd name="T59" fmla="*/ 1559 h 2183"/>
              <a:gd name="T60" fmla="*/ 1338 w 1932"/>
              <a:gd name="T61" fmla="*/ 1434 h 2183"/>
              <a:gd name="T62" fmla="*/ 1515 w 1932"/>
              <a:gd name="T63" fmla="*/ 1492 h 2183"/>
              <a:gd name="T64" fmla="*/ 1692 w 1932"/>
              <a:gd name="T65" fmla="*/ 1434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32" h="2183">
                <a:moveTo>
                  <a:pt x="1231" y="274"/>
                </a:moveTo>
                <a:cubicBezTo>
                  <a:pt x="1231" y="425"/>
                  <a:pt x="1108" y="547"/>
                  <a:pt x="957" y="547"/>
                </a:cubicBezTo>
                <a:lnTo>
                  <a:pt x="684" y="547"/>
                </a:lnTo>
                <a:cubicBezTo>
                  <a:pt x="533" y="547"/>
                  <a:pt x="410" y="425"/>
                  <a:pt x="410" y="274"/>
                </a:cubicBezTo>
                <a:cubicBezTo>
                  <a:pt x="410" y="122"/>
                  <a:pt x="533" y="0"/>
                  <a:pt x="684" y="0"/>
                </a:cubicBezTo>
                <a:lnTo>
                  <a:pt x="957" y="0"/>
                </a:lnTo>
                <a:cubicBezTo>
                  <a:pt x="1108" y="0"/>
                  <a:pt x="1231" y="122"/>
                  <a:pt x="1231" y="274"/>
                </a:cubicBezTo>
                <a:close/>
                <a:moveTo>
                  <a:pt x="1362" y="274"/>
                </a:moveTo>
                <a:cubicBezTo>
                  <a:pt x="1366" y="294"/>
                  <a:pt x="1368" y="315"/>
                  <a:pt x="1368" y="336"/>
                </a:cubicBezTo>
                <a:cubicBezTo>
                  <a:pt x="1368" y="525"/>
                  <a:pt x="1215" y="678"/>
                  <a:pt x="1026" y="678"/>
                </a:cubicBezTo>
                <a:lnTo>
                  <a:pt x="616" y="678"/>
                </a:lnTo>
                <a:cubicBezTo>
                  <a:pt x="426" y="678"/>
                  <a:pt x="273" y="525"/>
                  <a:pt x="273" y="336"/>
                </a:cubicBezTo>
                <a:cubicBezTo>
                  <a:pt x="273" y="315"/>
                  <a:pt x="275" y="294"/>
                  <a:pt x="279" y="274"/>
                </a:cubicBezTo>
                <a:cubicBezTo>
                  <a:pt x="120" y="303"/>
                  <a:pt x="0" y="442"/>
                  <a:pt x="0" y="610"/>
                </a:cubicBezTo>
                <a:lnTo>
                  <a:pt x="0" y="1841"/>
                </a:lnTo>
                <a:cubicBezTo>
                  <a:pt x="0" y="2030"/>
                  <a:pt x="153" y="2183"/>
                  <a:pt x="342" y="2183"/>
                </a:cubicBezTo>
                <a:lnTo>
                  <a:pt x="1252" y="2183"/>
                </a:lnTo>
                <a:cubicBezTo>
                  <a:pt x="1034" y="2090"/>
                  <a:pt x="880" y="1873"/>
                  <a:pt x="880" y="1620"/>
                </a:cubicBezTo>
                <a:cubicBezTo>
                  <a:pt x="880" y="1283"/>
                  <a:pt x="1154" y="1009"/>
                  <a:pt x="1492" y="1009"/>
                </a:cubicBezTo>
                <a:cubicBezTo>
                  <a:pt x="1544" y="1009"/>
                  <a:pt x="1594" y="1016"/>
                  <a:pt x="1641" y="1028"/>
                </a:cubicBezTo>
                <a:lnTo>
                  <a:pt x="1641" y="610"/>
                </a:lnTo>
                <a:cubicBezTo>
                  <a:pt x="1641" y="442"/>
                  <a:pt x="1521" y="303"/>
                  <a:pt x="1362" y="274"/>
                </a:cubicBezTo>
                <a:close/>
                <a:moveTo>
                  <a:pt x="769" y="1368"/>
                </a:moveTo>
                <a:lnTo>
                  <a:pt x="769" y="1368"/>
                </a:lnTo>
                <a:lnTo>
                  <a:pt x="342" y="1368"/>
                </a:lnTo>
                <a:cubicBezTo>
                  <a:pt x="304" y="1368"/>
                  <a:pt x="273" y="1338"/>
                  <a:pt x="273" y="1300"/>
                </a:cubicBezTo>
                <a:cubicBezTo>
                  <a:pt x="273" y="1262"/>
                  <a:pt x="304" y="1232"/>
                  <a:pt x="342" y="1232"/>
                </a:cubicBezTo>
                <a:lnTo>
                  <a:pt x="769" y="1232"/>
                </a:lnTo>
                <a:cubicBezTo>
                  <a:pt x="807" y="1232"/>
                  <a:pt x="838" y="1262"/>
                  <a:pt x="838" y="1300"/>
                </a:cubicBezTo>
                <a:cubicBezTo>
                  <a:pt x="838" y="1338"/>
                  <a:pt x="807" y="1368"/>
                  <a:pt x="769" y="1368"/>
                </a:cubicBezTo>
                <a:close/>
                <a:moveTo>
                  <a:pt x="906" y="1095"/>
                </a:moveTo>
                <a:lnTo>
                  <a:pt x="906" y="1095"/>
                </a:lnTo>
                <a:lnTo>
                  <a:pt x="342" y="1095"/>
                </a:lnTo>
                <a:cubicBezTo>
                  <a:pt x="304" y="1095"/>
                  <a:pt x="273" y="1064"/>
                  <a:pt x="273" y="1026"/>
                </a:cubicBezTo>
                <a:cubicBezTo>
                  <a:pt x="273" y="988"/>
                  <a:pt x="304" y="958"/>
                  <a:pt x="342" y="958"/>
                </a:cubicBezTo>
                <a:lnTo>
                  <a:pt x="906" y="958"/>
                </a:lnTo>
                <a:cubicBezTo>
                  <a:pt x="944" y="958"/>
                  <a:pt x="975" y="988"/>
                  <a:pt x="975" y="1026"/>
                </a:cubicBezTo>
                <a:cubicBezTo>
                  <a:pt x="975" y="1064"/>
                  <a:pt x="944" y="1095"/>
                  <a:pt x="906" y="1095"/>
                </a:cubicBezTo>
                <a:close/>
                <a:moveTo>
                  <a:pt x="1605" y="1197"/>
                </a:moveTo>
                <a:cubicBezTo>
                  <a:pt x="1570" y="1187"/>
                  <a:pt x="1534" y="1183"/>
                  <a:pt x="1496" y="1183"/>
                </a:cubicBezTo>
                <a:cubicBezTo>
                  <a:pt x="1255" y="1183"/>
                  <a:pt x="1060" y="1378"/>
                  <a:pt x="1060" y="1619"/>
                </a:cubicBezTo>
                <a:cubicBezTo>
                  <a:pt x="1060" y="1828"/>
                  <a:pt x="1208" y="2003"/>
                  <a:pt x="1404" y="2045"/>
                </a:cubicBezTo>
                <a:cubicBezTo>
                  <a:pt x="1434" y="2051"/>
                  <a:pt x="1464" y="2055"/>
                  <a:pt x="1496" y="2055"/>
                </a:cubicBezTo>
                <a:cubicBezTo>
                  <a:pt x="1737" y="2055"/>
                  <a:pt x="1932" y="1860"/>
                  <a:pt x="1932" y="1619"/>
                </a:cubicBezTo>
                <a:cubicBezTo>
                  <a:pt x="1932" y="1416"/>
                  <a:pt x="1793" y="1245"/>
                  <a:pt x="1605" y="1197"/>
                </a:cubicBezTo>
                <a:close/>
                <a:moveTo>
                  <a:pt x="1692" y="1434"/>
                </a:moveTo>
                <a:lnTo>
                  <a:pt x="1692" y="1434"/>
                </a:lnTo>
                <a:cubicBezTo>
                  <a:pt x="1724" y="1467"/>
                  <a:pt x="1722" y="1523"/>
                  <a:pt x="1686" y="1559"/>
                </a:cubicBezTo>
                <a:lnTo>
                  <a:pt x="1634" y="1610"/>
                </a:lnTo>
                <a:lnTo>
                  <a:pt x="1686" y="1662"/>
                </a:lnTo>
                <a:cubicBezTo>
                  <a:pt x="1722" y="1698"/>
                  <a:pt x="1724" y="1754"/>
                  <a:pt x="1692" y="1787"/>
                </a:cubicBezTo>
                <a:lnTo>
                  <a:pt x="1692" y="1787"/>
                </a:lnTo>
                <a:cubicBezTo>
                  <a:pt x="1659" y="1820"/>
                  <a:pt x="1603" y="1817"/>
                  <a:pt x="1567" y="1781"/>
                </a:cubicBezTo>
                <a:lnTo>
                  <a:pt x="1515" y="1729"/>
                </a:lnTo>
                <a:lnTo>
                  <a:pt x="1463" y="1781"/>
                </a:lnTo>
                <a:cubicBezTo>
                  <a:pt x="1427" y="1817"/>
                  <a:pt x="1371" y="1820"/>
                  <a:pt x="1338" y="1787"/>
                </a:cubicBezTo>
                <a:lnTo>
                  <a:pt x="1338" y="1787"/>
                </a:lnTo>
                <a:cubicBezTo>
                  <a:pt x="1306" y="1754"/>
                  <a:pt x="1309" y="1698"/>
                  <a:pt x="1345" y="1662"/>
                </a:cubicBezTo>
                <a:lnTo>
                  <a:pt x="1396" y="1610"/>
                </a:lnTo>
                <a:lnTo>
                  <a:pt x="1345" y="1559"/>
                </a:lnTo>
                <a:cubicBezTo>
                  <a:pt x="1309" y="1523"/>
                  <a:pt x="1306" y="1466"/>
                  <a:pt x="1338" y="1434"/>
                </a:cubicBezTo>
                <a:lnTo>
                  <a:pt x="1338" y="1434"/>
                </a:lnTo>
                <a:cubicBezTo>
                  <a:pt x="1371" y="1401"/>
                  <a:pt x="1427" y="1404"/>
                  <a:pt x="1463" y="1440"/>
                </a:cubicBezTo>
                <a:lnTo>
                  <a:pt x="1515" y="1492"/>
                </a:lnTo>
                <a:lnTo>
                  <a:pt x="1567" y="1440"/>
                </a:lnTo>
                <a:cubicBezTo>
                  <a:pt x="1603" y="1404"/>
                  <a:pt x="1659" y="1401"/>
                  <a:pt x="1692" y="1434"/>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3237919" y="1458523"/>
            <a:ext cx="8909811" cy="565604"/>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指令内部并行：指的是指令内部的微操作之间的并行。 </a:t>
            </a:r>
          </a:p>
        </p:txBody>
      </p:sp>
      <p:sp>
        <p:nvSpPr>
          <p:cNvPr id="3" name="矩形 2"/>
          <p:cNvSpPr/>
          <p:nvPr/>
        </p:nvSpPr>
        <p:spPr>
          <a:xfrm>
            <a:off x="3237919" y="2398352"/>
            <a:ext cx="6037230" cy="565604"/>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指令级并行：就是指令之间的并行。 </a:t>
            </a:r>
          </a:p>
        </p:txBody>
      </p:sp>
      <p:sp>
        <p:nvSpPr>
          <p:cNvPr id="4" name="矩形 3"/>
          <p:cNvSpPr/>
          <p:nvPr/>
        </p:nvSpPr>
        <p:spPr>
          <a:xfrm>
            <a:off x="3237919" y="3223088"/>
            <a:ext cx="8458212"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线程级并行：指的是并发执行多个线程，通常是以一个进程内控制派生的多个线程为调度单位。</a:t>
            </a:r>
          </a:p>
        </p:txBody>
      </p:sp>
      <p:sp>
        <p:nvSpPr>
          <p:cNvPr id="8" name="矩形 7"/>
          <p:cNvSpPr/>
          <p:nvPr/>
        </p:nvSpPr>
        <p:spPr>
          <a:xfrm>
            <a:off x="3295347" y="4404044"/>
            <a:ext cx="8596402"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任务级或过程级并行：指的是并行执行两个或多个过程或任务</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程序段</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 </a:t>
            </a:r>
          </a:p>
        </p:txBody>
      </p:sp>
      <p:sp>
        <p:nvSpPr>
          <p:cNvPr id="9" name="矩形 8"/>
          <p:cNvSpPr/>
          <p:nvPr/>
        </p:nvSpPr>
        <p:spPr>
          <a:xfrm>
            <a:off x="3237919" y="5771354"/>
            <a:ext cx="9268884" cy="565604"/>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作业或程序级并行：指的是在多个作业或程序间的并行。 </a:t>
            </a:r>
          </a:p>
        </p:txBody>
      </p:sp>
    </p:spTree>
    <p:extLst>
      <p:ext uri="{BB962C8B-B14F-4D97-AF65-F5344CB8AC3E}">
        <p14:creationId xmlns:p14="http://schemas.microsoft.com/office/powerpoint/2010/main" val="3345326522"/>
      </p:ext>
    </p:extLst>
  </p:cSld>
  <p:clrMapOvr>
    <a:masterClrMapping/>
  </p:clrMapOvr>
  <mc:AlternateContent xmlns:mc="http://schemas.openxmlformats.org/markup-compatibility/2006" xmlns:p14="http://schemas.microsoft.com/office/powerpoint/2010/main">
    <mc:Choice Requires="p14">
      <p:transition spd="slow" advTm="4982">
        <p14:gallery dir="l"/>
      </p:transition>
    </mc:Choice>
    <mc:Fallback xmlns="">
      <p:transition spd="slow" advTm="4982">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18795" y="301701"/>
            <a:ext cx="8514730"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b="1" dirty="0">
                <a:solidFill>
                  <a:schemeClr val="tx1"/>
                </a:solidFill>
                <a:latin typeface="微软雅黑" panose="020B0503020204020204" pitchFamily="34" charset="-122"/>
                <a:ea typeface="微软雅黑" panose="020B0503020204020204" pitchFamily="34" charset="-122"/>
              </a:rPr>
              <a:t>并行性等级划分：从处理数据的角度 </a:t>
            </a: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矩形 7"/>
          <p:cNvSpPr/>
          <p:nvPr/>
        </p:nvSpPr>
        <p:spPr bwMode="auto">
          <a:xfrm>
            <a:off x="2712951" y="1646051"/>
            <a:ext cx="6033932" cy="74956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9" name="右箭头 8"/>
          <p:cNvSpPr/>
          <p:nvPr/>
        </p:nvSpPr>
        <p:spPr bwMode="auto">
          <a:xfrm>
            <a:off x="2640971" y="1790010"/>
            <a:ext cx="575839" cy="461640"/>
          </a:xfrm>
          <a:prstGeom prst="rightArrow">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0" name="矩形 9"/>
          <p:cNvSpPr/>
          <p:nvPr/>
        </p:nvSpPr>
        <p:spPr bwMode="auto">
          <a:xfrm>
            <a:off x="312683" y="1646051"/>
            <a:ext cx="2447316" cy="749560"/>
          </a:xfrm>
          <a:prstGeom prst="rect">
            <a:avLst/>
          </a:prstGeom>
          <a:solidFill>
            <a:srgbClr val="04B0BE"/>
          </a:solidFill>
          <a:ln w="9525" cap="flat" cmpd="sng" algn="ctr">
            <a:solidFill>
              <a:srgbClr val="04B0BE"/>
            </a:solid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1" name="矩形 10"/>
          <p:cNvSpPr/>
          <p:nvPr/>
        </p:nvSpPr>
        <p:spPr bwMode="auto">
          <a:xfrm>
            <a:off x="2640971" y="2764965"/>
            <a:ext cx="9218410" cy="74956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12" name="右箭头 11"/>
          <p:cNvSpPr/>
          <p:nvPr/>
        </p:nvSpPr>
        <p:spPr bwMode="auto">
          <a:xfrm>
            <a:off x="2640971" y="2908924"/>
            <a:ext cx="575839" cy="461640"/>
          </a:xfrm>
          <a:prstGeom prst="rightArrow">
            <a:avLst/>
          </a:prstGeom>
          <a:solidFill>
            <a:schemeClr val="accent4"/>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3" name="矩形 12"/>
          <p:cNvSpPr/>
          <p:nvPr/>
        </p:nvSpPr>
        <p:spPr bwMode="auto">
          <a:xfrm>
            <a:off x="312683" y="2764965"/>
            <a:ext cx="2447316" cy="749560"/>
          </a:xfrm>
          <a:prstGeom prst="rect">
            <a:avLst/>
          </a:prstGeom>
          <a:solidFill>
            <a:schemeClr val="accent4"/>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14" name="矩形 13"/>
          <p:cNvSpPr/>
          <p:nvPr/>
        </p:nvSpPr>
        <p:spPr bwMode="auto">
          <a:xfrm>
            <a:off x="2712950" y="3915397"/>
            <a:ext cx="7427715" cy="74956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15" name="右箭头 14"/>
          <p:cNvSpPr/>
          <p:nvPr/>
        </p:nvSpPr>
        <p:spPr bwMode="auto">
          <a:xfrm>
            <a:off x="2640971" y="4059357"/>
            <a:ext cx="575839" cy="461640"/>
          </a:xfrm>
          <a:prstGeom prst="rightArrow">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6" name="矩形 15"/>
          <p:cNvSpPr/>
          <p:nvPr/>
        </p:nvSpPr>
        <p:spPr bwMode="auto">
          <a:xfrm>
            <a:off x="312683" y="3915397"/>
            <a:ext cx="2447316" cy="749560"/>
          </a:xfrm>
          <a:prstGeom prst="rect">
            <a:avLst/>
          </a:prstGeom>
          <a:solidFill>
            <a:srgbClr val="92D050"/>
          </a:solidFill>
          <a:ln w="9525" cap="flat" cmpd="sng" algn="ctr">
            <a:solidFill>
              <a:srgbClr val="92D050"/>
            </a:solid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17" name="矩形 16"/>
          <p:cNvSpPr/>
          <p:nvPr/>
        </p:nvSpPr>
        <p:spPr bwMode="auto">
          <a:xfrm>
            <a:off x="2712950" y="5113109"/>
            <a:ext cx="7427715" cy="749560"/>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18" name="右箭头 17"/>
          <p:cNvSpPr/>
          <p:nvPr/>
        </p:nvSpPr>
        <p:spPr bwMode="auto">
          <a:xfrm>
            <a:off x="2640971" y="5257067"/>
            <a:ext cx="575839" cy="461640"/>
          </a:xfrm>
          <a:prstGeom prst="rightArrow">
            <a:avLst/>
          </a:prstGeom>
          <a:solidFill>
            <a:srgbClr val="01C0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9" name="矩形 18"/>
          <p:cNvSpPr/>
          <p:nvPr/>
        </p:nvSpPr>
        <p:spPr bwMode="auto">
          <a:xfrm>
            <a:off x="265635" y="5113109"/>
            <a:ext cx="2447316" cy="749560"/>
          </a:xfrm>
          <a:prstGeom prst="rect">
            <a:avLst/>
          </a:prstGeom>
          <a:solidFill>
            <a:srgbClr val="01C0B0"/>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91398" tIns="45699" rIns="91398" bIns="45699" numCol="1" rtlCol="0" anchor="t" anchorCtr="0" compatLnSpc="1">
            <a:prstTxWarp prst="textNoShape">
              <a:avLst/>
            </a:prstTxWarp>
          </a:bodyPr>
          <a:lstStyle/>
          <a:p>
            <a:endParaRPr lang="zh-CN" altLang="en-US" sz="1799"/>
          </a:p>
        </p:txBody>
      </p:sp>
      <p:sp>
        <p:nvSpPr>
          <p:cNvPr id="28"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763361" y="1775815"/>
            <a:ext cx="1620957"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字串位串</a:t>
            </a:r>
          </a:p>
        </p:txBody>
      </p:sp>
      <p:sp>
        <p:nvSpPr>
          <p:cNvPr id="3" name="矩形 2"/>
          <p:cNvSpPr/>
          <p:nvPr/>
        </p:nvSpPr>
        <p:spPr>
          <a:xfrm>
            <a:off x="853976" y="2848575"/>
            <a:ext cx="1620957"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字串位并</a:t>
            </a:r>
          </a:p>
        </p:txBody>
      </p:sp>
      <p:sp>
        <p:nvSpPr>
          <p:cNvPr id="4" name="矩形 3"/>
          <p:cNvSpPr/>
          <p:nvPr/>
        </p:nvSpPr>
        <p:spPr>
          <a:xfrm>
            <a:off x="763361" y="4045162"/>
            <a:ext cx="1620957"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字并位串</a:t>
            </a:r>
          </a:p>
        </p:txBody>
      </p:sp>
      <p:sp>
        <p:nvSpPr>
          <p:cNvPr id="29" name="矩形 28"/>
          <p:cNvSpPr/>
          <p:nvPr/>
        </p:nvSpPr>
        <p:spPr>
          <a:xfrm>
            <a:off x="796541" y="5242872"/>
            <a:ext cx="1261884"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全并行</a:t>
            </a:r>
          </a:p>
        </p:txBody>
      </p:sp>
      <p:sp>
        <p:nvSpPr>
          <p:cNvPr id="30" name="矩形 29"/>
          <p:cNvSpPr/>
          <p:nvPr/>
        </p:nvSpPr>
        <p:spPr>
          <a:xfrm>
            <a:off x="3183989" y="1790010"/>
            <a:ext cx="5676554"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同时只对一个字的一位进行处理。 </a:t>
            </a:r>
          </a:p>
        </p:txBody>
      </p:sp>
      <p:sp>
        <p:nvSpPr>
          <p:cNvPr id="31" name="矩形 30"/>
          <p:cNvSpPr/>
          <p:nvPr/>
        </p:nvSpPr>
        <p:spPr>
          <a:xfrm>
            <a:off x="3121274" y="2884224"/>
            <a:ext cx="9161482"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同时对一个字的全部位进行处理，不同字之间是串行的。</a:t>
            </a:r>
          </a:p>
        </p:txBody>
      </p:sp>
      <p:sp>
        <p:nvSpPr>
          <p:cNvPr id="32" name="矩形 31"/>
          <p:cNvSpPr/>
          <p:nvPr/>
        </p:nvSpPr>
        <p:spPr>
          <a:xfrm>
            <a:off x="3198442" y="4059357"/>
            <a:ext cx="6888424"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同时对许多字的同一位</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称位片</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进行处理。</a:t>
            </a:r>
          </a:p>
        </p:txBody>
      </p:sp>
      <p:sp>
        <p:nvSpPr>
          <p:cNvPr id="33" name="矩形 32"/>
          <p:cNvSpPr/>
          <p:nvPr/>
        </p:nvSpPr>
        <p:spPr>
          <a:xfrm>
            <a:off x="3183989" y="5242872"/>
            <a:ext cx="6647974" cy="523220"/>
          </a:xfrm>
          <a:prstGeom prst="rect">
            <a:avLst/>
          </a:prstGeom>
        </p:spPr>
        <p:txBody>
          <a:bodyPr wrap="none">
            <a:spAutoFit/>
          </a:bodyPr>
          <a:lstStyle/>
          <a:p>
            <a:r>
              <a:rPr lang="zh-CN" altLang="en-US" sz="2800" b="1" dirty="0">
                <a:latin typeface="微软雅黑" panose="020B0503020204020204" pitchFamily="34" charset="-122"/>
                <a:ea typeface="微软雅黑" panose="020B0503020204020204" pitchFamily="34" charset="-122"/>
              </a:rPr>
              <a:t>同时对许多字的全部或部分位进行处理。</a:t>
            </a:r>
          </a:p>
        </p:txBody>
      </p:sp>
    </p:spTree>
    <p:extLst>
      <p:ext uri="{BB962C8B-B14F-4D97-AF65-F5344CB8AC3E}">
        <p14:creationId xmlns:p14="http://schemas.microsoft.com/office/powerpoint/2010/main" val="2876809496"/>
      </p:ext>
    </p:extLst>
  </p:cSld>
  <p:clrMapOvr>
    <a:masterClrMapping/>
  </p:clrMapOvr>
  <mc:AlternateContent xmlns:mc="http://schemas.openxmlformats.org/markup-compatibility/2006" xmlns:p14="http://schemas.microsoft.com/office/powerpoint/2010/main">
    <mc:Choice Requires="p14">
      <p:transition spd="slow" advTm="8060">
        <p14:gallery dir="l"/>
      </p:transition>
    </mc:Choice>
    <mc:Fallback xmlns="">
      <p:transition spd="slow" advTm="806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328661"/>
            <a:ext cx="5974331"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b="1" dirty="0">
                <a:solidFill>
                  <a:schemeClr val="tx1"/>
                </a:solidFill>
                <a:latin typeface="微软雅黑" panose="020B0503020204020204" pitchFamily="34" charset="-122"/>
                <a:ea typeface="微软雅黑" panose="020B0503020204020204" pitchFamily="34" charset="-122"/>
              </a:rPr>
              <a:t>提高并行性的技术途径</a:t>
            </a:r>
          </a:p>
        </p:txBody>
      </p:sp>
      <p:grpSp>
        <p:nvGrpSpPr>
          <p:cNvPr id="27" name="组合 26"/>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6"/>
          <p:cNvSpPr>
            <a:spLocks noChangeAspect="1" noChangeArrowheads="1"/>
          </p:cNvSpPr>
          <p:nvPr/>
        </p:nvSpPr>
        <p:spPr bwMode="auto">
          <a:xfrm>
            <a:off x="6129468" y="4076979"/>
            <a:ext cx="1435755" cy="1439438"/>
          </a:xfrm>
          <a:prstGeom prst="ellipse">
            <a:avLst/>
          </a:pr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7"/>
          <p:cNvSpPr>
            <a:spLocks noChangeAspect="1" noChangeArrowheads="1"/>
          </p:cNvSpPr>
          <p:nvPr/>
        </p:nvSpPr>
        <p:spPr bwMode="auto">
          <a:xfrm>
            <a:off x="8124834" y="2709201"/>
            <a:ext cx="1437597" cy="1439438"/>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Oval 8"/>
          <p:cNvSpPr>
            <a:spLocks noChangeAspect="1" noChangeArrowheads="1"/>
          </p:cNvSpPr>
          <p:nvPr/>
        </p:nvSpPr>
        <p:spPr bwMode="auto">
          <a:xfrm>
            <a:off x="10056895" y="1341743"/>
            <a:ext cx="1437597" cy="1439438"/>
          </a:xfrm>
          <a:prstGeom prst="ellipse">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9"/>
          <p:cNvSpPr>
            <a:spLocks/>
          </p:cNvSpPr>
          <p:nvPr/>
        </p:nvSpPr>
        <p:spPr bwMode="auto">
          <a:xfrm>
            <a:off x="5664121" y="2836734"/>
            <a:ext cx="6581779" cy="4019931"/>
          </a:xfrm>
          <a:custGeom>
            <a:avLst/>
            <a:gdLst/>
            <a:ahLst/>
            <a:cxnLst/>
            <a:rect l="l" t="t" r="r" b="b"/>
            <a:pathLst>
              <a:path w="5358466" h="3767155">
                <a:moveTo>
                  <a:pt x="3479568" y="0"/>
                </a:moveTo>
                <a:lnTo>
                  <a:pt x="3618115" y="0"/>
                </a:lnTo>
                <a:lnTo>
                  <a:pt x="5358466" y="0"/>
                </a:lnTo>
                <a:lnTo>
                  <a:pt x="5358466" y="138769"/>
                </a:lnTo>
                <a:lnTo>
                  <a:pt x="3618115" y="138769"/>
                </a:lnTo>
                <a:lnTo>
                  <a:pt x="3618115" y="1287028"/>
                </a:lnTo>
                <a:lnTo>
                  <a:pt x="3618115" y="1425797"/>
                </a:lnTo>
                <a:lnTo>
                  <a:pt x="3479568" y="1425797"/>
                </a:lnTo>
                <a:lnTo>
                  <a:pt x="1878331" y="1425797"/>
                </a:lnTo>
                <a:lnTo>
                  <a:pt x="1878331" y="2574055"/>
                </a:lnTo>
                <a:lnTo>
                  <a:pt x="1878331" y="2712824"/>
                </a:lnTo>
                <a:lnTo>
                  <a:pt x="1739784" y="2712824"/>
                </a:lnTo>
                <a:lnTo>
                  <a:pt x="138547" y="2712824"/>
                </a:lnTo>
                <a:lnTo>
                  <a:pt x="138547" y="3767155"/>
                </a:lnTo>
                <a:lnTo>
                  <a:pt x="0" y="3767155"/>
                </a:lnTo>
                <a:lnTo>
                  <a:pt x="0" y="2712824"/>
                </a:lnTo>
                <a:lnTo>
                  <a:pt x="0" y="2574055"/>
                </a:lnTo>
                <a:lnTo>
                  <a:pt x="138547" y="2574055"/>
                </a:lnTo>
                <a:lnTo>
                  <a:pt x="1739784" y="2574055"/>
                </a:lnTo>
                <a:lnTo>
                  <a:pt x="1739784" y="1425797"/>
                </a:lnTo>
                <a:lnTo>
                  <a:pt x="1739784" y="1287028"/>
                </a:lnTo>
                <a:lnTo>
                  <a:pt x="1878331" y="1287028"/>
                </a:lnTo>
                <a:lnTo>
                  <a:pt x="3479568" y="1287028"/>
                </a:lnTo>
                <a:lnTo>
                  <a:pt x="3479568" y="138769"/>
                </a:lnTo>
                <a:close/>
              </a:path>
            </a:pathLst>
          </a:custGeom>
          <a:solidFill>
            <a:schemeClr val="accent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Line 10"/>
          <p:cNvSpPr>
            <a:spLocks noChangeShapeType="1"/>
          </p:cNvSpPr>
          <p:nvPr/>
        </p:nvSpPr>
        <p:spPr bwMode="auto">
          <a:xfrm flipH="1">
            <a:off x="4800363" y="4792654"/>
            <a:ext cx="1114472" cy="0"/>
          </a:xfrm>
          <a:prstGeom prst="line">
            <a:avLst/>
          </a:prstGeom>
          <a:noFill/>
          <a:ln w="12700" cap="flat">
            <a:solidFill>
              <a:schemeClr val="accent1"/>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Line 11"/>
          <p:cNvSpPr>
            <a:spLocks noChangeShapeType="1"/>
          </p:cNvSpPr>
          <p:nvPr/>
        </p:nvSpPr>
        <p:spPr bwMode="auto">
          <a:xfrm flipH="1">
            <a:off x="5914833" y="3428920"/>
            <a:ext cx="2052640" cy="0"/>
          </a:xfrm>
          <a:prstGeom prst="line">
            <a:avLst/>
          </a:prstGeom>
          <a:noFill/>
          <a:ln w="12700" cap="flat">
            <a:solidFill>
              <a:srgbClr val="92D050"/>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Line 12"/>
          <p:cNvSpPr>
            <a:spLocks noChangeShapeType="1"/>
          </p:cNvSpPr>
          <p:nvPr/>
        </p:nvSpPr>
        <p:spPr bwMode="auto">
          <a:xfrm flipH="1">
            <a:off x="6847344" y="2061462"/>
            <a:ext cx="3063587" cy="0"/>
          </a:xfrm>
          <a:prstGeom prst="line">
            <a:avLst/>
          </a:prstGeom>
          <a:noFill/>
          <a:ln w="12700" cap="flat">
            <a:solidFill>
              <a:srgbClr val="FFC000"/>
            </a:solidFill>
            <a:prstDash val="solid"/>
            <a:miter lim="800000"/>
            <a:headEnd type="oval" w="med" len="med"/>
            <a:tailEnd type="oval" w="med" len="me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24"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4" name="矩形 3"/>
          <p:cNvSpPr/>
          <p:nvPr/>
        </p:nvSpPr>
        <p:spPr>
          <a:xfrm>
            <a:off x="4088692" y="1742478"/>
            <a:ext cx="1826141" cy="584775"/>
          </a:xfrm>
          <a:prstGeom prst="rect">
            <a:avLst/>
          </a:prstGeom>
        </p:spPr>
        <p:txBody>
          <a:bodyPr wrap="none">
            <a:spAutoFit/>
          </a:bodyPr>
          <a:lstStyle/>
          <a:p>
            <a:r>
              <a:rPr lang="zh-CN" altLang="en-US" sz="3200" b="1" dirty="0">
                <a:latin typeface="微软雅黑" panose="020B0503020204020204" pitchFamily="34" charset="-122"/>
                <a:ea typeface="微软雅黑" panose="020B0503020204020204" pitchFamily="34" charset="-122"/>
              </a:rPr>
              <a:t>时间重叠</a:t>
            </a:r>
          </a:p>
        </p:txBody>
      </p:sp>
      <p:sp>
        <p:nvSpPr>
          <p:cNvPr id="21" name="矩形 20"/>
          <p:cNvSpPr/>
          <p:nvPr/>
        </p:nvSpPr>
        <p:spPr>
          <a:xfrm>
            <a:off x="2719271" y="3030413"/>
            <a:ext cx="1826141" cy="584775"/>
          </a:xfrm>
          <a:prstGeom prst="rect">
            <a:avLst/>
          </a:prstGeom>
        </p:spPr>
        <p:txBody>
          <a:bodyPr wrap="none">
            <a:spAutoFit/>
          </a:bodyPr>
          <a:lstStyle/>
          <a:p>
            <a:r>
              <a:rPr lang="zh-CN" altLang="en-US" sz="3200" b="1" dirty="0">
                <a:latin typeface="微软雅黑" panose="020B0503020204020204" pitchFamily="34" charset="-122"/>
                <a:ea typeface="微软雅黑" panose="020B0503020204020204" pitchFamily="34" charset="-122"/>
              </a:rPr>
              <a:t>资源重复</a:t>
            </a:r>
          </a:p>
        </p:txBody>
      </p:sp>
      <p:sp>
        <p:nvSpPr>
          <p:cNvPr id="25" name="矩形 24"/>
          <p:cNvSpPr/>
          <p:nvPr/>
        </p:nvSpPr>
        <p:spPr>
          <a:xfrm>
            <a:off x="1448791" y="4500266"/>
            <a:ext cx="1826141" cy="584775"/>
          </a:xfrm>
          <a:prstGeom prst="rect">
            <a:avLst/>
          </a:prstGeom>
        </p:spPr>
        <p:txBody>
          <a:bodyPr wrap="none">
            <a:spAutoFit/>
          </a:bodyPr>
          <a:lstStyle/>
          <a:p>
            <a:r>
              <a:rPr lang="zh-CN" altLang="en-US" sz="3200" b="1" dirty="0">
                <a:latin typeface="微软雅黑" panose="020B0503020204020204" pitchFamily="34" charset="-122"/>
                <a:ea typeface="微软雅黑" panose="020B0503020204020204" pitchFamily="34" charset="-122"/>
              </a:rPr>
              <a:t>资源共享</a:t>
            </a:r>
          </a:p>
        </p:txBody>
      </p:sp>
      <p:sp>
        <p:nvSpPr>
          <p:cNvPr id="26" name="文本框 25"/>
          <p:cNvSpPr txBox="1"/>
          <p:nvPr/>
        </p:nvSpPr>
        <p:spPr>
          <a:xfrm>
            <a:off x="10468172" y="1637108"/>
            <a:ext cx="1026320" cy="923330"/>
          </a:xfrm>
          <a:prstGeom prst="rect">
            <a:avLst/>
          </a:prstGeom>
          <a:noFill/>
        </p:spPr>
        <p:txBody>
          <a:bodyPr wrap="square" rtlCol="0">
            <a:spAutoFit/>
          </a:bodyPr>
          <a:lstStyle/>
          <a:p>
            <a:r>
              <a:rPr lang="en-US" altLang="zh-CN" sz="5400" b="1" dirty="0">
                <a:solidFill>
                  <a:schemeClr val="bg1"/>
                </a:solidFill>
                <a:latin typeface="微软雅黑" panose="020B0503020204020204" pitchFamily="34" charset="-122"/>
                <a:ea typeface="微软雅黑" panose="020B0503020204020204" pitchFamily="34" charset="-122"/>
              </a:rPr>
              <a:t>1</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8536111" y="3030413"/>
            <a:ext cx="1026320" cy="923330"/>
          </a:xfrm>
          <a:prstGeom prst="rect">
            <a:avLst/>
          </a:prstGeom>
          <a:noFill/>
        </p:spPr>
        <p:txBody>
          <a:bodyPr wrap="square" rtlCol="0">
            <a:spAutoFit/>
          </a:bodyPr>
          <a:lstStyle/>
          <a:p>
            <a:r>
              <a:rPr lang="en-US" altLang="zh-CN" sz="5400" b="1" dirty="0">
                <a:solidFill>
                  <a:schemeClr val="bg1"/>
                </a:solidFill>
                <a:latin typeface="微软雅黑" panose="020B0503020204020204" pitchFamily="34" charset="-122"/>
                <a:ea typeface="微软雅黑" panose="020B0503020204020204" pitchFamily="34" charset="-122"/>
              </a:rPr>
              <a:t>2</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6538903" y="4385034"/>
            <a:ext cx="1026320" cy="923330"/>
          </a:xfrm>
          <a:prstGeom prst="rect">
            <a:avLst/>
          </a:prstGeom>
          <a:noFill/>
        </p:spPr>
        <p:txBody>
          <a:bodyPr wrap="square" rtlCol="0">
            <a:spAutoFit/>
          </a:bodyPr>
          <a:lstStyle/>
          <a:p>
            <a:r>
              <a:rPr lang="en-US" altLang="zh-CN" sz="5400" b="1" dirty="0">
                <a:solidFill>
                  <a:schemeClr val="bg1"/>
                </a:solidFill>
                <a:latin typeface="微软雅黑" panose="020B0503020204020204" pitchFamily="34" charset="-122"/>
                <a:ea typeface="微软雅黑" panose="020B0503020204020204" pitchFamily="34" charset="-122"/>
              </a:rPr>
              <a:t>3</a:t>
            </a:r>
            <a:endParaRPr lang="zh-CN" altLang="en-US" sz="5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4188414"/>
      </p:ext>
    </p:extLst>
  </p:cSld>
  <p:clrMapOvr>
    <a:masterClrMapping/>
  </p:clrMapOvr>
  <mc:AlternateContent xmlns:mc="http://schemas.openxmlformats.org/markup-compatibility/2006" xmlns:p14="http://schemas.microsoft.com/office/powerpoint/2010/main">
    <mc:Choice Requires="p14">
      <p:transition spd="slow" advTm="10732">
        <p14:gallery dir="l"/>
      </p:transition>
    </mc:Choice>
    <mc:Fallback xmlns="">
      <p:transition spd="slow" advTm="10732">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49768" y="269251"/>
            <a:ext cx="1826751" cy="633144"/>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nSpc>
                <a:spcPct val="120000"/>
              </a:lnSpc>
            </a:pPr>
            <a:r>
              <a:rPr lang="zh-CN" altLang="en-US" b="1" dirty="0">
                <a:latin typeface="微软雅黑" panose="020B0503020204020204" pitchFamily="34" charset="-122"/>
                <a:ea typeface="微软雅黑" panose="020B0503020204020204" pitchFamily="34" charset="-122"/>
              </a:rPr>
              <a:t>时间重叠</a:t>
            </a:r>
            <a:endParaRPr lang="zh-CN" altLang="en-US" b="1" dirty="0">
              <a:solidFill>
                <a:schemeClr val="accent1"/>
              </a:solidFill>
              <a:latin typeface="微软雅黑" panose="020B0503020204020204" pitchFamily="34" charset="-122"/>
              <a:ea typeface="微软雅黑" panose="020B0503020204020204" pitchFamily="34" charset="-122"/>
            </a:endParaRPr>
          </a:p>
        </p:txBody>
      </p:sp>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椭圆 10"/>
          <p:cNvSpPr/>
          <p:nvPr/>
        </p:nvSpPr>
        <p:spPr bwMode="auto">
          <a:xfrm>
            <a:off x="188284" y="2818728"/>
            <a:ext cx="1878781" cy="1878781"/>
          </a:xfrm>
          <a:prstGeom prst="ellipse">
            <a:avLst/>
          </a:prstGeom>
          <a:solidFill>
            <a:srgbClr val="04BE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8" name="Freeform 5"/>
          <p:cNvSpPr>
            <a:spLocks noEditPoints="1"/>
          </p:cNvSpPr>
          <p:nvPr/>
        </p:nvSpPr>
        <p:spPr bwMode="auto">
          <a:xfrm>
            <a:off x="723737" y="3261639"/>
            <a:ext cx="891036" cy="1018433"/>
          </a:xfrm>
          <a:custGeom>
            <a:avLst/>
            <a:gdLst>
              <a:gd name="T0" fmla="*/ 1232 w 1933"/>
              <a:gd name="T1" fmla="*/ 274 h 2183"/>
              <a:gd name="T2" fmla="*/ 958 w 1933"/>
              <a:gd name="T3" fmla="*/ 547 h 2183"/>
              <a:gd name="T4" fmla="*/ 684 w 1933"/>
              <a:gd name="T5" fmla="*/ 547 h 2183"/>
              <a:gd name="T6" fmla="*/ 411 w 1933"/>
              <a:gd name="T7" fmla="*/ 274 h 2183"/>
              <a:gd name="T8" fmla="*/ 684 w 1933"/>
              <a:gd name="T9" fmla="*/ 0 h 2183"/>
              <a:gd name="T10" fmla="*/ 958 w 1933"/>
              <a:gd name="T11" fmla="*/ 0 h 2183"/>
              <a:gd name="T12" fmla="*/ 1232 w 1933"/>
              <a:gd name="T13" fmla="*/ 274 h 2183"/>
              <a:gd name="T14" fmla="*/ 1362 w 1933"/>
              <a:gd name="T15" fmla="*/ 274 h 2183"/>
              <a:gd name="T16" fmla="*/ 1368 w 1933"/>
              <a:gd name="T17" fmla="*/ 336 h 2183"/>
              <a:gd name="T18" fmla="*/ 1026 w 1933"/>
              <a:gd name="T19" fmla="*/ 678 h 2183"/>
              <a:gd name="T20" fmla="*/ 616 w 1933"/>
              <a:gd name="T21" fmla="*/ 678 h 2183"/>
              <a:gd name="T22" fmla="*/ 274 w 1933"/>
              <a:gd name="T23" fmla="*/ 336 h 2183"/>
              <a:gd name="T24" fmla="*/ 280 w 1933"/>
              <a:gd name="T25" fmla="*/ 274 h 2183"/>
              <a:gd name="T26" fmla="*/ 0 w 1933"/>
              <a:gd name="T27" fmla="*/ 610 h 2183"/>
              <a:gd name="T28" fmla="*/ 0 w 1933"/>
              <a:gd name="T29" fmla="*/ 1841 h 2183"/>
              <a:gd name="T30" fmla="*/ 342 w 1933"/>
              <a:gd name="T31" fmla="*/ 2183 h 2183"/>
              <a:gd name="T32" fmla="*/ 1253 w 1933"/>
              <a:gd name="T33" fmla="*/ 2183 h 2183"/>
              <a:gd name="T34" fmla="*/ 881 w 1933"/>
              <a:gd name="T35" fmla="*/ 1620 h 2183"/>
              <a:gd name="T36" fmla="*/ 1492 w 1933"/>
              <a:gd name="T37" fmla="*/ 1009 h 2183"/>
              <a:gd name="T38" fmla="*/ 1642 w 1933"/>
              <a:gd name="T39" fmla="*/ 1028 h 2183"/>
              <a:gd name="T40" fmla="*/ 1642 w 1933"/>
              <a:gd name="T41" fmla="*/ 610 h 2183"/>
              <a:gd name="T42" fmla="*/ 1362 w 1933"/>
              <a:gd name="T43" fmla="*/ 274 h 2183"/>
              <a:gd name="T44" fmla="*/ 770 w 1933"/>
              <a:gd name="T45" fmla="*/ 1368 h 2183"/>
              <a:gd name="T46" fmla="*/ 770 w 1933"/>
              <a:gd name="T47" fmla="*/ 1368 h 2183"/>
              <a:gd name="T48" fmla="*/ 342 w 1933"/>
              <a:gd name="T49" fmla="*/ 1368 h 2183"/>
              <a:gd name="T50" fmla="*/ 274 w 1933"/>
              <a:gd name="T51" fmla="*/ 1300 h 2183"/>
              <a:gd name="T52" fmla="*/ 342 w 1933"/>
              <a:gd name="T53" fmla="*/ 1232 h 2183"/>
              <a:gd name="T54" fmla="*/ 770 w 1933"/>
              <a:gd name="T55" fmla="*/ 1232 h 2183"/>
              <a:gd name="T56" fmla="*/ 838 w 1933"/>
              <a:gd name="T57" fmla="*/ 1300 h 2183"/>
              <a:gd name="T58" fmla="*/ 770 w 1933"/>
              <a:gd name="T59" fmla="*/ 1368 h 2183"/>
              <a:gd name="T60" fmla="*/ 907 w 1933"/>
              <a:gd name="T61" fmla="*/ 1095 h 2183"/>
              <a:gd name="T62" fmla="*/ 907 w 1933"/>
              <a:gd name="T63" fmla="*/ 1095 h 2183"/>
              <a:gd name="T64" fmla="*/ 342 w 1933"/>
              <a:gd name="T65" fmla="*/ 1095 h 2183"/>
              <a:gd name="T66" fmla="*/ 274 w 1933"/>
              <a:gd name="T67" fmla="*/ 1026 h 2183"/>
              <a:gd name="T68" fmla="*/ 342 w 1933"/>
              <a:gd name="T69" fmla="*/ 958 h 2183"/>
              <a:gd name="T70" fmla="*/ 907 w 1933"/>
              <a:gd name="T71" fmla="*/ 958 h 2183"/>
              <a:gd name="T72" fmla="*/ 975 w 1933"/>
              <a:gd name="T73" fmla="*/ 1026 h 2183"/>
              <a:gd name="T74" fmla="*/ 907 w 1933"/>
              <a:gd name="T75" fmla="*/ 1095 h 2183"/>
              <a:gd name="T76" fmla="*/ 1605 w 1933"/>
              <a:gd name="T77" fmla="*/ 1197 h 2183"/>
              <a:gd name="T78" fmla="*/ 1497 w 1933"/>
              <a:gd name="T79" fmla="*/ 1183 h 2183"/>
              <a:gd name="T80" fmla="*/ 1060 w 1933"/>
              <a:gd name="T81" fmla="*/ 1619 h 2183"/>
              <a:gd name="T82" fmla="*/ 1405 w 1933"/>
              <a:gd name="T83" fmla="*/ 2045 h 2183"/>
              <a:gd name="T84" fmla="*/ 1497 w 1933"/>
              <a:gd name="T85" fmla="*/ 2055 h 2183"/>
              <a:gd name="T86" fmla="*/ 1933 w 1933"/>
              <a:gd name="T87" fmla="*/ 1619 h 2183"/>
              <a:gd name="T88" fmla="*/ 1605 w 1933"/>
              <a:gd name="T89" fmla="*/ 1197 h 2183"/>
              <a:gd name="T90" fmla="*/ 1743 w 1933"/>
              <a:gd name="T91" fmla="*/ 1557 h 2183"/>
              <a:gd name="T92" fmla="*/ 1743 w 1933"/>
              <a:gd name="T93" fmla="*/ 1557 h 2183"/>
              <a:gd name="T94" fmla="*/ 1605 w 1933"/>
              <a:gd name="T95" fmla="*/ 1695 h 2183"/>
              <a:gd name="T96" fmla="*/ 1497 w 1933"/>
              <a:gd name="T97" fmla="*/ 1804 h 2183"/>
              <a:gd name="T98" fmla="*/ 1373 w 1933"/>
              <a:gd name="T99" fmla="*/ 1804 h 2183"/>
              <a:gd name="T100" fmla="*/ 1250 w 1933"/>
              <a:gd name="T101" fmla="*/ 1681 h 2183"/>
              <a:gd name="T102" fmla="*/ 1250 w 1933"/>
              <a:gd name="T103" fmla="*/ 1557 h 2183"/>
              <a:gd name="T104" fmla="*/ 1373 w 1933"/>
              <a:gd name="T105" fmla="*/ 1557 h 2183"/>
              <a:gd name="T106" fmla="*/ 1435 w 1933"/>
              <a:gd name="T107" fmla="*/ 1619 h 2183"/>
              <a:gd name="T108" fmla="*/ 1605 w 1933"/>
              <a:gd name="T109" fmla="*/ 1448 h 2183"/>
              <a:gd name="T110" fmla="*/ 1620 w 1933"/>
              <a:gd name="T111" fmla="*/ 1434 h 2183"/>
              <a:gd name="T112" fmla="*/ 1743 w 1933"/>
              <a:gd name="T113" fmla="*/ 1434 h 2183"/>
              <a:gd name="T114" fmla="*/ 1743 w 1933"/>
              <a:gd name="T115" fmla="*/ 1557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33" h="2183">
                <a:moveTo>
                  <a:pt x="1232" y="274"/>
                </a:moveTo>
                <a:cubicBezTo>
                  <a:pt x="1232" y="425"/>
                  <a:pt x="1109" y="547"/>
                  <a:pt x="958" y="547"/>
                </a:cubicBezTo>
                <a:lnTo>
                  <a:pt x="684" y="547"/>
                </a:lnTo>
                <a:cubicBezTo>
                  <a:pt x="533" y="547"/>
                  <a:pt x="411" y="425"/>
                  <a:pt x="411" y="274"/>
                </a:cubicBezTo>
                <a:cubicBezTo>
                  <a:pt x="411" y="122"/>
                  <a:pt x="533" y="0"/>
                  <a:pt x="684" y="0"/>
                </a:cubicBezTo>
                <a:lnTo>
                  <a:pt x="958" y="0"/>
                </a:lnTo>
                <a:cubicBezTo>
                  <a:pt x="1109" y="0"/>
                  <a:pt x="1232" y="122"/>
                  <a:pt x="1232" y="274"/>
                </a:cubicBezTo>
                <a:close/>
                <a:moveTo>
                  <a:pt x="1362" y="274"/>
                </a:moveTo>
                <a:cubicBezTo>
                  <a:pt x="1366" y="294"/>
                  <a:pt x="1368" y="315"/>
                  <a:pt x="1368" y="336"/>
                </a:cubicBezTo>
                <a:cubicBezTo>
                  <a:pt x="1368" y="525"/>
                  <a:pt x="1215" y="678"/>
                  <a:pt x="1026" y="678"/>
                </a:cubicBezTo>
                <a:lnTo>
                  <a:pt x="616" y="678"/>
                </a:lnTo>
                <a:cubicBezTo>
                  <a:pt x="427" y="678"/>
                  <a:pt x="274" y="525"/>
                  <a:pt x="274" y="336"/>
                </a:cubicBezTo>
                <a:cubicBezTo>
                  <a:pt x="274" y="315"/>
                  <a:pt x="276" y="294"/>
                  <a:pt x="280" y="274"/>
                </a:cubicBezTo>
                <a:cubicBezTo>
                  <a:pt x="121" y="303"/>
                  <a:pt x="0" y="442"/>
                  <a:pt x="0" y="610"/>
                </a:cubicBezTo>
                <a:lnTo>
                  <a:pt x="0" y="1841"/>
                </a:lnTo>
                <a:cubicBezTo>
                  <a:pt x="0" y="2030"/>
                  <a:pt x="153" y="2183"/>
                  <a:pt x="342" y="2183"/>
                </a:cubicBezTo>
                <a:lnTo>
                  <a:pt x="1253" y="2183"/>
                </a:lnTo>
                <a:cubicBezTo>
                  <a:pt x="1034" y="2090"/>
                  <a:pt x="881" y="1873"/>
                  <a:pt x="881" y="1620"/>
                </a:cubicBezTo>
                <a:cubicBezTo>
                  <a:pt x="881" y="1283"/>
                  <a:pt x="1155" y="1009"/>
                  <a:pt x="1492" y="1009"/>
                </a:cubicBezTo>
                <a:cubicBezTo>
                  <a:pt x="1544" y="1009"/>
                  <a:pt x="1594" y="1016"/>
                  <a:pt x="1642" y="1028"/>
                </a:cubicBezTo>
                <a:lnTo>
                  <a:pt x="1642" y="610"/>
                </a:lnTo>
                <a:cubicBezTo>
                  <a:pt x="1642" y="442"/>
                  <a:pt x="1521" y="303"/>
                  <a:pt x="1362" y="274"/>
                </a:cubicBezTo>
                <a:close/>
                <a:moveTo>
                  <a:pt x="770" y="1368"/>
                </a:moveTo>
                <a:lnTo>
                  <a:pt x="770" y="1368"/>
                </a:lnTo>
                <a:lnTo>
                  <a:pt x="342" y="1368"/>
                </a:lnTo>
                <a:cubicBezTo>
                  <a:pt x="304" y="1368"/>
                  <a:pt x="274" y="1338"/>
                  <a:pt x="274" y="1300"/>
                </a:cubicBezTo>
                <a:cubicBezTo>
                  <a:pt x="274" y="1262"/>
                  <a:pt x="304" y="1232"/>
                  <a:pt x="342" y="1232"/>
                </a:cubicBezTo>
                <a:lnTo>
                  <a:pt x="770" y="1232"/>
                </a:lnTo>
                <a:cubicBezTo>
                  <a:pt x="807" y="1232"/>
                  <a:pt x="838" y="1262"/>
                  <a:pt x="838" y="1300"/>
                </a:cubicBezTo>
                <a:cubicBezTo>
                  <a:pt x="838" y="1338"/>
                  <a:pt x="807" y="1368"/>
                  <a:pt x="770" y="1368"/>
                </a:cubicBezTo>
                <a:close/>
                <a:moveTo>
                  <a:pt x="907" y="1095"/>
                </a:moveTo>
                <a:lnTo>
                  <a:pt x="907" y="1095"/>
                </a:lnTo>
                <a:lnTo>
                  <a:pt x="342" y="1095"/>
                </a:lnTo>
                <a:cubicBezTo>
                  <a:pt x="304" y="1095"/>
                  <a:pt x="274" y="1064"/>
                  <a:pt x="274" y="1026"/>
                </a:cubicBezTo>
                <a:cubicBezTo>
                  <a:pt x="274" y="988"/>
                  <a:pt x="304" y="958"/>
                  <a:pt x="342" y="958"/>
                </a:cubicBezTo>
                <a:lnTo>
                  <a:pt x="907" y="958"/>
                </a:lnTo>
                <a:cubicBezTo>
                  <a:pt x="944" y="958"/>
                  <a:pt x="975" y="988"/>
                  <a:pt x="975" y="1026"/>
                </a:cubicBezTo>
                <a:cubicBezTo>
                  <a:pt x="975" y="1064"/>
                  <a:pt x="944" y="1095"/>
                  <a:pt x="907" y="1095"/>
                </a:cubicBezTo>
                <a:close/>
                <a:moveTo>
                  <a:pt x="1605" y="1197"/>
                </a:moveTo>
                <a:cubicBezTo>
                  <a:pt x="1571" y="1187"/>
                  <a:pt x="1534" y="1183"/>
                  <a:pt x="1497" y="1183"/>
                </a:cubicBezTo>
                <a:cubicBezTo>
                  <a:pt x="1256" y="1183"/>
                  <a:pt x="1060" y="1378"/>
                  <a:pt x="1060" y="1619"/>
                </a:cubicBezTo>
                <a:cubicBezTo>
                  <a:pt x="1060" y="1828"/>
                  <a:pt x="1208" y="2003"/>
                  <a:pt x="1405" y="2045"/>
                </a:cubicBezTo>
                <a:cubicBezTo>
                  <a:pt x="1434" y="2051"/>
                  <a:pt x="1465" y="2055"/>
                  <a:pt x="1497" y="2055"/>
                </a:cubicBezTo>
                <a:cubicBezTo>
                  <a:pt x="1737" y="2055"/>
                  <a:pt x="1933" y="1860"/>
                  <a:pt x="1933" y="1619"/>
                </a:cubicBezTo>
                <a:cubicBezTo>
                  <a:pt x="1933" y="1416"/>
                  <a:pt x="1794" y="1245"/>
                  <a:pt x="1605" y="1197"/>
                </a:cubicBezTo>
                <a:close/>
                <a:moveTo>
                  <a:pt x="1743" y="1557"/>
                </a:moveTo>
                <a:lnTo>
                  <a:pt x="1743" y="1557"/>
                </a:lnTo>
                <a:lnTo>
                  <a:pt x="1605" y="1695"/>
                </a:lnTo>
                <a:lnTo>
                  <a:pt x="1497" y="1804"/>
                </a:lnTo>
                <a:cubicBezTo>
                  <a:pt x="1462" y="1838"/>
                  <a:pt x="1407" y="1838"/>
                  <a:pt x="1373" y="1804"/>
                </a:cubicBezTo>
                <a:lnTo>
                  <a:pt x="1250" y="1681"/>
                </a:lnTo>
                <a:cubicBezTo>
                  <a:pt x="1216" y="1646"/>
                  <a:pt x="1216" y="1591"/>
                  <a:pt x="1250" y="1557"/>
                </a:cubicBezTo>
                <a:cubicBezTo>
                  <a:pt x="1284" y="1523"/>
                  <a:pt x="1339" y="1523"/>
                  <a:pt x="1373" y="1557"/>
                </a:cubicBezTo>
                <a:lnTo>
                  <a:pt x="1435" y="1619"/>
                </a:lnTo>
                <a:lnTo>
                  <a:pt x="1605" y="1448"/>
                </a:lnTo>
                <a:lnTo>
                  <a:pt x="1620" y="1434"/>
                </a:lnTo>
                <a:cubicBezTo>
                  <a:pt x="1654" y="1400"/>
                  <a:pt x="1709" y="1400"/>
                  <a:pt x="1743" y="1434"/>
                </a:cubicBezTo>
                <a:cubicBezTo>
                  <a:pt x="1777" y="1468"/>
                  <a:pt x="1777" y="1523"/>
                  <a:pt x="1743" y="1557"/>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0" name="椭圆 29"/>
          <p:cNvSpPr>
            <a:spLocks noChangeAspect="1"/>
          </p:cNvSpPr>
          <p:nvPr/>
        </p:nvSpPr>
        <p:spPr bwMode="auto">
          <a:xfrm>
            <a:off x="2403313" y="1407764"/>
            <a:ext cx="417437" cy="417437"/>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1</a:t>
            </a:r>
            <a:endParaRPr lang="zh-CN" altLang="en-US" sz="1599" b="1" dirty="0">
              <a:solidFill>
                <a:schemeClr val="bg1"/>
              </a:solidFill>
              <a:latin typeface="+mn-ea"/>
            </a:endParaRPr>
          </a:p>
        </p:txBody>
      </p:sp>
      <p:sp>
        <p:nvSpPr>
          <p:cNvPr id="32" name="椭圆 31"/>
          <p:cNvSpPr>
            <a:spLocks noChangeAspect="1"/>
          </p:cNvSpPr>
          <p:nvPr/>
        </p:nvSpPr>
        <p:spPr bwMode="auto">
          <a:xfrm>
            <a:off x="2412180" y="2818728"/>
            <a:ext cx="417437" cy="417437"/>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2</a:t>
            </a:r>
            <a:endParaRPr lang="zh-CN" altLang="en-US" sz="1599" b="1" dirty="0">
              <a:solidFill>
                <a:schemeClr val="bg1"/>
              </a:solidFill>
              <a:latin typeface="+mn-ea"/>
            </a:endParaRPr>
          </a:p>
        </p:txBody>
      </p:sp>
      <p:sp>
        <p:nvSpPr>
          <p:cNvPr id="34" name="椭圆 33"/>
          <p:cNvSpPr>
            <a:spLocks noChangeAspect="1"/>
          </p:cNvSpPr>
          <p:nvPr/>
        </p:nvSpPr>
        <p:spPr bwMode="auto">
          <a:xfrm>
            <a:off x="2387954" y="4230241"/>
            <a:ext cx="417437" cy="417437"/>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3</a:t>
            </a:r>
            <a:endParaRPr lang="zh-CN" altLang="en-US" sz="1599" b="1" dirty="0">
              <a:solidFill>
                <a:schemeClr val="bg1"/>
              </a:solidFill>
              <a:latin typeface="+mn-ea"/>
            </a:endParaRPr>
          </a:p>
        </p:txBody>
      </p:sp>
      <p:sp>
        <p:nvSpPr>
          <p:cNvPr id="36" name="椭圆 35"/>
          <p:cNvSpPr>
            <a:spLocks noChangeAspect="1"/>
          </p:cNvSpPr>
          <p:nvPr/>
        </p:nvSpPr>
        <p:spPr bwMode="auto">
          <a:xfrm>
            <a:off x="2396822" y="5875183"/>
            <a:ext cx="417437" cy="417437"/>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r>
              <a:rPr lang="en-US" altLang="zh-CN" sz="1599" b="1" dirty="0">
                <a:solidFill>
                  <a:schemeClr val="bg1"/>
                </a:solidFill>
                <a:latin typeface="+mn-ea"/>
              </a:rPr>
              <a:t>4</a:t>
            </a:r>
            <a:endParaRPr lang="zh-CN" altLang="en-US" sz="1599" b="1" dirty="0">
              <a:solidFill>
                <a:schemeClr val="bg1"/>
              </a:solidFill>
              <a:latin typeface="+mn-ea"/>
            </a:endParaRPr>
          </a:p>
        </p:txBody>
      </p:sp>
      <p:sp>
        <p:nvSpPr>
          <p:cNvPr id="19"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 name="矩形 1"/>
          <p:cNvSpPr/>
          <p:nvPr/>
        </p:nvSpPr>
        <p:spPr>
          <a:xfrm>
            <a:off x="3061648" y="931735"/>
            <a:ext cx="8388824" cy="1643527"/>
          </a:xfrm>
          <a:prstGeom prst="rect">
            <a:avLst/>
          </a:prstGeom>
        </p:spPr>
        <p:txBody>
          <a:bodyPr wrap="square">
            <a:spAutoFit/>
          </a:bodyPr>
          <a:lstStyle/>
          <a:p>
            <a:pPr>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时间重叠</a:t>
            </a:r>
            <a:r>
              <a:rPr lang="zh-CN" altLang="en-US" sz="2800" b="1" dirty="0">
                <a:latin typeface="微软雅黑" panose="020B0503020204020204" pitchFamily="34" charset="-122"/>
                <a:ea typeface="微软雅黑" panose="020B0503020204020204" pitchFamily="34" charset="-122"/>
              </a:rPr>
              <a:t>：多个处理过程在时间上相互错开，轮流重叠地使用</a:t>
            </a:r>
            <a:r>
              <a:rPr lang="zh-CN" altLang="en-US" sz="2800" b="1" dirty="0">
                <a:solidFill>
                  <a:srgbClr val="0000FF"/>
                </a:solidFill>
                <a:latin typeface="微软雅黑" panose="020B0503020204020204" pitchFamily="34" charset="-122"/>
                <a:ea typeface="微软雅黑" panose="020B0503020204020204" pitchFamily="34" charset="-122"/>
              </a:rPr>
              <a:t>同一套硬件设备</a:t>
            </a:r>
            <a:r>
              <a:rPr lang="zh-CN" altLang="en-US" sz="2800" b="1" dirty="0">
                <a:latin typeface="微软雅黑" panose="020B0503020204020204" pitchFamily="34" charset="-122"/>
                <a:ea typeface="微软雅黑" panose="020B0503020204020204" pitchFamily="34" charset="-122"/>
              </a:rPr>
              <a:t>的各个部分，以加快硬件周转而赢得速度。</a:t>
            </a:r>
          </a:p>
        </p:txBody>
      </p:sp>
      <p:sp>
        <p:nvSpPr>
          <p:cNvPr id="3" name="矩形 2"/>
          <p:cNvSpPr/>
          <p:nvPr/>
        </p:nvSpPr>
        <p:spPr>
          <a:xfrm>
            <a:off x="3061648" y="2762750"/>
            <a:ext cx="6647974" cy="609398"/>
          </a:xfrm>
          <a:prstGeom prst="rect">
            <a:avLst/>
          </a:prstGeom>
        </p:spPr>
        <p:txBody>
          <a:bodyPr wrap="non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实现时间重叠的基础：</a:t>
            </a:r>
            <a:r>
              <a:rPr lang="zh-CN" altLang="en-US" sz="2800" b="1" dirty="0">
                <a:solidFill>
                  <a:srgbClr val="0000FF"/>
                </a:solidFill>
                <a:latin typeface="微软雅黑" panose="020B0503020204020204" pitchFamily="34" charset="-122"/>
                <a:ea typeface="微软雅黑" panose="020B0503020204020204" pitchFamily="34" charset="-122"/>
              </a:rPr>
              <a:t>部件功能专用化</a:t>
            </a:r>
            <a:r>
              <a:rPr lang="zh-CN" altLang="en-US" sz="2800" b="1" dirty="0">
                <a:latin typeface="微软雅黑" panose="020B0503020204020204" pitchFamily="34" charset="-122"/>
                <a:ea typeface="微软雅黑" panose="020B0503020204020204" pitchFamily="34" charset="-122"/>
              </a:rPr>
              <a:t>。</a:t>
            </a:r>
          </a:p>
        </p:txBody>
      </p:sp>
      <p:sp>
        <p:nvSpPr>
          <p:cNvPr id="4" name="矩形 3"/>
          <p:cNvSpPr/>
          <p:nvPr/>
        </p:nvSpPr>
        <p:spPr>
          <a:xfrm>
            <a:off x="3061648" y="3567382"/>
            <a:ext cx="8855310" cy="2160591"/>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时间重叠的实质：把一件工作按功能分割为若干个相互联系的部分；然后把每一部分指定给专门的部件完成；最后按时间重叠原则把各部分执行过程在时间上重叠起来，</a:t>
            </a:r>
            <a:r>
              <a:rPr lang="zh-CN" altLang="en-US" sz="2800" b="1" dirty="0">
                <a:solidFill>
                  <a:srgbClr val="0000FF"/>
                </a:solidFill>
                <a:latin typeface="微软雅黑" panose="020B0503020204020204" pitchFamily="34" charset="-122"/>
                <a:ea typeface="微软雅黑" panose="020B0503020204020204" pitchFamily="34" charset="-122"/>
              </a:rPr>
              <a:t>使所有部件依次分工完成一组同样的工作</a:t>
            </a:r>
            <a:r>
              <a:rPr lang="zh-CN" altLang="en-US" sz="2800" b="1" dirty="0">
                <a:latin typeface="微软雅黑" panose="020B0503020204020204" pitchFamily="34" charset="-122"/>
                <a:ea typeface="微软雅黑" panose="020B0503020204020204" pitchFamily="34" charset="-122"/>
              </a:rPr>
              <a:t>。</a:t>
            </a:r>
          </a:p>
        </p:txBody>
      </p:sp>
      <p:sp>
        <p:nvSpPr>
          <p:cNvPr id="9" name="矩形 8"/>
          <p:cNvSpPr/>
          <p:nvPr/>
        </p:nvSpPr>
        <p:spPr>
          <a:xfrm>
            <a:off x="3061648" y="5779202"/>
            <a:ext cx="6396303" cy="609398"/>
          </a:xfrm>
          <a:prstGeom prst="rect">
            <a:avLst/>
          </a:prstGeom>
        </p:spPr>
        <p:txBody>
          <a:bodyPr wrap="none">
            <a:spAutoFit/>
          </a:bodyPr>
          <a:lstStyle/>
          <a:p>
            <a:pPr>
              <a:lnSpc>
                <a:spcPct val="120000"/>
              </a:lnSpc>
            </a:pPr>
            <a:r>
              <a:rPr lang="zh-CN" altLang="en-US" sz="2800" b="1" dirty="0">
                <a:solidFill>
                  <a:srgbClr val="0000FF"/>
                </a:solidFill>
                <a:latin typeface="微软雅黑" panose="020B0503020204020204" pitchFamily="34" charset="-122"/>
                <a:ea typeface="微软雅黑" panose="020B0503020204020204" pitchFamily="34" charset="-122"/>
              </a:rPr>
              <a:t>流水线技术</a:t>
            </a:r>
            <a:r>
              <a:rPr lang="zh-CN" altLang="en-US" sz="2800" b="1" dirty="0">
                <a:latin typeface="微软雅黑" panose="020B0503020204020204" pitchFamily="34" charset="-122"/>
                <a:ea typeface="微软雅黑" panose="020B0503020204020204" pitchFamily="34" charset="-122"/>
              </a:rPr>
              <a:t>就是时间重叠的典型应用。 </a:t>
            </a:r>
          </a:p>
        </p:txBody>
      </p:sp>
    </p:spTree>
    <p:extLst>
      <p:ext uri="{BB962C8B-B14F-4D97-AF65-F5344CB8AC3E}">
        <p14:creationId xmlns:p14="http://schemas.microsoft.com/office/powerpoint/2010/main" val="1015809190"/>
      </p:ext>
    </p:extLst>
  </p:cSld>
  <p:clrMapOvr>
    <a:masterClrMapping/>
  </p:clrMapOvr>
  <mc:AlternateContent xmlns:mc="http://schemas.openxmlformats.org/markup-compatibility/2006" xmlns:p14="http://schemas.microsoft.com/office/powerpoint/2010/main">
    <mc:Choice Requires="p14">
      <p:transition spd="slow" advTm="5214">
        <p14:gallery dir="l"/>
      </p:transition>
    </mc:Choice>
    <mc:Fallback xmlns="">
      <p:transition spd="slow" advTm="5214">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83"/>
          <p:cNvSpPr>
            <a:spLocks noChangeArrowheads="1"/>
          </p:cNvSpPr>
          <p:nvPr/>
        </p:nvSpPr>
        <p:spPr bwMode="auto">
          <a:xfrm>
            <a:off x="984803" y="1070068"/>
            <a:ext cx="10222393" cy="1339004"/>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6386" name="Rectangle 2"/>
          <p:cNvSpPr>
            <a:spLocks noGrp="1" noChangeArrowheads="1"/>
          </p:cNvSpPr>
          <p:nvPr>
            <p:ph type="title"/>
          </p:nvPr>
        </p:nvSpPr>
        <p:spPr>
          <a:xfrm>
            <a:off x="838199" y="-126410"/>
            <a:ext cx="10515600" cy="1325563"/>
          </a:xfrm>
        </p:spPr>
        <p:txBody>
          <a:bodyPr>
            <a:normAutofit/>
          </a:bodyPr>
          <a:lstStyle/>
          <a:p>
            <a:pPr algn="l" eaLnBrk="1" hangingPunct="1"/>
            <a:r>
              <a:rPr lang="zh-CN" altLang="en-US" sz="3200" b="1" dirty="0">
                <a:latin typeface="微软雅黑" panose="020B0503020204020204" pitchFamily="34" charset="-122"/>
                <a:ea typeface="微软雅黑" panose="020B0503020204020204" pitchFamily="34" charset="-122"/>
                <a:cs typeface="+mn-cs"/>
              </a:rPr>
              <a:t>时间重叠举例</a:t>
            </a:r>
          </a:p>
        </p:txBody>
      </p:sp>
      <p:sp>
        <p:nvSpPr>
          <p:cNvPr id="16387" name="Rectangle 3"/>
          <p:cNvSpPr>
            <a:spLocks noGrp="1" noChangeArrowheads="1"/>
          </p:cNvSpPr>
          <p:nvPr>
            <p:ph type="body" idx="1"/>
          </p:nvPr>
        </p:nvSpPr>
        <p:spPr>
          <a:xfrm>
            <a:off x="1134063" y="1018699"/>
            <a:ext cx="10066348" cy="1833523"/>
          </a:xfrm>
        </p:spPr>
        <p:txBody>
          <a:bodyPr>
            <a:normAutofit/>
          </a:bodyPr>
          <a:lstStyle/>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例：一条指令的执行可以看成是由四个过程组成，即取指令、指令译码、指令执行和写结果。 </a:t>
            </a:r>
          </a:p>
        </p:txBody>
      </p:sp>
      <p:sp>
        <p:nvSpPr>
          <p:cNvPr id="16388" name="Rectangle 6"/>
          <p:cNvSpPr>
            <a:spLocks noChangeArrowheads="1"/>
          </p:cNvSpPr>
          <p:nvPr/>
        </p:nvSpPr>
        <p:spPr bwMode="auto">
          <a:xfrm>
            <a:off x="6003635" y="31014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chemeClr val="bg1"/>
              </a:solidFill>
            </a:endParaRPr>
          </a:p>
        </p:txBody>
      </p:sp>
      <p:sp>
        <p:nvSpPr>
          <p:cNvPr id="16389" name="Rectangle 8"/>
          <p:cNvSpPr>
            <a:spLocks noChangeArrowheads="1"/>
          </p:cNvSpPr>
          <p:nvPr/>
        </p:nvSpPr>
        <p:spPr bwMode="auto">
          <a:xfrm>
            <a:off x="6003635" y="2582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chemeClr val="bg1"/>
              </a:solidFill>
            </a:endParaRPr>
          </a:p>
        </p:txBody>
      </p:sp>
      <p:sp>
        <p:nvSpPr>
          <p:cNvPr id="16390" name="Text Box 9"/>
          <p:cNvSpPr txBox="1">
            <a:spLocks noChangeArrowheads="1"/>
          </p:cNvSpPr>
          <p:nvPr/>
        </p:nvSpPr>
        <p:spPr bwMode="auto">
          <a:xfrm>
            <a:off x="2308225" y="3109393"/>
            <a:ext cx="61928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a:spcBef>
                <a:spcPct val="50000"/>
              </a:spcBef>
              <a:buNone/>
            </a:pPr>
            <a:r>
              <a:rPr lang="zh-CN" altLang="en-US" sz="1800" dirty="0">
                <a:solidFill>
                  <a:srgbClr val="02B9E7"/>
                </a:solidFill>
              </a:rPr>
              <a:t>（</a:t>
            </a:r>
            <a:r>
              <a:rPr lang="en-US" altLang="zh-CN" sz="1800" b="1" dirty="0">
                <a:solidFill>
                  <a:srgbClr val="02B9E7"/>
                </a:solidFill>
              </a:rPr>
              <a:t>a</a:t>
            </a:r>
            <a:r>
              <a:rPr lang="zh-CN" altLang="en-US" sz="1800" b="1" dirty="0">
                <a:solidFill>
                  <a:srgbClr val="02B9E7"/>
                </a:solidFill>
              </a:rPr>
              <a:t>）</a:t>
            </a:r>
            <a:r>
              <a:rPr lang="en-US" altLang="zh-CN" sz="1800" b="1" dirty="0">
                <a:solidFill>
                  <a:srgbClr val="02B9E7"/>
                </a:solidFill>
              </a:rPr>
              <a:t>4</a:t>
            </a:r>
            <a:r>
              <a:rPr lang="zh-CN" altLang="en-US" sz="1800" b="1" dirty="0">
                <a:solidFill>
                  <a:srgbClr val="02B9E7"/>
                </a:solidFill>
              </a:rPr>
              <a:t>个子过程的</a:t>
            </a:r>
            <a:r>
              <a:rPr lang="zh-CN" altLang="en-US" sz="1800" b="1" dirty="0" smtClean="0">
                <a:solidFill>
                  <a:srgbClr val="02B9E7"/>
                </a:solidFill>
              </a:rPr>
              <a:t>指令流水线（</a:t>
            </a:r>
            <a:r>
              <a:rPr lang="zh-CN" altLang="en-US" sz="1800" b="1" dirty="0" smtClean="0">
                <a:solidFill>
                  <a:srgbClr val="FF0000"/>
                </a:solidFill>
              </a:rPr>
              <a:t>串行</a:t>
            </a:r>
            <a:r>
              <a:rPr lang="zh-CN" altLang="en-US" sz="1800" b="1" dirty="0">
                <a:solidFill>
                  <a:srgbClr val="FF0000"/>
                </a:solidFill>
              </a:rPr>
              <a:t>执行</a:t>
            </a:r>
            <a:r>
              <a:rPr lang="zh-CN" altLang="en-US" sz="1800" b="1" dirty="0" smtClean="0">
                <a:solidFill>
                  <a:srgbClr val="02B9E7"/>
                </a:solidFill>
              </a:rPr>
              <a:t>方式）</a:t>
            </a:r>
            <a:endParaRPr lang="zh-CN" altLang="en-US" sz="1800" b="1" dirty="0">
              <a:solidFill>
                <a:srgbClr val="02B9E7"/>
              </a:solidFill>
            </a:endParaRPr>
          </a:p>
        </p:txBody>
      </p:sp>
      <p:sp>
        <p:nvSpPr>
          <p:cNvPr id="16391" name="Text Box 10"/>
          <p:cNvSpPr txBox="1">
            <a:spLocks noChangeArrowheads="1"/>
          </p:cNvSpPr>
          <p:nvPr/>
        </p:nvSpPr>
        <p:spPr bwMode="auto">
          <a:xfrm>
            <a:off x="2805113" y="6313211"/>
            <a:ext cx="54721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a:spcBef>
                <a:spcPct val="50000"/>
              </a:spcBef>
              <a:buNone/>
            </a:pPr>
            <a:r>
              <a:rPr lang="zh-CN" altLang="en-US" sz="1800" b="1" dirty="0">
                <a:solidFill>
                  <a:srgbClr val="02B9E7"/>
                </a:solidFill>
              </a:rPr>
              <a:t>（</a:t>
            </a:r>
            <a:r>
              <a:rPr lang="en-US" altLang="zh-CN" sz="1800" b="1" dirty="0">
                <a:solidFill>
                  <a:srgbClr val="02B9E7"/>
                </a:solidFill>
              </a:rPr>
              <a:t>b</a:t>
            </a:r>
            <a:r>
              <a:rPr lang="zh-CN" altLang="en-US" sz="1800" b="1" dirty="0">
                <a:solidFill>
                  <a:srgbClr val="02B9E7"/>
                </a:solidFill>
              </a:rPr>
              <a:t>）</a:t>
            </a:r>
            <a:r>
              <a:rPr lang="en-US" altLang="zh-CN" sz="1800" b="1" dirty="0">
                <a:solidFill>
                  <a:srgbClr val="02B9E7"/>
                </a:solidFill>
              </a:rPr>
              <a:t>4</a:t>
            </a:r>
            <a:r>
              <a:rPr lang="zh-CN" altLang="en-US" sz="1800" b="1" dirty="0">
                <a:solidFill>
                  <a:srgbClr val="02B9E7"/>
                </a:solidFill>
              </a:rPr>
              <a:t>条指令流水的</a:t>
            </a:r>
            <a:r>
              <a:rPr lang="zh-CN" altLang="en-US" sz="1800" b="1" dirty="0">
                <a:solidFill>
                  <a:srgbClr val="02B9E7"/>
                </a:solidFill>
              </a:rPr>
              <a:t>时空图</a:t>
            </a:r>
            <a:r>
              <a:rPr lang="zh-CN" altLang="en-US" sz="1800" b="1" dirty="0" smtClean="0">
                <a:solidFill>
                  <a:srgbClr val="02B9E7"/>
                </a:solidFill>
              </a:rPr>
              <a:t>（</a:t>
            </a:r>
            <a:r>
              <a:rPr lang="zh-CN" altLang="en-US" sz="1800" b="1" dirty="0" smtClean="0">
                <a:solidFill>
                  <a:srgbClr val="FF0000"/>
                </a:solidFill>
              </a:rPr>
              <a:t>并行</a:t>
            </a:r>
            <a:r>
              <a:rPr lang="zh-CN" altLang="en-US" sz="1800" b="1" dirty="0">
                <a:solidFill>
                  <a:srgbClr val="FF0000"/>
                </a:solidFill>
              </a:rPr>
              <a:t>执行</a:t>
            </a:r>
            <a:r>
              <a:rPr lang="zh-CN" altLang="en-US" sz="1800" b="1" dirty="0">
                <a:solidFill>
                  <a:srgbClr val="02B9E7"/>
                </a:solidFill>
              </a:rPr>
              <a:t>方式</a:t>
            </a:r>
            <a:r>
              <a:rPr lang="zh-CN" altLang="en-US" sz="1800" b="1" dirty="0" smtClean="0">
                <a:solidFill>
                  <a:srgbClr val="02B9E7"/>
                </a:solidFill>
              </a:rPr>
              <a:t>）</a:t>
            </a:r>
            <a:r>
              <a:rPr lang="zh-CN" altLang="en-US" sz="1800" b="1" dirty="0" smtClean="0">
                <a:solidFill>
                  <a:srgbClr val="02B9E7"/>
                </a:solidFill>
              </a:rPr>
              <a:t> </a:t>
            </a:r>
            <a:endParaRPr lang="zh-CN" altLang="en-US" sz="1800" b="1" dirty="0">
              <a:solidFill>
                <a:srgbClr val="02B9E7"/>
              </a:solidFill>
            </a:endParaRPr>
          </a:p>
        </p:txBody>
      </p:sp>
      <p:pic>
        <p:nvPicPr>
          <p:cNvPr id="1639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05113" y="3344863"/>
            <a:ext cx="5561012"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3563" y="2601673"/>
            <a:ext cx="7142162"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p:cNvGrpSpPr/>
          <p:nvPr/>
        </p:nvGrpSpPr>
        <p:grpSpPr>
          <a:xfrm>
            <a:off x="265635" y="225377"/>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5" name="Freeform 12"/>
          <p:cNvSpPr>
            <a:spLocks/>
          </p:cNvSpPr>
          <p:nvPr/>
        </p:nvSpPr>
        <p:spPr bwMode="auto">
          <a:xfrm>
            <a:off x="869847" y="91483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6" name="Freeform 12"/>
          <p:cNvSpPr>
            <a:spLocks/>
          </p:cNvSpPr>
          <p:nvPr/>
        </p:nvSpPr>
        <p:spPr bwMode="auto">
          <a:xfrm flipH="1" flipV="1">
            <a:off x="10746566" y="1939552"/>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dirty="0"/>
          </a:p>
        </p:txBody>
      </p:sp>
    </p:spTree>
    <p:extLst>
      <p:ext uri="{BB962C8B-B14F-4D97-AF65-F5344CB8AC3E}">
        <p14:creationId xmlns:p14="http://schemas.microsoft.com/office/powerpoint/2010/main" val="2259433026"/>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875773" y="-85502"/>
            <a:ext cx="10515600" cy="1325563"/>
          </a:xfrm>
        </p:spPr>
        <p:txBody>
          <a:bodyPr>
            <a:normAutofit/>
          </a:bodyPr>
          <a:lstStyle/>
          <a:p>
            <a:pPr algn="l" eaLnBrk="1" hangingPunct="1">
              <a:lnSpc>
                <a:spcPct val="120000"/>
              </a:lnSpc>
            </a:pPr>
            <a:r>
              <a:rPr lang="zh-CN" altLang="en-US" sz="3200" b="1" dirty="0">
                <a:latin typeface="微软雅黑" panose="020B0503020204020204" pitchFamily="34" charset="-122"/>
                <a:ea typeface="微软雅黑" panose="020B0503020204020204" pitchFamily="34" charset="-122"/>
              </a:rPr>
              <a:t>资源重复 </a:t>
            </a:r>
          </a:p>
        </p:txBody>
      </p:sp>
      <p:sp>
        <p:nvSpPr>
          <p:cNvPr id="17411" name="Rectangle 3"/>
          <p:cNvSpPr>
            <a:spLocks noGrp="1" noChangeArrowheads="1"/>
          </p:cNvSpPr>
          <p:nvPr>
            <p:ph type="body" idx="1"/>
          </p:nvPr>
        </p:nvSpPr>
        <p:spPr>
          <a:xfrm>
            <a:off x="526275" y="1648965"/>
            <a:ext cx="4923582" cy="4435681"/>
          </a:xfrm>
          <a:ln w="28575">
            <a:solidFill>
              <a:srgbClr val="FFC000"/>
            </a:solidFill>
          </a:ln>
        </p:spPr>
        <p:txBody>
          <a:bodyPr>
            <a:noAutofit/>
          </a:bodyPr>
          <a:lstStyle/>
          <a:p>
            <a:pPr marL="0" indent="0" eaLnBrk="1" hangingPunct="1">
              <a:lnSpc>
                <a:spcPct val="200000"/>
              </a:lnSpc>
              <a:buNone/>
            </a:pPr>
            <a:r>
              <a:rPr lang="zh-CN" altLang="en-US" b="1" dirty="0">
                <a:solidFill>
                  <a:srgbClr val="000000"/>
                </a:solidFill>
                <a:latin typeface="微软雅黑" panose="020B0503020204020204" pitchFamily="34" charset="-122"/>
                <a:ea typeface="微软雅黑" panose="020B0503020204020204" pitchFamily="34" charset="-122"/>
              </a:rPr>
              <a:t>资源重复</a:t>
            </a:r>
            <a:r>
              <a:rPr lang="zh-CN" altLang="en-US" b="1" dirty="0">
                <a:latin typeface="微软雅黑" panose="020B0503020204020204" pitchFamily="34" charset="-122"/>
                <a:ea typeface="微软雅黑" panose="020B0503020204020204" pitchFamily="34" charset="-122"/>
              </a:rPr>
              <a:t>：根据“以数量取胜”的原则来实现并行，其付出的代价是在空间上通过重复地设置资源，尤其是硬件资源，以提高计算机系统的性能。 </a:t>
            </a:r>
          </a:p>
        </p:txBody>
      </p:sp>
      <p:sp>
        <p:nvSpPr>
          <p:cNvPr id="17412" name="Rectangle 6"/>
          <p:cNvSpPr>
            <a:spLocks noChangeArrowheads="1"/>
          </p:cNvSpPr>
          <p:nvPr/>
        </p:nvSpPr>
        <p:spPr bwMode="auto">
          <a:xfrm>
            <a:off x="6003635" y="251090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FontTx/>
              <a:buNone/>
            </a:pPr>
            <a:endParaRPr lang="zh-CN" altLang="en-US" sz="1800">
              <a:solidFill>
                <a:schemeClr val="bg1"/>
              </a:solidFill>
            </a:endParaRPr>
          </a:p>
        </p:txBody>
      </p:sp>
      <p:sp>
        <p:nvSpPr>
          <p:cNvPr id="17413" name="Text Box 7"/>
          <p:cNvSpPr txBox="1">
            <a:spLocks noChangeArrowheads="1"/>
          </p:cNvSpPr>
          <p:nvPr/>
        </p:nvSpPr>
        <p:spPr bwMode="auto">
          <a:xfrm>
            <a:off x="6500191" y="5609397"/>
            <a:ext cx="4967288"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SzPct val="50000"/>
              <a:buFont typeface="Wingdings 2" panose="05020102010507070707" pitchFamily="18"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SzPct val="60000"/>
              <a:buFont typeface="Wingdings 2" panose="05020102010507070707" pitchFamily="18"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lnSpc>
                <a:spcPct val="120000"/>
              </a:lnSpc>
              <a:spcBef>
                <a:spcPct val="50000"/>
              </a:spcBef>
              <a:buFontTx/>
              <a:buNone/>
            </a:pPr>
            <a:r>
              <a:rPr lang="zh-CN" altLang="en-US" sz="2400" b="1" dirty="0">
                <a:latin typeface="微软雅黑" panose="020B0503020204020204" pitchFamily="34" charset="-122"/>
                <a:ea typeface="微软雅黑" panose="020B0503020204020204" pitchFamily="34" charset="-122"/>
              </a:rPr>
              <a:t>资源重复的并行举例</a:t>
            </a:r>
          </a:p>
        </p:txBody>
      </p:sp>
      <p:pic>
        <p:nvPicPr>
          <p:cNvPr id="1741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87197" y="1408528"/>
            <a:ext cx="5976938" cy="3733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p:cNvGrpSpPr/>
          <p:nvPr/>
        </p:nvGrpSpPr>
        <p:grpSpPr>
          <a:xfrm>
            <a:off x="265635" y="269251"/>
            <a:ext cx="438352" cy="621987"/>
            <a:chOff x="265635" y="269251"/>
            <a:chExt cx="438352" cy="621987"/>
          </a:xfrm>
        </p:grpSpPr>
        <p:sp>
          <p:nvSpPr>
            <p:cNvPr id="8"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0"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703954418"/>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75773" y="-121107"/>
            <a:ext cx="10515600" cy="1325563"/>
          </a:xfrm>
        </p:spPr>
        <p:txBody>
          <a:bodyPr>
            <a:normAutofit/>
          </a:bodyPr>
          <a:lstStyle/>
          <a:p>
            <a:pPr algn="l" eaLnBrk="1" hangingPunct="1">
              <a:lnSpc>
                <a:spcPct val="150000"/>
              </a:lnSpc>
            </a:pPr>
            <a:r>
              <a:rPr lang="zh-CN" altLang="en-US" sz="3200" b="1" dirty="0">
                <a:latin typeface="微软雅黑" panose="020B0503020204020204" pitchFamily="34" charset="-122"/>
                <a:ea typeface="微软雅黑" panose="020B0503020204020204" pitchFamily="34" charset="-122"/>
              </a:rPr>
              <a:t>资源共享 </a:t>
            </a:r>
          </a:p>
        </p:txBody>
      </p:sp>
      <p:sp>
        <p:nvSpPr>
          <p:cNvPr id="18435" name="Rectangle 3"/>
          <p:cNvSpPr>
            <a:spLocks noGrp="1" noChangeArrowheads="1"/>
          </p:cNvSpPr>
          <p:nvPr>
            <p:ph type="body" idx="1"/>
          </p:nvPr>
        </p:nvSpPr>
        <p:spPr>
          <a:xfrm>
            <a:off x="2365611" y="3900084"/>
            <a:ext cx="9247495" cy="4351338"/>
          </a:xfrm>
        </p:spPr>
        <p:txBody>
          <a:bodyPr>
            <a:normAutofit/>
          </a:bodyPr>
          <a:lstStyle/>
          <a:p>
            <a:pPr marL="0" indent="0" eaLnBrk="1" hangingPunct="1">
              <a:lnSpc>
                <a:spcPct val="150000"/>
              </a:lnSpc>
              <a:buNone/>
            </a:pPr>
            <a:r>
              <a:rPr lang="zh-CN" altLang="en-US" b="1" dirty="0">
                <a:latin typeface="微软雅黑" panose="020B0503020204020204" pitchFamily="34" charset="-122"/>
                <a:ea typeface="微软雅黑" panose="020B0503020204020204" pitchFamily="34" charset="-122"/>
              </a:rPr>
              <a:t>资源共享的实质就是用单处理机模拟多处理机的功能，形成所谓虚拟机的概念。 </a:t>
            </a:r>
          </a:p>
        </p:txBody>
      </p:sp>
      <p:grpSp>
        <p:nvGrpSpPr>
          <p:cNvPr id="4" name="组合 3"/>
          <p:cNvGrpSpPr/>
          <p:nvPr/>
        </p:nvGrpSpPr>
        <p:grpSpPr>
          <a:xfrm>
            <a:off x="875773" y="1896953"/>
            <a:ext cx="1069180" cy="1251279"/>
            <a:chOff x="1446900" y="2132856"/>
            <a:chExt cx="1304925" cy="1527175"/>
          </a:xfrm>
        </p:grpSpPr>
        <p:sp>
          <p:nvSpPr>
            <p:cNvPr id="5"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6"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7" name="组合 6"/>
          <p:cNvGrpSpPr/>
          <p:nvPr/>
        </p:nvGrpSpPr>
        <p:grpSpPr>
          <a:xfrm>
            <a:off x="875773" y="4096828"/>
            <a:ext cx="1069180" cy="1251279"/>
            <a:chOff x="4022275" y="2132856"/>
            <a:chExt cx="1304925" cy="1527175"/>
          </a:xfrm>
        </p:grpSpPr>
        <p:sp>
          <p:nvSpPr>
            <p:cNvPr id="8"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9"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sp>
        <p:nvSpPr>
          <p:cNvPr id="2" name="矩形 1"/>
          <p:cNvSpPr/>
          <p:nvPr/>
        </p:nvSpPr>
        <p:spPr>
          <a:xfrm>
            <a:off x="2365611" y="1763237"/>
            <a:ext cx="8798258" cy="1384995"/>
          </a:xfrm>
          <a:prstGeom prst="rect">
            <a:avLst/>
          </a:prstGeom>
        </p:spPr>
        <p:txBody>
          <a:bodyPr wrap="square">
            <a:spAutoFit/>
          </a:bodyPr>
          <a:lstStyle/>
          <a:p>
            <a:pPr>
              <a:lnSpc>
                <a:spcPct val="150000"/>
              </a:lnSpc>
            </a:pPr>
            <a:r>
              <a:rPr lang="zh-CN" altLang="en-US" sz="2800" b="1" dirty="0">
                <a:solidFill>
                  <a:srgbClr val="0000FF"/>
                </a:solidFill>
                <a:latin typeface="微软雅黑" panose="020B0503020204020204" pitchFamily="34" charset="-122"/>
                <a:ea typeface="微软雅黑" panose="020B0503020204020204" pitchFamily="34" charset="-122"/>
              </a:rPr>
              <a:t>资源共享</a:t>
            </a:r>
            <a:r>
              <a:rPr lang="zh-CN" altLang="en-US" sz="2800" b="1" dirty="0">
                <a:latin typeface="微软雅黑" panose="020B0503020204020204" pitchFamily="34" charset="-122"/>
                <a:ea typeface="微软雅黑" panose="020B0503020204020204" pitchFamily="34" charset="-122"/>
              </a:rPr>
              <a:t>是一种软件方法的并行，它</a:t>
            </a:r>
            <a:r>
              <a:rPr lang="zh-CN" altLang="en-US" sz="2800" b="1" dirty="0">
                <a:solidFill>
                  <a:srgbClr val="0000FF"/>
                </a:solidFill>
                <a:latin typeface="微软雅黑" panose="020B0503020204020204" pitchFamily="34" charset="-122"/>
                <a:ea typeface="微软雅黑" panose="020B0503020204020204" pitchFamily="34" charset="-122"/>
              </a:rPr>
              <a:t>使多个任务按一定时间顺序轮流使用同一套硬件设备</a:t>
            </a:r>
            <a:r>
              <a:rPr lang="zh-CN" altLang="en-US" sz="2800" b="1" dirty="0">
                <a:latin typeface="微软雅黑" panose="020B0503020204020204" pitchFamily="34" charset="-122"/>
                <a:ea typeface="微软雅黑" panose="020B0503020204020204" pitchFamily="34" charset="-122"/>
              </a:rPr>
              <a:t>。</a:t>
            </a:r>
          </a:p>
        </p:txBody>
      </p:sp>
      <p:grpSp>
        <p:nvGrpSpPr>
          <p:cNvPr id="11" name="组合 10"/>
          <p:cNvGrpSpPr/>
          <p:nvPr/>
        </p:nvGrpSpPr>
        <p:grpSpPr>
          <a:xfrm>
            <a:off x="265635" y="269251"/>
            <a:ext cx="438352" cy="621987"/>
            <a:chOff x="265635" y="269251"/>
            <a:chExt cx="438352" cy="621987"/>
          </a:xfrm>
        </p:grpSpPr>
        <p:sp>
          <p:nvSpPr>
            <p:cNvPr id="1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2026553148"/>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875773" y="-38111"/>
            <a:ext cx="10515600" cy="1325563"/>
          </a:xfrm>
        </p:spPr>
        <p:txBody>
          <a:bodyPr>
            <a:normAutofit/>
          </a:bodyPr>
          <a:lstStyle/>
          <a:p>
            <a:pPr algn="l" eaLnBrk="1" hangingPunct="1">
              <a:lnSpc>
                <a:spcPct val="120000"/>
              </a:lnSpc>
            </a:pPr>
            <a:r>
              <a:rPr lang="zh-CN" altLang="en-US" sz="3200" b="1" dirty="0">
                <a:latin typeface="微软雅黑" panose="020B0503020204020204" pitchFamily="34" charset="-122"/>
                <a:ea typeface="微软雅黑" panose="020B0503020204020204" pitchFamily="34" charset="-122"/>
              </a:rPr>
              <a:t>多机系统的并行性 </a:t>
            </a:r>
          </a:p>
        </p:txBody>
      </p:sp>
      <p:sp>
        <p:nvSpPr>
          <p:cNvPr id="19459" name="Rectangle 3"/>
          <p:cNvSpPr>
            <a:spLocks noGrp="1" noChangeArrowheads="1"/>
          </p:cNvSpPr>
          <p:nvPr>
            <p:ph type="body" idx="1"/>
          </p:nvPr>
        </p:nvSpPr>
        <p:spPr>
          <a:xfrm>
            <a:off x="1289338" y="4193216"/>
            <a:ext cx="7263464" cy="4221163"/>
          </a:xfrm>
        </p:spPr>
        <p:txBody>
          <a:bodyPr>
            <a:normAutofit/>
          </a:bodyPr>
          <a:lstStyle/>
          <a:p>
            <a:pPr marL="0" indent="0" eaLnBrk="1" hangingPunct="1">
              <a:lnSpc>
                <a:spcPct val="120000"/>
              </a:lnSpc>
              <a:buNone/>
            </a:pPr>
            <a:r>
              <a:rPr lang="zh-CN" altLang="en-US" b="1" dirty="0">
                <a:latin typeface="微软雅黑" panose="020B0503020204020204" pitchFamily="34" charset="-122"/>
                <a:ea typeface="微软雅黑" panose="020B0503020204020204" pitchFamily="34" charset="-122"/>
              </a:rPr>
              <a:t>多机系统也遵循时间重叠、资源重复和资源共享这三种基本的技术途径，向着三种不同的多处理机方向发展。 </a:t>
            </a:r>
          </a:p>
        </p:txBody>
      </p:sp>
      <p:sp>
        <p:nvSpPr>
          <p:cNvPr id="4" name="Oval 5"/>
          <p:cNvSpPr>
            <a:spLocks noChangeArrowheads="1"/>
          </p:cNvSpPr>
          <p:nvPr/>
        </p:nvSpPr>
        <p:spPr bwMode="auto">
          <a:xfrm>
            <a:off x="1315189" y="1726401"/>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6"/>
          <p:cNvSpPr>
            <a:spLocks noChangeArrowheads="1"/>
          </p:cNvSpPr>
          <p:nvPr/>
        </p:nvSpPr>
        <p:spPr bwMode="auto">
          <a:xfrm>
            <a:off x="8765489" y="4286251"/>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10"/>
          <p:cNvSpPr>
            <a:spLocks noEditPoints="1"/>
          </p:cNvSpPr>
          <p:nvPr/>
        </p:nvSpPr>
        <p:spPr bwMode="auto">
          <a:xfrm>
            <a:off x="2980819" y="2334907"/>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11"/>
          <p:cNvSpPr>
            <a:spLocks noEditPoints="1"/>
          </p:cNvSpPr>
          <p:nvPr/>
        </p:nvSpPr>
        <p:spPr bwMode="auto">
          <a:xfrm>
            <a:off x="8321005" y="4864367"/>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8" name="TextBox 13"/>
          <p:cNvSpPr txBox="1"/>
          <p:nvPr/>
        </p:nvSpPr>
        <p:spPr>
          <a:xfrm flipH="1">
            <a:off x="1551626" y="2046761"/>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9" name="TextBox 14"/>
          <p:cNvSpPr txBox="1"/>
          <p:nvPr/>
        </p:nvSpPr>
        <p:spPr>
          <a:xfrm flipH="1">
            <a:off x="9010377" y="4606611"/>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 name="矩形 1"/>
          <p:cNvSpPr/>
          <p:nvPr/>
        </p:nvSpPr>
        <p:spPr>
          <a:xfrm>
            <a:off x="3794283" y="2046761"/>
            <a:ext cx="6545105" cy="1126462"/>
          </a:xfrm>
          <a:prstGeom prst="rect">
            <a:avLst/>
          </a:prstGeom>
        </p:spPr>
        <p:txBody>
          <a:bodyPr wrap="square">
            <a:spAutoFit/>
          </a:bodyPr>
          <a:lstStyle/>
          <a:p>
            <a:pPr>
              <a:lnSpc>
                <a:spcPct val="120000"/>
              </a:lnSpc>
            </a:pPr>
            <a:r>
              <a:rPr lang="zh-CN" altLang="en-US" sz="2800" b="1" dirty="0">
                <a:latin typeface="微软雅黑" panose="020B0503020204020204" pitchFamily="34" charset="-122"/>
                <a:ea typeface="微软雅黑" panose="020B0503020204020204" pitchFamily="34" charset="-122"/>
              </a:rPr>
              <a:t>多机系统：包括多处理机系统和多计算机系统。</a:t>
            </a:r>
          </a:p>
        </p:txBody>
      </p:sp>
      <p:grpSp>
        <p:nvGrpSpPr>
          <p:cNvPr id="11" name="组合 10"/>
          <p:cNvGrpSpPr/>
          <p:nvPr/>
        </p:nvGrpSpPr>
        <p:grpSpPr>
          <a:xfrm>
            <a:off x="265635" y="269251"/>
            <a:ext cx="438352" cy="621987"/>
            <a:chOff x="265635" y="269251"/>
            <a:chExt cx="438352" cy="621987"/>
          </a:xfrm>
        </p:grpSpPr>
        <p:sp>
          <p:nvSpPr>
            <p:cNvPr id="1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015132670"/>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3"/>
          <p:cNvSpPr txBox="1">
            <a:spLocks noChangeArrowheads="1"/>
          </p:cNvSpPr>
          <p:nvPr/>
        </p:nvSpPr>
        <p:spPr bwMode="auto">
          <a:xfrm>
            <a:off x="4483441" y="2541722"/>
            <a:ext cx="3868499"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dist"/>
            <a:r>
              <a:rPr lang="zh-CN" altLang="en-US" sz="6600" b="1" dirty="0">
                <a:solidFill>
                  <a:schemeClr val="bg1"/>
                </a:solidFill>
                <a:latin typeface="微软雅黑" panose="020B0503020204020204" pitchFamily="34" charset="-122"/>
                <a:ea typeface="微软雅黑" panose="020B0503020204020204" pitchFamily="34" charset="-122"/>
              </a:rPr>
              <a:t>谢谢！</a:t>
            </a:r>
            <a:endParaRPr lang="en-US" altLang="zh-CN" sz="66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255176408"/>
      </p:ext>
    </p:extLst>
  </p:cSld>
  <p:clrMapOvr>
    <a:masterClrMapping/>
  </p:clrMapOvr>
  <mc:AlternateContent xmlns:mc="http://schemas.openxmlformats.org/markup-compatibility/2006" xmlns:p14="http://schemas.microsoft.com/office/powerpoint/2010/main">
    <mc:Choice Requires="p14">
      <p:transition spd="slow">
        <p14:gallery dir="l"/>
      </p:transition>
    </mc:Choice>
    <mc:Fallback xmlns="">
      <p:transition spd="slow">
        <p:fade/>
      </p:transition>
    </mc:Fallback>
  </mc:AlternateContent>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231</TotalTime>
  <Words>1143</Words>
  <Application>Microsoft Office PowerPoint</Application>
  <PresentationFormat>宽屏</PresentationFormat>
  <Paragraphs>119</Paragraphs>
  <Slides>18</Slides>
  <Notes>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18</vt:i4>
      </vt:variant>
    </vt:vector>
  </HeadingPairs>
  <TitlesOfParts>
    <vt:vector size="27" baseType="lpstr">
      <vt:lpstr>宋体</vt:lpstr>
      <vt:lpstr>微软雅黑</vt:lpstr>
      <vt:lpstr>Arial</vt:lpstr>
      <vt:lpstr>Calibri</vt:lpstr>
      <vt:lpstr>Calibri Light</vt:lpstr>
      <vt:lpstr>Wingdings</vt:lpstr>
      <vt:lpstr>Wingdings 2</vt:lpstr>
      <vt:lpstr>第一PPT，www.1ppt.com</vt:lpstr>
      <vt:lpstr>Microsoft Visio 绘图</vt:lpstr>
      <vt:lpstr>PowerPoint 演示文稿</vt:lpstr>
      <vt:lpstr>PowerPoint 演示文稿</vt:lpstr>
      <vt:lpstr>PowerPoint 演示文稿</vt:lpstr>
      <vt:lpstr>PowerPoint 演示文稿</vt:lpstr>
      <vt:lpstr>SISD计算机</vt:lpstr>
      <vt:lpstr>SIMD计算机 </vt:lpstr>
      <vt:lpstr>MISD计算机 </vt:lpstr>
      <vt:lpstr>MIMD计算机 </vt:lpstr>
      <vt:lpstr>PowerPoint 演示文稿</vt:lpstr>
      <vt:lpstr>PowerPoint 演示文稿</vt:lpstr>
      <vt:lpstr>PowerPoint 演示文稿</vt:lpstr>
      <vt:lpstr>PowerPoint 演示文稿</vt:lpstr>
      <vt:lpstr>PowerPoint 演示文稿</vt:lpstr>
      <vt:lpstr>时间重叠举例</vt:lpstr>
      <vt:lpstr>资源重复 </vt:lpstr>
      <vt:lpstr>资源共享 </vt:lpstr>
      <vt:lpstr>多机系统的并行性 </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yhw</cp:lastModifiedBy>
  <cp:revision>39</cp:revision>
  <dcterms:created xsi:type="dcterms:W3CDTF">2016-06-01T05:10:04Z</dcterms:created>
  <dcterms:modified xsi:type="dcterms:W3CDTF">2017-06-04T22:43:12Z</dcterms:modified>
</cp:coreProperties>
</file>