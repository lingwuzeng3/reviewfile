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9" r:id="rId2"/>
    <p:sldId id="291" r:id="rId3"/>
    <p:sldId id="292" r:id="rId4"/>
    <p:sldId id="293" r:id="rId5"/>
    <p:sldId id="294" r:id="rId6"/>
    <p:sldId id="304" r:id="rId7"/>
    <p:sldId id="296" r:id="rId8"/>
    <p:sldId id="297" r:id="rId9"/>
    <p:sldId id="298" r:id="rId10"/>
    <p:sldId id="302" r:id="rId11"/>
    <p:sldId id="300" r:id="rId12"/>
    <p:sldId id="303" r:id="rId13"/>
    <p:sldId id="290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1C0B0"/>
    <a:srgbClr val="02B9E7"/>
    <a:srgbClr val="04B0BE"/>
    <a:srgbClr val="04B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775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42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255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031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693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425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971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>
              <a:solidFill>
                <a:srgbClr val="2D6BC7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2D6BC7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dirty="0">
                <a:solidFill>
                  <a:srgbClr val="2D6BC7"/>
                </a:solidFill>
              </a:rPr>
              <a:pPr/>
              <a:t>‹#›</a:t>
            </a:fld>
            <a:endParaRPr lang="zh-CN" altLang="en-US" dirty="0">
              <a:solidFill>
                <a:srgbClr val="2D6BC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3842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t>2017/6/1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37268" y="2541722"/>
            <a:ext cx="6419027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的时序和控制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71" name="矩形 180270"/>
          <p:cNvSpPr/>
          <p:nvPr/>
        </p:nvSpPr>
        <p:spPr>
          <a:xfrm>
            <a:off x="3100941" y="1636643"/>
            <a:ext cx="1296987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0243" name="右大括号 180242"/>
          <p:cNvSpPr/>
          <p:nvPr/>
        </p:nvSpPr>
        <p:spPr>
          <a:xfrm>
            <a:off x="5732444" y="4164563"/>
            <a:ext cx="144016" cy="1584176"/>
          </a:xfrm>
          <a:prstGeom prst="rightBrace">
            <a:avLst>
              <a:gd name="adj1" fmla="val 142778"/>
              <a:gd name="adj2" fmla="val 51079"/>
            </a:avLst>
          </a:prstGeom>
          <a:noFill/>
          <a:ln w="952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728278" y="306463"/>
            <a:ext cx="86133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典型指令组成的一个简单程序</a:t>
            </a:r>
          </a:p>
        </p:txBody>
      </p:sp>
      <p:graphicFrame>
        <p:nvGraphicFramePr>
          <p:cNvPr id="9" name="表格 8"/>
          <p:cNvGraphicFramePr/>
          <p:nvPr>
            <p:extLst>
              <p:ext uri="{D42A27DB-BD31-4B8C-83A1-F6EECF244321}">
                <p14:modId xmlns:p14="http://schemas.microsoft.com/office/powerpoint/2010/main" val="4188798682"/>
              </p:ext>
            </p:extLst>
          </p:nvPr>
        </p:nvGraphicFramePr>
        <p:xfrm>
          <a:off x="1627989" y="1786339"/>
          <a:ext cx="8497441" cy="3962400"/>
        </p:xfrm>
        <a:graphic>
          <a:graphicData uri="http://schemas.openxmlformats.org/drawingml/2006/table">
            <a:tbl>
              <a:tblPr/>
              <a:tblGrid>
                <a:gridCol w="2052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6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十六进制数地址</a:t>
                      </a:r>
                      <a:endParaRPr lang="zh-CN" altLang="en-US" sz="2000" b="1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十六进制数代码</a:t>
                      </a:r>
                      <a:endParaRPr lang="zh-CN" altLang="en-US" sz="2000" b="1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助记符</a:t>
                      </a:r>
                      <a:endParaRPr lang="zh-CN" altLang="en-US" sz="2000" b="1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指令功能说明</a:t>
                      </a:r>
                      <a:endParaRPr lang="zh-CN" altLang="en-US" sz="2000" b="1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3E00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dirty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18E0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dirty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0012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10F0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dirty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0013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6011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dirty="0">
                        <a:solidFill>
                          <a:srgbClr val="FF0000"/>
                        </a:solidFill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00E0</a:t>
                      </a:r>
                      <a:endParaRPr lang="en-US" altLang="zh-CN" sz="2000" b="1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0005</a:t>
                      </a:r>
                      <a:endParaRPr lang="en-US" altLang="zh-CN" sz="2000" dirty="0">
                        <a:solidFill>
                          <a:srgbClr val="0000FF"/>
                        </a:solidFill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114300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</a:t>
                      </a:r>
                      <a:endParaRPr lang="zh-CN" altLang="en-US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000" dirty="0"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00E1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0020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12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…</a:t>
                      </a:r>
                      <a:endParaRPr lang="en-US" altLang="zh-CN" sz="2000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13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00F0</a:t>
                      </a:r>
                      <a:endParaRPr lang="en-US" altLang="zh-CN" sz="2000" b="1" dirty="0">
                        <a:ea typeface="宋体" panose="02010600030101010101" pitchFamily="2" charset="-122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Char char="§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>
                        <a:buSzPct val="50000"/>
                        <a:buFont typeface="Wingdings 2" panose="05020102010507070707" pitchFamily="18" charset="2"/>
                        <a:defRPr sz="2400" kern="1200"/>
                      </a:lvl2pPr>
                      <a:lvl3pPr marL="1143000" lvl="2" indent="-228600">
                        <a:buFont typeface="Wingdings" panose="05000000000000000000" pitchFamily="2" charset="2"/>
                        <a:defRPr sz="2000" kern="1200"/>
                      </a:lvl3pPr>
                      <a:lvl4pPr marL="1600200" lvl="3" indent="-228600">
                        <a:buSzPct val="60000"/>
                        <a:buFont typeface="Wingdings 2" panose="05020102010507070707" pitchFamily="18" charset="2"/>
                        <a:defRPr sz="1800" kern="1200"/>
                      </a:lvl4pPr>
                      <a:lvl5pPr marL="2057400" lvl="4" indent="-228600">
                        <a:buFont typeface="Wingdings" panose="05000000000000000000" pitchFamily="2" charset="2"/>
                        <a:defRPr sz="1800" kern="1200"/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None/>
                      </a:pPr>
                      <a:r>
                        <a:rPr lang="zh-CN" altLang="en-US" sz="200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存放和数</a:t>
                      </a:r>
                      <a:endParaRPr lang="zh-CN" altLang="en-US" sz="2000" dirty="0">
                        <a:solidFill>
                          <a:srgbClr val="0000FF"/>
                        </a:solidFill>
                        <a:ea typeface="宋体" panose="02010600030101010101" pitchFamily="2" charset="-122"/>
                      </a:endParaRPr>
                    </a:p>
                  </a:txBody>
                  <a:tcPr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732444" y="2211055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LDA  00H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32444" y="2580387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 [E0H]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32444" y="2949719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  [F0H]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32444" y="3372475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JMP  11H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676660" y="220234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AC←00H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676660" y="2580387"/>
            <a:ext cx="26070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AC←(AC)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(00E0H)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76659" y="2939283"/>
            <a:ext cx="26070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00F0H←(AC)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76660" y="3381767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PC←0011H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4792470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  <p:bldP spid="10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899" y="1399525"/>
            <a:ext cx="6352330" cy="30127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851" y="4370002"/>
            <a:ext cx="1296144" cy="140932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996" y="4351853"/>
            <a:ext cx="2382011" cy="226568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267" y="4374059"/>
            <a:ext cx="2010478" cy="174600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532" y="4351854"/>
            <a:ext cx="1195945" cy="1418259"/>
          </a:xfrm>
          <a:prstGeom prst="rect">
            <a:avLst/>
          </a:prstGeom>
        </p:spPr>
      </p:pic>
      <p:sp>
        <p:nvSpPr>
          <p:cNvPr id="8" name="标题 199681"/>
          <p:cNvSpPr txBox="1"/>
          <p:nvPr/>
        </p:nvSpPr>
        <p:spPr>
          <a:xfrm>
            <a:off x="-1302981" y="264835"/>
            <a:ext cx="7699663" cy="641350"/>
          </a:xfrm>
          <a:prstGeom prst="rect">
            <a:avLst/>
          </a:prstGeom>
        </p:spPr>
        <p:txBody>
          <a:bodyPr anchor="ctr"/>
          <a:lstStyle>
            <a:lvl1pPr marL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用方框图语言表示的指令周期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163549" y="1557303"/>
            <a:ext cx="696686" cy="37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取指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098308" y="3794871"/>
            <a:ext cx="696686" cy="370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执行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5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6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714828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标题 309249"/>
          <p:cNvSpPr>
            <a:spLocks noGrp="1"/>
          </p:cNvSpPr>
          <p:nvPr>
            <p:ph type="title"/>
          </p:nvPr>
        </p:nvSpPr>
        <p:spPr>
          <a:xfrm>
            <a:off x="878580" y="205140"/>
            <a:ext cx="6292850" cy="762000"/>
          </a:xfrm>
        </p:spPr>
        <p:txBody>
          <a:bodyPr anchor="ctr">
            <a:norm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时序产生器和控制方式 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408335" y="4189892"/>
            <a:ext cx="8649413" cy="310242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时序系统是</a:t>
            </a:r>
            <a:r>
              <a:rPr lang="zh-CN" altLang="en-US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控制器的心脏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，功能：为指令的执行提供各种定时信号。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Freeform 14"/>
          <p:cNvSpPr>
            <a:spLocks/>
          </p:cNvSpPr>
          <p:nvPr/>
        </p:nvSpPr>
        <p:spPr bwMode="auto">
          <a:xfrm>
            <a:off x="703987" y="2333376"/>
            <a:ext cx="1032824" cy="1032148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>
              <a:solidFill>
                <a:schemeClr val="accent1"/>
              </a:solidFill>
            </a:endParaRPr>
          </a:p>
        </p:txBody>
      </p:sp>
      <p:sp>
        <p:nvSpPr>
          <p:cNvPr id="9" name="Freeform 14"/>
          <p:cNvSpPr>
            <a:spLocks/>
          </p:cNvSpPr>
          <p:nvPr/>
        </p:nvSpPr>
        <p:spPr bwMode="auto">
          <a:xfrm>
            <a:off x="703987" y="4318092"/>
            <a:ext cx="1032824" cy="1032148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94689" y="2433951"/>
            <a:ext cx="742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08336" y="1674957"/>
            <a:ext cx="86494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由于执行指令的各步操作是有先后次序的，并且许多控制信号的长短也有严格的时间限制，所以需要引入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时序信号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对它们进行定时控制。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94689" y="4418667"/>
            <a:ext cx="742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61070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标题 327681"/>
          <p:cNvSpPr>
            <a:spLocks noGrp="1"/>
          </p:cNvSpPr>
          <p:nvPr>
            <p:ph type="title"/>
          </p:nvPr>
        </p:nvSpPr>
        <p:spPr>
          <a:xfrm>
            <a:off x="875773" y="207899"/>
            <a:ext cx="5481060" cy="76200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的时序系统 </a:t>
            </a:r>
          </a:p>
        </p:txBody>
      </p:sp>
      <p:sp>
        <p:nvSpPr>
          <p:cNvPr id="327685" name="矩形 327684"/>
          <p:cNvSpPr/>
          <p:nvPr/>
        </p:nvSpPr>
        <p:spPr>
          <a:xfrm>
            <a:off x="852055" y="1305649"/>
            <a:ext cx="2159000" cy="5921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50000"/>
              <a:buFont typeface="Wingdings 2" panose="05020102010507070707" pitchFamily="18" charset="2"/>
              <a:buChar char="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0000"/>
              <a:buFont typeface="Wingdings 2" panose="05020102010507070707" pitchFamily="18" charset="2"/>
              <a:buChar char="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>
              <a:buNone/>
            </a:pPr>
            <a:endParaRPr lang="zh-CN" altLang="en-US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占位符 327682"/>
          <p:cNvSpPr txBox="1">
            <a:spLocks/>
          </p:cNvSpPr>
          <p:nvPr/>
        </p:nvSpPr>
        <p:spPr>
          <a:xfrm>
            <a:off x="1055177" y="4066375"/>
            <a:ext cx="7355973" cy="399501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50000"/>
              <a:buFont typeface="Wingdings 2" panose="05020102010507070707" pitchFamily="18" charset="2"/>
              <a:buChar char="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0000"/>
              <a:buFont typeface="Wingdings 2" panose="05020102010507070707" pitchFamily="18" charset="2"/>
              <a:buChar char="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所以，需要把一个机器周期分为</a:t>
            </a:r>
            <a:r>
              <a:rPr lang="zh-CN" altLang="en-US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若干个相等的时间段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，每一时间段对应一个节拍信号，称为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节拍脉冲信号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1384318" y="2013134"/>
            <a:ext cx="1573899" cy="1563688"/>
          </a:xfrm>
          <a:prstGeom prst="ellipse">
            <a:avLst/>
          </a:prstGeom>
          <a:solidFill>
            <a:srgbClr val="04B0BE"/>
          </a:solidFill>
          <a:ln w="38100" cap="flat">
            <a:solidFill>
              <a:srgbClr val="04B0BE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8623837" y="4379914"/>
            <a:ext cx="1573899" cy="1563688"/>
          </a:xfrm>
          <a:prstGeom prst="ellipse">
            <a:avLst/>
          </a:prstGeom>
          <a:solidFill>
            <a:srgbClr val="FFC000"/>
          </a:solidFill>
          <a:ln w="38100" cap="flat">
            <a:solidFill>
              <a:srgbClr val="FFC000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8" name="Freeform 10"/>
          <p:cNvSpPr>
            <a:spLocks noEditPoints="1"/>
          </p:cNvSpPr>
          <p:nvPr/>
        </p:nvSpPr>
        <p:spPr bwMode="auto">
          <a:xfrm>
            <a:off x="3049948" y="2621640"/>
            <a:ext cx="365303" cy="362962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Freeform 11"/>
          <p:cNvSpPr>
            <a:spLocks noEditPoints="1"/>
          </p:cNvSpPr>
          <p:nvPr/>
        </p:nvSpPr>
        <p:spPr bwMode="auto">
          <a:xfrm>
            <a:off x="8179353" y="4958030"/>
            <a:ext cx="365303" cy="362962"/>
          </a:xfrm>
          <a:custGeom>
            <a:avLst/>
            <a:gdLst>
              <a:gd name="T0" fmla="*/ 173 w 346"/>
              <a:gd name="T1" fmla="*/ 0 h 346"/>
              <a:gd name="T2" fmla="*/ 0 w 346"/>
              <a:gd name="T3" fmla="*/ 173 h 346"/>
              <a:gd name="T4" fmla="*/ 173 w 346"/>
              <a:gd name="T5" fmla="*/ 346 h 346"/>
              <a:gd name="T6" fmla="*/ 346 w 346"/>
              <a:gd name="T7" fmla="*/ 173 h 346"/>
              <a:gd name="T8" fmla="*/ 173 w 346"/>
              <a:gd name="T9" fmla="*/ 0 h 346"/>
              <a:gd name="T10" fmla="*/ 69 w 346"/>
              <a:gd name="T11" fmla="*/ 177 h 346"/>
              <a:gd name="T12" fmla="*/ 142 w 346"/>
              <a:gd name="T13" fmla="*/ 219 h 346"/>
              <a:gd name="T14" fmla="*/ 215 w 346"/>
              <a:gd name="T15" fmla="*/ 261 h 346"/>
              <a:gd name="T16" fmla="*/ 215 w 346"/>
              <a:gd name="T17" fmla="*/ 177 h 346"/>
              <a:gd name="T18" fmla="*/ 215 w 346"/>
              <a:gd name="T19" fmla="*/ 93 h 346"/>
              <a:gd name="T20" fmla="*/ 142 w 346"/>
              <a:gd name="T21" fmla="*/ 135 h 346"/>
              <a:gd name="T22" fmla="*/ 69 w 346"/>
              <a:gd name="T23" fmla="*/ 177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78" y="0"/>
                  <a:pt x="0" y="78"/>
                  <a:pt x="0" y="173"/>
                </a:cubicBezTo>
                <a:cubicBezTo>
                  <a:pt x="0" y="269"/>
                  <a:pt x="78" y="346"/>
                  <a:pt x="173" y="346"/>
                </a:cubicBezTo>
                <a:cubicBezTo>
                  <a:pt x="269" y="346"/>
                  <a:pt x="346" y="269"/>
                  <a:pt x="346" y="173"/>
                </a:cubicBezTo>
                <a:cubicBezTo>
                  <a:pt x="346" y="78"/>
                  <a:pt x="269" y="0"/>
                  <a:pt x="173" y="0"/>
                </a:cubicBezTo>
                <a:close/>
                <a:moveTo>
                  <a:pt x="69" y="177"/>
                </a:moveTo>
                <a:lnTo>
                  <a:pt x="142" y="219"/>
                </a:lnTo>
                <a:lnTo>
                  <a:pt x="215" y="261"/>
                </a:lnTo>
                <a:lnTo>
                  <a:pt x="215" y="177"/>
                </a:lnTo>
                <a:lnTo>
                  <a:pt x="215" y="93"/>
                </a:lnTo>
                <a:lnTo>
                  <a:pt x="142" y="135"/>
                </a:lnTo>
                <a:lnTo>
                  <a:pt x="69" y="17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TextBox 13"/>
          <p:cNvSpPr txBox="1"/>
          <p:nvPr/>
        </p:nvSpPr>
        <p:spPr>
          <a:xfrm flipH="1">
            <a:off x="1620755" y="2333494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01</a:t>
            </a:r>
          </a:p>
        </p:txBody>
      </p:sp>
      <p:sp>
        <p:nvSpPr>
          <p:cNvPr id="11" name="TextBox 14"/>
          <p:cNvSpPr txBox="1"/>
          <p:nvPr/>
        </p:nvSpPr>
        <p:spPr>
          <a:xfrm flipH="1">
            <a:off x="8868725" y="4700274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02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2" name="矩形 1"/>
          <p:cNvSpPr/>
          <p:nvPr/>
        </p:nvSpPr>
        <p:spPr>
          <a:xfrm>
            <a:off x="869847" y="826751"/>
            <a:ext cx="3775393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为什么需要设置节拍？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19487" y="2051672"/>
            <a:ext cx="70030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一个机器周期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内要完成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若干微操作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，有的可并行执行，有的要求顺序操作。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6346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875773" y="325865"/>
            <a:ext cx="5974331" cy="584733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的时序系统</a:t>
            </a: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269585" y="269251"/>
            <a:ext cx="262616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441371" y="443010"/>
            <a:ext cx="262616" cy="268540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265635" y="624671"/>
            <a:ext cx="260640" cy="266567"/>
          </a:xfrm>
          <a:custGeom>
            <a:avLst/>
            <a:gdLst>
              <a:gd name="T0" fmla="*/ 11 w 295"/>
              <a:gd name="T1" fmla="*/ 128 h 295"/>
              <a:gd name="T2" fmla="*/ 128 w 295"/>
              <a:gd name="T3" fmla="*/ 11 h 295"/>
              <a:gd name="T4" fmla="*/ 167 w 295"/>
              <a:gd name="T5" fmla="*/ 11 h 295"/>
              <a:gd name="T6" fmla="*/ 284 w 295"/>
              <a:gd name="T7" fmla="*/ 128 h 295"/>
              <a:gd name="T8" fmla="*/ 284 w 295"/>
              <a:gd name="T9" fmla="*/ 167 h 295"/>
              <a:gd name="T10" fmla="*/ 167 w 295"/>
              <a:gd name="T11" fmla="*/ 284 h 295"/>
              <a:gd name="T12" fmla="*/ 128 w 295"/>
              <a:gd name="T13" fmla="*/ 284 h 295"/>
              <a:gd name="T14" fmla="*/ 11 w 295"/>
              <a:gd name="T15" fmla="*/ 167 h 295"/>
              <a:gd name="T16" fmla="*/ 11 w 295"/>
              <a:gd name="T17" fmla="*/ 128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95" h="295">
                <a:moveTo>
                  <a:pt x="11" y="128"/>
                </a:moveTo>
                <a:lnTo>
                  <a:pt x="128" y="11"/>
                </a:lnTo>
                <a:cubicBezTo>
                  <a:pt x="139" y="0"/>
                  <a:pt x="156" y="0"/>
                  <a:pt x="167" y="11"/>
                </a:cubicBezTo>
                <a:lnTo>
                  <a:pt x="284" y="128"/>
                </a:lnTo>
                <a:cubicBezTo>
                  <a:pt x="295" y="139"/>
                  <a:pt x="295" y="156"/>
                  <a:pt x="284" y="167"/>
                </a:cubicBezTo>
                <a:lnTo>
                  <a:pt x="167" y="284"/>
                </a:lnTo>
                <a:cubicBezTo>
                  <a:pt x="156" y="295"/>
                  <a:pt x="139" y="295"/>
                  <a:pt x="128" y="284"/>
                </a:cubicBezTo>
                <a:lnTo>
                  <a:pt x="11" y="167"/>
                </a:lnTo>
                <a:cubicBezTo>
                  <a:pt x="0" y="156"/>
                  <a:pt x="0" y="139"/>
                  <a:pt x="11" y="128"/>
                </a:cubicBezTo>
                <a:close/>
              </a:path>
            </a:pathLst>
          </a:cu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8" name="矩形 7"/>
          <p:cNvSpPr/>
          <p:nvPr/>
        </p:nvSpPr>
        <p:spPr bwMode="auto">
          <a:xfrm>
            <a:off x="3267146" y="1587100"/>
            <a:ext cx="8092271" cy="114308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右箭头 8"/>
          <p:cNvSpPr/>
          <p:nvPr/>
        </p:nvSpPr>
        <p:spPr bwMode="auto">
          <a:xfrm>
            <a:off x="3195167" y="1899192"/>
            <a:ext cx="575839" cy="461640"/>
          </a:xfrm>
          <a:prstGeom prst="rightArrow">
            <a:avLst/>
          </a:prstGeom>
          <a:solidFill>
            <a:srgbClr val="04B0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0" name="矩形 9"/>
          <p:cNvSpPr/>
          <p:nvPr/>
        </p:nvSpPr>
        <p:spPr bwMode="auto">
          <a:xfrm>
            <a:off x="866879" y="1587100"/>
            <a:ext cx="2447316" cy="1143085"/>
          </a:xfrm>
          <a:prstGeom prst="rect">
            <a:avLst/>
          </a:prstGeom>
          <a:solidFill>
            <a:srgbClr val="04B0BE"/>
          </a:solidFill>
          <a:ln w="9525" cap="flat" cmpd="sng" algn="ctr">
            <a:solidFill>
              <a:srgbClr val="04B0BE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1" name="矩形 10"/>
          <p:cNvSpPr/>
          <p:nvPr/>
        </p:nvSpPr>
        <p:spPr bwMode="auto">
          <a:xfrm>
            <a:off x="3223330" y="3040565"/>
            <a:ext cx="8136087" cy="124753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右箭头 11"/>
          <p:cNvSpPr/>
          <p:nvPr/>
        </p:nvSpPr>
        <p:spPr bwMode="auto">
          <a:xfrm>
            <a:off x="3151351" y="3409916"/>
            <a:ext cx="575839" cy="461640"/>
          </a:xfrm>
          <a:prstGeom prst="rightArrow">
            <a:avLst/>
          </a:pr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3" name="矩形 12"/>
          <p:cNvSpPr/>
          <p:nvPr/>
        </p:nvSpPr>
        <p:spPr bwMode="auto">
          <a:xfrm>
            <a:off x="823063" y="3040565"/>
            <a:ext cx="2447316" cy="1247536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矩形 13"/>
          <p:cNvSpPr/>
          <p:nvPr/>
        </p:nvSpPr>
        <p:spPr bwMode="auto">
          <a:xfrm>
            <a:off x="3223330" y="4877690"/>
            <a:ext cx="8136087" cy="11955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5" name="右箭头 14"/>
          <p:cNvSpPr/>
          <p:nvPr/>
        </p:nvSpPr>
        <p:spPr bwMode="auto">
          <a:xfrm>
            <a:off x="3151351" y="5219417"/>
            <a:ext cx="575839" cy="461640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6" name="矩形 15"/>
          <p:cNvSpPr/>
          <p:nvPr/>
        </p:nvSpPr>
        <p:spPr bwMode="auto">
          <a:xfrm>
            <a:off x="823063" y="4877690"/>
            <a:ext cx="2447316" cy="1195563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0" name="TextBox 19"/>
          <p:cNvSpPr txBox="1"/>
          <p:nvPr/>
        </p:nvSpPr>
        <p:spPr>
          <a:xfrm>
            <a:off x="866879" y="1849345"/>
            <a:ext cx="2356451" cy="609355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节拍的宽度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3330" y="1572093"/>
            <a:ext cx="7944919" cy="1126420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取决于</a:t>
            </a:r>
            <a:r>
              <a:rPr lang="en-US" altLang="zh-CN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一次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基本操作的时间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，如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完成一次正确的运算、寄存器间的一次传送等 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7690" y="3125950"/>
            <a:ext cx="2937350" cy="1082626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定长机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器周期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7018" y="3080075"/>
            <a:ext cx="7892403" cy="1126420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最复杂的机器周期为准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来定出节拍数，每一节拍时间的长短也以最繁的微操作为准。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275" y="4946833"/>
            <a:ext cx="3060180" cy="1082626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不定长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机器周期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8434" y="4923031"/>
            <a:ext cx="7830988" cy="1126420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实际的需要安排节拍数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，需要多少个节拍就提供多少个节拍，故时间利用率高。</a:t>
            </a:r>
          </a:p>
        </p:txBody>
      </p:sp>
      <p:sp>
        <p:nvSpPr>
          <p:cNvPr id="28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26444243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8060">
        <p15:prstTrans prst="peelOff"/>
      </p:transition>
    </mc:Choice>
    <mc:Fallback xmlns="">
      <p:transition spd="slow" advTm="806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标题 328705"/>
          <p:cNvSpPr>
            <a:spLocks noGrp="1"/>
          </p:cNvSpPr>
          <p:nvPr>
            <p:ph type="title"/>
          </p:nvPr>
        </p:nvSpPr>
        <p:spPr>
          <a:xfrm>
            <a:off x="740569" y="323242"/>
            <a:ext cx="3268663" cy="576262"/>
          </a:xfrm>
        </p:spPr>
        <p:txBody>
          <a:bodyPr anchor="ctr">
            <a:normAutofit fontScale="90000"/>
          </a:bodyPr>
          <a:lstStyle/>
          <a:p>
            <a:pPr algn="l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工作脉冲</a:t>
            </a:r>
          </a:p>
        </p:txBody>
      </p:sp>
      <p:sp>
        <p:nvSpPr>
          <p:cNvPr id="328707" name="文本占位符 328706"/>
          <p:cNvSpPr>
            <a:spLocks noGrp="1"/>
          </p:cNvSpPr>
          <p:nvPr>
            <p:ph type="body" idx="1"/>
          </p:nvPr>
        </p:nvSpPr>
        <p:spPr>
          <a:xfrm>
            <a:off x="294807" y="1648191"/>
            <a:ext cx="3911617" cy="4646344"/>
          </a:xfrm>
          <a:ln w="28575">
            <a:solidFill>
              <a:srgbClr val="01C0B0"/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通常，在一个节拍内还设置一个或几个具有一定宽度的</a:t>
            </a:r>
            <a:r>
              <a:rPr lang="zh-CN" altLang="en-US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工作脉冲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一般小型机中常采用如图所示的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周期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节拍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工作脉冲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三级时序系统。</a:t>
            </a:r>
          </a:p>
        </p:txBody>
      </p:sp>
      <p:sp>
        <p:nvSpPr>
          <p:cNvPr id="328709" name="矩形 328708"/>
          <p:cNvSpPr/>
          <p:nvPr/>
        </p:nvSpPr>
        <p:spPr>
          <a:xfrm>
            <a:off x="1524001" y="1998147"/>
            <a:ext cx="184731" cy="36933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1D528D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28708" name="对象 328707"/>
          <p:cNvGraphicFramePr/>
          <p:nvPr>
            <p:extLst>
              <p:ext uri="{D42A27DB-BD31-4B8C-83A1-F6EECF244321}">
                <p14:modId xmlns:p14="http://schemas.microsoft.com/office/powerpoint/2010/main" val="548208570"/>
              </p:ext>
            </p:extLst>
          </p:nvPr>
        </p:nvGraphicFramePr>
        <p:xfrm>
          <a:off x="5460259" y="2367479"/>
          <a:ext cx="6453718" cy="3468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r:id="rId3" imgW="4488815" imgH="2802890" progId="Visio.Drawing.11">
                  <p:embed/>
                </p:oleObj>
              </mc:Choice>
              <mc:Fallback>
                <p:oleObj r:id="rId3" imgW="4488815" imgH="2802890" progId="Visio.Drawing.11">
                  <p:embed/>
                  <p:pic>
                    <p:nvPicPr>
                      <p:cNvPr id="328708" name="对象 3287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60259" y="2367479"/>
                        <a:ext cx="6453718" cy="34686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984641" y="2012789"/>
            <a:ext cx="2579691" cy="276379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975661" y="1642055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周期</a:t>
            </a:r>
            <a:endParaRPr lang="zh-CN" altLang="en-US" dirty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20925" y="2011387"/>
            <a:ext cx="2648282" cy="283727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9620297" y="1715990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周期</a:t>
            </a:r>
            <a:endParaRPr lang="zh-CN" altLang="en-US" dirty="0"/>
          </a:p>
        </p:txBody>
      </p:sp>
      <p:sp>
        <p:nvSpPr>
          <p:cNvPr id="2" name="左大括号 1"/>
          <p:cNvSpPr/>
          <p:nvPr/>
        </p:nvSpPr>
        <p:spPr>
          <a:xfrm>
            <a:off x="5176625" y="2430979"/>
            <a:ext cx="165100" cy="874889"/>
          </a:xfrm>
          <a:prstGeom prst="leftBrace">
            <a:avLst/>
          </a:prstGeom>
          <a:ln w="19050">
            <a:solidFill>
              <a:srgbClr val="3811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左大括号 10"/>
          <p:cNvSpPr/>
          <p:nvPr/>
        </p:nvSpPr>
        <p:spPr>
          <a:xfrm>
            <a:off x="5180859" y="3523179"/>
            <a:ext cx="241300" cy="1751189"/>
          </a:xfrm>
          <a:prstGeom prst="leftBrace">
            <a:avLst/>
          </a:prstGeom>
          <a:ln w="19050">
            <a:solidFill>
              <a:srgbClr val="3811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265691" y="2683757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周期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358057" y="4201407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节拍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144767" y="5410191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工作脉冲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216417" y="5894425"/>
            <a:ext cx="28953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3811DF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3811DF"/>
                </a:solidFill>
                <a:ea typeface="宋体" panose="02010600030101010101" pitchFamily="2" charset="-122"/>
              </a:rPr>
              <a:t>周期</a:t>
            </a:r>
            <a:r>
              <a:rPr lang="en-US" altLang="zh-CN" sz="2000" b="1" dirty="0">
                <a:solidFill>
                  <a:srgbClr val="3811DF"/>
                </a:solidFill>
                <a:ea typeface="宋体" panose="02010600030101010101" pitchFamily="2" charset="-122"/>
              </a:rPr>
              <a:t>=4</a:t>
            </a:r>
            <a:r>
              <a:rPr lang="zh-CN" altLang="en-US" sz="2000" b="1" dirty="0">
                <a:solidFill>
                  <a:srgbClr val="3811DF"/>
                </a:solidFill>
                <a:ea typeface="宋体" panose="02010600030101010101" pitchFamily="2" charset="-122"/>
              </a:rPr>
              <a:t>节拍</a:t>
            </a:r>
            <a:r>
              <a:rPr lang="en-US" altLang="zh-CN" sz="2000" b="1" dirty="0">
                <a:solidFill>
                  <a:srgbClr val="3811DF"/>
                </a:solidFill>
                <a:ea typeface="宋体" panose="02010600030101010101" pitchFamily="2" charset="-122"/>
              </a:rPr>
              <a:t>=8</a:t>
            </a:r>
            <a:r>
              <a:rPr lang="zh-CN" altLang="en-US" sz="2000" b="1" dirty="0">
                <a:solidFill>
                  <a:srgbClr val="3811DF"/>
                </a:solidFill>
                <a:ea typeface="宋体" panose="02010600030101010101" pitchFamily="2" charset="-122"/>
              </a:rPr>
              <a:t>工作脉冲</a:t>
            </a:r>
            <a:endParaRPr lang="zh-CN" altLang="en-US" sz="2000" dirty="0">
              <a:solidFill>
                <a:srgbClr val="3811DF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9783472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83"/>
          <p:cNvSpPr>
            <a:spLocks noChangeArrowheads="1"/>
          </p:cNvSpPr>
          <p:nvPr/>
        </p:nvSpPr>
        <p:spPr bwMode="auto">
          <a:xfrm>
            <a:off x="893991" y="938605"/>
            <a:ext cx="10032764" cy="1504344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6" name="Freeform 12"/>
          <p:cNvSpPr>
            <a:spLocks/>
          </p:cNvSpPr>
          <p:nvPr/>
        </p:nvSpPr>
        <p:spPr bwMode="auto">
          <a:xfrm>
            <a:off x="882321" y="854697"/>
            <a:ext cx="407455" cy="37667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7" name="Freeform 12"/>
          <p:cNvSpPr>
            <a:spLocks/>
          </p:cNvSpPr>
          <p:nvPr/>
        </p:nvSpPr>
        <p:spPr bwMode="auto">
          <a:xfrm flipH="1" flipV="1">
            <a:off x="10472910" y="2124860"/>
            <a:ext cx="528432" cy="376675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329730" name="标题 329729"/>
          <p:cNvSpPr>
            <a:spLocks noGrp="1"/>
          </p:cNvSpPr>
          <p:nvPr>
            <p:ph type="title"/>
          </p:nvPr>
        </p:nvSpPr>
        <p:spPr>
          <a:xfrm>
            <a:off x="833502" y="248145"/>
            <a:ext cx="7507288" cy="533400"/>
          </a:xfrm>
        </p:spPr>
        <p:txBody>
          <a:bodyPr anchor="ctr"/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节拍脉冲和工作脉冲的时间配合</a:t>
            </a:r>
          </a:p>
        </p:txBody>
      </p:sp>
      <p:sp>
        <p:nvSpPr>
          <p:cNvPr id="329731" name="文本占位符 329730"/>
          <p:cNvSpPr>
            <a:spLocks noGrp="1"/>
          </p:cNvSpPr>
          <p:nvPr>
            <p:ph type="body" sz="half" idx="1"/>
          </p:nvPr>
        </p:nvSpPr>
        <p:spPr>
          <a:xfrm>
            <a:off x="1086048" y="1035190"/>
            <a:ext cx="11298009" cy="12700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节拍脉冲信号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在数据通路传输中</a:t>
            </a:r>
            <a:r>
              <a:rPr lang="zh-CN" altLang="en-US" sz="24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起开、关门的控制作用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，是信息的载体。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工作脉冲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则作为打入脉冲，</a:t>
            </a:r>
            <a:r>
              <a:rPr lang="zh-CN" altLang="en-US" sz="24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起定时触发作用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820" y="2729551"/>
            <a:ext cx="8617874" cy="3922669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3570052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标题 332801"/>
          <p:cNvSpPr>
            <a:spLocks noGrp="1"/>
          </p:cNvSpPr>
          <p:nvPr>
            <p:ph type="title"/>
          </p:nvPr>
        </p:nvSpPr>
        <p:spPr>
          <a:xfrm>
            <a:off x="875773" y="269251"/>
            <a:ext cx="5500687" cy="647700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CPU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的控制方式 </a:t>
            </a:r>
          </a:p>
        </p:txBody>
      </p:sp>
      <p:sp>
        <p:nvSpPr>
          <p:cNvPr id="332803" name="文本占位符 332802"/>
          <p:cNvSpPr>
            <a:spLocks noGrp="1"/>
          </p:cNvSpPr>
          <p:nvPr>
            <p:ph type="body" idx="1"/>
          </p:nvPr>
        </p:nvSpPr>
        <p:spPr>
          <a:xfrm>
            <a:off x="1356506" y="5757090"/>
            <a:ext cx="10668000" cy="4659136"/>
          </a:xfrm>
        </p:spPr>
        <p:txBody>
          <a:bodyPr>
            <a:normAutofit/>
          </a:bodyPr>
          <a:lstStyle/>
          <a:p>
            <a:pPr marL="457200" lvl="1" indent="0" algn="just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联合控制方式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703987" y="1152647"/>
            <a:ext cx="799664" cy="799664"/>
          </a:xfrm>
          <a:prstGeom prst="ellipse">
            <a:avLst/>
          </a:prstGeom>
          <a:solidFill>
            <a:srgbClr val="04B0B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5" name="TextBox 9"/>
          <p:cNvSpPr txBox="1"/>
          <p:nvPr/>
        </p:nvSpPr>
        <p:spPr>
          <a:xfrm>
            <a:off x="758350" y="1260209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/>
          <p:cNvCxnSpPr>
            <a:cxnSpLocks/>
          </p:cNvCxnSpPr>
          <p:nvPr/>
        </p:nvCxnSpPr>
        <p:spPr bwMode="auto">
          <a:xfrm>
            <a:off x="1110284" y="3233770"/>
            <a:ext cx="0" cy="323519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0"/>
          <p:cNvCxnSpPr/>
          <p:nvPr/>
        </p:nvCxnSpPr>
        <p:spPr bwMode="auto">
          <a:xfrm>
            <a:off x="1110284" y="1957621"/>
            <a:ext cx="0" cy="114354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矩形 1"/>
          <p:cNvSpPr/>
          <p:nvPr/>
        </p:nvSpPr>
        <p:spPr>
          <a:xfrm>
            <a:off x="1708440" y="1090710"/>
            <a:ext cx="7007046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形成微操作序列的时序方式称为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控制方式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1708440" y="2206903"/>
            <a:ext cx="956307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控制方式不仅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直接决定着微操作控制信号的产生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，也影响到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控制器及其他部件的组成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指令的执行速度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762803" y="3713728"/>
            <a:ext cx="305724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常用的控制方式：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750378" y="2496338"/>
            <a:ext cx="799664" cy="799664"/>
          </a:xfrm>
          <a:prstGeom prst="ellipse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7" name="TextBox 11"/>
          <p:cNvSpPr txBox="1"/>
          <p:nvPr/>
        </p:nvSpPr>
        <p:spPr>
          <a:xfrm>
            <a:off x="804741" y="2603899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703987" y="3683228"/>
            <a:ext cx="799664" cy="799664"/>
          </a:xfrm>
          <a:prstGeom prst="ellipse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9" name="TextBox 13"/>
          <p:cNvSpPr txBox="1"/>
          <p:nvPr/>
        </p:nvSpPr>
        <p:spPr>
          <a:xfrm>
            <a:off x="758350" y="3790791"/>
            <a:ext cx="598156" cy="584605"/>
          </a:xfrm>
          <a:prstGeom prst="rect">
            <a:avLst/>
          </a:prstGeom>
          <a:noFill/>
        </p:spPr>
        <p:txBody>
          <a:bodyPr wrap="none" lIns="91398" tIns="45699" rIns="91398" bIns="45699" rtlCol="0">
            <a:spAutoFit/>
          </a:bodyPr>
          <a:lstStyle/>
          <a:p>
            <a:r>
              <a:rPr lang="en-US" altLang="zh-CN" sz="3199" b="1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zh-CN" altLang="en-US" sz="3199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Oval 6"/>
          <p:cNvSpPr>
            <a:spLocks noChangeArrowheads="1"/>
          </p:cNvSpPr>
          <p:nvPr/>
        </p:nvSpPr>
        <p:spPr bwMode="auto">
          <a:xfrm>
            <a:off x="991268" y="4785710"/>
            <a:ext cx="238032" cy="234859"/>
          </a:xfrm>
          <a:prstGeom prst="ellipse">
            <a:avLst/>
          </a:prstGeom>
          <a:solidFill>
            <a:srgbClr val="92D050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7" name="Oval 7"/>
          <p:cNvSpPr>
            <a:spLocks noChangeArrowheads="1"/>
          </p:cNvSpPr>
          <p:nvPr/>
        </p:nvSpPr>
        <p:spPr bwMode="auto">
          <a:xfrm>
            <a:off x="991268" y="5323387"/>
            <a:ext cx="238032" cy="234859"/>
          </a:xfrm>
          <a:prstGeom prst="ellipse">
            <a:avLst/>
          </a:prstGeom>
          <a:solidFill>
            <a:srgbClr val="92D050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8" name="Oval 7"/>
          <p:cNvSpPr>
            <a:spLocks noChangeArrowheads="1"/>
          </p:cNvSpPr>
          <p:nvPr/>
        </p:nvSpPr>
        <p:spPr bwMode="auto">
          <a:xfrm>
            <a:off x="984803" y="5978950"/>
            <a:ext cx="238032" cy="234859"/>
          </a:xfrm>
          <a:prstGeom prst="ellipse">
            <a:avLst/>
          </a:prstGeom>
          <a:solidFill>
            <a:srgbClr val="92D050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5" name="矩形 14"/>
          <p:cNvSpPr/>
          <p:nvPr/>
        </p:nvSpPr>
        <p:spPr>
          <a:xfrm>
            <a:off x="1348314" y="4455218"/>
            <a:ext cx="280076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同步控制方式</a:t>
            </a:r>
            <a:endParaRPr lang="en-US" altLang="zh-CN" sz="2800" b="1" dirty="0">
              <a:solidFill>
                <a:srgbClr val="3811D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48315" y="5053002"/>
            <a:ext cx="2800767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异步控制方式</a:t>
            </a:r>
            <a:endParaRPr lang="en-US" altLang="zh-CN" sz="2800" b="1" dirty="0">
              <a:solidFill>
                <a:srgbClr val="3811D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23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5465487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908740" y="276000"/>
            <a:ext cx="5974331" cy="5231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同步控制方式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69" name="Line 5"/>
          <p:cNvSpPr>
            <a:spLocks noChangeShapeType="1"/>
          </p:cNvSpPr>
          <p:nvPr/>
        </p:nvSpPr>
        <p:spPr bwMode="auto">
          <a:xfrm>
            <a:off x="811965" y="1436995"/>
            <a:ext cx="0" cy="5255767"/>
          </a:xfrm>
          <a:prstGeom prst="line">
            <a:avLst/>
          </a:prstGeom>
          <a:noFill/>
          <a:ln w="12700" cap="flat">
            <a:solidFill>
              <a:srgbClr val="2E2C2C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0" name="Oval 6"/>
          <p:cNvSpPr>
            <a:spLocks noChangeArrowheads="1"/>
          </p:cNvSpPr>
          <p:nvPr/>
        </p:nvSpPr>
        <p:spPr bwMode="auto">
          <a:xfrm>
            <a:off x="689418" y="3108312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1" name="Oval 7"/>
          <p:cNvSpPr>
            <a:spLocks noChangeArrowheads="1"/>
          </p:cNvSpPr>
          <p:nvPr/>
        </p:nvSpPr>
        <p:spPr bwMode="auto">
          <a:xfrm>
            <a:off x="692949" y="3922730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2" name="Freeform 9"/>
          <p:cNvSpPr>
            <a:spLocks/>
          </p:cNvSpPr>
          <p:nvPr/>
        </p:nvSpPr>
        <p:spPr bwMode="auto">
          <a:xfrm>
            <a:off x="1148384" y="1357648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3" name="Freeform 11"/>
          <p:cNvSpPr>
            <a:spLocks/>
          </p:cNvSpPr>
          <p:nvPr/>
        </p:nvSpPr>
        <p:spPr bwMode="auto">
          <a:xfrm>
            <a:off x="1148384" y="2297883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4" name="组合 73"/>
          <p:cNvGrpSpPr/>
          <p:nvPr/>
        </p:nvGrpSpPr>
        <p:grpSpPr>
          <a:xfrm>
            <a:off x="431062" y="1185799"/>
            <a:ext cx="717324" cy="523092"/>
            <a:chOff x="912759" y="1007596"/>
            <a:chExt cx="717604" cy="523296"/>
          </a:xfrm>
        </p:grpSpPr>
        <p:sp>
          <p:nvSpPr>
            <p:cNvPr id="75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solidFill>
              <a:srgbClr val="01C0B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431062" y="2135385"/>
            <a:ext cx="717324" cy="523092"/>
            <a:chOff x="912759" y="1884191"/>
            <a:chExt cx="717604" cy="523296"/>
          </a:xfrm>
        </p:grpSpPr>
        <p:sp>
          <p:nvSpPr>
            <p:cNvPr id="80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94" name="Oval 7"/>
          <p:cNvSpPr>
            <a:spLocks noChangeArrowheads="1"/>
          </p:cNvSpPr>
          <p:nvPr/>
        </p:nvSpPr>
        <p:spPr bwMode="auto">
          <a:xfrm>
            <a:off x="670708" y="4970974"/>
            <a:ext cx="238032" cy="234859"/>
          </a:xfrm>
          <a:prstGeom prst="ellipse">
            <a:avLst/>
          </a:prstGeom>
          <a:solidFill>
            <a:schemeClr val="accent4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Freeform 9"/>
          <p:cNvSpPr>
            <a:spLocks/>
          </p:cNvSpPr>
          <p:nvPr/>
        </p:nvSpPr>
        <p:spPr bwMode="auto">
          <a:xfrm>
            <a:off x="1171814" y="5833578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02B9E7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29" name="组合 28"/>
          <p:cNvGrpSpPr/>
          <p:nvPr/>
        </p:nvGrpSpPr>
        <p:grpSpPr>
          <a:xfrm>
            <a:off x="454492" y="5661729"/>
            <a:ext cx="717324" cy="523092"/>
            <a:chOff x="912759" y="1007596"/>
            <a:chExt cx="717604" cy="523296"/>
          </a:xfrm>
          <a:solidFill>
            <a:srgbClr val="02B9E7"/>
          </a:solidFill>
        </p:grpSpPr>
        <p:sp>
          <p:nvSpPr>
            <p:cNvPr id="30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31" name="TextBox 14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03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456239" y="997915"/>
            <a:ext cx="10130710" cy="941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同步控制方式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：指系统有一个</a:t>
            </a:r>
            <a:r>
              <a:rPr lang="zh-CN" altLang="en-US" sz="24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统一的时钟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，所有的控制信号均来自这个统一的时钟信号。</a:t>
            </a:r>
          </a:p>
        </p:txBody>
      </p:sp>
      <p:sp>
        <p:nvSpPr>
          <p:cNvPr id="3" name="矩形 2"/>
          <p:cNvSpPr/>
          <p:nvPr/>
        </p:nvSpPr>
        <p:spPr>
          <a:xfrm>
            <a:off x="1456239" y="2072549"/>
            <a:ext cx="10114105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根据指令周期、机器周期和节拍的长度固定与否，同步控制方式又分为：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7755" y="2954970"/>
            <a:ext cx="11614339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定长指令周期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：即所有指令的执行时间都相等。</a:t>
            </a:r>
          </a:p>
        </p:txBody>
      </p:sp>
      <p:sp>
        <p:nvSpPr>
          <p:cNvPr id="8" name="矩形 7"/>
          <p:cNvSpPr/>
          <p:nvPr/>
        </p:nvSpPr>
        <p:spPr>
          <a:xfrm>
            <a:off x="1027755" y="3758864"/>
            <a:ext cx="10508033" cy="941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定长机器周期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：各个机器周期都相等，一般都等于主存的存取周期。而指令周期不固定，等于机器周期的整数倍。</a:t>
            </a:r>
          </a:p>
        </p:txBody>
      </p:sp>
      <p:sp>
        <p:nvSpPr>
          <p:cNvPr id="9" name="矩形 8"/>
          <p:cNvSpPr/>
          <p:nvPr/>
        </p:nvSpPr>
        <p:spPr>
          <a:xfrm>
            <a:off x="976594" y="4861210"/>
            <a:ext cx="10559194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120000"/>
              </a:lnSpc>
            </a:pPr>
            <a:r>
              <a:rPr lang="zh-CN" altLang="en-US" sz="24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变长机器周期、定长节拍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：效率较高，但时序系统的控制比较复杂。</a:t>
            </a:r>
          </a:p>
        </p:txBody>
      </p:sp>
      <p:sp>
        <p:nvSpPr>
          <p:cNvPr id="10" name="矩形 9"/>
          <p:cNvSpPr/>
          <p:nvPr/>
        </p:nvSpPr>
        <p:spPr>
          <a:xfrm>
            <a:off x="1427675" y="5570882"/>
            <a:ext cx="10095240" cy="941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内部操作均采用同步控制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，其原因是同一芯片的材料相同、工作速度相同，片内传输线短，又有共同的脉冲源，所以采用同步控制方式。</a:t>
            </a:r>
          </a:p>
        </p:txBody>
      </p:sp>
    </p:spTree>
    <p:extLst>
      <p:ext uri="{BB962C8B-B14F-4D97-AF65-F5344CB8AC3E}">
        <p14:creationId xmlns:p14="http://schemas.microsoft.com/office/powerpoint/2010/main" val="37463469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8826">
        <p15:prstTrans prst="peelOff"/>
      </p:transition>
    </mc:Choice>
    <mc:Fallback xmlns="">
      <p:transition spd="slow" advTm="8826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标题 336897"/>
          <p:cNvSpPr>
            <a:spLocks noGrp="1"/>
          </p:cNvSpPr>
          <p:nvPr>
            <p:ph type="title"/>
          </p:nvPr>
        </p:nvSpPr>
        <p:spPr>
          <a:xfrm>
            <a:off x="850456" y="196280"/>
            <a:ext cx="6292850" cy="762000"/>
          </a:xfrm>
        </p:spPr>
        <p:txBody>
          <a:bodyPr anchor="ctr"/>
          <a:lstStyle/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异步控制方式</a:t>
            </a:r>
          </a:p>
        </p:txBody>
      </p:sp>
      <p:sp>
        <p:nvSpPr>
          <p:cNvPr id="336899" name="文本占位符 336898"/>
          <p:cNvSpPr>
            <a:spLocks noGrp="1"/>
          </p:cNvSpPr>
          <p:nvPr>
            <p:ph type="body" idx="1"/>
          </p:nvPr>
        </p:nvSpPr>
        <p:spPr>
          <a:xfrm>
            <a:off x="526275" y="1132039"/>
            <a:ext cx="11266311" cy="544512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异步控制方式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即可变时序控制方式，各项操作不采用统一的时序信号控制，而根据指令或部件的具体情况决定，需要多少时间，就占用多少时间。</a:t>
            </a:r>
          </a:p>
          <a:p>
            <a:pPr marL="0" indent="0">
              <a:lnSpc>
                <a:spcPct val="11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异步控制方式采用不同时序，没有时间上的浪费，因而提高了机器的效率，但是控制比较复杂。</a:t>
            </a:r>
          </a:p>
          <a:p>
            <a:pPr marL="0" indent="0">
              <a:lnSpc>
                <a:spcPct val="110000"/>
              </a:lnSpc>
              <a:buNone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6901" name="矩形 336900"/>
          <p:cNvSpPr/>
          <p:nvPr/>
        </p:nvSpPr>
        <p:spPr>
          <a:xfrm>
            <a:off x="1524000" y="28956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1D528D"/>
              </a:solidFill>
            </a:endParaRPr>
          </a:p>
        </p:txBody>
      </p:sp>
      <p:sp>
        <p:nvSpPr>
          <p:cNvPr id="336902" name="矩形 336901"/>
          <p:cNvSpPr/>
          <p:nvPr/>
        </p:nvSpPr>
        <p:spPr>
          <a:xfrm>
            <a:off x="3889756" y="5022083"/>
            <a:ext cx="4892686" cy="498598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采用“应答通信”实现的控制方式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309" y="2404534"/>
            <a:ext cx="8757010" cy="24835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630" y="2539999"/>
            <a:ext cx="514503" cy="12287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442" y="3533422"/>
            <a:ext cx="532897" cy="127269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970" y="2539999"/>
            <a:ext cx="869622" cy="2086534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1C0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2866449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06799" y="1745360"/>
            <a:ext cx="9313819" cy="36845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89D2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81795" y="1681860"/>
            <a:ext cx="9313819" cy="3684587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1399355" y="1719960"/>
            <a:ext cx="9337675" cy="3684587"/>
          </a:xfrm>
          <a:prstGeom prst="rect">
            <a:avLst/>
          </a:prstGeom>
          <a:noFill/>
          <a:ln w="19050">
            <a:solidFill>
              <a:srgbClr val="0089D2"/>
            </a:solidFill>
            <a:bevel/>
            <a:headEnd/>
            <a:tailEnd/>
          </a:ln>
        </p:spPr>
        <p:txBody>
          <a:bodyPr lIns="91424" tIns="45713" rIns="91424" bIns="45713" anchor="ctr"/>
          <a:lstStyle/>
          <a:p>
            <a:pPr algn="ctr"/>
            <a:endParaRPr lang="zh-CN" altLang="zh-CN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854817">
            <a:off x="8974774" y="5241992"/>
            <a:ext cx="1658468" cy="1050719"/>
          </a:xfrm>
          <a:prstGeom prst="rect">
            <a:avLst/>
          </a:prstGeom>
          <a:solidFill>
            <a:srgbClr val="FFFFFF">
              <a:shade val="85000"/>
            </a:srgbClr>
          </a:solidFill>
          <a:ln w="1143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pic>
        <p:nvPicPr>
          <p:cNvPr id="23" name="Picture 172"/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9707" y="127871"/>
            <a:ext cx="2206912" cy="9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6748043"/>
            <a:ext cx="12192000" cy="134292"/>
          </a:xfrm>
          <a:prstGeom prst="rect">
            <a:avLst/>
          </a:prstGeom>
          <a:solidFill>
            <a:srgbClr val="04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425202" y="79057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延迟符</a:t>
            </a:r>
          </a:p>
        </p:txBody>
      </p:sp>
      <p:sp>
        <p:nvSpPr>
          <p:cNvPr id="2" name="矩形 1"/>
          <p:cNvSpPr/>
          <p:nvPr/>
        </p:nvSpPr>
        <p:spPr>
          <a:xfrm>
            <a:off x="1399355" y="1083035"/>
            <a:ext cx="2646878" cy="6331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联合控制方式</a:t>
            </a:r>
          </a:p>
        </p:txBody>
      </p:sp>
      <p:sp>
        <p:nvSpPr>
          <p:cNvPr id="3" name="矩形 2"/>
          <p:cNvSpPr/>
          <p:nvPr/>
        </p:nvSpPr>
        <p:spPr>
          <a:xfrm>
            <a:off x="1539591" y="1722109"/>
            <a:ext cx="8998226" cy="371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联合控制方式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是同步控制和异步控制相结合的方式。现代计算机中几乎没有完全采用同步或异步的控制方式，多数是采用联合控制方式。</a:t>
            </a: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通常的设计思想：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在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功能部件内部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同步方式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或以同步方式为主的控制方式；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功能部件之间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2800" b="1" dirty="0">
                <a:solidFill>
                  <a:srgbClr val="3811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异步方式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12777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Click="0" advTm="0">
        <p15:prstTrans prst="peelOff"/>
      </p:transition>
    </mc:Choice>
    <mc:Fallback xmlns="">
      <p:transition spd="slow"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83441" y="2541722"/>
            <a:ext cx="3868499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dist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176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764</Words>
  <Application>Microsoft Office PowerPoint</Application>
  <PresentationFormat>宽屏</PresentationFormat>
  <Paragraphs>118</Paragraphs>
  <Slides>13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Wingdings 2</vt:lpstr>
      <vt:lpstr>第一PPT，www.1ppt.com</vt:lpstr>
      <vt:lpstr>Visio.Drawing.11</vt:lpstr>
      <vt:lpstr>PowerPoint 演示文稿</vt:lpstr>
      <vt:lpstr>PowerPoint 演示文稿</vt:lpstr>
      <vt:lpstr>PowerPoint 演示文稿</vt:lpstr>
      <vt:lpstr>时序产生器和控制方式 </vt:lpstr>
      <vt:lpstr>CPU的时序系统 </vt:lpstr>
      <vt:lpstr>PowerPoint 演示文稿</vt:lpstr>
      <vt:lpstr>工作脉冲</vt:lpstr>
      <vt:lpstr>节拍脉冲和工作脉冲的时间配合</vt:lpstr>
      <vt:lpstr>CPU的控制方式 </vt:lpstr>
      <vt:lpstr>PowerPoint 演示文稿</vt:lpstr>
      <vt:lpstr>异步控制方式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文光</cp:lastModifiedBy>
  <cp:revision>34</cp:revision>
  <dcterms:created xsi:type="dcterms:W3CDTF">2016-06-01T05:10:04Z</dcterms:created>
  <dcterms:modified xsi:type="dcterms:W3CDTF">2017-06-01T12:30:26Z</dcterms:modified>
</cp:coreProperties>
</file>