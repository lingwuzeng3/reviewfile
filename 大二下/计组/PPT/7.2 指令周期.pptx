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9" r:id="rId2"/>
    <p:sldId id="290" r:id="rId3"/>
    <p:sldId id="304" r:id="rId4"/>
    <p:sldId id="305" r:id="rId5"/>
    <p:sldId id="293" r:id="rId6"/>
    <p:sldId id="294" r:id="rId7"/>
    <p:sldId id="306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9E7"/>
    <a:srgbClr val="01C0B0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77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4" y="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56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821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E118AC-0E3D-4960-B9EC-B6D48B9F7C6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067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928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10" Type="http://schemas.openxmlformats.org/officeDocument/2006/relationships/image" Target="../media/image17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13" Type="http://schemas.openxmlformats.org/officeDocument/2006/relationships/image" Target="../media/image29.emf"/><Relationship Id="rId18" Type="http://schemas.openxmlformats.org/officeDocument/2006/relationships/image" Target="../media/image34.emf"/><Relationship Id="rId3" Type="http://schemas.openxmlformats.org/officeDocument/2006/relationships/image" Target="../media/image19.emf"/><Relationship Id="rId21" Type="http://schemas.openxmlformats.org/officeDocument/2006/relationships/image" Target="../media/image37.emf"/><Relationship Id="rId7" Type="http://schemas.openxmlformats.org/officeDocument/2006/relationships/image" Target="../media/image23.emf"/><Relationship Id="rId12" Type="http://schemas.openxmlformats.org/officeDocument/2006/relationships/image" Target="../media/image28.emf"/><Relationship Id="rId17" Type="http://schemas.openxmlformats.org/officeDocument/2006/relationships/image" Target="../media/image33.emf"/><Relationship Id="rId2" Type="http://schemas.openxmlformats.org/officeDocument/2006/relationships/image" Target="../media/image18.emf"/><Relationship Id="rId16" Type="http://schemas.openxmlformats.org/officeDocument/2006/relationships/image" Target="../media/image32.emf"/><Relationship Id="rId20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11" Type="http://schemas.openxmlformats.org/officeDocument/2006/relationships/image" Target="../media/image27.emf"/><Relationship Id="rId5" Type="http://schemas.openxmlformats.org/officeDocument/2006/relationships/image" Target="../media/image21.emf"/><Relationship Id="rId15" Type="http://schemas.openxmlformats.org/officeDocument/2006/relationships/image" Target="../media/image31.emf"/><Relationship Id="rId23" Type="http://schemas.openxmlformats.org/officeDocument/2006/relationships/image" Target="../media/image39.emf"/><Relationship Id="rId10" Type="http://schemas.openxmlformats.org/officeDocument/2006/relationships/image" Target="../media/image26.emf"/><Relationship Id="rId19" Type="http://schemas.openxmlformats.org/officeDocument/2006/relationships/image" Target="../media/image35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Relationship Id="rId14" Type="http://schemas.openxmlformats.org/officeDocument/2006/relationships/image" Target="../media/image30.emf"/><Relationship Id="rId22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12" Type="http://schemas.openxmlformats.org/officeDocument/2006/relationships/image" Target="../media/image50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11" Type="http://schemas.openxmlformats.org/officeDocument/2006/relationships/image" Target="../media/image49.emf"/><Relationship Id="rId5" Type="http://schemas.openxmlformats.org/officeDocument/2006/relationships/image" Target="../media/image43.emf"/><Relationship Id="rId10" Type="http://schemas.openxmlformats.org/officeDocument/2006/relationships/image" Target="../media/image48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image" Target="../media/image62.emf"/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12" Type="http://schemas.openxmlformats.org/officeDocument/2006/relationships/image" Target="../media/image61.emf"/><Relationship Id="rId2" Type="http://schemas.openxmlformats.org/officeDocument/2006/relationships/image" Target="../media/image51.emf"/><Relationship Id="rId16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image" Target="../media/image60.emf"/><Relationship Id="rId5" Type="http://schemas.openxmlformats.org/officeDocument/2006/relationships/image" Target="../media/image54.emf"/><Relationship Id="rId15" Type="http://schemas.openxmlformats.org/officeDocument/2006/relationships/image" Target="../media/image64.emf"/><Relationship Id="rId10" Type="http://schemas.openxmlformats.org/officeDocument/2006/relationships/image" Target="../media/image59.emf"/><Relationship Id="rId4" Type="http://schemas.openxmlformats.org/officeDocument/2006/relationships/image" Target="../media/image53.emf"/><Relationship Id="rId9" Type="http://schemas.openxmlformats.org/officeDocument/2006/relationships/image" Target="../media/image58.emf"/><Relationship Id="rId14" Type="http://schemas.openxmlformats.org/officeDocument/2006/relationships/image" Target="../media/image6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image" Target="../media/image76.emf"/><Relationship Id="rId18" Type="http://schemas.openxmlformats.org/officeDocument/2006/relationships/image" Target="../media/image81.emf"/><Relationship Id="rId3" Type="http://schemas.openxmlformats.org/officeDocument/2006/relationships/image" Target="../media/image66.emf"/><Relationship Id="rId7" Type="http://schemas.openxmlformats.org/officeDocument/2006/relationships/image" Target="../media/image70.emf"/><Relationship Id="rId12" Type="http://schemas.openxmlformats.org/officeDocument/2006/relationships/image" Target="../media/image75.emf"/><Relationship Id="rId17" Type="http://schemas.openxmlformats.org/officeDocument/2006/relationships/image" Target="../media/image80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emf"/><Relationship Id="rId11" Type="http://schemas.openxmlformats.org/officeDocument/2006/relationships/image" Target="../media/image74.emf"/><Relationship Id="rId5" Type="http://schemas.openxmlformats.org/officeDocument/2006/relationships/image" Target="../media/image68.emf"/><Relationship Id="rId15" Type="http://schemas.openxmlformats.org/officeDocument/2006/relationships/image" Target="../media/image78.emf"/><Relationship Id="rId10" Type="http://schemas.openxmlformats.org/officeDocument/2006/relationships/image" Target="../media/image73.emf"/><Relationship Id="rId4" Type="http://schemas.openxmlformats.org/officeDocument/2006/relationships/image" Target="../media/image67.emf"/><Relationship Id="rId9" Type="http://schemas.openxmlformats.org/officeDocument/2006/relationships/image" Target="../media/image72.emf"/><Relationship Id="rId14" Type="http://schemas.openxmlformats.org/officeDocument/2006/relationships/image" Target="../media/image7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3" Type="http://schemas.openxmlformats.org/officeDocument/2006/relationships/image" Target="../media/image83.emf"/><Relationship Id="rId7" Type="http://schemas.openxmlformats.org/officeDocument/2006/relationships/image" Target="../media/image80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emf"/><Relationship Id="rId11" Type="http://schemas.openxmlformats.org/officeDocument/2006/relationships/image" Target="../media/image69.emf"/><Relationship Id="rId5" Type="http://schemas.openxmlformats.org/officeDocument/2006/relationships/image" Target="../media/image85.emf"/><Relationship Id="rId10" Type="http://schemas.openxmlformats.org/officeDocument/2006/relationships/image" Target="../media/image89.emf"/><Relationship Id="rId4" Type="http://schemas.openxmlformats.org/officeDocument/2006/relationships/image" Target="../media/image84.emf"/><Relationship Id="rId9" Type="http://schemas.openxmlformats.org/officeDocument/2006/relationships/image" Target="../media/image8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3" Type="http://schemas.openxmlformats.org/officeDocument/2006/relationships/image" Target="../media/image91.emf"/><Relationship Id="rId7" Type="http://schemas.openxmlformats.org/officeDocument/2006/relationships/image" Target="../media/image95.emf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emf"/><Relationship Id="rId5" Type="http://schemas.openxmlformats.org/officeDocument/2006/relationships/image" Target="../media/image93.emf"/><Relationship Id="rId10" Type="http://schemas.openxmlformats.org/officeDocument/2006/relationships/image" Target="../media/image54.emf"/><Relationship Id="rId4" Type="http://schemas.openxmlformats.org/officeDocument/2006/relationships/image" Target="../media/image92.emf"/><Relationship Id="rId9" Type="http://schemas.openxmlformats.org/officeDocument/2006/relationships/image" Target="../media/image9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emf"/><Relationship Id="rId7" Type="http://schemas.openxmlformats.org/officeDocument/2006/relationships/image" Target="../media/image103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emf"/><Relationship Id="rId11" Type="http://schemas.openxmlformats.org/officeDocument/2006/relationships/image" Target="../media/image107.emf"/><Relationship Id="rId5" Type="http://schemas.openxmlformats.org/officeDocument/2006/relationships/image" Target="../media/image101.emf"/><Relationship Id="rId10" Type="http://schemas.openxmlformats.org/officeDocument/2006/relationships/image" Target="../media/image106.emf"/><Relationship Id="rId4" Type="http://schemas.openxmlformats.org/officeDocument/2006/relationships/image" Target="../media/image100.emf"/><Relationship Id="rId9" Type="http://schemas.openxmlformats.org/officeDocument/2006/relationships/image" Target="../media/image105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emf"/><Relationship Id="rId13" Type="http://schemas.openxmlformats.org/officeDocument/2006/relationships/image" Target="../media/image120.emf"/><Relationship Id="rId18" Type="http://schemas.openxmlformats.org/officeDocument/2006/relationships/image" Target="../media/image77.emf"/><Relationship Id="rId3" Type="http://schemas.openxmlformats.org/officeDocument/2006/relationships/image" Target="../media/image110.emf"/><Relationship Id="rId7" Type="http://schemas.openxmlformats.org/officeDocument/2006/relationships/image" Target="../media/image114.emf"/><Relationship Id="rId12" Type="http://schemas.openxmlformats.org/officeDocument/2006/relationships/image" Target="../media/image119.emf"/><Relationship Id="rId17" Type="http://schemas.openxmlformats.org/officeDocument/2006/relationships/image" Target="../media/image74.emf"/><Relationship Id="rId2" Type="http://schemas.openxmlformats.org/officeDocument/2006/relationships/image" Target="../media/image109.emf"/><Relationship Id="rId16" Type="http://schemas.openxmlformats.org/officeDocument/2006/relationships/image" Target="../media/image7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emf"/><Relationship Id="rId11" Type="http://schemas.openxmlformats.org/officeDocument/2006/relationships/image" Target="../media/image118.emf"/><Relationship Id="rId5" Type="http://schemas.openxmlformats.org/officeDocument/2006/relationships/image" Target="../media/image112.emf"/><Relationship Id="rId15" Type="http://schemas.openxmlformats.org/officeDocument/2006/relationships/image" Target="../media/image72.emf"/><Relationship Id="rId10" Type="http://schemas.openxmlformats.org/officeDocument/2006/relationships/image" Target="../media/image117.emf"/><Relationship Id="rId19" Type="http://schemas.openxmlformats.org/officeDocument/2006/relationships/image" Target="../media/image80.emf"/><Relationship Id="rId4" Type="http://schemas.openxmlformats.org/officeDocument/2006/relationships/image" Target="../media/image111.emf"/><Relationship Id="rId9" Type="http://schemas.openxmlformats.org/officeDocument/2006/relationships/image" Target="../media/image116.emf"/><Relationship Id="rId14" Type="http://schemas.openxmlformats.org/officeDocument/2006/relationships/image" Target="../media/image12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34770" y="2340487"/>
            <a:ext cx="5145206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644378" y="2541722"/>
            <a:ext cx="490324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8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指令周期</a:t>
            </a:r>
            <a:endParaRPr lang="en-US" altLang="zh-CN" sz="8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75773" y="309514"/>
            <a:ext cx="433809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指令处理过程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256" y="1580320"/>
            <a:ext cx="1447800" cy="4972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772" y="2592107"/>
            <a:ext cx="2370455" cy="5003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772" y="3607085"/>
            <a:ext cx="2370455" cy="50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132" y="4643406"/>
            <a:ext cx="2417445" cy="4972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6071" y="5640990"/>
            <a:ext cx="1380490" cy="466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3521" y="2030691"/>
            <a:ext cx="275056" cy="65929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3522" y="3055844"/>
            <a:ext cx="248649" cy="59599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222" y="4095219"/>
            <a:ext cx="248649" cy="59599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612" y="5108712"/>
            <a:ext cx="248649" cy="595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5921" y="2174707"/>
            <a:ext cx="2236366" cy="278998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78853" y="5153705"/>
            <a:ext cx="60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270819" y="4533743"/>
            <a:ext cx="602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51404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椭圆 8"/>
          <p:cNvSpPr/>
          <p:nvPr/>
        </p:nvSpPr>
        <p:spPr bwMode="auto">
          <a:xfrm>
            <a:off x="1417307" y="1395811"/>
            <a:ext cx="799664" cy="799664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TextBox 9"/>
          <p:cNvSpPr txBox="1"/>
          <p:nvPr/>
        </p:nvSpPr>
        <p:spPr>
          <a:xfrm>
            <a:off x="1471670" y="1503373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1417307" y="3331383"/>
            <a:ext cx="799664" cy="799664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2" name="TextBox 11"/>
          <p:cNvSpPr txBox="1"/>
          <p:nvPr/>
        </p:nvSpPr>
        <p:spPr>
          <a:xfrm>
            <a:off x="1471670" y="3438944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1417307" y="5319892"/>
            <a:ext cx="799664" cy="79966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4" name="TextBox 13"/>
          <p:cNvSpPr txBox="1"/>
          <p:nvPr/>
        </p:nvSpPr>
        <p:spPr>
          <a:xfrm>
            <a:off x="1471670" y="5427455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823604" y="4139187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>
            <a:off x="1823604" y="2200785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1" name="标题 177153"/>
          <p:cNvSpPr>
            <a:spLocks noGrp="1"/>
          </p:cNvSpPr>
          <p:nvPr>
            <p:ph type="title"/>
          </p:nvPr>
        </p:nvSpPr>
        <p:spPr>
          <a:xfrm>
            <a:off x="875773" y="180463"/>
            <a:ext cx="4132262" cy="762000"/>
          </a:xfrm>
        </p:spPr>
        <p:txBody>
          <a:bodyPr anchor="ctr"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几个时间概念</a:t>
            </a:r>
          </a:p>
        </p:txBody>
      </p:sp>
      <p:sp>
        <p:nvSpPr>
          <p:cNvPr id="2" name="矩形 1"/>
          <p:cNvSpPr/>
          <p:nvPr/>
        </p:nvSpPr>
        <p:spPr>
          <a:xfrm>
            <a:off x="2802341" y="1259820"/>
            <a:ext cx="83888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指令周期-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从内存取出一条指令并执行这条指令的时间总和。</a:t>
            </a:r>
          </a:p>
        </p:txBody>
      </p:sp>
      <p:sp>
        <p:nvSpPr>
          <p:cNvPr id="3" name="矩形 2"/>
          <p:cNvSpPr/>
          <p:nvPr/>
        </p:nvSpPr>
        <p:spPr>
          <a:xfrm>
            <a:off x="2802341" y="2778599"/>
            <a:ext cx="83888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总线周期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、机器周期，是指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进行一次总线操作所需要的时间。包括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访存、访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和中断响应等。 </a:t>
            </a:r>
          </a:p>
        </p:txBody>
      </p:sp>
      <p:sp>
        <p:nvSpPr>
          <p:cNvPr id="4" name="矩形 3"/>
          <p:cNvSpPr/>
          <p:nvPr/>
        </p:nvSpPr>
        <p:spPr>
          <a:xfrm>
            <a:off x="2802341" y="4954621"/>
            <a:ext cx="83888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时钟周期-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又称为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，是指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工作时钟的一个周期时间；是计算机中最基本的定时信号。</a:t>
            </a:r>
          </a:p>
        </p:txBody>
      </p:sp>
    </p:spTree>
    <p:extLst>
      <p:ext uri="{BB962C8B-B14F-4D97-AF65-F5344CB8AC3E}">
        <p14:creationId xmlns:p14="http://schemas.microsoft.com/office/powerpoint/2010/main" val="185328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7144">
        <p14:prism/>
      </p:transition>
    </mc:Choice>
    <mc:Fallback xmlns="">
      <p:transition spd="slow" advTm="7144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1045556" y="1289258"/>
            <a:ext cx="10222393" cy="2116756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9" name="TextBox 84"/>
          <p:cNvSpPr txBox="1">
            <a:spLocks noChangeArrowheads="1"/>
          </p:cNvSpPr>
          <p:nvPr/>
        </p:nvSpPr>
        <p:spPr bwMode="auto">
          <a:xfrm>
            <a:off x="1327158" y="1378791"/>
            <a:ext cx="9537682" cy="1815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98" tIns="45699" rIns="91398" bIns="4569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一个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指令周期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由若干个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组成；一个总线周期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由若干个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组成。</a:t>
            </a:r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970969" y="1143266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 flipH="1" flipV="1">
            <a:off x="10811033" y="2944796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875773" y="355707"/>
            <a:ext cx="3877985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几个时间之间的关系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81" y="3693389"/>
            <a:ext cx="9790237" cy="287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3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4107">
        <p14:prism/>
      </p:transition>
    </mc:Choice>
    <mc:Fallback xmlns="">
      <p:transition spd="slow" advTm="4107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71" name="矩形 180270"/>
          <p:cNvSpPr/>
          <p:nvPr/>
        </p:nvSpPr>
        <p:spPr>
          <a:xfrm>
            <a:off x="3320231" y="1694597"/>
            <a:ext cx="1296987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243" name="右大括号 180242"/>
          <p:cNvSpPr/>
          <p:nvPr/>
        </p:nvSpPr>
        <p:spPr>
          <a:xfrm>
            <a:off x="5951734" y="4222517"/>
            <a:ext cx="144016" cy="1584176"/>
          </a:xfrm>
          <a:prstGeom prst="rightBrace">
            <a:avLst>
              <a:gd name="adj1" fmla="val 142778"/>
              <a:gd name="adj2" fmla="val 51079"/>
            </a:avLst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6" name="标题 179201"/>
          <p:cNvSpPr txBox="1"/>
          <p:nvPr/>
        </p:nvSpPr>
        <p:spPr>
          <a:xfrm>
            <a:off x="4040982" y="146720"/>
            <a:ext cx="6002337" cy="762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ea typeface="宋体" panose="02010600030101010101" pitchFamily="2" charset="-122"/>
              </a:rPr>
              <a:t>2、典型指令的指令周期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75773" y="316802"/>
            <a:ext cx="805949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典型指令组成的一个简单程序</a:t>
            </a:r>
          </a:p>
        </p:txBody>
      </p:sp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1338118591"/>
              </p:ext>
            </p:extLst>
          </p:nvPr>
        </p:nvGraphicFramePr>
        <p:xfrm>
          <a:off x="1847279" y="1844293"/>
          <a:ext cx="8497441" cy="3962400"/>
        </p:xfrm>
        <a:graphic>
          <a:graphicData uri="http://schemas.openxmlformats.org/drawingml/2006/table">
            <a:tbl>
              <a:tblPr/>
              <a:tblGrid>
                <a:gridCol w="205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十六进制数地址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十六进制数代码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助记符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指令功能说明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0010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3E00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0011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18E0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0012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10F0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0013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6011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00E0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0005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11430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00E1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0020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en-US" altLang="zh-CN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00F0</a:t>
                      </a:r>
                      <a:endParaRPr lang="en-US" altLang="zh-CN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存放和数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951734" y="2269009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LDA  00H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951734" y="2638341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[E0H]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51734" y="3007673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  [F0H]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51734" y="3430429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  11H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895950" y="2235910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AC←00H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95950" y="2638341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AC←(AC) 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(00E0H)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95950" y="3070389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00F0H←(AC)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95950" y="3439721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PC←0011H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22912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81249"/>
          <p:cNvSpPr>
            <a:spLocks noGrp="1"/>
          </p:cNvSpPr>
          <p:nvPr>
            <p:ph type="title"/>
          </p:nvPr>
        </p:nvSpPr>
        <p:spPr>
          <a:xfrm>
            <a:off x="875773" y="287127"/>
            <a:ext cx="5759970" cy="641350"/>
          </a:xfrm>
        </p:spPr>
        <p:txBody>
          <a:bodyPr anchor="ctr"/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LDA 00H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指令的指令周期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330" y="1680988"/>
            <a:ext cx="1161449" cy="11505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12585" y="1680988"/>
            <a:ext cx="162384" cy="480607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420897" y="1654281"/>
            <a:ext cx="162384" cy="480607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61821">
            <a:off x="3008026" y="2838083"/>
            <a:ext cx="829683" cy="94094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441" y="3841229"/>
            <a:ext cx="1191490" cy="11160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4314" y="5137372"/>
            <a:ext cx="2448273" cy="7200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739" y="2831540"/>
            <a:ext cx="1338111" cy="128960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441827">
            <a:off x="4597391" y="3409103"/>
            <a:ext cx="987103" cy="111947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5321" y="2492897"/>
            <a:ext cx="1565279" cy="7864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0758" y="1654282"/>
            <a:ext cx="1363675" cy="133915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9171" y="5137372"/>
            <a:ext cx="2713734" cy="72008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1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25405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937" y="-38111"/>
            <a:ext cx="10515600" cy="1325563"/>
          </a:xfrm>
        </p:spPr>
        <p:txBody>
          <a:bodyPr/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LDA 00H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的取指周期操作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32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solidFill>
                  <a:prstClr val="black"/>
                </a:solidFill>
              </a:endParaRPr>
            </a:p>
          </p:txBody>
        </p:sp>
        <p:sp>
          <p:nvSpPr>
            <p:cNvPr id="33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solidFill>
                  <a:prstClr val="black"/>
                </a:solidFill>
              </a:endParaRPr>
            </a:p>
          </p:txBody>
        </p:sp>
        <p:sp>
          <p:nvSpPr>
            <p:cNvPr id="34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>
                <a:solidFill>
                  <a:prstClr val="black"/>
                </a:solidFill>
              </a:endParaRPr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60" y="1098502"/>
            <a:ext cx="7920880" cy="5474402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991" y="5021119"/>
            <a:ext cx="428425" cy="565542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158" y="5136515"/>
            <a:ext cx="308218" cy="42827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512" y="4677650"/>
            <a:ext cx="432048" cy="570326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0209" y="4556680"/>
            <a:ext cx="407303" cy="50405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448" y="4772704"/>
            <a:ext cx="690960" cy="383086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2430" y="5817008"/>
            <a:ext cx="408978" cy="539872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6699" y="5937248"/>
            <a:ext cx="402661" cy="419632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4984" y="6140856"/>
            <a:ext cx="1588039" cy="170916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1678" y="5852824"/>
            <a:ext cx="583146" cy="405148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4051" y="3764592"/>
            <a:ext cx="418765" cy="387924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2536" y="3836600"/>
            <a:ext cx="368512" cy="432048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4084" y="4340656"/>
            <a:ext cx="559012" cy="28803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83805" y="4484672"/>
            <a:ext cx="573585" cy="21602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2108" y="4052624"/>
            <a:ext cx="255124" cy="432048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5138" y="4052624"/>
            <a:ext cx="376070" cy="49643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21328" y="3433337"/>
            <a:ext cx="360040" cy="475271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56911" y="3764592"/>
            <a:ext cx="496465" cy="223643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1909" y="3264360"/>
            <a:ext cx="388550" cy="512905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35774" y="3226044"/>
            <a:ext cx="297498" cy="503811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79567" y="3701319"/>
            <a:ext cx="1645136" cy="45243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36323" y="3701319"/>
            <a:ext cx="1645136" cy="45243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60447" y="4855605"/>
            <a:ext cx="1287519" cy="380506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60447" y="5608567"/>
            <a:ext cx="1287519" cy="380506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60447" y="4837734"/>
            <a:ext cx="1461924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0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81249"/>
          <p:cNvSpPr>
            <a:spLocks noGrp="1"/>
          </p:cNvSpPr>
          <p:nvPr>
            <p:ph type="title"/>
          </p:nvPr>
        </p:nvSpPr>
        <p:spPr>
          <a:xfrm>
            <a:off x="853470" y="312376"/>
            <a:ext cx="5615954" cy="641350"/>
          </a:xfrm>
        </p:spPr>
        <p:txBody>
          <a:bodyPr anchor="ctr"/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LDA 00H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指令执行阶段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08" y="1061718"/>
            <a:ext cx="8606530" cy="550386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706880" y="1822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defTabSz="0">
              <a:tabLst>
                <a:tab pos="104022525" algn="l"/>
              </a:tabLst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214" y="3978231"/>
            <a:ext cx="408978" cy="53987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033" y="4016085"/>
            <a:ext cx="396175" cy="567041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7454810" y="4446094"/>
            <a:ext cx="768286" cy="14401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8696" y="4023069"/>
            <a:ext cx="468256" cy="56704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1182" y="2429870"/>
            <a:ext cx="311834" cy="100811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216" y="3146807"/>
            <a:ext cx="438776" cy="579207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1658" y="2223304"/>
            <a:ext cx="429230" cy="56660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050" y="1925814"/>
            <a:ext cx="356814" cy="568716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9649" y="3654005"/>
            <a:ext cx="1619427" cy="39104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6832" y="3654006"/>
            <a:ext cx="1587846" cy="399923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630808" y="2789910"/>
            <a:ext cx="1217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0000FF"/>
                </a:solidFill>
              </a:rPr>
              <a:t>0000</a:t>
            </a:r>
            <a:endParaRPr lang="zh-CN" altLang="en-US" sz="2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18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81249"/>
          <p:cNvSpPr>
            <a:spLocks noGrp="1"/>
          </p:cNvSpPr>
          <p:nvPr>
            <p:ph type="title"/>
          </p:nvPr>
        </p:nvSpPr>
        <p:spPr>
          <a:xfrm>
            <a:off x="924079" y="273459"/>
            <a:ext cx="5472608" cy="641350"/>
          </a:xfrm>
        </p:spPr>
        <p:txBody>
          <a:bodyPr anchor="ctr"/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 [E0H]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的指令周期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58" y="1931842"/>
            <a:ext cx="1019702" cy="10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43" y="5532242"/>
            <a:ext cx="2160239" cy="64887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375" y="5607365"/>
            <a:ext cx="4561814" cy="61992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274" y="1481099"/>
            <a:ext cx="169326" cy="50115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6222" y="4164091"/>
            <a:ext cx="1023959" cy="102355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10758">
            <a:off x="2622703" y="3016669"/>
            <a:ext cx="729634" cy="106453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0251" y="4506598"/>
            <a:ext cx="796305" cy="33854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0331" y="4164091"/>
            <a:ext cx="1027901" cy="10940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0411" y="3176338"/>
            <a:ext cx="576063" cy="113176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20411" y="2050167"/>
            <a:ext cx="1184569" cy="116436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4586" y="4164091"/>
            <a:ext cx="1134662" cy="109401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546" y="1481099"/>
            <a:ext cx="169326" cy="501152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980" y="3081051"/>
            <a:ext cx="1146724" cy="126974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96674" y="1931843"/>
            <a:ext cx="1182548" cy="124449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667" y="3081050"/>
            <a:ext cx="737697" cy="122101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48803" y="2294215"/>
            <a:ext cx="792811" cy="51974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802" y="1456826"/>
            <a:ext cx="169326" cy="501152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41613" y="1931843"/>
            <a:ext cx="1036841" cy="101820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2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1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11061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81249"/>
          <p:cNvSpPr>
            <a:spLocks noGrp="1"/>
          </p:cNvSpPr>
          <p:nvPr>
            <p:ph type="title"/>
          </p:nvPr>
        </p:nvSpPr>
        <p:spPr>
          <a:xfrm>
            <a:off x="1009422" y="287532"/>
            <a:ext cx="8366225" cy="641350"/>
          </a:xfrm>
        </p:spPr>
        <p:txBody>
          <a:bodyPr anchor="ctr">
            <a:norm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 [E0H]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指令的执行阶段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取操作数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350979" y="283324"/>
            <a:ext cx="438352" cy="621987"/>
            <a:chOff x="265635" y="269251"/>
            <a:chExt cx="438352" cy="621987"/>
          </a:xfrm>
        </p:grpSpPr>
        <p:sp>
          <p:nvSpPr>
            <p:cNvPr id="42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3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4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416" y="1128486"/>
            <a:ext cx="7821356" cy="5405618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1767840" y="2146999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048" y="4013824"/>
            <a:ext cx="432048" cy="570326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5863" y="4661896"/>
            <a:ext cx="144017" cy="72008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230" y="5525992"/>
            <a:ext cx="1436858" cy="42464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6222" y="4877920"/>
            <a:ext cx="399642" cy="527548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6044" y="5886032"/>
            <a:ext cx="385964" cy="40223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7672" y="6116885"/>
            <a:ext cx="725547" cy="144024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5614" y="5872384"/>
            <a:ext cx="501857" cy="348672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6699" y="3777219"/>
            <a:ext cx="490773" cy="454628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2062" y="5727634"/>
            <a:ext cx="403981" cy="53327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043" y="3730769"/>
            <a:ext cx="1552925" cy="427071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8363" y="3811333"/>
            <a:ext cx="439978" cy="515836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9037" y="4327169"/>
            <a:ext cx="462815" cy="335527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8608" y="4460478"/>
            <a:ext cx="359467" cy="214067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4575" y="4145073"/>
            <a:ext cx="206592" cy="349859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7063" y="3728237"/>
            <a:ext cx="1505633" cy="41406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3459520" y="4770480"/>
            <a:ext cx="1080120" cy="216024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57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81249"/>
          <p:cNvSpPr>
            <a:spLocks noGrp="1"/>
          </p:cNvSpPr>
          <p:nvPr>
            <p:ph type="title"/>
          </p:nvPr>
        </p:nvSpPr>
        <p:spPr>
          <a:xfrm>
            <a:off x="1009422" y="287532"/>
            <a:ext cx="8366225" cy="641350"/>
          </a:xfrm>
        </p:spPr>
        <p:txBody>
          <a:bodyPr anchor="ctr">
            <a:norm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 [E0H]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指令的执行阶段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执行加法运算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50979" y="283324"/>
            <a:ext cx="438352" cy="621987"/>
            <a:chOff x="265635" y="269251"/>
            <a:chExt cx="438352" cy="621987"/>
          </a:xfrm>
        </p:grpSpPr>
        <p:sp>
          <p:nvSpPr>
            <p:cNvPr id="21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580" y="1084020"/>
            <a:ext cx="7850412" cy="54257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420" y="3696362"/>
            <a:ext cx="1475066" cy="405659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664" y="2405264"/>
            <a:ext cx="505716" cy="417232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176" y="2405264"/>
            <a:ext cx="457464" cy="393832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640" y="2503633"/>
            <a:ext cx="293904" cy="765727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862" y="2361064"/>
            <a:ext cx="196182" cy="332232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806" y="2829904"/>
            <a:ext cx="1411818" cy="439456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457" y="2074366"/>
            <a:ext cx="390786" cy="515857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7592" y="2104980"/>
            <a:ext cx="245386" cy="454627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253" y="2803129"/>
            <a:ext cx="1350371" cy="405659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1934" y="5501608"/>
            <a:ext cx="1436858" cy="4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2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4561"/>
          <p:cNvSpPr>
            <a:spLocks noGrp="1"/>
          </p:cNvSpPr>
          <p:nvPr>
            <p:ph type="title"/>
          </p:nvPr>
        </p:nvSpPr>
        <p:spPr>
          <a:xfrm>
            <a:off x="875773" y="288109"/>
            <a:ext cx="5975994" cy="641350"/>
          </a:xfrm>
        </p:spPr>
        <p:txBody>
          <a:bodyPr anchor="ctr"/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 [F0H]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指令的指令周期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898" y="2182266"/>
            <a:ext cx="6158820" cy="32647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597" y="4798910"/>
            <a:ext cx="3332176" cy="63513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541" y="3251910"/>
            <a:ext cx="627273" cy="69456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331" y="3754982"/>
            <a:ext cx="1078587" cy="109304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7421" y="3161896"/>
            <a:ext cx="451505" cy="747319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4869" y="2178989"/>
            <a:ext cx="1120298" cy="108618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5167" y="2616344"/>
            <a:ext cx="817146" cy="25160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2313" y="2143453"/>
            <a:ext cx="1219306" cy="119738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296750" y="2026494"/>
            <a:ext cx="103537" cy="396912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4543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94561"/>
          <p:cNvSpPr>
            <a:spLocks noGrp="1"/>
          </p:cNvSpPr>
          <p:nvPr>
            <p:ph type="title"/>
          </p:nvPr>
        </p:nvSpPr>
        <p:spPr>
          <a:xfrm>
            <a:off x="875773" y="314254"/>
            <a:ext cx="6912768" cy="641350"/>
          </a:xfrm>
        </p:spPr>
        <p:txBody>
          <a:bodyPr anchor="ctr"/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 [F0H]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指令写操作数进存储单元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528" y="955604"/>
            <a:ext cx="7920880" cy="5474403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584960" y="1997524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82" y="3000253"/>
            <a:ext cx="408978" cy="539872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60" y="3144212"/>
            <a:ext cx="170116" cy="28808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999" y="3864349"/>
            <a:ext cx="384977" cy="508189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649" y="4163189"/>
            <a:ext cx="372343" cy="3492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390" y="4044128"/>
            <a:ext cx="573474" cy="468293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776" y="3626041"/>
            <a:ext cx="360040" cy="45433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6881" y="2796814"/>
            <a:ext cx="1440160" cy="34004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8648" y="5160493"/>
            <a:ext cx="837529" cy="36367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0298" y="5176517"/>
            <a:ext cx="474228" cy="37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5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0.00995 L 0.03945 0.120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6" y="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99681"/>
          <p:cNvSpPr>
            <a:spLocks noGrp="1"/>
          </p:cNvSpPr>
          <p:nvPr>
            <p:ph type="title"/>
          </p:nvPr>
        </p:nvSpPr>
        <p:spPr>
          <a:xfrm>
            <a:off x="875773" y="273479"/>
            <a:ext cx="5688979" cy="641350"/>
          </a:xfrm>
        </p:spPr>
        <p:txBody>
          <a:bodyPr anchor="ctr">
            <a:norm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JMP 11H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的指令周期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57" y="1754841"/>
            <a:ext cx="8410085" cy="4659212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66027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632" y="988344"/>
            <a:ext cx="7772515" cy="537186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2036064" y="1811909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036064" y="1811909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782" y="3858019"/>
            <a:ext cx="444460" cy="58670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719" y="4156697"/>
            <a:ext cx="490601" cy="321374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096" y="4444728"/>
            <a:ext cx="336969" cy="44481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690" y="4372720"/>
            <a:ext cx="456438" cy="3044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483" y="4749161"/>
            <a:ext cx="537653" cy="199624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9399" y="4677152"/>
            <a:ext cx="1504543" cy="42124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8144" y="4736868"/>
            <a:ext cx="1438841" cy="35593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5588" y="5369482"/>
            <a:ext cx="1583676" cy="44339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476" y="5713279"/>
            <a:ext cx="432811" cy="57133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3015" y="5420323"/>
            <a:ext cx="1489097" cy="388446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43102" y="3940672"/>
            <a:ext cx="381846" cy="504056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7138" y="3586936"/>
            <a:ext cx="1457916" cy="37984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6176016" y="358063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ADD [E0H]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95896" y="5956888"/>
            <a:ext cx="725547" cy="14402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3838" y="5740872"/>
            <a:ext cx="501857" cy="348672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91640" y="3630060"/>
            <a:ext cx="490773" cy="454628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79872" y="3652640"/>
            <a:ext cx="439978" cy="515836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072" y="3940672"/>
            <a:ext cx="206592" cy="349859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3151680" y="3808848"/>
            <a:ext cx="1584176" cy="226669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8223240" y="358063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ADD [E0H]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7803694" y="3723821"/>
            <a:ext cx="330637" cy="827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8761135" y="3216639"/>
            <a:ext cx="5850" cy="31452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标题 199681"/>
          <p:cNvSpPr txBox="1">
            <a:spLocks/>
          </p:cNvSpPr>
          <p:nvPr/>
        </p:nvSpPr>
        <p:spPr>
          <a:xfrm>
            <a:off x="875773" y="273479"/>
            <a:ext cx="5688979" cy="6413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JMP 11H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指令的执行阶段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4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022935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0" grpId="0" animBg="1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63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304</Words>
  <Application>Microsoft Office PowerPoint</Application>
  <PresentationFormat>宽屏</PresentationFormat>
  <Paragraphs>73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宋体</vt:lpstr>
      <vt:lpstr>微软雅黑</vt:lpstr>
      <vt:lpstr>Arial</vt:lpstr>
      <vt:lpstr>Calibri</vt:lpstr>
      <vt:lpstr>Calibri Light</vt:lpstr>
      <vt:lpstr>Wingdings</vt:lpstr>
      <vt:lpstr>第一PPT，www.1ppt.com</vt:lpstr>
      <vt:lpstr>PowerPoint 演示文稿</vt:lpstr>
      <vt:lpstr>PowerPoint 演示文稿</vt:lpstr>
      <vt:lpstr>几个时间概念</vt:lpstr>
      <vt:lpstr>PowerPoint 演示文稿</vt:lpstr>
      <vt:lpstr>PowerPoint 演示文稿</vt:lpstr>
      <vt:lpstr>LDA 00H指令的指令周期</vt:lpstr>
      <vt:lpstr>LDA 00H 的取指周期操作</vt:lpstr>
      <vt:lpstr>LDA 00H 指令执行阶段</vt:lpstr>
      <vt:lpstr>ADD [E0H] 的指令周期</vt:lpstr>
      <vt:lpstr>ADD [E0H] 指令的执行阶段—取操作数</vt:lpstr>
      <vt:lpstr>ADD [E0H] 指令的执行阶段—执行加法运算</vt:lpstr>
      <vt:lpstr>STR [F0H] 指令的指令周期</vt:lpstr>
      <vt:lpstr>STR [F0H] 指令写操作数进存储单元</vt:lpstr>
      <vt:lpstr>JMP 11H的指令周期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文光</cp:lastModifiedBy>
  <cp:revision>39</cp:revision>
  <dcterms:created xsi:type="dcterms:W3CDTF">2016-06-01T05:10:04Z</dcterms:created>
  <dcterms:modified xsi:type="dcterms:W3CDTF">2017-06-01T12:27:54Z</dcterms:modified>
</cp:coreProperties>
</file>