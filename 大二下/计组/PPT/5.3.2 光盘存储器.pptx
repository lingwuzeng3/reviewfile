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9" r:id="rId2"/>
    <p:sldId id="309" r:id="rId3"/>
    <p:sldId id="311" r:id="rId4"/>
    <p:sldId id="294" r:id="rId5"/>
    <p:sldId id="295" r:id="rId6"/>
    <p:sldId id="296" r:id="rId7"/>
    <p:sldId id="312" r:id="rId8"/>
    <p:sldId id="298" r:id="rId9"/>
    <p:sldId id="300" r:id="rId10"/>
    <p:sldId id="313" r:id="rId11"/>
    <p:sldId id="315" r:id="rId12"/>
    <p:sldId id="314" r:id="rId13"/>
    <p:sldId id="305" r:id="rId14"/>
    <p:sldId id="306" r:id="rId15"/>
    <p:sldId id="308" r:id="rId16"/>
    <p:sldId id="31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B9E7"/>
    <a:srgbClr val="01C0B0"/>
    <a:srgbClr val="04B0BE"/>
    <a:srgbClr val="04B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0" d="100"/>
          <a:sy n="70" d="100"/>
        </p:scale>
        <p:origin x="48" y="48"/>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t>2017/5/26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a:t>
            </a:fld>
            <a:endParaRPr lang="zh-CN" altLang="en-US"/>
          </a:p>
        </p:txBody>
      </p:sp>
    </p:spTree>
    <p:extLst>
      <p:ext uri="{BB962C8B-B14F-4D97-AF65-F5344CB8AC3E}">
        <p14:creationId xmlns:p14="http://schemas.microsoft.com/office/powerpoint/2010/main" val="140966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2</a:t>
            </a:fld>
            <a:endParaRPr lang="zh-CN" altLang="en-US"/>
          </a:p>
        </p:txBody>
      </p:sp>
    </p:spTree>
    <p:extLst>
      <p:ext uri="{BB962C8B-B14F-4D97-AF65-F5344CB8AC3E}">
        <p14:creationId xmlns:p14="http://schemas.microsoft.com/office/powerpoint/2010/main" val="174826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2533387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1051316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467714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11</a:t>
            </a:fld>
            <a:endParaRPr lang="zh-CN" altLang="en-US"/>
          </a:p>
        </p:txBody>
      </p:sp>
    </p:spTree>
    <p:extLst>
      <p:ext uri="{BB962C8B-B14F-4D97-AF65-F5344CB8AC3E}">
        <p14:creationId xmlns:p14="http://schemas.microsoft.com/office/powerpoint/2010/main" val="3283409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592422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84393" y="2262152"/>
            <a:ext cx="6318913" cy="1914063"/>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2" name="Rectangle 2"/>
          <p:cNvSpPr txBox="1">
            <a:spLocks noChangeArrowheads="1"/>
          </p:cNvSpPr>
          <p:nvPr/>
        </p:nvSpPr>
        <p:spPr bwMode="auto">
          <a:xfrm>
            <a:off x="3014355" y="2787383"/>
            <a:ext cx="645898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anchor="ct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dist" eaLnBrk="1" hangingPunct="1">
              <a:spcBef>
                <a:spcPct val="0"/>
              </a:spcBef>
              <a:buFontTx/>
              <a:buNone/>
            </a:pPr>
            <a:r>
              <a:rPr lang="zh-CN" altLang="en-US" sz="8800" b="1" dirty="0">
                <a:solidFill>
                  <a:schemeClr val="bg1"/>
                </a:solidFill>
                <a:latin typeface="微软雅黑" panose="020B0503020204020204" pitchFamily="34" charset="-122"/>
                <a:ea typeface="微软雅黑" panose="020B0503020204020204" pitchFamily="34" charset="-122"/>
                <a:cs typeface="+mj-cs"/>
              </a:rPr>
              <a:t>光盘存储器</a:t>
            </a:r>
          </a:p>
        </p:txBody>
      </p:sp>
    </p:spTree>
    <p:extLst>
      <p:ext uri="{BB962C8B-B14F-4D97-AF65-F5344CB8AC3E}">
        <p14:creationId xmlns:p14="http://schemas.microsoft.com/office/powerpoint/2010/main" val="3546422696"/>
      </p:ext>
    </p:extLst>
  </p:cSld>
  <p:clrMapOvr>
    <a:masterClrMapping/>
  </p:clrMapOvr>
  <p:transition spd="med" advTm="0">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202596" y="1778443"/>
            <a:ext cx="9313819" cy="3684587"/>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177592" y="1714943"/>
            <a:ext cx="9313819" cy="3684587"/>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5"/>
          <p:cNvSpPr>
            <a:spLocks noChangeArrowheads="1"/>
          </p:cNvSpPr>
          <p:nvPr/>
        </p:nvSpPr>
        <p:spPr bwMode="auto">
          <a:xfrm>
            <a:off x="1195152" y="1753043"/>
            <a:ext cx="9337675" cy="3684587"/>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8742761" y="5187401"/>
            <a:ext cx="1658468" cy="1050719"/>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29707" y="127871"/>
            <a:ext cx="2206912"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48043"/>
            <a:ext cx="12192000" cy="134292"/>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193189" y="7851159"/>
            <a:ext cx="877163" cy="369332"/>
          </a:xfrm>
          <a:prstGeom prst="rect">
            <a:avLst/>
          </a:prstGeom>
          <a:noFill/>
        </p:spPr>
        <p:txBody>
          <a:bodyPr wrap="none" rtlCol="0">
            <a:spAutoFit/>
          </a:bodyPr>
          <a:lstStyle/>
          <a:p>
            <a:r>
              <a:rPr lang="zh-CN" altLang="en-US" dirty="0"/>
              <a:t>延迟符</a:t>
            </a:r>
          </a:p>
        </p:txBody>
      </p:sp>
      <p:sp>
        <p:nvSpPr>
          <p:cNvPr id="3" name="矩形 2"/>
          <p:cNvSpPr/>
          <p:nvPr/>
        </p:nvSpPr>
        <p:spPr>
          <a:xfrm>
            <a:off x="1202596" y="949057"/>
            <a:ext cx="2358338" cy="584775"/>
          </a:xfrm>
          <a:prstGeom prst="rect">
            <a:avLst/>
          </a:prstGeom>
        </p:spPr>
        <p:txBody>
          <a:bodyPr wrap="none">
            <a:spAutoFit/>
          </a:bodyPr>
          <a:lstStyle/>
          <a:p>
            <a:r>
              <a:rPr lang="zh-CN" altLang="en-US" sz="3200" b="1" dirty="0">
                <a:solidFill>
                  <a:srgbClr val="02B9E7"/>
                </a:solidFill>
                <a:latin typeface="微软雅黑" panose="020B0503020204020204" pitchFamily="34" charset="-122"/>
                <a:ea typeface="微软雅黑" panose="020B0503020204020204" pitchFamily="34" charset="-122"/>
              </a:rPr>
              <a:t>光盘存储器 </a:t>
            </a:r>
          </a:p>
        </p:txBody>
      </p:sp>
      <p:sp>
        <p:nvSpPr>
          <p:cNvPr id="4" name="矩形 3"/>
          <p:cNvSpPr/>
          <p:nvPr/>
        </p:nvSpPr>
        <p:spPr>
          <a:xfrm>
            <a:off x="1457014" y="1711723"/>
            <a:ext cx="8754973" cy="3539430"/>
          </a:xfrm>
          <a:prstGeom prst="rect">
            <a:avLst/>
          </a:prstGeom>
        </p:spPr>
        <p:txBody>
          <a:bodyPr wrap="square">
            <a:spAutoFit/>
          </a:bodyPr>
          <a:lstStyle/>
          <a:p>
            <a:pPr>
              <a:lnSpc>
                <a:spcPct val="200000"/>
              </a:lnSpc>
            </a:pPr>
            <a:r>
              <a:rPr lang="zh-CN" altLang="en-US" sz="2800" b="1" dirty="0">
                <a:latin typeface="微软雅黑" panose="020B0503020204020204" pitchFamily="34" charset="-122"/>
                <a:ea typeface="微软雅黑" panose="020B0503020204020204" pitchFamily="34" charset="-122"/>
              </a:rPr>
              <a:t>       光盘存储器是一种采用光存储原理存储信息的存储器，它采用激光束在盘式介质上非接触地记录高密度信息，以介质材料的光学性质</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如反射率、偏振方向</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的变化来表示所存储信息的“</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或“</a:t>
            </a:r>
            <a:r>
              <a:rPr lang="en-US" altLang="zh-CN" sz="2800" b="1" dirty="0">
                <a:latin typeface="微软雅黑" panose="020B0503020204020204" pitchFamily="34" charset="-122"/>
                <a:ea typeface="微软雅黑" panose="020B0503020204020204" pitchFamily="34" charset="-122"/>
              </a:rPr>
              <a:t>0”</a:t>
            </a:r>
            <a:r>
              <a:rPr lang="zh-CN" altLang="en-US" sz="2800" b="1" dirty="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89482339"/>
      </p:ext>
    </p:extLst>
  </p:cSld>
  <p:clrMapOvr>
    <a:masterClrMapping/>
  </p:clrMapOvr>
  <p:transition spd="med" advTm="0">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p:cNvCxnSpPr/>
          <p:nvPr/>
        </p:nvCxnSpPr>
        <p:spPr bwMode="auto">
          <a:xfrm>
            <a:off x="1110284" y="2159842"/>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a:cxnSpLocks/>
          </p:cNvCxnSpPr>
          <p:nvPr/>
        </p:nvCxnSpPr>
        <p:spPr bwMode="auto">
          <a:xfrm>
            <a:off x="1103819" y="3562563"/>
            <a:ext cx="6465" cy="1385402"/>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TextBox 54"/>
          <p:cNvSpPr txBox="1"/>
          <p:nvPr/>
        </p:nvSpPr>
        <p:spPr>
          <a:xfrm>
            <a:off x="875773" y="256810"/>
            <a:ext cx="5974331"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b="1" dirty="0">
                <a:solidFill>
                  <a:schemeClr val="tx1"/>
                </a:solidFill>
                <a:latin typeface="微软雅黑" panose="020B0503020204020204" pitchFamily="34" charset="-122"/>
                <a:ea typeface="微软雅黑" panose="020B0503020204020204" pitchFamily="34" charset="-122"/>
              </a:rPr>
              <a:t>光盘存储器的分类 </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9" name="椭圆 8"/>
          <p:cNvSpPr/>
          <p:nvPr/>
        </p:nvSpPr>
        <p:spPr bwMode="auto">
          <a:xfrm>
            <a:off x="703987" y="1354868"/>
            <a:ext cx="799664" cy="799664"/>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0" name="TextBox 9"/>
          <p:cNvSpPr txBox="1"/>
          <p:nvPr/>
        </p:nvSpPr>
        <p:spPr>
          <a:xfrm>
            <a:off x="758350" y="1462430"/>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01</a:t>
            </a:r>
            <a:endParaRPr lang="zh-CN" altLang="en-US" sz="3199" b="1" dirty="0">
              <a:solidFill>
                <a:schemeClr val="bg1"/>
              </a:solidFill>
              <a:latin typeface="+mj-ea"/>
              <a:ea typeface="+mj-ea"/>
            </a:endParaRPr>
          </a:p>
        </p:txBody>
      </p:sp>
      <p:sp>
        <p:nvSpPr>
          <p:cNvPr id="11" name="椭圆 10"/>
          <p:cNvSpPr/>
          <p:nvPr/>
        </p:nvSpPr>
        <p:spPr bwMode="auto">
          <a:xfrm>
            <a:off x="706964" y="2797850"/>
            <a:ext cx="799664" cy="799664"/>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2" name="TextBox 11"/>
          <p:cNvSpPr txBox="1"/>
          <p:nvPr/>
        </p:nvSpPr>
        <p:spPr>
          <a:xfrm>
            <a:off x="761327" y="2905411"/>
            <a:ext cx="598156" cy="584605"/>
          </a:xfrm>
          <a:prstGeom prst="rect">
            <a:avLst/>
          </a:prstGeom>
          <a:noFill/>
        </p:spPr>
        <p:txBody>
          <a:bodyPr wrap="square" lIns="91398" tIns="45699" rIns="91398" bIns="45699" rtlCol="0">
            <a:spAutoFit/>
          </a:bodyPr>
          <a:lstStyle/>
          <a:p>
            <a:r>
              <a:rPr lang="en-US" altLang="zh-CN" sz="3199" b="1" dirty="0">
                <a:solidFill>
                  <a:schemeClr val="bg1"/>
                </a:solidFill>
                <a:latin typeface="+mj-ea"/>
                <a:ea typeface="+mj-ea"/>
              </a:rPr>
              <a:t>02</a:t>
            </a:r>
            <a:endParaRPr lang="zh-CN" altLang="en-US" sz="3199" b="1" dirty="0">
              <a:solidFill>
                <a:schemeClr val="bg1"/>
              </a:solidFill>
              <a:latin typeface="+mj-ea"/>
              <a:ea typeface="+mj-ea"/>
            </a:endParaRPr>
          </a:p>
        </p:txBody>
      </p:sp>
      <p:sp>
        <p:nvSpPr>
          <p:cNvPr id="13" name="椭圆 12"/>
          <p:cNvSpPr/>
          <p:nvPr/>
        </p:nvSpPr>
        <p:spPr bwMode="auto">
          <a:xfrm>
            <a:off x="703987" y="4865861"/>
            <a:ext cx="799664" cy="799664"/>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4" name="TextBox 13"/>
          <p:cNvSpPr txBox="1"/>
          <p:nvPr/>
        </p:nvSpPr>
        <p:spPr>
          <a:xfrm>
            <a:off x="758350" y="4973424"/>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03</a:t>
            </a:r>
            <a:endParaRPr lang="zh-CN" altLang="en-US" sz="3199" b="1" dirty="0">
              <a:solidFill>
                <a:schemeClr val="bg1"/>
              </a:solidFill>
              <a:latin typeface="+mj-ea"/>
              <a:ea typeface="+mj-ea"/>
            </a:endParaRPr>
          </a:p>
        </p:txBody>
      </p:sp>
      <p:sp>
        <p:nvSpPr>
          <p:cNvPr id="20" name="TextBox 26"/>
          <p:cNvSpPr txBox="1"/>
          <p:nvPr/>
        </p:nvSpPr>
        <p:spPr>
          <a:xfrm>
            <a:off x="13433333" y="8469178"/>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1839150" y="1343940"/>
            <a:ext cx="12924091" cy="738664"/>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按光盘可擦写性分类主要包括只读型光盘和可擦写型光盘。</a:t>
            </a:r>
          </a:p>
        </p:txBody>
      </p:sp>
      <p:sp>
        <p:nvSpPr>
          <p:cNvPr id="4" name="矩形 3"/>
          <p:cNvSpPr/>
          <p:nvPr/>
        </p:nvSpPr>
        <p:spPr>
          <a:xfrm>
            <a:off x="1839150" y="2228903"/>
            <a:ext cx="9117443"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只读型光盘所存储的信息是由光盘制造厂家预先用模板一次性将信息写入，只能读不能写。包括</a:t>
            </a:r>
            <a:r>
              <a:rPr lang="en-US" altLang="zh-CN" sz="2800" b="1" dirty="0">
                <a:latin typeface="微软雅黑" panose="020B0503020204020204" pitchFamily="34" charset="-122"/>
                <a:ea typeface="微软雅黑" panose="020B0503020204020204" pitchFamily="34" charset="-122"/>
              </a:rPr>
              <a:t>CD-DA</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CD-I</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Video-CD</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CD-ROM</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DVD</a:t>
            </a:r>
            <a:r>
              <a:rPr lang="zh-CN" altLang="en-US" sz="2800" b="1" dirty="0">
                <a:latin typeface="微软雅黑" panose="020B0503020204020204" pitchFamily="34" charset="-122"/>
                <a:ea typeface="微软雅黑" panose="020B0503020204020204" pitchFamily="34" charset="-122"/>
              </a:rPr>
              <a:t>等。</a:t>
            </a:r>
          </a:p>
        </p:txBody>
      </p:sp>
      <p:sp>
        <p:nvSpPr>
          <p:cNvPr id="8" name="矩形 7"/>
          <p:cNvSpPr/>
          <p:nvPr/>
        </p:nvSpPr>
        <p:spPr>
          <a:xfrm>
            <a:off x="1839150" y="4406527"/>
            <a:ext cx="9472285"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可擦写型光盘是由制造厂家提供空盘片，用户可以使用刻录光驱将自己的数据刻写到光盘上，它包括</a:t>
            </a:r>
            <a:r>
              <a:rPr lang="en-US" altLang="zh-CN" sz="2800" b="1" dirty="0">
                <a:latin typeface="微软雅黑" panose="020B0503020204020204" pitchFamily="34" charset="-122"/>
                <a:ea typeface="微软雅黑" panose="020B0503020204020204" pitchFamily="34" charset="-122"/>
              </a:rPr>
              <a:t>CD-R</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CD-RW</a:t>
            </a:r>
            <a:r>
              <a:rPr lang="zh-CN" altLang="en-US" sz="2800" b="1" dirty="0">
                <a:latin typeface="微软雅黑" panose="020B0503020204020204" pitchFamily="34" charset="-122"/>
                <a:ea typeface="微软雅黑" panose="020B0503020204020204" pitchFamily="34" charset="-122"/>
              </a:rPr>
              <a:t>和相变光盘及磁光盘等。</a:t>
            </a:r>
          </a:p>
        </p:txBody>
      </p:sp>
    </p:spTree>
    <p:extLst>
      <p:ext uri="{BB962C8B-B14F-4D97-AF65-F5344CB8AC3E}">
        <p14:creationId xmlns:p14="http://schemas.microsoft.com/office/powerpoint/2010/main" val="402642003"/>
      </p:ext>
    </p:extLst>
  </p:cSld>
  <p:clrMapOvr>
    <a:masterClrMapping/>
  </p:clrMapOvr>
  <p:transition spd="med" advTm="0">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3"/>
          <p:cNvSpPr>
            <a:spLocks noChangeArrowheads="1"/>
          </p:cNvSpPr>
          <p:nvPr/>
        </p:nvSpPr>
        <p:spPr bwMode="auto">
          <a:xfrm>
            <a:off x="1298324" y="2114996"/>
            <a:ext cx="9690165" cy="3386277"/>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8194" name="Rectangle 2"/>
          <p:cNvSpPr>
            <a:spLocks noGrp="1" noChangeArrowheads="1"/>
          </p:cNvSpPr>
          <p:nvPr>
            <p:ph type="title"/>
          </p:nvPr>
        </p:nvSpPr>
        <p:spPr>
          <a:xfrm>
            <a:off x="921873" y="-3828"/>
            <a:ext cx="10515600" cy="1325563"/>
          </a:xfrm>
        </p:spPr>
        <p:txBody>
          <a:bodyPr/>
          <a:lstStyle/>
          <a:p>
            <a:pPr algn="l" eaLnBrk="1" hangingPunct="1"/>
            <a:r>
              <a:rPr lang="en-US" altLang="zh-CN" sz="3200" b="1" dirty="0">
                <a:latin typeface="微软雅黑" panose="020B0503020204020204" pitchFamily="34" charset="-122"/>
                <a:ea typeface="微软雅黑" panose="020B0503020204020204" pitchFamily="34" charset="-122"/>
                <a:cs typeface="+mn-cs"/>
              </a:rPr>
              <a:t>CD-ROM </a:t>
            </a:r>
            <a:endParaRPr lang="zh-CN" altLang="en-US" sz="3200" b="1" dirty="0">
              <a:latin typeface="微软雅黑" panose="020B0503020204020204" pitchFamily="34" charset="-122"/>
              <a:ea typeface="微软雅黑" panose="020B0503020204020204" pitchFamily="34" charset="-122"/>
              <a:cs typeface="+mn-cs"/>
            </a:endParaRPr>
          </a:p>
        </p:txBody>
      </p:sp>
      <p:sp>
        <p:nvSpPr>
          <p:cNvPr id="8195" name="Rectangle 3"/>
          <p:cNvSpPr>
            <a:spLocks noGrp="1" noChangeArrowheads="1"/>
          </p:cNvSpPr>
          <p:nvPr>
            <p:ph type="body" idx="1"/>
          </p:nvPr>
        </p:nvSpPr>
        <p:spPr>
          <a:xfrm>
            <a:off x="1527432" y="1953151"/>
            <a:ext cx="9304851" cy="4351338"/>
          </a:xfrm>
        </p:spPr>
        <p:txBody>
          <a:bodyPr/>
          <a:lstStyle/>
          <a:p>
            <a:pPr marL="0" indent="0" eaLnBrk="1" hangingPunct="1">
              <a:lnSpc>
                <a:spcPct val="200000"/>
              </a:lnSpc>
              <a:buNone/>
            </a:pPr>
            <a:r>
              <a:rPr lang="zh-CN" altLang="en-US" b="1" dirty="0">
                <a:latin typeface="微软雅黑" panose="020B0503020204020204" pitchFamily="34" charset="-122"/>
                <a:ea typeface="微软雅黑" panose="020B0503020204020204" pitchFamily="34" charset="-122"/>
              </a:rPr>
              <a:t>      标准</a:t>
            </a:r>
            <a:r>
              <a:rPr lang="en-US" altLang="zh-CN" b="1" dirty="0">
                <a:latin typeface="微软雅黑" panose="020B0503020204020204" pitchFamily="34" charset="-122"/>
                <a:ea typeface="微软雅黑" panose="020B0503020204020204" pitchFamily="34" charset="-122"/>
              </a:rPr>
              <a:t>CD-ROM</a:t>
            </a:r>
            <a:r>
              <a:rPr lang="zh-CN" altLang="en-US" b="1" dirty="0">
                <a:latin typeface="微软雅黑" panose="020B0503020204020204" pitchFamily="34" charset="-122"/>
                <a:ea typeface="微软雅黑" panose="020B0503020204020204" pitchFamily="34" charset="-122"/>
              </a:rPr>
              <a:t>盘片的直径为</a:t>
            </a:r>
            <a:r>
              <a:rPr lang="en-US" altLang="zh-CN" b="1" dirty="0">
                <a:latin typeface="微软雅黑" panose="020B0503020204020204" pitchFamily="34" charset="-122"/>
                <a:ea typeface="微软雅黑" panose="020B0503020204020204" pitchFamily="34" charset="-122"/>
              </a:rPr>
              <a:t>120mm</a:t>
            </a:r>
            <a:r>
              <a:rPr lang="zh-CN" altLang="en-US" b="1" dirty="0">
                <a:latin typeface="微软雅黑" panose="020B0503020204020204" pitchFamily="34" charset="-122"/>
                <a:ea typeface="微软雅黑" panose="020B0503020204020204" pitchFamily="34" charset="-122"/>
              </a:rPr>
              <a:t>，中心装卡孔径为</a:t>
            </a:r>
            <a:r>
              <a:rPr lang="en-US" altLang="zh-CN" b="1" dirty="0">
                <a:latin typeface="微软雅黑" panose="020B0503020204020204" pitchFamily="34" charset="-122"/>
                <a:ea typeface="微软雅黑" panose="020B0503020204020204" pitchFamily="34" charset="-122"/>
              </a:rPr>
              <a:t>15mm</a:t>
            </a:r>
            <a:r>
              <a:rPr lang="zh-CN" altLang="en-US" b="1" dirty="0">
                <a:latin typeface="微软雅黑" panose="020B0503020204020204" pitchFamily="34" charset="-122"/>
                <a:ea typeface="微软雅黑" panose="020B0503020204020204" pitchFamily="34" charset="-122"/>
              </a:rPr>
              <a:t>，厚度为</a:t>
            </a:r>
            <a:r>
              <a:rPr lang="en-US" altLang="zh-CN" b="1" dirty="0">
                <a:latin typeface="微软雅黑" panose="020B0503020204020204" pitchFamily="34" charset="-122"/>
                <a:ea typeface="微软雅黑" panose="020B0503020204020204" pitchFamily="34" charset="-122"/>
              </a:rPr>
              <a:t>1.2mm</a:t>
            </a:r>
            <a:r>
              <a:rPr lang="zh-CN" altLang="en-US" b="1" dirty="0">
                <a:latin typeface="微软雅黑" panose="020B0503020204020204" pitchFamily="34" charset="-122"/>
                <a:ea typeface="微软雅黑" panose="020B0503020204020204" pitchFamily="34" charset="-122"/>
              </a:rPr>
              <a:t>，重量约</a:t>
            </a:r>
            <a:r>
              <a:rPr lang="en-US" altLang="zh-CN" b="1" dirty="0">
                <a:latin typeface="微软雅黑" panose="020B0503020204020204" pitchFamily="34" charset="-122"/>
                <a:ea typeface="微软雅黑" panose="020B0503020204020204" pitchFamily="34" charset="-122"/>
              </a:rPr>
              <a:t>14</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18g</a:t>
            </a:r>
            <a:r>
              <a:rPr lang="zh-CN" altLang="en-US" b="1" dirty="0">
                <a:latin typeface="微软雅黑" panose="020B0503020204020204" pitchFamily="34" charset="-122"/>
                <a:ea typeface="微软雅黑" panose="020B0503020204020204" pitchFamily="34" charset="-122"/>
              </a:rPr>
              <a:t>，其基质由树酯</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如聚碳酸酯</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制成，数据信息以一系列微凹坑的样式刻录在光盘表面上。 </a:t>
            </a:r>
          </a:p>
        </p:txBody>
      </p:sp>
      <p:sp>
        <p:nvSpPr>
          <p:cNvPr id="5" name="Freeform 12"/>
          <p:cNvSpPr>
            <a:spLocks/>
          </p:cNvSpPr>
          <p:nvPr/>
        </p:nvSpPr>
        <p:spPr bwMode="auto">
          <a:xfrm>
            <a:off x="1190314" y="2059169"/>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6" name="Freeform 12"/>
          <p:cNvSpPr>
            <a:spLocks/>
          </p:cNvSpPr>
          <p:nvPr/>
        </p:nvSpPr>
        <p:spPr bwMode="auto">
          <a:xfrm flipH="1" flipV="1">
            <a:off x="10568067" y="5027082"/>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017596832"/>
      </p:ext>
    </p:extLst>
  </p:cSld>
  <p:clrMapOvr>
    <a:masterClrMapping/>
  </p:clrMapOvr>
  <p:transition spd="med" advTm="9222">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3249649" y="2036442"/>
            <a:ext cx="8465271" cy="3141663"/>
          </a:xfrm>
        </p:spPr>
        <p:txBody>
          <a:bodyPr>
            <a:normAutofit/>
          </a:bodyPr>
          <a:lstStyle/>
          <a:p>
            <a:pPr marL="0" indent="0" eaLnBrk="1" hangingPunct="1">
              <a:lnSpc>
                <a:spcPct val="150000"/>
              </a:lnSpc>
              <a:buNone/>
            </a:pPr>
            <a:r>
              <a:rPr lang="en-US" altLang="zh-CN" b="1" dirty="0">
                <a:latin typeface="微软雅黑" panose="020B0503020204020204" pitchFamily="34" charset="-122"/>
                <a:ea typeface="微软雅黑" panose="020B0503020204020204" pitchFamily="34" charset="-122"/>
              </a:rPr>
              <a:t>CD-ROM</a:t>
            </a:r>
            <a:r>
              <a:rPr lang="zh-CN" altLang="en-US" b="1" dirty="0">
                <a:latin typeface="微软雅黑" panose="020B0503020204020204" pitchFamily="34" charset="-122"/>
                <a:ea typeface="微软雅黑" panose="020B0503020204020204" pitchFamily="34" charset="-122"/>
              </a:rPr>
              <a:t>光盘在制作时，首先用高强度激光束制造一个母盘，然后以母盘作为模板压印出树酯光盘的复制品，再在凹坑表面上镀一层高反射材料</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铝或金</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，最后在这外层上涂一层丙烯酸树酯以防灰尘或划伤。 </a:t>
            </a:r>
          </a:p>
        </p:txBody>
      </p:sp>
      <p:sp>
        <p:nvSpPr>
          <p:cNvPr id="6" name="Rectangle 5"/>
          <p:cNvSpPr>
            <a:spLocks noChangeArrowheads="1"/>
          </p:cNvSpPr>
          <p:nvPr/>
        </p:nvSpPr>
        <p:spPr bwMode="auto">
          <a:xfrm>
            <a:off x="-22289" y="2164754"/>
            <a:ext cx="2735237" cy="2528499"/>
          </a:xfrm>
          <a:prstGeom prst="rect">
            <a:avLst/>
          </a:pr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Oval 9"/>
          <p:cNvSpPr>
            <a:spLocks noChangeArrowheads="1"/>
          </p:cNvSpPr>
          <p:nvPr/>
        </p:nvSpPr>
        <p:spPr bwMode="auto">
          <a:xfrm>
            <a:off x="769489" y="2896757"/>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40"/>
          <p:cNvSpPr>
            <a:spLocks noEditPoints="1"/>
          </p:cNvSpPr>
          <p:nvPr/>
        </p:nvSpPr>
        <p:spPr bwMode="auto">
          <a:xfrm>
            <a:off x="927247" y="3188714"/>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1680824529"/>
      </p:ext>
    </p:extLst>
  </p:cSld>
  <p:clrMapOvr>
    <a:masterClrMapping/>
  </p:clrMapOvr>
  <p:transition spd="med" advTm="9222">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990812" y="320943"/>
            <a:ext cx="8229600" cy="620713"/>
          </a:xfrm>
        </p:spPr>
        <p:txBody>
          <a:bodyPr/>
          <a:lstStyle/>
          <a:p>
            <a:pPr marL="0" indent="0" eaLnBrk="1" hangingPunct="1">
              <a:buNone/>
            </a:pPr>
            <a:r>
              <a:rPr lang="en-US" altLang="zh-CN" sz="3200" b="1" dirty="0">
                <a:latin typeface="微软雅黑" panose="020B0503020204020204" pitchFamily="34" charset="-122"/>
                <a:ea typeface="微软雅黑" panose="020B0503020204020204" pitchFamily="34" charset="-122"/>
              </a:rPr>
              <a:t>CD-ROM</a:t>
            </a:r>
            <a:r>
              <a:rPr lang="zh-CN" altLang="en-US" sz="3200" b="1" dirty="0">
                <a:latin typeface="微软雅黑" panose="020B0503020204020204" pitchFamily="34" charset="-122"/>
                <a:ea typeface="微软雅黑" panose="020B0503020204020204" pitchFamily="34" charset="-122"/>
              </a:rPr>
              <a:t>盘片的结构。</a:t>
            </a:r>
          </a:p>
        </p:txBody>
      </p:sp>
      <p:sp>
        <p:nvSpPr>
          <p:cNvPr id="10244" name="Rectangle 5"/>
          <p:cNvSpPr>
            <a:spLocks noChangeArrowheads="1"/>
          </p:cNvSpPr>
          <p:nvPr/>
        </p:nvSpPr>
        <p:spPr bwMode="auto">
          <a:xfrm>
            <a:off x="1524001" y="27347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p>
        </p:txBody>
      </p:sp>
      <p:graphicFrame>
        <p:nvGraphicFramePr>
          <p:cNvPr id="10245" name="Object 4"/>
          <p:cNvGraphicFramePr>
            <a:graphicFrameLocks noChangeAspect="1"/>
          </p:cNvGraphicFramePr>
          <p:nvPr>
            <p:extLst>
              <p:ext uri="{D42A27DB-BD31-4B8C-83A1-F6EECF244321}">
                <p14:modId xmlns:p14="http://schemas.microsoft.com/office/powerpoint/2010/main" val="1110805070"/>
              </p:ext>
            </p:extLst>
          </p:nvPr>
        </p:nvGraphicFramePr>
        <p:xfrm>
          <a:off x="813391" y="1460312"/>
          <a:ext cx="10432364" cy="3615890"/>
        </p:xfrm>
        <a:graphic>
          <a:graphicData uri="http://schemas.openxmlformats.org/presentationml/2006/ole">
            <mc:AlternateContent xmlns:mc="http://schemas.openxmlformats.org/markup-compatibility/2006">
              <mc:Choice xmlns:v="urn:schemas-microsoft-com:vml" Requires="v">
                <p:oleObj spid="_x0000_s3092" name="Visio" r:id="rId3" imgW="4181738" imgH="1020660" progId="Visio.Drawing.11">
                  <p:embed/>
                </p:oleObj>
              </mc:Choice>
              <mc:Fallback>
                <p:oleObj name="Visio" r:id="rId3" imgW="4181738" imgH="1020660" progId="Visio.Drawing.11">
                  <p:embed/>
                  <p:pic>
                    <p:nvPicPr>
                      <p:cNvPr id="1024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391" y="1460312"/>
                        <a:ext cx="10432364" cy="3615890"/>
                      </a:xfrm>
                      <a:prstGeom prst="rect">
                        <a:avLst/>
                      </a:prstGeom>
                      <a:noFill/>
                      <a:ln>
                        <a:noFill/>
                      </a:ln>
                      <a:extLst/>
                    </p:spPr>
                  </p:pic>
                </p:oleObj>
              </mc:Fallback>
            </mc:AlternateContent>
          </a:graphicData>
        </a:graphic>
      </p:graphicFrame>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3410834587"/>
      </p:ext>
    </p:extLst>
  </p:cSld>
  <p:clrMapOvr>
    <a:masterClrMapping/>
  </p:clrMapOvr>
  <p:transition spd="med" advTm="9222">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Line 5"/>
          <p:cNvSpPr>
            <a:spLocks noChangeShapeType="1"/>
          </p:cNvSpPr>
          <p:nvPr/>
        </p:nvSpPr>
        <p:spPr bwMode="auto">
          <a:xfrm flipH="1">
            <a:off x="1100705" y="610099"/>
            <a:ext cx="3068" cy="5817998"/>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0" name="Oval 6"/>
          <p:cNvSpPr>
            <a:spLocks noChangeArrowheads="1"/>
          </p:cNvSpPr>
          <p:nvPr/>
        </p:nvSpPr>
        <p:spPr bwMode="auto">
          <a:xfrm>
            <a:off x="983224" y="3322884"/>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1" name="Oval 7"/>
          <p:cNvSpPr>
            <a:spLocks noChangeArrowheads="1"/>
          </p:cNvSpPr>
          <p:nvPr/>
        </p:nvSpPr>
        <p:spPr bwMode="auto">
          <a:xfrm>
            <a:off x="983224" y="4409814"/>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438658" y="811867"/>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1438658" y="2130862"/>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721336" y="640018"/>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grpSp>
        <p:nvGrpSpPr>
          <p:cNvPr id="79" name="组合 78"/>
          <p:cNvGrpSpPr/>
          <p:nvPr/>
        </p:nvGrpSpPr>
        <p:grpSpPr>
          <a:xfrm>
            <a:off x="721336" y="1968364"/>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94" name="Oval 7"/>
          <p:cNvSpPr>
            <a:spLocks noChangeArrowheads="1"/>
          </p:cNvSpPr>
          <p:nvPr/>
        </p:nvSpPr>
        <p:spPr bwMode="auto">
          <a:xfrm>
            <a:off x="998697" y="5610143"/>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3955584" y="7800438"/>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1746513" y="592642"/>
            <a:ext cx="9971964" cy="646331"/>
          </a:xfrm>
          <a:prstGeom prst="rect">
            <a:avLst/>
          </a:prstGeom>
        </p:spPr>
        <p:txBody>
          <a:bodyPr wrap="square">
            <a:spAutoFit/>
          </a:bodyPr>
          <a:lstStyle/>
          <a:p>
            <a:pPr>
              <a:lnSpc>
                <a:spcPct val="150000"/>
              </a:lnSpc>
            </a:pPr>
            <a:r>
              <a:rPr lang="en-US" altLang="zh-CN" sz="2400" b="1" dirty="0">
                <a:latin typeface="微软雅黑" panose="020B0503020204020204" pitchFamily="34" charset="-122"/>
                <a:ea typeface="微软雅黑" panose="020B0503020204020204" pitchFamily="34" charset="-122"/>
              </a:rPr>
              <a:t>CD-ROM</a:t>
            </a:r>
            <a:r>
              <a:rPr lang="zh-CN" altLang="en-US" sz="2400" b="1" dirty="0">
                <a:latin typeface="微软雅黑" panose="020B0503020204020204" pitchFamily="34" charset="-122"/>
                <a:ea typeface="微软雅黑" panose="020B0503020204020204" pitchFamily="34" charset="-122"/>
              </a:rPr>
              <a:t>是通过安装在光盘驱动器内的激光头来读取盘片上的信息的。</a:t>
            </a:r>
          </a:p>
        </p:txBody>
      </p:sp>
      <p:sp>
        <p:nvSpPr>
          <p:cNvPr id="4" name="矩形 3"/>
          <p:cNvSpPr/>
          <p:nvPr/>
        </p:nvSpPr>
        <p:spPr>
          <a:xfrm>
            <a:off x="1790999" y="1618769"/>
            <a:ext cx="9664108" cy="1200329"/>
          </a:xfrm>
          <a:prstGeom prst="rect">
            <a:avLst/>
          </a:prstGeom>
        </p:spPr>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激光头所产生的激光束可以穿过透明的树酯层，激光束照射到盘片的不同区域时，反射的激光强度会不发生变化。</a:t>
            </a:r>
          </a:p>
        </p:txBody>
      </p:sp>
      <p:sp>
        <p:nvSpPr>
          <p:cNvPr id="8" name="矩形 7"/>
          <p:cNvSpPr/>
          <p:nvPr/>
        </p:nvSpPr>
        <p:spPr>
          <a:xfrm>
            <a:off x="1340271" y="2957578"/>
            <a:ext cx="10160802" cy="1200329"/>
          </a:xfrm>
          <a:prstGeom prst="rect">
            <a:avLst/>
          </a:prstGeom>
        </p:spPr>
        <p:txBody>
          <a:bodyPr wrap="square">
            <a:spAutoFit/>
          </a:bodyPr>
          <a:lstStyle/>
          <a:p>
            <a:pPr lvl="1">
              <a:lnSpc>
                <a:spcPct val="150000"/>
              </a:lnSpc>
            </a:pPr>
            <a:r>
              <a:rPr lang="zh-CN" altLang="en-US" sz="2400" b="1" dirty="0">
                <a:latin typeface="微软雅黑" panose="020B0503020204020204" pitchFamily="34" charset="-122"/>
                <a:ea typeface="微软雅黑" panose="020B0503020204020204" pitchFamily="34" charset="-122"/>
              </a:rPr>
              <a:t>当激光束照射在凹坑上时，由于凹坑表面有些不平，光被散射，反射回的光强度变低；</a:t>
            </a:r>
            <a:endParaRPr lang="en-US" altLang="zh-CN" sz="2400" b="1" dirty="0">
              <a:latin typeface="微软雅黑" panose="020B0503020204020204" pitchFamily="34" charset="-122"/>
              <a:ea typeface="微软雅黑" panose="020B0503020204020204" pitchFamily="34" charset="-122"/>
            </a:endParaRPr>
          </a:p>
        </p:txBody>
      </p:sp>
      <p:sp>
        <p:nvSpPr>
          <p:cNvPr id="9" name="矩形 8"/>
          <p:cNvSpPr/>
          <p:nvPr/>
        </p:nvSpPr>
        <p:spPr>
          <a:xfrm>
            <a:off x="1340271" y="4204079"/>
            <a:ext cx="9971964" cy="646331"/>
          </a:xfrm>
          <a:prstGeom prst="rect">
            <a:avLst/>
          </a:prstGeom>
        </p:spPr>
        <p:txBody>
          <a:bodyPr wrap="square">
            <a:spAutoFit/>
          </a:bodyPr>
          <a:lstStyle/>
          <a:p>
            <a:pPr lvl="1">
              <a:lnSpc>
                <a:spcPct val="150000"/>
              </a:lnSpc>
            </a:pPr>
            <a:r>
              <a:rPr lang="zh-CN" altLang="en-US" sz="2400" b="1" dirty="0">
                <a:latin typeface="微软雅黑" panose="020B0503020204020204" pitchFamily="34" charset="-122"/>
                <a:ea typeface="微软雅黑" panose="020B0503020204020204" pitchFamily="34" charset="-122"/>
              </a:rPr>
              <a:t>凹坑之间的区域称为台，台的表面光滑平坦，反射回的光强度变高。</a:t>
            </a:r>
            <a:endParaRPr lang="en-US" altLang="zh-CN" sz="2400" b="1" dirty="0">
              <a:latin typeface="微软雅黑" panose="020B0503020204020204" pitchFamily="34" charset="-122"/>
              <a:ea typeface="微软雅黑" panose="020B0503020204020204" pitchFamily="34" charset="-122"/>
            </a:endParaRPr>
          </a:p>
        </p:txBody>
      </p:sp>
      <p:sp>
        <p:nvSpPr>
          <p:cNvPr id="10" name="矩形 9"/>
          <p:cNvSpPr/>
          <p:nvPr/>
        </p:nvSpPr>
        <p:spPr>
          <a:xfrm>
            <a:off x="1265739" y="4850410"/>
            <a:ext cx="10189368" cy="1754326"/>
          </a:xfrm>
          <a:prstGeom prst="rect">
            <a:avLst/>
          </a:prstGeom>
        </p:spPr>
        <p:txBody>
          <a:bodyPr wrap="square">
            <a:spAutoFit/>
          </a:bodyPr>
          <a:lstStyle/>
          <a:p>
            <a:pPr lvl="1">
              <a:lnSpc>
                <a:spcPct val="150000"/>
              </a:lnSpc>
            </a:pPr>
            <a:r>
              <a:rPr lang="zh-CN" altLang="en-US" sz="2400" b="1" dirty="0">
                <a:latin typeface="微软雅黑" panose="020B0503020204020204" pitchFamily="34" charset="-122"/>
                <a:ea typeface="微软雅黑" panose="020B0503020204020204" pitchFamily="34" charset="-122"/>
              </a:rPr>
              <a:t>光传感器将检测到的这种光强变化转换成数字信号。传感器以固定的间隔检测盘表面，一个凹坑的开始或结束表示存储了一位二进制“</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；间隔之间无标高变动出现时，记录的是“</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533905240"/>
      </p:ext>
    </p:extLst>
  </p:cSld>
  <p:clrMapOvr>
    <a:masterClrMapping/>
  </p:clrMapOvr>
  <p:transition spd="med" advTm="0">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838200" y="-38111"/>
            <a:ext cx="10515600" cy="1325563"/>
          </a:xfrm>
        </p:spPr>
        <p:txBody>
          <a:bodyPr/>
          <a:lstStyle/>
          <a:p>
            <a:pPr algn="l" eaLnBrk="1" hangingPunct="1"/>
            <a:r>
              <a:rPr lang="en-US" altLang="zh-CN" sz="3200" b="1" dirty="0">
                <a:latin typeface="微软雅黑" panose="020B0503020204020204" pitchFamily="34" charset="-122"/>
                <a:ea typeface="微软雅黑" panose="020B0503020204020204" pitchFamily="34" charset="-122"/>
                <a:cs typeface="+mn-cs"/>
              </a:rPr>
              <a:t>CD-R</a:t>
            </a:r>
            <a:endParaRPr lang="zh-CN" altLang="en-US" sz="3200" b="1" dirty="0">
              <a:latin typeface="微软雅黑" panose="020B0503020204020204" pitchFamily="34" charset="-122"/>
              <a:ea typeface="微软雅黑" panose="020B0503020204020204" pitchFamily="34" charset="-122"/>
              <a:cs typeface="+mn-cs"/>
            </a:endParaRPr>
          </a:p>
        </p:txBody>
      </p:sp>
      <p:sp>
        <p:nvSpPr>
          <p:cNvPr id="12291" name="Rectangle 3"/>
          <p:cNvSpPr>
            <a:spLocks noGrp="1" noChangeArrowheads="1"/>
          </p:cNvSpPr>
          <p:nvPr>
            <p:ph type="body" idx="1"/>
          </p:nvPr>
        </p:nvSpPr>
        <p:spPr>
          <a:xfrm>
            <a:off x="1766247" y="1287452"/>
            <a:ext cx="9288439" cy="4351338"/>
          </a:xfrm>
        </p:spPr>
        <p:txBody>
          <a:bodyPr>
            <a:normAutofit/>
          </a:bodyPr>
          <a:lstStyle/>
          <a:p>
            <a:pPr marL="0" indent="0" eaLnBrk="1" hangingPunct="1">
              <a:lnSpc>
                <a:spcPct val="150000"/>
              </a:lnSpc>
              <a:buNone/>
            </a:pPr>
            <a:r>
              <a:rPr lang="en-US" altLang="zh-CN" b="1" dirty="0">
                <a:latin typeface="微软雅黑" panose="020B0503020204020204" pitchFamily="34" charset="-122"/>
                <a:ea typeface="微软雅黑" panose="020B0503020204020204" pitchFamily="34" charset="-122"/>
              </a:rPr>
              <a:t>CD-R</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Compact Disk Recordable</a:t>
            </a:r>
            <a:r>
              <a:rPr lang="zh-CN" altLang="en-US" b="1" dirty="0">
                <a:latin typeface="微软雅黑" panose="020B0503020204020204" pitchFamily="34" charset="-122"/>
                <a:ea typeface="微软雅黑" panose="020B0503020204020204" pitchFamily="34" charset="-122"/>
              </a:rPr>
              <a:t>）是一种一次写、多次读的可刻录光盘系统，它由</a:t>
            </a:r>
            <a:r>
              <a:rPr lang="en-US" altLang="zh-CN" b="1" dirty="0">
                <a:latin typeface="微软雅黑" panose="020B0503020204020204" pitchFamily="34" charset="-122"/>
                <a:ea typeface="微软雅黑" panose="020B0503020204020204" pitchFamily="34" charset="-122"/>
              </a:rPr>
              <a:t>CD-R</a:t>
            </a:r>
            <a:r>
              <a:rPr lang="zh-CN" altLang="en-US" b="1" dirty="0">
                <a:latin typeface="微软雅黑" panose="020B0503020204020204" pitchFamily="34" charset="-122"/>
                <a:ea typeface="微软雅黑" panose="020B0503020204020204" pitchFamily="34" charset="-122"/>
              </a:rPr>
              <a:t>盘片和刻录光驱组成。</a:t>
            </a:r>
          </a:p>
        </p:txBody>
      </p:sp>
      <p:sp>
        <p:nvSpPr>
          <p:cNvPr id="2" name="矩形 1"/>
          <p:cNvSpPr/>
          <p:nvPr/>
        </p:nvSpPr>
        <p:spPr>
          <a:xfrm>
            <a:off x="1766247" y="2884700"/>
            <a:ext cx="9725168" cy="3323987"/>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CD-R</a:t>
            </a:r>
            <a:r>
              <a:rPr lang="zh-CN" altLang="en-US" sz="2800" b="1" dirty="0">
                <a:latin typeface="微软雅黑" panose="020B0503020204020204" pitchFamily="34" charset="-122"/>
                <a:ea typeface="微软雅黑" panose="020B0503020204020204" pitchFamily="34" charset="-122"/>
              </a:rPr>
              <a:t>光盘与普通</a:t>
            </a:r>
            <a:r>
              <a:rPr lang="en-US" altLang="zh-CN" sz="2800" b="1" dirty="0">
                <a:latin typeface="微软雅黑" panose="020B0503020204020204" pitchFamily="34" charset="-122"/>
                <a:ea typeface="微软雅黑" panose="020B0503020204020204" pitchFamily="34" charset="-122"/>
              </a:rPr>
              <a:t>CD-ROM</a:t>
            </a:r>
            <a:r>
              <a:rPr lang="zh-CN" altLang="en-US" sz="2800" b="1" dirty="0">
                <a:latin typeface="微软雅黑" panose="020B0503020204020204" pitchFamily="34" charset="-122"/>
                <a:ea typeface="微软雅黑" panose="020B0503020204020204" pitchFamily="34" charset="-122"/>
              </a:rPr>
              <a:t>光盘在外观尺寸、记载数据的方式等方面是相同的，也同样是利用激光束的反射原理来读取信息。但与</a:t>
            </a:r>
            <a:r>
              <a:rPr lang="en-US" altLang="zh-CN" sz="2800" b="1" dirty="0">
                <a:latin typeface="微软雅黑" panose="020B0503020204020204" pitchFamily="34" charset="-122"/>
                <a:ea typeface="微软雅黑" panose="020B0503020204020204" pitchFamily="34" charset="-122"/>
              </a:rPr>
              <a:t>CD-ROM</a:t>
            </a:r>
            <a:r>
              <a:rPr lang="zh-CN" altLang="en-US" sz="2800" b="1" dirty="0">
                <a:latin typeface="微软雅黑" panose="020B0503020204020204" pitchFamily="34" charset="-122"/>
                <a:ea typeface="微软雅黑" panose="020B0503020204020204" pitchFamily="34" charset="-122"/>
              </a:rPr>
              <a:t>不同的是，在</a:t>
            </a:r>
            <a:r>
              <a:rPr lang="en-US" altLang="zh-CN" sz="2800" b="1" dirty="0">
                <a:latin typeface="微软雅黑" panose="020B0503020204020204" pitchFamily="34" charset="-122"/>
                <a:ea typeface="微软雅黑" panose="020B0503020204020204" pitchFamily="34" charset="-122"/>
              </a:rPr>
              <a:t>CD-R</a:t>
            </a:r>
            <a:r>
              <a:rPr lang="zh-CN" altLang="en-US" sz="2800" b="1" dirty="0">
                <a:latin typeface="微软雅黑" panose="020B0503020204020204" pitchFamily="34" charset="-122"/>
                <a:ea typeface="微软雅黑" panose="020B0503020204020204" pitchFamily="34" charset="-122"/>
              </a:rPr>
              <a:t>光盘表面除了含有聚碳酸酯层、反射层和丙烯酸树酯保护层外，另外还在聚碳酸酯层和反射层之间加上了一个有机染料记录层。</a:t>
            </a:r>
          </a:p>
        </p:txBody>
      </p:sp>
      <p:sp>
        <p:nvSpPr>
          <p:cNvPr id="5" name="Freeform 14"/>
          <p:cNvSpPr>
            <a:spLocks/>
          </p:cNvSpPr>
          <p:nvPr/>
        </p:nvSpPr>
        <p:spPr bwMode="auto">
          <a:xfrm>
            <a:off x="395955" y="1668516"/>
            <a:ext cx="906039" cy="90544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6" name="Freeform 14"/>
          <p:cNvSpPr>
            <a:spLocks/>
          </p:cNvSpPr>
          <p:nvPr/>
        </p:nvSpPr>
        <p:spPr bwMode="auto">
          <a:xfrm>
            <a:off x="395954" y="3786323"/>
            <a:ext cx="906039" cy="90544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3" name="文本框 2"/>
          <p:cNvSpPr txBox="1"/>
          <p:nvPr/>
        </p:nvSpPr>
        <p:spPr>
          <a:xfrm>
            <a:off x="572679" y="1736518"/>
            <a:ext cx="341194" cy="769441"/>
          </a:xfrm>
          <a:prstGeom prst="rect">
            <a:avLst/>
          </a:prstGeom>
          <a:noFill/>
        </p:spPr>
        <p:txBody>
          <a:bodyPr wrap="square" rtlCol="0">
            <a:spAutoFit/>
          </a:bodyPr>
          <a:lstStyle/>
          <a:p>
            <a:r>
              <a:rPr lang="en-US" altLang="zh-CN" sz="4400" b="1" dirty="0">
                <a:solidFill>
                  <a:schemeClr val="bg1"/>
                </a:solidFill>
                <a:latin typeface="微软雅黑" panose="020B0503020204020204" pitchFamily="34" charset="-122"/>
                <a:ea typeface="微软雅黑" panose="020B0503020204020204" pitchFamily="34" charset="-122"/>
              </a:rPr>
              <a:t>1</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580629" y="3854325"/>
            <a:ext cx="341194" cy="769441"/>
          </a:xfrm>
          <a:prstGeom prst="rect">
            <a:avLst/>
          </a:prstGeom>
          <a:noFill/>
        </p:spPr>
        <p:txBody>
          <a:bodyPr wrap="square" rtlCol="0">
            <a:spAutoFit/>
          </a:bodyPr>
          <a:lstStyle/>
          <a:p>
            <a:r>
              <a:rPr lang="en-US" altLang="zh-CN" sz="4400" b="1" dirty="0">
                <a:solidFill>
                  <a:schemeClr val="bg1"/>
                </a:solidFill>
                <a:latin typeface="微软雅黑" panose="020B0503020204020204" pitchFamily="34" charset="-122"/>
                <a:ea typeface="微软雅黑" panose="020B0503020204020204" pitchFamily="34" charset="-122"/>
              </a:rPr>
              <a:t>2</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6383220"/>
      </p:ext>
    </p:extLst>
  </p:cSld>
  <p:clrMapOvr>
    <a:masterClrMapping/>
  </p:clrMapOvr>
  <p:transition spd="med" advTm="9222">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617365" y="1758279"/>
            <a:ext cx="8280793" cy="4351338"/>
          </a:xfrm>
        </p:spPr>
        <p:txBody>
          <a:bodyPr/>
          <a:lstStyle/>
          <a:p>
            <a:pPr marL="0" indent="0" eaLnBrk="1" hangingPunct="1">
              <a:lnSpc>
                <a:spcPct val="150000"/>
              </a:lnSpc>
              <a:buNone/>
            </a:pPr>
            <a:r>
              <a:rPr lang="zh-CN" altLang="en-US" b="1" dirty="0">
                <a:latin typeface="微软雅黑" panose="020B0503020204020204" pitchFamily="34" charset="-122"/>
                <a:ea typeface="微软雅黑" panose="020B0503020204020204" pitchFamily="34" charset="-122"/>
              </a:rPr>
              <a:t>当使用</a:t>
            </a:r>
            <a:r>
              <a:rPr lang="en-US" altLang="zh-CN" b="1" dirty="0">
                <a:latin typeface="微软雅黑" panose="020B0503020204020204" pitchFamily="34" charset="-122"/>
                <a:ea typeface="微软雅黑" panose="020B0503020204020204" pitchFamily="34" charset="-122"/>
              </a:rPr>
              <a:t>CD-R</a:t>
            </a:r>
            <a:r>
              <a:rPr lang="zh-CN" altLang="en-US" b="1" dirty="0">
                <a:latin typeface="微软雅黑" panose="020B0503020204020204" pitchFamily="34" charset="-122"/>
                <a:ea typeface="微软雅黑" panose="020B0503020204020204" pitchFamily="34" charset="-122"/>
              </a:rPr>
              <a:t>刻录光驱对空白盘片进行刻录时，是将写激光束照射到有机染料记录层上，激光照射时产生的热量将有机染料烧熔，并使其产生光痕。光痕会使今后读激光束改变光的反射率，从而达到一次刻录改写信息的目的。</a:t>
            </a:r>
          </a:p>
        </p:txBody>
      </p:sp>
      <p:sp>
        <p:nvSpPr>
          <p:cNvPr id="6" name="Rectangle 5"/>
          <p:cNvSpPr>
            <a:spLocks noChangeArrowheads="1"/>
          </p:cNvSpPr>
          <p:nvPr/>
        </p:nvSpPr>
        <p:spPr bwMode="auto">
          <a:xfrm flipH="1">
            <a:off x="9407075" y="2137458"/>
            <a:ext cx="2784925" cy="2528499"/>
          </a:xfrm>
          <a:prstGeom prst="rect">
            <a:avLst/>
          </a:pr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Oval 9"/>
          <p:cNvSpPr>
            <a:spLocks noChangeArrowheads="1"/>
          </p:cNvSpPr>
          <p:nvPr/>
        </p:nvSpPr>
        <p:spPr bwMode="auto">
          <a:xfrm flipH="1">
            <a:off x="10228006" y="2825866"/>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10"/>
          <p:cNvSpPr>
            <a:spLocks noEditPoints="1"/>
          </p:cNvSpPr>
          <p:nvPr/>
        </p:nvSpPr>
        <p:spPr bwMode="auto">
          <a:xfrm flipH="1">
            <a:off x="10416893" y="2969767"/>
            <a:ext cx="765288" cy="820279"/>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56673958"/>
      </p:ext>
    </p:extLst>
  </p:cSld>
  <p:clrMapOvr>
    <a:masterClrMapping/>
  </p:clrMapOvr>
  <p:transition spd="med" advTm="9222">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84913"/>
            <a:ext cx="5974331"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b="1" dirty="0">
                <a:solidFill>
                  <a:schemeClr val="tx1"/>
                </a:solidFill>
                <a:latin typeface="微软雅黑" panose="020B0503020204020204" pitchFamily="34" charset="-122"/>
                <a:ea typeface="微软雅黑" panose="020B0503020204020204" pitchFamily="34" charset="-122"/>
              </a:rPr>
              <a:t>CD-RW</a:t>
            </a:r>
            <a:endParaRPr lang="zh-CN" altLang="en-US" b="1" dirty="0">
              <a:solidFill>
                <a:schemeClr val="tx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5"/>
          <p:cNvSpPr>
            <a:spLocks noChangeArrowheads="1"/>
          </p:cNvSpPr>
          <p:nvPr/>
        </p:nvSpPr>
        <p:spPr bwMode="auto">
          <a:xfrm>
            <a:off x="3609931" y="1296775"/>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5129835" y="3197414"/>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3684061" y="4982163"/>
            <a:ext cx="1573899" cy="1563688"/>
          </a:xfrm>
          <a:prstGeom prst="ellipse">
            <a:avLst/>
          </a:prstGeom>
          <a:solidFill>
            <a:srgbClr val="92D050"/>
          </a:solidFill>
          <a:ln w="38100" cap="flat">
            <a:solidFill>
              <a:srgbClr val="92D05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10"/>
          <p:cNvSpPr>
            <a:spLocks noEditPoints="1"/>
          </p:cNvSpPr>
          <p:nvPr/>
        </p:nvSpPr>
        <p:spPr bwMode="auto">
          <a:xfrm>
            <a:off x="5275561" y="1905281"/>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noEditPoints="1"/>
          </p:cNvSpPr>
          <p:nvPr/>
        </p:nvSpPr>
        <p:spPr bwMode="auto">
          <a:xfrm>
            <a:off x="4685351" y="3775530"/>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12"/>
          <p:cNvSpPr>
            <a:spLocks noEditPoints="1"/>
          </p:cNvSpPr>
          <p:nvPr/>
        </p:nvSpPr>
        <p:spPr bwMode="auto">
          <a:xfrm>
            <a:off x="5349691" y="5600089"/>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TextBox 13"/>
          <p:cNvSpPr txBox="1"/>
          <p:nvPr/>
        </p:nvSpPr>
        <p:spPr>
          <a:xfrm flipH="1">
            <a:off x="3846368" y="1617135"/>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15" name="TextBox 14"/>
          <p:cNvSpPr txBox="1"/>
          <p:nvPr/>
        </p:nvSpPr>
        <p:spPr>
          <a:xfrm flipH="1">
            <a:off x="5374723" y="3517774"/>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16" name="TextBox 15"/>
          <p:cNvSpPr txBox="1"/>
          <p:nvPr/>
        </p:nvSpPr>
        <p:spPr>
          <a:xfrm flipH="1">
            <a:off x="3932978" y="5320086"/>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03</a:t>
            </a:r>
          </a:p>
        </p:txBody>
      </p:sp>
      <p:sp>
        <p:nvSpPr>
          <p:cNvPr id="23" name="TextBox 26"/>
          <p:cNvSpPr txBox="1"/>
          <p:nvPr/>
        </p:nvSpPr>
        <p:spPr>
          <a:xfrm>
            <a:off x="14119358" y="8499888"/>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5843120" y="519758"/>
            <a:ext cx="5721397" cy="2677656"/>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CD-RW</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Compact Disk </a:t>
            </a:r>
            <a:r>
              <a:rPr lang="en-US" altLang="zh-CN" sz="2800" b="1" dirty="0" err="1">
                <a:latin typeface="微软雅黑" panose="020B0503020204020204" pitchFamily="34" charset="-122"/>
                <a:ea typeface="微软雅黑" panose="020B0503020204020204" pitchFamily="34" charset="-122"/>
              </a:rPr>
              <a:t>ReWritable</a:t>
            </a:r>
            <a:r>
              <a:rPr lang="zh-CN" altLang="en-US" sz="2800" b="1" dirty="0">
                <a:latin typeface="微软雅黑" panose="020B0503020204020204" pitchFamily="34" charset="-122"/>
                <a:ea typeface="微软雅黑" panose="020B0503020204020204" pitchFamily="34" charset="-122"/>
              </a:rPr>
              <a:t>）是在</a:t>
            </a:r>
            <a:r>
              <a:rPr lang="en-US" altLang="zh-CN" sz="2800" b="1" dirty="0">
                <a:latin typeface="微软雅黑" panose="020B0503020204020204" pitchFamily="34" charset="-122"/>
                <a:ea typeface="微软雅黑" panose="020B0503020204020204" pitchFamily="34" charset="-122"/>
              </a:rPr>
              <a:t>CD-R</a:t>
            </a:r>
            <a:r>
              <a:rPr lang="zh-CN" altLang="en-US" sz="2800" b="1" dirty="0">
                <a:latin typeface="微软雅黑" panose="020B0503020204020204" pitchFamily="34" charset="-122"/>
                <a:ea typeface="微软雅黑" panose="020B0503020204020204" pitchFamily="34" charset="-122"/>
              </a:rPr>
              <a:t>基础上进一步发展起来的，是一种多次写、多次读的可重复擦写的光存储系统。 </a:t>
            </a:r>
          </a:p>
        </p:txBody>
      </p:sp>
      <p:sp>
        <p:nvSpPr>
          <p:cNvPr id="4" name="矩形 3"/>
          <p:cNvSpPr/>
          <p:nvPr/>
        </p:nvSpPr>
        <p:spPr>
          <a:xfrm>
            <a:off x="287837" y="2761247"/>
            <a:ext cx="4507138" cy="2031325"/>
          </a:xfrm>
          <a:prstGeom prst="rect">
            <a:avLst/>
          </a:prstGeom>
        </p:spPr>
        <p:txBody>
          <a:bodyPr wrap="square">
            <a:spAutoFit/>
          </a:bodyPr>
          <a:lstStyle/>
          <a:p>
            <a:pPr lvl="0">
              <a:lnSpc>
                <a:spcPct val="150000"/>
              </a:lnSpc>
            </a:pPr>
            <a:r>
              <a:rPr lang="en-US" altLang="zh-CN" sz="2800" b="1" dirty="0">
                <a:solidFill>
                  <a:prstClr val="black"/>
                </a:solidFill>
                <a:latin typeface="微软雅黑" panose="020B0503020204020204" pitchFamily="34" charset="-122"/>
                <a:ea typeface="微软雅黑" panose="020B0503020204020204" pitchFamily="34" charset="-122"/>
              </a:rPr>
              <a:t>CD-RW</a:t>
            </a:r>
            <a:r>
              <a:rPr lang="zh-CN" altLang="en-US" sz="2800" b="1" dirty="0">
                <a:solidFill>
                  <a:prstClr val="black"/>
                </a:solidFill>
                <a:latin typeface="微软雅黑" panose="020B0503020204020204" pitchFamily="34" charset="-122"/>
                <a:ea typeface="微软雅黑" panose="020B0503020204020204" pitchFamily="34" charset="-122"/>
              </a:rPr>
              <a:t>光盘结构与</a:t>
            </a:r>
            <a:r>
              <a:rPr lang="en-US" altLang="zh-CN" sz="2800" b="1" dirty="0">
                <a:solidFill>
                  <a:prstClr val="black"/>
                </a:solidFill>
                <a:latin typeface="微软雅黑" panose="020B0503020204020204" pitchFamily="34" charset="-122"/>
                <a:ea typeface="微软雅黑" panose="020B0503020204020204" pitchFamily="34" charset="-122"/>
              </a:rPr>
              <a:t>CD-ROM</a:t>
            </a:r>
            <a:r>
              <a:rPr lang="zh-CN" altLang="en-US" sz="2800" b="1" dirty="0">
                <a:solidFill>
                  <a:prstClr val="black"/>
                </a:solidFill>
                <a:latin typeface="微软雅黑" panose="020B0503020204020204" pitchFamily="34" charset="-122"/>
                <a:ea typeface="微软雅黑" panose="020B0503020204020204" pitchFamily="34" charset="-122"/>
              </a:rPr>
              <a:t>基本相同，只是在盘片中增加了可改写的染色层。</a:t>
            </a:r>
          </a:p>
        </p:txBody>
      </p:sp>
      <p:sp>
        <p:nvSpPr>
          <p:cNvPr id="24" name="矩形 23"/>
          <p:cNvSpPr/>
          <p:nvPr/>
        </p:nvSpPr>
        <p:spPr>
          <a:xfrm>
            <a:off x="5843120" y="4735587"/>
            <a:ext cx="6044081"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读写数据采用相变（</a:t>
            </a:r>
            <a:r>
              <a:rPr lang="en-US" altLang="zh-CN" sz="2800" b="1" dirty="0">
                <a:latin typeface="微软雅黑" panose="020B0503020204020204" pitchFamily="34" charset="-122"/>
                <a:ea typeface="微软雅黑" panose="020B0503020204020204" pitchFamily="34" charset="-122"/>
              </a:rPr>
              <a:t>phase change</a:t>
            </a:r>
            <a:r>
              <a:rPr lang="zh-CN" altLang="en-US" sz="2800" b="1" dirty="0">
                <a:latin typeface="微软雅黑" panose="020B0503020204020204" pitchFamily="34" charset="-122"/>
                <a:ea typeface="微软雅黑" panose="020B0503020204020204" pitchFamily="34" charset="-122"/>
              </a:rPr>
              <a:t>）技术。相变技术利用物质的状态变化进行数据的读、写和擦除。 </a:t>
            </a:r>
          </a:p>
        </p:txBody>
      </p:sp>
    </p:spTree>
    <p:extLst>
      <p:ext uri="{BB962C8B-B14F-4D97-AF65-F5344CB8AC3E}">
        <p14:creationId xmlns:p14="http://schemas.microsoft.com/office/powerpoint/2010/main" val="3326364078"/>
      </p:ext>
    </p:extLst>
  </p:cSld>
  <p:clrMapOvr>
    <a:masterClrMapping/>
  </p:clrMapOvr>
  <p:transition spd="med" advTm="0">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107063" y="1089348"/>
            <a:ext cx="9313819" cy="4577821"/>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082059" y="1025848"/>
            <a:ext cx="9313819" cy="4577821"/>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5"/>
          <p:cNvSpPr>
            <a:spLocks noChangeArrowheads="1"/>
          </p:cNvSpPr>
          <p:nvPr/>
        </p:nvSpPr>
        <p:spPr bwMode="auto">
          <a:xfrm>
            <a:off x="1099619" y="1063948"/>
            <a:ext cx="9337675" cy="4577821"/>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8678571" y="5140737"/>
            <a:ext cx="1658468" cy="1305439"/>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85088" y="-107234"/>
            <a:ext cx="2206912" cy="843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74576"/>
            <a:ext cx="12192000" cy="166848"/>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097656" y="8055298"/>
            <a:ext cx="877163" cy="369332"/>
          </a:xfrm>
          <a:prstGeom prst="rect">
            <a:avLst/>
          </a:prstGeom>
          <a:noFill/>
        </p:spPr>
        <p:txBody>
          <a:bodyPr wrap="none" rtlCol="0">
            <a:spAutoFit/>
          </a:bodyPr>
          <a:lstStyle/>
          <a:p>
            <a:r>
              <a:rPr lang="zh-CN" altLang="en-US" dirty="0"/>
              <a:t>延迟符</a:t>
            </a:r>
          </a:p>
        </p:txBody>
      </p:sp>
      <p:sp>
        <p:nvSpPr>
          <p:cNvPr id="2" name="矩形 1"/>
          <p:cNvSpPr/>
          <p:nvPr/>
        </p:nvSpPr>
        <p:spPr>
          <a:xfrm>
            <a:off x="1234318" y="1025848"/>
            <a:ext cx="9161560" cy="4616648"/>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CD-RW</a:t>
            </a:r>
            <a:r>
              <a:rPr lang="zh-CN" altLang="en-US" sz="2800" b="1" dirty="0">
                <a:latin typeface="微软雅黑" panose="020B0503020204020204" pitchFamily="34" charset="-122"/>
                <a:ea typeface="微软雅黑" panose="020B0503020204020204" pitchFamily="34" charset="-122"/>
              </a:rPr>
              <a:t>盘片内部镀上一层一定厚度的薄膜即相变记录层。相变记录层由一种银合金材料组成，随加热温度的不同，它可以形成晶体，也可以形成非晶体。因此，适当调整加热温度就可以自由地控制记录层的结晶状态。在晶体状态中原子整齐排列，光反射率高；相反，在非晶体状态中原子排列不整齐，光反射率低。对</a:t>
            </a:r>
            <a:r>
              <a:rPr lang="en-US" altLang="zh-CN" sz="2800" b="1" dirty="0">
                <a:latin typeface="微软雅黑" panose="020B0503020204020204" pitchFamily="34" charset="-122"/>
                <a:ea typeface="微软雅黑" panose="020B0503020204020204" pitchFamily="34" charset="-122"/>
              </a:rPr>
              <a:t>CD-RW</a:t>
            </a:r>
            <a:r>
              <a:rPr lang="zh-CN" altLang="en-US" sz="2800" b="1" dirty="0">
                <a:latin typeface="微软雅黑" panose="020B0503020204020204" pitchFamily="34" charset="-122"/>
                <a:ea typeface="微软雅黑" panose="020B0503020204020204" pitchFamily="34" charset="-122"/>
              </a:rPr>
              <a:t>的读、写和擦除正是利用光反射率的这种变化来实现。 </a:t>
            </a:r>
          </a:p>
        </p:txBody>
      </p:sp>
    </p:spTree>
    <p:extLst>
      <p:ext uri="{BB962C8B-B14F-4D97-AF65-F5344CB8AC3E}">
        <p14:creationId xmlns:p14="http://schemas.microsoft.com/office/powerpoint/2010/main" val="510715106"/>
      </p:ext>
    </p:extLst>
  </p:cSld>
  <p:clrMapOvr>
    <a:masterClrMapping/>
  </p:clrMapOvr>
  <p:transition spd="med" advTm="0">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pic>
        <p:nvPicPr>
          <p:cNvPr id="5122" name="Picture 2" descr="E:\我的文档\商务图片\19147185_150127007000_2.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44426" y="3666022"/>
            <a:ext cx="5022365" cy="2821733"/>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pic>
        <p:nvPicPr>
          <p:cNvPr id="5123" name="Picture 3" descr="E:\我的文档\商务图片\Nipic_1082507_20091207090526024812.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228894" y="3661058"/>
            <a:ext cx="5110573" cy="2826697"/>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sp>
        <p:nvSpPr>
          <p:cNvPr id="8" name="矩形 83"/>
          <p:cNvSpPr>
            <a:spLocks noChangeArrowheads="1"/>
          </p:cNvSpPr>
          <p:nvPr/>
        </p:nvSpPr>
        <p:spPr bwMode="auto">
          <a:xfrm>
            <a:off x="1045556" y="1289258"/>
            <a:ext cx="10222393" cy="2116756"/>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9" name="TextBox 84"/>
          <p:cNvSpPr txBox="1">
            <a:spLocks noChangeArrowheads="1"/>
          </p:cNvSpPr>
          <p:nvPr/>
        </p:nvSpPr>
        <p:spPr bwMode="auto">
          <a:xfrm>
            <a:off x="1085119" y="1374040"/>
            <a:ext cx="9777981" cy="203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8" tIns="45699" rIns="91398" bIns="45699">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en-US" altLang="zh-CN" sz="2800" b="1" dirty="0">
                <a:latin typeface="微软雅黑" panose="020B0503020204020204" pitchFamily="34" charset="-122"/>
                <a:ea typeface="微软雅黑" panose="020B0503020204020204" pitchFamily="34" charset="-122"/>
              </a:rPr>
              <a:t>    DVD</a:t>
            </a:r>
            <a:r>
              <a:rPr lang="zh-CN" altLang="en-US" sz="2800" b="1" dirty="0">
                <a:latin typeface="微软雅黑" panose="020B0503020204020204" pitchFamily="34" charset="-122"/>
                <a:ea typeface="微软雅黑" panose="020B0503020204020204" pitchFamily="34" charset="-122"/>
              </a:rPr>
              <a:t>的英文全名是</a:t>
            </a:r>
            <a:r>
              <a:rPr lang="en-US" altLang="zh-CN" sz="2800" b="1" dirty="0">
                <a:latin typeface="微软雅黑" panose="020B0503020204020204" pitchFamily="34" charset="-122"/>
                <a:ea typeface="微软雅黑" panose="020B0503020204020204" pitchFamily="34" charset="-122"/>
              </a:rPr>
              <a:t>Digital Video Disk</a:t>
            </a:r>
            <a:r>
              <a:rPr lang="zh-CN" altLang="en-US" sz="2800" b="1" dirty="0">
                <a:latin typeface="微软雅黑" panose="020B0503020204020204" pitchFamily="34" charset="-122"/>
                <a:ea typeface="微软雅黑" panose="020B0503020204020204" pitchFamily="34" charset="-122"/>
              </a:rPr>
              <a:t>，即数字视频光盘。</a:t>
            </a:r>
          </a:p>
          <a:p>
            <a:pPr eaLnBrk="1" hangingPunct="1">
              <a:lnSpc>
                <a:spcPct val="150000"/>
              </a:lnSpc>
            </a:pPr>
            <a:r>
              <a:rPr lang="en-US" altLang="zh-CN" sz="2800" b="1" dirty="0">
                <a:latin typeface="微软雅黑" panose="020B0503020204020204" pitchFamily="34" charset="-122"/>
                <a:ea typeface="微软雅黑" panose="020B0503020204020204" pitchFamily="34" charset="-122"/>
              </a:rPr>
              <a:t>    DVD</a:t>
            </a:r>
            <a:r>
              <a:rPr lang="zh-CN" altLang="en-US" sz="2800" b="1" dirty="0">
                <a:latin typeface="微软雅黑" panose="020B0503020204020204" pitchFamily="34" charset="-122"/>
                <a:ea typeface="微软雅黑" panose="020B0503020204020204" pitchFamily="34" charset="-122"/>
              </a:rPr>
              <a:t>不仅仅用来存储视频数据，还可以用来存储其它类型的数据，因此</a:t>
            </a:r>
            <a:r>
              <a:rPr lang="en-US" altLang="zh-CN" sz="2800" b="1" dirty="0">
                <a:latin typeface="微软雅黑" panose="020B0503020204020204" pitchFamily="34" charset="-122"/>
                <a:ea typeface="微软雅黑" panose="020B0503020204020204" pitchFamily="34" charset="-122"/>
              </a:rPr>
              <a:t>DVD</a:t>
            </a:r>
            <a:r>
              <a:rPr lang="zh-CN" altLang="en-US" sz="2800" b="1" dirty="0">
                <a:latin typeface="微软雅黑" panose="020B0503020204020204" pitchFamily="34" charset="-122"/>
                <a:ea typeface="微软雅黑" panose="020B0503020204020204" pitchFamily="34" charset="-122"/>
              </a:rPr>
              <a:t>又称为数字通用盘。</a:t>
            </a:r>
          </a:p>
        </p:txBody>
      </p:sp>
      <p:sp>
        <p:nvSpPr>
          <p:cNvPr id="10" name="Freeform 12"/>
          <p:cNvSpPr>
            <a:spLocks/>
          </p:cNvSpPr>
          <p:nvPr/>
        </p:nvSpPr>
        <p:spPr bwMode="auto">
          <a:xfrm>
            <a:off x="970969" y="114326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1" name="Freeform 12"/>
          <p:cNvSpPr>
            <a:spLocks/>
          </p:cNvSpPr>
          <p:nvPr/>
        </p:nvSpPr>
        <p:spPr bwMode="auto">
          <a:xfrm flipH="1" flipV="1">
            <a:off x="10811033" y="294479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12"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866234" y="356039"/>
            <a:ext cx="1116011" cy="523220"/>
          </a:xfrm>
          <a:prstGeom prst="rect">
            <a:avLst/>
          </a:prstGeom>
        </p:spPr>
        <p:txBody>
          <a:bodyPr wrap="none">
            <a:spAutoFit/>
          </a:bodyPr>
          <a:lstStyle/>
          <a:p>
            <a:r>
              <a:rPr lang="en-US" altLang="zh-CN" sz="2800" b="1" dirty="0">
                <a:latin typeface="微软雅黑" panose="020B0503020204020204" pitchFamily="34" charset="-122"/>
                <a:ea typeface="微软雅黑" panose="020B0503020204020204" pitchFamily="34" charset="-122"/>
              </a:rPr>
              <a:t>DVD </a:t>
            </a: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7670352"/>
      </p:ext>
    </p:extLst>
  </p:cSld>
  <p:clrMapOvr>
    <a:masterClrMapping/>
  </p:clrMapOvr>
  <p:transition spd="med" advTm="0">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875773" y="357886"/>
            <a:ext cx="12007714" cy="1125538"/>
          </a:xfrm>
        </p:spPr>
        <p:txBody>
          <a:bodyPr>
            <a:normAutofit/>
          </a:bodyPr>
          <a:lstStyle/>
          <a:p>
            <a:pPr marL="0" indent="0" eaLnBrk="1" hangingPunct="1">
              <a:buNone/>
            </a:pPr>
            <a:r>
              <a:rPr lang="zh-CN" altLang="en-US" b="1" dirty="0">
                <a:latin typeface="微软雅黑" panose="020B0503020204020204" pitchFamily="34" charset="-122"/>
                <a:ea typeface="微软雅黑" panose="020B0503020204020204" pitchFamily="34" charset="-122"/>
              </a:rPr>
              <a:t>图</a:t>
            </a:r>
            <a:r>
              <a:rPr lang="en-US" altLang="zh-CN" b="1" dirty="0">
                <a:latin typeface="微软雅黑" panose="020B0503020204020204" pitchFamily="34" charset="-122"/>
                <a:ea typeface="微软雅黑" panose="020B0503020204020204" pitchFamily="34" charset="-122"/>
              </a:rPr>
              <a:t>5­-37</a:t>
            </a:r>
            <a:r>
              <a:rPr lang="zh-CN" altLang="en-US" b="1" dirty="0">
                <a:latin typeface="微软雅黑" panose="020B0503020204020204" pitchFamily="34" charset="-122"/>
                <a:ea typeface="微软雅黑" panose="020B0503020204020204" pitchFamily="34" charset="-122"/>
              </a:rPr>
              <a:t>是</a:t>
            </a:r>
            <a:r>
              <a:rPr lang="en-US" altLang="zh-CN" b="1" dirty="0">
                <a:latin typeface="微软雅黑" panose="020B0503020204020204" pitchFamily="34" charset="-122"/>
                <a:ea typeface="微软雅黑" panose="020B0503020204020204" pitchFamily="34" charset="-122"/>
              </a:rPr>
              <a:t>DVD</a:t>
            </a:r>
            <a:r>
              <a:rPr lang="zh-CN" altLang="en-US" b="1" dirty="0">
                <a:latin typeface="微软雅黑" panose="020B0503020204020204" pitchFamily="34" charset="-122"/>
                <a:ea typeface="微软雅黑" panose="020B0503020204020204" pitchFamily="34" charset="-122"/>
              </a:rPr>
              <a:t>和</a:t>
            </a:r>
            <a:r>
              <a:rPr lang="en-US" altLang="zh-CN" b="1" dirty="0">
                <a:latin typeface="微软雅黑" panose="020B0503020204020204" pitchFamily="34" charset="-122"/>
                <a:ea typeface="微软雅黑" panose="020B0503020204020204" pitchFamily="34" charset="-122"/>
              </a:rPr>
              <a:t>CD-ROM</a:t>
            </a:r>
            <a:r>
              <a:rPr lang="zh-CN" altLang="en-US" b="1" dirty="0">
                <a:latin typeface="微软雅黑" panose="020B0503020204020204" pitchFamily="34" charset="-122"/>
                <a:ea typeface="微软雅黑" panose="020B0503020204020204" pitchFamily="34" charset="-122"/>
              </a:rPr>
              <a:t>盘片数据记录道和凹坑情况的比较 。</a:t>
            </a:r>
          </a:p>
        </p:txBody>
      </p:sp>
      <p:sp>
        <p:nvSpPr>
          <p:cNvPr id="19460" name="Rectangle 5"/>
          <p:cNvSpPr>
            <a:spLocks noChangeArrowheads="1"/>
          </p:cNvSpPr>
          <p:nvPr/>
        </p:nvSpPr>
        <p:spPr bwMode="auto">
          <a:xfrm>
            <a:off x="1524001" y="22251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p>
        </p:txBody>
      </p:sp>
      <p:graphicFrame>
        <p:nvGraphicFramePr>
          <p:cNvPr id="19461" name="Object 4"/>
          <p:cNvGraphicFramePr>
            <a:graphicFrameLocks noChangeAspect="1"/>
          </p:cNvGraphicFramePr>
          <p:nvPr>
            <p:extLst>
              <p:ext uri="{D42A27DB-BD31-4B8C-83A1-F6EECF244321}">
                <p14:modId xmlns:p14="http://schemas.microsoft.com/office/powerpoint/2010/main" val="1892330292"/>
              </p:ext>
            </p:extLst>
          </p:nvPr>
        </p:nvGraphicFramePr>
        <p:xfrm>
          <a:off x="703987" y="1657183"/>
          <a:ext cx="9845817" cy="4531055"/>
        </p:xfrm>
        <a:graphic>
          <a:graphicData uri="http://schemas.openxmlformats.org/presentationml/2006/ole">
            <mc:AlternateContent xmlns:mc="http://schemas.openxmlformats.org/markup-compatibility/2006">
              <mc:Choice xmlns:v="urn:schemas-microsoft-com:vml" Requires="v">
                <p:oleObj spid="_x0000_s4116" name="Visio" r:id="rId3" imgW="5338877" imgH="2100986" progId="Visio.Drawing.11">
                  <p:embed/>
                </p:oleObj>
              </mc:Choice>
              <mc:Fallback>
                <p:oleObj name="Visio" r:id="rId3" imgW="5338877" imgH="2100986" progId="Visio.Drawing.11">
                  <p:embed/>
                  <p:pic>
                    <p:nvPicPr>
                      <p:cNvPr id="1946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987" y="1657183"/>
                        <a:ext cx="9845817" cy="4531055"/>
                      </a:xfrm>
                      <a:prstGeom prst="rect">
                        <a:avLst/>
                      </a:prstGeom>
                      <a:noFill/>
                      <a:ln>
                        <a:noFill/>
                      </a:ln>
                      <a:extLst/>
                    </p:spPr>
                  </p:pic>
                </p:oleObj>
              </mc:Fallback>
            </mc:AlternateContent>
          </a:graphicData>
        </a:graphic>
      </p:graphicFrame>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866758095"/>
      </p:ext>
    </p:extLst>
  </p:cSld>
  <p:clrMapOvr>
    <a:masterClrMapping/>
  </p:clrMapOvr>
  <p:transition spd="med" advTm="9222">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634430" y="1588805"/>
            <a:ext cx="10517832" cy="3710807"/>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20483" name="Rectangle 3"/>
          <p:cNvSpPr>
            <a:spLocks noGrp="1" noChangeArrowheads="1"/>
          </p:cNvSpPr>
          <p:nvPr>
            <p:ph type="body" idx="1"/>
          </p:nvPr>
        </p:nvSpPr>
        <p:spPr>
          <a:xfrm>
            <a:off x="903858" y="1816989"/>
            <a:ext cx="9598923" cy="2455908"/>
          </a:xfrm>
        </p:spPr>
        <p:txBody>
          <a:bodyPr>
            <a:normAutofit/>
          </a:bodyPr>
          <a:lstStyle/>
          <a:p>
            <a:pPr marL="0" indent="0">
              <a:lnSpc>
                <a:spcPct val="150000"/>
              </a:lnSpc>
              <a:buNone/>
            </a:pPr>
            <a:r>
              <a:rPr lang="en-US" altLang="zh-CN" b="1" dirty="0">
                <a:latin typeface="微软雅黑" panose="020B0503020204020204" pitchFamily="34" charset="-122"/>
                <a:ea typeface="微软雅黑" panose="020B0503020204020204" pitchFamily="34" charset="-122"/>
              </a:rPr>
              <a:t>      DVD</a:t>
            </a:r>
            <a:r>
              <a:rPr lang="zh-CN" altLang="en-US" b="1" dirty="0">
                <a:latin typeface="微软雅黑" panose="020B0503020204020204" pitchFamily="34" charset="-122"/>
                <a:ea typeface="微软雅黑" panose="020B0503020204020204" pitchFamily="34" charset="-122"/>
              </a:rPr>
              <a:t>盘片分为单面单层、单面双层、双面单层和双面双层四种物理结构。因此，可以将</a:t>
            </a:r>
            <a:r>
              <a:rPr lang="en-US" altLang="zh-CN" b="1" dirty="0">
                <a:latin typeface="微软雅黑" panose="020B0503020204020204" pitchFamily="34" charset="-122"/>
                <a:ea typeface="微软雅黑" panose="020B0503020204020204" pitchFamily="34" charset="-122"/>
              </a:rPr>
              <a:t>DVD</a:t>
            </a:r>
            <a:r>
              <a:rPr lang="zh-CN" altLang="en-US" b="1" dirty="0">
                <a:latin typeface="微软雅黑" panose="020B0503020204020204" pitchFamily="34" charset="-122"/>
                <a:ea typeface="微软雅黑" panose="020B0503020204020204" pitchFamily="34" charset="-122"/>
              </a:rPr>
              <a:t>盘片分为四种规格，分别是</a:t>
            </a:r>
            <a:r>
              <a:rPr lang="en-US" altLang="zh-CN" b="1" dirty="0">
                <a:latin typeface="微软雅黑" panose="020B0503020204020204" pitchFamily="34" charset="-122"/>
                <a:ea typeface="微软雅黑" panose="020B0503020204020204" pitchFamily="34" charset="-122"/>
              </a:rPr>
              <a:t>DVD-5</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DVD-9</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DVD-10</a:t>
            </a:r>
            <a:r>
              <a:rPr lang="zh-CN" altLang="en-US" b="1" dirty="0">
                <a:latin typeface="微软雅黑" panose="020B0503020204020204" pitchFamily="34" charset="-122"/>
                <a:ea typeface="微软雅黑" panose="020B0503020204020204" pitchFamily="34" charset="-122"/>
              </a:rPr>
              <a:t>和</a:t>
            </a:r>
            <a:r>
              <a:rPr lang="en-US" altLang="zh-CN" b="1" dirty="0">
                <a:latin typeface="微软雅黑" panose="020B0503020204020204" pitchFamily="34" charset="-122"/>
                <a:ea typeface="微软雅黑" panose="020B0503020204020204" pitchFamily="34" charset="-122"/>
              </a:rPr>
              <a:t>DVD-18</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121409090"/>
      </p:ext>
    </p:extLst>
  </p:cSld>
  <p:clrMapOvr>
    <a:masterClrMapping/>
  </p:clrMapOvr>
  <p:transition spd="med" advTm="9222">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875773" y="338854"/>
            <a:ext cx="8229600" cy="838200"/>
          </a:xfrm>
        </p:spPr>
        <p:txBody>
          <a:bodyPr>
            <a:normAutofit/>
          </a:bodyPr>
          <a:lstStyle/>
          <a:p>
            <a:pPr marL="0" indent="0" eaLnBrk="1" hangingPunct="1">
              <a:buNone/>
            </a:pPr>
            <a:r>
              <a:rPr lang="zh-CN" altLang="en-US" sz="3200" b="1" dirty="0">
                <a:latin typeface="微软雅黑" panose="020B0503020204020204" pitchFamily="34" charset="-122"/>
                <a:ea typeface="微软雅黑" panose="020B0503020204020204" pitchFamily="34" charset="-122"/>
              </a:rPr>
              <a:t>表</a:t>
            </a:r>
            <a:r>
              <a:rPr lang="en-US" altLang="zh-CN" sz="3200" b="1" dirty="0">
                <a:latin typeface="微软雅黑" panose="020B0503020204020204" pitchFamily="34" charset="-122"/>
                <a:ea typeface="微软雅黑" panose="020B0503020204020204" pitchFamily="34" charset="-122"/>
              </a:rPr>
              <a:t>5-7 </a:t>
            </a:r>
            <a:r>
              <a:rPr lang="zh-CN" altLang="en-US" sz="3200" b="1" dirty="0">
                <a:latin typeface="微软雅黑" panose="020B0503020204020204" pitchFamily="34" charset="-122"/>
                <a:ea typeface="微软雅黑" panose="020B0503020204020204" pitchFamily="34" charset="-122"/>
              </a:rPr>
              <a:t>四种</a:t>
            </a:r>
            <a:r>
              <a:rPr lang="en-US" altLang="zh-CN" sz="3200" b="1" dirty="0">
                <a:latin typeface="微软雅黑" panose="020B0503020204020204" pitchFamily="34" charset="-122"/>
                <a:ea typeface="微软雅黑" panose="020B0503020204020204" pitchFamily="34" charset="-122"/>
              </a:rPr>
              <a:t>DVD</a:t>
            </a:r>
            <a:r>
              <a:rPr lang="zh-CN" altLang="en-US" sz="3200" b="1" dirty="0">
                <a:latin typeface="微软雅黑" panose="020B0503020204020204" pitchFamily="34" charset="-122"/>
                <a:ea typeface="微软雅黑" panose="020B0503020204020204" pitchFamily="34" charset="-122"/>
              </a:rPr>
              <a:t>盘片比较。</a:t>
            </a:r>
          </a:p>
        </p:txBody>
      </p:sp>
      <p:graphicFrame>
        <p:nvGraphicFramePr>
          <p:cNvPr id="3" name="表格 2"/>
          <p:cNvGraphicFramePr>
            <a:graphicFrameLocks noGrp="1"/>
          </p:cNvGraphicFramePr>
          <p:nvPr>
            <p:extLst>
              <p:ext uri="{D42A27DB-BD31-4B8C-83A1-F6EECF244321}">
                <p14:modId xmlns:p14="http://schemas.microsoft.com/office/powerpoint/2010/main" val="3643737099"/>
              </p:ext>
            </p:extLst>
          </p:nvPr>
        </p:nvGraphicFramePr>
        <p:xfrm>
          <a:off x="1364973" y="1921563"/>
          <a:ext cx="9382538" cy="3829880"/>
        </p:xfrm>
        <a:graphic>
          <a:graphicData uri="http://schemas.openxmlformats.org/drawingml/2006/table">
            <a:tbl>
              <a:tblPr firstRow="1" firstCol="1" lastRow="1" lastCol="1" bandRow="1" bandCol="1">
                <a:tableStyleId>{5C22544A-7EE6-4342-B048-85BDC9FD1C3A}</a:tableStyleId>
              </a:tblPr>
              <a:tblGrid>
                <a:gridCol w="2345072">
                  <a:extLst>
                    <a:ext uri="{9D8B030D-6E8A-4147-A177-3AD203B41FA5}">
                      <a16:colId xmlns:a16="http://schemas.microsoft.com/office/drawing/2014/main" val="20000"/>
                    </a:ext>
                  </a:extLst>
                </a:gridCol>
                <a:gridCol w="2346197">
                  <a:extLst>
                    <a:ext uri="{9D8B030D-6E8A-4147-A177-3AD203B41FA5}">
                      <a16:colId xmlns:a16="http://schemas.microsoft.com/office/drawing/2014/main" val="20001"/>
                    </a:ext>
                  </a:extLst>
                </a:gridCol>
                <a:gridCol w="2345072">
                  <a:extLst>
                    <a:ext uri="{9D8B030D-6E8A-4147-A177-3AD203B41FA5}">
                      <a16:colId xmlns:a16="http://schemas.microsoft.com/office/drawing/2014/main" val="20002"/>
                    </a:ext>
                  </a:extLst>
                </a:gridCol>
                <a:gridCol w="2346197">
                  <a:extLst>
                    <a:ext uri="{9D8B030D-6E8A-4147-A177-3AD203B41FA5}">
                      <a16:colId xmlns:a16="http://schemas.microsoft.com/office/drawing/2014/main" val="20003"/>
                    </a:ext>
                  </a:extLst>
                </a:gridCol>
              </a:tblGrid>
              <a:tr h="765976">
                <a:tc>
                  <a:txBody>
                    <a:bodyPr/>
                    <a:lstStyle/>
                    <a:p>
                      <a:pPr algn="ctr">
                        <a:spcAft>
                          <a:spcPts val="0"/>
                        </a:spcAft>
                      </a:pPr>
                      <a:r>
                        <a:rPr lang="zh-CN" sz="2400" b="1" kern="100" dirty="0">
                          <a:solidFill>
                            <a:schemeClr val="tx1"/>
                          </a:solidFill>
                          <a:effectLst/>
                          <a:latin typeface="微软雅黑" panose="020B0503020204020204" pitchFamily="34" charset="-122"/>
                          <a:ea typeface="微软雅黑" panose="020B0503020204020204" pitchFamily="34" charset="-122"/>
                        </a:rPr>
                        <a:t>盘片类型</a:t>
                      </a:r>
                      <a:endParaRPr lang="zh-CN" sz="2800" b="1" kern="100" dirty="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zh-CN" sz="2400" b="1" kern="100" dirty="0">
                          <a:solidFill>
                            <a:schemeClr val="tx1"/>
                          </a:solidFill>
                          <a:effectLst/>
                          <a:latin typeface="微软雅黑" panose="020B0503020204020204" pitchFamily="34" charset="-122"/>
                          <a:ea typeface="微软雅黑" panose="020B0503020204020204" pitchFamily="34" charset="-122"/>
                        </a:rPr>
                        <a:t>盘片直径</a:t>
                      </a:r>
                      <a:endParaRPr lang="zh-CN" sz="2800" b="1" kern="100" dirty="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zh-CN" sz="2400" b="1" kern="100">
                          <a:solidFill>
                            <a:schemeClr val="tx1"/>
                          </a:solidFill>
                          <a:effectLst/>
                          <a:latin typeface="微软雅黑" panose="020B0503020204020204" pitchFamily="34" charset="-122"/>
                          <a:ea typeface="微软雅黑" panose="020B0503020204020204" pitchFamily="34" charset="-122"/>
                        </a:rPr>
                        <a:t>面数</a:t>
                      </a:r>
                      <a:r>
                        <a:rPr lang="en-US" sz="2400" b="1" kern="100">
                          <a:solidFill>
                            <a:schemeClr val="tx1"/>
                          </a:solidFill>
                          <a:effectLst/>
                          <a:latin typeface="微软雅黑" panose="020B0503020204020204" pitchFamily="34" charset="-122"/>
                          <a:ea typeface="微软雅黑" panose="020B0503020204020204" pitchFamily="34" charset="-122"/>
                        </a:rPr>
                        <a:t>/</a:t>
                      </a:r>
                      <a:r>
                        <a:rPr lang="zh-CN" sz="2400" b="1" kern="100">
                          <a:solidFill>
                            <a:schemeClr val="tx1"/>
                          </a:solidFill>
                          <a:effectLst/>
                          <a:latin typeface="微软雅黑" panose="020B0503020204020204" pitchFamily="34" charset="-122"/>
                          <a:ea typeface="微软雅黑" panose="020B0503020204020204" pitchFamily="34" charset="-122"/>
                        </a:rPr>
                        <a:t>层数</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zh-CN" sz="2400" b="1" kern="100">
                          <a:solidFill>
                            <a:schemeClr val="tx1"/>
                          </a:solidFill>
                          <a:effectLst/>
                          <a:latin typeface="微软雅黑" panose="020B0503020204020204" pitchFamily="34" charset="-122"/>
                          <a:ea typeface="微软雅黑" panose="020B0503020204020204" pitchFamily="34" charset="-122"/>
                        </a:rPr>
                        <a:t>容量</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extLst>
                  <a:ext uri="{0D108BD9-81ED-4DB2-BD59-A6C34878D82A}">
                    <a16:rowId xmlns:a16="http://schemas.microsoft.com/office/drawing/2014/main" val="10000"/>
                  </a:ext>
                </a:extLst>
              </a:tr>
              <a:tr h="765976">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DVD-5</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12cm</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zh-CN" sz="2400" b="1" kern="100">
                          <a:solidFill>
                            <a:schemeClr val="tx1"/>
                          </a:solidFill>
                          <a:effectLst/>
                          <a:latin typeface="微软雅黑" panose="020B0503020204020204" pitchFamily="34" charset="-122"/>
                          <a:ea typeface="微软雅黑" panose="020B0503020204020204" pitchFamily="34" charset="-122"/>
                        </a:rPr>
                        <a:t>单面单层</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4.7GB</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extLst>
                  <a:ext uri="{0D108BD9-81ED-4DB2-BD59-A6C34878D82A}">
                    <a16:rowId xmlns:a16="http://schemas.microsoft.com/office/drawing/2014/main" val="10001"/>
                  </a:ext>
                </a:extLst>
              </a:tr>
              <a:tr h="765976">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DVD-9</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12cm</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zh-CN" sz="2400" b="1" kern="100">
                          <a:solidFill>
                            <a:schemeClr val="tx1"/>
                          </a:solidFill>
                          <a:effectLst/>
                          <a:latin typeface="微软雅黑" panose="020B0503020204020204" pitchFamily="34" charset="-122"/>
                          <a:ea typeface="微软雅黑" panose="020B0503020204020204" pitchFamily="34" charset="-122"/>
                        </a:rPr>
                        <a:t>单面双层</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8.5GB</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extLst>
                  <a:ext uri="{0D108BD9-81ED-4DB2-BD59-A6C34878D82A}">
                    <a16:rowId xmlns:a16="http://schemas.microsoft.com/office/drawing/2014/main" val="10002"/>
                  </a:ext>
                </a:extLst>
              </a:tr>
              <a:tr h="765976">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DVD-10</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12cm</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zh-CN" sz="2400" b="1" kern="100">
                          <a:solidFill>
                            <a:schemeClr val="tx1"/>
                          </a:solidFill>
                          <a:effectLst/>
                          <a:latin typeface="微软雅黑" panose="020B0503020204020204" pitchFamily="34" charset="-122"/>
                          <a:ea typeface="微软雅黑" panose="020B0503020204020204" pitchFamily="34" charset="-122"/>
                        </a:rPr>
                        <a:t>双面单层</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9.4GB</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extLst>
                  <a:ext uri="{0D108BD9-81ED-4DB2-BD59-A6C34878D82A}">
                    <a16:rowId xmlns:a16="http://schemas.microsoft.com/office/drawing/2014/main" val="10003"/>
                  </a:ext>
                </a:extLst>
              </a:tr>
              <a:tr h="765976">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DVD-18</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a:solidFill>
                            <a:schemeClr val="tx1"/>
                          </a:solidFill>
                          <a:effectLst/>
                          <a:latin typeface="微软雅黑" panose="020B0503020204020204" pitchFamily="34" charset="-122"/>
                          <a:ea typeface="微软雅黑" panose="020B0503020204020204" pitchFamily="34" charset="-122"/>
                        </a:rPr>
                        <a:t>12cm</a:t>
                      </a:r>
                      <a:endParaRPr lang="zh-CN" sz="2800" b="1" kern="10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zh-CN" sz="2400" b="1" kern="100" dirty="0">
                          <a:solidFill>
                            <a:schemeClr val="tx1"/>
                          </a:solidFill>
                          <a:effectLst/>
                          <a:latin typeface="微软雅黑" panose="020B0503020204020204" pitchFamily="34" charset="-122"/>
                          <a:ea typeface="微软雅黑" panose="020B0503020204020204" pitchFamily="34" charset="-122"/>
                        </a:rPr>
                        <a:t>双面双层</a:t>
                      </a:r>
                      <a:endParaRPr lang="zh-CN" sz="2800" b="1" kern="100" dirty="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tc>
                  <a:txBody>
                    <a:bodyPr/>
                    <a:lstStyle/>
                    <a:p>
                      <a:pPr algn="ctr">
                        <a:spcAft>
                          <a:spcPts val="0"/>
                        </a:spcAft>
                      </a:pPr>
                      <a:r>
                        <a:rPr lang="en-US" sz="2400" b="1" kern="100" dirty="0">
                          <a:solidFill>
                            <a:schemeClr val="tx1"/>
                          </a:solidFill>
                          <a:effectLst/>
                          <a:latin typeface="微软雅黑" panose="020B0503020204020204" pitchFamily="34" charset="-122"/>
                          <a:ea typeface="微软雅黑" panose="020B0503020204020204" pitchFamily="34" charset="-122"/>
                        </a:rPr>
                        <a:t>17GB</a:t>
                      </a:r>
                      <a:endParaRPr lang="zh-CN" sz="2800" b="1" kern="100" dirty="0">
                        <a:solidFill>
                          <a:schemeClr val="tx1"/>
                        </a:solidFill>
                        <a:effectLst/>
                        <a:latin typeface="微软雅黑" panose="020B0503020204020204" pitchFamily="34" charset="-122"/>
                        <a:ea typeface="微软雅黑" panose="020B0503020204020204" pitchFamily="34" charset="-122"/>
                      </a:endParaRPr>
                    </a:p>
                  </a:txBody>
                  <a:tcPr marL="111548" marR="111548" marT="53986" marB="0">
                    <a:solidFill>
                      <a:schemeClr val="bg1">
                        <a:lumMod val="95000"/>
                      </a:schemeClr>
                    </a:solidFill>
                  </a:tcPr>
                </a:tc>
                <a:extLst>
                  <a:ext uri="{0D108BD9-81ED-4DB2-BD59-A6C34878D82A}">
                    <a16:rowId xmlns:a16="http://schemas.microsoft.com/office/drawing/2014/main" val="10004"/>
                  </a:ext>
                </a:extLst>
              </a:tr>
            </a:tbl>
          </a:graphicData>
        </a:graphic>
      </p:graphicFrame>
      <p:grpSp>
        <p:nvGrpSpPr>
          <p:cNvPr id="5" name="组合 4"/>
          <p:cNvGrpSpPr/>
          <p:nvPr/>
        </p:nvGrpSpPr>
        <p:grpSpPr>
          <a:xfrm>
            <a:off x="265635" y="269251"/>
            <a:ext cx="438352" cy="621987"/>
            <a:chOff x="265635" y="269251"/>
            <a:chExt cx="438352" cy="621987"/>
          </a:xfrm>
        </p:grpSpPr>
        <p:sp>
          <p:nvSpPr>
            <p:cNvPr id="6"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842577884"/>
      </p:ext>
    </p:extLst>
  </p:cSld>
  <p:clrMapOvr>
    <a:masterClrMapping/>
  </p:clrMapOvr>
  <p:transition spd="med" advTm="9222">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txBox="1">
            <a:spLocks noChangeArrowheads="1"/>
          </p:cNvSpPr>
          <p:nvPr/>
        </p:nvSpPr>
        <p:spPr bwMode="auto">
          <a:xfrm>
            <a:off x="4098285" y="2541722"/>
            <a:ext cx="4678532"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6000" b="1" dirty="0">
                <a:solidFill>
                  <a:schemeClr val="bg1"/>
                </a:solidFill>
                <a:latin typeface="微软雅黑" panose="020B0503020204020204" pitchFamily="34" charset="-122"/>
                <a:ea typeface="微软雅黑" panose="020B0503020204020204" pitchFamily="34" charset="-122"/>
              </a:rPr>
              <a:t>谢 谢！</a:t>
            </a:r>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6"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7"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1"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2"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4"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5"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6"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7"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2485783595"/>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307</TotalTime>
  <Words>979</Words>
  <Application>Microsoft Office PowerPoint</Application>
  <PresentationFormat>宽屏</PresentationFormat>
  <Paragraphs>79</Paragraphs>
  <Slides>16</Slides>
  <Notes>7</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3" baseType="lpstr">
      <vt:lpstr>宋体</vt:lpstr>
      <vt:lpstr>微软雅黑</vt:lpstr>
      <vt:lpstr>Arial</vt:lpstr>
      <vt:lpstr>Calibri</vt:lpstr>
      <vt:lpstr>Calibri Light</vt:lpstr>
      <vt:lpstr>第一PPT，www.1ppt.com</vt:lpstr>
      <vt:lpstr>Visio</vt:lpstr>
      <vt:lpstr>PowerPoint 演示文稿</vt:lpstr>
      <vt:lpstr>PowerPoint 演示文稿</vt:lpstr>
      <vt:lpstr>PowerPoint 演示文稿</vt:lpstr>
      <vt:lpstr>CD-ROM </vt:lpstr>
      <vt:lpstr>PowerPoint 演示文稿</vt:lpstr>
      <vt:lpstr>PowerPoint 演示文稿</vt:lpstr>
      <vt:lpstr>PowerPoint 演示文稿</vt:lpstr>
      <vt:lpstr>CD-R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文光</cp:lastModifiedBy>
  <cp:revision>43</cp:revision>
  <dcterms:created xsi:type="dcterms:W3CDTF">2016-06-01T05:10:04Z</dcterms:created>
  <dcterms:modified xsi:type="dcterms:W3CDTF">2017-05-26T05:45:10Z</dcterms:modified>
</cp:coreProperties>
</file>