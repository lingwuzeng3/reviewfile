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291" r:id="rId3"/>
    <p:sldId id="300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29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9E7"/>
    <a:srgbClr val="01C0B0"/>
    <a:srgbClr val="04B0BE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371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96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5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486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dirty="0">
                <a:ea typeface="+mn-ea"/>
              </a:rPr>
              <a:t>每个开关由控制器中相应的微命令来控制。AC=0为零标志触发器，运算结果为零时该触发器状态为“1”。C</a:t>
            </a:r>
            <a:r>
              <a:rPr lang="zh-CN" altLang="zh-CN" sz="1200" baseline="-25000" dirty="0">
                <a:ea typeface="+mn-ea"/>
              </a:rPr>
              <a:t>11</a:t>
            </a:r>
            <a:r>
              <a:rPr lang="zh-CN" altLang="zh-CN" sz="1200" dirty="0">
                <a:ea typeface="+mn-ea"/>
              </a:rPr>
              <a:t>、C</a:t>
            </a:r>
            <a:r>
              <a:rPr lang="zh-CN" altLang="zh-CN" sz="1200" baseline="-25000" dirty="0">
                <a:ea typeface="+mn-ea"/>
              </a:rPr>
              <a:t>12</a:t>
            </a:r>
            <a:r>
              <a:rPr lang="zh-CN" altLang="zh-CN" sz="1200" dirty="0">
                <a:ea typeface="+mn-ea"/>
              </a:rPr>
              <a:t>、C</a:t>
            </a:r>
            <a:r>
              <a:rPr lang="zh-CN" altLang="zh-CN" sz="1200" baseline="-25000" dirty="0">
                <a:ea typeface="+mn-ea"/>
              </a:rPr>
              <a:t>13</a:t>
            </a:r>
            <a:r>
              <a:rPr lang="zh-CN" altLang="zh-CN" sz="1200" dirty="0">
                <a:ea typeface="+mn-ea"/>
              </a:rPr>
              <a:t>控制的微操作可以在同一个</a:t>
            </a:r>
            <a:r>
              <a:rPr lang="zh-CN" altLang="en-US" sz="1200" dirty="0">
                <a:ea typeface="+mn-ea"/>
              </a:rPr>
              <a:t>微指令周期中进行，所以是相容性的微操作。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6226D0-7721-44D6-B6B3-9CE39C4E5D3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5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97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>
              <a:solidFill>
                <a:srgbClr val="2D6BC7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2D6BC7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dirty="0">
                <a:solidFill>
                  <a:srgbClr val="2D6BC7"/>
                </a:solidFill>
              </a:rPr>
              <a:t>‹#›</a:t>
            </a:fld>
            <a:endParaRPr lang="zh-CN" altLang="en-US" dirty="0">
              <a:solidFill>
                <a:srgbClr val="2D6BC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78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5.emf"/><Relationship Id="rId7" Type="http://schemas.openxmlformats.org/officeDocument/2006/relationships/image" Target="../media/image8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417392" y="2541722"/>
            <a:ext cx="561905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微程序控制器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标题 211969"/>
          <p:cNvSpPr>
            <a:spLocks noGrp="1"/>
          </p:cNvSpPr>
          <p:nvPr>
            <p:ph type="title"/>
          </p:nvPr>
        </p:nvSpPr>
        <p:spPr>
          <a:xfrm>
            <a:off x="875773" y="166477"/>
            <a:ext cx="4562475" cy="7620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微程序控制器</a:t>
            </a:r>
          </a:p>
        </p:txBody>
      </p:sp>
      <p:sp>
        <p:nvSpPr>
          <p:cNvPr id="211971" name="文本占位符 211970"/>
          <p:cNvSpPr>
            <a:spLocks noGrp="1"/>
          </p:cNvSpPr>
          <p:nvPr>
            <p:ph type="body" idx="1"/>
          </p:nvPr>
        </p:nvSpPr>
        <p:spPr>
          <a:xfrm>
            <a:off x="728215" y="4528722"/>
            <a:ext cx="7280411" cy="320040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执行指令时，则将该指令对应的这段微码取出，由相应位产生操作控制信号。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" name="矩形 1"/>
          <p:cNvSpPr/>
          <p:nvPr/>
        </p:nvSpPr>
        <p:spPr>
          <a:xfrm>
            <a:off x="910241" y="928477"/>
            <a:ext cx="449353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微程序控制器的基本思想：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04366" y="1970947"/>
            <a:ext cx="789101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把每条指令执行过程中应产生的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操作控制信号编成二进制微码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，事先存放在一个只读存储器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中，一条机器指令对应一段这种微码。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989192" y="2015142"/>
            <a:ext cx="1573899" cy="1563688"/>
          </a:xfrm>
          <a:prstGeom prst="ellipse">
            <a:avLst/>
          </a:prstGeom>
          <a:solidFill>
            <a:srgbClr val="04B0BE"/>
          </a:solidFill>
          <a:ln w="38100" cap="flat">
            <a:solidFill>
              <a:srgbClr val="04B0BE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8712032" y="4528722"/>
            <a:ext cx="1573899" cy="1563688"/>
          </a:xfrm>
          <a:prstGeom prst="ellipse">
            <a:avLst/>
          </a:prstGeom>
          <a:solidFill>
            <a:srgbClr val="FFC000"/>
          </a:solidFill>
          <a:ln w="38100" cap="flat">
            <a:solidFill>
              <a:srgbClr val="FFC00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10"/>
          <p:cNvSpPr>
            <a:spLocks noEditPoints="1"/>
          </p:cNvSpPr>
          <p:nvPr/>
        </p:nvSpPr>
        <p:spPr bwMode="auto">
          <a:xfrm>
            <a:off x="2654822" y="2623648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Freeform 11"/>
          <p:cNvSpPr>
            <a:spLocks noEditPoints="1"/>
          </p:cNvSpPr>
          <p:nvPr/>
        </p:nvSpPr>
        <p:spPr bwMode="auto">
          <a:xfrm>
            <a:off x="8267548" y="5106838"/>
            <a:ext cx="365303" cy="362962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TextBox 13"/>
          <p:cNvSpPr txBox="1"/>
          <p:nvPr/>
        </p:nvSpPr>
        <p:spPr>
          <a:xfrm flipH="1">
            <a:off x="1225629" y="2335502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8956920" y="4849082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8707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 bwMode="auto">
          <a:xfrm>
            <a:off x="6167982" y="837724"/>
            <a:ext cx="4678692" cy="21106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0" name="矩形 9"/>
          <p:cNvSpPr/>
          <p:nvPr/>
        </p:nvSpPr>
        <p:spPr bwMode="auto">
          <a:xfrm>
            <a:off x="985431" y="837724"/>
            <a:ext cx="4678692" cy="21106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1" name="矩形 10"/>
          <p:cNvSpPr/>
          <p:nvPr/>
        </p:nvSpPr>
        <p:spPr bwMode="auto">
          <a:xfrm>
            <a:off x="6167982" y="4053377"/>
            <a:ext cx="4678692" cy="21106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2" name="矩形 11"/>
          <p:cNvSpPr/>
          <p:nvPr/>
        </p:nvSpPr>
        <p:spPr bwMode="auto">
          <a:xfrm>
            <a:off x="985431" y="4053377"/>
            <a:ext cx="4678692" cy="21106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grpSp>
        <p:nvGrpSpPr>
          <p:cNvPr id="2" name="组合 1"/>
          <p:cNvGrpSpPr/>
          <p:nvPr/>
        </p:nvGrpSpPr>
        <p:grpSpPr>
          <a:xfrm>
            <a:off x="576503" y="419055"/>
            <a:ext cx="1010843" cy="1010844"/>
            <a:chOff x="576729" y="417879"/>
            <a:chExt cx="1011238" cy="1011238"/>
          </a:xfrm>
        </p:grpSpPr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576729" y="417879"/>
              <a:ext cx="1011238" cy="10112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8435" y="514975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246512" y="254041"/>
            <a:ext cx="1010843" cy="1010844"/>
            <a:chOff x="10250514" y="252801"/>
            <a:chExt cx="1011238" cy="1011238"/>
          </a:xfrm>
        </p:grpSpPr>
        <p:sp>
          <p:nvSpPr>
            <p:cNvPr id="19" name="Oval 13"/>
            <p:cNvSpPr>
              <a:spLocks noChangeArrowheads="1"/>
            </p:cNvSpPr>
            <p:nvPr/>
          </p:nvSpPr>
          <p:spPr bwMode="auto">
            <a:xfrm>
              <a:off x="10250514" y="252801"/>
              <a:ext cx="1011238" cy="101123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302581" y="384980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88400" y="5604947"/>
            <a:ext cx="1010843" cy="1010844"/>
            <a:chOff x="488592" y="5605795"/>
            <a:chExt cx="1011238" cy="1011238"/>
          </a:xfrm>
        </p:grpSpPr>
        <p:sp>
          <p:nvSpPr>
            <p:cNvPr id="24" name="Oval 13"/>
            <p:cNvSpPr>
              <a:spLocks noChangeArrowheads="1"/>
            </p:cNvSpPr>
            <p:nvPr/>
          </p:nvSpPr>
          <p:spPr bwMode="auto">
            <a:xfrm>
              <a:off x="488592" y="5605795"/>
              <a:ext cx="1011238" cy="1011238"/>
            </a:xfrm>
            <a:prstGeom prst="ellipse">
              <a:avLst/>
            </a:prstGeom>
            <a:solidFill>
              <a:srgbClr val="02B9E7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0659" y="5737973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03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0349260" y="5573952"/>
            <a:ext cx="1010843" cy="1010844"/>
            <a:chOff x="10353303" y="5574788"/>
            <a:chExt cx="1011238" cy="1011238"/>
          </a:xfrm>
        </p:grpSpPr>
        <p:sp>
          <p:nvSpPr>
            <p:cNvPr id="29" name="Oval 13"/>
            <p:cNvSpPr>
              <a:spLocks noChangeArrowheads="1"/>
            </p:cNvSpPr>
            <p:nvPr/>
          </p:nvSpPr>
          <p:spPr bwMode="auto">
            <a:xfrm>
              <a:off x="10353303" y="5574788"/>
              <a:ext cx="1011238" cy="101123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05369" y="5706968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04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3" name="矩形 32"/>
          <p:cNvSpPr/>
          <p:nvPr/>
        </p:nvSpPr>
        <p:spPr bwMode="auto">
          <a:xfrm>
            <a:off x="1" y="3069100"/>
            <a:ext cx="12192000" cy="863759"/>
          </a:xfrm>
          <a:prstGeom prst="rect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34" name="TextBox 33"/>
          <p:cNvSpPr txBox="1"/>
          <p:nvPr/>
        </p:nvSpPr>
        <p:spPr>
          <a:xfrm>
            <a:off x="3764804" y="3239656"/>
            <a:ext cx="4288270" cy="584733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微程序控制的基本概念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6" name="矩形 5"/>
          <p:cNvSpPr/>
          <p:nvPr/>
        </p:nvSpPr>
        <p:spPr>
          <a:xfrm>
            <a:off x="1444686" y="901469"/>
            <a:ext cx="421943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微命令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：指的是控制部件通过控制线向执行部件发出的各种控制命令。</a:t>
            </a:r>
          </a:p>
        </p:txBody>
      </p:sp>
      <p:sp>
        <p:nvSpPr>
          <p:cNvPr id="7" name="矩形 6"/>
          <p:cNvSpPr/>
          <p:nvPr/>
        </p:nvSpPr>
        <p:spPr>
          <a:xfrm>
            <a:off x="6175663" y="869896"/>
            <a:ext cx="485208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：执行部件接受微命令后所进行的操作。是执行部件中最基本的操作，计算机中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所执行的最小操作单位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，如一些门控信号等。分为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相容性微操作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互斥性微操作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32968" y="4102620"/>
            <a:ext cx="4412198" cy="1988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微指令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：由若干个微命令组合成的二进制微码序列，这些微命令通常在一个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周期执行。</a:t>
            </a:r>
          </a:p>
        </p:txBody>
      </p:sp>
      <p:sp>
        <p:nvSpPr>
          <p:cNvPr id="13" name="矩形 12"/>
          <p:cNvSpPr/>
          <p:nvPr/>
        </p:nvSpPr>
        <p:spPr>
          <a:xfrm>
            <a:off x="6720216" y="4825530"/>
            <a:ext cx="4134465" cy="566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：微指令的集合。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429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6925">
        <p14:doors dir="vert"/>
      </p:transition>
    </mc:Choice>
    <mc:Fallback xmlns="">
      <p:transition spd="slow" advTm="6925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052" y="5136720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</a:p>
        </p:txBody>
      </p:sp>
      <p:sp>
        <p:nvSpPr>
          <p:cNvPr id="3" name="矩形 2"/>
          <p:cNvSpPr/>
          <p:nvPr/>
        </p:nvSpPr>
        <p:spPr>
          <a:xfrm>
            <a:off x="4102073" y="3210424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微命令</a:t>
            </a:r>
          </a:p>
        </p:txBody>
      </p:sp>
      <p:sp>
        <p:nvSpPr>
          <p:cNvPr id="4" name="矩形 3"/>
          <p:cNvSpPr/>
          <p:nvPr/>
        </p:nvSpPr>
        <p:spPr>
          <a:xfrm>
            <a:off x="4390374" y="2311675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</a:t>
            </a:r>
          </a:p>
        </p:txBody>
      </p:sp>
      <p:sp>
        <p:nvSpPr>
          <p:cNvPr id="5" name="矩形 4"/>
          <p:cNvSpPr/>
          <p:nvPr/>
        </p:nvSpPr>
        <p:spPr>
          <a:xfrm>
            <a:off x="5654038" y="1458617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微程序</a:t>
            </a:r>
          </a:p>
        </p:txBody>
      </p:sp>
      <p:sp>
        <p:nvSpPr>
          <p:cNvPr id="12" name="矩形 11"/>
          <p:cNvSpPr/>
          <p:nvPr/>
        </p:nvSpPr>
        <p:spPr>
          <a:xfrm>
            <a:off x="5654037" y="3211171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微命令</a:t>
            </a:r>
          </a:p>
        </p:txBody>
      </p:sp>
      <p:sp>
        <p:nvSpPr>
          <p:cNvPr id="17" name="矩形 16"/>
          <p:cNvSpPr/>
          <p:nvPr/>
        </p:nvSpPr>
        <p:spPr>
          <a:xfrm>
            <a:off x="7206000" y="3210424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微命令</a:t>
            </a:r>
          </a:p>
        </p:txBody>
      </p:sp>
      <p:sp>
        <p:nvSpPr>
          <p:cNvPr id="18" name="矩形 17"/>
          <p:cNvSpPr/>
          <p:nvPr/>
        </p:nvSpPr>
        <p:spPr>
          <a:xfrm>
            <a:off x="3126714" y="5146820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</a:p>
        </p:txBody>
      </p:sp>
      <p:sp>
        <p:nvSpPr>
          <p:cNvPr id="19" name="矩形 18"/>
          <p:cNvSpPr/>
          <p:nvPr/>
        </p:nvSpPr>
        <p:spPr>
          <a:xfrm>
            <a:off x="4390376" y="5136720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</a:p>
        </p:txBody>
      </p:sp>
      <p:sp>
        <p:nvSpPr>
          <p:cNvPr id="20" name="矩形 19"/>
          <p:cNvSpPr/>
          <p:nvPr/>
        </p:nvSpPr>
        <p:spPr>
          <a:xfrm>
            <a:off x="5654038" y="5146820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</a:p>
        </p:txBody>
      </p:sp>
      <p:sp>
        <p:nvSpPr>
          <p:cNvPr id="21" name="矩形 20"/>
          <p:cNvSpPr/>
          <p:nvPr/>
        </p:nvSpPr>
        <p:spPr>
          <a:xfrm>
            <a:off x="5654037" y="2333149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</a:t>
            </a:r>
          </a:p>
        </p:txBody>
      </p:sp>
      <p:sp>
        <p:nvSpPr>
          <p:cNvPr id="22" name="矩形 21"/>
          <p:cNvSpPr/>
          <p:nvPr/>
        </p:nvSpPr>
        <p:spPr>
          <a:xfrm>
            <a:off x="6917698" y="2333149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</a:t>
            </a:r>
          </a:p>
        </p:txBody>
      </p:sp>
      <p:sp>
        <p:nvSpPr>
          <p:cNvPr id="23" name="矩形 22"/>
          <p:cNvSpPr/>
          <p:nvPr/>
        </p:nvSpPr>
        <p:spPr>
          <a:xfrm>
            <a:off x="2550109" y="3210424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微命令</a:t>
            </a:r>
          </a:p>
        </p:txBody>
      </p:sp>
      <p:sp>
        <p:nvSpPr>
          <p:cNvPr id="24" name="矩形 23"/>
          <p:cNvSpPr/>
          <p:nvPr/>
        </p:nvSpPr>
        <p:spPr>
          <a:xfrm>
            <a:off x="8757963" y="3210424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ea typeface="宋体" panose="02010600030101010101" pitchFamily="2" charset="-122"/>
              </a:rPr>
              <a:t>微命令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6917700" y="5136720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</a:p>
        </p:txBody>
      </p:sp>
      <p:sp>
        <p:nvSpPr>
          <p:cNvPr id="26" name="矩形 25"/>
          <p:cNvSpPr/>
          <p:nvPr/>
        </p:nvSpPr>
        <p:spPr>
          <a:xfrm>
            <a:off x="8181362" y="5136720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</a:p>
        </p:txBody>
      </p:sp>
      <p:sp>
        <p:nvSpPr>
          <p:cNvPr id="27" name="矩形 26"/>
          <p:cNvSpPr/>
          <p:nvPr/>
        </p:nvSpPr>
        <p:spPr>
          <a:xfrm>
            <a:off x="9445024" y="5154586"/>
            <a:ext cx="87716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</a:p>
        </p:txBody>
      </p:sp>
      <p:cxnSp>
        <p:nvCxnSpPr>
          <p:cNvPr id="28" name="直接箭头连接符 27"/>
          <p:cNvCxnSpPr>
            <a:stCxn id="5" idx="2"/>
            <a:endCxn id="4" idx="0"/>
          </p:cNvCxnSpPr>
          <p:nvPr/>
        </p:nvCxnSpPr>
        <p:spPr>
          <a:xfrm flipH="1">
            <a:off x="4828956" y="1827949"/>
            <a:ext cx="1263664" cy="483726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17" name="直接箭头连接符 214016"/>
          <p:cNvCxnSpPr>
            <a:stCxn id="5" idx="2"/>
            <a:endCxn id="22" idx="0"/>
          </p:cNvCxnSpPr>
          <p:nvPr/>
        </p:nvCxnSpPr>
        <p:spPr>
          <a:xfrm>
            <a:off x="6092620" y="1827949"/>
            <a:ext cx="1263660" cy="50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24" name="直接箭头连接符 214023"/>
          <p:cNvCxnSpPr>
            <a:stCxn id="4" idx="2"/>
            <a:endCxn id="23" idx="0"/>
          </p:cNvCxnSpPr>
          <p:nvPr/>
        </p:nvCxnSpPr>
        <p:spPr>
          <a:xfrm flipH="1">
            <a:off x="2988691" y="2681007"/>
            <a:ext cx="1840265" cy="529417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26" name="直接箭头连接符 214025"/>
          <p:cNvCxnSpPr>
            <a:stCxn id="22" idx="2"/>
            <a:endCxn id="24" idx="0"/>
          </p:cNvCxnSpPr>
          <p:nvPr/>
        </p:nvCxnSpPr>
        <p:spPr>
          <a:xfrm>
            <a:off x="7356280" y="2702481"/>
            <a:ext cx="1840265" cy="50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031" name="文本框 214030"/>
          <p:cNvSpPr txBox="1"/>
          <p:nvPr/>
        </p:nvSpPr>
        <p:spPr>
          <a:xfrm>
            <a:off x="5267538" y="2333149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6528017" y="2348816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>
            <a:off x="3569299" y="3225365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5117257" y="3225365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51" name="文本框 50"/>
          <p:cNvSpPr txBox="1"/>
          <p:nvPr/>
        </p:nvSpPr>
        <p:spPr>
          <a:xfrm>
            <a:off x="6748486" y="3212855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52" name="文本框 51"/>
          <p:cNvSpPr txBox="1"/>
          <p:nvPr/>
        </p:nvSpPr>
        <p:spPr>
          <a:xfrm>
            <a:off x="8233442" y="3225365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2766255" y="5154586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4003874" y="5190657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6552685" y="5133352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57" name="文本框 56"/>
          <p:cNvSpPr txBox="1"/>
          <p:nvPr/>
        </p:nvSpPr>
        <p:spPr>
          <a:xfrm>
            <a:off x="9068100" y="5133352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p:cxnSp>
        <p:nvCxnSpPr>
          <p:cNvPr id="214033" name="直接箭头连接符 214032"/>
          <p:cNvCxnSpPr>
            <a:stCxn id="4" idx="2"/>
            <a:endCxn id="3" idx="0"/>
          </p:cNvCxnSpPr>
          <p:nvPr/>
        </p:nvCxnSpPr>
        <p:spPr>
          <a:xfrm flipH="1">
            <a:off x="4540655" y="2681007"/>
            <a:ext cx="288301" cy="529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35" name="直接箭头连接符 214034"/>
          <p:cNvCxnSpPr>
            <a:stCxn id="4" idx="2"/>
            <a:endCxn id="12" idx="0"/>
          </p:cNvCxnSpPr>
          <p:nvPr/>
        </p:nvCxnSpPr>
        <p:spPr>
          <a:xfrm>
            <a:off x="4828956" y="2681007"/>
            <a:ext cx="1263663" cy="530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2145506" y="4117954"/>
            <a:ext cx="1678180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执行部件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4044" name="直接箭头连接符 214043"/>
          <p:cNvCxnSpPr>
            <a:stCxn id="23" idx="2"/>
            <a:endCxn id="69" idx="0"/>
          </p:cNvCxnSpPr>
          <p:nvPr/>
        </p:nvCxnSpPr>
        <p:spPr>
          <a:xfrm flipH="1">
            <a:off x="2984596" y="3579756"/>
            <a:ext cx="4095" cy="538198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045" name="文本框 214044"/>
          <p:cNvSpPr txBox="1"/>
          <p:nvPr/>
        </p:nvSpPr>
        <p:spPr>
          <a:xfrm>
            <a:off x="2145505" y="3687236"/>
            <a:ext cx="1281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</a:t>
            </a:r>
            <a:endParaRPr lang="zh-CN" altLang="en-US" sz="20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/>
          <p:cNvCxnSpPr>
            <a:stCxn id="69" idx="2"/>
            <a:endCxn id="2" idx="0"/>
          </p:cNvCxnSpPr>
          <p:nvPr/>
        </p:nvCxnSpPr>
        <p:spPr>
          <a:xfrm flipH="1">
            <a:off x="2301634" y="4487286"/>
            <a:ext cx="682962" cy="649434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949031" y="4627337"/>
            <a:ext cx="81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904292" y="5559989"/>
            <a:ext cx="86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3152755" y="5559989"/>
            <a:ext cx="69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810" y="5891921"/>
            <a:ext cx="3202949" cy="263566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2664678" y="6200988"/>
            <a:ext cx="179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互斥性微操作</a:t>
            </a:r>
          </a:p>
        </p:txBody>
      </p:sp>
      <p:cxnSp>
        <p:nvCxnSpPr>
          <p:cNvPr id="44" name="直接箭头连接符 43"/>
          <p:cNvCxnSpPr>
            <a:stCxn id="3" idx="2"/>
          </p:cNvCxnSpPr>
          <p:nvPr/>
        </p:nvCxnSpPr>
        <p:spPr>
          <a:xfrm flipH="1">
            <a:off x="3246121" y="3579756"/>
            <a:ext cx="1294534" cy="538198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3844854" y="3720152"/>
            <a:ext cx="11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=0</a:t>
            </a:r>
            <a:endParaRPr lang="zh-CN" altLang="en-US" sz="20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>
            <a:stCxn id="69" idx="2"/>
            <a:endCxn id="19" idx="0"/>
          </p:cNvCxnSpPr>
          <p:nvPr/>
        </p:nvCxnSpPr>
        <p:spPr>
          <a:xfrm>
            <a:off x="2984596" y="4487286"/>
            <a:ext cx="1844362" cy="649434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7800528" y="5159137"/>
            <a:ext cx="38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...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/>
              <p:cNvSpPr txBox="1"/>
              <p:nvPr/>
            </p:nvSpPr>
            <p:spPr>
              <a:xfrm>
                <a:off x="869155" y="1458617"/>
                <a:ext cx="3086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AC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←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(AC)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(DR)</a:t>
                </a:r>
                <a:endParaRPr lang="zh-CN" altLang="en-US" sz="2000" b="1" baseline="-25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1" name="文本框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5" y="1458617"/>
                <a:ext cx="3086644" cy="400110"/>
              </a:xfrm>
              <a:prstGeom prst="rect">
                <a:avLst/>
              </a:prstGeom>
              <a:blipFill>
                <a:blip r:embed="rId3"/>
                <a:stretch>
                  <a:fillRect l="-791" t="-7576" r="-593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/>
              <p:cNvSpPr txBox="1"/>
              <p:nvPr/>
            </p:nvSpPr>
            <p:spPr>
              <a:xfrm>
                <a:off x="865148" y="1930712"/>
                <a:ext cx="3086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r>
                  <a:rPr lang="en-US" altLang="zh-CN" sz="2000" b="1" baseline="-25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AC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←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(AC)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(DR)</a:t>
                </a:r>
                <a:endParaRPr lang="zh-CN" altLang="en-US" sz="2000" b="1" baseline="-25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5" name="文本框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48" y="1930712"/>
                <a:ext cx="3086644" cy="400110"/>
              </a:xfrm>
              <a:prstGeom prst="rect">
                <a:avLst/>
              </a:prstGeom>
              <a:blipFill>
                <a:blip r:embed="rId4"/>
                <a:stretch>
                  <a:fillRect l="-791" t="-9231" r="-593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文本框 106"/>
          <p:cNvSpPr txBox="1"/>
          <p:nvPr/>
        </p:nvSpPr>
        <p:spPr>
          <a:xfrm>
            <a:off x="4477046" y="5524643"/>
            <a:ext cx="102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159" y="5904178"/>
            <a:ext cx="4655466" cy="214871"/>
          </a:xfrm>
          <a:prstGeom prst="rect">
            <a:avLst/>
          </a:prstGeom>
        </p:spPr>
      </p:pic>
      <p:sp>
        <p:nvSpPr>
          <p:cNvPr id="109" name="文本框 108"/>
          <p:cNvSpPr txBox="1"/>
          <p:nvPr/>
        </p:nvSpPr>
        <p:spPr>
          <a:xfrm>
            <a:off x="7043069" y="6144834"/>
            <a:ext cx="1793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相容性微操作</a:t>
            </a:r>
          </a:p>
        </p:txBody>
      </p:sp>
      <p:sp>
        <p:nvSpPr>
          <p:cNvPr id="67" name="矩形 66"/>
          <p:cNvSpPr/>
          <p:nvPr/>
        </p:nvSpPr>
        <p:spPr>
          <a:xfrm>
            <a:off x="5874449" y="373569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8978375" y="3749600"/>
            <a:ext cx="5293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标题 212993"/>
          <p:cNvSpPr>
            <a:spLocks noGrp="1"/>
          </p:cNvSpPr>
          <p:nvPr>
            <p:ph type="title"/>
          </p:nvPr>
        </p:nvSpPr>
        <p:spPr>
          <a:xfrm>
            <a:off x="882012" y="255881"/>
            <a:ext cx="7057880" cy="762000"/>
          </a:xfr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微程序控制的基本概念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5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410719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1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11" y="1243364"/>
            <a:ext cx="9582145" cy="5154930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75773" y="309514"/>
            <a:ext cx="2279791" cy="535531"/>
          </a:xfr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简化的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38611" y="1360434"/>
            <a:ext cx="1007919" cy="3636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56850" y="4073154"/>
            <a:ext cx="1007919" cy="3636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64769" y="3552224"/>
            <a:ext cx="493844" cy="39806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022778" y="3757142"/>
            <a:ext cx="696950" cy="55742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112438" y="4846802"/>
            <a:ext cx="696950" cy="55742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626788" y="5353531"/>
            <a:ext cx="696950" cy="55742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112688" y="5074817"/>
            <a:ext cx="696950" cy="55742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083893" y="3950285"/>
            <a:ext cx="696950" cy="55742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278313" y="5875157"/>
            <a:ext cx="696950" cy="55742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629879" y="5993267"/>
            <a:ext cx="555497" cy="405027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9" name="矩形 18"/>
          <p:cNvSpPr/>
          <p:nvPr/>
        </p:nvSpPr>
        <p:spPr>
          <a:xfrm>
            <a:off x="4471303" y="1360434"/>
            <a:ext cx="1807577" cy="5347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96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文本占位符 218113"/>
          <p:cNvSpPr>
            <a:spLocks noGrp="1"/>
          </p:cNvSpPr>
          <p:nvPr>
            <p:ph type="body" idx="1"/>
          </p:nvPr>
        </p:nvSpPr>
        <p:spPr>
          <a:xfrm>
            <a:off x="875773" y="340737"/>
            <a:ext cx="3877985" cy="535531"/>
          </a:xfr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微指令的基本格式：</a:t>
            </a:r>
          </a:p>
        </p:txBody>
      </p:sp>
      <p:sp>
        <p:nvSpPr>
          <p:cNvPr id="218172" name="矩形 218171"/>
          <p:cNvSpPr/>
          <p:nvPr/>
        </p:nvSpPr>
        <p:spPr>
          <a:xfrm>
            <a:off x="1524000" y="2693472"/>
            <a:ext cx="453970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indent="2667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1D528D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4" y="1699864"/>
            <a:ext cx="9373345" cy="318014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558395" y="4296912"/>
            <a:ext cx="1466993" cy="431499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962755" y="4296912"/>
            <a:ext cx="1466993" cy="431499"/>
          </a:xfrm>
          <a:prstGeom prst="rect">
            <a:avLst/>
          </a:prstGeom>
          <a:noFill/>
          <a:ln w="28575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69955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83"/>
          <p:cNvSpPr>
            <a:spLocks noChangeArrowheads="1"/>
          </p:cNvSpPr>
          <p:nvPr/>
        </p:nvSpPr>
        <p:spPr bwMode="auto">
          <a:xfrm>
            <a:off x="916699" y="1111487"/>
            <a:ext cx="10222393" cy="1346995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>
            <a:off x="842112" y="965495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 flipH="1" flipV="1">
            <a:off x="10699219" y="2059138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20165" name="矩形 220164"/>
          <p:cNvSpPr/>
          <p:nvPr/>
        </p:nvSpPr>
        <p:spPr>
          <a:xfrm>
            <a:off x="1005258" y="1154586"/>
            <a:ext cx="9755507" cy="1126462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indent="2667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微程序控制器主要由四部分组成：控制存储器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(CM)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、微指令寄存器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μIR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、微地址寄存器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μAR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和微地址形成逻辑。</a:t>
            </a:r>
            <a:endParaRPr lang="zh-CN" altLang="en-US" sz="2800" b="1" dirty="0">
              <a:solidFill>
                <a:srgbClr val="1D52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0166" name="矩形 220165"/>
          <p:cNvSpPr/>
          <p:nvPr/>
        </p:nvSpPr>
        <p:spPr>
          <a:xfrm>
            <a:off x="3711174" y="6166789"/>
            <a:ext cx="3954929" cy="489364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微程序控制器组成原理框图</a:t>
            </a:r>
            <a:endParaRPr lang="zh-CN" altLang="en-US" sz="2400" dirty="0">
              <a:solidFill>
                <a:srgbClr val="1D528D"/>
              </a:solidFill>
              <a:ea typeface="宋体" panose="02010600030101010101" pitchFamily="2" charset="-122"/>
            </a:endParaRPr>
          </a:p>
        </p:txBody>
      </p:sp>
      <p:sp>
        <p:nvSpPr>
          <p:cNvPr id="5" name="标题 219137"/>
          <p:cNvSpPr>
            <a:spLocks noGrp="1"/>
          </p:cNvSpPr>
          <p:nvPr>
            <p:ph type="title"/>
          </p:nvPr>
        </p:nvSpPr>
        <p:spPr>
          <a:xfrm>
            <a:off x="842112" y="181946"/>
            <a:ext cx="5499100" cy="762000"/>
          </a:xfrm>
        </p:spPr>
        <p:txBody>
          <a:bodyPr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微程序控制器的组成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448" y="2571413"/>
            <a:ext cx="6511333" cy="399556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69949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标题 222209"/>
          <p:cNvSpPr>
            <a:spLocks noGrp="1"/>
          </p:cNvSpPr>
          <p:nvPr>
            <p:ph type="title"/>
          </p:nvPr>
        </p:nvSpPr>
        <p:spPr>
          <a:xfrm>
            <a:off x="865330" y="-59557"/>
            <a:ext cx="10515600" cy="1325563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微程序设计举例</a:t>
            </a:r>
          </a:p>
        </p:txBody>
      </p:sp>
      <p:sp>
        <p:nvSpPr>
          <p:cNvPr id="4" name="矩形 3"/>
          <p:cNvSpPr/>
          <p:nvPr/>
        </p:nvSpPr>
        <p:spPr>
          <a:xfrm>
            <a:off x="9973950" y="4624156"/>
            <a:ext cx="1798044" cy="400110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直接寻址方式</a:t>
            </a:r>
          </a:p>
        </p:txBody>
      </p:sp>
      <p:sp>
        <p:nvSpPr>
          <p:cNvPr id="20" name="矩形 19"/>
          <p:cNvSpPr/>
          <p:nvPr/>
        </p:nvSpPr>
        <p:spPr>
          <a:xfrm>
            <a:off x="4244576" y="1833560"/>
            <a:ext cx="2918478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模型机指令系统</a:t>
            </a:r>
          </a:p>
        </p:txBody>
      </p:sp>
      <p:graphicFrame>
        <p:nvGraphicFramePr>
          <p:cNvPr id="21" name="内容占位符 22229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07496701"/>
              </p:ext>
            </p:extLst>
          </p:nvPr>
        </p:nvGraphicFramePr>
        <p:xfrm>
          <a:off x="1201017" y="2743206"/>
          <a:ext cx="8489249" cy="3551322"/>
        </p:xfrm>
        <a:graphic>
          <a:graphicData uri="http://schemas.openxmlformats.org/drawingml/2006/table">
            <a:tbl>
              <a:tblPr/>
              <a:tblGrid>
                <a:gridCol w="16528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364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7001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指令助记符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操作描述与功能说明</a:t>
                      </a: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84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LDA  n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AC←n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，把立即数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传送给累加寄存器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24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094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</a:t>
                      </a:r>
                      <a:r>
                        <a:rPr lang="en-US" altLang="zh-CN" sz="2000" b="1" baseline="-300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[X]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AC←(AC)+(X)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的内容与存储单元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的内容相加送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662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  [X]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AC←(AC)-(X)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的内容减存储单元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的内容送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769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  [X]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←(AC)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的内容存入存储单元</a:t>
                      </a: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84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JZ    X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AC=0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PC←X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；否则，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不变。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8947369" y="3366320"/>
            <a:ext cx="1798044" cy="400110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立即寻址方式</a:t>
            </a:r>
          </a:p>
        </p:txBody>
      </p:sp>
      <p:sp>
        <p:nvSpPr>
          <p:cNvPr id="23" name="右大括号 22"/>
          <p:cNvSpPr/>
          <p:nvPr/>
        </p:nvSpPr>
        <p:spPr>
          <a:xfrm>
            <a:off x="9718831" y="3947737"/>
            <a:ext cx="255119" cy="1752949"/>
          </a:xfrm>
          <a:prstGeom prst="rightBrac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7857968" y="3550727"/>
            <a:ext cx="894149" cy="4823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72679" y="923914"/>
            <a:ext cx="36856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ctr" defTabSz="0" fontAlgn="base">
              <a:spcBef>
                <a:spcPct val="0"/>
              </a:spcBef>
              <a:spcAft>
                <a:spcPct val="0"/>
              </a:spcAft>
              <a:tabLst>
                <a:tab pos="1025525" algn="l"/>
              </a:tabLs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分析机器指令的功能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30076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5" y="1022447"/>
            <a:ext cx="10314553" cy="5477451"/>
          </a:xfrm>
          <a:prstGeom prst="rect">
            <a:avLst/>
          </a:prstGeom>
        </p:spPr>
      </p:pic>
      <p:sp>
        <p:nvSpPr>
          <p:cNvPr id="224289" name="矩形 224288"/>
          <p:cNvSpPr/>
          <p:nvPr/>
        </p:nvSpPr>
        <p:spPr>
          <a:xfrm>
            <a:off x="786755" y="223201"/>
            <a:ext cx="3589444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设计微程序流程图 </a:t>
            </a:r>
          </a:p>
        </p:txBody>
      </p:sp>
      <p:sp>
        <p:nvSpPr>
          <p:cNvPr id="224291" name="矩形 224290"/>
          <p:cNvSpPr/>
          <p:nvPr/>
        </p:nvSpPr>
        <p:spPr>
          <a:xfrm>
            <a:off x="1284115" y="180407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1D528D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09010" y="1168787"/>
            <a:ext cx="90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地址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50565" y="6032514"/>
            <a:ext cx="133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公操作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6976895" y="6232569"/>
            <a:ext cx="673670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7156803" y="1353453"/>
            <a:ext cx="454980" cy="25920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V="1">
            <a:off x="7012450" y="2113504"/>
            <a:ext cx="750636" cy="111719"/>
          </a:xfrm>
          <a:prstGeom prst="rect">
            <a:avLst/>
          </a:prstGeom>
          <a:ln w="19050">
            <a:noFill/>
          </a:ln>
        </p:spPr>
      </p:pic>
      <p:sp>
        <p:nvSpPr>
          <p:cNvPr id="19" name="文本框 18"/>
          <p:cNvSpPr txBox="1"/>
          <p:nvPr/>
        </p:nvSpPr>
        <p:spPr>
          <a:xfrm>
            <a:off x="8261619" y="1520651"/>
            <a:ext cx="235554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en-US" altLang="zh-CN" b="1" dirty="0">
                <a:solidFill>
                  <a:schemeClr val="tx2"/>
                </a:solidFill>
              </a:rPr>
              <a:t>AR </a:t>
            </a:r>
            <a:r>
              <a:rPr lang="zh-CN" altLang="en-US" b="1" dirty="0">
                <a:solidFill>
                  <a:schemeClr val="tx2"/>
                </a:solidFill>
              </a:rPr>
              <a:t>← </a:t>
            </a:r>
            <a:r>
              <a:rPr lang="en-US" altLang="zh-CN" b="1" dirty="0">
                <a:solidFill>
                  <a:schemeClr val="tx2"/>
                </a:solidFill>
              </a:rPr>
              <a:t>PC  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</a:rPr>
              <a:t>11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en-US" altLang="zh-CN" b="1" dirty="0">
                <a:solidFill>
                  <a:schemeClr val="tx2"/>
                </a:solidFill>
              </a:rPr>
              <a:t>PC+1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en-US" altLang="zh-CN" b="1" dirty="0">
                <a:solidFill>
                  <a:schemeClr val="tx2"/>
                </a:solidFill>
              </a:rPr>
              <a:t>RD M 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</a:rPr>
              <a:t>13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en-US" altLang="zh-CN" b="1" dirty="0">
                <a:solidFill>
                  <a:schemeClr val="tx2"/>
                </a:solidFill>
              </a:rPr>
              <a:t>IR </a:t>
            </a:r>
            <a:r>
              <a:rPr lang="zh-CN" altLang="en-US" b="1" dirty="0">
                <a:solidFill>
                  <a:schemeClr val="tx2"/>
                </a:solidFill>
              </a:rPr>
              <a:t>←</a:t>
            </a:r>
            <a:r>
              <a:rPr lang="en-US" altLang="zh-CN" b="1" dirty="0">
                <a:solidFill>
                  <a:schemeClr val="tx2"/>
                </a:solidFill>
              </a:rPr>
              <a:t> DR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>
            <a:off x="7501287" y="2110817"/>
            <a:ext cx="680026" cy="4414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342" y="3447048"/>
            <a:ext cx="808935" cy="3993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5121" y="3396133"/>
            <a:ext cx="1076352" cy="42064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613" y="1421248"/>
            <a:ext cx="568189" cy="426338"/>
          </a:xfrm>
          <a:prstGeom prst="rect">
            <a:avLst/>
          </a:prstGeom>
        </p:spPr>
      </p:pic>
      <p:cxnSp>
        <p:nvCxnSpPr>
          <p:cNvPr id="25" name="直接箭头连接符 24"/>
          <p:cNvCxnSpPr/>
          <p:nvPr/>
        </p:nvCxnSpPr>
        <p:spPr>
          <a:xfrm flipH="1">
            <a:off x="6976895" y="3162338"/>
            <a:ext cx="1074420" cy="801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193039" y="2984674"/>
            <a:ext cx="17321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5"/>
            </a:pP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</a:rPr>
              <a:t>14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en-US" altLang="zh-CN" b="1" dirty="0">
                <a:solidFill>
                  <a:schemeClr val="tx2"/>
                </a:solidFill>
              </a:rPr>
              <a:t>P</a:t>
            </a:r>
            <a:r>
              <a:rPr lang="en-US" altLang="zh-CN" b="1" baseline="-25000" dirty="0">
                <a:solidFill>
                  <a:schemeClr val="tx2"/>
                </a:solidFill>
              </a:rPr>
              <a:t>1</a:t>
            </a:r>
            <a:endParaRPr lang="zh-CN" altLang="en-US" b="1" baseline="-25000" dirty="0">
              <a:solidFill>
                <a:schemeClr val="tx2"/>
              </a:solidFill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H="1">
            <a:off x="10291596" y="3755103"/>
            <a:ext cx="754503" cy="159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38035" y="2821612"/>
            <a:ext cx="3004120" cy="646331"/>
          </a:xfrm>
          <a:prstGeom prst="rect">
            <a:avLst/>
          </a:prstGeom>
          <a:noFill/>
          <a:ln cmpd="dbl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zh-CN" b="1" dirty="0">
                <a:solidFill>
                  <a:srgbClr val="0000FF"/>
                </a:solidFill>
              </a:rPr>
              <a:t>C</a:t>
            </a:r>
            <a:r>
              <a:rPr lang="en-US" altLang="zh-CN" b="1" baseline="-25000" dirty="0">
                <a:solidFill>
                  <a:srgbClr val="0000FF"/>
                </a:solidFill>
              </a:rPr>
              <a:t>8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en-US" altLang="zh-CN" b="1" dirty="0">
                <a:solidFill>
                  <a:schemeClr val="tx2"/>
                </a:solidFill>
              </a:rPr>
              <a:t>DR</a:t>
            </a:r>
            <a:r>
              <a:rPr lang="zh-CN" altLang="en-US" b="1" dirty="0">
                <a:solidFill>
                  <a:schemeClr val="tx2"/>
                </a:solidFill>
              </a:rPr>
              <a:t> ← </a:t>
            </a:r>
            <a:r>
              <a:rPr lang="en-US" altLang="zh-CN" b="1" dirty="0">
                <a:solidFill>
                  <a:schemeClr val="tx2"/>
                </a:solidFill>
              </a:rPr>
              <a:t>IR(ADR)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b="1" dirty="0">
                <a:solidFill>
                  <a:srgbClr val="0000FF"/>
                </a:solidFill>
              </a:rPr>
              <a:t>C</a:t>
            </a:r>
            <a:r>
              <a:rPr lang="en-US" altLang="zh-CN" b="1" baseline="-25000" dirty="0">
                <a:solidFill>
                  <a:srgbClr val="0000FF"/>
                </a:solidFill>
              </a:rPr>
              <a:t>3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r>
              <a:rPr lang="en-US" altLang="zh-CN" b="1" dirty="0">
                <a:solidFill>
                  <a:schemeClr val="tx2"/>
                </a:solidFill>
              </a:rPr>
              <a:t>AC</a:t>
            </a:r>
            <a:r>
              <a:rPr lang="zh-CN" altLang="en-US" b="1" dirty="0">
                <a:solidFill>
                  <a:schemeClr val="tx2"/>
                </a:solidFill>
              </a:rPr>
              <a:t> ← </a:t>
            </a:r>
            <a:r>
              <a:rPr lang="en-US" altLang="zh-CN" b="1" dirty="0">
                <a:solidFill>
                  <a:schemeClr val="tx2"/>
                </a:solidFill>
              </a:rPr>
              <a:t>ALU</a:t>
            </a:r>
            <a:r>
              <a:rPr lang="zh-CN" altLang="en-US" b="1" dirty="0">
                <a:solidFill>
                  <a:schemeClr val="tx2"/>
                </a:solidFill>
              </a:rPr>
              <a:t> ← </a:t>
            </a:r>
            <a:r>
              <a:rPr lang="en-US" altLang="zh-CN" b="1" dirty="0">
                <a:solidFill>
                  <a:schemeClr val="tx2"/>
                </a:solidFill>
              </a:rPr>
              <a:t>DR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1319343" y="3502750"/>
            <a:ext cx="11132" cy="71114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4565165" y="4316768"/>
            <a:ext cx="528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9</a:t>
            </a:r>
            <a:endParaRPr lang="zh-CN" altLang="en-US" sz="2000" b="1" baseline="-25000" dirty="0">
              <a:solidFill>
                <a:srgbClr val="0000FF"/>
              </a:solidFill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 flipH="1">
            <a:off x="4189510" y="4512301"/>
            <a:ext cx="396238" cy="381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4462295" y="4653937"/>
            <a:ext cx="528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4</a:t>
            </a:r>
            <a:endParaRPr lang="zh-CN" altLang="en-US" sz="2000" b="1" baseline="-25000" dirty="0">
              <a:solidFill>
                <a:srgbClr val="0000FF"/>
              </a:solidFill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 flipH="1" flipV="1">
            <a:off x="3700821" y="4819656"/>
            <a:ext cx="761474" cy="3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H="1">
            <a:off x="4178080" y="4512301"/>
            <a:ext cx="396238" cy="381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1880572" y="5766576"/>
            <a:ext cx="783772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1319343" y="5581910"/>
            <a:ext cx="528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1</a:t>
            </a:r>
            <a:endParaRPr lang="zh-CN" altLang="en-US" sz="2000" b="1" baseline="-25000" dirty="0">
              <a:solidFill>
                <a:srgbClr val="0000FF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518970" y="1079789"/>
            <a:ext cx="224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000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chemeClr val="tx2"/>
                </a:solidFill>
              </a:rPr>
              <a:t> 0000 00</a:t>
            </a:r>
            <a:r>
              <a:rPr lang="en-US" altLang="zh-CN" b="1" dirty="0">
                <a:solidFill>
                  <a:srgbClr val="FF0000"/>
                </a:solidFill>
              </a:rPr>
              <a:t>11 1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966069" y="2958302"/>
            <a:ext cx="61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chemeClr val="tx2"/>
                </a:solidFill>
              </a:rPr>
              <a:t>0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028065" y="2958302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C</a:t>
            </a:r>
            <a:r>
              <a:rPr lang="en-US" altLang="zh-CN" b="1" baseline="-25000" dirty="0">
                <a:solidFill>
                  <a:schemeClr val="tx2"/>
                </a:solidFill>
              </a:rPr>
              <a:t>14</a:t>
            </a:r>
            <a:r>
              <a:rPr lang="en-US" altLang="zh-CN" b="1" dirty="0">
                <a:solidFill>
                  <a:schemeClr val="tx2"/>
                </a:solidFill>
              </a:rPr>
              <a:t>C</a:t>
            </a:r>
            <a:r>
              <a:rPr lang="en-US" altLang="zh-CN" b="1" baseline="-25000" dirty="0">
                <a:solidFill>
                  <a:schemeClr val="tx2"/>
                </a:solidFill>
              </a:rPr>
              <a:t>15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8509880" y="1089357"/>
            <a:ext cx="1234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C</a:t>
            </a:r>
            <a:r>
              <a:rPr lang="en-US" altLang="zh-CN" b="1" baseline="-25000" dirty="0">
                <a:solidFill>
                  <a:schemeClr val="tx2"/>
                </a:solidFill>
              </a:rPr>
              <a:t>1</a:t>
            </a:r>
            <a:r>
              <a:rPr lang="zh-CN" altLang="en-US" b="1" dirty="0">
                <a:solidFill>
                  <a:schemeClr val="tx2"/>
                </a:solidFill>
              </a:rPr>
              <a:t>～</a:t>
            </a:r>
            <a:r>
              <a:rPr lang="en-US" altLang="zh-CN" b="1" dirty="0">
                <a:solidFill>
                  <a:schemeClr val="tx2"/>
                </a:solidFill>
              </a:rPr>
              <a:t>C</a:t>
            </a:r>
            <a:r>
              <a:rPr lang="en-US" altLang="zh-CN" b="1" baseline="-25000" dirty="0">
                <a:solidFill>
                  <a:schemeClr val="tx2"/>
                </a:solidFill>
              </a:rPr>
              <a:t>13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295545" y="2449080"/>
            <a:ext cx="224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00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chemeClr val="tx2"/>
                </a:solidFill>
              </a:rPr>
              <a:t>0 000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chemeClr val="tx2"/>
                </a:solidFill>
              </a:rPr>
              <a:t> 0000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chemeClr val="tx2"/>
                </a:solidFill>
              </a:rPr>
              <a:t>0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86455" y="2435788"/>
            <a:ext cx="1234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C</a:t>
            </a:r>
            <a:r>
              <a:rPr lang="en-US" altLang="zh-CN" b="1" baseline="-25000" dirty="0">
                <a:solidFill>
                  <a:schemeClr val="tx2"/>
                </a:solidFill>
              </a:rPr>
              <a:t>1</a:t>
            </a:r>
            <a:r>
              <a:rPr lang="zh-CN" altLang="en-US" b="1" dirty="0">
                <a:solidFill>
                  <a:schemeClr val="tx2"/>
                </a:solidFill>
              </a:rPr>
              <a:t>～</a:t>
            </a:r>
            <a:r>
              <a:rPr lang="en-US" altLang="zh-CN" b="1" dirty="0">
                <a:solidFill>
                  <a:schemeClr val="tx2"/>
                </a:solidFill>
              </a:rPr>
              <a:t>C</a:t>
            </a:r>
            <a:r>
              <a:rPr lang="en-US" altLang="zh-CN" b="1" baseline="-25000" dirty="0">
                <a:solidFill>
                  <a:schemeClr val="tx2"/>
                </a:solidFill>
              </a:rPr>
              <a:t>13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203639" y="2080986"/>
            <a:ext cx="61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00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65635" y="2080986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C</a:t>
            </a:r>
            <a:r>
              <a:rPr lang="en-US" altLang="zh-CN" b="1" baseline="-25000" dirty="0">
                <a:solidFill>
                  <a:schemeClr val="tx2"/>
                </a:solidFill>
              </a:rPr>
              <a:t>14</a:t>
            </a:r>
            <a:r>
              <a:rPr lang="en-US" altLang="zh-CN" b="1" dirty="0">
                <a:solidFill>
                  <a:schemeClr val="tx2"/>
                </a:solidFill>
              </a:rPr>
              <a:t>C</a:t>
            </a:r>
            <a:r>
              <a:rPr lang="en-US" altLang="zh-CN" b="1" baseline="-25000" dirty="0">
                <a:solidFill>
                  <a:schemeClr val="tx2"/>
                </a:solidFill>
              </a:rPr>
              <a:t>15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  <a:endParaRPr lang="zh-CN" altLang="en-US" dirty="0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0327" y="3467943"/>
            <a:ext cx="946681" cy="631411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3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4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46" name="矩形 45"/>
          <p:cNvSpPr/>
          <p:nvPr/>
        </p:nvSpPr>
        <p:spPr>
          <a:xfrm>
            <a:off x="8983129" y="4029740"/>
            <a:ext cx="672935" cy="45284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9632587" y="4532618"/>
            <a:ext cx="509095" cy="3285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11311076" y="4836815"/>
            <a:ext cx="779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</a:rPr>
              <a:t>C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10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11011075" y="5032348"/>
            <a:ext cx="396238" cy="3813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74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8" grpId="0" animBg="1"/>
      <p:bldP spid="34" grpId="0"/>
      <p:bldP spid="72" grpId="0"/>
      <p:bldP spid="78" grpId="0"/>
      <p:bldP spid="39" grpId="0"/>
      <p:bldP spid="40" grpId="0"/>
      <p:bldP spid="84" grpId="0"/>
      <p:bldP spid="87" grpId="0"/>
      <p:bldP spid="46" grpId="0" animBg="1"/>
      <p:bldP spid="47" grpId="0" animBg="1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55" name="矩形 226354"/>
          <p:cNvSpPr/>
          <p:nvPr/>
        </p:nvSpPr>
        <p:spPr>
          <a:xfrm>
            <a:off x="846756" y="289111"/>
            <a:ext cx="2244525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编写微程序</a:t>
            </a:r>
          </a:p>
        </p:txBody>
      </p:sp>
      <p:graphicFrame>
        <p:nvGraphicFramePr>
          <p:cNvPr id="226625" name="内容占位符 22662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2272571"/>
              </p:ext>
            </p:extLst>
          </p:nvPr>
        </p:nvGraphicFramePr>
        <p:xfrm>
          <a:off x="638246" y="1717332"/>
          <a:ext cx="11132820" cy="4197667"/>
        </p:xfrm>
        <a:graphic>
          <a:graphicData uri="http://schemas.openxmlformats.org/drawingml/2006/table">
            <a:tbl>
              <a:tblPr/>
              <a:tblGrid>
                <a:gridCol w="16612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202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036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476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65829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控存地址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indent="34163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控制字段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lvl="0" indent="34163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1800" b="1" baseline="-30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测试字段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r>
                        <a:rPr lang="en-US" altLang="zh-CN" sz="1800" b="1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后继微地址字段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取指 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0000  00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 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LDR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0010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0  000</a:t>
                      </a: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0000    0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0100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</a:t>
                      </a: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0000  </a:t>
                      </a: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0101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0101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000   0000   0000   0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 0110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0001   0000  1000  0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0111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 0111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0100   0000   0000   0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 1000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0000   1100   1000   0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JZ  1010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0000   0000   0000   0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0  1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JZ  1011</a:t>
                      </a: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0000   0000   0100   0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0  0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lvl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5" name="标题 222209"/>
          <p:cNvSpPr txBox="1">
            <a:spLocks/>
          </p:cNvSpPr>
          <p:nvPr/>
        </p:nvSpPr>
        <p:spPr>
          <a:xfrm>
            <a:off x="3234050" y="228600"/>
            <a:ext cx="8432800" cy="533400"/>
          </a:xfrm>
          <a:prstGeom prst="rect">
            <a:avLst/>
          </a:prstGeom>
        </p:spPr>
        <p:txBody>
          <a:bodyPr anchor="ctr"/>
          <a:lstStyle>
            <a:lvl1pPr marL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b="1" dirty="0">
                <a:ea typeface="宋体" panose="02010600030101010101" pitchFamily="2" charset="-122"/>
              </a:rPr>
              <a:t>7.5.</a:t>
            </a:r>
            <a:r>
              <a:rPr lang="zh-CN" altLang="en-US" sz="3600" b="1" dirty="0">
                <a:ea typeface="宋体" panose="02010600030101010101" pitchFamily="2" charset="-122"/>
              </a:rPr>
              <a:t>3 微程序设计举例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30097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3441" y="2541722"/>
            <a:ext cx="38684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7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664</Words>
  <Application>Microsoft Office PowerPoint</Application>
  <PresentationFormat>宽屏</PresentationFormat>
  <Paragraphs>156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第一PPT，www.1ppt.com</vt:lpstr>
      <vt:lpstr>PowerPoint 演示文稿</vt:lpstr>
      <vt:lpstr>微程序控制器</vt:lpstr>
      <vt:lpstr>PowerPoint 演示文稿</vt:lpstr>
      <vt:lpstr>微程序控制的基本概念</vt:lpstr>
      <vt:lpstr>简化的CPU</vt:lpstr>
      <vt:lpstr>PowerPoint 演示文稿</vt:lpstr>
      <vt:lpstr>微程序控制器的组成</vt:lpstr>
      <vt:lpstr>微程序设计举例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yhw</cp:lastModifiedBy>
  <cp:revision>31</cp:revision>
  <dcterms:created xsi:type="dcterms:W3CDTF">2016-06-01T05:10:04Z</dcterms:created>
  <dcterms:modified xsi:type="dcterms:W3CDTF">2017-06-02T05:38:29Z</dcterms:modified>
</cp:coreProperties>
</file>