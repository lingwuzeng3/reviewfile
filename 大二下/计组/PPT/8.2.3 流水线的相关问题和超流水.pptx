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wav" ContentType="audio/x-wav"/>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89" r:id="rId2"/>
    <p:sldId id="291" r:id="rId3"/>
    <p:sldId id="292" r:id="rId4"/>
    <p:sldId id="293" r:id="rId5"/>
    <p:sldId id="294" r:id="rId6"/>
    <p:sldId id="295" r:id="rId7"/>
    <p:sldId id="306" r:id="rId8"/>
    <p:sldId id="307" r:id="rId9"/>
    <p:sldId id="298" r:id="rId10"/>
    <p:sldId id="299" r:id="rId11"/>
    <p:sldId id="300" r:id="rId12"/>
    <p:sldId id="301" r:id="rId13"/>
    <p:sldId id="308" r:id="rId14"/>
    <p:sldId id="303" r:id="rId15"/>
    <p:sldId id="304" r:id="rId16"/>
    <p:sldId id="305" r:id="rId17"/>
    <p:sldId id="290"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4BEB0"/>
    <a:srgbClr val="02B9E7"/>
    <a:srgbClr val="01C0B0"/>
    <a:srgbClr val="04B0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754" autoAdjust="0"/>
    <p:restoredTop sz="94660"/>
  </p:normalViewPr>
  <p:slideViewPr>
    <p:cSldViewPr snapToGrid="0" showGuides="1">
      <p:cViewPr>
        <p:scale>
          <a:sx n="90" d="100"/>
          <a:sy n="90" d="100"/>
        </p:scale>
        <p:origin x="66" y="-144"/>
      </p:cViewPr>
      <p:guideLst>
        <p:guide orient="horz" pos="2160"/>
        <p:guide pos="3840"/>
      </p:guideLst>
    </p:cSldViewPr>
  </p:slideViewPr>
  <p:notesTextViewPr>
    <p:cViewPr>
      <p:scale>
        <a:sx n="1" d="1"/>
        <a:sy n="1" d="1"/>
      </p:scale>
      <p:origin x="0" y="0"/>
    </p:cViewPr>
  </p:notesTextViewPr>
  <p:sorterViewPr>
    <p:cViewPr>
      <p:scale>
        <a:sx n="60" d="100"/>
        <a:sy n="60" d="100"/>
      </p:scale>
      <p:origin x="0" y="0"/>
    </p:cViewPr>
  </p:sorterViewPr>
  <p:notesViewPr>
    <p:cSldViewPr snapToGrid="0" showGuides="1">
      <p:cViewPr varScale="1">
        <p:scale>
          <a:sx n="57" d="100"/>
          <a:sy n="57" d="100"/>
        </p:scale>
        <p:origin x="2808" y="3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0E8A95-114D-4BB9-A729-058920B2735F}" type="datetimeFigureOut">
              <a:rPr lang="zh-CN" altLang="en-US" smtClean="0"/>
              <a:t>2017/6/3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D8029B-87F6-42DD-8185-B8A2A8D30728}" type="slidenum">
              <a:rPr lang="zh-CN" altLang="en-US" smtClean="0"/>
              <a:t>‹#›</a:t>
            </a:fld>
            <a:endParaRPr lang="zh-CN" altLang="en-US"/>
          </a:p>
        </p:txBody>
      </p:sp>
    </p:spTree>
    <p:extLst>
      <p:ext uri="{BB962C8B-B14F-4D97-AF65-F5344CB8AC3E}">
        <p14:creationId xmlns:p14="http://schemas.microsoft.com/office/powerpoint/2010/main" val="29233895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6D8029B-87F6-42DD-8185-B8A2A8D30728}" type="slidenum">
              <a:rPr lang="zh-CN" altLang="en-US" smtClean="0"/>
              <a:t>1</a:t>
            </a:fld>
            <a:endParaRPr lang="zh-CN" altLang="en-US"/>
          </a:p>
        </p:txBody>
      </p:sp>
    </p:spTree>
    <p:extLst>
      <p:ext uri="{BB962C8B-B14F-4D97-AF65-F5344CB8AC3E}">
        <p14:creationId xmlns:p14="http://schemas.microsoft.com/office/powerpoint/2010/main" val="16142554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7</a:t>
            </a:fld>
            <a:endParaRPr lang="en-US">
              <a:solidFill>
                <a:prstClr val="black"/>
              </a:solidFill>
            </a:endParaRPr>
          </a:p>
        </p:txBody>
      </p:sp>
    </p:spTree>
    <p:extLst>
      <p:ext uri="{BB962C8B-B14F-4D97-AF65-F5344CB8AC3E}">
        <p14:creationId xmlns:p14="http://schemas.microsoft.com/office/powerpoint/2010/main" val="21207129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8</a:t>
            </a:fld>
            <a:endParaRPr lang="en-US">
              <a:solidFill>
                <a:prstClr val="black"/>
              </a:solidFill>
            </a:endParaRPr>
          </a:p>
        </p:txBody>
      </p:sp>
    </p:spTree>
    <p:extLst>
      <p:ext uri="{BB962C8B-B14F-4D97-AF65-F5344CB8AC3E}">
        <p14:creationId xmlns:p14="http://schemas.microsoft.com/office/powerpoint/2010/main" val="13590886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13</a:t>
            </a:fld>
            <a:endParaRPr lang="en-US">
              <a:solidFill>
                <a:prstClr val="black"/>
              </a:solidFill>
            </a:endParaRPr>
          </a:p>
        </p:txBody>
      </p:sp>
    </p:spTree>
    <p:extLst>
      <p:ext uri="{BB962C8B-B14F-4D97-AF65-F5344CB8AC3E}">
        <p14:creationId xmlns:p14="http://schemas.microsoft.com/office/powerpoint/2010/main" val="31773858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6D8029B-87F6-42DD-8185-B8A2A8D30728}" type="slidenum">
              <a:rPr lang="zh-CN" altLang="en-US" smtClean="0"/>
              <a:t>17</a:t>
            </a:fld>
            <a:endParaRPr lang="zh-CN" altLang="en-US"/>
          </a:p>
        </p:txBody>
      </p:sp>
    </p:spTree>
    <p:extLst>
      <p:ext uri="{BB962C8B-B14F-4D97-AF65-F5344CB8AC3E}">
        <p14:creationId xmlns:p14="http://schemas.microsoft.com/office/powerpoint/2010/main" val="27909714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9CAAD024-C6D2-498C-B6F9-0F94E70CC562}" type="datetimeFigureOut">
              <a:rPr lang="zh-CN" altLang="en-US" smtClean="0"/>
              <a:t>2017/6/3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2953354890"/>
      </p:ext>
    </p:extLst>
  </p:cSld>
  <p:clrMapOvr>
    <a:masterClrMapping/>
  </p:clrMapOvr>
  <mc:AlternateContent xmlns:mc="http://schemas.openxmlformats.org/markup-compatibility/2006" xmlns:p14="http://schemas.microsoft.com/office/powerpoint/2010/main">
    <mc:Choice Requires="p14">
      <p:transition spd="slow">
        <p14:flip dir="r"/>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AAD024-C6D2-498C-B6F9-0F94E70CC562}" type="datetimeFigureOut">
              <a:rPr lang="zh-CN" altLang="en-US" smtClean="0"/>
              <a:t>2017/6/3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133343571"/>
      </p:ext>
    </p:extLst>
  </p:cSld>
  <p:clrMapOvr>
    <a:masterClrMapping/>
  </p:clrMapOvr>
  <mc:AlternateContent xmlns:mc="http://schemas.openxmlformats.org/markup-compatibility/2006" xmlns:p14="http://schemas.microsoft.com/office/powerpoint/2010/main">
    <mc:Choice Requires="p14">
      <p:transition spd="slow">
        <p14:flip dir="r"/>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40"/>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9CAAD024-C6D2-498C-B6F9-0F94E70CC562}" type="datetimeFigureOut">
              <a:rPr lang="zh-CN" altLang="en-US" smtClean="0"/>
              <a:t>2017/6/3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3018862345"/>
      </p:ext>
    </p:extLst>
  </p:cSld>
  <p:clrMapOvr>
    <a:masterClrMapping/>
  </p:clrMapOvr>
  <mc:AlternateContent xmlns:mc="http://schemas.openxmlformats.org/markup-compatibility/2006" xmlns:p14="http://schemas.microsoft.com/office/powerpoint/2010/main">
    <mc:Choice Requires="p14">
      <p:transition spd="slow">
        <p14:flip dir="r"/>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9CAAD024-C6D2-498C-B6F9-0F94E70CC562}" type="datetimeFigureOut">
              <a:rPr lang="zh-CN" altLang="en-US" smtClean="0"/>
              <a:t>2017/6/3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3676858996"/>
      </p:ext>
    </p:extLst>
  </p:cSld>
  <p:clrMapOvr>
    <a:masterClrMapping/>
  </p:clrMapOvr>
  <mc:AlternateContent xmlns:mc="http://schemas.openxmlformats.org/markup-compatibility/2006" xmlns:p14="http://schemas.microsoft.com/office/powerpoint/2010/main">
    <mc:Choice Requires="p14">
      <p:transition spd="slow">
        <p14:flip dir="r"/>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7"/>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9"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1"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9CAAD024-C6D2-498C-B6F9-0F94E70CC562}" type="datetimeFigureOut">
              <a:rPr lang="zh-CN" altLang="en-US" smtClean="0"/>
              <a:t>2017/6/3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277365401"/>
      </p:ext>
    </p:extLst>
  </p:cSld>
  <p:clrMapOvr>
    <a:masterClrMapping/>
  </p:clrMapOvr>
  <mc:AlternateContent xmlns:mc="http://schemas.openxmlformats.org/markup-compatibility/2006" xmlns:p14="http://schemas.microsoft.com/office/powerpoint/2010/main">
    <mc:Choice Requires="p14">
      <p:transition spd="slow">
        <p14:flip dir="r"/>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CAAD024-C6D2-498C-B6F9-0F94E70CC562}" type="datetimeFigureOut">
              <a:rPr lang="zh-CN" altLang="en-US" smtClean="0"/>
              <a:t>2017/6/3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3739278484"/>
      </p:ext>
    </p:extLst>
  </p:cSld>
  <p:clrMapOvr>
    <a:masterClrMapping/>
  </p:clrMapOvr>
  <mc:AlternateContent xmlns:mc="http://schemas.openxmlformats.org/markup-compatibility/2006" xmlns:p14="http://schemas.microsoft.com/office/powerpoint/2010/main">
    <mc:Choice Requires="p14">
      <p:transition spd="slow">
        <p14:flip dir="r"/>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CAAD024-C6D2-498C-B6F9-0F94E70CC562}" type="datetimeFigureOut">
              <a:rPr lang="zh-CN" altLang="en-US" smtClean="0"/>
              <a:t>2017/6/3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1473886793"/>
      </p:ext>
    </p:extLst>
  </p:cSld>
  <p:clrMapOvr>
    <a:masterClrMapping/>
  </p:clrMapOvr>
  <mc:AlternateContent xmlns:mc="http://schemas.openxmlformats.org/markup-compatibility/2006" xmlns:p14="http://schemas.microsoft.com/office/powerpoint/2010/main">
    <mc:Choice Requires="p14">
      <p:transition spd="slow">
        <p14:flip dir="r"/>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CAAD024-C6D2-498C-B6F9-0F94E70CC562}" type="datetimeFigureOut">
              <a:rPr lang="zh-CN" altLang="en-US" smtClean="0"/>
              <a:t>2017/6/3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1383394598"/>
      </p:ext>
    </p:extLst>
  </p:cSld>
  <p:clrMapOvr>
    <a:masterClrMapping/>
  </p:clrMapOvr>
  <mc:AlternateContent xmlns:mc="http://schemas.openxmlformats.org/markup-compatibility/2006" xmlns:p14="http://schemas.microsoft.com/office/powerpoint/2010/main">
    <mc:Choice Requires="p14">
      <p:transition spd="slow">
        <p14:flip dir="r"/>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CAAD024-C6D2-498C-B6F9-0F94E70CC562}" type="datetimeFigureOut">
              <a:rPr lang="zh-CN" altLang="en-US" smtClean="0"/>
              <a:t>2017/6/3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2827041094"/>
      </p:ext>
    </p:extLst>
  </p:cSld>
  <p:clrMapOvr>
    <a:masterClrMapping/>
  </p:clrMapOvr>
  <mc:AlternateContent xmlns:mc="http://schemas.openxmlformats.org/markup-compatibility/2006" xmlns:p14="http://schemas.microsoft.com/office/powerpoint/2010/main">
    <mc:Choice Requires="p14">
      <p:transition spd="slow">
        <p14:flip dir="r"/>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AAD024-C6D2-498C-B6F9-0F94E70CC562}" type="datetimeFigureOut">
              <a:rPr lang="zh-CN" altLang="en-US" smtClean="0"/>
              <a:t>2017/6/3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3303071220"/>
      </p:ext>
    </p:extLst>
  </p:cSld>
  <p:clrMapOvr>
    <a:masterClrMapping/>
  </p:clrMapOvr>
  <mc:AlternateContent xmlns:mc="http://schemas.openxmlformats.org/markup-compatibility/2006" xmlns:p14="http://schemas.microsoft.com/office/powerpoint/2010/main">
    <mc:Choice Requires="p14">
      <p:transition spd="slow">
        <p14:flip dir="r"/>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1"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1"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AAD024-C6D2-498C-B6F9-0F94E70CC562}" type="datetimeFigureOut">
              <a:rPr lang="zh-CN" altLang="en-US" smtClean="0"/>
              <a:t>2017/6/3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1104753532"/>
      </p:ext>
    </p:extLst>
  </p:cSld>
  <p:clrMapOvr>
    <a:masterClrMapping/>
  </p:clrMapOvr>
  <mc:AlternateContent xmlns:mc="http://schemas.openxmlformats.org/markup-compatibility/2006" xmlns:p14="http://schemas.microsoft.com/office/powerpoint/2010/main">
    <mc:Choice Requires="p14">
      <p:transition spd="slow">
        <p14:flip dir="r"/>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352800" y="228600"/>
            <a:ext cx="8432800" cy="5334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295400"/>
            <a:ext cx="5384800" cy="50260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295400"/>
            <a:ext cx="5384800" cy="50260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09600" y="6521451"/>
            <a:ext cx="2844800" cy="244475"/>
          </a:xfrm>
        </p:spPr>
        <p:txBody>
          <a:bodyPr/>
          <a:lstStyle>
            <a:lvl1pPr>
              <a:defRPr/>
            </a:lvl1pPr>
          </a:lstStyle>
          <a:p>
            <a:endParaRPr lang="en-US" altLang="zh-CN">
              <a:solidFill>
                <a:srgbClr val="2D6BC7"/>
              </a:solidFill>
            </a:endParaRPr>
          </a:p>
        </p:txBody>
      </p:sp>
      <p:sp>
        <p:nvSpPr>
          <p:cNvPr id="6" name="页脚占位符 5"/>
          <p:cNvSpPr>
            <a:spLocks noGrp="1"/>
          </p:cNvSpPr>
          <p:nvPr>
            <p:ph type="ftr" sz="quarter" idx="11"/>
          </p:nvPr>
        </p:nvSpPr>
        <p:spPr>
          <a:xfrm>
            <a:off x="4165600" y="6521451"/>
            <a:ext cx="3860800" cy="244475"/>
          </a:xfrm>
        </p:spPr>
        <p:txBody>
          <a:bodyPr/>
          <a:lstStyle>
            <a:lvl1pPr>
              <a:defRPr/>
            </a:lvl1pPr>
          </a:lstStyle>
          <a:p>
            <a:endParaRPr lang="en-US" altLang="zh-CN">
              <a:solidFill>
                <a:srgbClr val="2D6BC7"/>
              </a:solidFill>
            </a:endParaRPr>
          </a:p>
        </p:txBody>
      </p:sp>
      <p:sp>
        <p:nvSpPr>
          <p:cNvPr id="7" name="灯片编号占位符 6"/>
          <p:cNvSpPr>
            <a:spLocks noGrp="1"/>
          </p:cNvSpPr>
          <p:nvPr>
            <p:ph type="sldNum" sz="quarter" idx="12"/>
          </p:nvPr>
        </p:nvSpPr>
        <p:spPr>
          <a:xfrm>
            <a:off x="8737600" y="6521451"/>
            <a:ext cx="2844800" cy="244475"/>
          </a:xfrm>
        </p:spPr>
        <p:txBody>
          <a:bodyPr/>
          <a:lstStyle>
            <a:lvl1pPr>
              <a:defRPr/>
            </a:lvl1pPr>
          </a:lstStyle>
          <a:p>
            <a:fld id="{431F9143-C211-4707-A93B-6826A2A62681}" type="slidenum">
              <a:rPr lang="zh-CN" altLang="en-US">
                <a:solidFill>
                  <a:srgbClr val="2D6BC7"/>
                </a:solidFill>
              </a:rPr>
              <a:pPr/>
              <a:t>‹#›</a:t>
            </a:fld>
            <a:endParaRPr lang="en-US" altLang="zh-CN">
              <a:solidFill>
                <a:srgbClr val="2D6BC7"/>
              </a:solidFill>
            </a:endParaRPr>
          </a:p>
        </p:txBody>
      </p:sp>
    </p:spTree>
    <p:extLst>
      <p:ext uri="{BB962C8B-B14F-4D97-AF65-F5344CB8AC3E}">
        <p14:creationId xmlns:p14="http://schemas.microsoft.com/office/powerpoint/2010/main" val="550648248"/>
      </p:ext>
    </p:extLst>
  </p:cSld>
  <p:clrMapOvr>
    <a:masterClrMapping/>
  </p:clrMapOvr>
  <mc:AlternateContent xmlns:mc="http://schemas.openxmlformats.org/markup-compatibility/2006" xmlns:p14="http://schemas.microsoft.com/office/powerpoint/2010/main">
    <mc:Choice Requires="p14">
      <p:transition spd="slow">
        <p14:flip dir="r"/>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AAD024-C6D2-498C-B6F9-0F94E70CC562}" type="datetimeFigureOut">
              <a:rPr lang="zh-CN" altLang="en-US" smtClean="0"/>
              <a:t>2017/6/3</a:t>
            </a:fld>
            <a:endParaRPr lang="zh-CN" altLang="en-US"/>
          </a:p>
        </p:txBody>
      </p:sp>
      <p:sp>
        <p:nvSpPr>
          <p:cNvPr id="5" name="页脚占位符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17205307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xmlns:p14="http://schemas.microsoft.com/office/powerpoint/2010/main">
    <mc:Choice Requires="p14">
      <p:transition spd="slow">
        <p14:flip dir="r"/>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5.emf"/><Relationship Id="rId4" Type="http://schemas.openxmlformats.org/officeDocument/2006/relationships/image" Target="../media/image4.em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5.png"/><Relationship Id="rId2" Type="http://schemas.openxmlformats.org/officeDocument/2006/relationships/image" Target="../media/image6.emf"/><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3.emf"/><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7.emf"/></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1.png"/><Relationship Id="rId7" Type="http://schemas.openxmlformats.org/officeDocument/2006/relationships/image" Target="../media/image210.png"/><Relationship Id="rId12" Type="http://schemas.openxmlformats.org/officeDocument/2006/relationships/image" Target="../media/image26.png"/><Relationship Id="rId2" Type="http://schemas.openxmlformats.org/officeDocument/2006/relationships/image" Target="../media/image8.emf"/><Relationship Id="rId1" Type="http://schemas.openxmlformats.org/officeDocument/2006/relationships/slideLayout" Target="../slideLayouts/slideLayout2.xml"/><Relationship Id="rId11" Type="http://schemas.openxmlformats.org/officeDocument/2006/relationships/image" Target="../media/image25.png"/><Relationship Id="rId5" Type="http://schemas.openxmlformats.org/officeDocument/2006/relationships/image" Target="../media/image10.emf"/><Relationship Id="rId4" Type="http://schemas.openxmlformats.org/officeDocument/2006/relationships/image" Target="../media/image9.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2.png"/><Relationship Id="rId7" Type="http://schemas.openxmlformats.org/officeDocument/2006/relationships/image" Target="../media/image32.png"/><Relationship Id="rId2" Type="http://schemas.openxmlformats.org/officeDocument/2006/relationships/image" Target="../media/image11.emf"/><Relationship Id="rId1" Type="http://schemas.openxmlformats.org/officeDocument/2006/relationships/slideLayout" Target="../slideLayouts/slideLayout2.xml"/><Relationship Id="rId4" Type="http://schemas.openxmlformats.org/officeDocument/2006/relationships/image" Target="../media/image28.png"/><Relationship Id="rId9" Type="http://schemas.openxmlformats.org/officeDocument/2006/relationships/image" Target="../media/image34.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943990" y="2506385"/>
            <a:ext cx="8486460" cy="1478761"/>
          </a:xfrm>
          <a:prstGeom prst="rect">
            <a:avLst/>
          </a:prstGeom>
          <a:solidFill>
            <a:srgbClr val="02B9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7"/>
          <p:cNvSpPr>
            <a:spLocks/>
          </p:cNvSpPr>
          <p:nvPr/>
        </p:nvSpPr>
        <p:spPr bwMode="auto">
          <a:xfrm>
            <a:off x="10799813" y="5496958"/>
            <a:ext cx="1079283" cy="1080463"/>
          </a:xfrm>
          <a:custGeom>
            <a:avLst/>
            <a:gdLst>
              <a:gd name="T0" fmla="*/ 2199 w 2504"/>
              <a:gd name="T1" fmla="*/ 0 h 2504"/>
              <a:gd name="T2" fmla="*/ 2504 w 2504"/>
              <a:gd name="T3" fmla="*/ 0 h 2504"/>
              <a:gd name="T4" fmla="*/ 2504 w 2504"/>
              <a:gd name="T5" fmla="*/ 2504 h 2504"/>
              <a:gd name="T6" fmla="*/ 0 w 2504"/>
              <a:gd name="T7" fmla="*/ 2504 h 2504"/>
              <a:gd name="T8" fmla="*/ 0 w 2504"/>
              <a:gd name="T9" fmla="*/ 2199 h 2504"/>
              <a:gd name="T10" fmla="*/ 1970 w 2504"/>
              <a:gd name="T11" fmla="*/ 2199 h 2504"/>
              <a:gd name="T12" fmla="*/ 87 w 2504"/>
              <a:gd name="T13" fmla="*/ 315 h 2504"/>
              <a:gd name="T14" fmla="*/ 303 w 2504"/>
              <a:gd name="T15" fmla="*/ 99 h 2504"/>
              <a:gd name="T16" fmla="*/ 2199 w 2504"/>
              <a:gd name="T17" fmla="*/ 1996 h 2504"/>
              <a:gd name="T18" fmla="*/ 2199 w 2504"/>
              <a:gd name="T19" fmla="*/ 0 h 2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04" h="2504">
                <a:moveTo>
                  <a:pt x="2199" y="0"/>
                </a:moveTo>
                <a:lnTo>
                  <a:pt x="2504" y="0"/>
                </a:lnTo>
                <a:lnTo>
                  <a:pt x="2504" y="2504"/>
                </a:lnTo>
                <a:lnTo>
                  <a:pt x="0" y="2504"/>
                </a:lnTo>
                <a:lnTo>
                  <a:pt x="0" y="2199"/>
                </a:lnTo>
                <a:lnTo>
                  <a:pt x="1970" y="2199"/>
                </a:lnTo>
                <a:lnTo>
                  <a:pt x="87" y="315"/>
                </a:lnTo>
                <a:lnTo>
                  <a:pt x="303" y="99"/>
                </a:lnTo>
                <a:lnTo>
                  <a:pt x="2199" y="1996"/>
                </a:lnTo>
                <a:lnTo>
                  <a:pt x="2199" y="0"/>
                </a:lnTo>
                <a:close/>
              </a:path>
            </a:pathLst>
          </a:custGeom>
          <a:solidFill>
            <a:schemeClr val="bg1">
              <a:lumMod val="75000"/>
            </a:schemeClr>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6" name="Rectangle 3"/>
          <p:cNvSpPr txBox="1">
            <a:spLocks noChangeArrowheads="1"/>
          </p:cNvSpPr>
          <p:nvPr/>
        </p:nvSpPr>
        <p:spPr bwMode="auto">
          <a:xfrm>
            <a:off x="1943989" y="2541722"/>
            <a:ext cx="8569926" cy="1296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4" tIns="45717" rIns="91434" bIns="45717" numCol="1" anchor="ctr" anchorCtr="0" compatLnSpc="1">
            <a:prstTxWarp prst="textNoShape">
              <a:avLst/>
            </a:prstTxWarp>
          </a:bodyPr>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itchFamily="34" charset="0"/>
                <a:ea typeface="微软雅黑" pitchFamily="34" charset="-122"/>
              </a:defRPr>
            </a:lvl2pPr>
            <a:lvl3pPr algn="l" rtl="0" fontAlgn="base">
              <a:spcBef>
                <a:spcPct val="0"/>
              </a:spcBef>
              <a:spcAft>
                <a:spcPct val="0"/>
              </a:spcAft>
              <a:defRPr sz="2400">
                <a:solidFill>
                  <a:schemeClr val="tx2"/>
                </a:solidFill>
                <a:latin typeface="Arial" pitchFamily="34" charset="0"/>
                <a:ea typeface="微软雅黑" pitchFamily="34" charset="-122"/>
              </a:defRPr>
            </a:lvl3pPr>
            <a:lvl4pPr algn="l" rtl="0" fontAlgn="base">
              <a:spcBef>
                <a:spcPct val="0"/>
              </a:spcBef>
              <a:spcAft>
                <a:spcPct val="0"/>
              </a:spcAft>
              <a:defRPr sz="2400">
                <a:solidFill>
                  <a:schemeClr val="tx2"/>
                </a:solidFill>
                <a:latin typeface="Arial" pitchFamily="34" charset="0"/>
                <a:ea typeface="微软雅黑" pitchFamily="34" charset="-122"/>
              </a:defRPr>
            </a:lvl4pPr>
            <a:lvl5pPr algn="l" rtl="0" fontAlgn="base">
              <a:spcBef>
                <a:spcPct val="0"/>
              </a:spcBef>
              <a:spcAft>
                <a:spcPct val="0"/>
              </a:spcAft>
              <a:defRPr sz="2400">
                <a:solidFill>
                  <a:schemeClr val="tx2"/>
                </a:solidFill>
                <a:latin typeface="Arial" pitchFamily="34" charset="0"/>
                <a:ea typeface="微软雅黑" pitchFamily="34" charset="-122"/>
              </a:defRPr>
            </a:lvl5pPr>
            <a:lvl6pPr marL="457200" algn="l" rtl="0" fontAlgn="base">
              <a:spcBef>
                <a:spcPct val="0"/>
              </a:spcBef>
              <a:spcAft>
                <a:spcPct val="0"/>
              </a:spcAft>
              <a:defRPr sz="2400">
                <a:solidFill>
                  <a:schemeClr val="tx2"/>
                </a:solidFill>
                <a:latin typeface="Arial" pitchFamily="34" charset="0"/>
                <a:ea typeface="微软雅黑" pitchFamily="34" charset="-122"/>
              </a:defRPr>
            </a:lvl6pPr>
            <a:lvl7pPr marL="914400" algn="l" rtl="0" fontAlgn="base">
              <a:spcBef>
                <a:spcPct val="0"/>
              </a:spcBef>
              <a:spcAft>
                <a:spcPct val="0"/>
              </a:spcAft>
              <a:defRPr sz="2400">
                <a:solidFill>
                  <a:schemeClr val="tx2"/>
                </a:solidFill>
                <a:latin typeface="Arial" pitchFamily="34" charset="0"/>
                <a:ea typeface="微软雅黑" pitchFamily="34" charset="-122"/>
              </a:defRPr>
            </a:lvl7pPr>
            <a:lvl8pPr marL="1371600" algn="l" rtl="0" fontAlgn="base">
              <a:spcBef>
                <a:spcPct val="0"/>
              </a:spcBef>
              <a:spcAft>
                <a:spcPct val="0"/>
              </a:spcAft>
              <a:defRPr sz="2400">
                <a:solidFill>
                  <a:schemeClr val="tx2"/>
                </a:solidFill>
                <a:latin typeface="Arial" pitchFamily="34" charset="0"/>
                <a:ea typeface="微软雅黑" pitchFamily="34" charset="-122"/>
              </a:defRPr>
            </a:lvl8pPr>
            <a:lvl9pPr marL="1828800" algn="l" rtl="0" fontAlgn="base">
              <a:spcBef>
                <a:spcPct val="0"/>
              </a:spcBef>
              <a:spcAft>
                <a:spcPct val="0"/>
              </a:spcAft>
              <a:defRPr sz="2400">
                <a:solidFill>
                  <a:schemeClr val="tx2"/>
                </a:solidFill>
                <a:latin typeface="Arial" pitchFamily="34" charset="0"/>
                <a:ea typeface="微软雅黑" pitchFamily="34" charset="-122"/>
              </a:defRPr>
            </a:lvl9pPr>
          </a:lstStyle>
          <a:p>
            <a:r>
              <a:rPr lang="zh-CN" altLang="en-US" sz="5400" b="1" dirty="0">
                <a:solidFill>
                  <a:schemeClr val="bg1"/>
                </a:solidFill>
                <a:latin typeface="微软雅黑" panose="020B0503020204020204" pitchFamily="34" charset="-122"/>
                <a:ea typeface="微软雅黑" panose="020B0503020204020204" pitchFamily="34" charset="-122"/>
              </a:rPr>
              <a:t>流水线的相关问题和超流水</a:t>
            </a:r>
            <a:endParaRPr lang="en-US" altLang="zh-CN" sz="5400" b="1" dirty="0">
              <a:solidFill>
                <a:schemeClr val="bg1"/>
              </a:solidFill>
              <a:latin typeface="微软雅黑" panose="020B0503020204020204" pitchFamily="34" charset="-122"/>
              <a:ea typeface="微软雅黑" panose="020B0503020204020204" pitchFamily="34" charset="-122"/>
            </a:endParaRPr>
          </a:p>
        </p:txBody>
      </p:sp>
      <p:sp>
        <p:nvSpPr>
          <p:cNvPr id="7" name="Rectangle 6"/>
          <p:cNvSpPr>
            <a:spLocks noChangeArrowheads="1"/>
          </p:cNvSpPr>
          <p:nvPr/>
        </p:nvSpPr>
        <p:spPr bwMode="auto">
          <a:xfrm>
            <a:off x="6353950" y="5153618"/>
            <a:ext cx="2835079" cy="81520"/>
          </a:xfrm>
          <a:prstGeom prst="rect">
            <a:avLst/>
          </a:prstGeom>
          <a:solidFill>
            <a:srgbClr val="01C0B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8" name="Rectangle 7"/>
          <p:cNvSpPr>
            <a:spLocks noChangeArrowheads="1"/>
          </p:cNvSpPr>
          <p:nvPr/>
        </p:nvSpPr>
        <p:spPr bwMode="auto">
          <a:xfrm>
            <a:off x="7620664" y="5153618"/>
            <a:ext cx="2831571" cy="81520"/>
          </a:xfrm>
          <a:prstGeom prst="rect">
            <a:avLst/>
          </a:prstGeom>
          <a:solidFill>
            <a:srgbClr val="FFC0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9" name="Rectangle 8"/>
          <p:cNvSpPr>
            <a:spLocks noChangeArrowheads="1"/>
          </p:cNvSpPr>
          <p:nvPr/>
        </p:nvSpPr>
        <p:spPr bwMode="auto">
          <a:xfrm>
            <a:off x="8885806" y="5153618"/>
            <a:ext cx="2835079" cy="81520"/>
          </a:xfrm>
          <a:prstGeom prst="rect">
            <a:avLst/>
          </a:prstGeom>
          <a:solidFill>
            <a:srgbClr val="92D05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10" name="Rectangle 9"/>
          <p:cNvSpPr>
            <a:spLocks noChangeArrowheads="1"/>
          </p:cNvSpPr>
          <p:nvPr/>
        </p:nvSpPr>
        <p:spPr bwMode="auto">
          <a:xfrm>
            <a:off x="10152517" y="5153618"/>
            <a:ext cx="2039483" cy="81520"/>
          </a:xfrm>
          <a:prstGeom prst="rect">
            <a:avLst/>
          </a:prstGeom>
          <a:solidFill>
            <a:srgbClr val="FFFF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12" name="Freeform 9"/>
          <p:cNvSpPr>
            <a:spLocks noEditPoints="1"/>
          </p:cNvSpPr>
          <p:nvPr/>
        </p:nvSpPr>
        <p:spPr bwMode="auto">
          <a:xfrm>
            <a:off x="10057335" y="4692974"/>
            <a:ext cx="373115" cy="374683"/>
          </a:xfrm>
          <a:custGeom>
            <a:avLst/>
            <a:gdLst>
              <a:gd name="T0" fmla="*/ 358 w 490"/>
              <a:gd name="T1" fmla="*/ 250 h 490"/>
              <a:gd name="T2" fmla="*/ 358 w 490"/>
              <a:gd name="T3" fmla="*/ 183 h 490"/>
              <a:gd name="T4" fmla="*/ 328 w 490"/>
              <a:gd name="T5" fmla="*/ 183 h 490"/>
              <a:gd name="T6" fmla="*/ 328 w 490"/>
              <a:gd name="T7" fmla="*/ 250 h 490"/>
              <a:gd name="T8" fmla="*/ 247 w 490"/>
              <a:gd name="T9" fmla="*/ 330 h 490"/>
              <a:gd name="T10" fmla="*/ 246 w 490"/>
              <a:gd name="T11" fmla="*/ 330 h 490"/>
              <a:gd name="T12" fmla="*/ 245 w 490"/>
              <a:gd name="T13" fmla="*/ 330 h 490"/>
              <a:gd name="T14" fmla="*/ 245 w 490"/>
              <a:gd name="T15" fmla="*/ 330 h 490"/>
              <a:gd name="T16" fmla="*/ 243 w 490"/>
              <a:gd name="T17" fmla="*/ 330 h 490"/>
              <a:gd name="T18" fmla="*/ 162 w 490"/>
              <a:gd name="T19" fmla="*/ 250 h 490"/>
              <a:gd name="T20" fmla="*/ 162 w 490"/>
              <a:gd name="T21" fmla="*/ 183 h 490"/>
              <a:gd name="T22" fmla="*/ 132 w 490"/>
              <a:gd name="T23" fmla="*/ 183 h 490"/>
              <a:gd name="T24" fmla="*/ 132 w 490"/>
              <a:gd name="T25" fmla="*/ 250 h 490"/>
              <a:gd name="T26" fmla="*/ 227 w 490"/>
              <a:gd name="T27" fmla="*/ 359 h 490"/>
              <a:gd name="T28" fmla="*/ 227 w 490"/>
              <a:gd name="T29" fmla="*/ 407 h 490"/>
              <a:gd name="T30" fmla="*/ 160 w 490"/>
              <a:gd name="T31" fmla="*/ 426 h 490"/>
              <a:gd name="T32" fmla="*/ 331 w 490"/>
              <a:gd name="T33" fmla="*/ 426 h 490"/>
              <a:gd name="T34" fmla="*/ 263 w 490"/>
              <a:gd name="T35" fmla="*/ 407 h 490"/>
              <a:gd name="T36" fmla="*/ 263 w 490"/>
              <a:gd name="T37" fmla="*/ 360 h 490"/>
              <a:gd name="T38" fmla="*/ 358 w 490"/>
              <a:gd name="T39" fmla="*/ 250 h 490"/>
              <a:gd name="T40" fmla="*/ 244 w 490"/>
              <a:gd name="T41" fmla="*/ 302 h 490"/>
              <a:gd name="T42" fmla="*/ 245 w 490"/>
              <a:gd name="T43" fmla="*/ 302 h 490"/>
              <a:gd name="T44" fmla="*/ 246 w 490"/>
              <a:gd name="T45" fmla="*/ 302 h 490"/>
              <a:gd name="T46" fmla="*/ 300 w 490"/>
              <a:gd name="T47" fmla="*/ 248 h 490"/>
              <a:gd name="T48" fmla="*/ 300 w 490"/>
              <a:gd name="T49" fmla="*/ 118 h 490"/>
              <a:gd name="T50" fmla="*/ 246 w 490"/>
              <a:gd name="T51" fmla="*/ 64 h 490"/>
              <a:gd name="T52" fmla="*/ 245 w 490"/>
              <a:gd name="T53" fmla="*/ 64 h 490"/>
              <a:gd name="T54" fmla="*/ 244 w 490"/>
              <a:gd name="T55" fmla="*/ 64 h 490"/>
              <a:gd name="T56" fmla="*/ 190 w 490"/>
              <a:gd name="T57" fmla="*/ 118 h 490"/>
              <a:gd name="T58" fmla="*/ 190 w 490"/>
              <a:gd name="T59" fmla="*/ 248 h 490"/>
              <a:gd name="T60" fmla="*/ 244 w 490"/>
              <a:gd name="T61" fmla="*/ 302 h 490"/>
              <a:gd name="T62" fmla="*/ 245 w 490"/>
              <a:gd name="T63" fmla="*/ 0 h 490"/>
              <a:gd name="T64" fmla="*/ 490 w 490"/>
              <a:gd name="T65" fmla="*/ 245 h 490"/>
              <a:gd name="T66" fmla="*/ 245 w 490"/>
              <a:gd name="T67" fmla="*/ 490 h 490"/>
              <a:gd name="T68" fmla="*/ 0 w 490"/>
              <a:gd name="T69" fmla="*/ 245 h 490"/>
              <a:gd name="T70" fmla="*/ 245 w 490"/>
              <a:gd name="T71" fmla="*/ 0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90" h="490">
                <a:moveTo>
                  <a:pt x="358" y="250"/>
                </a:moveTo>
                <a:lnTo>
                  <a:pt x="358" y="183"/>
                </a:lnTo>
                <a:cubicBezTo>
                  <a:pt x="358" y="165"/>
                  <a:pt x="328" y="164"/>
                  <a:pt x="328" y="183"/>
                </a:cubicBezTo>
                <a:lnTo>
                  <a:pt x="328" y="250"/>
                </a:lnTo>
                <a:cubicBezTo>
                  <a:pt x="328" y="294"/>
                  <a:pt x="292" y="330"/>
                  <a:pt x="247" y="330"/>
                </a:cubicBezTo>
                <a:cubicBezTo>
                  <a:pt x="247" y="330"/>
                  <a:pt x="246" y="330"/>
                  <a:pt x="246" y="330"/>
                </a:cubicBezTo>
                <a:lnTo>
                  <a:pt x="245" y="330"/>
                </a:lnTo>
                <a:lnTo>
                  <a:pt x="245" y="330"/>
                </a:lnTo>
                <a:cubicBezTo>
                  <a:pt x="244" y="330"/>
                  <a:pt x="244" y="330"/>
                  <a:pt x="243" y="330"/>
                </a:cubicBezTo>
                <a:cubicBezTo>
                  <a:pt x="198" y="330"/>
                  <a:pt x="162" y="294"/>
                  <a:pt x="162" y="250"/>
                </a:cubicBezTo>
                <a:lnTo>
                  <a:pt x="162" y="183"/>
                </a:lnTo>
                <a:cubicBezTo>
                  <a:pt x="162" y="165"/>
                  <a:pt x="132" y="164"/>
                  <a:pt x="132" y="183"/>
                </a:cubicBezTo>
                <a:cubicBezTo>
                  <a:pt x="132" y="192"/>
                  <a:pt x="132" y="250"/>
                  <a:pt x="132" y="250"/>
                </a:cubicBezTo>
                <a:cubicBezTo>
                  <a:pt x="132" y="306"/>
                  <a:pt x="173" y="352"/>
                  <a:pt x="227" y="359"/>
                </a:cubicBezTo>
                <a:lnTo>
                  <a:pt x="227" y="407"/>
                </a:lnTo>
                <a:lnTo>
                  <a:pt x="160" y="426"/>
                </a:lnTo>
                <a:lnTo>
                  <a:pt x="331" y="426"/>
                </a:lnTo>
                <a:lnTo>
                  <a:pt x="263" y="407"/>
                </a:lnTo>
                <a:lnTo>
                  <a:pt x="263" y="360"/>
                </a:lnTo>
                <a:cubicBezTo>
                  <a:pt x="317" y="352"/>
                  <a:pt x="358" y="306"/>
                  <a:pt x="358" y="250"/>
                </a:cubicBezTo>
                <a:close/>
                <a:moveTo>
                  <a:pt x="244" y="302"/>
                </a:moveTo>
                <a:cubicBezTo>
                  <a:pt x="244" y="302"/>
                  <a:pt x="245" y="302"/>
                  <a:pt x="245" y="302"/>
                </a:cubicBezTo>
                <a:cubicBezTo>
                  <a:pt x="245" y="302"/>
                  <a:pt x="246" y="302"/>
                  <a:pt x="246" y="302"/>
                </a:cubicBezTo>
                <a:cubicBezTo>
                  <a:pt x="276" y="302"/>
                  <a:pt x="300" y="278"/>
                  <a:pt x="300" y="248"/>
                </a:cubicBezTo>
                <a:lnTo>
                  <a:pt x="300" y="118"/>
                </a:lnTo>
                <a:cubicBezTo>
                  <a:pt x="300" y="88"/>
                  <a:pt x="276" y="64"/>
                  <a:pt x="246" y="64"/>
                </a:cubicBezTo>
                <a:cubicBezTo>
                  <a:pt x="246" y="64"/>
                  <a:pt x="245" y="64"/>
                  <a:pt x="245" y="64"/>
                </a:cubicBezTo>
                <a:cubicBezTo>
                  <a:pt x="245" y="64"/>
                  <a:pt x="244" y="64"/>
                  <a:pt x="244" y="64"/>
                </a:cubicBezTo>
                <a:cubicBezTo>
                  <a:pt x="214" y="64"/>
                  <a:pt x="190" y="88"/>
                  <a:pt x="190" y="118"/>
                </a:cubicBezTo>
                <a:lnTo>
                  <a:pt x="190" y="248"/>
                </a:lnTo>
                <a:cubicBezTo>
                  <a:pt x="190" y="278"/>
                  <a:pt x="214" y="302"/>
                  <a:pt x="244" y="302"/>
                </a:cubicBezTo>
                <a:close/>
                <a:moveTo>
                  <a:pt x="245" y="0"/>
                </a:moveTo>
                <a:cubicBezTo>
                  <a:pt x="381" y="0"/>
                  <a:pt x="490" y="110"/>
                  <a:pt x="490" y="245"/>
                </a:cubicBezTo>
                <a:cubicBezTo>
                  <a:pt x="490" y="381"/>
                  <a:pt x="381" y="490"/>
                  <a:pt x="245" y="490"/>
                </a:cubicBezTo>
                <a:cubicBezTo>
                  <a:pt x="110" y="490"/>
                  <a:pt x="0" y="381"/>
                  <a:pt x="0" y="245"/>
                </a:cubicBezTo>
                <a:cubicBezTo>
                  <a:pt x="0" y="110"/>
                  <a:pt x="110" y="0"/>
                  <a:pt x="245" y="0"/>
                </a:cubicBezTo>
                <a:close/>
              </a:path>
            </a:pathLst>
          </a:custGeom>
          <a:solidFill>
            <a:schemeClr val="bg1"/>
          </a:solidFill>
          <a:ln>
            <a:noFill/>
          </a:ln>
          <a:extLst/>
        </p:spPr>
        <p:txBody>
          <a:bodyPr vert="horz" wrap="square" lIns="91434" tIns="45717" rIns="91434" bIns="45717" numCol="1" anchor="t" anchorCtr="0" compatLnSpc="1">
            <a:prstTxWarp prst="textNoShape">
              <a:avLst/>
            </a:prstTxWarp>
          </a:bodyPr>
          <a:lstStyle/>
          <a:p>
            <a:endParaRPr lang="zh-CN" altLang="en-US">
              <a:solidFill>
                <a:srgbClr val="484849"/>
              </a:solidFill>
            </a:endParaRPr>
          </a:p>
        </p:txBody>
      </p:sp>
      <p:sp>
        <p:nvSpPr>
          <p:cNvPr id="13" name="Rectangle 4"/>
          <p:cNvSpPr txBox="1">
            <a:spLocks noChangeArrowheads="1"/>
          </p:cNvSpPr>
          <p:nvPr/>
        </p:nvSpPr>
        <p:spPr bwMode="auto">
          <a:xfrm>
            <a:off x="10466453" y="4703232"/>
            <a:ext cx="1899476" cy="3539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4" tIns="45717" rIns="91434" bIns="45717" rtlCol="0">
            <a:spAutoFit/>
          </a:bodyPr>
          <a:lstStyle>
            <a:defPPr>
              <a:defRPr lang="zh-CN"/>
            </a:defPPr>
            <a:lvl1pPr>
              <a:defRPr sz="2400" b="1">
                <a:latin typeface="+mj-ea"/>
                <a:ea typeface="+mj-ea"/>
              </a:defRPr>
            </a:lvl1pPr>
          </a:lstStyle>
          <a:p>
            <a:r>
              <a:rPr lang="zh-CN" altLang="en-US" sz="1700" dirty="0">
                <a:solidFill>
                  <a:schemeClr val="bg1"/>
                </a:solidFill>
              </a:rPr>
              <a:t>汇报人：代用名</a:t>
            </a:r>
          </a:p>
        </p:txBody>
      </p:sp>
      <p:sp>
        <p:nvSpPr>
          <p:cNvPr id="14" name="Freeform 10"/>
          <p:cNvSpPr>
            <a:spLocks noChangeAspect="1" noEditPoints="1"/>
          </p:cNvSpPr>
          <p:nvPr/>
        </p:nvSpPr>
        <p:spPr bwMode="auto">
          <a:xfrm>
            <a:off x="6417691" y="4693112"/>
            <a:ext cx="372836" cy="374400"/>
          </a:xfrm>
          <a:custGeom>
            <a:avLst/>
            <a:gdLst>
              <a:gd name="T0" fmla="*/ 245 w 490"/>
              <a:gd name="T1" fmla="*/ 0 h 490"/>
              <a:gd name="T2" fmla="*/ 490 w 490"/>
              <a:gd name="T3" fmla="*/ 245 h 490"/>
              <a:gd name="T4" fmla="*/ 245 w 490"/>
              <a:gd name="T5" fmla="*/ 490 h 490"/>
              <a:gd name="T6" fmla="*/ 0 w 490"/>
              <a:gd name="T7" fmla="*/ 245 h 490"/>
              <a:gd name="T8" fmla="*/ 245 w 490"/>
              <a:gd name="T9" fmla="*/ 0 h 490"/>
              <a:gd name="T10" fmla="*/ 436 w 490"/>
              <a:gd name="T11" fmla="*/ 250 h 490"/>
              <a:gd name="T12" fmla="*/ 427 w 490"/>
              <a:gd name="T13" fmla="*/ 256 h 490"/>
              <a:gd name="T14" fmla="*/ 394 w 490"/>
              <a:gd name="T15" fmla="*/ 256 h 490"/>
              <a:gd name="T16" fmla="*/ 386 w 490"/>
              <a:gd name="T17" fmla="*/ 253 h 490"/>
              <a:gd name="T18" fmla="*/ 245 w 490"/>
              <a:gd name="T19" fmla="*/ 105 h 490"/>
              <a:gd name="T20" fmla="*/ 104 w 490"/>
              <a:gd name="T21" fmla="*/ 253 h 490"/>
              <a:gd name="T22" fmla="*/ 96 w 490"/>
              <a:gd name="T23" fmla="*/ 256 h 490"/>
              <a:gd name="T24" fmla="*/ 63 w 490"/>
              <a:gd name="T25" fmla="*/ 256 h 490"/>
              <a:gd name="T26" fmla="*/ 54 w 490"/>
              <a:gd name="T27" fmla="*/ 250 h 490"/>
              <a:gd name="T28" fmla="*/ 56 w 490"/>
              <a:gd name="T29" fmla="*/ 239 h 490"/>
              <a:gd name="T30" fmla="*/ 236 w 490"/>
              <a:gd name="T31" fmla="*/ 52 h 490"/>
              <a:gd name="T32" fmla="*/ 245 w 490"/>
              <a:gd name="T33" fmla="*/ 48 h 490"/>
              <a:gd name="T34" fmla="*/ 254 w 490"/>
              <a:gd name="T35" fmla="*/ 52 h 490"/>
              <a:gd name="T36" fmla="*/ 434 w 490"/>
              <a:gd name="T37" fmla="*/ 239 h 490"/>
              <a:gd name="T38" fmla="*/ 436 w 490"/>
              <a:gd name="T39" fmla="*/ 250 h 490"/>
              <a:gd name="T40" fmla="*/ 113 w 490"/>
              <a:gd name="T41" fmla="*/ 267 h 490"/>
              <a:gd name="T42" fmla="*/ 113 w 490"/>
              <a:gd name="T43" fmla="*/ 267 h 490"/>
              <a:gd name="T44" fmla="*/ 113 w 490"/>
              <a:gd name="T45" fmla="*/ 379 h 490"/>
              <a:gd name="T46" fmla="*/ 129 w 490"/>
              <a:gd name="T47" fmla="*/ 398 h 490"/>
              <a:gd name="T48" fmla="*/ 202 w 490"/>
              <a:gd name="T49" fmla="*/ 398 h 490"/>
              <a:gd name="T50" fmla="*/ 202 w 490"/>
              <a:gd name="T51" fmla="*/ 276 h 490"/>
              <a:gd name="T52" fmla="*/ 221 w 490"/>
              <a:gd name="T53" fmla="*/ 257 h 490"/>
              <a:gd name="T54" fmla="*/ 269 w 490"/>
              <a:gd name="T55" fmla="*/ 257 h 490"/>
              <a:gd name="T56" fmla="*/ 288 w 490"/>
              <a:gd name="T57" fmla="*/ 276 h 490"/>
              <a:gd name="T58" fmla="*/ 288 w 490"/>
              <a:gd name="T59" fmla="*/ 398 h 490"/>
              <a:gd name="T60" fmla="*/ 361 w 490"/>
              <a:gd name="T61" fmla="*/ 398 h 490"/>
              <a:gd name="T62" fmla="*/ 377 w 490"/>
              <a:gd name="T63" fmla="*/ 379 h 490"/>
              <a:gd name="T64" fmla="*/ 377 w 490"/>
              <a:gd name="T65" fmla="*/ 268 h 490"/>
              <a:gd name="T66" fmla="*/ 245 w 490"/>
              <a:gd name="T67" fmla="*/ 130 h 490"/>
              <a:gd name="T68" fmla="*/ 113 w 490"/>
              <a:gd name="T69" fmla="*/ 267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90" h="490">
                <a:moveTo>
                  <a:pt x="245" y="0"/>
                </a:moveTo>
                <a:cubicBezTo>
                  <a:pt x="380" y="0"/>
                  <a:pt x="490" y="110"/>
                  <a:pt x="490" y="245"/>
                </a:cubicBezTo>
                <a:cubicBezTo>
                  <a:pt x="490" y="381"/>
                  <a:pt x="380" y="490"/>
                  <a:pt x="245" y="490"/>
                </a:cubicBezTo>
                <a:cubicBezTo>
                  <a:pt x="110" y="490"/>
                  <a:pt x="0" y="381"/>
                  <a:pt x="0" y="245"/>
                </a:cubicBezTo>
                <a:cubicBezTo>
                  <a:pt x="0" y="110"/>
                  <a:pt x="110" y="0"/>
                  <a:pt x="245" y="0"/>
                </a:cubicBezTo>
                <a:close/>
                <a:moveTo>
                  <a:pt x="436" y="250"/>
                </a:moveTo>
                <a:cubicBezTo>
                  <a:pt x="435" y="254"/>
                  <a:pt x="431" y="256"/>
                  <a:pt x="427" y="256"/>
                </a:cubicBezTo>
                <a:lnTo>
                  <a:pt x="394" y="256"/>
                </a:lnTo>
                <a:cubicBezTo>
                  <a:pt x="391" y="256"/>
                  <a:pt x="388" y="255"/>
                  <a:pt x="386" y="253"/>
                </a:cubicBezTo>
                <a:lnTo>
                  <a:pt x="245" y="105"/>
                </a:lnTo>
                <a:lnTo>
                  <a:pt x="104" y="253"/>
                </a:lnTo>
                <a:cubicBezTo>
                  <a:pt x="102" y="255"/>
                  <a:pt x="99" y="256"/>
                  <a:pt x="96" y="256"/>
                </a:cubicBezTo>
                <a:lnTo>
                  <a:pt x="63" y="256"/>
                </a:lnTo>
                <a:cubicBezTo>
                  <a:pt x="59" y="256"/>
                  <a:pt x="55" y="254"/>
                  <a:pt x="54" y="250"/>
                </a:cubicBezTo>
                <a:cubicBezTo>
                  <a:pt x="52" y="246"/>
                  <a:pt x="53" y="242"/>
                  <a:pt x="56" y="239"/>
                </a:cubicBezTo>
                <a:lnTo>
                  <a:pt x="236" y="52"/>
                </a:lnTo>
                <a:cubicBezTo>
                  <a:pt x="238" y="49"/>
                  <a:pt x="242" y="48"/>
                  <a:pt x="245" y="48"/>
                </a:cubicBezTo>
                <a:cubicBezTo>
                  <a:pt x="248" y="48"/>
                  <a:pt x="252" y="49"/>
                  <a:pt x="254" y="52"/>
                </a:cubicBezTo>
                <a:lnTo>
                  <a:pt x="434" y="239"/>
                </a:lnTo>
                <a:cubicBezTo>
                  <a:pt x="437" y="242"/>
                  <a:pt x="438" y="246"/>
                  <a:pt x="436" y="250"/>
                </a:cubicBezTo>
                <a:close/>
                <a:moveTo>
                  <a:pt x="113" y="267"/>
                </a:moveTo>
                <a:lnTo>
                  <a:pt x="113" y="267"/>
                </a:lnTo>
                <a:lnTo>
                  <a:pt x="113" y="379"/>
                </a:lnTo>
                <a:cubicBezTo>
                  <a:pt x="113" y="389"/>
                  <a:pt x="120" y="398"/>
                  <a:pt x="129" y="398"/>
                </a:cubicBezTo>
                <a:lnTo>
                  <a:pt x="202" y="398"/>
                </a:lnTo>
                <a:lnTo>
                  <a:pt x="202" y="276"/>
                </a:lnTo>
                <a:cubicBezTo>
                  <a:pt x="202" y="266"/>
                  <a:pt x="211" y="257"/>
                  <a:pt x="221" y="257"/>
                </a:cubicBezTo>
                <a:lnTo>
                  <a:pt x="269" y="257"/>
                </a:lnTo>
                <a:cubicBezTo>
                  <a:pt x="279" y="257"/>
                  <a:pt x="288" y="266"/>
                  <a:pt x="288" y="276"/>
                </a:cubicBezTo>
                <a:lnTo>
                  <a:pt x="288" y="398"/>
                </a:lnTo>
                <a:lnTo>
                  <a:pt x="361" y="398"/>
                </a:lnTo>
                <a:cubicBezTo>
                  <a:pt x="370" y="398"/>
                  <a:pt x="377" y="389"/>
                  <a:pt x="377" y="379"/>
                </a:cubicBezTo>
                <a:lnTo>
                  <a:pt x="377" y="268"/>
                </a:lnTo>
                <a:lnTo>
                  <a:pt x="245" y="130"/>
                </a:lnTo>
                <a:lnTo>
                  <a:pt x="113" y="267"/>
                </a:lnTo>
                <a:close/>
              </a:path>
            </a:pathLst>
          </a:custGeom>
          <a:solidFill>
            <a:schemeClr val="bg1"/>
          </a:solidFill>
          <a:ln>
            <a:noFill/>
          </a:ln>
          <a:extLst/>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grpSp>
        <p:nvGrpSpPr>
          <p:cNvPr id="15" name="组合 14"/>
          <p:cNvGrpSpPr/>
          <p:nvPr/>
        </p:nvGrpSpPr>
        <p:grpSpPr>
          <a:xfrm>
            <a:off x="262818" y="198604"/>
            <a:ext cx="473877" cy="484825"/>
            <a:chOff x="702608" y="-1899592"/>
            <a:chExt cx="1054013" cy="1078364"/>
          </a:xfrm>
        </p:grpSpPr>
        <p:sp>
          <p:nvSpPr>
            <p:cNvPr id="16" name="Oval 5"/>
            <p:cNvSpPr>
              <a:spLocks noChangeArrowheads="1"/>
            </p:cNvSpPr>
            <p:nvPr/>
          </p:nvSpPr>
          <p:spPr bwMode="auto">
            <a:xfrm>
              <a:off x="702608" y="-1899592"/>
              <a:ext cx="1054013" cy="1078364"/>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7" name="Freeform 9"/>
            <p:cNvSpPr>
              <a:spLocks noEditPoints="1"/>
            </p:cNvSpPr>
            <p:nvPr/>
          </p:nvSpPr>
          <p:spPr bwMode="auto">
            <a:xfrm>
              <a:off x="904366" y="-1555211"/>
              <a:ext cx="650496" cy="445260"/>
            </a:xfrm>
            <a:custGeom>
              <a:avLst/>
              <a:gdLst>
                <a:gd name="T0" fmla="*/ 380 w 394"/>
                <a:gd name="T1" fmla="*/ 19 h 263"/>
                <a:gd name="T2" fmla="*/ 380 w 394"/>
                <a:gd name="T3" fmla="*/ 216 h 263"/>
                <a:gd name="T4" fmla="*/ 374 w 394"/>
                <a:gd name="T5" fmla="*/ 216 h 263"/>
                <a:gd name="T6" fmla="*/ 362 w 394"/>
                <a:gd name="T7" fmla="*/ 215 h 263"/>
                <a:gd name="T8" fmla="*/ 199 w 394"/>
                <a:gd name="T9" fmla="*/ 256 h 263"/>
                <a:gd name="T10" fmla="*/ 197 w 394"/>
                <a:gd name="T11" fmla="*/ 257 h 263"/>
                <a:gd name="T12" fmla="*/ 195 w 394"/>
                <a:gd name="T13" fmla="*/ 256 h 263"/>
                <a:gd name="T14" fmla="*/ 33 w 394"/>
                <a:gd name="T15" fmla="*/ 215 h 263"/>
                <a:gd name="T16" fmla="*/ 20 w 394"/>
                <a:gd name="T17" fmla="*/ 216 h 263"/>
                <a:gd name="T18" fmla="*/ 14 w 394"/>
                <a:gd name="T19" fmla="*/ 216 h 263"/>
                <a:gd name="T20" fmla="*/ 14 w 394"/>
                <a:gd name="T21" fmla="*/ 19 h 263"/>
                <a:gd name="T22" fmla="*/ 0 w 394"/>
                <a:gd name="T23" fmla="*/ 19 h 263"/>
                <a:gd name="T24" fmla="*/ 0 w 394"/>
                <a:gd name="T25" fmla="*/ 223 h 263"/>
                <a:gd name="T26" fmla="*/ 197 w 394"/>
                <a:gd name="T27" fmla="*/ 263 h 263"/>
                <a:gd name="T28" fmla="*/ 394 w 394"/>
                <a:gd name="T29" fmla="*/ 223 h 263"/>
                <a:gd name="T30" fmla="*/ 394 w 394"/>
                <a:gd name="T31" fmla="*/ 19 h 263"/>
                <a:gd name="T32" fmla="*/ 380 w 394"/>
                <a:gd name="T33" fmla="*/ 19 h 263"/>
                <a:gd name="T34" fmla="*/ 191 w 394"/>
                <a:gd name="T35" fmla="*/ 223 h 263"/>
                <a:gd name="T36" fmla="*/ 191 w 394"/>
                <a:gd name="T37" fmla="*/ 44 h 263"/>
                <a:gd name="T38" fmla="*/ 54 w 394"/>
                <a:gd name="T39" fmla="*/ 2 h 263"/>
                <a:gd name="T40" fmla="*/ 54 w 394"/>
                <a:gd name="T41" fmla="*/ 188 h 263"/>
                <a:gd name="T42" fmla="*/ 59 w 394"/>
                <a:gd name="T43" fmla="*/ 188 h 263"/>
                <a:gd name="T44" fmla="*/ 191 w 394"/>
                <a:gd name="T45" fmla="*/ 223 h 263"/>
                <a:gd name="T46" fmla="*/ 340 w 394"/>
                <a:gd name="T47" fmla="*/ 188 h 263"/>
                <a:gd name="T48" fmla="*/ 340 w 394"/>
                <a:gd name="T49" fmla="*/ 2 h 263"/>
                <a:gd name="T50" fmla="*/ 204 w 394"/>
                <a:gd name="T51" fmla="*/ 44 h 263"/>
                <a:gd name="T52" fmla="*/ 204 w 394"/>
                <a:gd name="T53" fmla="*/ 223 h 263"/>
                <a:gd name="T54" fmla="*/ 335 w 394"/>
                <a:gd name="T55" fmla="*/ 188 h 263"/>
                <a:gd name="T56" fmla="*/ 340 w 394"/>
                <a:gd name="T57" fmla="*/ 188 h 263"/>
                <a:gd name="T58" fmla="*/ 197 w 394"/>
                <a:gd name="T59" fmla="*/ 252 h 263"/>
                <a:gd name="T60" fmla="*/ 371 w 394"/>
                <a:gd name="T61" fmla="*/ 211 h 263"/>
                <a:gd name="T62" fmla="*/ 371 w 394"/>
                <a:gd name="T63" fmla="*/ 4 h 263"/>
                <a:gd name="T64" fmla="*/ 350 w 394"/>
                <a:gd name="T65" fmla="*/ 4 h 263"/>
                <a:gd name="T66" fmla="*/ 350 w 394"/>
                <a:gd name="T67" fmla="*/ 198 h 263"/>
                <a:gd name="T68" fmla="*/ 344 w 394"/>
                <a:gd name="T69" fmla="*/ 197 h 263"/>
                <a:gd name="T70" fmla="*/ 334 w 394"/>
                <a:gd name="T71" fmla="*/ 197 h 263"/>
                <a:gd name="T72" fmla="*/ 201 w 394"/>
                <a:gd name="T73" fmla="*/ 235 h 263"/>
                <a:gd name="T74" fmla="*/ 197 w 394"/>
                <a:gd name="T75" fmla="*/ 237 h 263"/>
                <a:gd name="T76" fmla="*/ 194 w 394"/>
                <a:gd name="T77" fmla="*/ 235 h 263"/>
                <a:gd name="T78" fmla="*/ 60 w 394"/>
                <a:gd name="T79" fmla="*/ 197 h 263"/>
                <a:gd name="T80" fmla="*/ 50 w 394"/>
                <a:gd name="T81" fmla="*/ 197 h 263"/>
                <a:gd name="T82" fmla="*/ 45 w 394"/>
                <a:gd name="T83" fmla="*/ 198 h 263"/>
                <a:gd name="T84" fmla="*/ 45 w 394"/>
                <a:gd name="T85" fmla="*/ 4 h 263"/>
                <a:gd name="T86" fmla="*/ 24 w 394"/>
                <a:gd name="T87" fmla="*/ 4 h 263"/>
                <a:gd name="T88" fmla="*/ 24 w 394"/>
                <a:gd name="T89" fmla="*/ 211 h 263"/>
                <a:gd name="T90" fmla="*/ 197 w 394"/>
                <a:gd name="T91" fmla="*/ 252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4" h="263">
                  <a:moveTo>
                    <a:pt x="380" y="19"/>
                  </a:moveTo>
                  <a:lnTo>
                    <a:pt x="380" y="216"/>
                  </a:lnTo>
                  <a:lnTo>
                    <a:pt x="374" y="216"/>
                  </a:lnTo>
                  <a:cubicBezTo>
                    <a:pt x="370" y="215"/>
                    <a:pt x="366" y="215"/>
                    <a:pt x="362" y="215"/>
                  </a:cubicBezTo>
                  <a:cubicBezTo>
                    <a:pt x="307" y="215"/>
                    <a:pt x="250" y="230"/>
                    <a:pt x="199" y="256"/>
                  </a:cubicBezTo>
                  <a:lnTo>
                    <a:pt x="197" y="257"/>
                  </a:lnTo>
                  <a:lnTo>
                    <a:pt x="195" y="256"/>
                  </a:lnTo>
                  <a:cubicBezTo>
                    <a:pt x="145" y="230"/>
                    <a:pt x="87" y="215"/>
                    <a:pt x="33" y="215"/>
                  </a:cubicBezTo>
                  <a:cubicBezTo>
                    <a:pt x="28" y="215"/>
                    <a:pt x="24" y="215"/>
                    <a:pt x="20" y="216"/>
                  </a:cubicBezTo>
                  <a:lnTo>
                    <a:pt x="14" y="216"/>
                  </a:lnTo>
                  <a:lnTo>
                    <a:pt x="14" y="19"/>
                  </a:lnTo>
                  <a:cubicBezTo>
                    <a:pt x="10" y="19"/>
                    <a:pt x="5" y="19"/>
                    <a:pt x="0" y="19"/>
                  </a:cubicBezTo>
                  <a:lnTo>
                    <a:pt x="0" y="223"/>
                  </a:lnTo>
                  <a:cubicBezTo>
                    <a:pt x="66" y="222"/>
                    <a:pt x="136" y="236"/>
                    <a:pt x="197" y="263"/>
                  </a:cubicBezTo>
                  <a:cubicBezTo>
                    <a:pt x="259" y="236"/>
                    <a:pt x="328" y="222"/>
                    <a:pt x="394" y="223"/>
                  </a:cubicBezTo>
                  <a:lnTo>
                    <a:pt x="394" y="19"/>
                  </a:lnTo>
                  <a:cubicBezTo>
                    <a:pt x="389" y="19"/>
                    <a:pt x="385" y="19"/>
                    <a:pt x="380" y="19"/>
                  </a:cubicBezTo>
                  <a:close/>
                  <a:moveTo>
                    <a:pt x="191" y="223"/>
                  </a:moveTo>
                  <a:lnTo>
                    <a:pt x="191" y="44"/>
                  </a:lnTo>
                  <a:cubicBezTo>
                    <a:pt x="148" y="16"/>
                    <a:pt x="100" y="0"/>
                    <a:pt x="54" y="2"/>
                  </a:cubicBezTo>
                  <a:lnTo>
                    <a:pt x="54" y="188"/>
                  </a:lnTo>
                  <a:cubicBezTo>
                    <a:pt x="56" y="188"/>
                    <a:pt x="58" y="188"/>
                    <a:pt x="59" y="188"/>
                  </a:cubicBezTo>
                  <a:cubicBezTo>
                    <a:pt x="103" y="188"/>
                    <a:pt x="150" y="200"/>
                    <a:pt x="191" y="223"/>
                  </a:cubicBezTo>
                  <a:close/>
                  <a:moveTo>
                    <a:pt x="340" y="188"/>
                  </a:moveTo>
                  <a:lnTo>
                    <a:pt x="340" y="2"/>
                  </a:lnTo>
                  <a:cubicBezTo>
                    <a:pt x="295" y="0"/>
                    <a:pt x="246" y="16"/>
                    <a:pt x="204" y="44"/>
                  </a:cubicBezTo>
                  <a:lnTo>
                    <a:pt x="204" y="223"/>
                  </a:lnTo>
                  <a:cubicBezTo>
                    <a:pt x="245" y="200"/>
                    <a:pt x="291" y="188"/>
                    <a:pt x="335" y="188"/>
                  </a:cubicBezTo>
                  <a:cubicBezTo>
                    <a:pt x="337" y="188"/>
                    <a:pt x="339" y="188"/>
                    <a:pt x="340" y="188"/>
                  </a:cubicBezTo>
                  <a:close/>
                  <a:moveTo>
                    <a:pt x="197" y="252"/>
                  </a:moveTo>
                  <a:cubicBezTo>
                    <a:pt x="253" y="222"/>
                    <a:pt x="315" y="209"/>
                    <a:pt x="371" y="211"/>
                  </a:cubicBezTo>
                  <a:lnTo>
                    <a:pt x="371" y="4"/>
                  </a:lnTo>
                  <a:cubicBezTo>
                    <a:pt x="364" y="4"/>
                    <a:pt x="357" y="4"/>
                    <a:pt x="350" y="4"/>
                  </a:cubicBezTo>
                  <a:lnTo>
                    <a:pt x="350" y="198"/>
                  </a:lnTo>
                  <a:lnTo>
                    <a:pt x="344" y="197"/>
                  </a:lnTo>
                  <a:cubicBezTo>
                    <a:pt x="341" y="197"/>
                    <a:pt x="337" y="197"/>
                    <a:pt x="334" y="197"/>
                  </a:cubicBezTo>
                  <a:cubicBezTo>
                    <a:pt x="289" y="197"/>
                    <a:pt x="242" y="211"/>
                    <a:pt x="201" y="235"/>
                  </a:cubicBezTo>
                  <a:lnTo>
                    <a:pt x="197" y="237"/>
                  </a:lnTo>
                  <a:lnTo>
                    <a:pt x="194" y="235"/>
                  </a:lnTo>
                  <a:cubicBezTo>
                    <a:pt x="153" y="211"/>
                    <a:pt x="105" y="197"/>
                    <a:pt x="60" y="197"/>
                  </a:cubicBezTo>
                  <a:cubicBezTo>
                    <a:pt x="57" y="197"/>
                    <a:pt x="54" y="197"/>
                    <a:pt x="50" y="197"/>
                  </a:cubicBezTo>
                  <a:lnTo>
                    <a:pt x="45" y="198"/>
                  </a:lnTo>
                  <a:lnTo>
                    <a:pt x="45" y="4"/>
                  </a:lnTo>
                  <a:cubicBezTo>
                    <a:pt x="38" y="4"/>
                    <a:pt x="31" y="4"/>
                    <a:pt x="24" y="4"/>
                  </a:cubicBezTo>
                  <a:lnTo>
                    <a:pt x="24" y="211"/>
                  </a:lnTo>
                  <a:cubicBezTo>
                    <a:pt x="79" y="209"/>
                    <a:pt x="142" y="222"/>
                    <a:pt x="197" y="25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8" name="组合 17"/>
          <p:cNvGrpSpPr/>
          <p:nvPr/>
        </p:nvGrpSpPr>
        <p:grpSpPr>
          <a:xfrm>
            <a:off x="868029" y="198604"/>
            <a:ext cx="472312" cy="484825"/>
            <a:chOff x="2014036" y="-1899592"/>
            <a:chExt cx="1050534" cy="1078364"/>
          </a:xfrm>
        </p:grpSpPr>
        <p:sp>
          <p:nvSpPr>
            <p:cNvPr id="19" name="Oval 6"/>
            <p:cNvSpPr>
              <a:spLocks noChangeArrowheads="1"/>
            </p:cNvSpPr>
            <p:nvPr/>
          </p:nvSpPr>
          <p:spPr bwMode="auto">
            <a:xfrm>
              <a:off x="2014036" y="-1899592"/>
              <a:ext cx="1050534" cy="1078364"/>
            </a:xfrm>
            <a:prstGeom prst="ellipse">
              <a:avLst/>
            </a:prstGeom>
            <a:solidFill>
              <a:srgbClr val="92D05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0" name="Freeform 10"/>
            <p:cNvSpPr>
              <a:spLocks noEditPoints="1"/>
            </p:cNvSpPr>
            <p:nvPr/>
          </p:nvSpPr>
          <p:spPr bwMode="auto">
            <a:xfrm>
              <a:off x="2313195" y="-1670005"/>
              <a:ext cx="553096" cy="640061"/>
            </a:xfrm>
            <a:custGeom>
              <a:avLst/>
              <a:gdLst>
                <a:gd name="T0" fmla="*/ 214 w 336"/>
                <a:gd name="T1" fmla="*/ 48 h 380"/>
                <a:gd name="T2" fmla="*/ 167 w 336"/>
                <a:gd name="T3" fmla="*/ 95 h 380"/>
                <a:gd name="T4" fmla="*/ 119 w 336"/>
                <a:gd name="T5" fmla="*/ 95 h 380"/>
                <a:gd name="T6" fmla="*/ 72 w 336"/>
                <a:gd name="T7" fmla="*/ 48 h 380"/>
                <a:gd name="T8" fmla="*/ 119 w 336"/>
                <a:gd name="T9" fmla="*/ 0 h 380"/>
                <a:gd name="T10" fmla="*/ 167 w 336"/>
                <a:gd name="T11" fmla="*/ 0 h 380"/>
                <a:gd name="T12" fmla="*/ 214 w 336"/>
                <a:gd name="T13" fmla="*/ 48 h 380"/>
                <a:gd name="T14" fmla="*/ 237 w 336"/>
                <a:gd name="T15" fmla="*/ 48 h 380"/>
                <a:gd name="T16" fmla="*/ 238 w 336"/>
                <a:gd name="T17" fmla="*/ 59 h 380"/>
                <a:gd name="T18" fmla="*/ 179 w 336"/>
                <a:gd name="T19" fmla="*/ 118 h 380"/>
                <a:gd name="T20" fmla="*/ 107 w 336"/>
                <a:gd name="T21" fmla="*/ 118 h 380"/>
                <a:gd name="T22" fmla="*/ 48 w 336"/>
                <a:gd name="T23" fmla="*/ 59 h 380"/>
                <a:gd name="T24" fmla="*/ 49 w 336"/>
                <a:gd name="T25" fmla="*/ 48 h 380"/>
                <a:gd name="T26" fmla="*/ 0 w 336"/>
                <a:gd name="T27" fmla="*/ 106 h 380"/>
                <a:gd name="T28" fmla="*/ 0 w 336"/>
                <a:gd name="T29" fmla="*/ 320 h 380"/>
                <a:gd name="T30" fmla="*/ 60 w 336"/>
                <a:gd name="T31" fmla="*/ 380 h 380"/>
                <a:gd name="T32" fmla="*/ 218 w 336"/>
                <a:gd name="T33" fmla="*/ 380 h 380"/>
                <a:gd name="T34" fmla="*/ 153 w 336"/>
                <a:gd name="T35" fmla="*/ 282 h 380"/>
                <a:gd name="T36" fmla="*/ 260 w 336"/>
                <a:gd name="T37" fmla="*/ 176 h 380"/>
                <a:gd name="T38" fmla="*/ 286 w 336"/>
                <a:gd name="T39" fmla="*/ 179 h 380"/>
                <a:gd name="T40" fmla="*/ 286 w 336"/>
                <a:gd name="T41" fmla="*/ 106 h 380"/>
                <a:gd name="T42" fmla="*/ 237 w 336"/>
                <a:gd name="T43" fmla="*/ 48 h 380"/>
                <a:gd name="T44" fmla="*/ 134 w 336"/>
                <a:gd name="T45" fmla="*/ 238 h 380"/>
                <a:gd name="T46" fmla="*/ 134 w 336"/>
                <a:gd name="T47" fmla="*/ 238 h 380"/>
                <a:gd name="T48" fmla="*/ 60 w 336"/>
                <a:gd name="T49" fmla="*/ 238 h 380"/>
                <a:gd name="T50" fmla="*/ 48 w 336"/>
                <a:gd name="T51" fmla="*/ 226 h 380"/>
                <a:gd name="T52" fmla="*/ 60 w 336"/>
                <a:gd name="T53" fmla="*/ 214 h 380"/>
                <a:gd name="T54" fmla="*/ 134 w 336"/>
                <a:gd name="T55" fmla="*/ 214 h 380"/>
                <a:gd name="T56" fmla="*/ 146 w 336"/>
                <a:gd name="T57" fmla="*/ 226 h 380"/>
                <a:gd name="T58" fmla="*/ 134 w 336"/>
                <a:gd name="T59" fmla="*/ 238 h 380"/>
                <a:gd name="T60" fmla="*/ 158 w 336"/>
                <a:gd name="T61" fmla="*/ 190 h 380"/>
                <a:gd name="T62" fmla="*/ 158 w 336"/>
                <a:gd name="T63" fmla="*/ 190 h 380"/>
                <a:gd name="T64" fmla="*/ 60 w 336"/>
                <a:gd name="T65" fmla="*/ 190 h 380"/>
                <a:gd name="T66" fmla="*/ 48 w 336"/>
                <a:gd name="T67" fmla="*/ 178 h 380"/>
                <a:gd name="T68" fmla="*/ 60 w 336"/>
                <a:gd name="T69" fmla="*/ 167 h 380"/>
                <a:gd name="T70" fmla="*/ 158 w 336"/>
                <a:gd name="T71" fmla="*/ 167 h 380"/>
                <a:gd name="T72" fmla="*/ 170 w 336"/>
                <a:gd name="T73" fmla="*/ 178 h 380"/>
                <a:gd name="T74" fmla="*/ 158 w 336"/>
                <a:gd name="T75" fmla="*/ 190 h 380"/>
                <a:gd name="T76" fmla="*/ 279 w 336"/>
                <a:gd name="T77" fmla="*/ 208 h 380"/>
                <a:gd name="T78" fmla="*/ 260 w 336"/>
                <a:gd name="T79" fmla="*/ 206 h 380"/>
                <a:gd name="T80" fmla="*/ 184 w 336"/>
                <a:gd name="T81" fmla="*/ 281 h 380"/>
                <a:gd name="T82" fmla="*/ 244 w 336"/>
                <a:gd name="T83" fmla="*/ 356 h 380"/>
                <a:gd name="T84" fmla="*/ 260 w 336"/>
                <a:gd name="T85" fmla="*/ 357 h 380"/>
                <a:gd name="T86" fmla="*/ 336 w 336"/>
                <a:gd name="T87" fmla="*/ 281 h 380"/>
                <a:gd name="T88" fmla="*/ 279 w 336"/>
                <a:gd name="T89" fmla="*/ 208 h 380"/>
                <a:gd name="T90" fmla="*/ 303 w 336"/>
                <a:gd name="T91" fmla="*/ 271 h 380"/>
                <a:gd name="T92" fmla="*/ 303 w 336"/>
                <a:gd name="T93" fmla="*/ 271 h 380"/>
                <a:gd name="T94" fmla="*/ 279 w 336"/>
                <a:gd name="T95" fmla="*/ 295 h 380"/>
                <a:gd name="T96" fmla="*/ 260 w 336"/>
                <a:gd name="T97" fmla="*/ 314 h 380"/>
                <a:gd name="T98" fmla="*/ 239 w 336"/>
                <a:gd name="T99" fmla="*/ 314 h 380"/>
                <a:gd name="T100" fmla="*/ 217 w 336"/>
                <a:gd name="T101" fmla="*/ 292 h 380"/>
                <a:gd name="T102" fmla="*/ 217 w 336"/>
                <a:gd name="T103" fmla="*/ 271 h 380"/>
                <a:gd name="T104" fmla="*/ 239 w 336"/>
                <a:gd name="T105" fmla="*/ 271 h 380"/>
                <a:gd name="T106" fmla="*/ 250 w 336"/>
                <a:gd name="T107" fmla="*/ 281 h 380"/>
                <a:gd name="T108" fmla="*/ 279 w 336"/>
                <a:gd name="T109" fmla="*/ 252 h 380"/>
                <a:gd name="T110" fmla="*/ 282 w 336"/>
                <a:gd name="T111" fmla="*/ 249 h 380"/>
                <a:gd name="T112" fmla="*/ 303 w 336"/>
                <a:gd name="T113" fmla="*/ 249 h 380"/>
                <a:gd name="T114" fmla="*/ 303 w 336"/>
                <a:gd name="T115" fmla="*/ 271 h 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36" h="380">
                  <a:moveTo>
                    <a:pt x="214" y="48"/>
                  </a:moveTo>
                  <a:cubicBezTo>
                    <a:pt x="214" y="74"/>
                    <a:pt x="193" y="95"/>
                    <a:pt x="167" y="95"/>
                  </a:cubicBezTo>
                  <a:lnTo>
                    <a:pt x="119" y="95"/>
                  </a:lnTo>
                  <a:cubicBezTo>
                    <a:pt x="93" y="95"/>
                    <a:pt x="72" y="74"/>
                    <a:pt x="72" y="48"/>
                  </a:cubicBezTo>
                  <a:cubicBezTo>
                    <a:pt x="72" y="21"/>
                    <a:pt x="93" y="0"/>
                    <a:pt x="119" y="0"/>
                  </a:cubicBezTo>
                  <a:lnTo>
                    <a:pt x="167" y="0"/>
                  </a:lnTo>
                  <a:cubicBezTo>
                    <a:pt x="193" y="0"/>
                    <a:pt x="214" y="21"/>
                    <a:pt x="214" y="48"/>
                  </a:cubicBezTo>
                  <a:close/>
                  <a:moveTo>
                    <a:pt x="237" y="48"/>
                  </a:moveTo>
                  <a:cubicBezTo>
                    <a:pt x="238" y="51"/>
                    <a:pt x="238" y="55"/>
                    <a:pt x="238" y="59"/>
                  </a:cubicBezTo>
                  <a:cubicBezTo>
                    <a:pt x="238" y="91"/>
                    <a:pt x="211" y="118"/>
                    <a:pt x="179" y="118"/>
                  </a:cubicBezTo>
                  <a:lnTo>
                    <a:pt x="107" y="118"/>
                  </a:lnTo>
                  <a:cubicBezTo>
                    <a:pt x="74" y="118"/>
                    <a:pt x="48" y="91"/>
                    <a:pt x="48" y="59"/>
                  </a:cubicBezTo>
                  <a:cubicBezTo>
                    <a:pt x="48" y="55"/>
                    <a:pt x="48" y="51"/>
                    <a:pt x="49" y="48"/>
                  </a:cubicBezTo>
                  <a:cubicBezTo>
                    <a:pt x="21" y="53"/>
                    <a:pt x="0" y="77"/>
                    <a:pt x="0" y="106"/>
                  </a:cubicBezTo>
                  <a:lnTo>
                    <a:pt x="0" y="320"/>
                  </a:lnTo>
                  <a:cubicBezTo>
                    <a:pt x="0" y="353"/>
                    <a:pt x="27" y="380"/>
                    <a:pt x="60" y="380"/>
                  </a:cubicBezTo>
                  <a:lnTo>
                    <a:pt x="218" y="380"/>
                  </a:lnTo>
                  <a:cubicBezTo>
                    <a:pt x="180" y="363"/>
                    <a:pt x="153" y="326"/>
                    <a:pt x="153" y="282"/>
                  </a:cubicBezTo>
                  <a:cubicBezTo>
                    <a:pt x="153" y="223"/>
                    <a:pt x="201" y="176"/>
                    <a:pt x="260" y="176"/>
                  </a:cubicBezTo>
                  <a:cubicBezTo>
                    <a:pt x="269" y="176"/>
                    <a:pt x="277" y="177"/>
                    <a:pt x="286" y="179"/>
                  </a:cubicBezTo>
                  <a:lnTo>
                    <a:pt x="286" y="106"/>
                  </a:lnTo>
                  <a:cubicBezTo>
                    <a:pt x="286" y="77"/>
                    <a:pt x="265" y="53"/>
                    <a:pt x="237" y="48"/>
                  </a:cubicBezTo>
                  <a:close/>
                  <a:moveTo>
                    <a:pt x="134" y="238"/>
                  </a:moveTo>
                  <a:lnTo>
                    <a:pt x="134" y="238"/>
                  </a:lnTo>
                  <a:lnTo>
                    <a:pt x="60" y="238"/>
                  </a:lnTo>
                  <a:cubicBezTo>
                    <a:pt x="53" y="238"/>
                    <a:pt x="48" y="233"/>
                    <a:pt x="48" y="226"/>
                  </a:cubicBezTo>
                  <a:cubicBezTo>
                    <a:pt x="48" y="219"/>
                    <a:pt x="53" y="214"/>
                    <a:pt x="60" y="214"/>
                  </a:cubicBezTo>
                  <a:lnTo>
                    <a:pt x="134" y="214"/>
                  </a:lnTo>
                  <a:cubicBezTo>
                    <a:pt x="141" y="214"/>
                    <a:pt x="146" y="219"/>
                    <a:pt x="146" y="226"/>
                  </a:cubicBezTo>
                  <a:cubicBezTo>
                    <a:pt x="146" y="233"/>
                    <a:pt x="141" y="238"/>
                    <a:pt x="134" y="238"/>
                  </a:cubicBezTo>
                  <a:close/>
                  <a:moveTo>
                    <a:pt x="158" y="190"/>
                  </a:moveTo>
                  <a:lnTo>
                    <a:pt x="158" y="190"/>
                  </a:lnTo>
                  <a:lnTo>
                    <a:pt x="60" y="190"/>
                  </a:lnTo>
                  <a:cubicBezTo>
                    <a:pt x="53" y="190"/>
                    <a:pt x="48" y="185"/>
                    <a:pt x="48" y="178"/>
                  </a:cubicBezTo>
                  <a:cubicBezTo>
                    <a:pt x="48" y="172"/>
                    <a:pt x="53" y="167"/>
                    <a:pt x="60" y="167"/>
                  </a:cubicBezTo>
                  <a:lnTo>
                    <a:pt x="158" y="167"/>
                  </a:lnTo>
                  <a:cubicBezTo>
                    <a:pt x="164" y="167"/>
                    <a:pt x="170" y="172"/>
                    <a:pt x="170" y="178"/>
                  </a:cubicBezTo>
                  <a:cubicBezTo>
                    <a:pt x="170" y="185"/>
                    <a:pt x="164" y="190"/>
                    <a:pt x="158" y="190"/>
                  </a:cubicBezTo>
                  <a:close/>
                  <a:moveTo>
                    <a:pt x="279" y="208"/>
                  </a:moveTo>
                  <a:cubicBezTo>
                    <a:pt x="273" y="207"/>
                    <a:pt x="267" y="206"/>
                    <a:pt x="260" y="206"/>
                  </a:cubicBezTo>
                  <a:cubicBezTo>
                    <a:pt x="218" y="206"/>
                    <a:pt x="184" y="240"/>
                    <a:pt x="184" y="281"/>
                  </a:cubicBezTo>
                  <a:cubicBezTo>
                    <a:pt x="184" y="318"/>
                    <a:pt x="210" y="348"/>
                    <a:pt x="244" y="356"/>
                  </a:cubicBezTo>
                  <a:cubicBezTo>
                    <a:pt x="249" y="357"/>
                    <a:pt x="255" y="357"/>
                    <a:pt x="260" y="357"/>
                  </a:cubicBezTo>
                  <a:cubicBezTo>
                    <a:pt x="302" y="357"/>
                    <a:pt x="336" y="323"/>
                    <a:pt x="336" y="281"/>
                  </a:cubicBezTo>
                  <a:cubicBezTo>
                    <a:pt x="336" y="246"/>
                    <a:pt x="312" y="216"/>
                    <a:pt x="279" y="208"/>
                  </a:cubicBezTo>
                  <a:close/>
                  <a:moveTo>
                    <a:pt x="303" y="271"/>
                  </a:moveTo>
                  <a:lnTo>
                    <a:pt x="303" y="271"/>
                  </a:lnTo>
                  <a:lnTo>
                    <a:pt x="279" y="295"/>
                  </a:lnTo>
                  <a:lnTo>
                    <a:pt x="260" y="314"/>
                  </a:lnTo>
                  <a:cubicBezTo>
                    <a:pt x="254" y="320"/>
                    <a:pt x="245" y="320"/>
                    <a:pt x="239" y="314"/>
                  </a:cubicBezTo>
                  <a:lnTo>
                    <a:pt x="217" y="292"/>
                  </a:lnTo>
                  <a:cubicBezTo>
                    <a:pt x="211" y="286"/>
                    <a:pt x="211" y="277"/>
                    <a:pt x="217" y="271"/>
                  </a:cubicBezTo>
                  <a:cubicBezTo>
                    <a:pt x="223" y="265"/>
                    <a:pt x="233" y="265"/>
                    <a:pt x="239" y="271"/>
                  </a:cubicBezTo>
                  <a:lnTo>
                    <a:pt x="250" y="281"/>
                  </a:lnTo>
                  <a:lnTo>
                    <a:pt x="279" y="252"/>
                  </a:lnTo>
                  <a:lnTo>
                    <a:pt x="282" y="249"/>
                  </a:lnTo>
                  <a:cubicBezTo>
                    <a:pt x="288" y="243"/>
                    <a:pt x="297" y="243"/>
                    <a:pt x="303" y="249"/>
                  </a:cubicBezTo>
                  <a:cubicBezTo>
                    <a:pt x="309" y="255"/>
                    <a:pt x="309" y="265"/>
                    <a:pt x="303" y="27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1" name="组合 20"/>
          <p:cNvGrpSpPr/>
          <p:nvPr/>
        </p:nvGrpSpPr>
        <p:grpSpPr>
          <a:xfrm>
            <a:off x="1471677" y="198604"/>
            <a:ext cx="472312" cy="484825"/>
            <a:chOff x="3252414" y="-1899592"/>
            <a:chExt cx="1050534" cy="1078364"/>
          </a:xfrm>
        </p:grpSpPr>
        <p:sp>
          <p:nvSpPr>
            <p:cNvPr id="22" name="Oval 7"/>
            <p:cNvSpPr>
              <a:spLocks noChangeArrowheads="1"/>
            </p:cNvSpPr>
            <p:nvPr/>
          </p:nvSpPr>
          <p:spPr bwMode="auto">
            <a:xfrm>
              <a:off x="3252414" y="-1899592"/>
              <a:ext cx="1050534" cy="1078364"/>
            </a:xfrm>
            <a:prstGeom prst="ellipse">
              <a:avLst/>
            </a:pr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 name="Freeform 11"/>
            <p:cNvSpPr>
              <a:spLocks noEditPoints="1"/>
            </p:cNvSpPr>
            <p:nvPr/>
          </p:nvSpPr>
          <p:spPr bwMode="auto">
            <a:xfrm>
              <a:off x="3450694" y="-1683919"/>
              <a:ext cx="594839" cy="647018"/>
            </a:xfrm>
            <a:custGeom>
              <a:avLst/>
              <a:gdLst>
                <a:gd name="T0" fmla="*/ 136 w 360"/>
                <a:gd name="T1" fmla="*/ 238 h 383"/>
                <a:gd name="T2" fmla="*/ 130 w 360"/>
                <a:gd name="T3" fmla="*/ 217 h 383"/>
                <a:gd name="T4" fmla="*/ 157 w 360"/>
                <a:gd name="T5" fmla="*/ 104 h 383"/>
                <a:gd name="T6" fmla="*/ 187 w 360"/>
                <a:gd name="T7" fmla="*/ 195 h 383"/>
                <a:gd name="T8" fmla="*/ 223 w 360"/>
                <a:gd name="T9" fmla="*/ 90 h 383"/>
                <a:gd name="T10" fmla="*/ 142 w 360"/>
                <a:gd name="T11" fmla="*/ 179 h 383"/>
                <a:gd name="T12" fmla="*/ 136 w 360"/>
                <a:gd name="T13" fmla="*/ 191 h 383"/>
                <a:gd name="T14" fmla="*/ 185 w 360"/>
                <a:gd name="T15" fmla="*/ 220 h 383"/>
                <a:gd name="T16" fmla="*/ 237 w 360"/>
                <a:gd name="T17" fmla="*/ 76 h 383"/>
                <a:gd name="T18" fmla="*/ 240 w 360"/>
                <a:gd name="T19" fmla="*/ 49 h 383"/>
                <a:gd name="T20" fmla="*/ 237 w 360"/>
                <a:gd name="T21" fmla="*/ 76 h 383"/>
                <a:gd name="T22" fmla="*/ 281 w 360"/>
                <a:gd name="T23" fmla="*/ 90 h 383"/>
                <a:gd name="T24" fmla="*/ 253 w 360"/>
                <a:gd name="T25" fmla="*/ 93 h 383"/>
                <a:gd name="T26" fmla="*/ 205 w 360"/>
                <a:gd name="T27" fmla="*/ 64 h 383"/>
                <a:gd name="T28" fmla="*/ 194 w 360"/>
                <a:gd name="T29" fmla="*/ 39 h 383"/>
                <a:gd name="T30" fmla="*/ 205 w 360"/>
                <a:gd name="T31" fmla="*/ 64 h 383"/>
                <a:gd name="T32" fmla="*/ 159 w 360"/>
                <a:gd name="T33" fmla="*/ 48 h 383"/>
                <a:gd name="T34" fmla="*/ 161 w 360"/>
                <a:gd name="T35" fmla="*/ 76 h 383"/>
                <a:gd name="T36" fmla="*/ 264 w 360"/>
                <a:gd name="T37" fmla="*/ 137 h 383"/>
                <a:gd name="T38" fmla="*/ 290 w 360"/>
                <a:gd name="T39" fmla="*/ 125 h 383"/>
                <a:gd name="T40" fmla="*/ 264 w 360"/>
                <a:gd name="T41" fmla="*/ 137 h 383"/>
                <a:gd name="T42" fmla="*/ 132 w 360"/>
                <a:gd name="T43" fmla="*/ 196 h 383"/>
                <a:gd name="T44" fmla="*/ 126 w 360"/>
                <a:gd name="T45" fmla="*/ 208 h 383"/>
                <a:gd name="T46" fmla="*/ 175 w 360"/>
                <a:gd name="T47" fmla="*/ 237 h 383"/>
                <a:gd name="T48" fmla="*/ 131 w 360"/>
                <a:gd name="T49" fmla="*/ 383 h 383"/>
                <a:gd name="T50" fmla="*/ 141 w 360"/>
                <a:gd name="T51" fmla="*/ 22 h 383"/>
                <a:gd name="T52" fmla="*/ 342 w 360"/>
                <a:gd name="T53" fmla="*/ 109 h 383"/>
                <a:gd name="T54" fmla="*/ 345 w 360"/>
                <a:gd name="T55" fmla="*/ 167 h 383"/>
                <a:gd name="T56" fmla="*/ 356 w 360"/>
                <a:gd name="T57" fmla="*/ 240 h 383"/>
                <a:gd name="T58" fmla="*/ 343 w 360"/>
                <a:gd name="T59" fmla="*/ 301 h 383"/>
                <a:gd name="T60" fmla="*/ 269 w 360"/>
                <a:gd name="T61" fmla="*/ 318 h 383"/>
                <a:gd name="T62" fmla="*/ 131 w 360"/>
                <a:gd name="T63" fmla="*/ 383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60" h="383">
                  <a:moveTo>
                    <a:pt x="130" y="217"/>
                  </a:moveTo>
                  <a:cubicBezTo>
                    <a:pt x="126" y="224"/>
                    <a:pt x="129" y="234"/>
                    <a:pt x="136" y="238"/>
                  </a:cubicBezTo>
                  <a:cubicBezTo>
                    <a:pt x="143" y="242"/>
                    <a:pt x="151" y="241"/>
                    <a:pt x="156" y="236"/>
                  </a:cubicBezTo>
                  <a:lnTo>
                    <a:pt x="130" y="217"/>
                  </a:lnTo>
                  <a:close/>
                  <a:moveTo>
                    <a:pt x="223" y="90"/>
                  </a:moveTo>
                  <a:cubicBezTo>
                    <a:pt x="199" y="76"/>
                    <a:pt x="170" y="83"/>
                    <a:pt x="157" y="104"/>
                  </a:cubicBezTo>
                  <a:cubicBezTo>
                    <a:pt x="144" y="127"/>
                    <a:pt x="161" y="151"/>
                    <a:pt x="149" y="174"/>
                  </a:cubicBezTo>
                  <a:lnTo>
                    <a:pt x="187" y="195"/>
                  </a:lnTo>
                  <a:cubicBezTo>
                    <a:pt x="201" y="174"/>
                    <a:pt x="231" y="176"/>
                    <a:pt x="243" y="154"/>
                  </a:cubicBezTo>
                  <a:cubicBezTo>
                    <a:pt x="256" y="132"/>
                    <a:pt x="247" y="104"/>
                    <a:pt x="223" y="90"/>
                  </a:cubicBezTo>
                  <a:close/>
                  <a:moveTo>
                    <a:pt x="183" y="209"/>
                  </a:moveTo>
                  <a:lnTo>
                    <a:pt x="142" y="179"/>
                  </a:lnTo>
                  <a:cubicBezTo>
                    <a:pt x="139" y="176"/>
                    <a:pt x="135" y="177"/>
                    <a:pt x="133" y="181"/>
                  </a:cubicBezTo>
                  <a:cubicBezTo>
                    <a:pt x="132" y="184"/>
                    <a:pt x="132" y="188"/>
                    <a:pt x="136" y="191"/>
                  </a:cubicBezTo>
                  <a:lnTo>
                    <a:pt x="176" y="221"/>
                  </a:lnTo>
                  <a:cubicBezTo>
                    <a:pt x="179" y="224"/>
                    <a:pt x="183" y="223"/>
                    <a:pt x="185" y="220"/>
                  </a:cubicBezTo>
                  <a:cubicBezTo>
                    <a:pt x="187" y="216"/>
                    <a:pt x="186" y="212"/>
                    <a:pt x="183" y="209"/>
                  </a:cubicBezTo>
                  <a:close/>
                  <a:moveTo>
                    <a:pt x="237" y="76"/>
                  </a:moveTo>
                  <a:lnTo>
                    <a:pt x="250" y="54"/>
                  </a:lnTo>
                  <a:lnTo>
                    <a:pt x="240" y="49"/>
                  </a:lnTo>
                  <a:lnTo>
                    <a:pt x="227" y="70"/>
                  </a:lnTo>
                  <a:lnTo>
                    <a:pt x="237" y="76"/>
                  </a:lnTo>
                  <a:close/>
                  <a:moveTo>
                    <a:pt x="259" y="103"/>
                  </a:moveTo>
                  <a:lnTo>
                    <a:pt x="281" y="90"/>
                  </a:lnTo>
                  <a:lnTo>
                    <a:pt x="275" y="80"/>
                  </a:lnTo>
                  <a:lnTo>
                    <a:pt x="253" y="93"/>
                  </a:lnTo>
                  <a:lnTo>
                    <a:pt x="259" y="103"/>
                  </a:lnTo>
                  <a:close/>
                  <a:moveTo>
                    <a:pt x="205" y="64"/>
                  </a:moveTo>
                  <a:lnTo>
                    <a:pt x="205" y="39"/>
                  </a:lnTo>
                  <a:lnTo>
                    <a:pt x="194" y="39"/>
                  </a:lnTo>
                  <a:lnTo>
                    <a:pt x="194" y="64"/>
                  </a:lnTo>
                  <a:lnTo>
                    <a:pt x="205" y="64"/>
                  </a:lnTo>
                  <a:close/>
                  <a:moveTo>
                    <a:pt x="172" y="70"/>
                  </a:moveTo>
                  <a:lnTo>
                    <a:pt x="159" y="48"/>
                  </a:lnTo>
                  <a:lnTo>
                    <a:pt x="149" y="54"/>
                  </a:lnTo>
                  <a:lnTo>
                    <a:pt x="161" y="76"/>
                  </a:lnTo>
                  <a:lnTo>
                    <a:pt x="172" y="70"/>
                  </a:lnTo>
                  <a:close/>
                  <a:moveTo>
                    <a:pt x="264" y="137"/>
                  </a:moveTo>
                  <a:lnTo>
                    <a:pt x="290" y="137"/>
                  </a:lnTo>
                  <a:lnTo>
                    <a:pt x="290" y="125"/>
                  </a:lnTo>
                  <a:lnTo>
                    <a:pt x="264" y="125"/>
                  </a:lnTo>
                  <a:lnTo>
                    <a:pt x="264" y="137"/>
                  </a:lnTo>
                  <a:close/>
                  <a:moveTo>
                    <a:pt x="173" y="227"/>
                  </a:moveTo>
                  <a:lnTo>
                    <a:pt x="132" y="196"/>
                  </a:lnTo>
                  <a:cubicBezTo>
                    <a:pt x="129" y="194"/>
                    <a:pt x="125" y="195"/>
                    <a:pt x="123" y="198"/>
                  </a:cubicBezTo>
                  <a:cubicBezTo>
                    <a:pt x="122" y="201"/>
                    <a:pt x="122" y="206"/>
                    <a:pt x="126" y="208"/>
                  </a:cubicBezTo>
                  <a:lnTo>
                    <a:pt x="166" y="239"/>
                  </a:lnTo>
                  <a:cubicBezTo>
                    <a:pt x="169" y="241"/>
                    <a:pt x="173" y="240"/>
                    <a:pt x="175" y="237"/>
                  </a:cubicBezTo>
                  <a:cubicBezTo>
                    <a:pt x="177" y="234"/>
                    <a:pt x="176" y="229"/>
                    <a:pt x="173" y="227"/>
                  </a:cubicBezTo>
                  <a:close/>
                  <a:moveTo>
                    <a:pt x="131" y="383"/>
                  </a:moveTo>
                  <a:cubicBezTo>
                    <a:pt x="136" y="353"/>
                    <a:pt x="136" y="321"/>
                    <a:pt x="127" y="293"/>
                  </a:cubicBezTo>
                  <a:cubicBezTo>
                    <a:pt x="0" y="221"/>
                    <a:pt x="34" y="56"/>
                    <a:pt x="141" y="22"/>
                  </a:cubicBezTo>
                  <a:cubicBezTo>
                    <a:pt x="197" y="0"/>
                    <a:pt x="274" y="13"/>
                    <a:pt x="323" y="63"/>
                  </a:cubicBezTo>
                  <a:cubicBezTo>
                    <a:pt x="360" y="99"/>
                    <a:pt x="342" y="109"/>
                    <a:pt x="342" y="109"/>
                  </a:cubicBezTo>
                  <a:lnTo>
                    <a:pt x="334" y="113"/>
                  </a:lnTo>
                  <a:cubicBezTo>
                    <a:pt x="339" y="131"/>
                    <a:pt x="346" y="162"/>
                    <a:pt x="345" y="167"/>
                  </a:cubicBezTo>
                  <a:cubicBezTo>
                    <a:pt x="344" y="173"/>
                    <a:pt x="337" y="179"/>
                    <a:pt x="337" y="179"/>
                  </a:cubicBezTo>
                  <a:lnTo>
                    <a:pt x="356" y="240"/>
                  </a:lnTo>
                  <a:lnTo>
                    <a:pt x="339" y="246"/>
                  </a:lnTo>
                  <a:cubicBezTo>
                    <a:pt x="343" y="266"/>
                    <a:pt x="345" y="282"/>
                    <a:pt x="343" y="301"/>
                  </a:cubicBezTo>
                  <a:cubicBezTo>
                    <a:pt x="343" y="305"/>
                    <a:pt x="332" y="314"/>
                    <a:pt x="323" y="315"/>
                  </a:cubicBezTo>
                  <a:lnTo>
                    <a:pt x="269" y="318"/>
                  </a:lnTo>
                  <a:lnTo>
                    <a:pt x="272" y="383"/>
                  </a:lnTo>
                  <a:lnTo>
                    <a:pt x="131" y="38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4" name="组合 23"/>
          <p:cNvGrpSpPr/>
          <p:nvPr/>
        </p:nvGrpSpPr>
        <p:grpSpPr>
          <a:xfrm>
            <a:off x="2075327" y="198604"/>
            <a:ext cx="473877" cy="484825"/>
            <a:chOff x="4553407" y="-1899592"/>
            <a:chExt cx="1054013" cy="1078364"/>
          </a:xfrm>
        </p:grpSpPr>
        <p:sp>
          <p:nvSpPr>
            <p:cNvPr id="25" name="Oval 8"/>
            <p:cNvSpPr>
              <a:spLocks noChangeArrowheads="1"/>
            </p:cNvSpPr>
            <p:nvPr/>
          </p:nvSpPr>
          <p:spPr bwMode="auto">
            <a:xfrm>
              <a:off x="4553407" y="-1899592"/>
              <a:ext cx="1054013" cy="1078364"/>
            </a:xfrm>
            <a:prstGeom prst="ellipse">
              <a:avLst/>
            </a:pr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6" name="Freeform 12"/>
            <p:cNvSpPr>
              <a:spLocks noEditPoints="1"/>
            </p:cNvSpPr>
            <p:nvPr/>
          </p:nvSpPr>
          <p:spPr bwMode="auto">
            <a:xfrm>
              <a:off x="4824737" y="-1683919"/>
              <a:ext cx="594839" cy="650497"/>
            </a:xfrm>
            <a:custGeom>
              <a:avLst/>
              <a:gdLst>
                <a:gd name="T0" fmla="*/ 108 w 360"/>
                <a:gd name="T1" fmla="*/ 59 h 384"/>
                <a:gd name="T2" fmla="*/ 236 w 360"/>
                <a:gd name="T3" fmla="*/ 43 h 384"/>
                <a:gd name="T4" fmla="*/ 190 w 360"/>
                <a:gd name="T5" fmla="*/ 26 h 384"/>
                <a:gd name="T6" fmla="*/ 138 w 360"/>
                <a:gd name="T7" fmla="*/ 26 h 384"/>
                <a:gd name="T8" fmla="*/ 92 w 360"/>
                <a:gd name="T9" fmla="*/ 43 h 384"/>
                <a:gd name="T10" fmla="*/ 296 w 360"/>
                <a:gd name="T11" fmla="*/ 332 h 384"/>
                <a:gd name="T12" fmla="*/ 301 w 360"/>
                <a:gd name="T13" fmla="*/ 321 h 384"/>
                <a:gd name="T14" fmla="*/ 280 w 360"/>
                <a:gd name="T15" fmla="*/ 249 h 384"/>
                <a:gd name="T16" fmla="*/ 267 w 360"/>
                <a:gd name="T17" fmla="*/ 249 h 384"/>
                <a:gd name="T18" fmla="*/ 267 w 360"/>
                <a:gd name="T19" fmla="*/ 304 h 384"/>
                <a:gd name="T20" fmla="*/ 268 w 360"/>
                <a:gd name="T21" fmla="*/ 306 h 384"/>
                <a:gd name="T22" fmla="*/ 268 w 360"/>
                <a:gd name="T23" fmla="*/ 307 h 384"/>
                <a:gd name="T24" fmla="*/ 269 w 360"/>
                <a:gd name="T25" fmla="*/ 308 h 384"/>
                <a:gd name="T26" fmla="*/ 343 w 360"/>
                <a:gd name="T27" fmla="*/ 253 h 384"/>
                <a:gd name="T28" fmla="*/ 274 w 360"/>
                <a:gd name="T29" fmla="*/ 217 h 384"/>
                <a:gd name="T30" fmla="*/ 258 w 360"/>
                <a:gd name="T31" fmla="*/ 382 h 384"/>
                <a:gd name="T32" fmla="*/ 356 w 360"/>
                <a:gd name="T33" fmla="*/ 316 h 384"/>
                <a:gd name="T34" fmla="*/ 343 w 360"/>
                <a:gd name="T35" fmla="*/ 313 h 384"/>
                <a:gd name="T36" fmla="*/ 274 w 360"/>
                <a:gd name="T37" fmla="*/ 371 h 384"/>
                <a:gd name="T38" fmla="*/ 205 w 360"/>
                <a:gd name="T39" fmla="*/ 287 h 384"/>
                <a:gd name="T40" fmla="*/ 287 w 360"/>
                <a:gd name="T41" fmla="*/ 231 h 384"/>
                <a:gd name="T42" fmla="*/ 343 w 360"/>
                <a:gd name="T43" fmla="*/ 313 h 384"/>
                <a:gd name="T44" fmla="*/ 121 w 360"/>
                <a:gd name="T45" fmla="*/ 313 h 384"/>
                <a:gd name="T46" fmla="*/ 206 w 360"/>
                <a:gd name="T47" fmla="*/ 228 h 384"/>
                <a:gd name="T48" fmla="*/ 224 w 360"/>
                <a:gd name="T49" fmla="*/ 215 h 384"/>
                <a:gd name="T50" fmla="*/ 311 w 360"/>
                <a:gd name="T51" fmla="*/ 130 h 384"/>
                <a:gd name="T52" fmla="*/ 314 w 360"/>
                <a:gd name="T53" fmla="*/ 210 h 384"/>
                <a:gd name="T54" fmla="*/ 328 w 360"/>
                <a:gd name="T55" fmla="*/ 215 h 384"/>
                <a:gd name="T56" fmla="*/ 328 w 360"/>
                <a:gd name="T57" fmla="*/ 88 h 384"/>
                <a:gd name="T58" fmla="*/ 17 w 360"/>
                <a:gd name="T59" fmla="*/ 71 h 384"/>
                <a:gd name="T60" fmla="*/ 0 w 360"/>
                <a:gd name="T61" fmla="*/ 134 h 384"/>
                <a:gd name="T62" fmla="*/ 0 w 360"/>
                <a:gd name="T63" fmla="*/ 228 h 384"/>
                <a:gd name="T64" fmla="*/ 0 w 360"/>
                <a:gd name="T65" fmla="*/ 319 h 384"/>
                <a:gd name="T66" fmla="*/ 181 w 360"/>
                <a:gd name="T67" fmla="*/ 336 h 384"/>
                <a:gd name="T68" fmla="*/ 14 w 360"/>
                <a:gd name="T69" fmla="*/ 134 h 384"/>
                <a:gd name="T70" fmla="*/ 17 w 360"/>
                <a:gd name="T71" fmla="*/ 130 h 384"/>
                <a:gd name="T72" fmla="*/ 107 w 360"/>
                <a:gd name="T73" fmla="*/ 215 h 384"/>
                <a:gd name="T74" fmla="*/ 14 w 360"/>
                <a:gd name="T75" fmla="*/ 134 h 384"/>
                <a:gd name="T76" fmla="*/ 107 w 360"/>
                <a:gd name="T77" fmla="*/ 228 h 384"/>
                <a:gd name="T78" fmla="*/ 17 w 360"/>
                <a:gd name="T79" fmla="*/ 313 h 384"/>
                <a:gd name="T80" fmla="*/ 14 w 360"/>
                <a:gd name="T81" fmla="*/ 228 h 384"/>
                <a:gd name="T82" fmla="*/ 121 w 360"/>
                <a:gd name="T83" fmla="*/ 215 h 384"/>
                <a:gd name="T84" fmla="*/ 121 w 360"/>
                <a:gd name="T85" fmla="*/ 130 h 384"/>
                <a:gd name="T86" fmla="*/ 210 w 360"/>
                <a:gd name="T87" fmla="*/ 215 h 384"/>
                <a:gd name="T88" fmla="*/ 217 w 360"/>
                <a:gd name="T89" fmla="*/ 88 h 384"/>
                <a:gd name="T90" fmla="*/ 229 w 360"/>
                <a:gd name="T91" fmla="*/ 100 h 384"/>
                <a:gd name="T92" fmla="*/ 205 w 360"/>
                <a:gd name="T93" fmla="*/ 100 h 384"/>
                <a:gd name="T94" fmla="*/ 114 w 360"/>
                <a:gd name="T95" fmla="*/ 88 h 384"/>
                <a:gd name="T96" fmla="*/ 126 w 360"/>
                <a:gd name="T97" fmla="*/ 100 h 384"/>
                <a:gd name="T98" fmla="*/ 103 w 360"/>
                <a:gd name="T99" fmla="*/ 100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60" h="384">
                  <a:moveTo>
                    <a:pt x="92" y="43"/>
                  </a:moveTo>
                  <a:cubicBezTo>
                    <a:pt x="92" y="52"/>
                    <a:pt x="100" y="59"/>
                    <a:pt x="108" y="59"/>
                  </a:cubicBezTo>
                  <a:lnTo>
                    <a:pt x="220" y="59"/>
                  </a:lnTo>
                  <a:cubicBezTo>
                    <a:pt x="229" y="59"/>
                    <a:pt x="236" y="52"/>
                    <a:pt x="236" y="43"/>
                  </a:cubicBezTo>
                  <a:cubicBezTo>
                    <a:pt x="236" y="34"/>
                    <a:pt x="229" y="26"/>
                    <a:pt x="220" y="26"/>
                  </a:cubicBezTo>
                  <a:lnTo>
                    <a:pt x="190" y="26"/>
                  </a:lnTo>
                  <a:cubicBezTo>
                    <a:pt x="190" y="12"/>
                    <a:pt x="179" y="0"/>
                    <a:pt x="164" y="0"/>
                  </a:cubicBezTo>
                  <a:cubicBezTo>
                    <a:pt x="150" y="0"/>
                    <a:pt x="138" y="12"/>
                    <a:pt x="138" y="26"/>
                  </a:cubicBezTo>
                  <a:lnTo>
                    <a:pt x="108" y="26"/>
                  </a:lnTo>
                  <a:cubicBezTo>
                    <a:pt x="100" y="26"/>
                    <a:pt x="92" y="34"/>
                    <a:pt x="92" y="43"/>
                  </a:cubicBezTo>
                  <a:close/>
                  <a:moveTo>
                    <a:pt x="292" y="330"/>
                  </a:moveTo>
                  <a:cubicBezTo>
                    <a:pt x="293" y="332"/>
                    <a:pt x="295" y="332"/>
                    <a:pt x="296" y="332"/>
                  </a:cubicBezTo>
                  <a:cubicBezTo>
                    <a:pt x="298" y="332"/>
                    <a:pt x="300" y="332"/>
                    <a:pt x="301" y="330"/>
                  </a:cubicBezTo>
                  <a:cubicBezTo>
                    <a:pt x="304" y="328"/>
                    <a:pt x="304" y="323"/>
                    <a:pt x="301" y="321"/>
                  </a:cubicBezTo>
                  <a:lnTo>
                    <a:pt x="280" y="300"/>
                  </a:lnTo>
                  <a:lnTo>
                    <a:pt x="280" y="249"/>
                  </a:lnTo>
                  <a:cubicBezTo>
                    <a:pt x="280" y="245"/>
                    <a:pt x="278" y="242"/>
                    <a:pt x="274" y="242"/>
                  </a:cubicBezTo>
                  <a:cubicBezTo>
                    <a:pt x="270" y="242"/>
                    <a:pt x="267" y="245"/>
                    <a:pt x="267" y="249"/>
                  </a:cubicBezTo>
                  <a:lnTo>
                    <a:pt x="267" y="303"/>
                  </a:lnTo>
                  <a:cubicBezTo>
                    <a:pt x="267" y="303"/>
                    <a:pt x="267" y="304"/>
                    <a:pt x="267" y="304"/>
                  </a:cubicBezTo>
                  <a:cubicBezTo>
                    <a:pt x="267" y="305"/>
                    <a:pt x="267" y="305"/>
                    <a:pt x="267" y="305"/>
                  </a:cubicBezTo>
                  <a:cubicBezTo>
                    <a:pt x="267" y="305"/>
                    <a:pt x="268" y="305"/>
                    <a:pt x="268" y="306"/>
                  </a:cubicBezTo>
                  <a:cubicBezTo>
                    <a:pt x="268" y="306"/>
                    <a:pt x="268" y="306"/>
                    <a:pt x="268" y="306"/>
                  </a:cubicBezTo>
                  <a:cubicBezTo>
                    <a:pt x="268" y="306"/>
                    <a:pt x="268" y="307"/>
                    <a:pt x="268" y="307"/>
                  </a:cubicBezTo>
                  <a:cubicBezTo>
                    <a:pt x="268" y="307"/>
                    <a:pt x="269" y="307"/>
                    <a:pt x="269" y="308"/>
                  </a:cubicBezTo>
                  <a:cubicBezTo>
                    <a:pt x="269" y="308"/>
                    <a:pt x="269" y="308"/>
                    <a:pt x="269" y="308"/>
                  </a:cubicBezTo>
                  <a:lnTo>
                    <a:pt x="292" y="330"/>
                  </a:lnTo>
                  <a:close/>
                  <a:moveTo>
                    <a:pt x="343" y="253"/>
                  </a:moveTo>
                  <a:cubicBezTo>
                    <a:pt x="330" y="235"/>
                    <a:pt x="311" y="222"/>
                    <a:pt x="289" y="218"/>
                  </a:cubicBezTo>
                  <a:cubicBezTo>
                    <a:pt x="284" y="217"/>
                    <a:pt x="279" y="217"/>
                    <a:pt x="274" y="217"/>
                  </a:cubicBezTo>
                  <a:cubicBezTo>
                    <a:pt x="234" y="217"/>
                    <a:pt x="199" y="245"/>
                    <a:pt x="192" y="285"/>
                  </a:cubicBezTo>
                  <a:cubicBezTo>
                    <a:pt x="183" y="330"/>
                    <a:pt x="213" y="373"/>
                    <a:pt x="258" y="382"/>
                  </a:cubicBezTo>
                  <a:cubicBezTo>
                    <a:pt x="263" y="383"/>
                    <a:pt x="269" y="384"/>
                    <a:pt x="274" y="384"/>
                  </a:cubicBezTo>
                  <a:cubicBezTo>
                    <a:pt x="314" y="384"/>
                    <a:pt x="348" y="355"/>
                    <a:pt x="356" y="316"/>
                  </a:cubicBezTo>
                  <a:cubicBezTo>
                    <a:pt x="360" y="294"/>
                    <a:pt x="355" y="272"/>
                    <a:pt x="343" y="253"/>
                  </a:cubicBezTo>
                  <a:close/>
                  <a:moveTo>
                    <a:pt x="343" y="313"/>
                  </a:moveTo>
                  <a:lnTo>
                    <a:pt x="343" y="313"/>
                  </a:lnTo>
                  <a:cubicBezTo>
                    <a:pt x="337" y="347"/>
                    <a:pt x="308" y="371"/>
                    <a:pt x="274" y="371"/>
                  </a:cubicBezTo>
                  <a:cubicBezTo>
                    <a:pt x="269" y="371"/>
                    <a:pt x="265" y="370"/>
                    <a:pt x="261" y="369"/>
                  </a:cubicBezTo>
                  <a:cubicBezTo>
                    <a:pt x="222" y="362"/>
                    <a:pt x="197" y="325"/>
                    <a:pt x="205" y="287"/>
                  </a:cubicBezTo>
                  <a:cubicBezTo>
                    <a:pt x="211" y="254"/>
                    <a:pt x="240" y="230"/>
                    <a:pt x="274" y="230"/>
                  </a:cubicBezTo>
                  <a:cubicBezTo>
                    <a:pt x="278" y="230"/>
                    <a:pt x="283" y="230"/>
                    <a:pt x="287" y="231"/>
                  </a:cubicBezTo>
                  <a:cubicBezTo>
                    <a:pt x="306" y="234"/>
                    <a:pt x="322" y="245"/>
                    <a:pt x="332" y="261"/>
                  </a:cubicBezTo>
                  <a:cubicBezTo>
                    <a:pt x="343" y="276"/>
                    <a:pt x="347" y="295"/>
                    <a:pt x="343" y="313"/>
                  </a:cubicBezTo>
                  <a:close/>
                  <a:moveTo>
                    <a:pt x="176" y="313"/>
                  </a:moveTo>
                  <a:lnTo>
                    <a:pt x="121" y="313"/>
                  </a:lnTo>
                  <a:lnTo>
                    <a:pt x="121" y="228"/>
                  </a:lnTo>
                  <a:lnTo>
                    <a:pt x="206" y="228"/>
                  </a:lnTo>
                  <a:cubicBezTo>
                    <a:pt x="211" y="223"/>
                    <a:pt x="217" y="218"/>
                    <a:pt x="224" y="215"/>
                  </a:cubicBezTo>
                  <a:lnTo>
                    <a:pt x="224" y="215"/>
                  </a:lnTo>
                  <a:lnTo>
                    <a:pt x="224" y="130"/>
                  </a:lnTo>
                  <a:lnTo>
                    <a:pt x="311" y="130"/>
                  </a:lnTo>
                  <a:cubicBezTo>
                    <a:pt x="313" y="130"/>
                    <a:pt x="314" y="132"/>
                    <a:pt x="314" y="134"/>
                  </a:cubicBezTo>
                  <a:lnTo>
                    <a:pt x="314" y="210"/>
                  </a:lnTo>
                  <a:cubicBezTo>
                    <a:pt x="319" y="212"/>
                    <a:pt x="324" y="215"/>
                    <a:pt x="328" y="217"/>
                  </a:cubicBezTo>
                  <a:lnTo>
                    <a:pt x="328" y="215"/>
                  </a:lnTo>
                  <a:lnTo>
                    <a:pt x="328" y="134"/>
                  </a:lnTo>
                  <a:lnTo>
                    <a:pt x="328" y="88"/>
                  </a:lnTo>
                  <a:cubicBezTo>
                    <a:pt x="328" y="79"/>
                    <a:pt x="320" y="71"/>
                    <a:pt x="311" y="71"/>
                  </a:cubicBezTo>
                  <a:lnTo>
                    <a:pt x="17" y="71"/>
                  </a:lnTo>
                  <a:cubicBezTo>
                    <a:pt x="8" y="71"/>
                    <a:pt x="0" y="79"/>
                    <a:pt x="0" y="88"/>
                  </a:cubicBezTo>
                  <a:lnTo>
                    <a:pt x="0" y="134"/>
                  </a:lnTo>
                  <a:lnTo>
                    <a:pt x="0" y="215"/>
                  </a:lnTo>
                  <a:lnTo>
                    <a:pt x="0" y="228"/>
                  </a:lnTo>
                  <a:lnTo>
                    <a:pt x="0" y="309"/>
                  </a:lnTo>
                  <a:lnTo>
                    <a:pt x="0" y="319"/>
                  </a:lnTo>
                  <a:cubicBezTo>
                    <a:pt x="0" y="329"/>
                    <a:pt x="8" y="336"/>
                    <a:pt x="17" y="336"/>
                  </a:cubicBezTo>
                  <a:lnTo>
                    <a:pt x="181" y="336"/>
                  </a:lnTo>
                  <a:cubicBezTo>
                    <a:pt x="179" y="329"/>
                    <a:pt x="177" y="321"/>
                    <a:pt x="176" y="313"/>
                  </a:cubicBezTo>
                  <a:close/>
                  <a:moveTo>
                    <a:pt x="14" y="134"/>
                  </a:moveTo>
                  <a:lnTo>
                    <a:pt x="14" y="134"/>
                  </a:lnTo>
                  <a:cubicBezTo>
                    <a:pt x="14" y="132"/>
                    <a:pt x="15" y="130"/>
                    <a:pt x="17" y="130"/>
                  </a:cubicBezTo>
                  <a:lnTo>
                    <a:pt x="107" y="130"/>
                  </a:lnTo>
                  <a:lnTo>
                    <a:pt x="107" y="215"/>
                  </a:lnTo>
                  <a:lnTo>
                    <a:pt x="14" y="215"/>
                  </a:lnTo>
                  <a:lnTo>
                    <a:pt x="14" y="134"/>
                  </a:lnTo>
                  <a:close/>
                  <a:moveTo>
                    <a:pt x="107" y="228"/>
                  </a:moveTo>
                  <a:lnTo>
                    <a:pt x="107" y="228"/>
                  </a:lnTo>
                  <a:lnTo>
                    <a:pt x="107" y="313"/>
                  </a:lnTo>
                  <a:lnTo>
                    <a:pt x="17" y="313"/>
                  </a:lnTo>
                  <a:cubicBezTo>
                    <a:pt x="15" y="313"/>
                    <a:pt x="14" y="311"/>
                    <a:pt x="14" y="309"/>
                  </a:cubicBezTo>
                  <a:lnTo>
                    <a:pt x="14" y="228"/>
                  </a:lnTo>
                  <a:lnTo>
                    <a:pt x="107" y="228"/>
                  </a:lnTo>
                  <a:close/>
                  <a:moveTo>
                    <a:pt x="121" y="215"/>
                  </a:moveTo>
                  <a:lnTo>
                    <a:pt x="121" y="215"/>
                  </a:lnTo>
                  <a:lnTo>
                    <a:pt x="121" y="130"/>
                  </a:lnTo>
                  <a:lnTo>
                    <a:pt x="210" y="130"/>
                  </a:lnTo>
                  <a:lnTo>
                    <a:pt x="210" y="215"/>
                  </a:lnTo>
                  <a:lnTo>
                    <a:pt x="121" y="215"/>
                  </a:lnTo>
                  <a:close/>
                  <a:moveTo>
                    <a:pt x="217" y="88"/>
                  </a:moveTo>
                  <a:lnTo>
                    <a:pt x="217" y="88"/>
                  </a:lnTo>
                  <a:cubicBezTo>
                    <a:pt x="223" y="88"/>
                    <a:pt x="229" y="94"/>
                    <a:pt x="229" y="100"/>
                  </a:cubicBezTo>
                  <a:cubicBezTo>
                    <a:pt x="229" y="106"/>
                    <a:pt x="223" y="111"/>
                    <a:pt x="217" y="111"/>
                  </a:cubicBezTo>
                  <a:cubicBezTo>
                    <a:pt x="211" y="111"/>
                    <a:pt x="205" y="106"/>
                    <a:pt x="205" y="100"/>
                  </a:cubicBezTo>
                  <a:cubicBezTo>
                    <a:pt x="205" y="94"/>
                    <a:pt x="211" y="88"/>
                    <a:pt x="217" y="88"/>
                  </a:cubicBezTo>
                  <a:close/>
                  <a:moveTo>
                    <a:pt x="114" y="88"/>
                  </a:moveTo>
                  <a:lnTo>
                    <a:pt x="114" y="88"/>
                  </a:lnTo>
                  <a:cubicBezTo>
                    <a:pt x="120" y="88"/>
                    <a:pt x="126" y="94"/>
                    <a:pt x="126" y="100"/>
                  </a:cubicBezTo>
                  <a:cubicBezTo>
                    <a:pt x="126" y="106"/>
                    <a:pt x="120" y="111"/>
                    <a:pt x="114" y="111"/>
                  </a:cubicBezTo>
                  <a:cubicBezTo>
                    <a:pt x="108" y="111"/>
                    <a:pt x="103" y="106"/>
                    <a:pt x="103" y="100"/>
                  </a:cubicBezTo>
                  <a:cubicBezTo>
                    <a:pt x="103" y="94"/>
                    <a:pt x="108" y="88"/>
                    <a:pt x="114" y="8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27" name="TextBox 26"/>
          <p:cNvSpPr txBox="1"/>
          <p:nvPr/>
        </p:nvSpPr>
        <p:spPr>
          <a:xfrm>
            <a:off x="14146653" y="8510121"/>
            <a:ext cx="1107996" cy="461665"/>
          </a:xfrm>
          <a:prstGeom prst="rect">
            <a:avLst/>
          </a:prstGeom>
          <a:noFill/>
        </p:spPr>
        <p:txBody>
          <a:bodyPr wrap="none" rtlCol="0">
            <a:spAutoFit/>
          </a:bodyPr>
          <a:lstStyle/>
          <a:p>
            <a:r>
              <a:rPr lang="zh-CN" altLang="en-US" sz="2400" dirty="0"/>
              <a:t>延时符</a:t>
            </a:r>
          </a:p>
        </p:txBody>
      </p:sp>
      <p:sp>
        <p:nvSpPr>
          <p:cNvPr id="28" name="Rectangle 6"/>
          <p:cNvSpPr>
            <a:spLocks noChangeArrowheads="1"/>
          </p:cNvSpPr>
          <p:nvPr/>
        </p:nvSpPr>
        <p:spPr bwMode="auto">
          <a:xfrm>
            <a:off x="0" y="1109114"/>
            <a:ext cx="2835079" cy="81520"/>
          </a:xfrm>
          <a:prstGeom prst="rect">
            <a:avLst/>
          </a:prstGeom>
          <a:solidFill>
            <a:srgbClr val="01C0B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29" name="Rectangle 7"/>
          <p:cNvSpPr>
            <a:spLocks noChangeArrowheads="1"/>
          </p:cNvSpPr>
          <p:nvPr/>
        </p:nvSpPr>
        <p:spPr bwMode="auto">
          <a:xfrm>
            <a:off x="1266714" y="1109114"/>
            <a:ext cx="2831571" cy="81520"/>
          </a:xfrm>
          <a:prstGeom prst="rect">
            <a:avLst/>
          </a:prstGeom>
          <a:solidFill>
            <a:srgbClr val="FFC0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30" name="Rectangle 8"/>
          <p:cNvSpPr>
            <a:spLocks noChangeArrowheads="1"/>
          </p:cNvSpPr>
          <p:nvPr/>
        </p:nvSpPr>
        <p:spPr bwMode="auto">
          <a:xfrm>
            <a:off x="2531856" y="1109114"/>
            <a:ext cx="2835079" cy="81520"/>
          </a:xfrm>
          <a:prstGeom prst="rect">
            <a:avLst/>
          </a:prstGeom>
          <a:solidFill>
            <a:srgbClr val="92D05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31" name="Rectangle 9"/>
          <p:cNvSpPr>
            <a:spLocks noChangeArrowheads="1"/>
          </p:cNvSpPr>
          <p:nvPr/>
        </p:nvSpPr>
        <p:spPr bwMode="auto">
          <a:xfrm>
            <a:off x="3798567" y="1109114"/>
            <a:ext cx="2039483" cy="81520"/>
          </a:xfrm>
          <a:prstGeom prst="rect">
            <a:avLst/>
          </a:prstGeom>
          <a:solidFill>
            <a:srgbClr val="FFFF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Tree>
    <p:extLst>
      <p:ext uri="{BB962C8B-B14F-4D97-AF65-F5344CB8AC3E}">
        <p14:creationId xmlns:p14="http://schemas.microsoft.com/office/powerpoint/2010/main" val="3546422696"/>
      </p:ext>
    </p:extLst>
  </p:cSld>
  <p:clrMapOvr>
    <a:masterClrMapping/>
  </p:clrMapOvr>
  <mc:AlternateContent xmlns:mc="http://schemas.openxmlformats.org/markup-compatibility/2006" xmlns:p14="http://schemas.microsoft.com/office/powerpoint/2010/main">
    <mc:Choice Requires="p14">
      <p:transition spd="slow">
        <p14:flip dir="r"/>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a:xfrm>
            <a:off x="786218" y="-85502"/>
            <a:ext cx="10515600" cy="1325563"/>
          </a:xfrm>
        </p:spPr>
        <p:txBody>
          <a:bodyPr>
            <a:normAutofit/>
          </a:bodyPr>
          <a:lstStyle/>
          <a:p>
            <a:pPr algn="l">
              <a:lnSpc>
                <a:spcPct val="120000"/>
              </a:lnSpc>
            </a:pPr>
            <a:r>
              <a:rPr lang="zh-CN" altLang="en-US" sz="3200" b="1" dirty="0">
                <a:latin typeface="微软雅黑" panose="020B0503020204020204" pitchFamily="34" charset="-122"/>
                <a:ea typeface="微软雅黑" panose="020B0503020204020204" pitchFamily="34" charset="-122"/>
              </a:rPr>
              <a:t>流水线的相关问题 </a:t>
            </a:r>
          </a:p>
        </p:txBody>
      </p:sp>
      <p:sp>
        <p:nvSpPr>
          <p:cNvPr id="90115" name="Rectangle 3"/>
          <p:cNvSpPr>
            <a:spLocks noGrp="1" noChangeArrowheads="1"/>
          </p:cNvSpPr>
          <p:nvPr>
            <p:ph type="body" idx="1"/>
          </p:nvPr>
        </p:nvSpPr>
        <p:spPr>
          <a:xfrm>
            <a:off x="1693444" y="3044914"/>
            <a:ext cx="9608374" cy="1215474"/>
          </a:xfrm>
        </p:spPr>
        <p:txBody>
          <a:bodyPr>
            <a:noAutofit/>
          </a:bodyPr>
          <a:lstStyle/>
          <a:p>
            <a:pPr marL="0" indent="0">
              <a:lnSpc>
                <a:spcPct val="120000"/>
              </a:lnSpc>
              <a:buNone/>
            </a:pPr>
            <a:r>
              <a:rPr lang="zh-CN" altLang="en-US" b="1" dirty="0">
                <a:solidFill>
                  <a:srgbClr val="FF0000"/>
                </a:solidFill>
                <a:latin typeface="微软雅黑" panose="020B0503020204020204" pitchFamily="34" charset="-122"/>
                <a:ea typeface="微软雅黑" panose="020B0503020204020204" pitchFamily="34" charset="-122"/>
              </a:rPr>
              <a:t>数据相关：</a:t>
            </a:r>
            <a:r>
              <a:rPr lang="zh-CN" altLang="en-US" b="1" dirty="0">
                <a:latin typeface="微软雅黑" panose="020B0503020204020204" pitchFamily="34" charset="-122"/>
                <a:ea typeface="微软雅黑" panose="020B0503020204020204" pitchFamily="34" charset="-122"/>
              </a:rPr>
              <a:t>当一条指令需要用到前面指令的执行结果，而这些指令均在流水线中重叠执行时，就有可能产生数据相关。</a:t>
            </a:r>
          </a:p>
        </p:txBody>
      </p:sp>
      <p:sp>
        <p:nvSpPr>
          <p:cNvPr id="3" name="矩形 2"/>
          <p:cNvSpPr/>
          <p:nvPr/>
        </p:nvSpPr>
        <p:spPr>
          <a:xfrm>
            <a:off x="1674983" y="1020313"/>
            <a:ext cx="9364078" cy="1643527"/>
          </a:xfrm>
          <a:prstGeom prst="rect">
            <a:avLst/>
          </a:prstGeom>
        </p:spPr>
        <p:txBody>
          <a:bodyPr wrap="square">
            <a:spAutoFit/>
          </a:bodyPr>
          <a:lstStyle/>
          <a:p>
            <a:pPr>
              <a:lnSpc>
                <a:spcPct val="120000"/>
              </a:lnSpc>
            </a:pPr>
            <a:r>
              <a:rPr lang="zh-CN" altLang="en-US" sz="2800" b="1" dirty="0">
                <a:solidFill>
                  <a:srgbClr val="FF0000"/>
                </a:solidFill>
                <a:latin typeface="微软雅黑" panose="020B0503020204020204" pitchFamily="34" charset="-122"/>
                <a:ea typeface="微软雅黑" panose="020B0503020204020204" pitchFamily="34" charset="-122"/>
              </a:rPr>
              <a:t>结构相关：</a:t>
            </a:r>
            <a:r>
              <a:rPr lang="zh-CN" altLang="en-US" sz="2800" b="1" dirty="0">
                <a:latin typeface="微软雅黑" panose="020B0503020204020204" pitchFamily="34" charset="-122"/>
                <a:ea typeface="微软雅黑" panose="020B0503020204020204" pitchFamily="34" charset="-122"/>
              </a:rPr>
              <a:t>当指令在重叠执行过程中，硬件资源满足不了指令重叠执行的要求，两条或两条以上指令争用同一资源而引起的冲突，因此，结构相关又称为资源相关。</a:t>
            </a:r>
          </a:p>
        </p:txBody>
      </p:sp>
      <p:sp>
        <p:nvSpPr>
          <p:cNvPr id="5" name="矩形 4"/>
          <p:cNvSpPr/>
          <p:nvPr/>
        </p:nvSpPr>
        <p:spPr>
          <a:xfrm>
            <a:off x="1693444" y="4641462"/>
            <a:ext cx="9441305" cy="1643527"/>
          </a:xfrm>
          <a:prstGeom prst="rect">
            <a:avLst/>
          </a:prstGeom>
        </p:spPr>
        <p:txBody>
          <a:bodyPr wrap="square">
            <a:spAutoFit/>
          </a:bodyPr>
          <a:lstStyle/>
          <a:p>
            <a:pPr>
              <a:lnSpc>
                <a:spcPct val="120000"/>
              </a:lnSpc>
            </a:pPr>
            <a:r>
              <a:rPr lang="zh-CN" altLang="en-US" sz="2800" b="1" dirty="0">
                <a:solidFill>
                  <a:srgbClr val="FF0000"/>
                </a:solidFill>
                <a:latin typeface="微软雅黑" panose="020B0503020204020204" pitchFamily="34" charset="-122"/>
                <a:ea typeface="微软雅黑" panose="020B0503020204020204" pitchFamily="34" charset="-122"/>
              </a:rPr>
              <a:t>控制相关：</a:t>
            </a:r>
            <a:r>
              <a:rPr lang="zh-CN" altLang="en-US" sz="2800" b="1" dirty="0">
                <a:latin typeface="微软雅黑" panose="020B0503020204020204" pitchFamily="34" charset="-122"/>
                <a:ea typeface="微软雅黑" panose="020B0503020204020204" pitchFamily="34" charset="-122"/>
              </a:rPr>
              <a:t>是由转移指令引起的。当执行转移指令时，依据转移条件的产生结果，可能为顺序取下条指令；也可能转移到新的目标地址取指令，从而使流水线发生断流。</a:t>
            </a:r>
          </a:p>
        </p:txBody>
      </p:sp>
      <p:sp>
        <p:nvSpPr>
          <p:cNvPr id="7" name="Freeform 14"/>
          <p:cNvSpPr>
            <a:spLocks/>
          </p:cNvSpPr>
          <p:nvPr/>
        </p:nvSpPr>
        <p:spPr bwMode="auto">
          <a:xfrm>
            <a:off x="333199" y="1414416"/>
            <a:ext cx="906039" cy="905446"/>
          </a:xfrm>
          <a:custGeom>
            <a:avLst/>
            <a:gdLst>
              <a:gd name="T0" fmla="*/ 3227 w 3227"/>
              <a:gd name="T1" fmla="*/ 1634 h 3227"/>
              <a:gd name="T2" fmla="*/ 1614 w 3227"/>
              <a:gd name="T3" fmla="*/ 3227 h 3227"/>
              <a:gd name="T4" fmla="*/ 0 w 3227"/>
              <a:gd name="T5" fmla="*/ 1613 h 3227"/>
              <a:gd name="T6" fmla="*/ 1593 w 3227"/>
              <a:gd name="T7" fmla="*/ 0 h 3227"/>
              <a:gd name="T8" fmla="*/ 1593 w 3227"/>
              <a:gd name="T9" fmla="*/ 0 h 3227"/>
              <a:gd name="T10" fmla="*/ 1614 w 3227"/>
              <a:gd name="T11" fmla="*/ 0 h 3227"/>
              <a:gd name="T12" fmla="*/ 3227 w 3227"/>
              <a:gd name="T13" fmla="*/ 0 h 3227"/>
              <a:gd name="T14" fmla="*/ 3227 w 3227"/>
              <a:gd name="T15" fmla="*/ 1613 h 3227"/>
              <a:gd name="T16" fmla="*/ 3227 w 3227"/>
              <a:gd name="T17" fmla="*/ 1634 h 3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27" h="3227">
                <a:moveTo>
                  <a:pt x="3227" y="1634"/>
                </a:moveTo>
                <a:cubicBezTo>
                  <a:pt x="3216" y="2515"/>
                  <a:pt x="2498" y="3227"/>
                  <a:pt x="1614" y="3227"/>
                </a:cubicBezTo>
                <a:cubicBezTo>
                  <a:pt x="723" y="3227"/>
                  <a:pt x="0" y="2504"/>
                  <a:pt x="0" y="1613"/>
                </a:cubicBezTo>
                <a:cubicBezTo>
                  <a:pt x="0" y="729"/>
                  <a:pt x="712" y="11"/>
                  <a:pt x="1593" y="0"/>
                </a:cubicBezTo>
                <a:lnTo>
                  <a:pt x="1593" y="0"/>
                </a:lnTo>
                <a:lnTo>
                  <a:pt x="1614" y="0"/>
                </a:lnTo>
                <a:lnTo>
                  <a:pt x="3227" y="0"/>
                </a:lnTo>
                <a:lnTo>
                  <a:pt x="3227" y="1613"/>
                </a:lnTo>
                <a:lnTo>
                  <a:pt x="3227" y="1634"/>
                </a:ln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solidFill>
                <a:schemeClr val="accent1"/>
              </a:solidFill>
            </a:endParaRPr>
          </a:p>
        </p:txBody>
      </p:sp>
      <p:sp>
        <p:nvSpPr>
          <p:cNvPr id="8" name="Freeform 14"/>
          <p:cNvSpPr>
            <a:spLocks/>
          </p:cNvSpPr>
          <p:nvPr/>
        </p:nvSpPr>
        <p:spPr bwMode="auto">
          <a:xfrm>
            <a:off x="333199" y="3298244"/>
            <a:ext cx="906039" cy="905446"/>
          </a:xfrm>
          <a:custGeom>
            <a:avLst/>
            <a:gdLst>
              <a:gd name="T0" fmla="*/ 3227 w 3227"/>
              <a:gd name="T1" fmla="*/ 1634 h 3227"/>
              <a:gd name="T2" fmla="*/ 1614 w 3227"/>
              <a:gd name="T3" fmla="*/ 3227 h 3227"/>
              <a:gd name="T4" fmla="*/ 0 w 3227"/>
              <a:gd name="T5" fmla="*/ 1613 h 3227"/>
              <a:gd name="T6" fmla="*/ 1593 w 3227"/>
              <a:gd name="T7" fmla="*/ 0 h 3227"/>
              <a:gd name="T8" fmla="*/ 1593 w 3227"/>
              <a:gd name="T9" fmla="*/ 0 h 3227"/>
              <a:gd name="T10" fmla="*/ 1614 w 3227"/>
              <a:gd name="T11" fmla="*/ 0 h 3227"/>
              <a:gd name="T12" fmla="*/ 3227 w 3227"/>
              <a:gd name="T13" fmla="*/ 0 h 3227"/>
              <a:gd name="T14" fmla="*/ 3227 w 3227"/>
              <a:gd name="T15" fmla="*/ 1613 h 3227"/>
              <a:gd name="T16" fmla="*/ 3227 w 3227"/>
              <a:gd name="T17" fmla="*/ 1634 h 3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27" h="3227">
                <a:moveTo>
                  <a:pt x="3227" y="1634"/>
                </a:moveTo>
                <a:cubicBezTo>
                  <a:pt x="3216" y="2515"/>
                  <a:pt x="2498" y="3227"/>
                  <a:pt x="1614" y="3227"/>
                </a:cubicBezTo>
                <a:cubicBezTo>
                  <a:pt x="723" y="3227"/>
                  <a:pt x="0" y="2504"/>
                  <a:pt x="0" y="1613"/>
                </a:cubicBezTo>
                <a:cubicBezTo>
                  <a:pt x="0" y="729"/>
                  <a:pt x="712" y="11"/>
                  <a:pt x="1593" y="0"/>
                </a:cubicBezTo>
                <a:lnTo>
                  <a:pt x="1593" y="0"/>
                </a:lnTo>
                <a:lnTo>
                  <a:pt x="1614" y="0"/>
                </a:lnTo>
                <a:lnTo>
                  <a:pt x="3227" y="0"/>
                </a:lnTo>
                <a:lnTo>
                  <a:pt x="3227" y="1613"/>
                </a:lnTo>
                <a:lnTo>
                  <a:pt x="3227" y="1634"/>
                </a:lnTo>
                <a:close/>
              </a:path>
            </a:pathLst>
          </a:custGeom>
          <a:solidFill>
            <a:srgbClr val="92D050"/>
          </a:solidFill>
          <a:ln>
            <a:noFill/>
          </a:ln>
        </p:spPr>
        <p:txBody>
          <a:bodyPr vert="horz" wrap="square" lIns="91398" tIns="45699" rIns="91398" bIns="45699" numCol="1" anchor="t" anchorCtr="0" compatLnSpc="1">
            <a:prstTxWarp prst="textNoShape">
              <a:avLst/>
            </a:prstTxWarp>
          </a:bodyPr>
          <a:lstStyle/>
          <a:p>
            <a:endParaRPr lang="zh-CN" altLang="en-US" sz="1799">
              <a:solidFill>
                <a:schemeClr val="accent1"/>
              </a:solidFill>
            </a:endParaRPr>
          </a:p>
        </p:txBody>
      </p:sp>
      <p:sp>
        <p:nvSpPr>
          <p:cNvPr id="9" name="Freeform 14"/>
          <p:cNvSpPr>
            <a:spLocks/>
          </p:cNvSpPr>
          <p:nvPr/>
        </p:nvSpPr>
        <p:spPr bwMode="auto">
          <a:xfrm>
            <a:off x="333199" y="5063295"/>
            <a:ext cx="906039" cy="905446"/>
          </a:xfrm>
          <a:custGeom>
            <a:avLst/>
            <a:gdLst>
              <a:gd name="T0" fmla="*/ 3227 w 3227"/>
              <a:gd name="T1" fmla="*/ 1634 h 3227"/>
              <a:gd name="T2" fmla="*/ 1614 w 3227"/>
              <a:gd name="T3" fmla="*/ 3227 h 3227"/>
              <a:gd name="T4" fmla="*/ 0 w 3227"/>
              <a:gd name="T5" fmla="*/ 1613 h 3227"/>
              <a:gd name="T6" fmla="*/ 1593 w 3227"/>
              <a:gd name="T7" fmla="*/ 0 h 3227"/>
              <a:gd name="T8" fmla="*/ 1593 w 3227"/>
              <a:gd name="T9" fmla="*/ 0 h 3227"/>
              <a:gd name="T10" fmla="*/ 1614 w 3227"/>
              <a:gd name="T11" fmla="*/ 0 h 3227"/>
              <a:gd name="T12" fmla="*/ 3227 w 3227"/>
              <a:gd name="T13" fmla="*/ 0 h 3227"/>
              <a:gd name="T14" fmla="*/ 3227 w 3227"/>
              <a:gd name="T15" fmla="*/ 1613 h 3227"/>
              <a:gd name="T16" fmla="*/ 3227 w 3227"/>
              <a:gd name="T17" fmla="*/ 1634 h 3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27" h="3227">
                <a:moveTo>
                  <a:pt x="3227" y="1634"/>
                </a:moveTo>
                <a:cubicBezTo>
                  <a:pt x="3216" y="2515"/>
                  <a:pt x="2498" y="3227"/>
                  <a:pt x="1614" y="3227"/>
                </a:cubicBezTo>
                <a:cubicBezTo>
                  <a:pt x="723" y="3227"/>
                  <a:pt x="0" y="2504"/>
                  <a:pt x="0" y="1613"/>
                </a:cubicBezTo>
                <a:cubicBezTo>
                  <a:pt x="0" y="729"/>
                  <a:pt x="712" y="11"/>
                  <a:pt x="1593" y="0"/>
                </a:cubicBezTo>
                <a:lnTo>
                  <a:pt x="1593" y="0"/>
                </a:lnTo>
                <a:lnTo>
                  <a:pt x="1614" y="0"/>
                </a:lnTo>
                <a:lnTo>
                  <a:pt x="3227" y="0"/>
                </a:lnTo>
                <a:lnTo>
                  <a:pt x="3227" y="1613"/>
                </a:lnTo>
                <a:lnTo>
                  <a:pt x="3227" y="1634"/>
                </a:lnTo>
                <a:close/>
              </a:path>
            </a:pathLst>
          </a:custGeom>
          <a:solidFill>
            <a:srgbClr val="FFC000"/>
          </a:solidFill>
          <a:ln>
            <a:noFill/>
          </a:ln>
        </p:spPr>
        <p:txBody>
          <a:bodyPr vert="horz" wrap="square" lIns="91398" tIns="45699" rIns="91398" bIns="45699" numCol="1" anchor="t" anchorCtr="0" compatLnSpc="1">
            <a:prstTxWarp prst="textNoShape">
              <a:avLst/>
            </a:prstTxWarp>
          </a:bodyPr>
          <a:lstStyle/>
          <a:p>
            <a:endParaRPr lang="zh-CN" altLang="en-US" sz="1799">
              <a:solidFill>
                <a:schemeClr val="accent1"/>
              </a:solidFill>
            </a:endParaRPr>
          </a:p>
        </p:txBody>
      </p:sp>
      <p:grpSp>
        <p:nvGrpSpPr>
          <p:cNvPr id="10" name="组合 9"/>
          <p:cNvGrpSpPr/>
          <p:nvPr/>
        </p:nvGrpSpPr>
        <p:grpSpPr>
          <a:xfrm>
            <a:off x="265635" y="269251"/>
            <a:ext cx="438352" cy="621987"/>
            <a:chOff x="265635" y="269251"/>
            <a:chExt cx="438352" cy="621987"/>
          </a:xfrm>
        </p:grpSpPr>
        <p:sp>
          <p:nvSpPr>
            <p:cNvPr id="11"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2"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3"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
        <p:nvSpPr>
          <p:cNvPr id="2" name="文本框 1"/>
          <p:cNvSpPr txBox="1"/>
          <p:nvPr/>
        </p:nvSpPr>
        <p:spPr>
          <a:xfrm>
            <a:off x="499263" y="1451640"/>
            <a:ext cx="573909" cy="830997"/>
          </a:xfrm>
          <a:prstGeom prst="rect">
            <a:avLst/>
          </a:prstGeom>
          <a:noFill/>
        </p:spPr>
        <p:txBody>
          <a:bodyPr wrap="square" rtlCol="0">
            <a:spAutoFit/>
          </a:bodyPr>
          <a:lstStyle/>
          <a:p>
            <a:r>
              <a:rPr lang="en-US" altLang="zh-CN" sz="4800" b="1" dirty="0">
                <a:solidFill>
                  <a:schemeClr val="bg1"/>
                </a:solidFill>
                <a:latin typeface="微软雅黑" panose="020B0503020204020204" pitchFamily="34" charset="-122"/>
                <a:ea typeface="微软雅黑" panose="020B0503020204020204" pitchFamily="34" charset="-122"/>
              </a:rPr>
              <a:t>1</a:t>
            </a:r>
            <a:endParaRPr lang="zh-CN" altLang="en-US" sz="4800" b="1" dirty="0">
              <a:solidFill>
                <a:schemeClr val="bg1"/>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499263" y="3372693"/>
            <a:ext cx="573909" cy="830997"/>
          </a:xfrm>
          <a:prstGeom prst="rect">
            <a:avLst/>
          </a:prstGeom>
          <a:noFill/>
        </p:spPr>
        <p:txBody>
          <a:bodyPr wrap="square" rtlCol="0">
            <a:spAutoFit/>
          </a:bodyPr>
          <a:lstStyle/>
          <a:p>
            <a:r>
              <a:rPr lang="en-US" altLang="zh-CN" sz="4800" b="1" dirty="0">
                <a:solidFill>
                  <a:schemeClr val="bg1"/>
                </a:solidFill>
                <a:latin typeface="微软雅黑" panose="020B0503020204020204" pitchFamily="34" charset="-122"/>
                <a:ea typeface="微软雅黑" panose="020B0503020204020204" pitchFamily="34" charset="-122"/>
              </a:rPr>
              <a:t>2</a:t>
            </a:r>
            <a:endParaRPr lang="zh-CN" altLang="en-US" sz="4800" b="1" dirty="0">
              <a:solidFill>
                <a:schemeClr val="bg1"/>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499263" y="5119402"/>
            <a:ext cx="573909" cy="830997"/>
          </a:xfrm>
          <a:prstGeom prst="rect">
            <a:avLst/>
          </a:prstGeom>
          <a:noFill/>
        </p:spPr>
        <p:txBody>
          <a:bodyPr wrap="square" rtlCol="0">
            <a:spAutoFit/>
          </a:bodyPr>
          <a:lstStyle/>
          <a:p>
            <a:r>
              <a:rPr lang="en-US" altLang="zh-CN" sz="4800" b="1" dirty="0">
                <a:solidFill>
                  <a:schemeClr val="bg1"/>
                </a:solidFill>
                <a:latin typeface="微软雅黑" panose="020B0503020204020204" pitchFamily="34" charset="-122"/>
                <a:ea typeface="微软雅黑" panose="020B0503020204020204" pitchFamily="34" charset="-122"/>
              </a:rPr>
              <a:t>3</a:t>
            </a:r>
            <a:endParaRPr lang="zh-CN" altLang="en-US" sz="48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47925921"/>
      </p:ext>
    </p:extLst>
  </p:cSld>
  <p:clrMapOvr>
    <a:masterClrMapping/>
  </p:clrMapOvr>
  <mc:AlternateContent xmlns:mc="http://schemas.openxmlformats.org/markup-compatibility/2006" xmlns:p14="http://schemas.microsoft.com/office/powerpoint/2010/main">
    <mc:Choice Requires="p14">
      <p:transition spd="slow">
        <p14:flip dir="r"/>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83"/>
          <p:cNvSpPr>
            <a:spLocks noChangeArrowheads="1"/>
          </p:cNvSpPr>
          <p:nvPr/>
        </p:nvSpPr>
        <p:spPr bwMode="auto">
          <a:xfrm>
            <a:off x="922045" y="891238"/>
            <a:ext cx="10222393" cy="2116756"/>
          </a:xfrm>
          <a:prstGeom prst="rect">
            <a:avLst/>
          </a:prstGeom>
          <a:solidFill>
            <a:srgbClr val="F2F2F2"/>
          </a:solidFill>
          <a:ln w="9525" cmpd="sng">
            <a:solidFill>
              <a:schemeClr val="accent1"/>
            </a:solidFill>
            <a:miter lim="800000"/>
            <a:headEnd/>
            <a:tailEnd/>
          </a:ln>
        </p:spPr>
        <p:txBody>
          <a:bodyPr lIns="91398" tIns="45699" rIns="91398" bIns="45699"/>
          <a:lstStyle/>
          <a:p>
            <a:endParaRPr lang="zh-CN" altLang="en-US" sz="1799"/>
          </a:p>
        </p:txBody>
      </p:sp>
      <p:sp>
        <p:nvSpPr>
          <p:cNvPr id="14" name="Freeform 12"/>
          <p:cNvSpPr>
            <a:spLocks/>
          </p:cNvSpPr>
          <p:nvPr/>
        </p:nvSpPr>
        <p:spPr bwMode="auto">
          <a:xfrm>
            <a:off x="847458" y="745246"/>
            <a:ext cx="528432" cy="530018"/>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04BEB0"/>
          </a:solidFill>
          <a:ln>
            <a:noFill/>
          </a:ln>
          <a:extLst/>
        </p:spPr>
        <p:txBody>
          <a:bodyPr lIns="91398" tIns="45699" rIns="91398" bIns="45699"/>
          <a:lstStyle/>
          <a:p>
            <a:endParaRPr lang="zh-CN" altLang="en-US" sz="1799"/>
          </a:p>
        </p:txBody>
      </p:sp>
      <p:sp>
        <p:nvSpPr>
          <p:cNvPr id="15" name="Freeform 12"/>
          <p:cNvSpPr>
            <a:spLocks/>
          </p:cNvSpPr>
          <p:nvPr/>
        </p:nvSpPr>
        <p:spPr bwMode="auto">
          <a:xfrm flipH="1" flipV="1">
            <a:off x="10739474" y="2586384"/>
            <a:ext cx="528432" cy="530018"/>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lIns="91398" tIns="45699" rIns="91398" bIns="45699"/>
          <a:lstStyle/>
          <a:p>
            <a:endParaRPr lang="zh-CN" altLang="en-US" sz="1799"/>
          </a:p>
        </p:txBody>
      </p:sp>
      <p:sp>
        <p:nvSpPr>
          <p:cNvPr id="91138" name="Rectangle 2"/>
          <p:cNvSpPr>
            <a:spLocks noGrp="1" noChangeArrowheads="1"/>
          </p:cNvSpPr>
          <p:nvPr>
            <p:ph type="title"/>
          </p:nvPr>
        </p:nvSpPr>
        <p:spPr>
          <a:xfrm>
            <a:off x="875773" y="-127132"/>
            <a:ext cx="10515600" cy="1325563"/>
          </a:xfrm>
        </p:spPr>
        <p:txBody>
          <a:bodyPr>
            <a:normAutofit/>
          </a:bodyPr>
          <a:lstStyle/>
          <a:p>
            <a:pPr algn="l">
              <a:lnSpc>
                <a:spcPct val="120000"/>
              </a:lnSpc>
            </a:pPr>
            <a:r>
              <a:rPr lang="zh-CN" altLang="en-US" sz="2800" b="1" dirty="0">
                <a:latin typeface="微软雅黑" panose="020B0503020204020204" pitchFamily="34" charset="-122"/>
                <a:ea typeface="微软雅黑" panose="020B0503020204020204" pitchFamily="34" charset="-122"/>
              </a:rPr>
              <a:t>结构相关</a:t>
            </a:r>
          </a:p>
        </p:txBody>
      </p:sp>
      <p:sp>
        <p:nvSpPr>
          <p:cNvPr id="91155" name="Rectangle 19"/>
          <p:cNvSpPr>
            <a:spLocks noChangeArrowheads="1"/>
          </p:cNvSpPr>
          <p:nvPr/>
        </p:nvSpPr>
        <p:spPr bwMode="auto">
          <a:xfrm>
            <a:off x="6003635" y="25585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fontAlgn="base">
              <a:spcBef>
                <a:spcPct val="0"/>
              </a:spcBef>
              <a:spcAft>
                <a:spcPct val="0"/>
              </a:spcAft>
            </a:pPr>
            <a:endParaRPr lang="zh-CN" altLang="en-US">
              <a:solidFill>
                <a:srgbClr val="FFFFFF"/>
              </a:solidFill>
              <a:ea typeface="宋体" panose="02010600030101010101" pitchFamily="2" charset="-122"/>
            </a:endParaRPr>
          </a:p>
        </p:txBody>
      </p:sp>
      <p:sp>
        <p:nvSpPr>
          <p:cNvPr id="91156" name="Text Box 20"/>
          <p:cNvSpPr txBox="1">
            <a:spLocks noChangeArrowheads="1"/>
          </p:cNvSpPr>
          <p:nvPr/>
        </p:nvSpPr>
        <p:spPr bwMode="auto">
          <a:xfrm>
            <a:off x="988368" y="897971"/>
            <a:ext cx="10156070"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pPr>
            <a:r>
              <a:rPr lang="zh-CN" altLang="en-US" sz="2400" b="1" dirty="0">
                <a:latin typeface="微软雅黑" panose="020B0503020204020204" pitchFamily="34" charset="-122"/>
                <a:ea typeface="微软雅黑" panose="020B0503020204020204" pitchFamily="34" charset="-122"/>
              </a:rPr>
              <a:t>设指令流水线由</a:t>
            </a:r>
            <a:r>
              <a:rPr lang="en-US" altLang="zh-CN" sz="2400" b="1" dirty="0">
                <a:latin typeface="微软雅黑" panose="020B0503020204020204" pitchFamily="34" charset="-122"/>
                <a:ea typeface="微软雅黑" panose="020B0503020204020204" pitchFamily="34" charset="-122"/>
              </a:rPr>
              <a:t>5</a:t>
            </a:r>
            <a:r>
              <a:rPr lang="zh-CN" altLang="en-US" sz="2400" b="1" dirty="0">
                <a:latin typeface="微软雅黑" panose="020B0503020204020204" pitchFamily="34" charset="-122"/>
                <a:ea typeface="微软雅黑" panose="020B0503020204020204" pitchFamily="34" charset="-122"/>
              </a:rPr>
              <a:t>段组成：取指令（</a:t>
            </a:r>
            <a:r>
              <a:rPr lang="en-US" altLang="zh-CN" sz="2400" b="1" dirty="0">
                <a:latin typeface="微软雅黑" panose="020B0503020204020204" pitchFamily="34" charset="-122"/>
                <a:ea typeface="微软雅黑" panose="020B0503020204020204" pitchFamily="34" charset="-122"/>
              </a:rPr>
              <a:t>IF</a:t>
            </a:r>
            <a:r>
              <a:rPr lang="zh-CN" altLang="en-US" sz="2400" b="1" dirty="0">
                <a:latin typeface="微软雅黑" panose="020B0503020204020204" pitchFamily="34" charset="-122"/>
                <a:ea typeface="微软雅黑" panose="020B0503020204020204" pitchFamily="34" charset="-122"/>
              </a:rPr>
              <a:t>）、指令译码（</a:t>
            </a:r>
            <a:r>
              <a:rPr lang="en-US" altLang="zh-CN" sz="2400" b="1" dirty="0">
                <a:latin typeface="微软雅黑" panose="020B0503020204020204" pitchFamily="34" charset="-122"/>
                <a:ea typeface="微软雅黑" panose="020B0503020204020204" pitchFamily="34" charset="-122"/>
              </a:rPr>
              <a:t>ID</a:t>
            </a:r>
            <a:r>
              <a:rPr lang="zh-CN" altLang="en-US" sz="2400" b="1" dirty="0">
                <a:latin typeface="微软雅黑" panose="020B0503020204020204" pitchFamily="34" charset="-122"/>
                <a:ea typeface="微软雅黑" panose="020B0503020204020204" pitchFamily="34" charset="-122"/>
              </a:rPr>
              <a:t>）、取操作数（</a:t>
            </a:r>
            <a:r>
              <a:rPr lang="en-US" altLang="zh-CN" sz="2400" b="1" dirty="0">
                <a:latin typeface="微软雅黑" panose="020B0503020204020204" pitchFamily="34" charset="-122"/>
                <a:ea typeface="微软雅黑" panose="020B0503020204020204" pitchFamily="34" charset="-122"/>
              </a:rPr>
              <a:t>MEM</a:t>
            </a:r>
            <a:r>
              <a:rPr lang="zh-CN" altLang="en-US" sz="2400" b="1" dirty="0">
                <a:latin typeface="微软雅黑" panose="020B0503020204020204" pitchFamily="34" charset="-122"/>
                <a:ea typeface="微软雅黑" panose="020B0503020204020204" pitchFamily="34" charset="-122"/>
              </a:rPr>
              <a:t>）、执行运算（</a:t>
            </a:r>
            <a:r>
              <a:rPr lang="en-US" altLang="zh-CN" sz="2400" b="1" dirty="0">
                <a:latin typeface="微软雅黑" panose="020B0503020204020204" pitchFamily="34" charset="-122"/>
                <a:ea typeface="微软雅黑" panose="020B0503020204020204" pitchFamily="34" charset="-122"/>
              </a:rPr>
              <a:t>EX</a:t>
            </a:r>
            <a:r>
              <a:rPr lang="zh-CN" altLang="en-US" sz="2400" b="1" dirty="0">
                <a:latin typeface="微软雅黑" panose="020B0503020204020204" pitchFamily="34" charset="-122"/>
                <a:ea typeface="微软雅黑" panose="020B0503020204020204" pitchFamily="34" charset="-122"/>
              </a:rPr>
              <a:t>）和写寄存器（</a:t>
            </a:r>
            <a:r>
              <a:rPr lang="en-US" altLang="zh-CN" sz="2400" b="1" dirty="0">
                <a:latin typeface="微软雅黑" panose="020B0503020204020204" pitchFamily="34" charset="-122"/>
                <a:ea typeface="微软雅黑" panose="020B0503020204020204" pitchFamily="34" charset="-122"/>
              </a:rPr>
              <a:t>WR</a:t>
            </a:r>
            <a:r>
              <a:rPr lang="zh-CN" altLang="en-US" sz="2400" b="1" dirty="0">
                <a:latin typeface="微软雅黑" panose="020B0503020204020204" pitchFamily="34" charset="-122"/>
                <a:ea typeface="微软雅黑" panose="020B0503020204020204" pitchFamily="34" charset="-122"/>
              </a:rPr>
              <a:t>）。</a:t>
            </a:r>
            <a:endParaRPr lang="en-US" altLang="zh-CN" sz="2400" b="1" dirty="0">
              <a:latin typeface="微软雅黑" panose="020B0503020204020204" pitchFamily="34" charset="-122"/>
              <a:ea typeface="微软雅黑" panose="020B0503020204020204" pitchFamily="34" charset="-122"/>
            </a:endParaRPr>
          </a:p>
          <a:p>
            <a:pPr fontAlgn="base">
              <a:spcBef>
                <a:spcPct val="50000"/>
              </a:spcBef>
              <a:spcAft>
                <a:spcPct val="0"/>
              </a:spcAft>
            </a:pPr>
            <a:r>
              <a:rPr lang="zh-CN" altLang="en-US" sz="2400" b="1" dirty="0">
                <a:latin typeface="微软雅黑" panose="020B0503020204020204" pitchFamily="34" charset="-122"/>
                <a:ea typeface="微软雅黑" panose="020B0503020204020204" pitchFamily="34" charset="-122"/>
              </a:rPr>
              <a:t>若指令</a:t>
            </a:r>
            <a:r>
              <a:rPr lang="en-US" altLang="zh-CN" sz="2400" b="1" dirty="0">
                <a:solidFill>
                  <a:srgbClr val="FF0000"/>
                </a:solidFill>
                <a:latin typeface="微软雅黑" panose="020B0503020204020204" pitchFamily="34" charset="-122"/>
                <a:ea typeface="微软雅黑" panose="020B0503020204020204" pitchFamily="34" charset="-122"/>
              </a:rPr>
              <a:t>I</a:t>
            </a:r>
            <a:r>
              <a:rPr lang="en-US" altLang="zh-CN" sz="2400" b="1" baseline="-25000" dirty="0">
                <a:solidFill>
                  <a:srgbClr val="FF0000"/>
                </a:solidFill>
                <a:latin typeface="微软雅黑" panose="020B0503020204020204" pitchFamily="34" charset="-122"/>
                <a:ea typeface="微软雅黑" panose="020B0503020204020204" pitchFamily="34" charset="-122"/>
              </a:rPr>
              <a:t>2</a:t>
            </a:r>
            <a:r>
              <a:rPr lang="zh-CN" altLang="en-US" sz="2400" b="1" dirty="0">
                <a:latin typeface="微软雅黑" panose="020B0503020204020204" pitchFamily="34" charset="-122"/>
                <a:ea typeface="微软雅黑" panose="020B0503020204020204" pitchFamily="34" charset="-122"/>
              </a:rPr>
              <a:t>的取操作数和指令</a:t>
            </a:r>
            <a:r>
              <a:rPr lang="en-US" altLang="zh-CN" sz="2400" b="1" dirty="0">
                <a:solidFill>
                  <a:srgbClr val="FF0000"/>
                </a:solidFill>
                <a:latin typeface="微软雅黑" panose="020B0503020204020204" pitchFamily="34" charset="-122"/>
                <a:ea typeface="微软雅黑" panose="020B0503020204020204" pitchFamily="34" charset="-122"/>
              </a:rPr>
              <a:t>I</a:t>
            </a:r>
            <a:r>
              <a:rPr lang="en-US" altLang="zh-CN" sz="2400" b="1" baseline="-25000" dirty="0">
                <a:solidFill>
                  <a:srgbClr val="FF0000"/>
                </a:solidFill>
                <a:latin typeface="微软雅黑" panose="020B0503020204020204" pitchFamily="34" charset="-122"/>
                <a:ea typeface="微软雅黑" panose="020B0503020204020204" pitchFamily="34" charset="-122"/>
              </a:rPr>
              <a:t>4</a:t>
            </a:r>
            <a:r>
              <a:rPr lang="zh-CN" altLang="en-US" sz="2400" b="1" dirty="0">
                <a:latin typeface="微软雅黑" panose="020B0503020204020204" pitchFamily="34" charset="-122"/>
                <a:ea typeface="微软雅黑" panose="020B0503020204020204" pitchFamily="34" charset="-122"/>
              </a:rPr>
              <a:t>的取指令都需要访问存储器。若机器中只有一个单端口存储模块，那么</a:t>
            </a:r>
            <a:r>
              <a:rPr lang="en-US" altLang="zh-CN" sz="2400" b="1" dirty="0">
                <a:latin typeface="微软雅黑" panose="020B0503020204020204" pitchFamily="34" charset="-122"/>
                <a:ea typeface="微软雅黑" panose="020B0503020204020204" pitchFamily="34" charset="-122"/>
              </a:rPr>
              <a:t>I</a:t>
            </a:r>
            <a:r>
              <a:rPr lang="en-US" altLang="zh-CN" sz="2400" b="1" baseline="-25000" dirty="0">
                <a:latin typeface="微软雅黑" panose="020B0503020204020204" pitchFamily="34" charset="-122"/>
                <a:ea typeface="微软雅黑" panose="020B0503020204020204" pitchFamily="34" charset="-122"/>
              </a:rPr>
              <a:t>2</a:t>
            </a:r>
            <a:r>
              <a:rPr lang="zh-CN" altLang="en-US" sz="2400" b="1" dirty="0">
                <a:latin typeface="微软雅黑" panose="020B0503020204020204" pitchFamily="34" charset="-122"/>
                <a:ea typeface="微软雅黑" panose="020B0503020204020204" pitchFamily="34" charset="-122"/>
              </a:rPr>
              <a:t>的取操作数和指令</a:t>
            </a:r>
            <a:r>
              <a:rPr lang="en-US" altLang="zh-CN" sz="2400" b="1" dirty="0">
                <a:latin typeface="微软雅黑" panose="020B0503020204020204" pitchFamily="34" charset="-122"/>
                <a:ea typeface="微软雅黑" panose="020B0503020204020204" pitchFamily="34" charset="-122"/>
              </a:rPr>
              <a:t>I</a:t>
            </a:r>
            <a:r>
              <a:rPr lang="en-US" altLang="zh-CN" sz="2400" b="1" baseline="-25000" dirty="0">
                <a:latin typeface="微软雅黑" panose="020B0503020204020204" pitchFamily="34" charset="-122"/>
                <a:ea typeface="微软雅黑" panose="020B0503020204020204" pitchFamily="34" charset="-122"/>
              </a:rPr>
              <a:t>4</a:t>
            </a:r>
            <a:r>
              <a:rPr lang="zh-CN" altLang="en-US" sz="2400" b="1" dirty="0">
                <a:latin typeface="微软雅黑" panose="020B0503020204020204" pitchFamily="34" charset="-122"/>
                <a:ea typeface="微软雅黑" panose="020B0503020204020204" pitchFamily="34" charset="-122"/>
              </a:rPr>
              <a:t>的取指令就产生了访存冲突，两个操作无法同时进行，是一种典型的资源冲突。</a:t>
            </a:r>
          </a:p>
        </p:txBody>
      </p:sp>
      <p:pic>
        <p:nvPicPr>
          <p:cNvPr id="3" name="图片 2"/>
          <p:cNvPicPr>
            <a:picLocks noChangeAspect="1"/>
          </p:cNvPicPr>
          <p:nvPr/>
        </p:nvPicPr>
        <p:blipFill>
          <a:blip r:embed="rId2"/>
          <a:stretch>
            <a:fillRect/>
          </a:stretch>
        </p:blipFill>
        <p:spPr>
          <a:xfrm>
            <a:off x="1613625" y="3238445"/>
            <a:ext cx="8780019" cy="3383462"/>
          </a:xfrm>
          <a:prstGeom prst="rect">
            <a:avLst/>
          </a:prstGeom>
        </p:spPr>
      </p:pic>
      <mc:AlternateContent xmlns:mc="http://schemas.openxmlformats.org/markup-compatibility/2006" xmlns:a14="http://schemas.microsoft.com/office/drawing/2010/main">
        <mc:Choice Requires="a14">
          <p:sp>
            <p:nvSpPr>
              <p:cNvPr id="2" name="文本框 1"/>
              <p:cNvSpPr txBox="1"/>
              <p:nvPr/>
            </p:nvSpPr>
            <p:spPr>
              <a:xfrm>
                <a:off x="3691506" y="6362135"/>
                <a:ext cx="6681356" cy="369332"/>
              </a:xfrm>
              <a:prstGeom prst="rect">
                <a:avLst/>
              </a:prstGeom>
              <a:noFill/>
            </p:spPr>
            <p:txBody>
              <a:bodyPr wrap="square" rtlCol="0">
                <a:spAutoFit/>
              </a:bodyPr>
              <a:lstStyle/>
              <a:p>
                <a:r>
                  <a:rPr lang="en-US" altLang="zh-CN" b="1" dirty="0"/>
                  <a:t>            1              2             3              </a:t>
                </a:r>
                <a:r>
                  <a:rPr lang="en-US" altLang="zh-CN" b="1" dirty="0">
                    <a:solidFill>
                      <a:srgbClr val="FF0000"/>
                    </a:solidFill>
                  </a:rPr>
                  <a:t>4</a:t>
                </a:r>
                <a:r>
                  <a:rPr lang="en-US" altLang="zh-CN" b="1" dirty="0"/>
                  <a:t>              5       </a:t>
                </a:r>
                <a14:m>
                  <m:oMath xmlns:m="http://schemas.openxmlformats.org/officeDocument/2006/math">
                    <m:r>
                      <a:rPr lang="en-US" altLang="zh-CN" b="1" i="1" smtClean="0">
                        <a:latin typeface="Cambria Math" panose="02040503050406030204" pitchFamily="18" charset="0"/>
                        <a:ea typeface="Cambria Math" panose="02040503050406030204" pitchFamily="18" charset="0"/>
                      </a:rPr>
                      <m:t>∆</m:t>
                    </m:r>
                    <m:r>
                      <a:rPr lang="en-US" altLang="zh-CN" b="1" i="1" smtClean="0">
                        <a:latin typeface="Cambria Math" panose="02040503050406030204" pitchFamily="18" charset="0"/>
                        <a:ea typeface="Cambria Math" panose="02040503050406030204" pitchFamily="18" charset="0"/>
                      </a:rPr>
                      <m:t>𝒕</m:t>
                    </m:r>
                  </m:oMath>
                </a14:m>
                <a:endParaRPr lang="zh-CN" altLang="en-US" b="1" dirty="0"/>
              </a:p>
            </p:txBody>
          </p:sp>
        </mc:Choice>
        <mc:Fallback xmlns="">
          <p:sp>
            <p:nvSpPr>
              <p:cNvPr id="2" name="文本框 1"/>
              <p:cNvSpPr txBox="1">
                <a:spLocks noRot="1" noChangeAspect="1" noMove="1" noResize="1" noEditPoints="1" noAdjustHandles="1" noChangeArrowheads="1" noChangeShapeType="1" noTextEdit="1"/>
              </p:cNvSpPr>
              <p:nvPr/>
            </p:nvSpPr>
            <p:spPr>
              <a:xfrm>
                <a:off x="3691506" y="6362135"/>
                <a:ext cx="6681356" cy="369332"/>
              </a:xfrm>
              <a:prstGeom prst="rect">
                <a:avLst/>
              </a:prstGeom>
              <a:blipFill>
                <a:blip r:embed="rId3"/>
                <a:stretch>
                  <a:fillRect t="-10000"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6552600" y="3613739"/>
                <a:ext cx="1103360" cy="646331"/>
              </a:xfrm>
              <a:prstGeom prst="rect">
                <a:avLst/>
              </a:prstGeom>
              <a:noFill/>
            </p:spPr>
            <p:txBody>
              <a:bodyPr wrap="square" rtlCol="0">
                <a:spAutoFit/>
              </a:bodyPr>
              <a:lstStyle/>
              <a:p>
                <a:r>
                  <a:rPr lang="zh-CN" altLang="en-US" b="1" dirty="0">
                    <a:solidFill>
                      <a:srgbClr val="0000FF"/>
                    </a:solidFill>
                  </a:rPr>
                  <a:t>第</a:t>
                </a:r>
                <a:r>
                  <a:rPr lang="en-US" altLang="zh-CN" b="1" dirty="0">
                    <a:solidFill>
                      <a:srgbClr val="0000FF"/>
                    </a:solidFill>
                  </a:rPr>
                  <a:t>4</a:t>
                </a:r>
                <a:r>
                  <a:rPr lang="zh-CN" altLang="en-US" b="1" dirty="0">
                    <a:solidFill>
                      <a:srgbClr val="0000FF"/>
                    </a:solidFill>
                  </a:rPr>
                  <a:t>个</a:t>
                </a:r>
                <a14:m>
                  <m:oMath xmlns:m="http://schemas.openxmlformats.org/officeDocument/2006/math">
                    <m:r>
                      <a:rPr lang="en-US" altLang="zh-CN" b="1" i="1">
                        <a:solidFill>
                          <a:srgbClr val="0000FF"/>
                        </a:solidFill>
                        <a:latin typeface="Cambria Math" panose="02040503050406030204" pitchFamily="18" charset="0"/>
                        <a:ea typeface="Cambria Math" panose="02040503050406030204" pitchFamily="18" charset="0"/>
                      </a:rPr>
                      <m:t>∆</m:t>
                    </m:r>
                    <m:r>
                      <a:rPr lang="en-US" altLang="zh-CN" b="1" i="1">
                        <a:solidFill>
                          <a:srgbClr val="0000FF"/>
                        </a:solidFill>
                        <a:latin typeface="Cambria Math" panose="02040503050406030204" pitchFamily="18" charset="0"/>
                        <a:ea typeface="Cambria Math" panose="02040503050406030204" pitchFamily="18" charset="0"/>
                      </a:rPr>
                      <m:t>𝒕</m:t>
                    </m:r>
                  </m:oMath>
                </a14:m>
                <a:endParaRPr lang="zh-CN" altLang="en-US" b="1" dirty="0">
                  <a:solidFill>
                    <a:srgbClr val="0000FF"/>
                  </a:solidFill>
                </a:endParaRPr>
              </a:p>
              <a:p>
                <a:endParaRPr lang="zh-CN" altLang="en-US" dirty="0"/>
              </a:p>
            </p:txBody>
          </p:sp>
        </mc:Choice>
        <mc:Fallback xmlns="">
          <p:sp>
            <p:nvSpPr>
              <p:cNvPr id="6" name="文本框 5"/>
              <p:cNvSpPr txBox="1">
                <a:spLocks noRot="1" noChangeAspect="1" noMove="1" noResize="1" noEditPoints="1" noAdjustHandles="1" noChangeArrowheads="1" noChangeShapeType="1" noTextEdit="1"/>
              </p:cNvSpPr>
              <p:nvPr/>
            </p:nvSpPr>
            <p:spPr>
              <a:xfrm>
                <a:off x="6552600" y="3613739"/>
                <a:ext cx="1103360" cy="646331"/>
              </a:xfrm>
              <a:prstGeom prst="rect">
                <a:avLst/>
              </a:prstGeom>
              <a:blipFill>
                <a:blip r:embed="rId4"/>
                <a:stretch>
                  <a:fillRect l="-4972" t="-8491"/>
                </a:stretch>
              </a:blipFill>
            </p:spPr>
            <p:txBody>
              <a:bodyPr/>
              <a:lstStyle/>
              <a:p>
                <a:r>
                  <a:rPr lang="zh-CN" altLang="en-US">
                    <a:noFill/>
                  </a:rPr>
                  <a:t> </a:t>
                </a:r>
              </a:p>
            </p:txBody>
          </p:sp>
        </mc:Fallback>
      </mc:AlternateContent>
      <p:sp>
        <p:nvSpPr>
          <p:cNvPr id="5" name="右大括号 4"/>
          <p:cNvSpPr/>
          <p:nvPr/>
        </p:nvSpPr>
        <p:spPr bwMode="auto">
          <a:xfrm rot="16200000">
            <a:off x="6925311" y="3597178"/>
            <a:ext cx="278915" cy="1024337"/>
          </a:xfrm>
          <a:prstGeom prst="rightBrace">
            <a:avLst/>
          </a:prstGeom>
          <a:noFill/>
          <a:ln w="38100" cap="flat" cmpd="sng" algn="ctr">
            <a:solidFill>
              <a:srgbClr val="FF0000"/>
            </a:solidFill>
            <a:prstDash val="solid"/>
            <a:round/>
            <a:headEnd type="none" w="med" len="med"/>
            <a:tailEnd type="none" w="med" len="med"/>
          </a:ln>
          <a:effectLst>
            <a:outerShdw dist="109250" dir="3267739" algn="ctr" rotWithShape="0">
              <a:schemeClr val="bg1">
                <a:alpha val="50000"/>
              </a:schemeClr>
            </a:outerShdw>
          </a:effectLst>
        </p:spPr>
        <p:txBody>
          <a:bodyPr vert="horz" wrap="squar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bg1"/>
              </a:solidFill>
              <a:effectLst/>
              <a:latin typeface="Arial" panose="020B0604020202020204" pitchFamily="34" charset="0"/>
              <a:ea typeface="宋体" panose="02010600030101010101" pitchFamily="2" charset="-122"/>
            </a:endParaRPr>
          </a:p>
        </p:txBody>
      </p:sp>
      <p:grpSp>
        <p:nvGrpSpPr>
          <p:cNvPr id="9" name="组合 8"/>
          <p:cNvGrpSpPr/>
          <p:nvPr/>
        </p:nvGrpSpPr>
        <p:grpSpPr>
          <a:xfrm>
            <a:off x="265635" y="269251"/>
            <a:ext cx="438352" cy="621987"/>
            <a:chOff x="265635" y="269251"/>
            <a:chExt cx="438352" cy="621987"/>
          </a:xfrm>
        </p:grpSpPr>
        <p:sp>
          <p:nvSpPr>
            <p:cNvPr id="10"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1"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2"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Tree>
    <p:extLst>
      <p:ext uri="{BB962C8B-B14F-4D97-AF65-F5344CB8AC3E}">
        <p14:creationId xmlns:p14="http://schemas.microsoft.com/office/powerpoint/2010/main" val="1153832569"/>
      </p:ext>
    </p:extLst>
  </p:cSld>
  <p:clrMapOvr>
    <a:masterClrMapping/>
  </p:clrMapOvr>
  <mc:AlternateContent xmlns:mc="http://schemas.openxmlformats.org/markup-compatibility/2006" xmlns:p14="http://schemas.microsoft.com/office/powerpoint/2010/main">
    <mc:Choice Requires="p14">
      <p:transition spd="slow">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circle(in)">
                                      <p:cBhvr>
                                        <p:cTn id="13"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2179512" y="4173391"/>
            <a:ext cx="8371145" cy="1942136"/>
          </a:xfrm>
          <a:prstGeom prst="rect">
            <a:avLst/>
          </a:prstGeom>
        </p:spPr>
      </p:pic>
      <p:sp>
        <p:nvSpPr>
          <p:cNvPr id="92165" name="Rectangle 5"/>
          <p:cNvSpPr>
            <a:spLocks noGrp="1" noChangeArrowheads="1"/>
          </p:cNvSpPr>
          <p:nvPr>
            <p:ph type="title"/>
          </p:nvPr>
        </p:nvSpPr>
        <p:spPr>
          <a:xfrm>
            <a:off x="875773" y="0"/>
            <a:ext cx="8691308" cy="1158965"/>
          </a:xfrm>
        </p:spPr>
        <p:txBody>
          <a:bodyPr>
            <a:normAutofit/>
          </a:bodyPr>
          <a:lstStyle/>
          <a:p>
            <a:pPr algn="l">
              <a:lnSpc>
                <a:spcPct val="120000"/>
              </a:lnSpc>
            </a:pPr>
            <a:r>
              <a:rPr lang="zh-CN" altLang="en-US" sz="3200" b="1" dirty="0">
                <a:latin typeface="微软雅黑" panose="020B0503020204020204" pitchFamily="34" charset="-122"/>
                <a:ea typeface="微软雅黑" panose="020B0503020204020204" pitchFamily="34" charset="-122"/>
              </a:rPr>
              <a:t>结构相关解决办法</a:t>
            </a:r>
          </a:p>
        </p:txBody>
      </p:sp>
      <p:sp>
        <p:nvSpPr>
          <p:cNvPr id="92163" name="Rectangle 3"/>
          <p:cNvSpPr>
            <a:spLocks noGrp="1" noChangeArrowheads="1"/>
          </p:cNvSpPr>
          <p:nvPr>
            <p:ph type="body" sz="half" idx="1"/>
          </p:nvPr>
        </p:nvSpPr>
        <p:spPr>
          <a:xfrm>
            <a:off x="698061" y="214058"/>
            <a:ext cx="10779706" cy="2087764"/>
          </a:xfrm>
        </p:spPr>
        <p:txBody>
          <a:bodyPr>
            <a:noAutofit/>
          </a:bodyPr>
          <a:lstStyle/>
          <a:p>
            <a:pPr marL="0" indent="0">
              <a:lnSpc>
                <a:spcPct val="120000"/>
              </a:lnSpc>
              <a:buNone/>
            </a:pPr>
            <a:endParaRPr lang="zh-CN" altLang="en-US" b="1" dirty="0">
              <a:latin typeface="微软雅黑" panose="020B0503020204020204" pitchFamily="34" charset="-122"/>
              <a:ea typeface="微软雅黑" panose="020B0503020204020204" pitchFamily="34" charset="-122"/>
            </a:endParaRPr>
          </a:p>
          <a:p>
            <a:pPr>
              <a:lnSpc>
                <a:spcPct val="120000"/>
              </a:lnSpc>
              <a:buFont typeface="Wingdings" panose="05000000000000000000" pitchFamily="2" charset="2"/>
              <a:buNone/>
            </a:pP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、在机器中</a:t>
            </a:r>
            <a:r>
              <a:rPr lang="zh-CN" altLang="en-US" b="1" dirty="0">
                <a:solidFill>
                  <a:srgbClr val="0000FF"/>
                </a:solidFill>
                <a:latin typeface="微软雅黑" panose="020B0503020204020204" pitchFamily="34" charset="-122"/>
                <a:ea typeface="微软雅黑" panose="020B0503020204020204" pitchFamily="34" charset="-122"/>
              </a:rPr>
              <a:t>增加存储器模块，</a:t>
            </a:r>
            <a:r>
              <a:rPr lang="zh-CN" altLang="en-US" b="1" dirty="0">
                <a:latin typeface="微软雅黑" panose="020B0503020204020204" pitchFamily="34" charset="-122"/>
                <a:ea typeface="微软雅黑" panose="020B0503020204020204" pitchFamily="34" charset="-122"/>
              </a:rPr>
              <a:t>如使用双端口存储器，使指令和数据分别存放在不同的存储器模块中。</a:t>
            </a:r>
          </a:p>
          <a:p>
            <a:pPr>
              <a:lnSpc>
                <a:spcPct val="120000"/>
              </a:lnSpc>
              <a:buNone/>
            </a:pPr>
            <a:r>
              <a:rPr lang="en-US" altLang="zh-CN" b="1" dirty="0">
                <a:latin typeface="微软雅黑" panose="020B0503020204020204" pitchFamily="34" charset="-122"/>
                <a:ea typeface="微软雅黑" panose="020B0503020204020204" pitchFamily="34" charset="-122"/>
              </a:rPr>
              <a:t>2</a:t>
            </a:r>
            <a:r>
              <a:rPr lang="zh-CN" altLang="en-US" b="1" dirty="0">
                <a:latin typeface="微软雅黑" panose="020B0503020204020204" pitchFamily="34" charset="-122"/>
                <a:ea typeface="微软雅黑" panose="020B0503020204020204" pitchFamily="34" charset="-122"/>
              </a:rPr>
              <a:t>、当发生取指令或取操作数冲突时，将其中一个操作的执行时间推迟，如下图：</a:t>
            </a:r>
            <a:r>
              <a:rPr lang="en-US" altLang="zh-CN" b="1" dirty="0">
                <a:solidFill>
                  <a:srgbClr val="FF0000"/>
                </a:solidFill>
                <a:latin typeface="微软雅黑" panose="020B0503020204020204" pitchFamily="34" charset="-122"/>
                <a:ea typeface="微软雅黑" panose="020B0503020204020204" pitchFamily="34" charset="-122"/>
              </a:rPr>
              <a:t>I</a:t>
            </a:r>
            <a:r>
              <a:rPr lang="en-US" altLang="zh-CN" b="1" baseline="-25000" dirty="0">
                <a:solidFill>
                  <a:srgbClr val="FF0000"/>
                </a:solidFill>
                <a:latin typeface="微软雅黑" panose="020B0503020204020204" pitchFamily="34" charset="-122"/>
                <a:ea typeface="微软雅黑" panose="020B0503020204020204" pitchFamily="34" charset="-122"/>
              </a:rPr>
              <a:t>2</a:t>
            </a:r>
            <a:r>
              <a:rPr lang="zh-CN" altLang="en-US" b="1" dirty="0">
                <a:latin typeface="微软雅黑" panose="020B0503020204020204" pitchFamily="34" charset="-122"/>
                <a:ea typeface="微软雅黑" panose="020B0503020204020204" pitchFamily="34" charset="-122"/>
              </a:rPr>
              <a:t>取操作数、</a:t>
            </a:r>
            <a:r>
              <a:rPr lang="en-US" altLang="zh-CN" b="1" dirty="0">
                <a:solidFill>
                  <a:srgbClr val="FF0000"/>
                </a:solidFill>
                <a:latin typeface="微软雅黑" panose="020B0503020204020204" pitchFamily="34" charset="-122"/>
                <a:ea typeface="微软雅黑" panose="020B0503020204020204" pitchFamily="34" charset="-122"/>
              </a:rPr>
              <a:t>I</a:t>
            </a:r>
            <a:r>
              <a:rPr lang="en-US" altLang="zh-CN" b="1" baseline="-25000" dirty="0">
                <a:solidFill>
                  <a:srgbClr val="FF0000"/>
                </a:solidFill>
                <a:latin typeface="微软雅黑" panose="020B0503020204020204" pitchFamily="34" charset="-122"/>
                <a:ea typeface="微软雅黑" panose="020B0503020204020204" pitchFamily="34" charset="-122"/>
              </a:rPr>
              <a:t>4</a:t>
            </a:r>
            <a:r>
              <a:rPr lang="zh-CN" altLang="en-US" b="1" dirty="0">
                <a:latin typeface="微软雅黑" panose="020B0503020204020204" pitchFamily="34" charset="-122"/>
                <a:ea typeface="微软雅黑" panose="020B0503020204020204" pitchFamily="34" charset="-122"/>
              </a:rPr>
              <a:t>取指令，发生了访存冲突。解决方法：推迟</a:t>
            </a:r>
            <a:r>
              <a:rPr lang="en-US" altLang="zh-CN" b="1" dirty="0">
                <a:solidFill>
                  <a:srgbClr val="FF0000"/>
                </a:solidFill>
                <a:latin typeface="微软雅黑" panose="020B0503020204020204" pitchFamily="34" charset="-122"/>
                <a:ea typeface="微软雅黑" panose="020B0503020204020204" pitchFamily="34" charset="-122"/>
              </a:rPr>
              <a:t>I</a:t>
            </a:r>
            <a:r>
              <a:rPr lang="en-US" altLang="zh-CN" b="1" baseline="-25000" dirty="0">
                <a:solidFill>
                  <a:srgbClr val="FF0000"/>
                </a:solidFill>
                <a:latin typeface="微软雅黑" panose="020B0503020204020204" pitchFamily="34" charset="-122"/>
                <a:ea typeface="微软雅黑" panose="020B0503020204020204" pitchFamily="34" charset="-122"/>
              </a:rPr>
              <a:t>4</a:t>
            </a:r>
            <a:r>
              <a:rPr lang="zh-CN" altLang="en-US" b="1" dirty="0">
                <a:latin typeface="微软雅黑" panose="020B0503020204020204" pitchFamily="34" charset="-122"/>
                <a:ea typeface="微软雅黑" panose="020B0503020204020204" pitchFamily="34" charset="-122"/>
              </a:rPr>
              <a:t>的取指操作；</a:t>
            </a:r>
            <a:endParaRPr lang="en-US" altLang="zh-CN" b="1" dirty="0">
              <a:latin typeface="微软雅黑" panose="020B0503020204020204" pitchFamily="34" charset="-122"/>
              <a:ea typeface="微软雅黑" panose="020B0503020204020204" pitchFamily="34" charset="-122"/>
            </a:endParaRPr>
          </a:p>
          <a:p>
            <a:pPr>
              <a:lnSpc>
                <a:spcPct val="120000"/>
              </a:lnSpc>
              <a:buNone/>
            </a:pPr>
            <a:r>
              <a:rPr lang="en-US" altLang="zh-CN" b="1" dirty="0">
                <a:latin typeface="微软雅黑" panose="020B0503020204020204" pitchFamily="34" charset="-122"/>
                <a:ea typeface="微软雅黑" panose="020B0503020204020204" pitchFamily="34" charset="-122"/>
              </a:rPr>
              <a:t>  </a:t>
            </a:r>
            <a:r>
              <a:rPr lang="zh-CN" altLang="en-US" b="1" dirty="0">
                <a:latin typeface="微软雅黑" panose="020B0503020204020204" pitchFamily="34" charset="-122"/>
                <a:ea typeface="微软雅黑" panose="020B0503020204020204" pitchFamily="34" charset="-122"/>
              </a:rPr>
              <a:t>结果：发生流水线的断流，流水线的吞吐率下降了。 </a:t>
            </a:r>
          </a:p>
        </p:txBody>
      </p:sp>
      <p:sp>
        <p:nvSpPr>
          <p:cNvPr id="92169" name="Rectangle 9"/>
          <p:cNvSpPr>
            <a:spLocks noChangeArrowheads="1"/>
          </p:cNvSpPr>
          <p:nvPr/>
        </p:nvSpPr>
        <p:spPr bwMode="auto">
          <a:xfrm>
            <a:off x="6003635" y="25966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fontAlgn="base">
              <a:spcBef>
                <a:spcPct val="0"/>
              </a:spcBef>
              <a:spcAft>
                <a:spcPct val="0"/>
              </a:spcAft>
            </a:pPr>
            <a:endParaRPr lang="zh-CN" altLang="en-US">
              <a:solidFill>
                <a:srgbClr val="FFFFFF"/>
              </a:solidFill>
              <a:ea typeface="宋体" panose="02010600030101010101" pitchFamily="2" charset="-122"/>
            </a:endParaRPr>
          </a:p>
        </p:txBody>
      </p:sp>
      <p:sp>
        <p:nvSpPr>
          <p:cNvPr id="92170" name="Text Box 10"/>
          <p:cNvSpPr txBox="1">
            <a:spLocks noChangeArrowheads="1"/>
          </p:cNvSpPr>
          <p:nvPr/>
        </p:nvSpPr>
        <p:spPr bwMode="auto">
          <a:xfrm>
            <a:off x="1668476" y="6368163"/>
            <a:ext cx="3766239"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fontAlgn="base">
              <a:spcBef>
                <a:spcPct val="50000"/>
              </a:spcBef>
              <a:spcAft>
                <a:spcPct val="0"/>
              </a:spcAft>
            </a:pPr>
            <a:r>
              <a:rPr lang="zh-CN" altLang="en-US" b="1" dirty="0">
                <a:solidFill>
                  <a:srgbClr val="0000FF"/>
                </a:solidFill>
                <a:ea typeface="宋体" panose="02010600030101010101" pitchFamily="2" charset="-122"/>
              </a:rPr>
              <a:t>访存相关引起流水线断流 </a:t>
            </a:r>
          </a:p>
        </p:txBody>
      </p:sp>
      <p:sp>
        <p:nvSpPr>
          <p:cNvPr id="4" name="矩形 3"/>
          <p:cNvSpPr/>
          <p:nvPr/>
        </p:nvSpPr>
        <p:spPr bwMode="auto">
          <a:xfrm>
            <a:off x="4370030" y="5673145"/>
            <a:ext cx="571500" cy="301337"/>
          </a:xfrm>
          <a:prstGeom prst="rect">
            <a:avLst/>
          </a:prstGeom>
          <a:noFill/>
          <a:ln w="38100" cap="flat" cmpd="sng" algn="ctr">
            <a:solidFill>
              <a:srgbClr val="0000FF"/>
            </a:solidFill>
            <a:prstDash val="dash"/>
            <a:round/>
            <a:headEnd type="none" w="med" len="med"/>
            <a:tailEnd type="none" w="med" len="med"/>
          </a:ln>
          <a:effectLst>
            <a:outerShdw dist="109250" dir="3267739" algn="ctr" rotWithShape="0">
              <a:schemeClr val="bg1">
                <a:alpha val="50000"/>
              </a:schemeClr>
            </a:outerShdw>
          </a:effectLst>
        </p:spPr>
        <p:txBody>
          <a:bodyPr vert="horz" wrap="squar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bg1"/>
              </a:solidFill>
              <a:effectLst/>
              <a:latin typeface="Arial" panose="020B0604020202020204" pitchFamily="34" charset="0"/>
              <a:ea typeface="宋体" panose="02010600030101010101" pitchFamily="2" charset="-122"/>
            </a:endParaRPr>
          </a:p>
        </p:txBody>
      </p:sp>
      <p:sp>
        <p:nvSpPr>
          <p:cNvPr id="3" name="矩形 2"/>
          <p:cNvSpPr/>
          <p:nvPr/>
        </p:nvSpPr>
        <p:spPr>
          <a:xfrm>
            <a:off x="6097299" y="6434076"/>
            <a:ext cx="1949573" cy="369332"/>
          </a:xfrm>
          <a:prstGeom prst="rect">
            <a:avLst/>
          </a:prstGeom>
        </p:spPr>
        <p:txBody>
          <a:bodyPr wrap="none">
            <a:spAutoFit/>
          </a:bodyPr>
          <a:lstStyle/>
          <a:p>
            <a:r>
              <a:rPr lang="zh-CN" altLang="en-US" b="1" dirty="0">
                <a:solidFill>
                  <a:srgbClr val="FF0000"/>
                </a:solidFill>
                <a:ea typeface="宋体" panose="02010600030101010101" pitchFamily="2" charset="-122"/>
              </a:rPr>
              <a:t>推迟</a:t>
            </a:r>
            <a:r>
              <a:rPr lang="en-US" altLang="zh-CN" b="1" dirty="0">
                <a:solidFill>
                  <a:srgbClr val="FF0000"/>
                </a:solidFill>
                <a:ea typeface="宋体" panose="02010600030101010101" pitchFamily="2" charset="-122"/>
              </a:rPr>
              <a:t>I</a:t>
            </a:r>
            <a:r>
              <a:rPr lang="en-US" altLang="zh-CN" b="1" baseline="-25000" dirty="0">
                <a:solidFill>
                  <a:srgbClr val="FF0000"/>
                </a:solidFill>
                <a:ea typeface="宋体" panose="02010600030101010101" pitchFamily="2" charset="-122"/>
              </a:rPr>
              <a:t>4</a:t>
            </a:r>
            <a:r>
              <a:rPr lang="zh-CN" altLang="en-US" b="1" dirty="0">
                <a:solidFill>
                  <a:srgbClr val="FF0000"/>
                </a:solidFill>
                <a:ea typeface="宋体" panose="02010600030101010101" pitchFamily="2" charset="-122"/>
              </a:rPr>
              <a:t>的取指操作</a:t>
            </a:r>
            <a:endParaRPr lang="zh-CN" altLang="en-US" b="1" dirty="0">
              <a:solidFill>
                <a:srgbClr val="FF0000"/>
              </a:solidFill>
            </a:endParaRPr>
          </a:p>
        </p:txBody>
      </p:sp>
      <p:cxnSp>
        <p:nvCxnSpPr>
          <p:cNvPr id="6" name="直接箭头连接符 5"/>
          <p:cNvCxnSpPr/>
          <p:nvPr/>
        </p:nvCxnSpPr>
        <p:spPr bwMode="auto">
          <a:xfrm flipV="1">
            <a:off x="3852335" y="6054204"/>
            <a:ext cx="678048" cy="385860"/>
          </a:xfrm>
          <a:prstGeom prst="straightConnector1">
            <a:avLst/>
          </a:prstGeom>
          <a:gradFill rotWithShape="1">
            <a:gsLst>
              <a:gs pos="0">
                <a:schemeClr val="accent1"/>
              </a:gs>
              <a:gs pos="100000">
                <a:schemeClr val="accent1">
                  <a:gamma/>
                  <a:shade val="46275"/>
                  <a:invGamma/>
                </a:schemeClr>
              </a:gs>
            </a:gsLst>
            <a:lin ang="0" scaled="1"/>
          </a:gradFill>
          <a:ln w="38100" cap="flat" cmpd="sng" algn="ctr">
            <a:solidFill>
              <a:srgbClr val="0000FF"/>
            </a:solidFill>
            <a:prstDash val="solid"/>
            <a:round/>
            <a:headEnd type="none" w="med" len="med"/>
            <a:tailEnd type="triangle"/>
          </a:ln>
          <a:effectLst>
            <a:outerShdw dist="109250" dir="3267739" algn="ctr" rotWithShape="0">
              <a:schemeClr val="bg1">
                <a:alpha val="50000"/>
              </a:schemeClr>
            </a:outerShdw>
          </a:effectLst>
        </p:spPr>
      </p:cxnSp>
      <p:cxnSp>
        <p:nvCxnSpPr>
          <p:cNvPr id="14" name="直接箭头连接符 13"/>
          <p:cNvCxnSpPr/>
          <p:nvPr/>
        </p:nvCxnSpPr>
        <p:spPr bwMode="auto">
          <a:xfrm flipH="1" flipV="1">
            <a:off x="5343183" y="6054204"/>
            <a:ext cx="1618313" cy="385860"/>
          </a:xfrm>
          <a:prstGeom prst="straightConnector1">
            <a:avLst/>
          </a:prstGeom>
          <a:gradFill rotWithShape="1">
            <a:gsLst>
              <a:gs pos="0">
                <a:schemeClr val="accent1"/>
              </a:gs>
              <a:gs pos="100000">
                <a:schemeClr val="accent1">
                  <a:gamma/>
                  <a:shade val="46275"/>
                  <a:invGamma/>
                </a:schemeClr>
              </a:gs>
            </a:gsLst>
            <a:lin ang="0" scaled="1"/>
          </a:gradFill>
          <a:ln w="38100" cap="flat" cmpd="sng" algn="ctr">
            <a:solidFill>
              <a:srgbClr val="FF0000"/>
            </a:solidFill>
            <a:prstDash val="solid"/>
            <a:round/>
            <a:headEnd type="none" w="med" len="med"/>
            <a:tailEnd type="triangle"/>
          </a:ln>
          <a:effectLst>
            <a:outerShdw dist="109250" dir="3267739" algn="ctr" rotWithShape="0">
              <a:schemeClr val="bg1">
                <a:alpha val="50000"/>
              </a:schemeClr>
            </a:outerShdw>
          </a:effectLst>
        </p:spPr>
      </p:cxnSp>
      <p:grpSp>
        <p:nvGrpSpPr>
          <p:cNvPr id="11" name="组合 10"/>
          <p:cNvGrpSpPr/>
          <p:nvPr/>
        </p:nvGrpSpPr>
        <p:grpSpPr>
          <a:xfrm>
            <a:off x="265635" y="269251"/>
            <a:ext cx="438352" cy="621987"/>
            <a:chOff x="265635" y="269251"/>
            <a:chExt cx="438352" cy="621987"/>
          </a:xfrm>
        </p:grpSpPr>
        <p:sp>
          <p:nvSpPr>
            <p:cNvPr id="12"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3"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5"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Tree>
    <p:extLst>
      <p:ext uri="{BB962C8B-B14F-4D97-AF65-F5344CB8AC3E}">
        <p14:creationId xmlns:p14="http://schemas.microsoft.com/office/powerpoint/2010/main" val="590179156"/>
      </p:ext>
    </p:extLst>
  </p:cSld>
  <p:clrMapOvr>
    <a:masterClrMapping/>
  </p:clrMapOvr>
  <mc:AlternateContent xmlns:mc="http://schemas.openxmlformats.org/markup-compatibility/2006" xmlns:p14="http://schemas.microsoft.com/office/powerpoint/2010/main">
    <mc:Choice Requires="p14">
      <p:transition spd="slow">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p:cTn id="17" dur="1000" fill="hold"/>
                                        <p:tgtEl>
                                          <p:spTgt spid="4"/>
                                        </p:tgtEl>
                                        <p:attrNameLst>
                                          <p:attrName>ppt_w</p:attrName>
                                        </p:attrNameLst>
                                      </p:cBhvr>
                                      <p:tavLst>
                                        <p:tav tm="0">
                                          <p:val>
                                            <p:fltVal val="0"/>
                                          </p:val>
                                        </p:tav>
                                        <p:tav tm="100000">
                                          <p:val>
                                            <p:strVal val="#ppt_w"/>
                                          </p:val>
                                        </p:tav>
                                      </p:tavLst>
                                    </p:anim>
                                    <p:anim calcmode="lin" valueType="num">
                                      <p:cBhvr>
                                        <p:cTn id="18" dur="1000" fill="hold"/>
                                        <p:tgtEl>
                                          <p:spTgt spid="4"/>
                                        </p:tgtEl>
                                        <p:attrNameLst>
                                          <p:attrName>ppt_h</p:attrName>
                                        </p:attrNameLst>
                                      </p:cBhvr>
                                      <p:tavLst>
                                        <p:tav tm="0">
                                          <p:val>
                                            <p:fltVal val="0"/>
                                          </p:val>
                                        </p:tav>
                                        <p:tav tm="100000">
                                          <p:val>
                                            <p:strVal val="#ppt_h"/>
                                          </p:val>
                                        </p:tav>
                                      </p:tavLst>
                                    </p:anim>
                                    <p:anim calcmode="lin" valueType="num">
                                      <p:cBhvr>
                                        <p:cTn id="19" dur="1000" fill="hold"/>
                                        <p:tgtEl>
                                          <p:spTgt spid="4"/>
                                        </p:tgtEl>
                                        <p:attrNameLst>
                                          <p:attrName>style.rotation</p:attrName>
                                        </p:attrNameLst>
                                      </p:cBhvr>
                                      <p:tavLst>
                                        <p:tav tm="0">
                                          <p:val>
                                            <p:fltVal val="90"/>
                                          </p:val>
                                        </p:tav>
                                        <p:tav tm="100000">
                                          <p:val>
                                            <p:fltVal val="0"/>
                                          </p:val>
                                        </p:tav>
                                      </p:tavLst>
                                    </p:anim>
                                    <p:animEffect transition="in" filter="fade">
                                      <p:cBhvr>
                                        <p:cTn id="20" dur="10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92170"/>
                                        </p:tgtEl>
                                        <p:attrNameLst>
                                          <p:attrName>style.visibility</p:attrName>
                                        </p:attrNameLst>
                                      </p:cBhvr>
                                      <p:to>
                                        <p:strVal val="visible"/>
                                      </p:to>
                                    </p:set>
                                    <p:anim calcmode="lin" valueType="num">
                                      <p:cBhvr additive="base">
                                        <p:cTn id="29" dur="500" fill="hold"/>
                                        <p:tgtEl>
                                          <p:spTgt spid="92170"/>
                                        </p:tgtEl>
                                        <p:attrNameLst>
                                          <p:attrName>ppt_x</p:attrName>
                                        </p:attrNameLst>
                                      </p:cBhvr>
                                      <p:tavLst>
                                        <p:tav tm="0">
                                          <p:val>
                                            <p:strVal val="#ppt_x"/>
                                          </p:val>
                                        </p:tav>
                                        <p:tav tm="100000">
                                          <p:val>
                                            <p:strVal val="#ppt_x"/>
                                          </p:val>
                                        </p:tav>
                                      </p:tavLst>
                                    </p:anim>
                                    <p:anim calcmode="lin" valueType="num">
                                      <p:cBhvr additive="base">
                                        <p:cTn id="30" dur="500" fill="hold"/>
                                        <p:tgtEl>
                                          <p:spTgt spid="921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70" grpId="0"/>
      <p:bldP spid="4" grpId="0" animBg="1"/>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83"/>
          <p:cNvSpPr>
            <a:spLocks noChangeArrowheads="1"/>
          </p:cNvSpPr>
          <p:nvPr/>
        </p:nvSpPr>
        <p:spPr bwMode="auto">
          <a:xfrm>
            <a:off x="6928045" y="1240061"/>
            <a:ext cx="4803954" cy="4981870"/>
          </a:xfrm>
          <a:prstGeom prst="rect">
            <a:avLst/>
          </a:prstGeom>
          <a:solidFill>
            <a:srgbClr val="F2F2F2"/>
          </a:solidFill>
          <a:ln w="9525" cmpd="sng">
            <a:solidFill>
              <a:schemeClr val="accent1"/>
            </a:solidFill>
            <a:miter lim="800000"/>
            <a:headEnd/>
            <a:tailEnd/>
          </a:ln>
        </p:spPr>
        <p:txBody>
          <a:bodyPr lIns="91398" tIns="45699" rIns="91398" bIns="45699"/>
          <a:lstStyle/>
          <a:p>
            <a:endParaRPr lang="zh-CN" altLang="en-US" sz="1799"/>
          </a:p>
        </p:txBody>
      </p:sp>
      <p:sp>
        <p:nvSpPr>
          <p:cNvPr id="6" name="Freeform 12"/>
          <p:cNvSpPr>
            <a:spLocks/>
          </p:cNvSpPr>
          <p:nvPr/>
        </p:nvSpPr>
        <p:spPr bwMode="auto">
          <a:xfrm>
            <a:off x="6839529" y="1125105"/>
            <a:ext cx="528432" cy="530018"/>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04BEB0"/>
          </a:solidFill>
          <a:ln>
            <a:noFill/>
          </a:ln>
          <a:extLst/>
        </p:spPr>
        <p:txBody>
          <a:bodyPr lIns="91398" tIns="45699" rIns="91398" bIns="45699"/>
          <a:lstStyle/>
          <a:p>
            <a:endParaRPr lang="zh-CN" altLang="en-US" sz="1799"/>
          </a:p>
        </p:txBody>
      </p:sp>
      <p:sp>
        <p:nvSpPr>
          <p:cNvPr id="7" name="Freeform 12"/>
          <p:cNvSpPr>
            <a:spLocks/>
          </p:cNvSpPr>
          <p:nvPr/>
        </p:nvSpPr>
        <p:spPr bwMode="auto">
          <a:xfrm flipH="1" flipV="1">
            <a:off x="11311331" y="5806869"/>
            <a:ext cx="528432" cy="530018"/>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04BEB0"/>
          </a:solidFill>
          <a:ln>
            <a:noFill/>
          </a:ln>
          <a:extLst/>
        </p:spPr>
        <p:txBody>
          <a:bodyPr lIns="91398" tIns="45699" rIns="91398" bIns="45699"/>
          <a:lstStyle/>
          <a:p>
            <a:endParaRPr lang="zh-CN" altLang="en-US" sz="1799"/>
          </a:p>
        </p:txBody>
      </p:sp>
      <p:sp>
        <p:nvSpPr>
          <p:cNvPr id="93186" name="Rectangle 2"/>
          <p:cNvSpPr>
            <a:spLocks noGrp="1" noChangeArrowheads="1"/>
          </p:cNvSpPr>
          <p:nvPr>
            <p:ph type="title"/>
          </p:nvPr>
        </p:nvSpPr>
        <p:spPr>
          <a:xfrm>
            <a:off x="960193" y="-85502"/>
            <a:ext cx="10515600" cy="1325563"/>
          </a:xfrm>
        </p:spPr>
        <p:txBody>
          <a:bodyPr>
            <a:normAutofit/>
          </a:bodyPr>
          <a:lstStyle/>
          <a:p>
            <a:pPr algn="l">
              <a:lnSpc>
                <a:spcPct val="120000"/>
              </a:lnSpc>
            </a:pPr>
            <a:r>
              <a:rPr lang="zh-CN" altLang="en-US" sz="3200" b="1" dirty="0">
                <a:latin typeface="微软雅黑" panose="020B0503020204020204" pitchFamily="34" charset="-122"/>
                <a:ea typeface="微软雅黑" panose="020B0503020204020204" pitchFamily="34" charset="-122"/>
              </a:rPr>
              <a:t>数据相关 </a:t>
            </a:r>
          </a:p>
        </p:txBody>
      </p:sp>
      <p:sp>
        <p:nvSpPr>
          <p:cNvPr id="93187" name="Rectangle 3"/>
          <p:cNvSpPr>
            <a:spLocks noGrp="1" noChangeArrowheads="1"/>
          </p:cNvSpPr>
          <p:nvPr>
            <p:ph type="body" idx="1"/>
          </p:nvPr>
        </p:nvSpPr>
        <p:spPr>
          <a:xfrm>
            <a:off x="7078354" y="1493760"/>
            <a:ext cx="4541417" cy="4728171"/>
          </a:xfrm>
        </p:spPr>
        <p:txBody>
          <a:bodyPr>
            <a:normAutofit/>
          </a:bodyPr>
          <a:lstStyle/>
          <a:p>
            <a:pPr marL="0" indent="0">
              <a:lnSpc>
                <a:spcPct val="120000"/>
              </a:lnSpc>
              <a:buNone/>
            </a:pPr>
            <a:r>
              <a:rPr lang="zh-CN" altLang="en-US" b="1" dirty="0">
                <a:latin typeface="微软雅黑" panose="020B0503020204020204" pitchFamily="34" charset="-122"/>
                <a:ea typeface="微软雅黑" panose="020B0503020204020204" pitchFamily="34" charset="-122"/>
              </a:rPr>
              <a:t>在流水计算机中，指令的处理是重叠进行的，前一条指令还没有结束，第二、三条指令就陆续地开始工作。由于多条指令的重叠处理，当后继指令所需的操作数，刚好是前一指令的运算结果时，便发生数据相关冲突。 </a:t>
            </a:r>
          </a:p>
        </p:txBody>
      </p:sp>
      <p:sp>
        <p:nvSpPr>
          <p:cNvPr id="93188" name="Rectangle 4"/>
          <p:cNvSpPr>
            <a:spLocks noChangeArrowheads="1"/>
          </p:cNvSpPr>
          <p:nvPr/>
        </p:nvSpPr>
        <p:spPr bwMode="auto">
          <a:xfrm>
            <a:off x="28021" y="1655123"/>
            <a:ext cx="682487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fontAlgn="base">
              <a:lnSpc>
                <a:spcPct val="300000"/>
              </a:lnSpc>
              <a:spcBef>
                <a:spcPct val="0"/>
              </a:spcBef>
              <a:spcAft>
                <a:spcPct val="0"/>
              </a:spcAft>
            </a:pPr>
            <a:r>
              <a:rPr lang="en-US" altLang="zh-CN" sz="2400" b="1" dirty="0">
                <a:solidFill>
                  <a:srgbClr val="1D528D"/>
                </a:solidFill>
                <a:latin typeface="微软雅黑" panose="020B0503020204020204" pitchFamily="34" charset="-122"/>
                <a:ea typeface="微软雅黑" panose="020B0503020204020204" pitchFamily="34" charset="-122"/>
              </a:rPr>
              <a:t>ADD    R1, R2, R3  </a:t>
            </a:r>
            <a:r>
              <a:rPr lang="zh-CN" altLang="en-US" sz="2400" b="1" dirty="0">
                <a:solidFill>
                  <a:srgbClr val="1D528D"/>
                </a:solidFill>
                <a:latin typeface="微软雅黑" panose="020B0503020204020204" pitchFamily="34" charset="-122"/>
                <a:ea typeface="微软雅黑" panose="020B0503020204020204" pitchFamily="34" charset="-122"/>
              </a:rPr>
              <a:t>；（</a:t>
            </a:r>
            <a:r>
              <a:rPr lang="en-US" altLang="zh-CN" sz="2400" b="1" dirty="0">
                <a:solidFill>
                  <a:srgbClr val="1D528D"/>
                </a:solidFill>
                <a:latin typeface="微软雅黑" panose="020B0503020204020204" pitchFamily="34" charset="-122"/>
                <a:ea typeface="微软雅黑" panose="020B0503020204020204" pitchFamily="34" charset="-122"/>
              </a:rPr>
              <a:t>R2</a:t>
            </a:r>
            <a:r>
              <a:rPr lang="zh-CN" altLang="en-US" sz="2400" b="1" dirty="0">
                <a:solidFill>
                  <a:srgbClr val="1D528D"/>
                </a:solidFill>
                <a:latin typeface="微软雅黑" panose="020B0503020204020204" pitchFamily="34" charset="-122"/>
                <a:ea typeface="微软雅黑" panose="020B0503020204020204" pitchFamily="34" charset="-122"/>
              </a:rPr>
              <a:t>）＋（</a:t>
            </a:r>
            <a:r>
              <a:rPr lang="en-US" altLang="zh-CN" sz="2400" b="1" dirty="0">
                <a:solidFill>
                  <a:srgbClr val="1D528D"/>
                </a:solidFill>
                <a:latin typeface="微软雅黑" panose="020B0503020204020204" pitchFamily="34" charset="-122"/>
                <a:ea typeface="微软雅黑" panose="020B0503020204020204" pitchFamily="34" charset="-122"/>
              </a:rPr>
              <a:t>R3</a:t>
            </a:r>
            <a:r>
              <a:rPr lang="zh-CN" altLang="en-US" sz="2400" b="1" dirty="0">
                <a:solidFill>
                  <a:srgbClr val="1D528D"/>
                </a:solidFill>
                <a:latin typeface="微软雅黑" panose="020B0503020204020204" pitchFamily="34" charset="-122"/>
                <a:ea typeface="微软雅黑" panose="020B0503020204020204" pitchFamily="34" charset="-122"/>
              </a:rPr>
              <a:t>）→ </a:t>
            </a:r>
            <a:r>
              <a:rPr lang="en-US" altLang="zh-CN" sz="2400" b="1" dirty="0">
                <a:solidFill>
                  <a:srgbClr val="FF0000"/>
                </a:solidFill>
                <a:latin typeface="微软雅黑" panose="020B0503020204020204" pitchFamily="34" charset="-122"/>
                <a:ea typeface="微软雅黑" panose="020B0503020204020204" pitchFamily="34" charset="-122"/>
              </a:rPr>
              <a:t>R1</a:t>
            </a:r>
          </a:p>
          <a:p>
            <a:pPr algn="ctr" fontAlgn="base">
              <a:lnSpc>
                <a:spcPct val="300000"/>
              </a:lnSpc>
              <a:spcBef>
                <a:spcPct val="0"/>
              </a:spcBef>
              <a:spcAft>
                <a:spcPct val="0"/>
              </a:spcAft>
            </a:pPr>
            <a:r>
              <a:rPr lang="en-US" altLang="zh-CN" sz="2400" b="1" dirty="0">
                <a:solidFill>
                  <a:srgbClr val="1D528D"/>
                </a:solidFill>
                <a:latin typeface="微软雅黑" panose="020B0503020204020204" pitchFamily="34" charset="-122"/>
                <a:ea typeface="微软雅黑" panose="020B0503020204020204" pitchFamily="34" charset="-122"/>
              </a:rPr>
              <a:t>SUB    R4, R1, R5  </a:t>
            </a:r>
            <a:r>
              <a:rPr lang="zh-CN" altLang="en-US" sz="2400" b="1" dirty="0">
                <a:solidFill>
                  <a:srgbClr val="1D528D"/>
                </a:solidFill>
                <a:latin typeface="微软雅黑" panose="020B0503020204020204" pitchFamily="34" charset="-122"/>
                <a:ea typeface="微软雅黑" panose="020B0503020204020204" pitchFamily="34" charset="-122"/>
              </a:rPr>
              <a:t>；（</a:t>
            </a:r>
            <a:r>
              <a:rPr lang="en-US" altLang="zh-CN" sz="2400" b="1" dirty="0">
                <a:solidFill>
                  <a:srgbClr val="FF0000"/>
                </a:solidFill>
                <a:latin typeface="微软雅黑" panose="020B0503020204020204" pitchFamily="34" charset="-122"/>
                <a:ea typeface="微软雅黑" panose="020B0503020204020204" pitchFamily="34" charset="-122"/>
              </a:rPr>
              <a:t>R1</a:t>
            </a:r>
            <a:r>
              <a:rPr lang="zh-CN" altLang="en-US" sz="2400" b="1" dirty="0">
                <a:solidFill>
                  <a:srgbClr val="1D528D"/>
                </a:solidFill>
                <a:latin typeface="微软雅黑" panose="020B0503020204020204" pitchFamily="34" charset="-122"/>
                <a:ea typeface="微软雅黑" panose="020B0503020204020204" pitchFamily="34" charset="-122"/>
              </a:rPr>
              <a:t>）－（</a:t>
            </a:r>
            <a:r>
              <a:rPr lang="en-US" altLang="zh-CN" sz="2400" b="1" dirty="0">
                <a:solidFill>
                  <a:srgbClr val="1D528D"/>
                </a:solidFill>
                <a:latin typeface="微软雅黑" panose="020B0503020204020204" pitchFamily="34" charset="-122"/>
                <a:ea typeface="微软雅黑" panose="020B0503020204020204" pitchFamily="34" charset="-122"/>
              </a:rPr>
              <a:t>R5</a:t>
            </a:r>
            <a:r>
              <a:rPr lang="zh-CN" altLang="en-US" sz="2400" b="1" dirty="0">
                <a:solidFill>
                  <a:srgbClr val="1D528D"/>
                </a:solidFill>
                <a:latin typeface="微软雅黑" panose="020B0503020204020204" pitchFamily="34" charset="-122"/>
                <a:ea typeface="微软雅黑" panose="020B0503020204020204" pitchFamily="34" charset="-122"/>
              </a:rPr>
              <a:t>）→ </a:t>
            </a:r>
            <a:r>
              <a:rPr lang="en-US" altLang="zh-CN" sz="2400" b="1" dirty="0">
                <a:solidFill>
                  <a:srgbClr val="1D528D"/>
                </a:solidFill>
                <a:latin typeface="微软雅黑" panose="020B0503020204020204" pitchFamily="34" charset="-122"/>
                <a:ea typeface="微软雅黑" panose="020B0503020204020204" pitchFamily="34" charset="-122"/>
              </a:rPr>
              <a:t>R4</a:t>
            </a:r>
          </a:p>
          <a:p>
            <a:pPr algn="ctr" fontAlgn="base">
              <a:lnSpc>
                <a:spcPct val="300000"/>
              </a:lnSpc>
              <a:spcBef>
                <a:spcPct val="0"/>
              </a:spcBef>
              <a:spcAft>
                <a:spcPct val="0"/>
              </a:spcAft>
            </a:pPr>
            <a:r>
              <a:rPr lang="en-US" altLang="zh-CN" sz="2400" b="1" dirty="0">
                <a:solidFill>
                  <a:srgbClr val="1D528D"/>
                </a:solidFill>
                <a:latin typeface="微软雅黑" panose="020B0503020204020204" pitchFamily="34" charset="-122"/>
                <a:ea typeface="微软雅黑" panose="020B0503020204020204" pitchFamily="34" charset="-122"/>
              </a:rPr>
              <a:t>AND    R6, R1, R7  </a:t>
            </a:r>
            <a:r>
              <a:rPr lang="zh-CN" altLang="en-US" sz="2400" b="1" dirty="0">
                <a:solidFill>
                  <a:srgbClr val="1D528D"/>
                </a:solidFill>
                <a:latin typeface="微软雅黑" panose="020B0503020204020204" pitchFamily="34" charset="-122"/>
                <a:ea typeface="微软雅黑" panose="020B0503020204020204" pitchFamily="34" charset="-122"/>
              </a:rPr>
              <a:t>；（</a:t>
            </a:r>
            <a:r>
              <a:rPr lang="en-US" altLang="zh-CN" sz="2400" b="1" dirty="0">
                <a:solidFill>
                  <a:srgbClr val="FF0000"/>
                </a:solidFill>
                <a:latin typeface="微软雅黑" panose="020B0503020204020204" pitchFamily="34" charset="-122"/>
                <a:ea typeface="微软雅黑" panose="020B0503020204020204" pitchFamily="34" charset="-122"/>
              </a:rPr>
              <a:t>R1</a:t>
            </a:r>
            <a:r>
              <a:rPr lang="zh-CN" altLang="en-US" sz="2400" b="1" dirty="0">
                <a:solidFill>
                  <a:srgbClr val="1D528D"/>
                </a:solidFill>
                <a:latin typeface="微软雅黑" panose="020B0503020204020204" pitchFamily="34" charset="-122"/>
                <a:ea typeface="微软雅黑" panose="020B0503020204020204" pitchFamily="34" charset="-122"/>
              </a:rPr>
              <a:t>）∧（</a:t>
            </a:r>
            <a:r>
              <a:rPr lang="en-US" altLang="zh-CN" sz="2400" b="1" dirty="0">
                <a:solidFill>
                  <a:srgbClr val="1D528D"/>
                </a:solidFill>
                <a:latin typeface="微软雅黑" panose="020B0503020204020204" pitchFamily="34" charset="-122"/>
                <a:ea typeface="微软雅黑" panose="020B0503020204020204" pitchFamily="34" charset="-122"/>
              </a:rPr>
              <a:t>R7</a:t>
            </a:r>
            <a:r>
              <a:rPr lang="zh-CN" altLang="en-US" sz="2400" b="1" dirty="0">
                <a:solidFill>
                  <a:srgbClr val="1D528D"/>
                </a:solidFill>
                <a:latin typeface="微软雅黑" panose="020B0503020204020204" pitchFamily="34" charset="-122"/>
                <a:ea typeface="微软雅黑" panose="020B0503020204020204" pitchFamily="34" charset="-122"/>
              </a:rPr>
              <a:t>）→ </a:t>
            </a:r>
            <a:r>
              <a:rPr lang="en-US" altLang="zh-CN" sz="2400" b="1" dirty="0">
                <a:solidFill>
                  <a:srgbClr val="1D528D"/>
                </a:solidFill>
                <a:latin typeface="微软雅黑" panose="020B0503020204020204" pitchFamily="34" charset="-122"/>
                <a:ea typeface="微软雅黑" panose="020B0503020204020204" pitchFamily="34" charset="-122"/>
              </a:rPr>
              <a:t>R6</a:t>
            </a:r>
          </a:p>
        </p:txBody>
      </p:sp>
      <p:grpSp>
        <p:nvGrpSpPr>
          <p:cNvPr id="8" name="组合 7"/>
          <p:cNvGrpSpPr/>
          <p:nvPr/>
        </p:nvGrpSpPr>
        <p:grpSpPr>
          <a:xfrm>
            <a:off x="265635" y="269251"/>
            <a:ext cx="438352" cy="621987"/>
            <a:chOff x="265635" y="269251"/>
            <a:chExt cx="438352" cy="621987"/>
          </a:xfrm>
        </p:grpSpPr>
        <p:sp>
          <p:nvSpPr>
            <p:cNvPr id="9"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0"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1"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Tree>
    <p:extLst>
      <p:ext uri="{BB962C8B-B14F-4D97-AF65-F5344CB8AC3E}">
        <p14:creationId xmlns:p14="http://schemas.microsoft.com/office/powerpoint/2010/main" val="544547578"/>
      </p:ext>
    </p:extLst>
  </p:cSld>
  <p:clrMapOvr>
    <a:masterClrMapping/>
  </p:clrMapOvr>
  <mc:AlternateContent xmlns:mc="http://schemas.openxmlformats.org/markup-compatibility/2006" xmlns:p14="http://schemas.microsoft.com/office/powerpoint/2010/main">
    <mc:Choice Requires="p14">
      <p:transition spd="slow">
        <p14:flip dir="r"/>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a:xfrm>
            <a:off x="758573" y="-146192"/>
            <a:ext cx="12147472" cy="1325563"/>
          </a:xfrm>
        </p:spPr>
        <p:txBody>
          <a:bodyPr>
            <a:normAutofit/>
          </a:bodyPr>
          <a:lstStyle/>
          <a:p>
            <a:pPr algn="l">
              <a:lnSpc>
                <a:spcPct val="120000"/>
              </a:lnSpc>
            </a:pPr>
            <a:r>
              <a:rPr lang="zh-CN" altLang="en-US" sz="2800" b="1" dirty="0">
                <a:latin typeface="微软雅黑" panose="020B0503020204020204" pitchFamily="34" charset="-122"/>
                <a:ea typeface="微软雅黑" panose="020B0503020204020204" pitchFamily="34" charset="-122"/>
              </a:rPr>
              <a:t>顺序流动和异步流动</a:t>
            </a:r>
          </a:p>
        </p:txBody>
      </p:sp>
      <p:sp>
        <p:nvSpPr>
          <p:cNvPr id="101379" name="Rectangle 3"/>
          <p:cNvSpPr>
            <a:spLocks noGrp="1" noChangeArrowheads="1"/>
          </p:cNvSpPr>
          <p:nvPr>
            <p:ph type="body" idx="1"/>
          </p:nvPr>
        </p:nvSpPr>
        <p:spPr>
          <a:xfrm>
            <a:off x="221401" y="747679"/>
            <a:ext cx="11619321" cy="1110178"/>
          </a:xfrm>
        </p:spPr>
        <p:txBody>
          <a:bodyPr>
            <a:noAutofit/>
          </a:bodyPr>
          <a:lstStyle/>
          <a:p>
            <a:pPr marL="0" indent="0">
              <a:lnSpc>
                <a:spcPct val="120000"/>
              </a:lnSpc>
              <a:buNone/>
            </a:pPr>
            <a:r>
              <a:rPr lang="zh-CN" altLang="en-US" b="1" dirty="0">
                <a:latin typeface="微软雅黑" panose="020B0503020204020204" pitchFamily="34" charset="-122"/>
                <a:ea typeface="微软雅黑" panose="020B0503020204020204" pitchFamily="34" charset="-122"/>
              </a:rPr>
              <a:t>     任务在流水线中的流动顺序的安排和控制可以有两种方式：</a:t>
            </a:r>
          </a:p>
          <a:p>
            <a:pPr marL="400050" lvl="1" indent="0">
              <a:lnSpc>
                <a:spcPct val="120000"/>
              </a:lnSpc>
              <a:buNone/>
            </a:pPr>
            <a:r>
              <a:rPr lang="en-US" altLang="zh-CN" sz="2800" b="1" dirty="0">
                <a:latin typeface="微软雅黑" panose="020B0503020204020204" pitchFamily="34" charset="-122"/>
                <a:ea typeface="微软雅黑" panose="020B0503020204020204" pitchFamily="34" charset="-122"/>
              </a:rPr>
              <a:t> 1</a:t>
            </a:r>
            <a:r>
              <a:rPr lang="zh-CN" altLang="en-US" sz="2800" b="1" dirty="0">
                <a:latin typeface="微软雅黑" panose="020B0503020204020204" pitchFamily="34" charset="-122"/>
                <a:ea typeface="微软雅黑" panose="020B0503020204020204" pitchFamily="34" charset="-122"/>
              </a:rPr>
              <a:t>、任务流入和流出的顺序一致，称为</a:t>
            </a:r>
            <a:r>
              <a:rPr lang="zh-CN" altLang="en-US" sz="2800" b="1" dirty="0">
                <a:solidFill>
                  <a:srgbClr val="FF0000"/>
                </a:solidFill>
                <a:latin typeface="微软雅黑" panose="020B0503020204020204" pitchFamily="34" charset="-122"/>
                <a:ea typeface="微软雅黑" panose="020B0503020204020204" pitchFamily="34" charset="-122"/>
              </a:rPr>
              <a:t>顺序流动方式</a:t>
            </a:r>
            <a:r>
              <a:rPr lang="zh-CN" altLang="en-US" sz="2800" b="1" dirty="0">
                <a:latin typeface="微软雅黑" panose="020B0503020204020204" pitchFamily="34" charset="-122"/>
                <a:ea typeface="微软雅黑" panose="020B0503020204020204" pitchFamily="34" charset="-122"/>
              </a:rPr>
              <a:t>或同步流动方式；</a:t>
            </a:r>
          </a:p>
          <a:p>
            <a:pPr marL="400050" lvl="1" indent="0">
              <a:lnSpc>
                <a:spcPct val="120000"/>
              </a:lnSpc>
              <a:buNone/>
            </a:pPr>
            <a:r>
              <a:rPr lang="en-US" altLang="zh-CN" sz="2800" b="1" dirty="0">
                <a:latin typeface="微软雅黑" panose="020B0503020204020204" pitchFamily="34" charset="-122"/>
                <a:ea typeface="微软雅黑" panose="020B0503020204020204" pitchFamily="34" charset="-122"/>
              </a:rPr>
              <a:t> 2</a:t>
            </a:r>
            <a:r>
              <a:rPr lang="zh-CN" altLang="en-US" sz="2800" b="1" dirty="0">
                <a:latin typeface="微软雅黑" panose="020B0503020204020204" pitchFamily="34" charset="-122"/>
                <a:ea typeface="微软雅黑" panose="020B0503020204020204" pitchFamily="34" charset="-122"/>
              </a:rPr>
              <a:t>、任务流出和流入的顺序可以不同，称为</a:t>
            </a:r>
            <a:r>
              <a:rPr lang="zh-CN" altLang="en-US" sz="2800" b="1" dirty="0">
                <a:solidFill>
                  <a:srgbClr val="FF0000"/>
                </a:solidFill>
                <a:latin typeface="微软雅黑" panose="020B0503020204020204" pitchFamily="34" charset="-122"/>
                <a:ea typeface="微软雅黑" panose="020B0503020204020204" pitchFamily="34" charset="-122"/>
              </a:rPr>
              <a:t>异步流动方式</a:t>
            </a:r>
            <a:r>
              <a:rPr lang="zh-CN" altLang="en-US" sz="2800" b="1" dirty="0">
                <a:latin typeface="微软雅黑" panose="020B0503020204020204" pitchFamily="34" charset="-122"/>
                <a:ea typeface="微软雅黑" panose="020B0503020204020204" pitchFamily="34" charset="-122"/>
              </a:rPr>
              <a:t>。</a:t>
            </a:r>
          </a:p>
        </p:txBody>
      </p:sp>
      <p:sp>
        <p:nvSpPr>
          <p:cNvPr id="101381" name="Rectangle 5"/>
          <p:cNvSpPr>
            <a:spLocks noChangeArrowheads="1"/>
          </p:cNvSpPr>
          <p:nvPr/>
        </p:nvSpPr>
        <p:spPr bwMode="auto">
          <a:xfrm>
            <a:off x="6003635" y="20632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fontAlgn="base">
              <a:spcBef>
                <a:spcPct val="0"/>
              </a:spcBef>
              <a:spcAft>
                <a:spcPct val="0"/>
              </a:spcAft>
            </a:pPr>
            <a:endParaRPr lang="zh-CN" altLang="en-US">
              <a:solidFill>
                <a:srgbClr val="FFFFFF"/>
              </a:solidFill>
              <a:ea typeface="宋体" panose="02010600030101010101" pitchFamily="2" charset="-122"/>
            </a:endParaRPr>
          </a:p>
        </p:txBody>
      </p:sp>
      <p:sp>
        <p:nvSpPr>
          <p:cNvPr id="101383" name="Rectangle 7"/>
          <p:cNvSpPr>
            <a:spLocks noChangeArrowheads="1"/>
          </p:cNvSpPr>
          <p:nvPr/>
        </p:nvSpPr>
        <p:spPr bwMode="auto">
          <a:xfrm>
            <a:off x="6003635" y="23727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fontAlgn="base">
              <a:spcBef>
                <a:spcPct val="0"/>
              </a:spcBef>
              <a:spcAft>
                <a:spcPct val="0"/>
              </a:spcAft>
            </a:pPr>
            <a:endParaRPr lang="zh-CN" altLang="en-US">
              <a:solidFill>
                <a:srgbClr val="FFFFFF"/>
              </a:solidFill>
              <a:ea typeface="宋体" panose="02010600030101010101" pitchFamily="2" charset="-122"/>
            </a:endParaRPr>
          </a:p>
        </p:txBody>
      </p:sp>
      <p:sp>
        <p:nvSpPr>
          <p:cNvPr id="3" name="文本框 2"/>
          <p:cNvSpPr txBox="1"/>
          <p:nvPr/>
        </p:nvSpPr>
        <p:spPr>
          <a:xfrm>
            <a:off x="1403527" y="2535376"/>
            <a:ext cx="3036711" cy="769441"/>
          </a:xfrm>
          <a:prstGeom prst="rect">
            <a:avLst/>
          </a:prstGeom>
          <a:noFill/>
        </p:spPr>
        <p:txBody>
          <a:bodyPr wrap="square" rtlCol="0">
            <a:spAutoFit/>
          </a:bodyPr>
          <a:lstStyle/>
          <a:p>
            <a:r>
              <a:rPr lang="en-US" altLang="zh-CN" sz="2200" b="1" dirty="0">
                <a:solidFill>
                  <a:srgbClr val="0000FF"/>
                </a:solidFill>
              </a:rPr>
              <a:t>j</a:t>
            </a:r>
            <a:r>
              <a:rPr lang="zh-CN" altLang="en-US" sz="2200" b="1" dirty="0"/>
              <a:t>的源操作数地址</a:t>
            </a:r>
            <a:endParaRPr lang="en-US" altLang="zh-CN" sz="2200" b="1" dirty="0"/>
          </a:p>
          <a:p>
            <a:r>
              <a:rPr lang="en-US" altLang="zh-CN" sz="2200" b="1" dirty="0">
                <a:solidFill>
                  <a:srgbClr val="0000FF"/>
                </a:solidFill>
              </a:rPr>
              <a:t>h</a:t>
            </a:r>
            <a:r>
              <a:rPr lang="zh-CN" altLang="en-US" sz="2200" b="1" dirty="0"/>
              <a:t>的目的操作数地址</a:t>
            </a:r>
          </a:p>
        </p:txBody>
      </p:sp>
      <p:pic>
        <p:nvPicPr>
          <p:cNvPr id="4" name="图片 3"/>
          <p:cNvPicPr>
            <a:picLocks noChangeAspect="1"/>
          </p:cNvPicPr>
          <p:nvPr/>
        </p:nvPicPr>
        <p:blipFill>
          <a:blip r:embed="rId3"/>
          <a:stretch>
            <a:fillRect/>
          </a:stretch>
        </p:blipFill>
        <p:spPr>
          <a:xfrm flipH="1">
            <a:off x="4021548" y="2585155"/>
            <a:ext cx="200495" cy="619130"/>
          </a:xfrm>
          <a:prstGeom prst="rect">
            <a:avLst/>
          </a:prstGeom>
        </p:spPr>
      </p:pic>
      <p:sp>
        <p:nvSpPr>
          <p:cNvPr id="5" name="文本框 4"/>
          <p:cNvSpPr txBox="1"/>
          <p:nvPr/>
        </p:nvSpPr>
        <p:spPr>
          <a:xfrm>
            <a:off x="4334933" y="2703066"/>
            <a:ext cx="722489" cy="400110"/>
          </a:xfrm>
          <a:prstGeom prst="rect">
            <a:avLst/>
          </a:prstGeom>
          <a:noFill/>
        </p:spPr>
        <p:txBody>
          <a:bodyPr wrap="square" rtlCol="0">
            <a:spAutoFit/>
          </a:bodyPr>
          <a:lstStyle/>
          <a:p>
            <a:r>
              <a:rPr lang="zh-CN" altLang="en-US" sz="2000" b="1" dirty="0">
                <a:solidFill>
                  <a:srgbClr val="FF0000"/>
                </a:solidFill>
              </a:rPr>
              <a:t>相同</a:t>
            </a:r>
          </a:p>
        </p:txBody>
      </p:sp>
      <p:sp>
        <p:nvSpPr>
          <p:cNvPr id="6" name="文本框 5"/>
          <p:cNvSpPr txBox="1"/>
          <p:nvPr/>
        </p:nvSpPr>
        <p:spPr>
          <a:xfrm>
            <a:off x="5839590" y="2652624"/>
            <a:ext cx="4152308" cy="430887"/>
          </a:xfrm>
          <a:prstGeom prst="rect">
            <a:avLst/>
          </a:prstGeom>
          <a:noFill/>
        </p:spPr>
        <p:txBody>
          <a:bodyPr wrap="square" rtlCol="0">
            <a:spAutoFit/>
          </a:bodyPr>
          <a:lstStyle/>
          <a:p>
            <a:r>
              <a:rPr lang="en-US" altLang="zh-CN" sz="2200" b="1" dirty="0">
                <a:solidFill>
                  <a:srgbClr val="0000FF"/>
                </a:solidFill>
              </a:rPr>
              <a:t>h</a:t>
            </a:r>
            <a:r>
              <a:rPr lang="zh-CN" altLang="en-US" sz="2200" b="1" dirty="0"/>
              <a:t>和</a:t>
            </a:r>
            <a:r>
              <a:rPr lang="en-US" altLang="zh-CN" sz="2200" b="1" dirty="0">
                <a:solidFill>
                  <a:srgbClr val="0000FF"/>
                </a:solidFill>
              </a:rPr>
              <a:t>j</a:t>
            </a:r>
            <a:r>
              <a:rPr lang="zh-CN" altLang="en-US" sz="2200" b="1" dirty="0"/>
              <a:t>发生了“</a:t>
            </a:r>
            <a:r>
              <a:rPr lang="zh-CN" altLang="en-US" sz="2200" b="1" dirty="0">
                <a:solidFill>
                  <a:srgbClr val="0000FF"/>
                </a:solidFill>
              </a:rPr>
              <a:t>先写后读</a:t>
            </a:r>
            <a:r>
              <a:rPr lang="zh-CN" altLang="en-US" sz="2200" b="1" dirty="0"/>
              <a:t>”相关</a:t>
            </a:r>
          </a:p>
        </p:txBody>
      </p:sp>
      <p:pic>
        <p:nvPicPr>
          <p:cNvPr id="8" name="图片 7"/>
          <p:cNvPicPr>
            <a:picLocks noChangeAspect="1"/>
          </p:cNvPicPr>
          <p:nvPr/>
        </p:nvPicPr>
        <p:blipFill>
          <a:blip r:embed="rId4"/>
          <a:stretch>
            <a:fillRect/>
          </a:stretch>
        </p:blipFill>
        <p:spPr>
          <a:xfrm>
            <a:off x="5000199" y="2787285"/>
            <a:ext cx="881843" cy="218811"/>
          </a:xfrm>
          <a:prstGeom prst="rect">
            <a:avLst/>
          </a:prstGeom>
        </p:spPr>
      </p:pic>
      <p:pic>
        <p:nvPicPr>
          <p:cNvPr id="10" name="图片 9"/>
          <p:cNvPicPr>
            <a:picLocks noChangeAspect="1"/>
          </p:cNvPicPr>
          <p:nvPr/>
        </p:nvPicPr>
        <p:blipFill>
          <a:blip r:embed="rId5"/>
          <a:stretch>
            <a:fillRect/>
          </a:stretch>
        </p:blipFill>
        <p:spPr>
          <a:xfrm>
            <a:off x="1066800" y="3288504"/>
            <a:ext cx="10274881" cy="3027046"/>
          </a:xfrm>
          <a:prstGeom prst="rect">
            <a:avLst/>
          </a:prstGeom>
        </p:spPr>
      </p:pic>
      <p:sp>
        <p:nvSpPr>
          <p:cNvPr id="11" name="矩形 10"/>
          <p:cNvSpPr/>
          <p:nvPr/>
        </p:nvSpPr>
        <p:spPr>
          <a:xfrm>
            <a:off x="2475500" y="6331900"/>
            <a:ext cx="7661921" cy="369332"/>
          </a:xfrm>
          <a:prstGeom prst="rect">
            <a:avLst/>
          </a:prstGeom>
        </p:spPr>
        <p:txBody>
          <a:bodyPr wrap="square">
            <a:spAutoFit/>
          </a:bodyPr>
          <a:lstStyle/>
          <a:p>
            <a:pPr algn="ctr"/>
            <a:r>
              <a:rPr lang="zh-CN" altLang="en-US" b="1" dirty="0">
                <a:solidFill>
                  <a:srgbClr val="000000"/>
                </a:solidFill>
                <a:latin typeface="宋体" panose="02010600030101010101" pitchFamily="2" charset="-122"/>
                <a:ea typeface="宋体" panose="02010600030101010101" pitchFamily="2" charset="-122"/>
              </a:rPr>
              <a:t>采用异步流动和顺序流动两种方式，均</a:t>
            </a:r>
            <a:r>
              <a:rPr lang="zh-CN" altLang="en-US" b="1" dirty="0">
                <a:solidFill>
                  <a:srgbClr val="0000FF"/>
                </a:solidFill>
                <a:latin typeface="宋体" panose="02010600030101010101" pitchFamily="2" charset="-122"/>
                <a:ea typeface="宋体" panose="02010600030101010101" pitchFamily="2" charset="-122"/>
              </a:rPr>
              <a:t>要求</a:t>
            </a:r>
            <a:r>
              <a:rPr lang="en-US" altLang="zh-CN" b="1" dirty="0">
                <a:solidFill>
                  <a:srgbClr val="0000FF"/>
                </a:solidFill>
                <a:latin typeface="Microsoft Sans Serif" panose="020B0604020202020204" pitchFamily="34" charset="0"/>
                <a:ea typeface="宋体" panose="02010600030101010101" pitchFamily="2" charset="-122"/>
              </a:rPr>
              <a:t>h</a:t>
            </a:r>
            <a:r>
              <a:rPr lang="zh-CN" altLang="en-US" b="1" dirty="0">
                <a:solidFill>
                  <a:srgbClr val="0000FF"/>
                </a:solidFill>
                <a:latin typeface="宋体" panose="02010600030101010101" pitchFamily="2" charset="-122"/>
                <a:ea typeface="宋体" panose="02010600030101010101" pitchFamily="2" charset="-122"/>
              </a:rPr>
              <a:t>先写入，然后</a:t>
            </a:r>
            <a:r>
              <a:rPr lang="en-US" altLang="zh-CN" b="1" dirty="0">
                <a:solidFill>
                  <a:srgbClr val="0000FF"/>
                </a:solidFill>
                <a:latin typeface="Microsoft Sans Serif" panose="020B0604020202020204" pitchFamily="34" charset="0"/>
                <a:ea typeface="宋体" panose="02010600030101010101" pitchFamily="2" charset="-122"/>
              </a:rPr>
              <a:t>j</a:t>
            </a:r>
            <a:r>
              <a:rPr lang="zh-CN" altLang="en-US" b="1" dirty="0">
                <a:solidFill>
                  <a:srgbClr val="0000FF"/>
                </a:solidFill>
                <a:latin typeface="宋体" panose="02010600030101010101" pitchFamily="2" charset="-122"/>
                <a:ea typeface="宋体" panose="02010600030101010101" pitchFamily="2" charset="-122"/>
              </a:rPr>
              <a:t>再读出</a:t>
            </a:r>
            <a:endParaRPr lang="zh-CN" altLang="en-US" b="1" dirty="0">
              <a:solidFill>
                <a:srgbClr val="0000FF"/>
              </a:solidFill>
              <a:latin typeface="Microsoft Sans Serif" panose="020B0604020202020204" pitchFamily="34" charset="0"/>
              <a:ea typeface="宋体" panose="02010600030101010101" pitchFamily="2" charset="-122"/>
            </a:endParaRPr>
          </a:p>
        </p:txBody>
      </p:sp>
      <p:cxnSp>
        <p:nvCxnSpPr>
          <p:cNvPr id="13" name="直接箭头连接符 12"/>
          <p:cNvCxnSpPr/>
          <p:nvPr/>
        </p:nvCxnSpPr>
        <p:spPr bwMode="auto">
          <a:xfrm flipH="1">
            <a:off x="9158879" y="3399890"/>
            <a:ext cx="447965" cy="436749"/>
          </a:xfrm>
          <a:prstGeom prst="straightConnector1">
            <a:avLst/>
          </a:prstGeom>
          <a:gradFill rotWithShape="1">
            <a:gsLst>
              <a:gs pos="0">
                <a:schemeClr val="accent1"/>
              </a:gs>
              <a:gs pos="100000">
                <a:schemeClr val="accent1">
                  <a:gamma/>
                  <a:shade val="46275"/>
                  <a:invGamma/>
                </a:schemeClr>
              </a:gs>
            </a:gsLst>
            <a:lin ang="0" scaled="1"/>
          </a:gradFill>
          <a:ln w="38100" cap="flat" cmpd="sng" algn="ctr">
            <a:solidFill>
              <a:srgbClr val="FF0000"/>
            </a:solidFill>
            <a:prstDash val="solid"/>
            <a:round/>
            <a:headEnd type="none" w="med" len="med"/>
            <a:tailEnd type="triangle"/>
          </a:ln>
          <a:effectLst>
            <a:outerShdw dist="109250" dir="3267739" algn="ctr" rotWithShape="0">
              <a:schemeClr val="bg1">
                <a:alpha val="50000"/>
              </a:schemeClr>
            </a:outerShdw>
          </a:effectLst>
        </p:spPr>
      </p:cxnSp>
      <p:cxnSp>
        <p:nvCxnSpPr>
          <p:cNvPr id="16" name="直接箭头连接符 15"/>
          <p:cNvCxnSpPr/>
          <p:nvPr/>
        </p:nvCxnSpPr>
        <p:spPr bwMode="auto">
          <a:xfrm>
            <a:off x="3000905" y="3303890"/>
            <a:ext cx="261585" cy="573531"/>
          </a:xfrm>
          <a:prstGeom prst="straightConnector1">
            <a:avLst/>
          </a:prstGeom>
          <a:gradFill rotWithShape="1">
            <a:gsLst>
              <a:gs pos="0">
                <a:schemeClr val="accent1"/>
              </a:gs>
              <a:gs pos="100000">
                <a:schemeClr val="accent1">
                  <a:gamma/>
                  <a:shade val="46275"/>
                  <a:invGamma/>
                </a:schemeClr>
              </a:gs>
            </a:gsLst>
            <a:lin ang="0" scaled="1"/>
          </a:gradFill>
          <a:ln w="38100" cap="flat" cmpd="sng" algn="ctr">
            <a:solidFill>
              <a:srgbClr val="FF0000"/>
            </a:solidFill>
            <a:prstDash val="solid"/>
            <a:round/>
            <a:headEnd type="none" w="med" len="med"/>
            <a:tailEnd type="triangle"/>
          </a:ln>
          <a:effectLst>
            <a:outerShdw dist="109250" dir="3267739" algn="ctr" rotWithShape="0">
              <a:schemeClr val="bg1">
                <a:alpha val="50000"/>
              </a:schemeClr>
            </a:outerShdw>
          </a:effectLst>
        </p:spPr>
      </p:cxnSp>
      <p:cxnSp>
        <p:nvCxnSpPr>
          <p:cNvPr id="19" name="直接箭头连接符 18"/>
          <p:cNvCxnSpPr/>
          <p:nvPr/>
        </p:nvCxnSpPr>
        <p:spPr bwMode="auto">
          <a:xfrm flipH="1">
            <a:off x="9158880" y="3083511"/>
            <a:ext cx="447964" cy="299931"/>
          </a:xfrm>
          <a:prstGeom prst="straightConnector1">
            <a:avLst/>
          </a:prstGeom>
          <a:gradFill rotWithShape="1">
            <a:gsLst>
              <a:gs pos="0">
                <a:schemeClr val="accent1"/>
              </a:gs>
              <a:gs pos="100000">
                <a:schemeClr val="accent1">
                  <a:gamma/>
                  <a:shade val="46275"/>
                  <a:invGamma/>
                </a:schemeClr>
              </a:gs>
            </a:gsLst>
            <a:lin ang="0" scaled="1"/>
          </a:gradFill>
          <a:ln w="38100" cap="flat" cmpd="sng" algn="ctr">
            <a:solidFill>
              <a:srgbClr val="FF0000"/>
            </a:solidFill>
            <a:prstDash val="solid"/>
            <a:round/>
            <a:headEnd type="none" w="med" len="med"/>
            <a:tailEnd type="triangle"/>
          </a:ln>
          <a:effectLst>
            <a:outerShdw dist="109250" dir="3267739" algn="ctr" rotWithShape="0">
              <a:schemeClr val="bg1">
                <a:alpha val="50000"/>
              </a:schemeClr>
            </a:outerShdw>
          </a:effectLst>
        </p:spPr>
      </p:cxnSp>
      <p:cxnSp>
        <p:nvCxnSpPr>
          <p:cNvPr id="20" name="直接箭头连接符 19"/>
          <p:cNvCxnSpPr/>
          <p:nvPr/>
        </p:nvCxnSpPr>
        <p:spPr bwMode="auto">
          <a:xfrm flipH="1">
            <a:off x="3495357" y="3003429"/>
            <a:ext cx="447965" cy="436749"/>
          </a:xfrm>
          <a:prstGeom prst="straightConnector1">
            <a:avLst/>
          </a:prstGeom>
          <a:gradFill rotWithShape="1">
            <a:gsLst>
              <a:gs pos="0">
                <a:schemeClr val="accent1"/>
              </a:gs>
              <a:gs pos="100000">
                <a:schemeClr val="accent1">
                  <a:gamma/>
                  <a:shade val="46275"/>
                  <a:invGamma/>
                </a:schemeClr>
              </a:gs>
            </a:gsLst>
            <a:lin ang="0" scaled="1"/>
          </a:gradFill>
          <a:ln w="38100" cap="flat" cmpd="sng" algn="ctr">
            <a:solidFill>
              <a:srgbClr val="FF0000"/>
            </a:solidFill>
            <a:prstDash val="solid"/>
            <a:round/>
            <a:headEnd type="none" w="med" len="med"/>
            <a:tailEnd type="triangle"/>
          </a:ln>
          <a:effectLst>
            <a:outerShdw dist="109250" dir="3267739" algn="ctr" rotWithShape="0">
              <a:schemeClr val="bg1">
                <a:alpha val="50000"/>
              </a:schemeClr>
            </a:outerShdw>
          </a:effectLst>
        </p:spPr>
      </p:cxnSp>
      <p:grpSp>
        <p:nvGrpSpPr>
          <p:cNvPr id="17" name="组合 16"/>
          <p:cNvGrpSpPr/>
          <p:nvPr/>
        </p:nvGrpSpPr>
        <p:grpSpPr>
          <a:xfrm>
            <a:off x="263884" y="161170"/>
            <a:ext cx="438352" cy="621987"/>
            <a:chOff x="265635" y="269251"/>
            <a:chExt cx="438352" cy="621987"/>
          </a:xfrm>
        </p:grpSpPr>
        <p:sp>
          <p:nvSpPr>
            <p:cNvPr id="18"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21"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22"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
        <p:nvSpPr>
          <p:cNvPr id="23" name="矩形 22"/>
          <p:cNvSpPr/>
          <p:nvPr/>
        </p:nvSpPr>
        <p:spPr bwMode="auto">
          <a:xfrm>
            <a:off x="4336494" y="3671557"/>
            <a:ext cx="2594570" cy="394777"/>
          </a:xfrm>
          <a:prstGeom prst="rect">
            <a:avLst/>
          </a:prstGeom>
          <a:noFill/>
          <a:ln w="38100" cap="flat" cmpd="sng" algn="ctr">
            <a:solidFill>
              <a:srgbClr val="0000FF"/>
            </a:solidFill>
            <a:prstDash val="dash"/>
            <a:round/>
            <a:headEnd type="none" w="med" len="med"/>
            <a:tailEnd type="none" w="med" len="med"/>
          </a:ln>
          <a:effectLst>
            <a:outerShdw dist="109250" dir="3267739" algn="ctr" rotWithShape="0">
              <a:schemeClr val="bg1">
                <a:alpha val="50000"/>
              </a:schemeClr>
            </a:outerShdw>
          </a:effectLst>
        </p:spPr>
        <p:txBody>
          <a:bodyPr vert="horz" wrap="squar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bg1"/>
              </a:solidFill>
              <a:effectLst/>
              <a:latin typeface="Arial" panose="020B0604020202020204" pitchFamily="34" charset="0"/>
              <a:ea typeface="宋体" panose="02010600030101010101" pitchFamily="2" charset="-122"/>
            </a:endParaRPr>
          </a:p>
        </p:txBody>
      </p:sp>
      <p:sp>
        <p:nvSpPr>
          <p:cNvPr id="24" name="矩形 23"/>
          <p:cNvSpPr/>
          <p:nvPr/>
        </p:nvSpPr>
        <p:spPr bwMode="auto">
          <a:xfrm>
            <a:off x="4322947" y="3275272"/>
            <a:ext cx="2594570" cy="394777"/>
          </a:xfrm>
          <a:prstGeom prst="rect">
            <a:avLst/>
          </a:prstGeom>
          <a:noFill/>
          <a:ln w="38100" cap="flat" cmpd="sng" algn="ctr">
            <a:solidFill>
              <a:srgbClr val="0000FF"/>
            </a:solidFill>
            <a:prstDash val="dash"/>
            <a:round/>
            <a:headEnd type="none" w="med" len="med"/>
            <a:tailEnd type="none" w="med" len="med"/>
          </a:ln>
          <a:effectLst>
            <a:outerShdw dist="109250" dir="3267739" algn="ctr" rotWithShape="0">
              <a:schemeClr val="bg1">
                <a:alpha val="50000"/>
              </a:schemeClr>
            </a:outerShdw>
          </a:effectLst>
        </p:spPr>
        <p:txBody>
          <a:bodyPr vert="horz" wrap="squar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bg1"/>
              </a:solid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338558269"/>
      </p:ext>
    </p:extLst>
  </p:cSld>
  <p:clrMapOvr>
    <a:masterClrMapping/>
  </p:clrMapOvr>
  <mc:AlternateContent xmlns:mc="http://schemas.openxmlformats.org/markup-compatibility/2006" xmlns:p14="http://schemas.microsoft.com/office/powerpoint/2010/main">
    <mc:Choice Requires="p14">
      <p:transition spd="slow">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wd">
                                    <p:tmAbs val="500"/>
                                  </p:iterate>
                                  <p:childTnLst>
                                    <p:set>
                                      <p:cBhvr>
                                        <p:cTn id="6" dur="1" fill="hold">
                                          <p:stCondLst>
                                            <p:cond delay="0"/>
                                          </p:stCondLst>
                                        </p:cTn>
                                        <p:tgtEl>
                                          <p:spTgt spid="3"/>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2" name="type.wav"/>
                                        </p:tgtEl>
                                      </p:cMediaNode>
                                    </p:audio>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type="lt">
                                    <p:tmAbs val="500"/>
                                  </p:iterate>
                                  <p:childTnLst>
                                    <p:set>
                                      <p:cBhvr>
                                        <p:cTn id="14" dur="1" fill="hold">
                                          <p:stCondLst>
                                            <p:cond delay="0"/>
                                          </p:stCondLst>
                                        </p:cTn>
                                        <p:tgtEl>
                                          <p:spTgt spid="5"/>
                                        </p:tgtEl>
                                        <p:attrNameLst>
                                          <p:attrName>style.visibility</p:attrName>
                                        </p:attrNameLst>
                                      </p:cBhvr>
                                      <p:to>
                                        <p:strVal val="visible"/>
                                      </p:to>
                                    </p:set>
                                  </p:childTnLst>
                                  <p:subTnLst>
                                    <p:audio>
                                      <p:cMediaNode>
                                        <p:cTn display="0" masterRel="sameClick">
                                          <p:stCondLst>
                                            <p:cond evt="begin" delay="0">
                                              <p:tn val="13"/>
                                            </p:cond>
                                          </p:stCondLst>
                                          <p:endCondLst>
                                            <p:cond evt="onStopAudio" delay="0">
                                              <p:tgtEl>
                                                <p:sldTgt/>
                                              </p:tgtEl>
                                            </p:cond>
                                          </p:endCondLst>
                                        </p:cTn>
                                        <p:tgtEl>
                                          <p:sndTgt r:embed="rId2" name="type.wav"/>
                                        </p:tgtEl>
                                      </p:cMediaNode>
                                    </p:audio>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type="wd">
                                    <p:tmAbs val="500"/>
                                  </p:iterate>
                                  <p:childTnLst>
                                    <p:set>
                                      <p:cBhvr>
                                        <p:cTn id="22" dur="1" fill="hold">
                                          <p:stCondLst>
                                            <p:cond delay="0"/>
                                          </p:stCondLst>
                                        </p:cTn>
                                        <p:tgtEl>
                                          <p:spTgt spid="6"/>
                                        </p:tgtEl>
                                        <p:attrNameLst>
                                          <p:attrName>style.visibility</p:attrName>
                                        </p:attrNameLst>
                                      </p:cBhvr>
                                      <p:to>
                                        <p:strVal val="visible"/>
                                      </p:to>
                                    </p:set>
                                  </p:childTnLst>
                                  <p:subTnLst>
                                    <p:audio>
                                      <p:cMediaNode>
                                        <p:cTn display="0" masterRel="sameClick">
                                          <p:stCondLst>
                                            <p:cond evt="begin" delay="0">
                                              <p:tn val="21"/>
                                            </p:cond>
                                          </p:stCondLst>
                                          <p:endCondLst>
                                            <p:cond evt="onStopAudio" delay="0">
                                              <p:tgtEl>
                                                <p:sldTgt/>
                                              </p:tgtEl>
                                            </p:cond>
                                          </p:endCondLst>
                                        </p:cTn>
                                        <p:tgtEl>
                                          <p:sndTgt r:embed="rId2" name="type.wav"/>
                                        </p:tgtEl>
                                      </p:cMediaNode>
                                    </p:audio>
                                  </p:subTnLst>
                                </p:cTn>
                              </p:par>
                            </p:childTnLst>
                          </p:cTn>
                        </p:par>
                      </p:childTnLst>
                    </p:cTn>
                  </p:par>
                  <p:par>
                    <p:cTn id="23" fill="hold">
                      <p:stCondLst>
                        <p:cond delay="indefinite"/>
                      </p:stCondLst>
                      <p:childTnLst>
                        <p:par>
                          <p:cTn id="24" fill="hold">
                            <p:stCondLst>
                              <p:cond delay="0"/>
                            </p:stCondLst>
                            <p:childTnLst>
                              <p:par>
                                <p:cTn id="25" presetID="26"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down)">
                                      <p:cBhvr>
                                        <p:cTn id="27" dur="580">
                                          <p:stCondLst>
                                            <p:cond delay="0"/>
                                          </p:stCondLst>
                                        </p:cTn>
                                        <p:tgtEl>
                                          <p:spTgt spid="13"/>
                                        </p:tgtEl>
                                      </p:cBhvr>
                                    </p:animEffect>
                                    <p:anim calcmode="lin" valueType="num">
                                      <p:cBhvr>
                                        <p:cTn id="28" dur="1822" tmFilter="0,0; 0.14,0.36; 0.43,0.73; 0.71,0.91; 1.0,1.0">
                                          <p:stCondLst>
                                            <p:cond delay="0"/>
                                          </p:stCondLst>
                                        </p:cTn>
                                        <p:tgtEl>
                                          <p:spTgt spid="13"/>
                                        </p:tgtEl>
                                        <p:attrNameLst>
                                          <p:attrName>ppt_x</p:attrName>
                                        </p:attrNameLst>
                                      </p:cBhvr>
                                      <p:tavLst>
                                        <p:tav tm="0">
                                          <p:val>
                                            <p:strVal val="#ppt_x-0.25"/>
                                          </p:val>
                                        </p:tav>
                                        <p:tav tm="100000">
                                          <p:val>
                                            <p:strVal val="#ppt_x"/>
                                          </p:val>
                                        </p:tav>
                                      </p:tavLst>
                                    </p:anim>
                                    <p:anim calcmode="lin" valueType="num">
                                      <p:cBhvr>
                                        <p:cTn id="29" dur="664" tmFilter="0.0,0.0; 0.25,0.07; 0.50,0.2; 0.75,0.467; 1.0,1.0">
                                          <p:stCondLst>
                                            <p:cond delay="0"/>
                                          </p:stCondLst>
                                        </p:cTn>
                                        <p:tgtEl>
                                          <p:spTgt spid="13"/>
                                        </p:tgtEl>
                                        <p:attrNameLst>
                                          <p:attrName>ppt_y</p:attrName>
                                        </p:attrNameLst>
                                      </p:cBhvr>
                                      <p:tavLst>
                                        <p:tav tm="0" fmla="#ppt_y-sin(pi*$)/3">
                                          <p:val>
                                            <p:fltVal val="0.5"/>
                                          </p:val>
                                        </p:tav>
                                        <p:tav tm="100000">
                                          <p:val>
                                            <p:fltVal val="1"/>
                                          </p:val>
                                        </p:tav>
                                      </p:tavLst>
                                    </p:anim>
                                    <p:anim calcmode="lin" valueType="num">
                                      <p:cBhvr>
                                        <p:cTn id="30" dur="664" tmFilter="0, 0; 0.125,0.2665; 0.25,0.4; 0.375,0.465; 0.5,0.5;  0.625,0.535; 0.75,0.6; 0.875,0.7335; 1,1">
                                          <p:stCondLst>
                                            <p:cond delay="664"/>
                                          </p:stCondLst>
                                        </p:cTn>
                                        <p:tgtEl>
                                          <p:spTgt spid="13"/>
                                        </p:tgtEl>
                                        <p:attrNameLst>
                                          <p:attrName>ppt_y</p:attrName>
                                        </p:attrNameLst>
                                      </p:cBhvr>
                                      <p:tavLst>
                                        <p:tav tm="0" fmla="#ppt_y-sin(pi*$)/9">
                                          <p:val>
                                            <p:fltVal val="0"/>
                                          </p:val>
                                        </p:tav>
                                        <p:tav tm="100000">
                                          <p:val>
                                            <p:fltVal val="1"/>
                                          </p:val>
                                        </p:tav>
                                      </p:tavLst>
                                    </p:anim>
                                    <p:anim calcmode="lin" valueType="num">
                                      <p:cBhvr>
                                        <p:cTn id="31" dur="332" tmFilter="0, 0; 0.125,0.2665; 0.25,0.4; 0.375,0.465; 0.5,0.5;  0.625,0.535; 0.75,0.6; 0.875,0.7335; 1,1">
                                          <p:stCondLst>
                                            <p:cond delay="1324"/>
                                          </p:stCondLst>
                                        </p:cTn>
                                        <p:tgtEl>
                                          <p:spTgt spid="13"/>
                                        </p:tgtEl>
                                        <p:attrNameLst>
                                          <p:attrName>ppt_y</p:attrName>
                                        </p:attrNameLst>
                                      </p:cBhvr>
                                      <p:tavLst>
                                        <p:tav tm="0" fmla="#ppt_y-sin(pi*$)/27">
                                          <p:val>
                                            <p:fltVal val="0"/>
                                          </p:val>
                                        </p:tav>
                                        <p:tav tm="100000">
                                          <p:val>
                                            <p:fltVal val="1"/>
                                          </p:val>
                                        </p:tav>
                                      </p:tavLst>
                                    </p:anim>
                                    <p:anim calcmode="lin" valueType="num">
                                      <p:cBhvr>
                                        <p:cTn id="32" dur="164" tmFilter="0, 0; 0.125,0.2665; 0.25,0.4; 0.375,0.465; 0.5,0.5;  0.625,0.535; 0.75,0.6; 0.875,0.7335; 1,1">
                                          <p:stCondLst>
                                            <p:cond delay="1656"/>
                                          </p:stCondLst>
                                        </p:cTn>
                                        <p:tgtEl>
                                          <p:spTgt spid="13"/>
                                        </p:tgtEl>
                                        <p:attrNameLst>
                                          <p:attrName>ppt_y</p:attrName>
                                        </p:attrNameLst>
                                      </p:cBhvr>
                                      <p:tavLst>
                                        <p:tav tm="0" fmla="#ppt_y-sin(pi*$)/81">
                                          <p:val>
                                            <p:fltVal val="0"/>
                                          </p:val>
                                        </p:tav>
                                        <p:tav tm="100000">
                                          <p:val>
                                            <p:fltVal val="1"/>
                                          </p:val>
                                        </p:tav>
                                      </p:tavLst>
                                    </p:anim>
                                    <p:animScale>
                                      <p:cBhvr>
                                        <p:cTn id="33" dur="26">
                                          <p:stCondLst>
                                            <p:cond delay="650"/>
                                          </p:stCondLst>
                                        </p:cTn>
                                        <p:tgtEl>
                                          <p:spTgt spid="13"/>
                                        </p:tgtEl>
                                      </p:cBhvr>
                                      <p:to x="100000" y="60000"/>
                                    </p:animScale>
                                    <p:animScale>
                                      <p:cBhvr>
                                        <p:cTn id="34" dur="166" decel="50000">
                                          <p:stCondLst>
                                            <p:cond delay="676"/>
                                          </p:stCondLst>
                                        </p:cTn>
                                        <p:tgtEl>
                                          <p:spTgt spid="13"/>
                                        </p:tgtEl>
                                      </p:cBhvr>
                                      <p:to x="100000" y="100000"/>
                                    </p:animScale>
                                    <p:animScale>
                                      <p:cBhvr>
                                        <p:cTn id="35" dur="26">
                                          <p:stCondLst>
                                            <p:cond delay="1312"/>
                                          </p:stCondLst>
                                        </p:cTn>
                                        <p:tgtEl>
                                          <p:spTgt spid="13"/>
                                        </p:tgtEl>
                                      </p:cBhvr>
                                      <p:to x="100000" y="80000"/>
                                    </p:animScale>
                                    <p:animScale>
                                      <p:cBhvr>
                                        <p:cTn id="36" dur="166" decel="50000">
                                          <p:stCondLst>
                                            <p:cond delay="1338"/>
                                          </p:stCondLst>
                                        </p:cTn>
                                        <p:tgtEl>
                                          <p:spTgt spid="13"/>
                                        </p:tgtEl>
                                      </p:cBhvr>
                                      <p:to x="100000" y="100000"/>
                                    </p:animScale>
                                    <p:animScale>
                                      <p:cBhvr>
                                        <p:cTn id="37" dur="26">
                                          <p:stCondLst>
                                            <p:cond delay="1642"/>
                                          </p:stCondLst>
                                        </p:cTn>
                                        <p:tgtEl>
                                          <p:spTgt spid="13"/>
                                        </p:tgtEl>
                                      </p:cBhvr>
                                      <p:to x="100000" y="90000"/>
                                    </p:animScale>
                                    <p:animScale>
                                      <p:cBhvr>
                                        <p:cTn id="38" dur="166" decel="50000">
                                          <p:stCondLst>
                                            <p:cond delay="1668"/>
                                          </p:stCondLst>
                                        </p:cTn>
                                        <p:tgtEl>
                                          <p:spTgt spid="13"/>
                                        </p:tgtEl>
                                      </p:cBhvr>
                                      <p:to x="100000" y="100000"/>
                                    </p:animScale>
                                    <p:animScale>
                                      <p:cBhvr>
                                        <p:cTn id="39" dur="26">
                                          <p:stCondLst>
                                            <p:cond delay="1808"/>
                                          </p:stCondLst>
                                        </p:cTn>
                                        <p:tgtEl>
                                          <p:spTgt spid="13"/>
                                        </p:tgtEl>
                                      </p:cBhvr>
                                      <p:to x="100000" y="95000"/>
                                    </p:animScale>
                                    <p:animScale>
                                      <p:cBhvr>
                                        <p:cTn id="40" dur="166" decel="50000">
                                          <p:stCondLst>
                                            <p:cond delay="1834"/>
                                          </p:stCondLst>
                                        </p:cTn>
                                        <p:tgtEl>
                                          <p:spTgt spid="13"/>
                                        </p:tgtEl>
                                      </p:cBhvr>
                                      <p:to x="100000" y="100000"/>
                                    </p:animScale>
                                  </p:childTnLst>
                                </p:cTn>
                              </p:par>
                              <p:par>
                                <p:cTn id="41" presetID="26"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wipe(down)">
                                      <p:cBhvr>
                                        <p:cTn id="43" dur="580">
                                          <p:stCondLst>
                                            <p:cond delay="0"/>
                                          </p:stCondLst>
                                        </p:cTn>
                                        <p:tgtEl>
                                          <p:spTgt spid="16"/>
                                        </p:tgtEl>
                                      </p:cBhvr>
                                    </p:animEffect>
                                    <p:anim calcmode="lin" valueType="num">
                                      <p:cBhvr>
                                        <p:cTn id="44" dur="1822" tmFilter="0,0; 0.14,0.36; 0.43,0.73; 0.71,0.91; 1.0,1.0">
                                          <p:stCondLst>
                                            <p:cond delay="0"/>
                                          </p:stCondLst>
                                        </p:cTn>
                                        <p:tgtEl>
                                          <p:spTgt spid="16"/>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16"/>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16"/>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16"/>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16"/>
                                        </p:tgtEl>
                                        <p:attrNameLst>
                                          <p:attrName>ppt_y</p:attrName>
                                        </p:attrNameLst>
                                      </p:cBhvr>
                                      <p:tavLst>
                                        <p:tav tm="0" fmla="#ppt_y-sin(pi*$)/81">
                                          <p:val>
                                            <p:fltVal val="0"/>
                                          </p:val>
                                        </p:tav>
                                        <p:tav tm="100000">
                                          <p:val>
                                            <p:fltVal val="1"/>
                                          </p:val>
                                        </p:tav>
                                      </p:tavLst>
                                    </p:anim>
                                    <p:animScale>
                                      <p:cBhvr>
                                        <p:cTn id="49" dur="26">
                                          <p:stCondLst>
                                            <p:cond delay="650"/>
                                          </p:stCondLst>
                                        </p:cTn>
                                        <p:tgtEl>
                                          <p:spTgt spid="16"/>
                                        </p:tgtEl>
                                      </p:cBhvr>
                                      <p:to x="100000" y="60000"/>
                                    </p:animScale>
                                    <p:animScale>
                                      <p:cBhvr>
                                        <p:cTn id="50" dur="166" decel="50000">
                                          <p:stCondLst>
                                            <p:cond delay="676"/>
                                          </p:stCondLst>
                                        </p:cTn>
                                        <p:tgtEl>
                                          <p:spTgt spid="16"/>
                                        </p:tgtEl>
                                      </p:cBhvr>
                                      <p:to x="100000" y="100000"/>
                                    </p:animScale>
                                    <p:animScale>
                                      <p:cBhvr>
                                        <p:cTn id="51" dur="26">
                                          <p:stCondLst>
                                            <p:cond delay="1312"/>
                                          </p:stCondLst>
                                        </p:cTn>
                                        <p:tgtEl>
                                          <p:spTgt spid="16"/>
                                        </p:tgtEl>
                                      </p:cBhvr>
                                      <p:to x="100000" y="80000"/>
                                    </p:animScale>
                                    <p:animScale>
                                      <p:cBhvr>
                                        <p:cTn id="52" dur="166" decel="50000">
                                          <p:stCondLst>
                                            <p:cond delay="1338"/>
                                          </p:stCondLst>
                                        </p:cTn>
                                        <p:tgtEl>
                                          <p:spTgt spid="16"/>
                                        </p:tgtEl>
                                      </p:cBhvr>
                                      <p:to x="100000" y="100000"/>
                                    </p:animScale>
                                    <p:animScale>
                                      <p:cBhvr>
                                        <p:cTn id="53" dur="26">
                                          <p:stCondLst>
                                            <p:cond delay="1642"/>
                                          </p:stCondLst>
                                        </p:cTn>
                                        <p:tgtEl>
                                          <p:spTgt spid="16"/>
                                        </p:tgtEl>
                                      </p:cBhvr>
                                      <p:to x="100000" y="90000"/>
                                    </p:animScale>
                                    <p:animScale>
                                      <p:cBhvr>
                                        <p:cTn id="54" dur="166" decel="50000">
                                          <p:stCondLst>
                                            <p:cond delay="1668"/>
                                          </p:stCondLst>
                                        </p:cTn>
                                        <p:tgtEl>
                                          <p:spTgt spid="16"/>
                                        </p:tgtEl>
                                      </p:cBhvr>
                                      <p:to x="100000" y="100000"/>
                                    </p:animScale>
                                    <p:animScale>
                                      <p:cBhvr>
                                        <p:cTn id="55" dur="26">
                                          <p:stCondLst>
                                            <p:cond delay="1808"/>
                                          </p:stCondLst>
                                        </p:cTn>
                                        <p:tgtEl>
                                          <p:spTgt spid="16"/>
                                        </p:tgtEl>
                                      </p:cBhvr>
                                      <p:to x="100000" y="95000"/>
                                    </p:animScale>
                                    <p:animScale>
                                      <p:cBhvr>
                                        <p:cTn id="56" dur="166" decel="50000">
                                          <p:stCondLst>
                                            <p:cond delay="1834"/>
                                          </p:stCondLst>
                                        </p:cTn>
                                        <p:tgtEl>
                                          <p:spTgt spid="16"/>
                                        </p:tgtEl>
                                      </p:cBhvr>
                                      <p:to x="100000" y="100000"/>
                                    </p:animScale>
                                  </p:childTnLst>
                                </p:cTn>
                              </p:par>
                            </p:childTnLst>
                          </p:cTn>
                        </p:par>
                      </p:childTnLst>
                    </p:cTn>
                  </p:par>
                  <p:par>
                    <p:cTn id="57" fill="hold">
                      <p:stCondLst>
                        <p:cond delay="indefinite"/>
                      </p:stCondLst>
                      <p:childTnLst>
                        <p:par>
                          <p:cTn id="58" fill="hold">
                            <p:stCondLst>
                              <p:cond delay="0"/>
                            </p:stCondLst>
                            <p:childTnLst>
                              <p:par>
                                <p:cTn id="59" presetID="31" presetClass="entr" presetSubtype="0" fill="hold" grpId="0" nodeType="clickEffect">
                                  <p:stCondLst>
                                    <p:cond delay="0"/>
                                  </p:stCondLst>
                                  <p:childTnLst>
                                    <p:set>
                                      <p:cBhvr>
                                        <p:cTn id="60" dur="1" fill="hold">
                                          <p:stCondLst>
                                            <p:cond delay="0"/>
                                          </p:stCondLst>
                                        </p:cTn>
                                        <p:tgtEl>
                                          <p:spTgt spid="23"/>
                                        </p:tgtEl>
                                        <p:attrNameLst>
                                          <p:attrName>style.visibility</p:attrName>
                                        </p:attrNameLst>
                                      </p:cBhvr>
                                      <p:to>
                                        <p:strVal val="visible"/>
                                      </p:to>
                                    </p:set>
                                    <p:anim calcmode="lin" valueType="num">
                                      <p:cBhvr>
                                        <p:cTn id="61" dur="1000" fill="hold"/>
                                        <p:tgtEl>
                                          <p:spTgt spid="23"/>
                                        </p:tgtEl>
                                        <p:attrNameLst>
                                          <p:attrName>ppt_w</p:attrName>
                                        </p:attrNameLst>
                                      </p:cBhvr>
                                      <p:tavLst>
                                        <p:tav tm="0">
                                          <p:val>
                                            <p:fltVal val="0"/>
                                          </p:val>
                                        </p:tav>
                                        <p:tav tm="100000">
                                          <p:val>
                                            <p:strVal val="#ppt_w"/>
                                          </p:val>
                                        </p:tav>
                                      </p:tavLst>
                                    </p:anim>
                                    <p:anim calcmode="lin" valueType="num">
                                      <p:cBhvr>
                                        <p:cTn id="62" dur="1000" fill="hold"/>
                                        <p:tgtEl>
                                          <p:spTgt spid="23"/>
                                        </p:tgtEl>
                                        <p:attrNameLst>
                                          <p:attrName>ppt_h</p:attrName>
                                        </p:attrNameLst>
                                      </p:cBhvr>
                                      <p:tavLst>
                                        <p:tav tm="0">
                                          <p:val>
                                            <p:fltVal val="0"/>
                                          </p:val>
                                        </p:tav>
                                        <p:tav tm="100000">
                                          <p:val>
                                            <p:strVal val="#ppt_h"/>
                                          </p:val>
                                        </p:tav>
                                      </p:tavLst>
                                    </p:anim>
                                    <p:anim calcmode="lin" valueType="num">
                                      <p:cBhvr>
                                        <p:cTn id="63" dur="1000" fill="hold"/>
                                        <p:tgtEl>
                                          <p:spTgt spid="23"/>
                                        </p:tgtEl>
                                        <p:attrNameLst>
                                          <p:attrName>style.rotation</p:attrName>
                                        </p:attrNameLst>
                                      </p:cBhvr>
                                      <p:tavLst>
                                        <p:tav tm="0">
                                          <p:val>
                                            <p:fltVal val="90"/>
                                          </p:val>
                                        </p:tav>
                                        <p:tav tm="100000">
                                          <p:val>
                                            <p:fltVal val="0"/>
                                          </p:val>
                                        </p:tav>
                                      </p:tavLst>
                                    </p:anim>
                                    <p:animEffect transition="in" filter="fade">
                                      <p:cBhvr>
                                        <p:cTn id="64" dur="1000"/>
                                        <p:tgtEl>
                                          <p:spTgt spid="23"/>
                                        </p:tgtEl>
                                      </p:cBhvr>
                                    </p:animEffect>
                                  </p:childTnLst>
                                </p:cTn>
                              </p:par>
                            </p:childTnLst>
                          </p:cTn>
                        </p:par>
                      </p:childTnLst>
                    </p:cTn>
                  </p:par>
                  <p:par>
                    <p:cTn id="65" fill="hold">
                      <p:stCondLst>
                        <p:cond delay="indefinite"/>
                      </p:stCondLst>
                      <p:childTnLst>
                        <p:par>
                          <p:cTn id="66" fill="hold">
                            <p:stCondLst>
                              <p:cond delay="0"/>
                            </p:stCondLst>
                            <p:childTnLst>
                              <p:par>
                                <p:cTn id="67" presetID="26" presetClass="entr" presetSubtype="0" fill="hold" nodeType="clickEffect">
                                  <p:stCondLst>
                                    <p:cond delay="0"/>
                                  </p:stCondLst>
                                  <p:childTnLst>
                                    <p:set>
                                      <p:cBhvr>
                                        <p:cTn id="68" dur="1" fill="hold">
                                          <p:stCondLst>
                                            <p:cond delay="0"/>
                                          </p:stCondLst>
                                        </p:cTn>
                                        <p:tgtEl>
                                          <p:spTgt spid="20"/>
                                        </p:tgtEl>
                                        <p:attrNameLst>
                                          <p:attrName>style.visibility</p:attrName>
                                        </p:attrNameLst>
                                      </p:cBhvr>
                                      <p:to>
                                        <p:strVal val="visible"/>
                                      </p:to>
                                    </p:set>
                                    <p:animEffect transition="in" filter="wipe(down)">
                                      <p:cBhvr>
                                        <p:cTn id="69" dur="580">
                                          <p:stCondLst>
                                            <p:cond delay="0"/>
                                          </p:stCondLst>
                                        </p:cTn>
                                        <p:tgtEl>
                                          <p:spTgt spid="20"/>
                                        </p:tgtEl>
                                      </p:cBhvr>
                                    </p:animEffect>
                                    <p:anim calcmode="lin" valueType="num">
                                      <p:cBhvr>
                                        <p:cTn id="70" dur="1822" tmFilter="0,0; 0.14,0.36; 0.43,0.73; 0.71,0.91; 1.0,1.0">
                                          <p:stCondLst>
                                            <p:cond delay="0"/>
                                          </p:stCondLst>
                                        </p:cTn>
                                        <p:tgtEl>
                                          <p:spTgt spid="20"/>
                                        </p:tgtEl>
                                        <p:attrNameLst>
                                          <p:attrName>ppt_x</p:attrName>
                                        </p:attrNameLst>
                                      </p:cBhvr>
                                      <p:tavLst>
                                        <p:tav tm="0">
                                          <p:val>
                                            <p:strVal val="#ppt_x-0.25"/>
                                          </p:val>
                                        </p:tav>
                                        <p:tav tm="100000">
                                          <p:val>
                                            <p:strVal val="#ppt_x"/>
                                          </p:val>
                                        </p:tav>
                                      </p:tavLst>
                                    </p:anim>
                                    <p:anim calcmode="lin" valueType="num">
                                      <p:cBhvr>
                                        <p:cTn id="71" dur="664" tmFilter="0.0,0.0; 0.25,0.07; 0.50,0.2; 0.75,0.467; 1.0,1.0">
                                          <p:stCondLst>
                                            <p:cond delay="0"/>
                                          </p:stCondLst>
                                        </p:cTn>
                                        <p:tgtEl>
                                          <p:spTgt spid="20"/>
                                        </p:tgtEl>
                                        <p:attrNameLst>
                                          <p:attrName>ppt_y</p:attrName>
                                        </p:attrNameLst>
                                      </p:cBhvr>
                                      <p:tavLst>
                                        <p:tav tm="0" fmla="#ppt_y-sin(pi*$)/3">
                                          <p:val>
                                            <p:fltVal val="0.5"/>
                                          </p:val>
                                        </p:tav>
                                        <p:tav tm="100000">
                                          <p:val>
                                            <p:fltVal val="1"/>
                                          </p:val>
                                        </p:tav>
                                      </p:tavLst>
                                    </p:anim>
                                    <p:anim calcmode="lin" valueType="num">
                                      <p:cBhvr>
                                        <p:cTn id="72" dur="664" tmFilter="0, 0; 0.125,0.2665; 0.25,0.4; 0.375,0.465; 0.5,0.5;  0.625,0.535; 0.75,0.6; 0.875,0.7335; 1,1">
                                          <p:stCondLst>
                                            <p:cond delay="664"/>
                                          </p:stCondLst>
                                        </p:cTn>
                                        <p:tgtEl>
                                          <p:spTgt spid="20"/>
                                        </p:tgtEl>
                                        <p:attrNameLst>
                                          <p:attrName>ppt_y</p:attrName>
                                        </p:attrNameLst>
                                      </p:cBhvr>
                                      <p:tavLst>
                                        <p:tav tm="0" fmla="#ppt_y-sin(pi*$)/9">
                                          <p:val>
                                            <p:fltVal val="0"/>
                                          </p:val>
                                        </p:tav>
                                        <p:tav tm="100000">
                                          <p:val>
                                            <p:fltVal val="1"/>
                                          </p:val>
                                        </p:tav>
                                      </p:tavLst>
                                    </p:anim>
                                    <p:anim calcmode="lin" valueType="num">
                                      <p:cBhvr>
                                        <p:cTn id="73" dur="332" tmFilter="0, 0; 0.125,0.2665; 0.25,0.4; 0.375,0.465; 0.5,0.5;  0.625,0.535; 0.75,0.6; 0.875,0.7335; 1,1">
                                          <p:stCondLst>
                                            <p:cond delay="1324"/>
                                          </p:stCondLst>
                                        </p:cTn>
                                        <p:tgtEl>
                                          <p:spTgt spid="20"/>
                                        </p:tgtEl>
                                        <p:attrNameLst>
                                          <p:attrName>ppt_y</p:attrName>
                                        </p:attrNameLst>
                                      </p:cBhvr>
                                      <p:tavLst>
                                        <p:tav tm="0" fmla="#ppt_y-sin(pi*$)/27">
                                          <p:val>
                                            <p:fltVal val="0"/>
                                          </p:val>
                                        </p:tav>
                                        <p:tav tm="100000">
                                          <p:val>
                                            <p:fltVal val="1"/>
                                          </p:val>
                                        </p:tav>
                                      </p:tavLst>
                                    </p:anim>
                                    <p:anim calcmode="lin" valueType="num">
                                      <p:cBhvr>
                                        <p:cTn id="74" dur="164" tmFilter="0, 0; 0.125,0.2665; 0.25,0.4; 0.375,0.465; 0.5,0.5;  0.625,0.535; 0.75,0.6; 0.875,0.7335; 1,1">
                                          <p:stCondLst>
                                            <p:cond delay="1656"/>
                                          </p:stCondLst>
                                        </p:cTn>
                                        <p:tgtEl>
                                          <p:spTgt spid="20"/>
                                        </p:tgtEl>
                                        <p:attrNameLst>
                                          <p:attrName>ppt_y</p:attrName>
                                        </p:attrNameLst>
                                      </p:cBhvr>
                                      <p:tavLst>
                                        <p:tav tm="0" fmla="#ppt_y-sin(pi*$)/81">
                                          <p:val>
                                            <p:fltVal val="0"/>
                                          </p:val>
                                        </p:tav>
                                        <p:tav tm="100000">
                                          <p:val>
                                            <p:fltVal val="1"/>
                                          </p:val>
                                        </p:tav>
                                      </p:tavLst>
                                    </p:anim>
                                    <p:animScale>
                                      <p:cBhvr>
                                        <p:cTn id="75" dur="26">
                                          <p:stCondLst>
                                            <p:cond delay="650"/>
                                          </p:stCondLst>
                                        </p:cTn>
                                        <p:tgtEl>
                                          <p:spTgt spid="20"/>
                                        </p:tgtEl>
                                      </p:cBhvr>
                                      <p:to x="100000" y="60000"/>
                                    </p:animScale>
                                    <p:animScale>
                                      <p:cBhvr>
                                        <p:cTn id="76" dur="166" decel="50000">
                                          <p:stCondLst>
                                            <p:cond delay="676"/>
                                          </p:stCondLst>
                                        </p:cTn>
                                        <p:tgtEl>
                                          <p:spTgt spid="20"/>
                                        </p:tgtEl>
                                      </p:cBhvr>
                                      <p:to x="100000" y="100000"/>
                                    </p:animScale>
                                    <p:animScale>
                                      <p:cBhvr>
                                        <p:cTn id="77" dur="26">
                                          <p:stCondLst>
                                            <p:cond delay="1312"/>
                                          </p:stCondLst>
                                        </p:cTn>
                                        <p:tgtEl>
                                          <p:spTgt spid="20"/>
                                        </p:tgtEl>
                                      </p:cBhvr>
                                      <p:to x="100000" y="80000"/>
                                    </p:animScale>
                                    <p:animScale>
                                      <p:cBhvr>
                                        <p:cTn id="78" dur="166" decel="50000">
                                          <p:stCondLst>
                                            <p:cond delay="1338"/>
                                          </p:stCondLst>
                                        </p:cTn>
                                        <p:tgtEl>
                                          <p:spTgt spid="20"/>
                                        </p:tgtEl>
                                      </p:cBhvr>
                                      <p:to x="100000" y="100000"/>
                                    </p:animScale>
                                    <p:animScale>
                                      <p:cBhvr>
                                        <p:cTn id="79" dur="26">
                                          <p:stCondLst>
                                            <p:cond delay="1642"/>
                                          </p:stCondLst>
                                        </p:cTn>
                                        <p:tgtEl>
                                          <p:spTgt spid="20"/>
                                        </p:tgtEl>
                                      </p:cBhvr>
                                      <p:to x="100000" y="90000"/>
                                    </p:animScale>
                                    <p:animScale>
                                      <p:cBhvr>
                                        <p:cTn id="80" dur="166" decel="50000">
                                          <p:stCondLst>
                                            <p:cond delay="1668"/>
                                          </p:stCondLst>
                                        </p:cTn>
                                        <p:tgtEl>
                                          <p:spTgt spid="20"/>
                                        </p:tgtEl>
                                      </p:cBhvr>
                                      <p:to x="100000" y="100000"/>
                                    </p:animScale>
                                    <p:animScale>
                                      <p:cBhvr>
                                        <p:cTn id="81" dur="26">
                                          <p:stCondLst>
                                            <p:cond delay="1808"/>
                                          </p:stCondLst>
                                        </p:cTn>
                                        <p:tgtEl>
                                          <p:spTgt spid="20"/>
                                        </p:tgtEl>
                                      </p:cBhvr>
                                      <p:to x="100000" y="95000"/>
                                    </p:animScale>
                                    <p:animScale>
                                      <p:cBhvr>
                                        <p:cTn id="82" dur="166" decel="50000">
                                          <p:stCondLst>
                                            <p:cond delay="1834"/>
                                          </p:stCondLst>
                                        </p:cTn>
                                        <p:tgtEl>
                                          <p:spTgt spid="20"/>
                                        </p:tgtEl>
                                      </p:cBhvr>
                                      <p:to x="100000" y="100000"/>
                                    </p:animScale>
                                  </p:childTnLst>
                                </p:cTn>
                              </p:par>
                              <p:par>
                                <p:cTn id="83" presetID="26" presetClass="entr" presetSubtype="0" fill="hold" nodeType="withEffect">
                                  <p:stCondLst>
                                    <p:cond delay="0"/>
                                  </p:stCondLst>
                                  <p:childTnLst>
                                    <p:set>
                                      <p:cBhvr>
                                        <p:cTn id="84" dur="1" fill="hold">
                                          <p:stCondLst>
                                            <p:cond delay="0"/>
                                          </p:stCondLst>
                                        </p:cTn>
                                        <p:tgtEl>
                                          <p:spTgt spid="19"/>
                                        </p:tgtEl>
                                        <p:attrNameLst>
                                          <p:attrName>style.visibility</p:attrName>
                                        </p:attrNameLst>
                                      </p:cBhvr>
                                      <p:to>
                                        <p:strVal val="visible"/>
                                      </p:to>
                                    </p:set>
                                    <p:animEffect transition="in" filter="wipe(down)">
                                      <p:cBhvr>
                                        <p:cTn id="85" dur="580">
                                          <p:stCondLst>
                                            <p:cond delay="0"/>
                                          </p:stCondLst>
                                        </p:cTn>
                                        <p:tgtEl>
                                          <p:spTgt spid="19"/>
                                        </p:tgtEl>
                                      </p:cBhvr>
                                    </p:animEffect>
                                    <p:anim calcmode="lin" valueType="num">
                                      <p:cBhvr>
                                        <p:cTn id="86" dur="1822" tmFilter="0,0; 0.14,0.36; 0.43,0.73; 0.71,0.91; 1.0,1.0">
                                          <p:stCondLst>
                                            <p:cond delay="0"/>
                                          </p:stCondLst>
                                        </p:cTn>
                                        <p:tgtEl>
                                          <p:spTgt spid="19"/>
                                        </p:tgtEl>
                                        <p:attrNameLst>
                                          <p:attrName>ppt_x</p:attrName>
                                        </p:attrNameLst>
                                      </p:cBhvr>
                                      <p:tavLst>
                                        <p:tav tm="0">
                                          <p:val>
                                            <p:strVal val="#ppt_x-0.25"/>
                                          </p:val>
                                        </p:tav>
                                        <p:tav tm="100000">
                                          <p:val>
                                            <p:strVal val="#ppt_x"/>
                                          </p:val>
                                        </p:tav>
                                      </p:tavLst>
                                    </p:anim>
                                    <p:anim calcmode="lin" valueType="num">
                                      <p:cBhvr>
                                        <p:cTn id="87" dur="664" tmFilter="0.0,0.0; 0.25,0.07; 0.50,0.2; 0.75,0.467; 1.0,1.0">
                                          <p:stCondLst>
                                            <p:cond delay="0"/>
                                          </p:stCondLst>
                                        </p:cTn>
                                        <p:tgtEl>
                                          <p:spTgt spid="19"/>
                                        </p:tgtEl>
                                        <p:attrNameLst>
                                          <p:attrName>ppt_y</p:attrName>
                                        </p:attrNameLst>
                                      </p:cBhvr>
                                      <p:tavLst>
                                        <p:tav tm="0" fmla="#ppt_y-sin(pi*$)/3">
                                          <p:val>
                                            <p:fltVal val="0.5"/>
                                          </p:val>
                                        </p:tav>
                                        <p:tav tm="100000">
                                          <p:val>
                                            <p:fltVal val="1"/>
                                          </p:val>
                                        </p:tav>
                                      </p:tavLst>
                                    </p:anim>
                                    <p:anim calcmode="lin" valueType="num">
                                      <p:cBhvr>
                                        <p:cTn id="88" dur="664" tmFilter="0, 0; 0.125,0.2665; 0.25,0.4; 0.375,0.465; 0.5,0.5;  0.625,0.535; 0.75,0.6; 0.875,0.7335; 1,1">
                                          <p:stCondLst>
                                            <p:cond delay="664"/>
                                          </p:stCondLst>
                                        </p:cTn>
                                        <p:tgtEl>
                                          <p:spTgt spid="19"/>
                                        </p:tgtEl>
                                        <p:attrNameLst>
                                          <p:attrName>ppt_y</p:attrName>
                                        </p:attrNameLst>
                                      </p:cBhvr>
                                      <p:tavLst>
                                        <p:tav tm="0" fmla="#ppt_y-sin(pi*$)/9">
                                          <p:val>
                                            <p:fltVal val="0"/>
                                          </p:val>
                                        </p:tav>
                                        <p:tav tm="100000">
                                          <p:val>
                                            <p:fltVal val="1"/>
                                          </p:val>
                                        </p:tav>
                                      </p:tavLst>
                                    </p:anim>
                                    <p:anim calcmode="lin" valueType="num">
                                      <p:cBhvr>
                                        <p:cTn id="89" dur="332" tmFilter="0, 0; 0.125,0.2665; 0.25,0.4; 0.375,0.465; 0.5,0.5;  0.625,0.535; 0.75,0.6; 0.875,0.7335; 1,1">
                                          <p:stCondLst>
                                            <p:cond delay="1324"/>
                                          </p:stCondLst>
                                        </p:cTn>
                                        <p:tgtEl>
                                          <p:spTgt spid="19"/>
                                        </p:tgtEl>
                                        <p:attrNameLst>
                                          <p:attrName>ppt_y</p:attrName>
                                        </p:attrNameLst>
                                      </p:cBhvr>
                                      <p:tavLst>
                                        <p:tav tm="0" fmla="#ppt_y-sin(pi*$)/27">
                                          <p:val>
                                            <p:fltVal val="0"/>
                                          </p:val>
                                        </p:tav>
                                        <p:tav tm="100000">
                                          <p:val>
                                            <p:fltVal val="1"/>
                                          </p:val>
                                        </p:tav>
                                      </p:tavLst>
                                    </p:anim>
                                    <p:anim calcmode="lin" valueType="num">
                                      <p:cBhvr>
                                        <p:cTn id="90" dur="164" tmFilter="0, 0; 0.125,0.2665; 0.25,0.4; 0.375,0.465; 0.5,0.5;  0.625,0.535; 0.75,0.6; 0.875,0.7335; 1,1">
                                          <p:stCondLst>
                                            <p:cond delay="1656"/>
                                          </p:stCondLst>
                                        </p:cTn>
                                        <p:tgtEl>
                                          <p:spTgt spid="19"/>
                                        </p:tgtEl>
                                        <p:attrNameLst>
                                          <p:attrName>ppt_y</p:attrName>
                                        </p:attrNameLst>
                                      </p:cBhvr>
                                      <p:tavLst>
                                        <p:tav tm="0" fmla="#ppt_y-sin(pi*$)/81">
                                          <p:val>
                                            <p:fltVal val="0"/>
                                          </p:val>
                                        </p:tav>
                                        <p:tav tm="100000">
                                          <p:val>
                                            <p:fltVal val="1"/>
                                          </p:val>
                                        </p:tav>
                                      </p:tavLst>
                                    </p:anim>
                                    <p:animScale>
                                      <p:cBhvr>
                                        <p:cTn id="91" dur="26">
                                          <p:stCondLst>
                                            <p:cond delay="650"/>
                                          </p:stCondLst>
                                        </p:cTn>
                                        <p:tgtEl>
                                          <p:spTgt spid="19"/>
                                        </p:tgtEl>
                                      </p:cBhvr>
                                      <p:to x="100000" y="60000"/>
                                    </p:animScale>
                                    <p:animScale>
                                      <p:cBhvr>
                                        <p:cTn id="92" dur="166" decel="50000">
                                          <p:stCondLst>
                                            <p:cond delay="676"/>
                                          </p:stCondLst>
                                        </p:cTn>
                                        <p:tgtEl>
                                          <p:spTgt spid="19"/>
                                        </p:tgtEl>
                                      </p:cBhvr>
                                      <p:to x="100000" y="100000"/>
                                    </p:animScale>
                                    <p:animScale>
                                      <p:cBhvr>
                                        <p:cTn id="93" dur="26">
                                          <p:stCondLst>
                                            <p:cond delay="1312"/>
                                          </p:stCondLst>
                                        </p:cTn>
                                        <p:tgtEl>
                                          <p:spTgt spid="19"/>
                                        </p:tgtEl>
                                      </p:cBhvr>
                                      <p:to x="100000" y="80000"/>
                                    </p:animScale>
                                    <p:animScale>
                                      <p:cBhvr>
                                        <p:cTn id="94" dur="166" decel="50000">
                                          <p:stCondLst>
                                            <p:cond delay="1338"/>
                                          </p:stCondLst>
                                        </p:cTn>
                                        <p:tgtEl>
                                          <p:spTgt spid="19"/>
                                        </p:tgtEl>
                                      </p:cBhvr>
                                      <p:to x="100000" y="100000"/>
                                    </p:animScale>
                                    <p:animScale>
                                      <p:cBhvr>
                                        <p:cTn id="95" dur="26">
                                          <p:stCondLst>
                                            <p:cond delay="1642"/>
                                          </p:stCondLst>
                                        </p:cTn>
                                        <p:tgtEl>
                                          <p:spTgt spid="19"/>
                                        </p:tgtEl>
                                      </p:cBhvr>
                                      <p:to x="100000" y="90000"/>
                                    </p:animScale>
                                    <p:animScale>
                                      <p:cBhvr>
                                        <p:cTn id="96" dur="166" decel="50000">
                                          <p:stCondLst>
                                            <p:cond delay="1668"/>
                                          </p:stCondLst>
                                        </p:cTn>
                                        <p:tgtEl>
                                          <p:spTgt spid="19"/>
                                        </p:tgtEl>
                                      </p:cBhvr>
                                      <p:to x="100000" y="100000"/>
                                    </p:animScale>
                                    <p:animScale>
                                      <p:cBhvr>
                                        <p:cTn id="97" dur="26">
                                          <p:stCondLst>
                                            <p:cond delay="1808"/>
                                          </p:stCondLst>
                                        </p:cTn>
                                        <p:tgtEl>
                                          <p:spTgt spid="19"/>
                                        </p:tgtEl>
                                      </p:cBhvr>
                                      <p:to x="100000" y="95000"/>
                                    </p:animScale>
                                    <p:animScale>
                                      <p:cBhvr>
                                        <p:cTn id="98" dur="166" decel="50000">
                                          <p:stCondLst>
                                            <p:cond delay="1834"/>
                                          </p:stCondLst>
                                        </p:cTn>
                                        <p:tgtEl>
                                          <p:spTgt spid="19"/>
                                        </p:tgtEl>
                                      </p:cBhvr>
                                      <p:to x="100000" y="100000"/>
                                    </p:animScale>
                                  </p:childTnLst>
                                </p:cTn>
                              </p:par>
                            </p:childTnLst>
                          </p:cTn>
                        </p:par>
                      </p:childTnLst>
                    </p:cTn>
                  </p:par>
                  <p:par>
                    <p:cTn id="99" fill="hold">
                      <p:stCondLst>
                        <p:cond delay="indefinite"/>
                      </p:stCondLst>
                      <p:childTnLst>
                        <p:par>
                          <p:cTn id="100" fill="hold">
                            <p:stCondLst>
                              <p:cond delay="0"/>
                            </p:stCondLst>
                            <p:childTnLst>
                              <p:par>
                                <p:cTn id="101" presetID="31" presetClass="entr" presetSubtype="0" fill="hold" grpId="0" nodeType="clickEffect">
                                  <p:stCondLst>
                                    <p:cond delay="0"/>
                                  </p:stCondLst>
                                  <p:childTnLst>
                                    <p:set>
                                      <p:cBhvr>
                                        <p:cTn id="102" dur="1" fill="hold">
                                          <p:stCondLst>
                                            <p:cond delay="0"/>
                                          </p:stCondLst>
                                        </p:cTn>
                                        <p:tgtEl>
                                          <p:spTgt spid="24"/>
                                        </p:tgtEl>
                                        <p:attrNameLst>
                                          <p:attrName>style.visibility</p:attrName>
                                        </p:attrNameLst>
                                      </p:cBhvr>
                                      <p:to>
                                        <p:strVal val="visible"/>
                                      </p:to>
                                    </p:set>
                                    <p:anim calcmode="lin" valueType="num">
                                      <p:cBhvr>
                                        <p:cTn id="103" dur="1000" fill="hold"/>
                                        <p:tgtEl>
                                          <p:spTgt spid="24"/>
                                        </p:tgtEl>
                                        <p:attrNameLst>
                                          <p:attrName>ppt_w</p:attrName>
                                        </p:attrNameLst>
                                      </p:cBhvr>
                                      <p:tavLst>
                                        <p:tav tm="0">
                                          <p:val>
                                            <p:fltVal val="0"/>
                                          </p:val>
                                        </p:tav>
                                        <p:tav tm="100000">
                                          <p:val>
                                            <p:strVal val="#ppt_w"/>
                                          </p:val>
                                        </p:tav>
                                      </p:tavLst>
                                    </p:anim>
                                    <p:anim calcmode="lin" valueType="num">
                                      <p:cBhvr>
                                        <p:cTn id="104" dur="1000" fill="hold"/>
                                        <p:tgtEl>
                                          <p:spTgt spid="24"/>
                                        </p:tgtEl>
                                        <p:attrNameLst>
                                          <p:attrName>ppt_h</p:attrName>
                                        </p:attrNameLst>
                                      </p:cBhvr>
                                      <p:tavLst>
                                        <p:tav tm="0">
                                          <p:val>
                                            <p:fltVal val="0"/>
                                          </p:val>
                                        </p:tav>
                                        <p:tav tm="100000">
                                          <p:val>
                                            <p:strVal val="#ppt_h"/>
                                          </p:val>
                                        </p:tav>
                                      </p:tavLst>
                                    </p:anim>
                                    <p:anim calcmode="lin" valueType="num">
                                      <p:cBhvr>
                                        <p:cTn id="105" dur="1000" fill="hold"/>
                                        <p:tgtEl>
                                          <p:spTgt spid="24"/>
                                        </p:tgtEl>
                                        <p:attrNameLst>
                                          <p:attrName>style.rotation</p:attrName>
                                        </p:attrNameLst>
                                      </p:cBhvr>
                                      <p:tavLst>
                                        <p:tav tm="0">
                                          <p:val>
                                            <p:fltVal val="90"/>
                                          </p:val>
                                        </p:tav>
                                        <p:tav tm="100000">
                                          <p:val>
                                            <p:fltVal val="0"/>
                                          </p:val>
                                        </p:tav>
                                      </p:tavLst>
                                    </p:anim>
                                    <p:animEffect transition="in" filter="fade">
                                      <p:cBhvr>
                                        <p:cTn id="106" dur="10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23" grpId="0" animBg="1"/>
      <p:bldP spid="2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875773" y="272089"/>
            <a:ext cx="5974331" cy="609355"/>
          </a:xfrm>
          <a:prstGeom prst="rect">
            <a:avLst/>
          </a:prstGeom>
          <a:noFill/>
        </p:spPr>
        <p:txBody>
          <a:bodyPr wrap="square" lIns="91398" tIns="45699" rIns="91398" bIns="45699"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pPr>
              <a:lnSpc>
                <a:spcPct val="120000"/>
              </a:lnSpc>
            </a:pPr>
            <a:r>
              <a:rPr lang="zh-CN" altLang="en-US" sz="2800" b="1" dirty="0">
                <a:latin typeface="微软雅黑" panose="020B0503020204020204" pitchFamily="34" charset="-122"/>
                <a:ea typeface="微软雅黑" panose="020B0503020204020204" pitchFamily="34" charset="-122"/>
              </a:rPr>
              <a:t>控制相关的解决办法</a:t>
            </a:r>
            <a:r>
              <a:rPr lang="en-US" altLang="zh-CN" sz="2800" b="1" dirty="0">
                <a:latin typeface="微软雅黑" panose="020B0503020204020204" pitchFamily="34" charset="-122"/>
                <a:ea typeface="微软雅黑" panose="020B0503020204020204" pitchFamily="34" charset="-122"/>
              </a:rPr>
              <a:t>——</a:t>
            </a:r>
            <a:r>
              <a:rPr lang="zh-CN" altLang="en-US" sz="2800" b="1" dirty="0">
                <a:solidFill>
                  <a:srgbClr val="FF0000"/>
                </a:solidFill>
                <a:latin typeface="微软雅黑" panose="020B0503020204020204" pitchFamily="34" charset="-122"/>
                <a:ea typeface="微软雅黑" panose="020B0503020204020204" pitchFamily="34" charset="-122"/>
              </a:rPr>
              <a:t>猜测法</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1C0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1C0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1C0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9" name="Line 5"/>
          <p:cNvSpPr>
            <a:spLocks noChangeShapeType="1"/>
          </p:cNvSpPr>
          <p:nvPr/>
        </p:nvSpPr>
        <p:spPr bwMode="auto">
          <a:xfrm>
            <a:off x="646538" y="1285689"/>
            <a:ext cx="0" cy="5255767"/>
          </a:xfrm>
          <a:prstGeom prst="line">
            <a:avLst/>
          </a:prstGeom>
          <a:noFill/>
          <a:ln w="12700" cap="flat">
            <a:solidFill>
              <a:srgbClr val="2E2C2C"/>
            </a:solidFill>
            <a:prstDash val="solid"/>
            <a:miter lim="800000"/>
            <a:headEnd/>
            <a:tailEnd/>
          </a:ln>
          <a:extLst>
            <a:ext uri="{909E8E84-426E-40DD-AFC4-6F175D3DCCD1}">
              <a14:hiddenFill xmlns:a14="http://schemas.microsoft.com/office/drawing/2010/main">
                <a:noFill/>
              </a14:hiddenFill>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72" name="Freeform 9"/>
          <p:cNvSpPr>
            <a:spLocks/>
          </p:cNvSpPr>
          <p:nvPr/>
        </p:nvSpPr>
        <p:spPr bwMode="auto">
          <a:xfrm>
            <a:off x="982957" y="1206342"/>
            <a:ext cx="165036" cy="207882"/>
          </a:xfrm>
          <a:custGeom>
            <a:avLst/>
            <a:gdLst>
              <a:gd name="T0" fmla="*/ 184 w 205"/>
              <a:gd name="T1" fmla="*/ 109 h 262"/>
              <a:gd name="T2" fmla="*/ 109 w 205"/>
              <a:gd name="T3" fmla="*/ 61 h 262"/>
              <a:gd name="T4" fmla="*/ 32 w 205"/>
              <a:gd name="T5" fmla="*/ 11 h 262"/>
              <a:gd name="T6" fmla="*/ 0 w 205"/>
              <a:gd name="T7" fmla="*/ 34 h 262"/>
              <a:gd name="T8" fmla="*/ 0 w 205"/>
              <a:gd name="T9" fmla="*/ 131 h 262"/>
              <a:gd name="T10" fmla="*/ 0 w 205"/>
              <a:gd name="T11" fmla="*/ 230 h 262"/>
              <a:gd name="T12" fmla="*/ 34 w 205"/>
              <a:gd name="T13" fmla="*/ 250 h 262"/>
              <a:gd name="T14" fmla="*/ 109 w 205"/>
              <a:gd name="T15" fmla="*/ 202 h 262"/>
              <a:gd name="T16" fmla="*/ 186 w 205"/>
              <a:gd name="T17" fmla="*/ 152 h 262"/>
              <a:gd name="T18" fmla="*/ 184 w 205"/>
              <a:gd name="T19" fmla="*/ 109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5" h="262">
                <a:moveTo>
                  <a:pt x="184" y="109"/>
                </a:moveTo>
                <a:lnTo>
                  <a:pt x="109" y="61"/>
                </a:lnTo>
                <a:cubicBezTo>
                  <a:pt x="83" y="44"/>
                  <a:pt x="58" y="28"/>
                  <a:pt x="32" y="11"/>
                </a:cubicBezTo>
                <a:cubicBezTo>
                  <a:pt x="11" y="0"/>
                  <a:pt x="0" y="9"/>
                  <a:pt x="0" y="34"/>
                </a:cubicBezTo>
                <a:lnTo>
                  <a:pt x="0" y="131"/>
                </a:lnTo>
                <a:cubicBezTo>
                  <a:pt x="0" y="164"/>
                  <a:pt x="0" y="197"/>
                  <a:pt x="0" y="230"/>
                </a:cubicBezTo>
                <a:cubicBezTo>
                  <a:pt x="2" y="256"/>
                  <a:pt x="14" y="262"/>
                  <a:pt x="34" y="250"/>
                </a:cubicBezTo>
                <a:lnTo>
                  <a:pt x="109" y="202"/>
                </a:lnTo>
                <a:cubicBezTo>
                  <a:pt x="135" y="185"/>
                  <a:pt x="160" y="169"/>
                  <a:pt x="186" y="152"/>
                </a:cubicBezTo>
                <a:cubicBezTo>
                  <a:pt x="205" y="137"/>
                  <a:pt x="203" y="122"/>
                  <a:pt x="184" y="109"/>
                </a:cubicBezTo>
                <a:close/>
              </a:path>
            </a:pathLst>
          </a:custGeom>
          <a:solidFill>
            <a:srgbClr val="01C0B0"/>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sp>
        <p:nvSpPr>
          <p:cNvPr id="73" name="Freeform 11"/>
          <p:cNvSpPr>
            <a:spLocks/>
          </p:cNvSpPr>
          <p:nvPr/>
        </p:nvSpPr>
        <p:spPr bwMode="auto">
          <a:xfrm>
            <a:off x="1000451" y="3106990"/>
            <a:ext cx="165036" cy="206294"/>
          </a:xfrm>
          <a:custGeom>
            <a:avLst/>
            <a:gdLst>
              <a:gd name="T0" fmla="*/ 184 w 205"/>
              <a:gd name="T1" fmla="*/ 108 h 261"/>
              <a:gd name="T2" fmla="*/ 109 w 205"/>
              <a:gd name="T3" fmla="*/ 60 h 261"/>
              <a:gd name="T4" fmla="*/ 32 w 205"/>
              <a:gd name="T5" fmla="*/ 10 h 261"/>
              <a:gd name="T6" fmla="*/ 0 w 205"/>
              <a:gd name="T7" fmla="*/ 33 h 261"/>
              <a:gd name="T8" fmla="*/ 0 w 205"/>
              <a:gd name="T9" fmla="*/ 130 h 261"/>
              <a:gd name="T10" fmla="*/ 0 w 205"/>
              <a:gd name="T11" fmla="*/ 229 h 261"/>
              <a:gd name="T12" fmla="*/ 34 w 205"/>
              <a:gd name="T13" fmla="*/ 249 h 261"/>
              <a:gd name="T14" fmla="*/ 109 w 205"/>
              <a:gd name="T15" fmla="*/ 201 h 261"/>
              <a:gd name="T16" fmla="*/ 186 w 205"/>
              <a:gd name="T17" fmla="*/ 151 h 261"/>
              <a:gd name="T18" fmla="*/ 184 w 205"/>
              <a:gd name="T19" fmla="*/ 108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5" h="261">
                <a:moveTo>
                  <a:pt x="184" y="108"/>
                </a:moveTo>
                <a:lnTo>
                  <a:pt x="109" y="60"/>
                </a:lnTo>
                <a:cubicBezTo>
                  <a:pt x="83" y="43"/>
                  <a:pt x="58" y="27"/>
                  <a:pt x="32" y="10"/>
                </a:cubicBezTo>
                <a:cubicBezTo>
                  <a:pt x="11" y="0"/>
                  <a:pt x="0" y="8"/>
                  <a:pt x="0" y="33"/>
                </a:cubicBezTo>
                <a:lnTo>
                  <a:pt x="0" y="130"/>
                </a:lnTo>
                <a:cubicBezTo>
                  <a:pt x="0" y="163"/>
                  <a:pt x="0" y="196"/>
                  <a:pt x="0" y="229"/>
                </a:cubicBezTo>
                <a:cubicBezTo>
                  <a:pt x="2" y="255"/>
                  <a:pt x="14" y="261"/>
                  <a:pt x="34" y="249"/>
                </a:cubicBezTo>
                <a:lnTo>
                  <a:pt x="109" y="201"/>
                </a:lnTo>
                <a:cubicBezTo>
                  <a:pt x="135" y="184"/>
                  <a:pt x="160" y="168"/>
                  <a:pt x="186" y="151"/>
                </a:cubicBezTo>
                <a:cubicBezTo>
                  <a:pt x="205" y="136"/>
                  <a:pt x="203" y="122"/>
                  <a:pt x="184" y="108"/>
                </a:cubicBezTo>
                <a:close/>
              </a:path>
            </a:pathLst>
          </a:custGeom>
          <a:solidFill>
            <a:srgbClr val="92D050"/>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grpSp>
        <p:nvGrpSpPr>
          <p:cNvPr id="74" name="组合 73"/>
          <p:cNvGrpSpPr/>
          <p:nvPr/>
        </p:nvGrpSpPr>
        <p:grpSpPr>
          <a:xfrm>
            <a:off x="265635" y="1034493"/>
            <a:ext cx="717324" cy="523092"/>
            <a:chOff x="912759" y="1007596"/>
            <a:chExt cx="717604" cy="523296"/>
          </a:xfrm>
        </p:grpSpPr>
        <p:sp>
          <p:nvSpPr>
            <p:cNvPr id="75" name="Freeform 8"/>
            <p:cNvSpPr>
              <a:spLocks/>
            </p:cNvSpPr>
            <p:nvPr/>
          </p:nvSpPr>
          <p:spPr bwMode="auto">
            <a:xfrm>
              <a:off x="985838" y="1052513"/>
              <a:ext cx="615950" cy="433387"/>
            </a:xfrm>
            <a:custGeom>
              <a:avLst/>
              <a:gdLst>
                <a:gd name="T0" fmla="*/ 43 w 764"/>
                <a:gd name="T1" fmla="*/ 0 h 549"/>
                <a:gd name="T2" fmla="*/ 721 w 764"/>
                <a:gd name="T3" fmla="*/ 0 h 549"/>
                <a:gd name="T4" fmla="*/ 764 w 764"/>
                <a:gd name="T5" fmla="*/ 43 h 549"/>
                <a:gd name="T6" fmla="*/ 764 w 764"/>
                <a:gd name="T7" fmla="*/ 506 h 549"/>
                <a:gd name="T8" fmla="*/ 721 w 764"/>
                <a:gd name="T9" fmla="*/ 549 h 549"/>
                <a:gd name="T10" fmla="*/ 43 w 764"/>
                <a:gd name="T11" fmla="*/ 549 h 549"/>
                <a:gd name="T12" fmla="*/ 0 w 764"/>
                <a:gd name="T13" fmla="*/ 506 h 549"/>
                <a:gd name="T14" fmla="*/ 0 w 764"/>
                <a:gd name="T15" fmla="*/ 43 h 549"/>
                <a:gd name="T16" fmla="*/ 43 w 764"/>
                <a:gd name="T17" fmla="*/ 0 h 5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4" h="549">
                  <a:moveTo>
                    <a:pt x="43" y="0"/>
                  </a:moveTo>
                  <a:lnTo>
                    <a:pt x="721" y="0"/>
                  </a:lnTo>
                  <a:cubicBezTo>
                    <a:pt x="744" y="0"/>
                    <a:pt x="764" y="20"/>
                    <a:pt x="764" y="43"/>
                  </a:cubicBezTo>
                  <a:lnTo>
                    <a:pt x="764" y="506"/>
                  </a:lnTo>
                  <a:cubicBezTo>
                    <a:pt x="764" y="530"/>
                    <a:pt x="744" y="549"/>
                    <a:pt x="721" y="549"/>
                  </a:cubicBezTo>
                  <a:lnTo>
                    <a:pt x="43" y="549"/>
                  </a:lnTo>
                  <a:cubicBezTo>
                    <a:pt x="20" y="549"/>
                    <a:pt x="0" y="530"/>
                    <a:pt x="0" y="506"/>
                  </a:cubicBezTo>
                  <a:lnTo>
                    <a:pt x="0" y="43"/>
                  </a:lnTo>
                  <a:cubicBezTo>
                    <a:pt x="0" y="20"/>
                    <a:pt x="20" y="0"/>
                    <a:pt x="43" y="0"/>
                  </a:cubicBezTo>
                  <a:close/>
                </a:path>
              </a:pathLst>
            </a:custGeom>
            <a:solidFill>
              <a:srgbClr val="E8550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endParaRPr lang="zh-CN" altLang="en-US" sz="1799"/>
            </a:p>
          </p:txBody>
        </p:sp>
        <p:sp>
          <p:nvSpPr>
            <p:cNvPr id="76" name="TextBox 75"/>
            <p:cNvSpPr txBox="1"/>
            <p:nvPr/>
          </p:nvSpPr>
          <p:spPr>
            <a:xfrm>
              <a:off x="912759" y="1007596"/>
              <a:ext cx="717604" cy="523296"/>
            </a:xfrm>
            <a:prstGeom prst="rect">
              <a:avLst/>
            </a:prstGeom>
            <a:solidFill>
              <a:srgbClr val="01C0B0"/>
            </a:solidFill>
          </p:spPr>
          <p:txBody>
            <a:bodyPr wrap="square" rtlCol="0">
              <a:spAutoFit/>
            </a:bodyPr>
            <a:lstStyle/>
            <a:p>
              <a:pPr algn="ctr"/>
              <a:r>
                <a:rPr lang="en-US" altLang="zh-CN" sz="2799" dirty="0">
                  <a:solidFill>
                    <a:schemeClr val="bg1"/>
                  </a:solidFill>
                  <a:latin typeface="+mn-ea"/>
                </a:rPr>
                <a:t>01</a:t>
              </a:r>
              <a:endParaRPr lang="zh-CN" altLang="en-US" sz="2799" dirty="0">
                <a:solidFill>
                  <a:schemeClr val="bg1"/>
                </a:solidFill>
                <a:latin typeface="+mn-ea"/>
              </a:endParaRPr>
            </a:p>
          </p:txBody>
        </p:sp>
      </p:grpSp>
      <p:grpSp>
        <p:nvGrpSpPr>
          <p:cNvPr id="79" name="组合 78"/>
          <p:cNvGrpSpPr/>
          <p:nvPr/>
        </p:nvGrpSpPr>
        <p:grpSpPr>
          <a:xfrm>
            <a:off x="283129" y="2944492"/>
            <a:ext cx="717324" cy="523092"/>
            <a:chOff x="912759" y="1884191"/>
            <a:chExt cx="717604" cy="523296"/>
          </a:xfrm>
        </p:grpSpPr>
        <p:sp>
          <p:nvSpPr>
            <p:cNvPr id="80" name="Freeform 10"/>
            <p:cNvSpPr>
              <a:spLocks/>
            </p:cNvSpPr>
            <p:nvPr/>
          </p:nvSpPr>
          <p:spPr bwMode="auto">
            <a:xfrm>
              <a:off x="985838" y="1918165"/>
              <a:ext cx="615950" cy="433387"/>
            </a:xfrm>
            <a:custGeom>
              <a:avLst/>
              <a:gdLst>
                <a:gd name="T0" fmla="*/ 43 w 764"/>
                <a:gd name="T1" fmla="*/ 0 h 549"/>
                <a:gd name="T2" fmla="*/ 721 w 764"/>
                <a:gd name="T3" fmla="*/ 0 h 549"/>
                <a:gd name="T4" fmla="*/ 764 w 764"/>
                <a:gd name="T5" fmla="*/ 44 h 549"/>
                <a:gd name="T6" fmla="*/ 764 w 764"/>
                <a:gd name="T7" fmla="*/ 506 h 549"/>
                <a:gd name="T8" fmla="*/ 721 w 764"/>
                <a:gd name="T9" fmla="*/ 549 h 549"/>
                <a:gd name="T10" fmla="*/ 43 w 764"/>
                <a:gd name="T11" fmla="*/ 549 h 549"/>
                <a:gd name="T12" fmla="*/ 0 w 764"/>
                <a:gd name="T13" fmla="*/ 506 h 549"/>
                <a:gd name="T14" fmla="*/ 0 w 764"/>
                <a:gd name="T15" fmla="*/ 44 h 549"/>
                <a:gd name="T16" fmla="*/ 43 w 764"/>
                <a:gd name="T17" fmla="*/ 0 h 5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4" h="549">
                  <a:moveTo>
                    <a:pt x="43" y="0"/>
                  </a:moveTo>
                  <a:lnTo>
                    <a:pt x="721" y="0"/>
                  </a:lnTo>
                  <a:cubicBezTo>
                    <a:pt x="744" y="0"/>
                    <a:pt x="764" y="20"/>
                    <a:pt x="764" y="44"/>
                  </a:cubicBezTo>
                  <a:lnTo>
                    <a:pt x="764" y="506"/>
                  </a:lnTo>
                  <a:cubicBezTo>
                    <a:pt x="764" y="530"/>
                    <a:pt x="744" y="549"/>
                    <a:pt x="721" y="549"/>
                  </a:cubicBezTo>
                  <a:lnTo>
                    <a:pt x="43" y="549"/>
                  </a:lnTo>
                  <a:cubicBezTo>
                    <a:pt x="20" y="549"/>
                    <a:pt x="0" y="530"/>
                    <a:pt x="0" y="506"/>
                  </a:cubicBezTo>
                  <a:lnTo>
                    <a:pt x="0" y="44"/>
                  </a:lnTo>
                  <a:cubicBezTo>
                    <a:pt x="0" y="20"/>
                    <a:pt x="20" y="0"/>
                    <a:pt x="43" y="0"/>
                  </a:cubicBezTo>
                  <a:close/>
                </a:path>
              </a:pathLst>
            </a:custGeom>
            <a:solidFill>
              <a:srgbClr val="E8550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endParaRPr lang="zh-CN" altLang="en-US" sz="1799"/>
            </a:p>
          </p:txBody>
        </p:sp>
        <p:sp>
          <p:nvSpPr>
            <p:cNvPr id="81" name="TextBox 80"/>
            <p:cNvSpPr txBox="1"/>
            <p:nvPr/>
          </p:nvSpPr>
          <p:spPr>
            <a:xfrm>
              <a:off x="912759" y="1884191"/>
              <a:ext cx="717604" cy="523296"/>
            </a:xfrm>
            <a:prstGeom prst="rect">
              <a:avLst/>
            </a:prstGeom>
            <a:solidFill>
              <a:srgbClr val="92D050"/>
            </a:solidFill>
          </p:spPr>
          <p:txBody>
            <a:bodyPr wrap="square" rtlCol="0">
              <a:spAutoFit/>
            </a:bodyPr>
            <a:lstStyle/>
            <a:p>
              <a:pPr algn="ctr"/>
              <a:r>
                <a:rPr lang="en-US" altLang="zh-CN" sz="2799" dirty="0">
                  <a:solidFill>
                    <a:schemeClr val="bg1"/>
                  </a:solidFill>
                  <a:latin typeface="+mn-ea"/>
                </a:rPr>
                <a:t>02</a:t>
              </a:r>
              <a:endParaRPr lang="zh-CN" altLang="en-US" sz="2799" dirty="0">
                <a:solidFill>
                  <a:schemeClr val="bg1"/>
                </a:solidFill>
                <a:latin typeface="+mn-ea"/>
              </a:endParaRPr>
            </a:p>
          </p:txBody>
        </p:sp>
      </p:grpSp>
      <p:sp>
        <p:nvSpPr>
          <p:cNvPr id="90" name="Oval 6"/>
          <p:cNvSpPr>
            <a:spLocks noChangeArrowheads="1"/>
          </p:cNvSpPr>
          <p:nvPr/>
        </p:nvSpPr>
        <p:spPr bwMode="auto">
          <a:xfrm>
            <a:off x="543208" y="1732055"/>
            <a:ext cx="238032" cy="234859"/>
          </a:xfrm>
          <a:prstGeom prst="ellipse">
            <a:avLst/>
          </a:prstGeom>
          <a:solidFill>
            <a:schemeClr val="accent4"/>
          </a:solidFill>
          <a:ln w="10" cap="flat">
            <a:solidFill>
              <a:srgbClr val="FFFFFF"/>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91" name="Oval 7"/>
          <p:cNvSpPr>
            <a:spLocks noChangeArrowheads="1"/>
          </p:cNvSpPr>
          <p:nvPr/>
        </p:nvSpPr>
        <p:spPr bwMode="auto">
          <a:xfrm>
            <a:off x="522775" y="2326262"/>
            <a:ext cx="238032" cy="234859"/>
          </a:xfrm>
          <a:prstGeom prst="ellipse">
            <a:avLst/>
          </a:prstGeom>
          <a:solidFill>
            <a:schemeClr val="accent4"/>
          </a:solidFill>
          <a:ln w="10" cap="flat">
            <a:solidFill>
              <a:srgbClr val="FFFFFF"/>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27" name="TextBox 26"/>
          <p:cNvSpPr txBox="1"/>
          <p:nvPr/>
        </p:nvSpPr>
        <p:spPr>
          <a:xfrm>
            <a:off x="14146653" y="8510121"/>
            <a:ext cx="1107996" cy="461665"/>
          </a:xfrm>
          <a:prstGeom prst="rect">
            <a:avLst/>
          </a:prstGeom>
          <a:noFill/>
        </p:spPr>
        <p:txBody>
          <a:bodyPr wrap="none" rtlCol="0">
            <a:spAutoFit/>
          </a:bodyPr>
          <a:lstStyle/>
          <a:p>
            <a:r>
              <a:rPr lang="zh-CN" altLang="en-US" sz="2400" dirty="0"/>
              <a:t>延时符</a:t>
            </a:r>
          </a:p>
        </p:txBody>
      </p:sp>
      <p:sp>
        <p:nvSpPr>
          <p:cNvPr id="2" name="矩形 1"/>
          <p:cNvSpPr/>
          <p:nvPr/>
        </p:nvSpPr>
        <p:spPr>
          <a:xfrm>
            <a:off x="1095652" y="998064"/>
            <a:ext cx="6647974" cy="609398"/>
          </a:xfrm>
          <a:prstGeom prst="rect">
            <a:avLst/>
          </a:prstGeom>
        </p:spPr>
        <p:txBody>
          <a:bodyPr wrap="none">
            <a:spAutoFit/>
          </a:bodyPr>
          <a:lstStyle/>
          <a:p>
            <a:pPr>
              <a:lnSpc>
                <a:spcPct val="120000"/>
              </a:lnSpc>
            </a:pPr>
            <a:r>
              <a:rPr lang="zh-CN" altLang="en-US" sz="2800" b="1" dirty="0">
                <a:latin typeface="微软雅黑" panose="020B0503020204020204" pitchFamily="34" charset="-122"/>
                <a:ea typeface="微软雅黑" panose="020B0503020204020204" pitchFamily="34" charset="-122"/>
              </a:rPr>
              <a:t>当遇见转移指令</a:t>
            </a:r>
            <a:r>
              <a:rPr lang="zh-CN" altLang="en-US" sz="2800" b="1" dirty="0">
                <a:solidFill>
                  <a:srgbClr val="FF0000"/>
                </a:solidFill>
                <a:latin typeface="微软雅黑" panose="020B0503020204020204" pitchFamily="34" charset="-122"/>
                <a:ea typeface="微软雅黑" panose="020B0503020204020204" pitchFamily="34" charset="-122"/>
              </a:rPr>
              <a:t>ｉ</a:t>
            </a:r>
            <a:r>
              <a:rPr lang="zh-CN" altLang="en-US" sz="2800" b="1" dirty="0">
                <a:latin typeface="微软雅黑" panose="020B0503020204020204" pitchFamily="34" charset="-122"/>
                <a:ea typeface="微软雅黑" panose="020B0503020204020204" pitchFamily="34" charset="-122"/>
              </a:rPr>
              <a:t>时，会形成两个分支：</a:t>
            </a:r>
            <a:endParaRPr lang="en-US" altLang="zh-CN" sz="2800" b="1" dirty="0">
              <a:latin typeface="微软雅黑" panose="020B0503020204020204" pitchFamily="34" charset="-122"/>
              <a:ea typeface="微软雅黑" panose="020B0503020204020204" pitchFamily="34" charset="-122"/>
            </a:endParaRPr>
          </a:p>
        </p:txBody>
      </p:sp>
      <p:sp>
        <p:nvSpPr>
          <p:cNvPr id="3" name="矩形 2"/>
          <p:cNvSpPr/>
          <p:nvPr/>
        </p:nvSpPr>
        <p:spPr>
          <a:xfrm>
            <a:off x="624297" y="1590689"/>
            <a:ext cx="11318214" cy="609398"/>
          </a:xfrm>
          <a:prstGeom prst="rect">
            <a:avLst/>
          </a:prstGeom>
        </p:spPr>
        <p:txBody>
          <a:bodyPr wrap="square">
            <a:spAutoFit/>
          </a:bodyPr>
          <a:lstStyle/>
          <a:p>
            <a:pPr lvl="1">
              <a:lnSpc>
                <a:spcPct val="120000"/>
              </a:lnSpc>
            </a:pPr>
            <a:r>
              <a:rPr lang="zh-CN" altLang="en-US" sz="2800" b="1" dirty="0">
                <a:latin typeface="微软雅黑" panose="020B0503020204020204" pitchFamily="34" charset="-122"/>
                <a:ea typeface="微软雅黑" panose="020B0503020204020204" pitchFamily="34" charset="-122"/>
              </a:rPr>
              <a:t>分支</a:t>
            </a:r>
            <a:r>
              <a:rPr lang="en-US" altLang="zh-CN" sz="2800" b="1" dirty="0">
                <a:latin typeface="微软雅黑" panose="020B0503020204020204" pitchFamily="34" charset="-122"/>
                <a:ea typeface="微软雅黑" panose="020B0503020204020204" pitchFamily="34" charset="-122"/>
              </a:rPr>
              <a:t>1</a:t>
            </a:r>
            <a:r>
              <a:rPr lang="zh-CN" altLang="en-US" sz="2800" b="1" dirty="0">
                <a:latin typeface="微软雅黑" panose="020B0503020204020204" pitchFamily="34" charset="-122"/>
                <a:ea typeface="微软雅黑" panose="020B0503020204020204" pitchFamily="34" charset="-122"/>
              </a:rPr>
              <a:t>：</a:t>
            </a:r>
            <a:r>
              <a:rPr lang="zh-CN" altLang="en-US" sz="2800" b="1" dirty="0">
                <a:solidFill>
                  <a:srgbClr val="0000FF"/>
                </a:solidFill>
                <a:latin typeface="微软雅黑" panose="020B0503020204020204" pitchFamily="34" charset="-122"/>
                <a:ea typeface="微软雅黑" panose="020B0503020204020204" pitchFamily="34" charset="-122"/>
              </a:rPr>
              <a:t>ｉ</a:t>
            </a:r>
            <a:r>
              <a:rPr lang="en-US" altLang="zh-CN" sz="2800" b="1" dirty="0">
                <a:solidFill>
                  <a:srgbClr val="0000FF"/>
                </a:solidFill>
                <a:latin typeface="微软雅黑" panose="020B0503020204020204" pitchFamily="34" charset="-122"/>
                <a:ea typeface="微软雅黑" panose="020B0503020204020204" pitchFamily="34" charset="-122"/>
              </a:rPr>
              <a:t>+1</a:t>
            </a:r>
            <a:r>
              <a:rPr lang="zh-CN" altLang="en-US" sz="2800" b="1" dirty="0">
                <a:latin typeface="微软雅黑" panose="020B0503020204020204" pitchFamily="34" charset="-122"/>
                <a:ea typeface="微软雅黑" panose="020B0503020204020204" pitchFamily="34" charset="-122"/>
              </a:rPr>
              <a:t>、ｉ</a:t>
            </a:r>
            <a:r>
              <a:rPr lang="en-US" altLang="zh-CN" sz="2800" b="1" dirty="0">
                <a:latin typeface="微软雅黑" panose="020B0503020204020204" pitchFamily="34" charset="-122"/>
                <a:ea typeface="微软雅黑" panose="020B0503020204020204" pitchFamily="34" charset="-122"/>
              </a:rPr>
              <a:t>+2</a:t>
            </a:r>
            <a:r>
              <a:rPr lang="zh-CN" altLang="en-US" sz="2800" b="1" dirty="0">
                <a:latin typeface="微软雅黑" panose="020B0503020204020204" pitchFamily="34" charset="-122"/>
                <a:ea typeface="微软雅黑" panose="020B0503020204020204" pitchFamily="34" charset="-122"/>
              </a:rPr>
              <a:t>、</a:t>
            </a:r>
            <a:r>
              <a:rPr lang="en-US" altLang="zh-CN" sz="2800" b="1" dirty="0">
                <a:latin typeface="微软雅黑" panose="020B0503020204020204" pitchFamily="34" charset="-122"/>
                <a:ea typeface="微软雅黑" panose="020B0503020204020204" pitchFamily="34" charset="-122"/>
              </a:rPr>
              <a:t>……</a:t>
            </a:r>
            <a:r>
              <a:rPr lang="zh-CN" altLang="en-US" sz="2800" b="1" dirty="0">
                <a:latin typeface="微软雅黑" panose="020B0503020204020204" pitchFamily="34" charset="-122"/>
                <a:ea typeface="微软雅黑" panose="020B0503020204020204" pitchFamily="34" charset="-122"/>
              </a:rPr>
              <a:t>，是转移不成功时继续执行的一路分支；</a:t>
            </a:r>
            <a:endParaRPr lang="en-US" altLang="zh-CN" sz="2800" b="1" dirty="0">
              <a:latin typeface="微软雅黑" panose="020B0503020204020204" pitchFamily="34" charset="-122"/>
              <a:ea typeface="微软雅黑" panose="020B0503020204020204" pitchFamily="34" charset="-122"/>
            </a:endParaRPr>
          </a:p>
        </p:txBody>
      </p:sp>
      <p:sp>
        <p:nvSpPr>
          <p:cNvPr id="4" name="矩形 3"/>
          <p:cNvSpPr/>
          <p:nvPr/>
        </p:nvSpPr>
        <p:spPr>
          <a:xfrm>
            <a:off x="641791" y="2191200"/>
            <a:ext cx="10525060" cy="609398"/>
          </a:xfrm>
          <a:prstGeom prst="rect">
            <a:avLst/>
          </a:prstGeom>
        </p:spPr>
        <p:txBody>
          <a:bodyPr wrap="square">
            <a:spAutoFit/>
          </a:bodyPr>
          <a:lstStyle/>
          <a:p>
            <a:pPr lvl="1">
              <a:lnSpc>
                <a:spcPct val="120000"/>
              </a:lnSpc>
            </a:pPr>
            <a:r>
              <a:rPr lang="zh-CN" altLang="en-US" sz="2800" b="1" dirty="0">
                <a:latin typeface="微软雅黑" panose="020B0503020204020204" pitchFamily="34" charset="-122"/>
                <a:ea typeface="微软雅黑" panose="020B0503020204020204" pitchFamily="34" charset="-122"/>
              </a:rPr>
              <a:t>分支</a:t>
            </a:r>
            <a:r>
              <a:rPr lang="en-US" altLang="zh-CN" sz="2800" b="1" dirty="0">
                <a:latin typeface="微软雅黑" panose="020B0503020204020204" pitchFamily="34" charset="-122"/>
                <a:ea typeface="微软雅黑" panose="020B0503020204020204" pitchFamily="34" charset="-122"/>
              </a:rPr>
              <a:t>2</a:t>
            </a:r>
            <a:r>
              <a:rPr lang="zh-CN" altLang="en-US" sz="2800" b="1" dirty="0">
                <a:latin typeface="微软雅黑" panose="020B0503020204020204" pitchFamily="34" charset="-122"/>
                <a:ea typeface="微软雅黑" panose="020B0503020204020204" pitchFamily="34" charset="-122"/>
              </a:rPr>
              <a:t>：</a:t>
            </a:r>
            <a:r>
              <a:rPr lang="en-US" altLang="zh-CN" sz="2800" b="1" dirty="0">
                <a:solidFill>
                  <a:srgbClr val="0000FF"/>
                </a:solidFill>
                <a:latin typeface="微软雅黑" panose="020B0503020204020204" pitchFamily="34" charset="-122"/>
                <a:ea typeface="微软雅黑" panose="020B0503020204020204" pitchFamily="34" charset="-122"/>
              </a:rPr>
              <a:t>p</a:t>
            </a:r>
            <a:r>
              <a:rPr lang="zh-CN" altLang="en-US" sz="2800" b="1" dirty="0">
                <a:latin typeface="微软雅黑" panose="020B0503020204020204" pitchFamily="34" charset="-122"/>
                <a:ea typeface="微软雅黑" panose="020B0503020204020204" pitchFamily="34" charset="-122"/>
              </a:rPr>
              <a:t>、</a:t>
            </a:r>
            <a:r>
              <a:rPr lang="en-US" altLang="zh-CN" sz="2800" b="1" dirty="0">
                <a:latin typeface="微软雅黑" panose="020B0503020204020204" pitchFamily="34" charset="-122"/>
                <a:ea typeface="微软雅黑" panose="020B0503020204020204" pitchFamily="34" charset="-122"/>
              </a:rPr>
              <a:t>p+1</a:t>
            </a:r>
            <a:r>
              <a:rPr lang="zh-CN" altLang="en-US" sz="2800" b="1" dirty="0">
                <a:latin typeface="微软雅黑" panose="020B0503020204020204" pitchFamily="34" charset="-122"/>
                <a:ea typeface="微软雅黑" panose="020B0503020204020204" pitchFamily="34" charset="-122"/>
              </a:rPr>
              <a:t>、</a:t>
            </a:r>
            <a:r>
              <a:rPr lang="en-US" altLang="zh-CN" sz="2800" b="1" dirty="0">
                <a:latin typeface="微软雅黑" panose="020B0503020204020204" pitchFamily="34" charset="-122"/>
                <a:ea typeface="微软雅黑" panose="020B0503020204020204" pitchFamily="34" charset="-122"/>
              </a:rPr>
              <a:t>……</a:t>
            </a:r>
            <a:r>
              <a:rPr lang="zh-CN" altLang="en-US" sz="2800" b="1" dirty="0">
                <a:latin typeface="微软雅黑" panose="020B0503020204020204" pitchFamily="34" charset="-122"/>
                <a:ea typeface="微软雅黑" panose="020B0503020204020204" pitchFamily="34" charset="-122"/>
              </a:rPr>
              <a:t>，是转移成功时转向执行的指令。</a:t>
            </a:r>
            <a:endParaRPr lang="en-US" altLang="zh-CN" sz="2800" b="1" dirty="0">
              <a:latin typeface="微软雅黑" panose="020B0503020204020204" pitchFamily="34" charset="-122"/>
              <a:ea typeface="微软雅黑" panose="020B0503020204020204" pitchFamily="34" charset="-122"/>
            </a:endParaRPr>
          </a:p>
        </p:txBody>
      </p:sp>
      <p:sp>
        <p:nvSpPr>
          <p:cNvPr id="8" name="矩形 7"/>
          <p:cNvSpPr/>
          <p:nvPr/>
        </p:nvSpPr>
        <p:spPr>
          <a:xfrm>
            <a:off x="1119922" y="2808048"/>
            <a:ext cx="10500850" cy="2677656"/>
          </a:xfrm>
          <a:prstGeom prst="rect">
            <a:avLst/>
          </a:prstGeom>
        </p:spPr>
        <p:txBody>
          <a:bodyPr wrap="square">
            <a:spAutoFit/>
          </a:bodyPr>
          <a:lstStyle/>
          <a:p>
            <a:pPr>
              <a:lnSpc>
                <a:spcPct val="120000"/>
              </a:lnSpc>
            </a:pPr>
            <a:r>
              <a:rPr lang="zh-CN" altLang="en-US" sz="2800" b="1" dirty="0">
                <a:latin typeface="微软雅黑" panose="020B0503020204020204" pitchFamily="34" charset="-122"/>
                <a:ea typeface="微软雅黑" panose="020B0503020204020204" pitchFamily="34" charset="-122"/>
              </a:rPr>
              <a:t>流水意味着同时解释多条指令，</a:t>
            </a:r>
            <a:r>
              <a:rPr lang="en-US" altLang="zh-CN" sz="2800" b="1" dirty="0" err="1">
                <a:latin typeface="微软雅黑" panose="020B0503020204020204" pitchFamily="34" charset="-122"/>
                <a:ea typeface="微软雅黑" panose="020B0503020204020204" pitchFamily="34" charset="-122"/>
              </a:rPr>
              <a:t>i</a:t>
            </a:r>
            <a:r>
              <a:rPr lang="zh-CN" altLang="en-US" sz="2800" b="1" dirty="0">
                <a:latin typeface="微软雅黑" panose="020B0503020204020204" pitchFamily="34" charset="-122"/>
                <a:ea typeface="微软雅黑" panose="020B0503020204020204" pitchFamily="34" charset="-122"/>
              </a:rPr>
              <a:t>进入流水线后，后面到底是执行</a:t>
            </a:r>
            <a:r>
              <a:rPr lang="en-US" altLang="zh-CN" sz="2800" b="1" dirty="0">
                <a:latin typeface="微软雅黑" panose="020B0503020204020204" pitchFamily="34" charset="-122"/>
                <a:ea typeface="微软雅黑" panose="020B0503020204020204" pitchFamily="34" charset="-122"/>
              </a:rPr>
              <a:t>i+1</a:t>
            </a:r>
            <a:r>
              <a:rPr lang="zh-CN" altLang="en-US" sz="2800" b="1" dirty="0">
                <a:latin typeface="微软雅黑" panose="020B0503020204020204" pitchFamily="34" charset="-122"/>
                <a:ea typeface="微软雅黑" panose="020B0503020204020204" pitchFamily="34" charset="-122"/>
              </a:rPr>
              <a:t>还是</a:t>
            </a:r>
            <a:r>
              <a:rPr lang="en-US" altLang="zh-CN" sz="2800" b="1" dirty="0">
                <a:latin typeface="微软雅黑" panose="020B0503020204020204" pitchFamily="34" charset="-122"/>
                <a:ea typeface="微软雅黑" panose="020B0503020204020204" pitchFamily="34" charset="-122"/>
              </a:rPr>
              <a:t>p</a:t>
            </a:r>
            <a:r>
              <a:rPr lang="zh-CN" altLang="en-US" sz="2800" b="1" dirty="0">
                <a:latin typeface="微软雅黑" panose="020B0503020204020204" pitchFamily="34" charset="-122"/>
                <a:ea typeface="微软雅黑" panose="020B0503020204020204" pitchFamily="34" charset="-122"/>
              </a:rPr>
              <a:t>指令要等指令</a:t>
            </a:r>
            <a:r>
              <a:rPr lang="en-US" altLang="zh-CN" sz="2800" b="1" dirty="0" err="1">
                <a:latin typeface="微软雅黑" panose="020B0503020204020204" pitchFamily="34" charset="-122"/>
                <a:ea typeface="微软雅黑" panose="020B0503020204020204" pitchFamily="34" charset="-122"/>
              </a:rPr>
              <a:t>i</a:t>
            </a:r>
            <a:r>
              <a:rPr lang="zh-CN" altLang="en-US" sz="2800" b="1" dirty="0">
                <a:latin typeface="微软雅黑" panose="020B0503020204020204" pitchFamily="34" charset="-122"/>
                <a:ea typeface="微软雅黑" panose="020B0503020204020204" pitchFamily="34" charset="-122"/>
              </a:rPr>
              <a:t>的条件码建立以后才知道，而</a:t>
            </a:r>
            <a:r>
              <a:rPr lang="en-US" altLang="zh-CN" sz="2800" b="1" dirty="0" err="1">
                <a:latin typeface="微软雅黑" panose="020B0503020204020204" pitchFamily="34" charset="-122"/>
                <a:ea typeface="微软雅黑" panose="020B0503020204020204" pitchFamily="34" charset="-122"/>
              </a:rPr>
              <a:t>i</a:t>
            </a:r>
            <a:r>
              <a:rPr lang="zh-CN" altLang="en-US" sz="2800" b="1" dirty="0">
                <a:latin typeface="微软雅黑" panose="020B0503020204020204" pitchFamily="34" charset="-122"/>
                <a:ea typeface="微软雅黑" panose="020B0503020204020204" pitchFamily="34" charset="-122"/>
              </a:rPr>
              <a:t>的条件码建立一般要等到条件转移指令</a:t>
            </a:r>
            <a:r>
              <a:rPr lang="en-US" altLang="zh-CN" sz="2800" b="1" dirty="0" err="1">
                <a:latin typeface="微软雅黑" panose="020B0503020204020204" pitchFamily="34" charset="-122"/>
                <a:ea typeface="微软雅黑" panose="020B0503020204020204" pitchFamily="34" charset="-122"/>
              </a:rPr>
              <a:t>i</a:t>
            </a:r>
            <a:r>
              <a:rPr lang="zh-CN" altLang="en-US" sz="2800" b="1" dirty="0">
                <a:latin typeface="微软雅黑" panose="020B0503020204020204" pitchFamily="34" charset="-122"/>
                <a:ea typeface="微软雅黑" panose="020B0503020204020204" pitchFamily="34" charset="-122"/>
              </a:rPr>
              <a:t>快流出流水线时才行，那么在没有建立</a:t>
            </a:r>
            <a:r>
              <a:rPr lang="en-US" altLang="zh-CN" sz="2800" b="1" dirty="0" err="1">
                <a:latin typeface="微软雅黑" panose="020B0503020204020204" pitchFamily="34" charset="-122"/>
                <a:ea typeface="微软雅黑" panose="020B0503020204020204" pitchFamily="34" charset="-122"/>
              </a:rPr>
              <a:t>i</a:t>
            </a:r>
            <a:r>
              <a:rPr lang="zh-CN" altLang="en-US" sz="2800" b="1" dirty="0">
                <a:latin typeface="微软雅黑" panose="020B0503020204020204" pitchFamily="34" charset="-122"/>
                <a:ea typeface="微软雅黑" panose="020B0503020204020204" pitchFamily="34" charset="-122"/>
              </a:rPr>
              <a:t>的条件码之前，</a:t>
            </a:r>
            <a:r>
              <a:rPr lang="en-US" altLang="zh-CN" sz="2800" b="1" dirty="0" err="1">
                <a:latin typeface="微软雅黑" panose="020B0503020204020204" pitchFamily="34" charset="-122"/>
                <a:ea typeface="微软雅黑" panose="020B0503020204020204" pitchFamily="34" charset="-122"/>
              </a:rPr>
              <a:t>i</a:t>
            </a:r>
            <a:r>
              <a:rPr lang="zh-CN" altLang="en-US" sz="2800" b="1" dirty="0">
                <a:latin typeface="微软雅黑" panose="020B0503020204020204" pitchFamily="34" charset="-122"/>
                <a:ea typeface="微软雅黑" panose="020B0503020204020204" pitchFamily="34" charset="-122"/>
              </a:rPr>
              <a:t>之后的指令停等下来的话，流水就断流了，性能肯定下降。</a:t>
            </a:r>
            <a:endParaRPr lang="en-US" altLang="zh-CN" sz="2800" b="1" dirty="0">
              <a:latin typeface="微软雅黑" panose="020B0503020204020204" pitchFamily="34" charset="-122"/>
              <a:ea typeface="微软雅黑" panose="020B0503020204020204" pitchFamily="34" charset="-122"/>
            </a:endParaRPr>
          </a:p>
        </p:txBody>
      </p:sp>
      <p:sp>
        <p:nvSpPr>
          <p:cNvPr id="32" name="Freeform 9"/>
          <p:cNvSpPr>
            <a:spLocks/>
          </p:cNvSpPr>
          <p:nvPr/>
        </p:nvSpPr>
        <p:spPr bwMode="auto">
          <a:xfrm>
            <a:off x="982957" y="5801447"/>
            <a:ext cx="165036" cy="207882"/>
          </a:xfrm>
          <a:custGeom>
            <a:avLst/>
            <a:gdLst>
              <a:gd name="T0" fmla="*/ 184 w 205"/>
              <a:gd name="T1" fmla="*/ 109 h 262"/>
              <a:gd name="T2" fmla="*/ 109 w 205"/>
              <a:gd name="T3" fmla="*/ 61 h 262"/>
              <a:gd name="T4" fmla="*/ 32 w 205"/>
              <a:gd name="T5" fmla="*/ 11 h 262"/>
              <a:gd name="T6" fmla="*/ 0 w 205"/>
              <a:gd name="T7" fmla="*/ 34 h 262"/>
              <a:gd name="T8" fmla="*/ 0 w 205"/>
              <a:gd name="T9" fmla="*/ 131 h 262"/>
              <a:gd name="T10" fmla="*/ 0 w 205"/>
              <a:gd name="T11" fmla="*/ 230 h 262"/>
              <a:gd name="T12" fmla="*/ 34 w 205"/>
              <a:gd name="T13" fmla="*/ 250 h 262"/>
              <a:gd name="T14" fmla="*/ 109 w 205"/>
              <a:gd name="T15" fmla="*/ 202 h 262"/>
              <a:gd name="T16" fmla="*/ 186 w 205"/>
              <a:gd name="T17" fmla="*/ 152 h 262"/>
              <a:gd name="T18" fmla="*/ 184 w 205"/>
              <a:gd name="T19" fmla="*/ 109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5" h="262">
                <a:moveTo>
                  <a:pt x="184" y="109"/>
                </a:moveTo>
                <a:lnTo>
                  <a:pt x="109" y="61"/>
                </a:lnTo>
                <a:cubicBezTo>
                  <a:pt x="83" y="44"/>
                  <a:pt x="58" y="28"/>
                  <a:pt x="32" y="11"/>
                </a:cubicBezTo>
                <a:cubicBezTo>
                  <a:pt x="11" y="0"/>
                  <a:pt x="0" y="9"/>
                  <a:pt x="0" y="34"/>
                </a:cubicBezTo>
                <a:lnTo>
                  <a:pt x="0" y="131"/>
                </a:lnTo>
                <a:cubicBezTo>
                  <a:pt x="0" y="164"/>
                  <a:pt x="0" y="197"/>
                  <a:pt x="0" y="230"/>
                </a:cubicBezTo>
                <a:cubicBezTo>
                  <a:pt x="2" y="256"/>
                  <a:pt x="14" y="262"/>
                  <a:pt x="34" y="250"/>
                </a:cubicBezTo>
                <a:lnTo>
                  <a:pt x="109" y="202"/>
                </a:lnTo>
                <a:cubicBezTo>
                  <a:pt x="135" y="185"/>
                  <a:pt x="160" y="169"/>
                  <a:pt x="186" y="152"/>
                </a:cubicBezTo>
                <a:cubicBezTo>
                  <a:pt x="205" y="137"/>
                  <a:pt x="203" y="122"/>
                  <a:pt x="184" y="109"/>
                </a:cubicBezTo>
                <a:close/>
              </a:path>
            </a:pathLst>
          </a:custGeom>
          <a:solidFill>
            <a:srgbClr val="02B9E7"/>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grpSp>
        <p:nvGrpSpPr>
          <p:cNvPr id="33" name="组合 32"/>
          <p:cNvGrpSpPr/>
          <p:nvPr/>
        </p:nvGrpSpPr>
        <p:grpSpPr>
          <a:xfrm>
            <a:off x="265635" y="5629598"/>
            <a:ext cx="717324" cy="523092"/>
            <a:chOff x="912759" y="1007596"/>
            <a:chExt cx="717604" cy="523296"/>
          </a:xfrm>
          <a:solidFill>
            <a:srgbClr val="02B9E7"/>
          </a:solidFill>
        </p:grpSpPr>
        <p:sp>
          <p:nvSpPr>
            <p:cNvPr id="34" name="Freeform 8"/>
            <p:cNvSpPr>
              <a:spLocks/>
            </p:cNvSpPr>
            <p:nvPr/>
          </p:nvSpPr>
          <p:spPr bwMode="auto">
            <a:xfrm>
              <a:off x="985838" y="1052513"/>
              <a:ext cx="615950" cy="433387"/>
            </a:xfrm>
            <a:custGeom>
              <a:avLst/>
              <a:gdLst>
                <a:gd name="T0" fmla="*/ 43 w 764"/>
                <a:gd name="T1" fmla="*/ 0 h 549"/>
                <a:gd name="T2" fmla="*/ 721 w 764"/>
                <a:gd name="T3" fmla="*/ 0 h 549"/>
                <a:gd name="T4" fmla="*/ 764 w 764"/>
                <a:gd name="T5" fmla="*/ 43 h 549"/>
                <a:gd name="T6" fmla="*/ 764 w 764"/>
                <a:gd name="T7" fmla="*/ 506 h 549"/>
                <a:gd name="T8" fmla="*/ 721 w 764"/>
                <a:gd name="T9" fmla="*/ 549 h 549"/>
                <a:gd name="T10" fmla="*/ 43 w 764"/>
                <a:gd name="T11" fmla="*/ 549 h 549"/>
                <a:gd name="T12" fmla="*/ 0 w 764"/>
                <a:gd name="T13" fmla="*/ 506 h 549"/>
                <a:gd name="T14" fmla="*/ 0 w 764"/>
                <a:gd name="T15" fmla="*/ 43 h 549"/>
                <a:gd name="T16" fmla="*/ 43 w 764"/>
                <a:gd name="T17" fmla="*/ 0 h 5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4" h="549">
                  <a:moveTo>
                    <a:pt x="43" y="0"/>
                  </a:moveTo>
                  <a:lnTo>
                    <a:pt x="721" y="0"/>
                  </a:lnTo>
                  <a:cubicBezTo>
                    <a:pt x="744" y="0"/>
                    <a:pt x="764" y="20"/>
                    <a:pt x="764" y="43"/>
                  </a:cubicBezTo>
                  <a:lnTo>
                    <a:pt x="764" y="506"/>
                  </a:lnTo>
                  <a:cubicBezTo>
                    <a:pt x="764" y="530"/>
                    <a:pt x="744" y="549"/>
                    <a:pt x="721" y="549"/>
                  </a:cubicBezTo>
                  <a:lnTo>
                    <a:pt x="43" y="549"/>
                  </a:lnTo>
                  <a:cubicBezTo>
                    <a:pt x="20" y="549"/>
                    <a:pt x="0" y="530"/>
                    <a:pt x="0" y="506"/>
                  </a:cubicBezTo>
                  <a:lnTo>
                    <a:pt x="0" y="43"/>
                  </a:lnTo>
                  <a:cubicBezTo>
                    <a:pt x="0" y="20"/>
                    <a:pt x="20" y="0"/>
                    <a:pt x="4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endParaRPr lang="zh-CN" altLang="en-US" sz="1799"/>
            </a:p>
          </p:txBody>
        </p:sp>
        <p:sp>
          <p:nvSpPr>
            <p:cNvPr id="35" name="TextBox 14"/>
            <p:cNvSpPr txBox="1"/>
            <p:nvPr/>
          </p:nvSpPr>
          <p:spPr>
            <a:xfrm>
              <a:off x="912759" y="1007596"/>
              <a:ext cx="717604" cy="523296"/>
            </a:xfrm>
            <a:prstGeom prst="rect">
              <a:avLst/>
            </a:prstGeom>
            <a:grpFill/>
          </p:spPr>
          <p:txBody>
            <a:bodyPr wrap="square" rtlCol="0">
              <a:spAutoFit/>
            </a:bodyPr>
            <a:lstStyle/>
            <a:p>
              <a:pPr algn="ctr"/>
              <a:r>
                <a:rPr lang="en-US" altLang="zh-CN" sz="2799" dirty="0">
                  <a:solidFill>
                    <a:schemeClr val="bg1"/>
                  </a:solidFill>
                  <a:latin typeface="+mn-ea"/>
                </a:rPr>
                <a:t>03</a:t>
              </a:r>
              <a:endParaRPr lang="zh-CN" altLang="en-US" sz="2799" dirty="0">
                <a:solidFill>
                  <a:schemeClr val="bg1"/>
                </a:solidFill>
                <a:latin typeface="+mn-ea"/>
              </a:endParaRPr>
            </a:p>
          </p:txBody>
        </p:sp>
      </p:grpSp>
      <p:sp>
        <p:nvSpPr>
          <p:cNvPr id="9" name="矩形 8"/>
          <p:cNvSpPr/>
          <p:nvPr/>
        </p:nvSpPr>
        <p:spPr>
          <a:xfrm>
            <a:off x="1147992" y="5544484"/>
            <a:ext cx="10472779" cy="1126462"/>
          </a:xfrm>
          <a:prstGeom prst="rect">
            <a:avLst/>
          </a:prstGeom>
        </p:spPr>
        <p:txBody>
          <a:bodyPr wrap="square">
            <a:spAutoFit/>
          </a:bodyPr>
          <a:lstStyle/>
          <a:p>
            <a:pPr>
              <a:lnSpc>
                <a:spcPct val="120000"/>
              </a:lnSpc>
            </a:pPr>
            <a:r>
              <a:rPr lang="zh-CN" altLang="en-US" sz="2800" b="1" dirty="0">
                <a:latin typeface="微软雅黑" panose="020B0503020204020204" pitchFamily="34" charset="-122"/>
                <a:ea typeface="微软雅黑" panose="020B0503020204020204" pitchFamily="34" charset="-122"/>
              </a:rPr>
              <a:t>为了不断流，可采用猜测法猜取</a:t>
            </a:r>
            <a:r>
              <a:rPr lang="en-US" altLang="zh-CN" sz="2800" b="1" dirty="0">
                <a:latin typeface="微软雅黑" panose="020B0503020204020204" pitchFamily="34" charset="-122"/>
                <a:ea typeface="微软雅黑" panose="020B0503020204020204" pitchFamily="34" charset="-122"/>
              </a:rPr>
              <a:t>i+1</a:t>
            </a:r>
            <a:r>
              <a:rPr lang="zh-CN" altLang="en-US" sz="2800" b="1" dirty="0">
                <a:latin typeface="微软雅黑" panose="020B0503020204020204" pitchFamily="34" charset="-122"/>
                <a:ea typeface="微软雅黑" panose="020B0503020204020204" pitchFamily="34" charset="-122"/>
              </a:rPr>
              <a:t>和</a:t>
            </a:r>
            <a:r>
              <a:rPr lang="en-US" altLang="zh-CN" sz="2800" b="1" dirty="0">
                <a:latin typeface="微软雅黑" panose="020B0503020204020204" pitchFamily="34" charset="-122"/>
                <a:ea typeface="微软雅黑" panose="020B0503020204020204" pitchFamily="34" charset="-122"/>
              </a:rPr>
              <a:t>p</a:t>
            </a:r>
            <a:r>
              <a:rPr lang="zh-CN" altLang="en-US" sz="2800" b="1" dirty="0">
                <a:latin typeface="微软雅黑" panose="020B0503020204020204" pitchFamily="34" charset="-122"/>
                <a:ea typeface="微软雅黑" panose="020B0503020204020204" pitchFamily="34" charset="-122"/>
              </a:rPr>
              <a:t>两个分支中的一个继续向前流动。</a:t>
            </a:r>
          </a:p>
        </p:txBody>
      </p:sp>
    </p:spTree>
    <p:extLst>
      <p:ext uri="{BB962C8B-B14F-4D97-AF65-F5344CB8AC3E}">
        <p14:creationId xmlns:p14="http://schemas.microsoft.com/office/powerpoint/2010/main" val="4131929097"/>
      </p:ext>
    </p:extLst>
  </p:cSld>
  <p:clrMapOvr>
    <a:masterClrMapping/>
  </p:clrMapOvr>
  <mc:AlternateContent xmlns:mc="http://schemas.openxmlformats.org/markup-compatibility/2006" xmlns:p14="http://schemas.microsoft.com/office/powerpoint/2010/main">
    <mc:Choice Requires="p14">
      <p:transition spd="slow" advTm="8826">
        <p14:flip dir="r"/>
      </p:transition>
    </mc:Choice>
    <mc:Fallback xmlns="">
      <p:transition spd="slow" advTm="8826">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875773" y="289583"/>
            <a:ext cx="10347482" cy="609355"/>
          </a:xfrm>
          <a:prstGeom prst="rect">
            <a:avLst/>
          </a:prstGeom>
          <a:noFill/>
        </p:spPr>
        <p:txBody>
          <a:bodyPr wrap="square" lIns="91398" tIns="45699" rIns="91398" bIns="45699"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pPr>
              <a:lnSpc>
                <a:spcPct val="120000"/>
              </a:lnSpc>
            </a:pPr>
            <a:r>
              <a:rPr lang="zh-CN" altLang="en-US" sz="2800" b="1" dirty="0">
                <a:latin typeface="微软雅黑" panose="020B0503020204020204" pitchFamily="34" charset="-122"/>
                <a:ea typeface="微软雅黑" panose="020B0503020204020204" pitchFamily="34" charset="-122"/>
              </a:rPr>
              <a:t>控制相关的解决办法</a:t>
            </a:r>
            <a:r>
              <a:rPr lang="en-US" altLang="zh-CN" sz="2800" b="1" dirty="0">
                <a:latin typeface="微软雅黑" panose="020B0503020204020204" pitchFamily="34" charset="-122"/>
                <a:ea typeface="微软雅黑" panose="020B0503020204020204" pitchFamily="34" charset="-122"/>
              </a:rPr>
              <a:t>——</a:t>
            </a:r>
            <a:r>
              <a:rPr lang="zh-CN" altLang="en-US" sz="2800" b="1" dirty="0">
                <a:solidFill>
                  <a:srgbClr val="FF0000"/>
                </a:solidFill>
                <a:latin typeface="微软雅黑" panose="020B0503020204020204" pitchFamily="34" charset="-122"/>
                <a:ea typeface="微软雅黑" panose="020B0503020204020204" pitchFamily="34" charset="-122"/>
              </a:rPr>
              <a:t>加快和提前形成条件码 </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9" name="椭圆 8"/>
          <p:cNvSpPr/>
          <p:nvPr/>
        </p:nvSpPr>
        <p:spPr bwMode="auto">
          <a:xfrm>
            <a:off x="441371" y="1382163"/>
            <a:ext cx="799664" cy="799664"/>
          </a:xfrm>
          <a:prstGeom prst="ellipse">
            <a:avLst/>
          </a:prstGeom>
          <a:solidFill>
            <a:srgbClr val="04B0BE"/>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endParaRPr lang="zh-CN" altLang="en-US" sz="1699"/>
          </a:p>
        </p:txBody>
      </p:sp>
      <p:sp>
        <p:nvSpPr>
          <p:cNvPr id="10" name="TextBox 9"/>
          <p:cNvSpPr txBox="1"/>
          <p:nvPr/>
        </p:nvSpPr>
        <p:spPr>
          <a:xfrm>
            <a:off x="495734" y="1489725"/>
            <a:ext cx="598156" cy="584605"/>
          </a:xfrm>
          <a:prstGeom prst="rect">
            <a:avLst/>
          </a:prstGeom>
          <a:noFill/>
        </p:spPr>
        <p:txBody>
          <a:bodyPr wrap="none" lIns="91398" tIns="45699" rIns="91398" bIns="45699" rtlCol="0">
            <a:spAutoFit/>
          </a:bodyPr>
          <a:lstStyle/>
          <a:p>
            <a:r>
              <a:rPr lang="en-US" altLang="zh-CN" sz="3199" b="1" dirty="0">
                <a:solidFill>
                  <a:schemeClr val="bg1"/>
                </a:solidFill>
                <a:latin typeface="+mj-ea"/>
                <a:ea typeface="+mj-ea"/>
              </a:rPr>
              <a:t>01</a:t>
            </a:r>
            <a:endParaRPr lang="zh-CN" altLang="en-US" sz="3199" b="1" dirty="0">
              <a:solidFill>
                <a:schemeClr val="bg1"/>
              </a:solidFill>
              <a:latin typeface="+mj-ea"/>
              <a:ea typeface="+mj-ea"/>
            </a:endParaRPr>
          </a:p>
        </p:txBody>
      </p:sp>
      <p:sp>
        <p:nvSpPr>
          <p:cNvPr id="11" name="椭圆 10"/>
          <p:cNvSpPr/>
          <p:nvPr/>
        </p:nvSpPr>
        <p:spPr bwMode="auto">
          <a:xfrm>
            <a:off x="441371" y="3317735"/>
            <a:ext cx="799664" cy="799664"/>
          </a:xfrm>
          <a:prstGeom prst="ellipse">
            <a:avLst/>
          </a:prstGeom>
          <a:solidFill>
            <a:srgbClr val="92D050"/>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endParaRPr lang="zh-CN" altLang="en-US" sz="1699"/>
          </a:p>
        </p:txBody>
      </p:sp>
      <p:sp>
        <p:nvSpPr>
          <p:cNvPr id="12" name="TextBox 11"/>
          <p:cNvSpPr txBox="1"/>
          <p:nvPr/>
        </p:nvSpPr>
        <p:spPr>
          <a:xfrm>
            <a:off x="495734" y="3425296"/>
            <a:ext cx="598156" cy="584605"/>
          </a:xfrm>
          <a:prstGeom prst="rect">
            <a:avLst/>
          </a:prstGeom>
          <a:noFill/>
        </p:spPr>
        <p:txBody>
          <a:bodyPr wrap="none" lIns="91398" tIns="45699" rIns="91398" bIns="45699" rtlCol="0">
            <a:spAutoFit/>
          </a:bodyPr>
          <a:lstStyle/>
          <a:p>
            <a:r>
              <a:rPr lang="en-US" altLang="zh-CN" sz="3199" b="1" dirty="0">
                <a:solidFill>
                  <a:schemeClr val="bg1"/>
                </a:solidFill>
                <a:latin typeface="+mj-ea"/>
                <a:ea typeface="+mj-ea"/>
              </a:rPr>
              <a:t>02</a:t>
            </a:r>
            <a:endParaRPr lang="zh-CN" altLang="en-US" sz="3199" b="1" dirty="0">
              <a:solidFill>
                <a:schemeClr val="bg1"/>
              </a:solidFill>
              <a:latin typeface="+mj-ea"/>
              <a:ea typeface="+mj-ea"/>
            </a:endParaRPr>
          </a:p>
        </p:txBody>
      </p:sp>
      <p:sp>
        <p:nvSpPr>
          <p:cNvPr id="13" name="椭圆 12"/>
          <p:cNvSpPr/>
          <p:nvPr/>
        </p:nvSpPr>
        <p:spPr bwMode="auto">
          <a:xfrm>
            <a:off x="441371" y="5306244"/>
            <a:ext cx="799664" cy="799664"/>
          </a:xfrm>
          <a:prstGeom prst="ellipse">
            <a:avLst/>
          </a:prstGeom>
          <a:solidFill>
            <a:srgbClr val="FFC000"/>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endParaRPr lang="zh-CN" altLang="en-US" sz="1699"/>
          </a:p>
        </p:txBody>
      </p:sp>
      <p:sp>
        <p:nvSpPr>
          <p:cNvPr id="14" name="TextBox 13"/>
          <p:cNvSpPr txBox="1"/>
          <p:nvPr/>
        </p:nvSpPr>
        <p:spPr>
          <a:xfrm>
            <a:off x="495734" y="5413807"/>
            <a:ext cx="598156" cy="584605"/>
          </a:xfrm>
          <a:prstGeom prst="rect">
            <a:avLst/>
          </a:prstGeom>
          <a:noFill/>
        </p:spPr>
        <p:txBody>
          <a:bodyPr wrap="none" lIns="91398" tIns="45699" rIns="91398" bIns="45699" rtlCol="0">
            <a:spAutoFit/>
          </a:bodyPr>
          <a:lstStyle/>
          <a:p>
            <a:r>
              <a:rPr lang="en-US" altLang="zh-CN" sz="3199" b="1" dirty="0">
                <a:solidFill>
                  <a:schemeClr val="bg1"/>
                </a:solidFill>
                <a:latin typeface="+mj-ea"/>
                <a:ea typeface="+mj-ea"/>
              </a:rPr>
              <a:t>03</a:t>
            </a:r>
            <a:endParaRPr lang="zh-CN" altLang="en-US" sz="3199" b="1" dirty="0">
              <a:solidFill>
                <a:schemeClr val="bg1"/>
              </a:solidFill>
              <a:latin typeface="+mj-ea"/>
              <a:ea typeface="+mj-ea"/>
            </a:endParaRPr>
          </a:p>
        </p:txBody>
      </p:sp>
      <p:cxnSp>
        <p:nvCxnSpPr>
          <p:cNvPr id="15" name="直接连接符 14"/>
          <p:cNvCxnSpPr/>
          <p:nvPr/>
        </p:nvCxnSpPr>
        <p:spPr bwMode="auto">
          <a:xfrm>
            <a:off x="847668" y="4125539"/>
            <a:ext cx="0" cy="1143541"/>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直接连接符 18"/>
          <p:cNvCxnSpPr/>
          <p:nvPr/>
        </p:nvCxnSpPr>
        <p:spPr bwMode="auto">
          <a:xfrm>
            <a:off x="847668" y="2187137"/>
            <a:ext cx="0" cy="1143541"/>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 name="TextBox 26"/>
          <p:cNvSpPr txBox="1"/>
          <p:nvPr/>
        </p:nvSpPr>
        <p:spPr>
          <a:xfrm>
            <a:off x="14146653" y="8510121"/>
            <a:ext cx="1107996" cy="461665"/>
          </a:xfrm>
          <a:prstGeom prst="rect">
            <a:avLst/>
          </a:prstGeom>
          <a:noFill/>
        </p:spPr>
        <p:txBody>
          <a:bodyPr wrap="none" rtlCol="0">
            <a:spAutoFit/>
          </a:bodyPr>
          <a:lstStyle/>
          <a:p>
            <a:r>
              <a:rPr lang="zh-CN" altLang="en-US" sz="2400" dirty="0"/>
              <a:t>延时符</a:t>
            </a:r>
          </a:p>
        </p:txBody>
      </p:sp>
      <p:sp>
        <p:nvSpPr>
          <p:cNvPr id="2" name="矩形 1"/>
          <p:cNvSpPr/>
          <p:nvPr/>
        </p:nvSpPr>
        <p:spPr>
          <a:xfrm>
            <a:off x="1500187" y="1572429"/>
            <a:ext cx="10658154" cy="609398"/>
          </a:xfrm>
          <a:prstGeom prst="rect">
            <a:avLst/>
          </a:prstGeom>
        </p:spPr>
        <p:txBody>
          <a:bodyPr wrap="square">
            <a:spAutoFit/>
          </a:bodyPr>
          <a:lstStyle/>
          <a:p>
            <a:pPr>
              <a:lnSpc>
                <a:spcPct val="120000"/>
              </a:lnSpc>
            </a:pPr>
            <a:r>
              <a:rPr lang="zh-CN" altLang="en-US" sz="2800" b="1" dirty="0">
                <a:latin typeface="微软雅黑" panose="020B0503020204020204" pitchFamily="34" charset="-122"/>
                <a:ea typeface="微软雅黑" panose="020B0503020204020204" pitchFamily="34" charset="-122"/>
              </a:rPr>
              <a:t>尽快尽早地获得条件码，就可以提前知道流水线将流向哪个分支。</a:t>
            </a:r>
          </a:p>
        </p:txBody>
      </p:sp>
      <p:sp>
        <p:nvSpPr>
          <p:cNvPr id="3" name="矩形 2"/>
          <p:cNvSpPr/>
          <p:nvPr/>
        </p:nvSpPr>
        <p:spPr>
          <a:xfrm>
            <a:off x="1500187" y="2756742"/>
            <a:ext cx="10155001" cy="2160591"/>
          </a:xfrm>
          <a:prstGeom prst="rect">
            <a:avLst/>
          </a:prstGeom>
        </p:spPr>
        <p:txBody>
          <a:bodyPr wrap="square">
            <a:spAutoFit/>
          </a:bodyPr>
          <a:lstStyle/>
          <a:p>
            <a:pPr>
              <a:lnSpc>
                <a:spcPct val="120000"/>
              </a:lnSpc>
            </a:pPr>
            <a:r>
              <a:rPr lang="zh-CN" altLang="en-US" sz="2800" b="1" dirty="0">
                <a:latin typeface="微软雅黑" panose="020B0503020204020204" pitchFamily="34" charset="-122"/>
                <a:ea typeface="微软雅黑" panose="020B0503020204020204" pitchFamily="34" charset="-122"/>
              </a:rPr>
              <a:t>其一，</a:t>
            </a:r>
            <a:r>
              <a:rPr lang="zh-CN" altLang="en-US" sz="2800" b="1" dirty="0">
                <a:solidFill>
                  <a:srgbClr val="0000FF"/>
                </a:solidFill>
                <a:latin typeface="微软雅黑" panose="020B0503020204020204" pitchFamily="34" charset="-122"/>
                <a:ea typeface="微软雅黑" panose="020B0503020204020204" pitchFamily="34" charset="-122"/>
              </a:rPr>
              <a:t>加快单条指令内部的条件码的形成</a:t>
            </a:r>
            <a:r>
              <a:rPr lang="zh-CN" altLang="en-US" sz="2800" b="1" dirty="0">
                <a:latin typeface="微软雅黑" panose="020B0503020204020204" pitchFamily="34" charset="-122"/>
                <a:ea typeface="微软雅黑" panose="020B0503020204020204" pitchFamily="34" charset="-122"/>
              </a:rPr>
              <a:t>，尤其是某些反映运算结果的条件码完全可以不必等到指令执行完就可以提前形成。</a:t>
            </a:r>
            <a:endParaRPr lang="en-US" altLang="zh-CN" sz="2800" b="1" dirty="0">
              <a:latin typeface="微软雅黑" panose="020B0503020204020204" pitchFamily="34" charset="-122"/>
              <a:ea typeface="微软雅黑" panose="020B0503020204020204" pitchFamily="34" charset="-122"/>
            </a:endParaRPr>
          </a:p>
          <a:p>
            <a:pPr>
              <a:lnSpc>
                <a:spcPct val="120000"/>
              </a:lnSpc>
            </a:pPr>
            <a:r>
              <a:rPr lang="zh-CN" altLang="en-US" sz="2800" b="1" dirty="0">
                <a:latin typeface="微软雅黑" panose="020B0503020204020204" pitchFamily="34" charset="-122"/>
                <a:ea typeface="微软雅黑" panose="020B0503020204020204" pitchFamily="34" charset="-122"/>
              </a:rPr>
              <a:t>比如，根据运算规律来看，乘、除运算的结果是正是负的条件码就完全可以在运算前形成。</a:t>
            </a:r>
          </a:p>
        </p:txBody>
      </p:sp>
      <p:sp>
        <p:nvSpPr>
          <p:cNvPr id="4" name="矩形 3"/>
          <p:cNvSpPr/>
          <p:nvPr/>
        </p:nvSpPr>
        <p:spPr>
          <a:xfrm>
            <a:off x="1500187" y="5196487"/>
            <a:ext cx="10246571" cy="1126462"/>
          </a:xfrm>
          <a:prstGeom prst="rect">
            <a:avLst/>
          </a:prstGeom>
        </p:spPr>
        <p:txBody>
          <a:bodyPr wrap="square">
            <a:spAutoFit/>
          </a:bodyPr>
          <a:lstStyle/>
          <a:p>
            <a:pPr>
              <a:lnSpc>
                <a:spcPct val="120000"/>
              </a:lnSpc>
            </a:pPr>
            <a:r>
              <a:rPr lang="zh-CN" altLang="en-US" sz="2800" b="1" dirty="0">
                <a:latin typeface="微软雅黑" panose="020B0503020204020204" pitchFamily="34" charset="-122"/>
                <a:ea typeface="微软雅黑" panose="020B0503020204020204" pitchFamily="34" charset="-122"/>
              </a:rPr>
              <a:t>其二，</a:t>
            </a:r>
            <a:r>
              <a:rPr lang="zh-CN" altLang="en-US" sz="2800" b="1" dirty="0">
                <a:solidFill>
                  <a:srgbClr val="0000FF"/>
                </a:solidFill>
                <a:latin typeface="微软雅黑" panose="020B0503020204020204" pitchFamily="34" charset="-122"/>
                <a:ea typeface="微软雅黑" panose="020B0503020204020204" pitchFamily="34" charset="-122"/>
              </a:rPr>
              <a:t>在一段程序内提前形成条件码</a:t>
            </a:r>
            <a:r>
              <a:rPr lang="zh-CN" altLang="en-US" sz="2800" b="1" dirty="0">
                <a:latin typeface="微软雅黑" panose="020B0503020204020204" pitchFamily="34" charset="-122"/>
                <a:ea typeface="微软雅黑" panose="020B0503020204020204" pitchFamily="34" charset="-122"/>
              </a:rPr>
              <a:t>，比如循环程序，一般是根据循环条件判断是否继续转移。 </a:t>
            </a:r>
          </a:p>
        </p:txBody>
      </p:sp>
    </p:spTree>
    <p:extLst>
      <p:ext uri="{BB962C8B-B14F-4D97-AF65-F5344CB8AC3E}">
        <p14:creationId xmlns:p14="http://schemas.microsoft.com/office/powerpoint/2010/main" val="3654497596"/>
      </p:ext>
    </p:extLst>
  </p:cSld>
  <p:clrMapOvr>
    <a:masterClrMapping/>
  </p:clrMapOvr>
  <mc:AlternateContent xmlns:mc="http://schemas.openxmlformats.org/markup-compatibility/2006" xmlns:p14="http://schemas.microsoft.com/office/powerpoint/2010/main">
    <mc:Choice Requires="p14">
      <p:transition spd="slow" advTm="7144">
        <p14:flip dir="r"/>
      </p:transition>
    </mc:Choice>
    <mc:Fallback xmlns="">
      <p:transition spd="slow" advTm="7144">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a:xfrm>
            <a:off x="819688" y="-38111"/>
            <a:ext cx="10515600" cy="1325563"/>
          </a:xfrm>
        </p:spPr>
        <p:txBody>
          <a:bodyPr>
            <a:normAutofit/>
          </a:bodyPr>
          <a:lstStyle/>
          <a:p>
            <a:r>
              <a:rPr lang="zh-CN" altLang="en-US" sz="3200" b="1" dirty="0">
                <a:latin typeface="微软雅黑" panose="020B0503020204020204" pitchFamily="34" charset="-122"/>
                <a:ea typeface="微软雅黑" panose="020B0503020204020204" pitchFamily="34" charset="-122"/>
              </a:rPr>
              <a:t>控制相关的解决办法</a:t>
            </a:r>
            <a:r>
              <a:rPr lang="en-US" altLang="zh-CN" sz="3200" b="1" dirty="0">
                <a:latin typeface="微软雅黑" panose="020B0503020204020204" pitchFamily="34" charset="-122"/>
                <a:ea typeface="微软雅黑" panose="020B0503020204020204" pitchFamily="34" charset="-122"/>
              </a:rPr>
              <a:t>——</a:t>
            </a:r>
            <a:r>
              <a:rPr lang="zh-CN" altLang="en-US" sz="3200" b="1" dirty="0">
                <a:solidFill>
                  <a:srgbClr val="FF0000"/>
                </a:solidFill>
                <a:latin typeface="微软雅黑" panose="020B0503020204020204" pitchFamily="34" charset="-122"/>
                <a:ea typeface="微软雅黑" panose="020B0503020204020204" pitchFamily="34" charset="-122"/>
              </a:rPr>
              <a:t>采用延迟转移</a:t>
            </a:r>
            <a:endParaRPr lang="zh-CN" altLang="en-US" sz="3200" b="1" dirty="0">
              <a:latin typeface="微软雅黑" panose="020B0503020204020204" pitchFamily="34" charset="-122"/>
              <a:ea typeface="微软雅黑" panose="020B0503020204020204" pitchFamily="34" charset="-122"/>
            </a:endParaRPr>
          </a:p>
        </p:txBody>
      </p:sp>
      <p:sp>
        <p:nvSpPr>
          <p:cNvPr id="105475" name="Rectangle 3"/>
          <p:cNvSpPr>
            <a:spLocks noGrp="1" noChangeArrowheads="1"/>
          </p:cNvSpPr>
          <p:nvPr>
            <p:ph type="body" idx="1"/>
          </p:nvPr>
        </p:nvSpPr>
        <p:spPr>
          <a:xfrm>
            <a:off x="1360754" y="3872790"/>
            <a:ext cx="10515600" cy="4351338"/>
          </a:xfrm>
        </p:spPr>
        <p:txBody>
          <a:bodyPr>
            <a:normAutofit/>
          </a:bodyPr>
          <a:lstStyle/>
          <a:p>
            <a:pPr>
              <a:lnSpc>
                <a:spcPct val="150000"/>
              </a:lnSpc>
              <a:buFont typeface="Wingdings" panose="05000000000000000000" pitchFamily="2" charset="2"/>
              <a:buNone/>
            </a:pPr>
            <a:endParaRPr lang="zh-CN" altLang="en-US" b="1" dirty="0">
              <a:solidFill>
                <a:srgbClr val="FF0000"/>
              </a:solidFill>
              <a:latin typeface="微软雅黑" panose="020B0503020204020204" pitchFamily="34" charset="-122"/>
              <a:ea typeface="微软雅黑" panose="020B0503020204020204" pitchFamily="34" charset="-122"/>
            </a:endParaRPr>
          </a:p>
          <a:p>
            <a:pPr marL="0" indent="0">
              <a:lnSpc>
                <a:spcPct val="150000"/>
              </a:lnSpc>
              <a:buNone/>
            </a:pPr>
            <a:r>
              <a:rPr lang="zh-CN" altLang="en-US" b="1" dirty="0">
                <a:latin typeface="微软雅黑" panose="020B0503020204020204" pitchFamily="34" charset="-122"/>
                <a:ea typeface="微软雅黑" panose="020B0503020204020204" pitchFamily="34" charset="-122"/>
              </a:rPr>
              <a:t>延迟转移方法因为思路简单，而且不必增加硬件，故比较实用。</a:t>
            </a:r>
          </a:p>
        </p:txBody>
      </p:sp>
      <p:grpSp>
        <p:nvGrpSpPr>
          <p:cNvPr id="4" name="组合 3"/>
          <p:cNvGrpSpPr/>
          <p:nvPr/>
        </p:nvGrpSpPr>
        <p:grpSpPr>
          <a:xfrm>
            <a:off x="265635" y="269251"/>
            <a:ext cx="438352" cy="621987"/>
            <a:chOff x="265635" y="269251"/>
            <a:chExt cx="438352" cy="621987"/>
          </a:xfrm>
        </p:grpSpPr>
        <p:sp>
          <p:nvSpPr>
            <p:cNvPr id="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
        <p:nvSpPr>
          <p:cNvPr id="8" name="Oval 7"/>
          <p:cNvSpPr>
            <a:spLocks noChangeArrowheads="1"/>
          </p:cNvSpPr>
          <p:nvPr/>
        </p:nvSpPr>
        <p:spPr bwMode="auto">
          <a:xfrm>
            <a:off x="335941" y="4535004"/>
            <a:ext cx="831525" cy="829939"/>
          </a:xfrm>
          <a:prstGeom prst="ellipse">
            <a:avLst/>
          </a:prstGeom>
          <a:solidFill>
            <a:srgbClr val="92D05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9" name="Oval 6"/>
          <p:cNvSpPr>
            <a:spLocks noChangeArrowheads="1"/>
          </p:cNvSpPr>
          <p:nvPr/>
        </p:nvSpPr>
        <p:spPr bwMode="auto">
          <a:xfrm>
            <a:off x="382872" y="2361291"/>
            <a:ext cx="831525" cy="831526"/>
          </a:xfrm>
          <a:prstGeom prst="ellipse">
            <a:avLst/>
          </a:prstGeom>
          <a:solidFill>
            <a:srgbClr val="FFC00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0" name="TextBox 36"/>
          <p:cNvSpPr txBox="1"/>
          <p:nvPr/>
        </p:nvSpPr>
        <p:spPr>
          <a:xfrm>
            <a:off x="478801" y="2484782"/>
            <a:ext cx="691130" cy="584605"/>
          </a:xfrm>
          <a:prstGeom prst="rect">
            <a:avLst/>
          </a:prstGeom>
          <a:noFill/>
        </p:spPr>
        <p:txBody>
          <a:bodyPr wrap="none" lIns="91398" tIns="45699" rIns="91398" bIns="45699" rtlCol="0">
            <a:spAutoFit/>
          </a:bodyPr>
          <a:lstStyle/>
          <a:p>
            <a:r>
              <a:rPr lang="en-US" altLang="zh-CN" sz="3199" b="1" dirty="0">
                <a:solidFill>
                  <a:schemeClr val="bg1"/>
                </a:solidFill>
                <a:latin typeface="微软雅黑" pitchFamily="34" charset="-122"/>
                <a:ea typeface="微软雅黑" pitchFamily="34" charset="-122"/>
              </a:rPr>
              <a:t>01</a:t>
            </a:r>
            <a:endParaRPr lang="zh-CN" altLang="en-US" sz="3199" b="1" dirty="0">
              <a:solidFill>
                <a:schemeClr val="bg1"/>
              </a:solidFill>
              <a:latin typeface="微软雅黑" pitchFamily="34" charset="-122"/>
              <a:ea typeface="微软雅黑" pitchFamily="34" charset="-122"/>
            </a:endParaRPr>
          </a:p>
        </p:txBody>
      </p:sp>
      <p:sp>
        <p:nvSpPr>
          <p:cNvPr id="11" name="TextBox 38"/>
          <p:cNvSpPr txBox="1"/>
          <p:nvPr/>
        </p:nvSpPr>
        <p:spPr>
          <a:xfrm>
            <a:off x="420433" y="4662870"/>
            <a:ext cx="691130" cy="584605"/>
          </a:xfrm>
          <a:prstGeom prst="rect">
            <a:avLst/>
          </a:prstGeom>
          <a:noFill/>
        </p:spPr>
        <p:txBody>
          <a:bodyPr wrap="none" lIns="91398" tIns="45699" rIns="91398" bIns="45699" rtlCol="0">
            <a:spAutoFit/>
          </a:bodyPr>
          <a:lstStyle/>
          <a:p>
            <a:r>
              <a:rPr lang="en-US" altLang="zh-CN" sz="3199" b="1" dirty="0">
                <a:solidFill>
                  <a:schemeClr val="bg1"/>
                </a:solidFill>
                <a:latin typeface="微软雅黑" pitchFamily="34" charset="-122"/>
                <a:ea typeface="微软雅黑" pitchFamily="34" charset="-122"/>
              </a:rPr>
              <a:t>02</a:t>
            </a:r>
            <a:endParaRPr lang="zh-CN" altLang="en-US" sz="3199" b="1" dirty="0">
              <a:solidFill>
                <a:schemeClr val="bg1"/>
              </a:solidFill>
              <a:latin typeface="微软雅黑" pitchFamily="34" charset="-122"/>
              <a:ea typeface="微软雅黑" pitchFamily="34" charset="-122"/>
            </a:endParaRPr>
          </a:p>
        </p:txBody>
      </p:sp>
      <p:sp>
        <p:nvSpPr>
          <p:cNvPr id="2" name="矩形 1"/>
          <p:cNvSpPr/>
          <p:nvPr/>
        </p:nvSpPr>
        <p:spPr>
          <a:xfrm>
            <a:off x="1360754" y="1438226"/>
            <a:ext cx="9862783" cy="2677656"/>
          </a:xfrm>
          <a:prstGeom prst="rect">
            <a:avLst/>
          </a:prstGeom>
        </p:spPr>
        <p:txBody>
          <a:bodyPr wrap="square">
            <a:spAutoFit/>
          </a:bodyPr>
          <a:lstStyle/>
          <a:p>
            <a:pPr>
              <a:lnSpc>
                <a:spcPct val="150000"/>
              </a:lnSpc>
            </a:pPr>
            <a:r>
              <a:rPr lang="zh-CN" altLang="en-US" sz="2800" b="1" dirty="0">
                <a:latin typeface="微软雅黑" panose="020B0503020204020204" pitchFamily="34" charset="-122"/>
                <a:ea typeface="微软雅黑" panose="020B0503020204020204" pitchFamily="34" charset="-122"/>
              </a:rPr>
              <a:t>是用软件方法进行静态指令调度的技术，就是在编译生成目标指令程序时，将条件转移指令与它前面</a:t>
            </a:r>
            <a:r>
              <a:rPr lang="zh-CN" altLang="en-US" sz="2800" b="1" dirty="0">
                <a:solidFill>
                  <a:srgbClr val="0000FF"/>
                </a:solidFill>
                <a:latin typeface="微软雅黑" panose="020B0503020204020204" pitchFamily="34" charset="-122"/>
                <a:ea typeface="微软雅黑" panose="020B0503020204020204" pitchFamily="34" charset="-122"/>
              </a:rPr>
              <a:t>不相关</a:t>
            </a:r>
            <a:r>
              <a:rPr lang="zh-CN" altLang="en-US" sz="2800" b="1" dirty="0">
                <a:latin typeface="微软雅黑" panose="020B0503020204020204" pitchFamily="34" charset="-122"/>
                <a:ea typeface="微软雅黑" panose="020B0503020204020204" pitchFamily="34" charset="-122"/>
              </a:rPr>
              <a:t>的一条或多条指令交换位置，让成功转移总是延迟到在这一条或多条指令执行之后再进行。</a:t>
            </a:r>
            <a:endParaRPr lang="en-US" altLang="zh-CN" sz="28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28027673"/>
      </p:ext>
    </p:extLst>
  </p:cSld>
  <p:clrMapOvr>
    <a:masterClrMapping/>
  </p:clrMapOvr>
  <mc:AlternateContent xmlns:mc="http://schemas.openxmlformats.org/markup-compatibility/2006" xmlns:p14="http://schemas.microsoft.com/office/powerpoint/2010/main">
    <mc:Choice Requires="p14">
      <p:transition spd="slow">
        <p14:flip dir="r"/>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a:xfrm>
            <a:off x="875773" y="-126964"/>
            <a:ext cx="10515600" cy="1325563"/>
          </a:xfrm>
        </p:spPr>
        <p:txBody>
          <a:bodyPr>
            <a:normAutofit/>
          </a:bodyPr>
          <a:lstStyle/>
          <a:p>
            <a:pPr>
              <a:lnSpc>
                <a:spcPct val="150000"/>
              </a:lnSpc>
            </a:pPr>
            <a:r>
              <a:rPr lang="zh-CN" altLang="en-US" sz="3200" b="1" dirty="0">
                <a:latin typeface="微软雅黑" panose="020B0503020204020204" pitchFamily="34" charset="-122"/>
                <a:ea typeface="微软雅黑" panose="020B0503020204020204" pitchFamily="34" charset="-122"/>
              </a:rPr>
              <a:t>控制相关的解决办法</a:t>
            </a:r>
            <a:r>
              <a:rPr lang="en-US" altLang="zh-CN" sz="3200" b="1" dirty="0">
                <a:latin typeface="微软雅黑" panose="020B0503020204020204" pitchFamily="34" charset="-122"/>
                <a:ea typeface="微软雅黑" panose="020B0503020204020204" pitchFamily="34" charset="-122"/>
              </a:rPr>
              <a:t>——</a:t>
            </a:r>
            <a:r>
              <a:rPr lang="zh-CN" altLang="en-US" sz="3200" b="1" dirty="0">
                <a:solidFill>
                  <a:srgbClr val="FF0000"/>
                </a:solidFill>
                <a:latin typeface="微软雅黑" panose="020B0503020204020204" pitchFamily="34" charset="-122"/>
                <a:ea typeface="微软雅黑" panose="020B0503020204020204" pitchFamily="34" charset="-122"/>
              </a:rPr>
              <a:t>加快短循环程序的处理</a:t>
            </a:r>
            <a:endParaRPr lang="zh-CN" altLang="en-US" sz="3200" b="1" dirty="0">
              <a:latin typeface="微软雅黑" panose="020B0503020204020204" pitchFamily="34" charset="-122"/>
              <a:ea typeface="微软雅黑" panose="020B0503020204020204" pitchFamily="34" charset="-122"/>
            </a:endParaRPr>
          </a:p>
        </p:txBody>
      </p:sp>
      <p:sp>
        <p:nvSpPr>
          <p:cNvPr id="107523" name="Rectangle 3"/>
          <p:cNvSpPr>
            <a:spLocks noGrp="1" noChangeArrowheads="1"/>
          </p:cNvSpPr>
          <p:nvPr>
            <p:ph type="body" idx="1"/>
          </p:nvPr>
        </p:nvSpPr>
        <p:spPr>
          <a:xfrm>
            <a:off x="441371" y="3261832"/>
            <a:ext cx="10019930" cy="4351338"/>
          </a:xfrm>
        </p:spPr>
        <p:txBody>
          <a:bodyPr>
            <a:normAutofit/>
          </a:bodyPr>
          <a:lstStyle/>
          <a:p>
            <a:pPr>
              <a:lnSpc>
                <a:spcPct val="150000"/>
              </a:lnSpc>
              <a:buFont typeface="Wingdings" panose="05000000000000000000" pitchFamily="2" charset="2"/>
              <a:buNone/>
            </a:pPr>
            <a:endParaRPr lang="zh-CN" altLang="en-US" b="1" dirty="0">
              <a:solidFill>
                <a:srgbClr val="FF0000"/>
              </a:solidFill>
              <a:latin typeface="微软雅黑" panose="020B0503020204020204" pitchFamily="34" charset="-122"/>
              <a:ea typeface="微软雅黑" panose="020B0503020204020204" pitchFamily="34" charset="-122"/>
            </a:endParaRPr>
          </a:p>
          <a:p>
            <a:pPr marL="0" indent="0">
              <a:lnSpc>
                <a:spcPct val="150000"/>
              </a:lnSpc>
              <a:buNone/>
            </a:pPr>
            <a:r>
              <a:rPr lang="zh-CN" altLang="en-US" b="1" dirty="0">
                <a:latin typeface="微软雅黑" panose="020B0503020204020204" pitchFamily="34" charset="-122"/>
                <a:ea typeface="微软雅黑" panose="020B0503020204020204" pitchFamily="34" charset="-122"/>
              </a:rPr>
              <a:t>其二，由于循环分支概率高，让循环出口端的条件转移指令恒猜循环分支，就可以降低因为条件分支而造成的流水线断流的机率。</a:t>
            </a:r>
          </a:p>
        </p:txBody>
      </p:sp>
      <p:grpSp>
        <p:nvGrpSpPr>
          <p:cNvPr id="4" name="组合 3"/>
          <p:cNvGrpSpPr/>
          <p:nvPr/>
        </p:nvGrpSpPr>
        <p:grpSpPr>
          <a:xfrm rot="2564017">
            <a:off x="10550771" y="1927407"/>
            <a:ext cx="985352" cy="1153173"/>
            <a:chOff x="1446900" y="2132856"/>
            <a:chExt cx="1304925" cy="1527175"/>
          </a:xfrm>
        </p:grpSpPr>
        <p:sp>
          <p:nvSpPr>
            <p:cNvPr id="5" name="Freeform 5"/>
            <p:cNvSpPr>
              <a:spLocks/>
            </p:cNvSpPr>
            <p:nvPr/>
          </p:nvSpPr>
          <p:spPr bwMode="auto">
            <a:xfrm>
              <a:off x="1446900" y="2132856"/>
              <a:ext cx="1304925" cy="1527175"/>
            </a:xfrm>
            <a:custGeom>
              <a:avLst/>
              <a:gdLst>
                <a:gd name="T0" fmla="*/ 827 w 1654"/>
                <a:gd name="T1" fmla="*/ 0 h 1918"/>
                <a:gd name="T2" fmla="*/ 1654 w 1654"/>
                <a:gd name="T3" fmla="*/ 827 h 1918"/>
                <a:gd name="T4" fmla="*/ 1116 w 1654"/>
                <a:gd name="T5" fmla="*/ 1602 h 1918"/>
                <a:gd name="T6" fmla="*/ 995 w 1654"/>
                <a:gd name="T7" fmla="*/ 1741 h 1918"/>
                <a:gd name="T8" fmla="*/ 870 w 1654"/>
                <a:gd name="T9" fmla="*/ 1884 h 1918"/>
                <a:gd name="T10" fmla="*/ 789 w 1654"/>
                <a:gd name="T11" fmla="*/ 1889 h 1918"/>
                <a:gd name="T12" fmla="*/ 660 w 1654"/>
                <a:gd name="T13" fmla="*/ 1741 h 1918"/>
                <a:gd name="T14" fmla="*/ 540 w 1654"/>
                <a:gd name="T15" fmla="*/ 1603 h 1918"/>
                <a:gd name="T16" fmla="*/ 0 w 1654"/>
                <a:gd name="T17" fmla="*/ 827 h 1918"/>
                <a:gd name="T18" fmla="*/ 827 w 1654"/>
                <a:gd name="T19" fmla="*/ 0 h 19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54" h="1918">
                  <a:moveTo>
                    <a:pt x="827" y="0"/>
                  </a:moveTo>
                  <a:cubicBezTo>
                    <a:pt x="1283" y="0"/>
                    <a:pt x="1654" y="370"/>
                    <a:pt x="1654" y="827"/>
                  </a:cubicBezTo>
                  <a:cubicBezTo>
                    <a:pt x="1654" y="1182"/>
                    <a:pt x="1430" y="1485"/>
                    <a:pt x="1116" y="1602"/>
                  </a:cubicBezTo>
                  <a:lnTo>
                    <a:pt x="995" y="1741"/>
                  </a:lnTo>
                  <a:cubicBezTo>
                    <a:pt x="953" y="1788"/>
                    <a:pt x="912" y="1836"/>
                    <a:pt x="870" y="1884"/>
                  </a:cubicBezTo>
                  <a:cubicBezTo>
                    <a:pt x="845" y="1916"/>
                    <a:pt x="818" y="1918"/>
                    <a:pt x="789" y="1889"/>
                  </a:cubicBezTo>
                  <a:cubicBezTo>
                    <a:pt x="746" y="1840"/>
                    <a:pt x="703" y="1790"/>
                    <a:pt x="660" y="1741"/>
                  </a:cubicBezTo>
                  <a:lnTo>
                    <a:pt x="540" y="1603"/>
                  </a:lnTo>
                  <a:cubicBezTo>
                    <a:pt x="225" y="1486"/>
                    <a:pt x="0" y="1183"/>
                    <a:pt x="0" y="827"/>
                  </a:cubicBezTo>
                  <a:cubicBezTo>
                    <a:pt x="0" y="370"/>
                    <a:pt x="370" y="0"/>
                    <a:pt x="827" y="0"/>
                  </a:cubicBezTo>
                  <a:close/>
                </a:path>
              </a:pathLst>
            </a:custGeom>
            <a:solidFill>
              <a:srgbClr val="92D050"/>
            </a:solidFill>
            <a:ln>
              <a:noFill/>
            </a:ln>
          </p:spPr>
          <p:txBody>
            <a:bodyPr vert="horz" wrap="square" lIns="91404" tIns="45702" rIns="91404" bIns="45702" numCol="1" anchor="t" anchorCtr="0" compatLnSpc="1">
              <a:prstTxWarp prst="textNoShape">
                <a:avLst/>
              </a:prstTxWarp>
            </a:bodyPr>
            <a:lstStyle/>
            <a:p>
              <a:endParaRPr lang="zh-CN" altLang="en-US" sz="1799"/>
            </a:p>
          </p:txBody>
        </p:sp>
        <p:sp>
          <p:nvSpPr>
            <p:cNvPr id="6" name="Freeform 16"/>
            <p:cNvSpPr>
              <a:spLocks noEditPoints="1"/>
            </p:cNvSpPr>
            <p:nvPr/>
          </p:nvSpPr>
          <p:spPr bwMode="auto">
            <a:xfrm>
              <a:off x="1668969" y="2542449"/>
              <a:ext cx="860788" cy="500028"/>
            </a:xfrm>
            <a:custGeom>
              <a:avLst/>
              <a:gdLst>
                <a:gd name="T0" fmla="*/ 712 w 739"/>
                <a:gd name="T1" fmla="*/ 36 h 492"/>
                <a:gd name="T2" fmla="*/ 712 w 739"/>
                <a:gd name="T3" fmla="*/ 404 h 492"/>
                <a:gd name="T4" fmla="*/ 702 w 739"/>
                <a:gd name="T5" fmla="*/ 404 h 492"/>
                <a:gd name="T6" fmla="*/ 678 w 739"/>
                <a:gd name="T7" fmla="*/ 403 h 492"/>
                <a:gd name="T8" fmla="*/ 373 w 739"/>
                <a:gd name="T9" fmla="*/ 480 h 492"/>
                <a:gd name="T10" fmla="*/ 369 w 739"/>
                <a:gd name="T11" fmla="*/ 482 h 492"/>
                <a:gd name="T12" fmla="*/ 365 w 739"/>
                <a:gd name="T13" fmla="*/ 480 h 492"/>
                <a:gd name="T14" fmla="*/ 60 w 739"/>
                <a:gd name="T15" fmla="*/ 403 h 492"/>
                <a:gd name="T16" fmla="*/ 37 w 739"/>
                <a:gd name="T17" fmla="*/ 404 h 492"/>
                <a:gd name="T18" fmla="*/ 26 w 739"/>
                <a:gd name="T19" fmla="*/ 404 h 492"/>
                <a:gd name="T20" fmla="*/ 26 w 739"/>
                <a:gd name="T21" fmla="*/ 36 h 492"/>
                <a:gd name="T22" fmla="*/ 0 w 739"/>
                <a:gd name="T23" fmla="*/ 36 h 492"/>
                <a:gd name="T24" fmla="*/ 0 w 739"/>
                <a:gd name="T25" fmla="*/ 418 h 492"/>
                <a:gd name="T26" fmla="*/ 369 w 739"/>
                <a:gd name="T27" fmla="*/ 492 h 492"/>
                <a:gd name="T28" fmla="*/ 739 w 739"/>
                <a:gd name="T29" fmla="*/ 418 h 492"/>
                <a:gd name="T30" fmla="*/ 739 w 739"/>
                <a:gd name="T31" fmla="*/ 36 h 492"/>
                <a:gd name="T32" fmla="*/ 712 w 739"/>
                <a:gd name="T33" fmla="*/ 36 h 492"/>
                <a:gd name="T34" fmla="*/ 357 w 739"/>
                <a:gd name="T35" fmla="*/ 418 h 492"/>
                <a:gd name="T36" fmla="*/ 357 w 739"/>
                <a:gd name="T37" fmla="*/ 82 h 492"/>
                <a:gd name="T38" fmla="*/ 101 w 739"/>
                <a:gd name="T39" fmla="*/ 2 h 492"/>
                <a:gd name="T40" fmla="*/ 101 w 739"/>
                <a:gd name="T41" fmla="*/ 352 h 492"/>
                <a:gd name="T42" fmla="*/ 111 w 739"/>
                <a:gd name="T43" fmla="*/ 352 h 492"/>
                <a:gd name="T44" fmla="*/ 357 w 739"/>
                <a:gd name="T45" fmla="*/ 418 h 492"/>
                <a:gd name="T46" fmla="*/ 638 w 739"/>
                <a:gd name="T47" fmla="*/ 352 h 492"/>
                <a:gd name="T48" fmla="*/ 638 w 739"/>
                <a:gd name="T49" fmla="*/ 2 h 492"/>
                <a:gd name="T50" fmla="*/ 382 w 739"/>
                <a:gd name="T51" fmla="*/ 82 h 492"/>
                <a:gd name="T52" fmla="*/ 382 w 739"/>
                <a:gd name="T53" fmla="*/ 418 h 492"/>
                <a:gd name="T54" fmla="*/ 628 w 739"/>
                <a:gd name="T55" fmla="*/ 352 h 492"/>
                <a:gd name="T56" fmla="*/ 638 w 739"/>
                <a:gd name="T57" fmla="*/ 352 h 492"/>
                <a:gd name="T58" fmla="*/ 369 w 739"/>
                <a:gd name="T59" fmla="*/ 473 h 492"/>
                <a:gd name="T60" fmla="*/ 695 w 739"/>
                <a:gd name="T61" fmla="*/ 395 h 492"/>
                <a:gd name="T62" fmla="*/ 695 w 739"/>
                <a:gd name="T63" fmla="*/ 7 h 492"/>
                <a:gd name="T64" fmla="*/ 655 w 739"/>
                <a:gd name="T65" fmla="*/ 7 h 492"/>
                <a:gd name="T66" fmla="*/ 655 w 739"/>
                <a:gd name="T67" fmla="*/ 370 h 492"/>
                <a:gd name="T68" fmla="*/ 645 w 739"/>
                <a:gd name="T69" fmla="*/ 370 h 492"/>
                <a:gd name="T70" fmla="*/ 626 w 739"/>
                <a:gd name="T71" fmla="*/ 369 h 492"/>
                <a:gd name="T72" fmla="*/ 376 w 739"/>
                <a:gd name="T73" fmla="*/ 441 h 492"/>
                <a:gd name="T74" fmla="*/ 369 w 739"/>
                <a:gd name="T75" fmla="*/ 445 h 492"/>
                <a:gd name="T76" fmla="*/ 363 w 739"/>
                <a:gd name="T77" fmla="*/ 441 h 492"/>
                <a:gd name="T78" fmla="*/ 113 w 739"/>
                <a:gd name="T79" fmla="*/ 369 h 492"/>
                <a:gd name="T80" fmla="*/ 93 w 739"/>
                <a:gd name="T81" fmla="*/ 370 h 492"/>
                <a:gd name="T82" fmla="*/ 83 w 739"/>
                <a:gd name="T83" fmla="*/ 370 h 492"/>
                <a:gd name="T84" fmla="*/ 83 w 739"/>
                <a:gd name="T85" fmla="*/ 7 h 492"/>
                <a:gd name="T86" fmla="*/ 44 w 739"/>
                <a:gd name="T87" fmla="*/ 7 h 492"/>
                <a:gd name="T88" fmla="*/ 44 w 739"/>
                <a:gd name="T89" fmla="*/ 395 h 492"/>
                <a:gd name="T90" fmla="*/ 369 w 739"/>
                <a:gd name="T91" fmla="*/ 473 h 4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39" h="492">
                  <a:moveTo>
                    <a:pt x="712" y="36"/>
                  </a:moveTo>
                  <a:lnTo>
                    <a:pt x="712" y="404"/>
                  </a:lnTo>
                  <a:lnTo>
                    <a:pt x="702" y="404"/>
                  </a:lnTo>
                  <a:cubicBezTo>
                    <a:pt x="694" y="404"/>
                    <a:pt x="686" y="403"/>
                    <a:pt x="678" y="403"/>
                  </a:cubicBezTo>
                  <a:cubicBezTo>
                    <a:pt x="576" y="403"/>
                    <a:pt x="467" y="430"/>
                    <a:pt x="373" y="480"/>
                  </a:cubicBezTo>
                  <a:lnTo>
                    <a:pt x="369" y="482"/>
                  </a:lnTo>
                  <a:lnTo>
                    <a:pt x="365" y="480"/>
                  </a:lnTo>
                  <a:cubicBezTo>
                    <a:pt x="271" y="430"/>
                    <a:pt x="163" y="403"/>
                    <a:pt x="60" y="403"/>
                  </a:cubicBezTo>
                  <a:cubicBezTo>
                    <a:pt x="52" y="403"/>
                    <a:pt x="45" y="404"/>
                    <a:pt x="37" y="404"/>
                  </a:cubicBezTo>
                  <a:lnTo>
                    <a:pt x="26" y="404"/>
                  </a:lnTo>
                  <a:lnTo>
                    <a:pt x="26" y="36"/>
                  </a:lnTo>
                  <a:cubicBezTo>
                    <a:pt x="17" y="36"/>
                    <a:pt x="9" y="36"/>
                    <a:pt x="0" y="36"/>
                  </a:cubicBezTo>
                  <a:lnTo>
                    <a:pt x="0" y="418"/>
                  </a:lnTo>
                  <a:cubicBezTo>
                    <a:pt x="123" y="415"/>
                    <a:pt x="254" y="442"/>
                    <a:pt x="369" y="492"/>
                  </a:cubicBezTo>
                  <a:cubicBezTo>
                    <a:pt x="484" y="442"/>
                    <a:pt x="616" y="415"/>
                    <a:pt x="739" y="418"/>
                  </a:cubicBezTo>
                  <a:lnTo>
                    <a:pt x="739" y="36"/>
                  </a:lnTo>
                  <a:cubicBezTo>
                    <a:pt x="730" y="36"/>
                    <a:pt x="721" y="36"/>
                    <a:pt x="712" y="36"/>
                  </a:cubicBezTo>
                  <a:close/>
                  <a:moveTo>
                    <a:pt x="357" y="418"/>
                  </a:moveTo>
                  <a:lnTo>
                    <a:pt x="357" y="82"/>
                  </a:lnTo>
                  <a:cubicBezTo>
                    <a:pt x="277" y="28"/>
                    <a:pt x="186" y="0"/>
                    <a:pt x="101" y="2"/>
                  </a:cubicBezTo>
                  <a:lnTo>
                    <a:pt x="101" y="352"/>
                  </a:lnTo>
                  <a:cubicBezTo>
                    <a:pt x="104" y="352"/>
                    <a:pt x="107" y="352"/>
                    <a:pt x="111" y="352"/>
                  </a:cubicBezTo>
                  <a:cubicBezTo>
                    <a:pt x="193" y="352"/>
                    <a:pt x="280" y="375"/>
                    <a:pt x="357" y="418"/>
                  </a:cubicBezTo>
                  <a:close/>
                  <a:moveTo>
                    <a:pt x="638" y="352"/>
                  </a:moveTo>
                  <a:lnTo>
                    <a:pt x="638" y="2"/>
                  </a:lnTo>
                  <a:cubicBezTo>
                    <a:pt x="552" y="0"/>
                    <a:pt x="461" y="28"/>
                    <a:pt x="382" y="82"/>
                  </a:cubicBezTo>
                  <a:lnTo>
                    <a:pt x="382" y="418"/>
                  </a:lnTo>
                  <a:cubicBezTo>
                    <a:pt x="459" y="375"/>
                    <a:pt x="545" y="352"/>
                    <a:pt x="628" y="352"/>
                  </a:cubicBezTo>
                  <a:cubicBezTo>
                    <a:pt x="631" y="352"/>
                    <a:pt x="635" y="352"/>
                    <a:pt x="638" y="352"/>
                  </a:cubicBezTo>
                  <a:close/>
                  <a:moveTo>
                    <a:pt x="369" y="473"/>
                  </a:moveTo>
                  <a:cubicBezTo>
                    <a:pt x="473" y="417"/>
                    <a:pt x="590" y="391"/>
                    <a:pt x="695" y="395"/>
                  </a:cubicBezTo>
                  <a:lnTo>
                    <a:pt x="695" y="7"/>
                  </a:lnTo>
                  <a:cubicBezTo>
                    <a:pt x="682" y="6"/>
                    <a:pt x="669" y="6"/>
                    <a:pt x="655" y="7"/>
                  </a:cubicBezTo>
                  <a:lnTo>
                    <a:pt x="655" y="370"/>
                  </a:lnTo>
                  <a:lnTo>
                    <a:pt x="645" y="370"/>
                  </a:lnTo>
                  <a:cubicBezTo>
                    <a:pt x="639" y="369"/>
                    <a:pt x="632" y="369"/>
                    <a:pt x="626" y="369"/>
                  </a:cubicBezTo>
                  <a:cubicBezTo>
                    <a:pt x="542" y="369"/>
                    <a:pt x="453" y="395"/>
                    <a:pt x="376" y="441"/>
                  </a:cubicBezTo>
                  <a:lnTo>
                    <a:pt x="369" y="445"/>
                  </a:lnTo>
                  <a:lnTo>
                    <a:pt x="363" y="441"/>
                  </a:lnTo>
                  <a:cubicBezTo>
                    <a:pt x="286" y="395"/>
                    <a:pt x="197" y="369"/>
                    <a:pt x="113" y="369"/>
                  </a:cubicBezTo>
                  <a:cubicBezTo>
                    <a:pt x="106" y="369"/>
                    <a:pt x="100" y="369"/>
                    <a:pt x="93" y="370"/>
                  </a:cubicBezTo>
                  <a:lnTo>
                    <a:pt x="83" y="370"/>
                  </a:lnTo>
                  <a:lnTo>
                    <a:pt x="83" y="7"/>
                  </a:lnTo>
                  <a:cubicBezTo>
                    <a:pt x="70" y="6"/>
                    <a:pt x="57" y="6"/>
                    <a:pt x="44" y="7"/>
                  </a:cubicBezTo>
                  <a:lnTo>
                    <a:pt x="44" y="395"/>
                  </a:lnTo>
                  <a:cubicBezTo>
                    <a:pt x="148" y="391"/>
                    <a:pt x="265" y="417"/>
                    <a:pt x="369" y="47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endParaRPr lang="zh-CN" altLang="en-US" sz="1799"/>
            </a:p>
          </p:txBody>
        </p:sp>
      </p:grpSp>
      <p:grpSp>
        <p:nvGrpSpPr>
          <p:cNvPr id="7" name="组合 6"/>
          <p:cNvGrpSpPr/>
          <p:nvPr/>
        </p:nvGrpSpPr>
        <p:grpSpPr>
          <a:xfrm rot="3201575">
            <a:off x="10512228" y="4349683"/>
            <a:ext cx="985352" cy="1153173"/>
            <a:chOff x="4022275" y="2132856"/>
            <a:chExt cx="1304925" cy="1527175"/>
          </a:xfrm>
        </p:grpSpPr>
        <p:sp>
          <p:nvSpPr>
            <p:cNvPr id="8" name="Freeform 6"/>
            <p:cNvSpPr>
              <a:spLocks/>
            </p:cNvSpPr>
            <p:nvPr/>
          </p:nvSpPr>
          <p:spPr bwMode="auto">
            <a:xfrm>
              <a:off x="4022275" y="2132856"/>
              <a:ext cx="1304925" cy="1527175"/>
            </a:xfrm>
            <a:custGeom>
              <a:avLst/>
              <a:gdLst>
                <a:gd name="T0" fmla="*/ 827 w 1654"/>
                <a:gd name="T1" fmla="*/ 0 h 1918"/>
                <a:gd name="T2" fmla="*/ 1654 w 1654"/>
                <a:gd name="T3" fmla="*/ 827 h 1918"/>
                <a:gd name="T4" fmla="*/ 1116 w 1654"/>
                <a:gd name="T5" fmla="*/ 1602 h 1918"/>
                <a:gd name="T6" fmla="*/ 995 w 1654"/>
                <a:gd name="T7" fmla="*/ 1741 h 1918"/>
                <a:gd name="T8" fmla="*/ 870 w 1654"/>
                <a:gd name="T9" fmla="*/ 1884 h 1918"/>
                <a:gd name="T10" fmla="*/ 790 w 1654"/>
                <a:gd name="T11" fmla="*/ 1889 h 1918"/>
                <a:gd name="T12" fmla="*/ 660 w 1654"/>
                <a:gd name="T13" fmla="*/ 1741 h 1918"/>
                <a:gd name="T14" fmla="*/ 540 w 1654"/>
                <a:gd name="T15" fmla="*/ 1603 h 1918"/>
                <a:gd name="T16" fmla="*/ 0 w 1654"/>
                <a:gd name="T17" fmla="*/ 827 h 1918"/>
                <a:gd name="T18" fmla="*/ 827 w 1654"/>
                <a:gd name="T19" fmla="*/ 0 h 19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54" h="1918">
                  <a:moveTo>
                    <a:pt x="827" y="0"/>
                  </a:moveTo>
                  <a:cubicBezTo>
                    <a:pt x="1284" y="0"/>
                    <a:pt x="1654" y="370"/>
                    <a:pt x="1654" y="827"/>
                  </a:cubicBezTo>
                  <a:cubicBezTo>
                    <a:pt x="1654" y="1182"/>
                    <a:pt x="1430" y="1485"/>
                    <a:pt x="1116" y="1602"/>
                  </a:cubicBezTo>
                  <a:lnTo>
                    <a:pt x="995" y="1741"/>
                  </a:lnTo>
                  <a:cubicBezTo>
                    <a:pt x="954" y="1788"/>
                    <a:pt x="912" y="1836"/>
                    <a:pt x="870" y="1884"/>
                  </a:cubicBezTo>
                  <a:cubicBezTo>
                    <a:pt x="845" y="1916"/>
                    <a:pt x="818" y="1918"/>
                    <a:pt x="790" y="1889"/>
                  </a:cubicBezTo>
                  <a:cubicBezTo>
                    <a:pt x="747" y="1840"/>
                    <a:pt x="703" y="1790"/>
                    <a:pt x="660" y="1741"/>
                  </a:cubicBezTo>
                  <a:lnTo>
                    <a:pt x="540" y="1603"/>
                  </a:lnTo>
                  <a:cubicBezTo>
                    <a:pt x="225" y="1486"/>
                    <a:pt x="0" y="1183"/>
                    <a:pt x="0" y="827"/>
                  </a:cubicBezTo>
                  <a:cubicBezTo>
                    <a:pt x="0" y="370"/>
                    <a:pt x="371" y="0"/>
                    <a:pt x="827" y="0"/>
                  </a:cubicBezTo>
                  <a:close/>
                </a:path>
              </a:pathLst>
            </a:custGeom>
            <a:solidFill>
              <a:schemeClr val="accent4"/>
            </a:solidFill>
            <a:ln>
              <a:noFill/>
            </a:ln>
          </p:spPr>
          <p:txBody>
            <a:bodyPr vert="horz" wrap="square" lIns="91404" tIns="45702" rIns="91404" bIns="45702" numCol="1" anchor="t" anchorCtr="0" compatLnSpc="1">
              <a:prstTxWarp prst="textNoShape">
                <a:avLst/>
              </a:prstTxWarp>
            </a:bodyPr>
            <a:lstStyle/>
            <a:p>
              <a:endParaRPr lang="zh-CN" altLang="en-US" sz="1799"/>
            </a:p>
          </p:txBody>
        </p:sp>
        <p:sp>
          <p:nvSpPr>
            <p:cNvPr id="9" name="Freeform 9"/>
            <p:cNvSpPr>
              <a:spLocks noEditPoints="1"/>
            </p:cNvSpPr>
            <p:nvPr/>
          </p:nvSpPr>
          <p:spPr bwMode="auto">
            <a:xfrm>
              <a:off x="4399628" y="2380272"/>
              <a:ext cx="650316" cy="737858"/>
            </a:xfrm>
            <a:custGeom>
              <a:avLst/>
              <a:gdLst>
                <a:gd name="T0" fmla="*/ 402 w 630"/>
                <a:gd name="T1" fmla="*/ 89 h 711"/>
                <a:gd name="T2" fmla="*/ 313 w 630"/>
                <a:gd name="T3" fmla="*/ 178 h 711"/>
                <a:gd name="T4" fmla="*/ 223 w 630"/>
                <a:gd name="T5" fmla="*/ 178 h 711"/>
                <a:gd name="T6" fmla="*/ 134 w 630"/>
                <a:gd name="T7" fmla="*/ 89 h 711"/>
                <a:gd name="T8" fmla="*/ 223 w 630"/>
                <a:gd name="T9" fmla="*/ 0 h 711"/>
                <a:gd name="T10" fmla="*/ 313 w 630"/>
                <a:gd name="T11" fmla="*/ 0 h 711"/>
                <a:gd name="T12" fmla="*/ 402 w 630"/>
                <a:gd name="T13" fmla="*/ 89 h 711"/>
                <a:gd name="T14" fmla="*/ 445 w 630"/>
                <a:gd name="T15" fmla="*/ 89 h 711"/>
                <a:gd name="T16" fmla="*/ 446 w 630"/>
                <a:gd name="T17" fmla="*/ 109 h 711"/>
                <a:gd name="T18" fmla="*/ 335 w 630"/>
                <a:gd name="T19" fmla="*/ 221 h 711"/>
                <a:gd name="T20" fmla="*/ 201 w 630"/>
                <a:gd name="T21" fmla="*/ 221 h 711"/>
                <a:gd name="T22" fmla="*/ 90 w 630"/>
                <a:gd name="T23" fmla="*/ 109 h 711"/>
                <a:gd name="T24" fmla="*/ 92 w 630"/>
                <a:gd name="T25" fmla="*/ 89 h 711"/>
                <a:gd name="T26" fmla="*/ 0 w 630"/>
                <a:gd name="T27" fmla="*/ 198 h 711"/>
                <a:gd name="T28" fmla="*/ 0 w 630"/>
                <a:gd name="T29" fmla="*/ 600 h 711"/>
                <a:gd name="T30" fmla="*/ 112 w 630"/>
                <a:gd name="T31" fmla="*/ 711 h 711"/>
                <a:gd name="T32" fmla="*/ 409 w 630"/>
                <a:gd name="T33" fmla="*/ 711 h 711"/>
                <a:gd name="T34" fmla="*/ 288 w 630"/>
                <a:gd name="T35" fmla="*/ 528 h 711"/>
                <a:gd name="T36" fmla="*/ 487 w 630"/>
                <a:gd name="T37" fmla="*/ 328 h 711"/>
                <a:gd name="T38" fmla="*/ 536 w 630"/>
                <a:gd name="T39" fmla="*/ 335 h 711"/>
                <a:gd name="T40" fmla="*/ 536 w 630"/>
                <a:gd name="T41" fmla="*/ 198 h 711"/>
                <a:gd name="T42" fmla="*/ 445 w 630"/>
                <a:gd name="T43" fmla="*/ 89 h 711"/>
                <a:gd name="T44" fmla="*/ 251 w 630"/>
                <a:gd name="T45" fmla="*/ 446 h 711"/>
                <a:gd name="T46" fmla="*/ 251 w 630"/>
                <a:gd name="T47" fmla="*/ 446 h 711"/>
                <a:gd name="T48" fmla="*/ 112 w 630"/>
                <a:gd name="T49" fmla="*/ 446 h 711"/>
                <a:gd name="T50" fmla="*/ 90 w 630"/>
                <a:gd name="T51" fmla="*/ 423 h 711"/>
                <a:gd name="T52" fmla="*/ 112 w 630"/>
                <a:gd name="T53" fmla="*/ 401 h 711"/>
                <a:gd name="T54" fmla="*/ 251 w 630"/>
                <a:gd name="T55" fmla="*/ 401 h 711"/>
                <a:gd name="T56" fmla="*/ 274 w 630"/>
                <a:gd name="T57" fmla="*/ 423 h 711"/>
                <a:gd name="T58" fmla="*/ 251 w 630"/>
                <a:gd name="T59" fmla="*/ 446 h 711"/>
                <a:gd name="T60" fmla="*/ 296 w 630"/>
                <a:gd name="T61" fmla="*/ 356 h 711"/>
                <a:gd name="T62" fmla="*/ 296 w 630"/>
                <a:gd name="T63" fmla="*/ 356 h 711"/>
                <a:gd name="T64" fmla="*/ 112 w 630"/>
                <a:gd name="T65" fmla="*/ 356 h 711"/>
                <a:gd name="T66" fmla="*/ 90 w 630"/>
                <a:gd name="T67" fmla="*/ 334 h 711"/>
                <a:gd name="T68" fmla="*/ 112 w 630"/>
                <a:gd name="T69" fmla="*/ 312 h 711"/>
                <a:gd name="T70" fmla="*/ 296 w 630"/>
                <a:gd name="T71" fmla="*/ 312 h 711"/>
                <a:gd name="T72" fmla="*/ 318 w 630"/>
                <a:gd name="T73" fmla="*/ 334 h 711"/>
                <a:gd name="T74" fmla="*/ 296 w 630"/>
                <a:gd name="T75" fmla="*/ 356 h 711"/>
                <a:gd name="T76" fmla="*/ 524 w 630"/>
                <a:gd name="T77" fmla="*/ 390 h 711"/>
                <a:gd name="T78" fmla="*/ 488 w 630"/>
                <a:gd name="T79" fmla="*/ 385 h 711"/>
                <a:gd name="T80" fmla="*/ 346 w 630"/>
                <a:gd name="T81" fmla="*/ 527 h 711"/>
                <a:gd name="T82" fmla="*/ 458 w 630"/>
                <a:gd name="T83" fmla="*/ 666 h 711"/>
                <a:gd name="T84" fmla="*/ 488 w 630"/>
                <a:gd name="T85" fmla="*/ 669 h 711"/>
                <a:gd name="T86" fmla="*/ 630 w 630"/>
                <a:gd name="T87" fmla="*/ 527 h 711"/>
                <a:gd name="T88" fmla="*/ 524 w 630"/>
                <a:gd name="T89" fmla="*/ 390 h 711"/>
                <a:gd name="T90" fmla="*/ 569 w 630"/>
                <a:gd name="T91" fmla="*/ 507 h 711"/>
                <a:gd name="T92" fmla="*/ 569 w 630"/>
                <a:gd name="T93" fmla="*/ 507 h 711"/>
                <a:gd name="T94" fmla="*/ 524 w 630"/>
                <a:gd name="T95" fmla="*/ 552 h 711"/>
                <a:gd name="T96" fmla="*/ 488 w 630"/>
                <a:gd name="T97" fmla="*/ 588 h 711"/>
                <a:gd name="T98" fmla="*/ 448 w 630"/>
                <a:gd name="T99" fmla="*/ 588 h 711"/>
                <a:gd name="T100" fmla="*/ 408 w 630"/>
                <a:gd name="T101" fmla="*/ 547 h 711"/>
                <a:gd name="T102" fmla="*/ 408 w 630"/>
                <a:gd name="T103" fmla="*/ 507 h 711"/>
                <a:gd name="T104" fmla="*/ 448 w 630"/>
                <a:gd name="T105" fmla="*/ 507 h 711"/>
                <a:gd name="T106" fmla="*/ 468 w 630"/>
                <a:gd name="T107" fmla="*/ 527 h 711"/>
                <a:gd name="T108" fmla="*/ 524 w 630"/>
                <a:gd name="T109" fmla="*/ 472 h 711"/>
                <a:gd name="T110" fmla="*/ 528 w 630"/>
                <a:gd name="T111" fmla="*/ 467 h 711"/>
                <a:gd name="T112" fmla="*/ 569 w 630"/>
                <a:gd name="T113" fmla="*/ 467 h 711"/>
                <a:gd name="T114" fmla="*/ 569 w 630"/>
                <a:gd name="T115" fmla="*/ 507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30" h="711">
                  <a:moveTo>
                    <a:pt x="402" y="89"/>
                  </a:moveTo>
                  <a:cubicBezTo>
                    <a:pt x="402" y="138"/>
                    <a:pt x="362" y="178"/>
                    <a:pt x="313" y="178"/>
                  </a:cubicBezTo>
                  <a:lnTo>
                    <a:pt x="223" y="178"/>
                  </a:lnTo>
                  <a:cubicBezTo>
                    <a:pt x="174" y="178"/>
                    <a:pt x="134" y="138"/>
                    <a:pt x="134" y="89"/>
                  </a:cubicBezTo>
                  <a:cubicBezTo>
                    <a:pt x="134" y="39"/>
                    <a:pt x="174" y="0"/>
                    <a:pt x="223" y="0"/>
                  </a:cubicBezTo>
                  <a:lnTo>
                    <a:pt x="313" y="0"/>
                  </a:lnTo>
                  <a:cubicBezTo>
                    <a:pt x="362" y="0"/>
                    <a:pt x="402" y="39"/>
                    <a:pt x="402" y="89"/>
                  </a:cubicBezTo>
                  <a:close/>
                  <a:moveTo>
                    <a:pt x="445" y="89"/>
                  </a:moveTo>
                  <a:cubicBezTo>
                    <a:pt x="446" y="95"/>
                    <a:pt x="446" y="102"/>
                    <a:pt x="446" y="109"/>
                  </a:cubicBezTo>
                  <a:cubicBezTo>
                    <a:pt x="446" y="171"/>
                    <a:pt x="397" y="221"/>
                    <a:pt x="335" y="221"/>
                  </a:cubicBezTo>
                  <a:lnTo>
                    <a:pt x="201" y="221"/>
                  </a:lnTo>
                  <a:cubicBezTo>
                    <a:pt x="140" y="221"/>
                    <a:pt x="90" y="171"/>
                    <a:pt x="90" y="109"/>
                  </a:cubicBezTo>
                  <a:cubicBezTo>
                    <a:pt x="90" y="102"/>
                    <a:pt x="90" y="95"/>
                    <a:pt x="92" y="89"/>
                  </a:cubicBezTo>
                  <a:cubicBezTo>
                    <a:pt x="40" y="98"/>
                    <a:pt x="0" y="144"/>
                    <a:pt x="0" y="198"/>
                  </a:cubicBezTo>
                  <a:lnTo>
                    <a:pt x="0" y="600"/>
                  </a:lnTo>
                  <a:cubicBezTo>
                    <a:pt x="0" y="661"/>
                    <a:pt x="50" y="711"/>
                    <a:pt x="112" y="711"/>
                  </a:cubicBezTo>
                  <a:lnTo>
                    <a:pt x="409" y="711"/>
                  </a:lnTo>
                  <a:cubicBezTo>
                    <a:pt x="338" y="681"/>
                    <a:pt x="288" y="610"/>
                    <a:pt x="288" y="528"/>
                  </a:cubicBezTo>
                  <a:cubicBezTo>
                    <a:pt x="288" y="418"/>
                    <a:pt x="377" y="328"/>
                    <a:pt x="487" y="328"/>
                  </a:cubicBezTo>
                  <a:cubicBezTo>
                    <a:pt x="504" y="328"/>
                    <a:pt x="520" y="331"/>
                    <a:pt x="536" y="335"/>
                  </a:cubicBezTo>
                  <a:lnTo>
                    <a:pt x="536" y="198"/>
                  </a:lnTo>
                  <a:cubicBezTo>
                    <a:pt x="536" y="144"/>
                    <a:pt x="496" y="98"/>
                    <a:pt x="445" y="89"/>
                  </a:cubicBezTo>
                  <a:close/>
                  <a:moveTo>
                    <a:pt x="251" y="446"/>
                  </a:moveTo>
                  <a:lnTo>
                    <a:pt x="251" y="446"/>
                  </a:lnTo>
                  <a:lnTo>
                    <a:pt x="112" y="446"/>
                  </a:lnTo>
                  <a:cubicBezTo>
                    <a:pt x="100" y="446"/>
                    <a:pt x="90" y="436"/>
                    <a:pt x="90" y="423"/>
                  </a:cubicBezTo>
                  <a:cubicBezTo>
                    <a:pt x="90" y="411"/>
                    <a:pt x="100" y="401"/>
                    <a:pt x="112" y="401"/>
                  </a:cubicBezTo>
                  <a:lnTo>
                    <a:pt x="251" y="401"/>
                  </a:lnTo>
                  <a:cubicBezTo>
                    <a:pt x="264" y="401"/>
                    <a:pt x="274" y="411"/>
                    <a:pt x="274" y="423"/>
                  </a:cubicBezTo>
                  <a:cubicBezTo>
                    <a:pt x="274" y="436"/>
                    <a:pt x="264" y="446"/>
                    <a:pt x="251" y="446"/>
                  </a:cubicBezTo>
                  <a:close/>
                  <a:moveTo>
                    <a:pt x="296" y="356"/>
                  </a:moveTo>
                  <a:lnTo>
                    <a:pt x="296" y="356"/>
                  </a:lnTo>
                  <a:lnTo>
                    <a:pt x="112" y="356"/>
                  </a:lnTo>
                  <a:cubicBezTo>
                    <a:pt x="100" y="356"/>
                    <a:pt x="90" y="346"/>
                    <a:pt x="90" y="334"/>
                  </a:cubicBezTo>
                  <a:cubicBezTo>
                    <a:pt x="90" y="322"/>
                    <a:pt x="100" y="312"/>
                    <a:pt x="112" y="312"/>
                  </a:cubicBezTo>
                  <a:lnTo>
                    <a:pt x="296" y="312"/>
                  </a:lnTo>
                  <a:cubicBezTo>
                    <a:pt x="308" y="312"/>
                    <a:pt x="318" y="322"/>
                    <a:pt x="318" y="334"/>
                  </a:cubicBezTo>
                  <a:cubicBezTo>
                    <a:pt x="318" y="346"/>
                    <a:pt x="308" y="356"/>
                    <a:pt x="296" y="356"/>
                  </a:cubicBezTo>
                  <a:close/>
                  <a:moveTo>
                    <a:pt x="524" y="390"/>
                  </a:moveTo>
                  <a:cubicBezTo>
                    <a:pt x="512" y="387"/>
                    <a:pt x="501" y="385"/>
                    <a:pt x="488" y="385"/>
                  </a:cubicBezTo>
                  <a:cubicBezTo>
                    <a:pt x="410" y="385"/>
                    <a:pt x="346" y="449"/>
                    <a:pt x="346" y="527"/>
                  </a:cubicBezTo>
                  <a:cubicBezTo>
                    <a:pt x="346" y="596"/>
                    <a:pt x="394" y="652"/>
                    <a:pt x="458" y="666"/>
                  </a:cubicBezTo>
                  <a:cubicBezTo>
                    <a:pt x="468" y="668"/>
                    <a:pt x="478" y="669"/>
                    <a:pt x="488" y="669"/>
                  </a:cubicBezTo>
                  <a:cubicBezTo>
                    <a:pt x="567" y="669"/>
                    <a:pt x="630" y="606"/>
                    <a:pt x="630" y="527"/>
                  </a:cubicBezTo>
                  <a:cubicBezTo>
                    <a:pt x="630" y="461"/>
                    <a:pt x="585" y="405"/>
                    <a:pt x="524" y="390"/>
                  </a:cubicBezTo>
                  <a:close/>
                  <a:moveTo>
                    <a:pt x="569" y="507"/>
                  </a:moveTo>
                  <a:lnTo>
                    <a:pt x="569" y="507"/>
                  </a:lnTo>
                  <a:lnTo>
                    <a:pt x="524" y="552"/>
                  </a:lnTo>
                  <a:lnTo>
                    <a:pt x="488" y="588"/>
                  </a:lnTo>
                  <a:cubicBezTo>
                    <a:pt x="477" y="599"/>
                    <a:pt x="459" y="599"/>
                    <a:pt x="448" y="588"/>
                  </a:cubicBezTo>
                  <a:lnTo>
                    <a:pt x="408" y="547"/>
                  </a:lnTo>
                  <a:cubicBezTo>
                    <a:pt x="397" y="536"/>
                    <a:pt x="397" y="518"/>
                    <a:pt x="408" y="507"/>
                  </a:cubicBezTo>
                  <a:cubicBezTo>
                    <a:pt x="419" y="496"/>
                    <a:pt x="437" y="496"/>
                    <a:pt x="448" y="507"/>
                  </a:cubicBezTo>
                  <a:lnTo>
                    <a:pt x="468" y="527"/>
                  </a:lnTo>
                  <a:lnTo>
                    <a:pt x="524" y="472"/>
                  </a:lnTo>
                  <a:lnTo>
                    <a:pt x="528" y="467"/>
                  </a:lnTo>
                  <a:cubicBezTo>
                    <a:pt x="540" y="456"/>
                    <a:pt x="558" y="456"/>
                    <a:pt x="569" y="467"/>
                  </a:cubicBezTo>
                  <a:cubicBezTo>
                    <a:pt x="580" y="478"/>
                    <a:pt x="580" y="496"/>
                    <a:pt x="569" y="50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endParaRPr lang="zh-CN" altLang="en-US" sz="1799"/>
            </a:p>
          </p:txBody>
        </p:sp>
      </p:grpSp>
      <p:sp>
        <p:nvSpPr>
          <p:cNvPr id="2" name="矩形 1"/>
          <p:cNvSpPr/>
          <p:nvPr/>
        </p:nvSpPr>
        <p:spPr>
          <a:xfrm>
            <a:off x="441371" y="1488331"/>
            <a:ext cx="9833722" cy="2031325"/>
          </a:xfrm>
          <a:prstGeom prst="rect">
            <a:avLst/>
          </a:prstGeom>
        </p:spPr>
        <p:txBody>
          <a:bodyPr wrap="square">
            <a:spAutoFit/>
          </a:bodyPr>
          <a:lstStyle/>
          <a:p>
            <a:pPr>
              <a:lnSpc>
                <a:spcPct val="150000"/>
              </a:lnSpc>
            </a:pPr>
            <a:r>
              <a:rPr lang="zh-CN" altLang="en-US" sz="2800" b="1" dirty="0">
                <a:latin typeface="微软雅黑" panose="020B0503020204020204" pitchFamily="34" charset="-122"/>
                <a:ea typeface="微软雅黑" panose="020B0503020204020204" pitchFamily="34" charset="-122"/>
              </a:rPr>
              <a:t>其一，为避免短循环程序取进了指缓后，由于指令预取导致指缓中需循环执行的指令被冲掉，为减少访存次数，可将短循环程序</a:t>
            </a:r>
            <a:r>
              <a:rPr lang="zh-CN" altLang="en-US" sz="2800" b="1" dirty="0">
                <a:solidFill>
                  <a:srgbClr val="0000FF"/>
                </a:solidFill>
                <a:latin typeface="微软雅黑" panose="020B0503020204020204" pitchFamily="34" charset="-122"/>
                <a:ea typeface="微软雅黑" panose="020B0503020204020204" pitchFamily="34" charset="-122"/>
              </a:rPr>
              <a:t>一次性</a:t>
            </a:r>
            <a:r>
              <a:rPr lang="zh-CN" altLang="en-US" sz="2800" b="1" dirty="0">
                <a:latin typeface="微软雅黑" panose="020B0503020204020204" pitchFamily="34" charset="-122"/>
                <a:ea typeface="微软雅黑" panose="020B0503020204020204" pitchFamily="34" charset="-122"/>
              </a:rPr>
              <a:t>整个地装入指缓内，以加快短循环程序的处理。</a:t>
            </a:r>
          </a:p>
        </p:txBody>
      </p:sp>
      <p:grpSp>
        <p:nvGrpSpPr>
          <p:cNvPr id="11" name="组合 10"/>
          <p:cNvGrpSpPr/>
          <p:nvPr/>
        </p:nvGrpSpPr>
        <p:grpSpPr>
          <a:xfrm>
            <a:off x="265635" y="269251"/>
            <a:ext cx="438352" cy="621987"/>
            <a:chOff x="265635" y="269251"/>
            <a:chExt cx="438352" cy="621987"/>
          </a:xfrm>
        </p:grpSpPr>
        <p:sp>
          <p:nvSpPr>
            <p:cNvPr id="12"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3"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4"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Tree>
    <p:extLst>
      <p:ext uri="{BB962C8B-B14F-4D97-AF65-F5344CB8AC3E}">
        <p14:creationId xmlns:p14="http://schemas.microsoft.com/office/powerpoint/2010/main" val="1678757427"/>
      </p:ext>
    </p:extLst>
  </p:cSld>
  <p:clrMapOvr>
    <a:masterClrMapping/>
  </p:clrMapOvr>
  <mc:AlternateContent xmlns:mc="http://schemas.openxmlformats.org/markup-compatibility/2006" xmlns:p14="http://schemas.microsoft.com/office/powerpoint/2010/main">
    <mc:Choice Requires="p14">
      <p:transition spd="slow">
        <p14:flip dir="r"/>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1445654" y="3206044"/>
            <a:ext cx="8606461" cy="3216223"/>
          </a:xfrm>
          <a:prstGeom prst="rect">
            <a:avLst/>
          </a:prstGeom>
        </p:spPr>
      </p:pic>
      <p:sp>
        <p:nvSpPr>
          <p:cNvPr id="114690" name="Rectangle 2"/>
          <p:cNvSpPr>
            <a:spLocks noGrp="1" noChangeArrowheads="1"/>
          </p:cNvSpPr>
          <p:nvPr>
            <p:ph type="title"/>
          </p:nvPr>
        </p:nvSpPr>
        <p:spPr>
          <a:xfrm>
            <a:off x="747991" y="365422"/>
            <a:ext cx="7222721" cy="533400"/>
          </a:xfrm>
        </p:spPr>
        <p:txBody>
          <a:bodyPr>
            <a:normAutofit/>
          </a:bodyPr>
          <a:lstStyle/>
          <a:p>
            <a:pPr algn="l"/>
            <a:r>
              <a:rPr lang="zh-CN" altLang="en-US" sz="2800" b="1" dirty="0">
                <a:latin typeface="微软雅黑" panose="020B0503020204020204" pitchFamily="34" charset="-122"/>
                <a:ea typeface="微软雅黑" panose="020B0503020204020204" pitchFamily="34" charset="-122"/>
              </a:rPr>
              <a:t>超流水技术 </a:t>
            </a:r>
          </a:p>
        </p:txBody>
      </p:sp>
      <p:sp>
        <p:nvSpPr>
          <p:cNvPr id="114691" name="Rectangle 3"/>
          <p:cNvSpPr>
            <a:spLocks noGrp="1" noChangeArrowheads="1"/>
          </p:cNvSpPr>
          <p:nvPr>
            <p:ph type="body" idx="1"/>
          </p:nvPr>
        </p:nvSpPr>
        <p:spPr>
          <a:xfrm>
            <a:off x="784666" y="1478204"/>
            <a:ext cx="9308815" cy="1353262"/>
          </a:xfrm>
          <a:ln>
            <a:noFill/>
          </a:ln>
        </p:spPr>
        <p:txBody>
          <a:bodyPr>
            <a:noAutofit/>
          </a:bodyPr>
          <a:lstStyle/>
          <a:p>
            <a:r>
              <a:rPr lang="zh-CN" altLang="en-US" b="1" dirty="0">
                <a:latin typeface="微软雅黑" panose="020B0503020204020204" pitchFamily="34" charset="-122"/>
                <a:ea typeface="微软雅黑" panose="020B0503020204020204" pitchFamily="34" charset="-122"/>
              </a:rPr>
              <a:t>设一条指令包含取指令、译码、执行和存结果四个子过程；</a:t>
            </a:r>
            <a:endParaRPr lang="en-US" altLang="zh-CN" b="1" dirty="0">
              <a:latin typeface="微软雅黑" panose="020B0503020204020204" pitchFamily="34" charset="-122"/>
              <a:ea typeface="微软雅黑" panose="020B0503020204020204" pitchFamily="34" charset="-122"/>
            </a:endParaRPr>
          </a:p>
          <a:p>
            <a:r>
              <a:rPr lang="zh-CN" altLang="en-US" b="1" dirty="0">
                <a:latin typeface="微软雅黑" panose="020B0503020204020204" pitchFamily="34" charset="-122"/>
                <a:ea typeface="微软雅黑" panose="020B0503020204020204" pitchFamily="34" charset="-122"/>
              </a:rPr>
              <a:t>每个子过程经过的时间为⊿</a:t>
            </a:r>
            <a:r>
              <a:rPr lang="en-US" altLang="zh-CN" b="1" dirty="0">
                <a:latin typeface="微软雅黑" panose="020B0503020204020204" pitchFamily="34" charset="-122"/>
                <a:ea typeface="微软雅黑" panose="020B0503020204020204" pitchFamily="34" charset="-122"/>
              </a:rPr>
              <a:t>t</a:t>
            </a:r>
            <a:r>
              <a:rPr lang="zh-CN" altLang="en-US" b="1" dirty="0">
                <a:latin typeface="微软雅黑" panose="020B0503020204020204" pitchFamily="34" charset="-122"/>
                <a:ea typeface="微软雅黑" panose="020B0503020204020204" pitchFamily="34" charset="-122"/>
              </a:rPr>
              <a:t>；</a:t>
            </a:r>
            <a:endParaRPr lang="en-US" altLang="zh-CN" b="1" dirty="0">
              <a:latin typeface="微软雅黑" panose="020B0503020204020204" pitchFamily="34" charset="-122"/>
              <a:ea typeface="微软雅黑" panose="020B0503020204020204" pitchFamily="34" charset="-122"/>
            </a:endParaRPr>
          </a:p>
          <a:p>
            <a:r>
              <a:rPr lang="zh-CN" altLang="en-US" b="1" dirty="0">
                <a:latin typeface="微软雅黑" panose="020B0503020204020204" pitchFamily="34" charset="-122"/>
                <a:ea typeface="微软雅黑" panose="020B0503020204020204" pitchFamily="34" charset="-122"/>
              </a:rPr>
              <a:t>在每个⊿</a:t>
            </a:r>
            <a:r>
              <a:rPr lang="en-US" altLang="zh-CN" b="1" dirty="0">
                <a:latin typeface="微软雅黑" panose="020B0503020204020204" pitchFamily="34" charset="-122"/>
                <a:ea typeface="微软雅黑" panose="020B0503020204020204" pitchFamily="34" charset="-122"/>
              </a:rPr>
              <a:t>t</a:t>
            </a:r>
            <a:r>
              <a:rPr lang="zh-CN" altLang="en-US" b="1" dirty="0">
                <a:latin typeface="微软雅黑" panose="020B0503020204020204" pitchFamily="34" charset="-122"/>
                <a:ea typeface="微软雅黑" panose="020B0503020204020204" pitchFamily="34" charset="-122"/>
              </a:rPr>
              <a:t>期间解释完</a:t>
            </a:r>
            <a:r>
              <a:rPr lang="en-US" altLang="zh-CN" b="1" dirty="0">
                <a:solidFill>
                  <a:srgbClr val="FF0000"/>
                </a:solidFill>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条指令；</a:t>
            </a:r>
            <a:r>
              <a:rPr lang="zh-CN" altLang="en-US" b="1" dirty="0">
                <a:solidFill>
                  <a:srgbClr val="FF0000"/>
                </a:solidFill>
                <a:latin typeface="微软雅黑" panose="020B0503020204020204" pitchFamily="34" charset="-122"/>
                <a:ea typeface="微软雅黑" panose="020B0503020204020204" pitchFamily="34" charset="-122"/>
              </a:rPr>
              <a:t>度</a:t>
            </a:r>
            <a:r>
              <a:rPr lang="en-US" altLang="zh-CN" b="1" dirty="0">
                <a:solidFill>
                  <a:srgbClr val="FF0000"/>
                </a:solidFill>
                <a:latin typeface="微软雅黑" panose="020B0503020204020204" pitchFamily="34" charset="-122"/>
                <a:ea typeface="微软雅黑" panose="020B0503020204020204" pitchFamily="34" charset="-122"/>
              </a:rPr>
              <a:t>m=1</a:t>
            </a:r>
            <a:r>
              <a:rPr lang="zh-CN" altLang="en-US" b="1" dirty="0">
                <a:latin typeface="微软雅黑" panose="020B0503020204020204" pitchFamily="34" charset="-122"/>
                <a:ea typeface="微软雅黑" panose="020B0503020204020204" pitchFamily="34" charset="-122"/>
              </a:rPr>
              <a:t>。</a:t>
            </a:r>
          </a:p>
        </p:txBody>
      </p:sp>
      <p:sp>
        <p:nvSpPr>
          <p:cNvPr id="114693" name="Rectangle 5"/>
          <p:cNvSpPr>
            <a:spLocks noChangeArrowheads="1"/>
          </p:cNvSpPr>
          <p:nvPr/>
        </p:nvSpPr>
        <p:spPr bwMode="auto">
          <a:xfrm>
            <a:off x="6003635" y="224015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fontAlgn="base">
              <a:spcBef>
                <a:spcPct val="0"/>
              </a:spcBef>
              <a:spcAft>
                <a:spcPct val="0"/>
              </a:spcAft>
            </a:pPr>
            <a:endParaRPr lang="zh-CN" altLang="en-US">
              <a:solidFill>
                <a:srgbClr val="FFFFFF"/>
              </a:solidFill>
              <a:ea typeface="宋体" panose="02010600030101010101" pitchFamily="2" charset="-122"/>
            </a:endParaRPr>
          </a:p>
        </p:txBody>
      </p:sp>
      <p:sp>
        <p:nvSpPr>
          <p:cNvPr id="114694" name="Text Box 6"/>
          <p:cNvSpPr txBox="1">
            <a:spLocks noChangeArrowheads="1"/>
          </p:cNvSpPr>
          <p:nvPr/>
        </p:nvSpPr>
        <p:spPr bwMode="auto">
          <a:xfrm>
            <a:off x="3446374" y="6457890"/>
            <a:ext cx="54839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fontAlgn="base">
              <a:spcBef>
                <a:spcPct val="50000"/>
              </a:spcBef>
              <a:spcAft>
                <a:spcPct val="0"/>
              </a:spcAft>
            </a:pPr>
            <a:r>
              <a:rPr lang="zh-CN" altLang="en-US" sz="2000" b="1" dirty="0">
                <a:latin typeface="微软雅黑" panose="020B0503020204020204" pitchFamily="34" charset="-122"/>
                <a:ea typeface="微软雅黑" panose="020B0503020204020204" pitchFamily="34" charset="-122"/>
              </a:rPr>
              <a:t>常规</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度</a:t>
            </a:r>
            <a:r>
              <a:rPr lang="en-US" altLang="zh-CN" sz="2000" b="1" dirty="0">
                <a:latin typeface="微软雅黑" panose="020B0503020204020204" pitchFamily="34" charset="-122"/>
                <a:ea typeface="微软雅黑" panose="020B0503020204020204" pitchFamily="34" charset="-122"/>
              </a:rPr>
              <a:t>m</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1)</a:t>
            </a:r>
            <a:r>
              <a:rPr lang="zh-CN" altLang="en-US" sz="2000" b="1" dirty="0">
                <a:latin typeface="微软雅黑" panose="020B0503020204020204" pitchFamily="34" charset="-122"/>
                <a:ea typeface="微软雅黑" panose="020B0503020204020204" pitchFamily="34" charset="-122"/>
              </a:rPr>
              <a:t>标量流水处理机时空图 </a:t>
            </a:r>
          </a:p>
        </p:txBody>
      </p:sp>
      <p:sp>
        <p:nvSpPr>
          <p:cNvPr id="7" name="文本框 6"/>
          <p:cNvSpPr txBox="1"/>
          <p:nvPr/>
        </p:nvSpPr>
        <p:spPr>
          <a:xfrm>
            <a:off x="703986" y="925311"/>
            <a:ext cx="4328223" cy="523220"/>
          </a:xfrm>
          <a:prstGeom prst="rect">
            <a:avLst/>
          </a:prstGeom>
          <a:noFill/>
        </p:spPr>
        <p:txBody>
          <a:bodyPr wrap="square" rtlCol="0">
            <a:spAutoFit/>
          </a:bodyPr>
          <a:lstStyle/>
          <a:p>
            <a:pPr marL="457200" indent="-457200">
              <a:buFont typeface="Wingdings" panose="05000000000000000000" pitchFamily="2" charset="2"/>
              <a:buChar char="u"/>
            </a:pPr>
            <a:r>
              <a:rPr lang="zh-CN" altLang="en-US" sz="2800" b="1" dirty="0">
                <a:latin typeface="微软雅黑" panose="020B0503020204020204" pitchFamily="34" charset="-122"/>
                <a:ea typeface="微软雅黑" panose="020B0503020204020204" pitchFamily="34" charset="-122"/>
              </a:rPr>
              <a:t>常规标量单流水处理机</a:t>
            </a:r>
          </a:p>
        </p:txBody>
      </p:sp>
      <mc:AlternateContent xmlns:mc="http://schemas.openxmlformats.org/markup-compatibility/2006" xmlns:a14="http://schemas.microsoft.com/office/drawing/2010/main">
        <mc:Choice Requires="a14">
          <p:sp>
            <p:nvSpPr>
              <p:cNvPr id="9" name="文本框 8"/>
              <p:cNvSpPr txBox="1"/>
              <p:nvPr/>
            </p:nvSpPr>
            <p:spPr>
              <a:xfrm>
                <a:off x="8257304" y="2280501"/>
                <a:ext cx="3589621" cy="1323439"/>
              </a:xfrm>
              <a:prstGeom prst="rect">
                <a:avLst/>
              </a:prstGeom>
              <a:noFill/>
            </p:spPr>
            <p:txBody>
              <a:bodyPr wrap="square" rtlCol="0">
                <a:spAutoFit/>
              </a:bodyPr>
              <a:lstStyle/>
              <a:p>
                <a:pPr marL="285750" indent="-285750">
                  <a:buFont typeface="Wingdings" panose="05000000000000000000" pitchFamily="2" charset="2"/>
                  <a:buChar char="Ø"/>
                </a:pPr>
                <a14:m>
                  <m:oMath xmlns:m="http://schemas.openxmlformats.org/officeDocument/2006/math">
                    <m:r>
                      <a:rPr lang="en-US" altLang="zh-CN" sz="2000" b="1" i="1" dirty="0">
                        <a:solidFill>
                          <a:srgbClr val="1D528D"/>
                        </a:solidFill>
                        <a:latin typeface="Cambria Math" panose="02040503050406030204" pitchFamily="18" charset="0"/>
                        <a:ea typeface="宋体" panose="02010600030101010101" pitchFamily="2" charset="-122"/>
                      </a:rPr>
                      <m:t>𝟏</m:t>
                    </m:r>
                    <m:r>
                      <a:rPr lang="zh-CN" altLang="en-US" sz="2000" b="1" i="1" dirty="0">
                        <a:solidFill>
                          <a:srgbClr val="1D528D"/>
                        </a:solidFill>
                        <a:latin typeface="Cambria Math" panose="02040503050406030204" pitchFamily="18" charset="0"/>
                        <a:ea typeface="宋体" panose="02010600030101010101" pitchFamily="2" charset="-122"/>
                      </a:rPr>
                      <m:t>个</m:t>
                    </m:r>
                    <m:r>
                      <a:rPr lang="en-US" altLang="zh-CN" sz="2000" b="1" i="1" dirty="0">
                        <a:solidFill>
                          <a:srgbClr val="1D528D"/>
                        </a:solidFill>
                        <a:latin typeface="Cambria Math" panose="02040503050406030204" pitchFamily="18" charset="0"/>
                        <a:ea typeface="宋体" panose="02010600030101010101" pitchFamily="2" charset="-122"/>
                      </a:rPr>
                      <m:t>𝑪𝑷𝑼</m:t>
                    </m:r>
                    <m:r>
                      <a:rPr lang="zh-CN" altLang="en-US" sz="2000" b="1" i="1" dirty="0">
                        <a:solidFill>
                          <a:srgbClr val="1D528D"/>
                        </a:solidFill>
                        <a:latin typeface="Cambria Math" panose="02040503050406030204" pitchFamily="18" charset="0"/>
                        <a:ea typeface="宋体" panose="02010600030101010101" pitchFamily="2" charset="-122"/>
                      </a:rPr>
                      <m:t>周期</m:t>
                    </m:r>
                    <m:r>
                      <a:rPr lang="zh-CN" altLang="en-US" sz="2000" b="1" i="1" dirty="0">
                        <a:solidFill>
                          <a:srgbClr val="1D528D"/>
                        </a:solidFill>
                        <a:latin typeface="Cambria Math" panose="02040503050406030204" pitchFamily="18" charset="0"/>
                        <a:ea typeface="宋体" panose="02010600030101010101" pitchFamily="2" charset="-122"/>
                      </a:rPr>
                      <m:t>⊿</m:t>
                    </m:r>
                    <m:r>
                      <a:rPr lang="en-US" altLang="zh-CN" sz="2000" b="1" i="1" dirty="0">
                        <a:solidFill>
                          <a:srgbClr val="1D528D"/>
                        </a:solidFill>
                        <a:latin typeface="Cambria Math" panose="02040503050406030204" pitchFamily="18" charset="0"/>
                        <a:ea typeface="宋体" panose="02010600030101010101" pitchFamily="2" charset="-122"/>
                      </a:rPr>
                      <m:t>𝒕</m:t>
                    </m:r>
                  </m:oMath>
                </a14:m>
                <a:endParaRPr lang="en-US" altLang="zh-CN" sz="2000" b="1" dirty="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并行度</a:t>
                </a:r>
                <a:r>
                  <a:rPr lang="en-US" altLang="zh-CN" sz="2000" b="1" dirty="0">
                    <a:latin typeface="微软雅黑" panose="020B0503020204020204" pitchFamily="34" charset="-122"/>
                    <a:ea typeface="微软雅黑" panose="020B0503020204020204" pitchFamily="34" charset="-122"/>
                  </a:rPr>
                  <a:t>m=1</a:t>
                </a:r>
              </a:p>
              <a:p>
                <a:pPr marL="285750" indent="-285750">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任务（指令）数：</a:t>
                </a:r>
                <a:r>
                  <a:rPr lang="en-US" altLang="zh-CN" sz="2000" b="1" dirty="0">
                    <a:latin typeface="微软雅黑" panose="020B0503020204020204" pitchFamily="34" charset="-122"/>
                    <a:ea typeface="微软雅黑" panose="020B0503020204020204" pitchFamily="34" charset="-122"/>
                  </a:rPr>
                  <a:t>n=9</a:t>
                </a:r>
                <a:r>
                  <a:rPr lang="zh-CN" altLang="en-US" sz="2000" b="1" dirty="0">
                    <a:latin typeface="微软雅黑" panose="020B0503020204020204" pitchFamily="34" charset="-122"/>
                    <a:ea typeface="微软雅黑" panose="020B0503020204020204" pitchFamily="34" charset="-122"/>
                  </a:rPr>
                  <a:t>（条）</a:t>
                </a:r>
                <a:endParaRPr lang="en-US" altLang="zh-CN" sz="2000" b="1" dirty="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流水有</a:t>
                </a:r>
                <a:r>
                  <a:rPr lang="en-US" altLang="zh-CN" sz="2000" b="1" dirty="0">
                    <a:latin typeface="微软雅黑" panose="020B0503020204020204" pitchFamily="34" charset="-122"/>
                    <a:ea typeface="微软雅黑" panose="020B0503020204020204" pitchFamily="34" charset="-122"/>
                  </a:rPr>
                  <a:t>d=4</a:t>
                </a:r>
                <a:r>
                  <a:rPr lang="zh-CN" altLang="en-US" sz="2000" b="1" dirty="0">
                    <a:latin typeface="微软雅黑" panose="020B0503020204020204" pitchFamily="34" charset="-122"/>
                    <a:ea typeface="微软雅黑" panose="020B0503020204020204" pitchFamily="34" charset="-122"/>
                  </a:rPr>
                  <a:t>（段）</a:t>
                </a:r>
              </a:p>
            </p:txBody>
          </p:sp>
        </mc:Choice>
        <mc:Fallback xmlns="">
          <p:sp>
            <p:nvSpPr>
              <p:cNvPr id="9" name="文本框 8"/>
              <p:cNvSpPr txBox="1">
                <a:spLocks noRot="1" noChangeAspect="1" noMove="1" noResize="1" noEditPoints="1" noAdjustHandles="1" noChangeArrowheads="1" noChangeShapeType="1" noTextEdit="1"/>
              </p:cNvSpPr>
              <p:nvPr/>
            </p:nvSpPr>
            <p:spPr>
              <a:xfrm>
                <a:off x="8257304" y="2280501"/>
                <a:ext cx="3589621" cy="1323439"/>
              </a:xfrm>
              <a:prstGeom prst="rect">
                <a:avLst/>
              </a:prstGeom>
              <a:blipFill>
                <a:blip r:embed="rId3"/>
                <a:stretch>
                  <a:fillRect l="-1531" t="-1382" r="-7143" b="-73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p:cNvSpPr txBox="1"/>
              <p:nvPr/>
            </p:nvSpPr>
            <p:spPr>
              <a:xfrm>
                <a:off x="8836755" y="4088496"/>
                <a:ext cx="3262490"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0" smtClean="0">
                          <a:solidFill>
                            <a:srgbClr val="FF0000"/>
                          </a:solidFill>
                          <a:latin typeface="Cambria Math" panose="02040503050406030204" pitchFamily="18" charset="0"/>
                          <a:ea typeface="Cambria Math" panose="02040503050406030204" pitchFamily="18" charset="0"/>
                        </a:rPr>
                        <m:t>𝐓</m:t>
                      </m:r>
                      <m:r>
                        <a:rPr lang="en-US" altLang="zh-CN" sz="2000" b="1" i="0" smtClean="0">
                          <a:solidFill>
                            <a:srgbClr val="FF0000"/>
                          </a:solidFill>
                          <a:latin typeface="Cambria Math" panose="02040503050406030204" pitchFamily="18" charset="0"/>
                          <a:ea typeface="Cambria Math" panose="02040503050406030204" pitchFamily="18" charset="0"/>
                        </a:rPr>
                        <m:t>=</m:t>
                      </m:r>
                      <m:r>
                        <a:rPr lang="en-US" altLang="zh-CN" sz="2000" b="1" i="0" smtClean="0">
                          <a:solidFill>
                            <a:srgbClr val="FF0000"/>
                          </a:solidFill>
                          <a:latin typeface="Cambria Math" panose="02040503050406030204" pitchFamily="18" charset="0"/>
                          <a:ea typeface="Cambria Math" panose="02040503050406030204" pitchFamily="18" charset="0"/>
                        </a:rPr>
                        <m:t>𝐝</m:t>
                      </m:r>
                      <m:r>
                        <a:rPr lang="en-US" altLang="zh-CN" sz="2000" b="1" i="1" smtClean="0">
                          <a:solidFill>
                            <a:srgbClr val="FF0000"/>
                          </a:solidFill>
                          <a:latin typeface="Cambria Math" panose="02040503050406030204" pitchFamily="18" charset="0"/>
                          <a:ea typeface="Cambria Math" panose="02040503050406030204" pitchFamily="18" charset="0"/>
                        </a:rPr>
                        <m:t>∙∆</m:t>
                      </m:r>
                      <m:r>
                        <a:rPr lang="en-US" altLang="zh-CN" sz="2000" b="1" i="1" smtClean="0">
                          <a:solidFill>
                            <a:srgbClr val="FF0000"/>
                          </a:solidFill>
                          <a:latin typeface="Cambria Math" panose="02040503050406030204" pitchFamily="18" charset="0"/>
                          <a:ea typeface="Cambria Math" panose="02040503050406030204" pitchFamily="18" charset="0"/>
                        </a:rPr>
                        <m:t>𝒕</m:t>
                      </m:r>
                      <m:r>
                        <a:rPr lang="en-US" altLang="zh-CN" sz="2000" b="1" i="0" smtClean="0">
                          <a:solidFill>
                            <a:srgbClr val="FF0000"/>
                          </a:solidFill>
                          <a:latin typeface="Cambria Math" panose="02040503050406030204" pitchFamily="18" charset="0"/>
                          <a:ea typeface="Cambria Math" panose="02040503050406030204" pitchFamily="18" charset="0"/>
                        </a:rPr>
                        <m:t>+(</m:t>
                      </m:r>
                      <m:r>
                        <a:rPr lang="en-US" altLang="zh-CN" sz="2000" b="1" i="0" smtClean="0">
                          <a:solidFill>
                            <a:srgbClr val="FF0000"/>
                          </a:solidFill>
                          <a:latin typeface="Cambria Math" panose="02040503050406030204" pitchFamily="18" charset="0"/>
                          <a:ea typeface="Cambria Math" panose="02040503050406030204" pitchFamily="18" charset="0"/>
                        </a:rPr>
                        <m:t>𝐧</m:t>
                      </m:r>
                      <m:r>
                        <a:rPr lang="en-US" altLang="zh-CN" sz="2000" b="1" i="0" smtClean="0">
                          <a:solidFill>
                            <a:srgbClr val="FF0000"/>
                          </a:solidFill>
                          <a:latin typeface="Cambria Math" panose="02040503050406030204" pitchFamily="18" charset="0"/>
                          <a:ea typeface="Cambria Math" panose="02040503050406030204" pitchFamily="18" charset="0"/>
                        </a:rPr>
                        <m:t>−</m:t>
                      </m:r>
                      <m:r>
                        <a:rPr lang="en-US" altLang="zh-CN" sz="2000" b="1" i="0" smtClean="0">
                          <a:solidFill>
                            <a:srgbClr val="FF0000"/>
                          </a:solidFill>
                          <a:latin typeface="Cambria Math" panose="02040503050406030204" pitchFamily="18" charset="0"/>
                          <a:ea typeface="Cambria Math" panose="02040503050406030204" pitchFamily="18" charset="0"/>
                        </a:rPr>
                        <m:t>𝟏</m:t>
                      </m:r>
                      <m:r>
                        <a:rPr lang="en-US" altLang="zh-CN" sz="2000" b="1" i="0" smtClean="0">
                          <a:solidFill>
                            <a:srgbClr val="FF0000"/>
                          </a:solidFill>
                          <a:latin typeface="Cambria Math" panose="02040503050406030204" pitchFamily="18" charset="0"/>
                          <a:ea typeface="Cambria Math" panose="02040503050406030204" pitchFamily="18" charset="0"/>
                        </a:rPr>
                        <m:t>)</m:t>
                      </m:r>
                      <m:r>
                        <a:rPr lang="en-US" altLang="zh-CN" sz="2000" b="1" i="1" smtClean="0">
                          <a:solidFill>
                            <a:srgbClr val="FF0000"/>
                          </a:solidFill>
                          <a:latin typeface="Cambria Math" panose="02040503050406030204" pitchFamily="18" charset="0"/>
                          <a:ea typeface="Cambria Math" panose="02040503050406030204" pitchFamily="18" charset="0"/>
                        </a:rPr>
                        <m:t>∆</m:t>
                      </m:r>
                      <m:r>
                        <a:rPr lang="en-US" altLang="zh-CN" sz="2000" b="1" i="1" smtClean="0">
                          <a:solidFill>
                            <a:srgbClr val="FF0000"/>
                          </a:solidFill>
                          <a:latin typeface="Cambria Math" panose="02040503050406030204" pitchFamily="18" charset="0"/>
                          <a:ea typeface="Cambria Math" panose="02040503050406030204" pitchFamily="18" charset="0"/>
                        </a:rPr>
                        <m:t>𝒕</m:t>
                      </m:r>
                    </m:oMath>
                  </m:oMathPara>
                </a14:m>
                <a:endParaRPr lang="zh-CN" altLang="en-US" sz="2000" b="1" dirty="0">
                  <a:solidFill>
                    <a:srgbClr val="FF0000"/>
                  </a:solidFill>
                </a:endParaRPr>
              </a:p>
            </p:txBody>
          </p:sp>
        </mc:Choice>
        <mc:Fallback xmlns="">
          <p:sp>
            <p:nvSpPr>
              <p:cNvPr id="10" name="文本框 9"/>
              <p:cNvSpPr txBox="1">
                <a:spLocks noRot="1" noChangeAspect="1" noMove="1" noResize="1" noEditPoints="1" noAdjustHandles="1" noChangeArrowheads="1" noChangeShapeType="1" noTextEdit="1"/>
              </p:cNvSpPr>
              <p:nvPr/>
            </p:nvSpPr>
            <p:spPr>
              <a:xfrm>
                <a:off x="8836755" y="4088496"/>
                <a:ext cx="3262490" cy="400110"/>
              </a:xfrm>
              <a:prstGeom prst="rect">
                <a:avLst/>
              </a:prstGeom>
              <a:blipFill rotWithShape="0">
                <a:blip r:embed="rId4"/>
                <a:stretch>
                  <a:fillRect b="-18462"/>
                </a:stretch>
              </a:blipFill>
            </p:spPr>
            <p:txBody>
              <a:bodyPr/>
              <a:lstStyle/>
              <a:p>
                <a:r>
                  <a:rPr lang="zh-CN" altLang="en-US">
                    <a:noFill/>
                  </a:rPr>
                  <a:t> </a:t>
                </a:r>
              </a:p>
            </p:txBody>
          </p:sp>
        </mc:Fallback>
      </mc:AlternateContent>
      <p:pic>
        <p:nvPicPr>
          <p:cNvPr id="11" name="图片 10"/>
          <p:cNvPicPr>
            <a:picLocks noChangeAspect="1"/>
          </p:cNvPicPr>
          <p:nvPr/>
        </p:nvPicPr>
        <p:blipFill>
          <a:blip r:embed="rId5"/>
          <a:stretch>
            <a:fillRect/>
          </a:stretch>
        </p:blipFill>
        <p:spPr>
          <a:xfrm rot="16200000" flipH="1">
            <a:off x="3101285" y="2489860"/>
            <a:ext cx="201312" cy="2314821"/>
          </a:xfrm>
          <a:prstGeom prst="rect">
            <a:avLst/>
          </a:prstGeom>
          <a:ln w="3175">
            <a:noFill/>
          </a:ln>
        </p:spPr>
      </p:pic>
      <p:pic>
        <p:nvPicPr>
          <p:cNvPr id="12" name="图片 11"/>
          <p:cNvPicPr>
            <a:picLocks noChangeAspect="1"/>
          </p:cNvPicPr>
          <p:nvPr/>
        </p:nvPicPr>
        <p:blipFill>
          <a:blip r:embed="rId5"/>
          <a:stretch>
            <a:fillRect/>
          </a:stretch>
        </p:blipFill>
        <p:spPr>
          <a:xfrm rot="16200000" flipH="1">
            <a:off x="6394407" y="1318828"/>
            <a:ext cx="214559" cy="4670136"/>
          </a:xfrm>
          <a:prstGeom prst="rect">
            <a:avLst/>
          </a:prstGeom>
          <a:ln w="3175">
            <a:noFill/>
          </a:ln>
        </p:spPr>
      </p:pic>
      <mc:AlternateContent xmlns:mc="http://schemas.openxmlformats.org/markup-compatibility/2006" xmlns:a14="http://schemas.microsoft.com/office/drawing/2010/main">
        <mc:Choice Requires="a14">
          <p:sp>
            <p:nvSpPr>
              <p:cNvPr id="3" name="矩形 2"/>
              <p:cNvSpPr/>
              <p:nvPr/>
            </p:nvSpPr>
            <p:spPr>
              <a:xfrm>
                <a:off x="5870224" y="3224082"/>
                <a:ext cx="1231427" cy="369332"/>
              </a:xfrm>
              <a:prstGeom prst="rect">
                <a:avLst/>
              </a:prstGeom>
            </p:spPr>
            <p:txBody>
              <a:bodyPr wrap="none">
                <a:spAutoFit/>
              </a:bodyPr>
              <a:lstStyle/>
              <a:p>
                <a:pPr/>
                <a14:m>
                  <m:oMathPara xmlns:m="http://schemas.openxmlformats.org/officeDocument/2006/math">
                    <m:oMathParaPr>
                      <m:jc m:val="center"/>
                    </m:oMathParaPr>
                    <m:oMath xmlns:m="http://schemas.openxmlformats.org/officeDocument/2006/math">
                      <m:r>
                        <a:rPr lang="en-US" altLang="zh-CN" b="1">
                          <a:solidFill>
                            <a:srgbClr val="FF0000"/>
                          </a:solidFill>
                          <a:latin typeface="Cambria Math" panose="02040503050406030204" pitchFamily="18" charset="0"/>
                          <a:ea typeface="Cambria Math" panose="02040503050406030204" pitchFamily="18" charset="0"/>
                        </a:rPr>
                        <m:t>(</m:t>
                      </m:r>
                      <m:r>
                        <a:rPr lang="en-US" altLang="zh-CN" b="1">
                          <a:solidFill>
                            <a:srgbClr val="FF0000"/>
                          </a:solidFill>
                          <a:latin typeface="Cambria Math" panose="02040503050406030204" pitchFamily="18" charset="0"/>
                          <a:ea typeface="Cambria Math" panose="02040503050406030204" pitchFamily="18" charset="0"/>
                        </a:rPr>
                        <m:t>𝐧</m:t>
                      </m:r>
                      <m:r>
                        <a:rPr lang="en-US" altLang="zh-CN" b="1">
                          <a:solidFill>
                            <a:srgbClr val="FF0000"/>
                          </a:solidFill>
                          <a:latin typeface="Cambria Math" panose="02040503050406030204" pitchFamily="18" charset="0"/>
                          <a:ea typeface="Cambria Math" panose="02040503050406030204" pitchFamily="18" charset="0"/>
                        </a:rPr>
                        <m:t>−</m:t>
                      </m:r>
                      <m:r>
                        <a:rPr lang="en-US" altLang="zh-CN" b="1">
                          <a:solidFill>
                            <a:srgbClr val="FF0000"/>
                          </a:solidFill>
                          <a:latin typeface="Cambria Math" panose="02040503050406030204" pitchFamily="18" charset="0"/>
                          <a:ea typeface="Cambria Math" panose="02040503050406030204" pitchFamily="18" charset="0"/>
                        </a:rPr>
                        <m:t>𝟏</m:t>
                      </m:r>
                      <m:r>
                        <a:rPr lang="en-US" altLang="zh-CN" b="1">
                          <a:solidFill>
                            <a:srgbClr val="FF0000"/>
                          </a:solidFill>
                          <a:latin typeface="Cambria Math" panose="02040503050406030204" pitchFamily="18" charset="0"/>
                          <a:ea typeface="Cambria Math" panose="02040503050406030204" pitchFamily="18" charset="0"/>
                        </a:rPr>
                        <m:t>)</m:t>
                      </m:r>
                      <m:r>
                        <a:rPr lang="en-US" altLang="zh-CN" b="1" i="1">
                          <a:solidFill>
                            <a:srgbClr val="FF0000"/>
                          </a:solidFill>
                          <a:latin typeface="Cambria Math" panose="02040503050406030204" pitchFamily="18" charset="0"/>
                          <a:ea typeface="Cambria Math" panose="02040503050406030204" pitchFamily="18" charset="0"/>
                        </a:rPr>
                        <m:t>∆</m:t>
                      </m:r>
                      <m:r>
                        <a:rPr lang="en-US" altLang="zh-CN" b="1" i="1">
                          <a:solidFill>
                            <a:srgbClr val="FF0000"/>
                          </a:solidFill>
                          <a:latin typeface="Cambria Math" panose="02040503050406030204" pitchFamily="18" charset="0"/>
                          <a:ea typeface="Cambria Math" panose="02040503050406030204" pitchFamily="18" charset="0"/>
                        </a:rPr>
                        <m:t>𝒕</m:t>
                      </m:r>
                    </m:oMath>
                  </m:oMathPara>
                </a14:m>
                <a:endParaRPr lang="zh-CN" altLang="en-US" b="1" dirty="0">
                  <a:solidFill>
                    <a:srgbClr val="FF0000"/>
                  </a:solidFill>
                </a:endParaRPr>
              </a:p>
            </p:txBody>
          </p:sp>
        </mc:Choice>
        <mc:Fallback xmlns="">
          <p:sp>
            <p:nvSpPr>
              <p:cNvPr id="3" name="矩形 2"/>
              <p:cNvSpPr>
                <a:spLocks noRot="1" noChangeAspect="1" noMove="1" noResize="1" noEditPoints="1" noAdjustHandles="1" noChangeArrowheads="1" noChangeShapeType="1" noTextEdit="1"/>
              </p:cNvSpPr>
              <p:nvPr/>
            </p:nvSpPr>
            <p:spPr>
              <a:xfrm>
                <a:off x="5870224" y="3224082"/>
                <a:ext cx="1231427" cy="369332"/>
              </a:xfrm>
              <a:prstGeom prst="rect">
                <a:avLst/>
              </a:prstGeom>
              <a:blipFill rotWithShape="0">
                <a:blip r:embed="rId6"/>
                <a:stretch>
                  <a:fillRect b="-1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p:cNvSpPr txBox="1"/>
              <p:nvPr/>
            </p:nvSpPr>
            <p:spPr>
              <a:xfrm>
                <a:off x="2612360" y="3232533"/>
                <a:ext cx="117916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a:solidFill>
                            <a:srgbClr val="FF0000"/>
                          </a:solidFill>
                          <a:latin typeface="Cambria Math" panose="02040503050406030204" pitchFamily="18" charset="0"/>
                          <a:ea typeface="Cambria Math" panose="02040503050406030204" pitchFamily="18" charset="0"/>
                        </a:rPr>
                        <m:t>𝐝</m:t>
                      </m:r>
                      <m:r>
                        <a:rPr lang="en-US" altLang="zh-CN" b="1" i="1">
                          <a:solidFill>
                            <a:srgbClr val="FF0000"/>
                          </a:solidFill>
                          <a:latin typeface="Cambria Math" panose="02040503050406030204" pitchFamily="18" charset="0"/>
                          <a:ea typeface="Cambria Math" panose="02040503050406030204" pitchFamily="18" charset="0"/>
                        </a:rPr>
                        <m:t>∙∆</m:t>
                      </m:r>
                      <m:r>
                        <a:rPr lang="en-US" altLang="zh-CN" b="1" i="1">
                          <a:solidFill>
                            <a:srgbClr val="FF0000"/>
                          </a:solidFill>
                          <a:latin typeface="Cambria Math" panose="02040503050406030204" pitchFamily="18" charset="0"/>
                          <a:ea typeface="Cambria Math" panose="02040503050406030204" pitchFamily="18" charset="0"/>
                        </a:rPr>
                        <m:t>𝒕</m:t>
                      </m:r>
                    </m:oMath>
                  </m:oMathPara>
                </a14:m>
                <a:endParaRPr lang="zh-CN" altLang="en-US" dirty="0"/>
              </a:p>
            </p:txBody>
          </p:sp>
        </mc:Choice>
        <mc:Fallback xmlns="">
          <p:sp>
            <p:nvSpPr>
              <p:cNvPr id="2" name="文本框 1"/>
              <p:cNvSpPr txBox="1">
                <a:spLocks noRot="1" noChangeAspect="1" noMove="1" noResize="1" noEditPoints="1" noAdjustHandles="1" noChangeArrowheads="1" noChangeShapeType="1" noTextEdit="1"/>
              </p:cNvSpPr>
              <p:nvPr/>
            </p:nvSpPr>
            <p:spPr>
              <a:xfrm>
                <a:off x="2612360" y="3232533"/>
                <a:ext cx="1179162" cy="369332"/>
              </a:xfrm>
              <a:prstGeom prst="rect">
                <a:avLst/>
              </a:prstGeom>
              <a:blipFill rotWithShape="0">
                <a:blip r:embed="rId7"/>
                <a:stretch>
                  <a:fillRect/>
                </a:stretch>
              </a:blipFill>
            </p:spPr>
            <p:txBody>
              <a:bodyPr/>
              <a:lstStyle/>
              <a:p>
                <a:r>
                  <a:rPr lang="zh-CN" altLang="en-US">
                    <a:noFill/>
                  </a:rPr>
                  <a:t> </a:t>
                </a:r>
              </a:p>
            </p:txBody>
          </p:sp>
        </mc:Fallback>
      </mc:AlternateContent>
      <p:grpSp>
        <p:nvGrpSpPr>
          <p:cNvPr id="14" name="组合 13"/>
          <p:cNvGrpSpPr/>
          <p:nvPr/>
        </p:nvGrpSpPr>
        <p:grpSpPr>
          <a:xfrm>
            <a:off x="265635" y="269251"/>
            <a:ext cx="438352" cy="621987"/>
            <a:chOff x="265635" y="269251"/>
            <a:chExt cx="438352" cy="621987"/>
          </a:xfrm>
        </p:grpSpPr>
        <p:sp>
          <p:nvSpPr>
            <p:cNvPr id="1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Tree>
    <p:extLst>
      <p:ext uri="{BB962C8B-B14F-4D97-AF65-F5344CB8AC3E}">
        <p14:creationId xmlns:p14="http://schemas.microsoft.com/office/powerpoint/2010/main" val="4049807454"/>
      </p:ext>
    </p:extLst>
  </p:cSld>
  <p:clrMapOvr>
    <a:masterClrMapping/>
  </p:clrMapOvr>
  <mc:AlternateContent xmlns:mc="http://schemas.openxmlformats.org/markup-compatibility/2006" xmlns:p14="http://schemas.microsoft.com/office/powerpoint/2010/main">
    <mc:Choice Requires="p14">
      <p:transition spd="slow">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7" presetClass="entr" presetSubtype="0" fill="hold"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7"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1000"/>
                                        <p:tgtEl>
                                          <p:spTgt spid="3"/>
                                        </p:tgtEl>
                                      </p:cBhvr>
                                    </p:animEffect>
                                    <p:anim calcmode="lin" valueType="num">
                                      <p:cBhvr>
                                        <p:cTn id="20" dur="1000" fill="hold"/>
                                        <p:tgtEl>
                                          <p:spTgt spid="3"/>
                                        </p:tgtEl>
                                        <p:attrNameLst>
                                          <p:attrName>ppt_x</p:attrName>
                                        </p:attrNameLst>
                                      </p:cBhvr>
                                      <p:tavLst>
                                        <p:tav tm="0">
                                          <p:val>
                                            <p:strVal val="#ppt_x"/>
                                          </p:val>
                                        </p:tav>
                                        <p:tav tm="100000">
                                          <p:val>
                                            <p:strVal val="#ppt_x"/>
                                          </p:val>
                                        </p:tav>
                                      </p:tavLst>
                                    </p:anim>
                                    <p:anim calcmode="lin" valueType="num">
                                      <p:cBhvr>
                                        <p:cTn id="21" dur="1000" fill="hold"/>
                                        <p:tgtEl>
                                          <p:spTgt spid="3"/>
                                        </p:tgtEl>
                                        <p:attrNameLst>
                                          <p:attrName>ppt_y</p:attrName>
                                        </p:attrNameLst>
                                      </p:cBhvr>
                                      <p:tavLst>
                                        <p:tav tm="0">
                                          <p:val>
                                            <p:strVal val="#ppt_y-.1"/>
                                          </p:val>
                                        </p:tav>
                                        <p:tav tm="100000">
                                          <p:val>
                                            <p:strVal val="#ppt_y"/>
                                          </p:val>
                                        </p:tav>
                                      </p:tavLst>
                                    </p:anim>
                                  </p:childTnLst>
                                </p:cTn>
                              </p:par>
                              <p:par>
                                <p:cTn id="22" presetID="47" presetClass="entr" presetSubtype="0" fill="hold"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1000"/>
                                        <p:tgtEl>
                                          <p:spTgt spid="12"/>
                                        </p:tgtEl>
                                      </p:cBhvr>
                                    </p:animEffect>
                                    <p:anim calcmode="lin" valueType="num">
                                      <p:cBhvr>
                                        <p:cTn id="25" dur="1000" fill="hold"/>
                                        <p:tgtEl>
                                          <p:spTgt spid="12"/>
                                        </p:tgtEl>
                                        <p:attrNameLst>
                                          <p:attrName>ppt_x</p:attrName>
                                        </p:attrNameLst>
                                      </p:cBhvr>
                                      <p:tavLst>
                                        <p:tav tm="0">
                                          <p:val>
                                            <p:strVal val="#ppt_x"/>
                                          </p:val>
                                        </p:tav>
                                        <p:tav tm="100000">
                                          <p:val>
                                            <p:strVal val="#ppt_x"/>
                                          </p:val>
                                        </p:tav>
                                      </p:tavLst>
                                    </p:anim>
                                    <p:anim calcmode="lin" valueType="num">
                                      <p:cBhvr>
                                        <p:cTn id="2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1000"/>
                                        <p:tgtEl>
                                          <p:spTgt spid="10"/>
                                        </p:tgtEl>
                                      </p:cBhvr>
                                    </p:animEffect>
                                    <p:anim calcmode="lin" valueType="num">
                                      <p:cBhvr>
                                        <p:cTn id="32" dur="1000" fill="hold"/>
                                        <p:tgtEl>
                                          <p:spTgt spid="10"/>
                                        </p:tgtEl>
                                        <p:attrNameLst>
                                          <p:attrName>ppt_x</p:attrName>
                                        </p:attrNameLst>
                                      </p:cBhvr>
                                      <p:tavLst>
                                        <p:tav tm="0">
                                          <p:val>
                                            <p:strVal val="#ppt_x"/>
                                          </p:val>
                                        </p:tav>
                                        <p:tav tm="100000">
                                          <p:val>
                                            <p:strVal val="#ppt_x"/>
                                          </p:val>
                                        </p:tav>
                                      </p:tavLst>
                                    </p:anim>
                                    <p:anim calcmode="lin" valueType="num">
                                      <p:cBhvr>
                                        <p:cTn id="3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3" grpId="0"/>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a:xfrm>
            <a:off x="767097" y="-18270"/>
            <a:ext cx="10515600" cy="1325563"/>
          </a:xfrm>
        </p:spPr>
        <p:txBody>
          <a:bodyPr>
            <a:normAutofit/>
          </a:bodyPr>
          <a:lstStyle/>
          <a:p>
            <a:pPr marL="457200" indent="-457200" algn="l">
              <a:lnSpc>
                <a:spcPct val="120000"/>
              </a:lnSpc>
              <a:buFont typeface="Wingdings" panose="05000000000000000000" pitchFamily="2" charset="2"/>
              <a:buChar char="u"/>
            </a:pPr>
            <a:r>
              <a:rPr lang="zh-CN" altLang="en-US" sz="2800" b="1" dirty="0">
                <a:latin typeface="微软雅黑" panose="020B0503020204020204" pitchFamily="34" charset="-122"/>
                <a:ea typeface="微软雅黑" panose="020B0503020204020204" pitchFamily="34" charset="-122"/>
              </a:rPr>
              <a:t>超标量处理机</a:t>
            </a:r>
          </a:p>
        </p:txBody>
      </p:sp>
      <p:sp>
        <p:nvSpPr>
          <p:cNvPr id="115715" name="Rectangle 3"/>
          <p:cNvSpPr>
            <a:spLocks noGrp="1" noChangeArrowheads="1"/>
          </p:cNvSpPr>
          <p:nvPr>
            <p:ph type="body" idx="1"/>
          </p:nvPr>
        </p:nvSpPr>
        <p:spPr>
          <a:xfrm>
            <a:off x="589385" y="885309"/>
            <a:ext cx="5861503" cy="2535942"/>
          </a:xfrm>
        </p:spPr>
        <p:txBody>
          <a:bodyPr>
            <a:noAutofit/>
          </a:bodyPr>
          <a:lstStyle/>
          <a:p>
            <a:pPr>
              <a:lnSpc>
                <a:spcPct val="120000"/>
              </a:lnSpc>
            </a:pPr>
            <a:r>
              <a:rPr lang="zh-CN" altLang="en-US" sz="2400" b="1" dirty="0">
                <a:latin typeface="微软雅黑" panose="020B0503020204020204" pitchFamily="34" charset="-122"/>
                <a:ea typeface="微软雅黑" panose="020B0503020204020204" pitchFamily="34" charset="-122"/>
              </a:rPr>
              <a:t>超标量处理机采用多指令流水线，每个⊿</a:t>
            </a:r>
            <a:r>
              <a:rPr lang="en-US" altLang="zh-CN" sz="2400" b="1" dirty="0">
                <a:latin typeface="微软雅黑" panose="020B0503020204020204" pitchFamily="34" charset="-122"/>
                <a:ea typeface="微软雅黑" panose="020B0503020204020204" pitchFamily="34" charset="-122"/>
              </a:rPr>
              <a:t>t</a:t>
            </a:r>
            <a:r>
              <a:rPr lang="zh-CN" altLang="en-US" sz="2400" b="1" dirty="0">
                <a:latin typeface="微软雅黑" panose="020B0503020204020204" pitchFamily="34" charset="-122"/>
                <a:ea typeface="微软雅黑" panose="020B0503020204020204" pitchFamily="34" charset="-122"/>
              </a:rPr>
              <a:t>同时流出</a:t>
            </a:r>
            <a:r>
              <a:rPr lang="en-US" altLang="zh-CN" sz="2400" b="1" dirty="0">
                <a:latin typeface="微软雅黑" panose="020B0503020204020204" pitchFamily="34" charset="-122"/>
                <a:ea typeface="微软雅黑" panose="020B0503020204020204" pitchFamily="34" charset="-122"/>
              </a:rPr>
              <a:t>m</a:t>
            </a:r>
            <a:r>
              <a:rPr lang="zh-CN" altLang="en-US" sz="2400" b="1" dirty="0">
                <a:latin typeface="微软雅黑" panose="020B0503020204020204" pitchFamily="34" charset="-122"/>
                <a:ea typeface="微软雅黑" panose="020B0503020204020204" pitchFamily="34" charset="-122"/>
              </a:rPr>
              <a:t>条指令。</a:t>
            </a:r>
            <a:endParaRPr lang="en-US" altLang="zh-CN" sz="2400" b="1" dirty="0">
              <a:latin typeface="微软雅黑" panose="020B0503020204020204" pitchFamily="34" charset="-122"/>
              <a:ea typeface="微软雅黑" panose="020B0503020204020204" pitchFamily="34" charset="-122"/>
            </a:endParaRPr>
          </a:p>
          <a:p>
            <a:pPr>
              <a:lnSpc>
                <a:spcPct val="120000"/>
              </a:lnSpc>
            </a:pPr>
            <a:r>
              <a:rPr lang="zh-CN" altLang="en-US" sz="2400" b="1" dirty="0">
                <a:latin typeface="微软雅黑" panose="020B0503020204020204" pitchFamily="34" charset="-122"/>
                <a:ea typeface="微软雅黑" panose="020B0503020204020204" pitchFamily="34" charset="-122"/>
              </a:rPr>
              <a:t>超标量处理机着重利用资源重复，设置多个执行部件寄存器堆端口；</a:t>
            </a:r>
          </a:p>
          <a:p>
            <a:pPr>
              <a:lnSpc>
                <a:spcPct val="120000"/>
              </a:lnSpc>
            </a:pPr>
            <a:r>
              <a:rPr lang="en-US" altLang="zh-CN" sz="2400" b="1" dirty="0">
                <a:latin typeface="微软雅黑" panose="020B0503020204020204" pitchFamily="34" charset="-122"/>
                <a:ea typeface="微软雅黑" panose="020B0503020204020204" pitchFamily="34" charset="-122"/>
              </a:rPr>
              <a:t>m</a:t>
            </a:r>
            <a:r>
              <a:rPr lang="zh-CN" altLang="en-US" sz="2400" b="1" dirty="0">
                <a:latin typeface="微软雅黑" panose="020B0503020204020204" pitchFamily="34" charset="-122"/>
                <a:ea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rPr>
              <a:t>3</a:t>
            </a:r>
            <a:r>
              <a:rPr lang="zh-CN" altLang="en-US" sz="2400" b="1" dirty="0">
                <a:latin typeface="微软雅黑" panose="020B0503020204020204" pitchFamily="34" charset="-122"/>
                <a:ea typeface="微软雅黑" panose="020B0503020204020204" pitchFamily="34" charset="-122"/>
              </a:rPr>
              <a:t>时的流水时空图，每</a:t>
            </a:r>
            <a:r>
              <a:rPr lang="en-US" altLang="zh-CN" sz="2400" b="1" dirty="0">
                <a:latin typeface="微软雅黑" panose="020B0503020204020204" pitchFamily="34" charset="-122"/>
                <a:ea typeface="微软雅黑" panose="020B0503020204020204" pitchFamily="34" charset="-122"/>
              </a:rPr>
              <a:t>3</a:t>
            </a:r>
            <a:r>
              <a:rPr lang="zh-CN" altLang="en-US" sz="2400" b="1" dirty="0">
                <a:latin typeface="微软雅黑" panose="020B0503020204020204" pitchFamily="34" charset="-122"/>
                <a:ea typeface="微软雅黑" panose="020B0503020204020204" pitchFamily="34" charset="-122"/>
              </a:rPr>
              <a:t>条指令为一组，执行完</a:t>
            </a:r>
            <a:r>
              <a:rPr lang="en-US" altLang="zh-CN" sz="2400" b="1" dirty="0">
                <a:latin typeface="微软雅黑" panose="020B0503020204020204" pitchFamily="34" charset="-122"/>
                <a:ea typeface="微软雅黑" panose="020B0503020204020204" pitchFamily="34" charset="-122"/>
              </a:rPr>
              <a:t>9</a:t>
            </a:r>
            <a:r>
              <a:rPr lang="zh-CN" altLang="en-US" sz="2400" b="1" dirty="0">
                <a:latin typeface="微软雅黑" panose="020B0503020204020204" pitchFamily="34" charset="-122"/>
                <a:ea typeface="微软雅黑" panose="020B0503020204020204" pitchFamily="34" charset="-122"/>
              </a:rPr>
              <a:t>条指令只需</a:t>
            </a:r>
            <a:r>
              <a:rPr lang="en-US" altLang="zh-CN" sz="2400" b="1" dirty="0">
                <a:latin typeface="微软雅黑" panose="020B0503020204020204" pitchFamily="34" charset="-122"/>
                <a:ea typeface="微软雅黑" panose="020B0503020204020204" pitchFamily="34" charset="-122"/>
              </a:rPr>
              <a:t>6⊿t</a:t>
            </a:r>
            <a:r>
              <a:rPr lang="zh-CN" altLang="en-US" sz="2400" b="1" dirty="0">
                <a:latin typeface="微软雅黑" panose="020B0503020204020204" pitchFamily="34" charset="-122"/>
                <a:ea typeface="微软雅黑" panose="020B0503020204020204" pitchFamily="34" charset="-122"/>
              </a:rPr>
              <a:t>。</a:t>
            </a:r>
          </a:p>
          <a:p>
            <a:pPr>
              <a:lnSpc>
                <a:spcPct val="120000"/>
              </a:lnSpc>
            </a:pPr>
            <a:r>
              <a:rPr lang="zh-CN" altLang="en-US" sz="2400" b="1" dirty="0">
                <a:latin typeface="微软雅黑" panose="020B0503020204020204" pitchFamily="34" charset="-122"/>
                <a:ea typeface="微软雅黑" panose="020B0503020204020204" pitchFamily="34" charset="-122"/>
              </a:rPr>
              <a:t>并行度</a:t>
            </a:r>
            <a:r>
              <a:rPr lang="en-US" altLang="zh-CN" sz="2400" b="1" dirty="0">
                <a:latin typeface="微软雅黑" panose="020B0503020204020204" pitchFamily="34" charset="-122"/>
                <a:ea typeface="微软雅黑" panose="020B0503020204020204" pitchFamily="34" charset="-122"/>
              </a:rPr>
              <a:t>m</a:t>
            </a:r>
            <a:r>
              <a:rPr lang="zh-CN" altLang="en-US" sz="2400" b="1" dirty="0">
                <a:latin typeface="微软雅黑" panose="020B0503020204020204" pitchFamily="34" charset="-122"/>
                <a:ea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rPr>
              <a:t>1</a:t>
            </a:r>
            <a:r>
              <a:rPr lang="zh-CN" altLang="en-US" sz="2400" b="1" dirty="0">
                <a:latin typeface="微软雅黑" panose="020B0503020204020204" pitchFamily="34" charset="-122"/>
                <a:ea typeface="微软雅黑" panose="020B0503020204020204" pitchFamily="34" charset="-122"/>
              </a:rPr>
              <a:t>是超标量流水机的特例，度为</a:t>
            </a:r>
            <a:r>
              <a:rPr lang="en-US" altLang="zh-CN" sz="2400" b="1" dirty="0">
                <a:latin typeface="微软雅黑" panose="020B0503020204020204" pitchFamily="34" charset="-122"/>
                <a:ea typeface="微软雅黑" panose="020B0503020204020204" pitchFamily="34" charset="-122"/>
              </a:rPr>
              <a:t>1</a:t>
            </a:r>
            <a:r>
              <a:rPr lang="zh-CN" altLang="en-US" sz="2400" b="1" dirty="0">
                <a:latin typeface="微软雅黑" panose="020B0503020204020204" pitchFamily="34" charset="-122"/>
                <a:ea typeface="微软雅黑" panose="020B0503020204020204" pitchFamily="34" charset="-122"/>
              </a:rPr>
              <a:t>就逐条执行。</a:t>
            </a:r>
          </a:p>
        </p:txBody>
      </p:sp>
      <p:sp>
        <p:nvSpPr>
          <p:cNvPr id="115717" name="Rectangle 5"/>
          <p:cNvSpPr>
            <a:spLocks noChangeArrowheads="1"/>
          </p:cNvSpPr>
          <p:nvPr/>
        </p:nvSpPr>
        <p:spPr bwMode="auto">
          <a:xfrm>
            <a:off x="6003635" y="16917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fontAlgn="base">
              <a:spcBef>
                <a:spcPct val="0"/>
              </a:spcBef>
              <a:spcAft>
                <a:spcPct val="0"/>
              </a:spcAft>
            </a:pPr>
            <a:endParaRPr lang="zh-CN" altLang="en-US">
              <a:solidFill>
                <a:srgbClr val="FFFFFF"/>
              </a:solidFill>
              <a:ea typeface="宋体" panose="02010600030101010101" pitchFamily="2" charset="-122"/>
            </a:endParaRPr>
          </a:p>
        </p:txBody>
      </p:sp>
      <p:sp>
        <p:nvSpPr>
          <p:cNvPr id="115718" name="Text Box 6"/>
          <p:cNvSpPr txBox="1">
            <a:spLocks noChangeArrowheads="1"/>
          </p:cNvSpPr>
          <p:nvPr/>
        </p:nvSpPr>
        <p:spPr bwMode="auto">
          <a:xfrm>
            <a:off x="7687649" y="6177295"/>
            <a:ext cx="3600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zh-CN" altLang="en-US" b="1" dirty="0">
                <a:ea typeface="宋体" panose="02010600030101010101" pitchFamily="2" charset="-122"/>
              </a:rPr>
              <a:t>度</a:t>
            </a:r>
            <a:r>
              <a:rPr lang="en-US" altLang="zh-CN" b="1" dirty="0">
                <a:ea typeface="宋体" panose="02010600030101010101" pitchFamily="2" charset="-122"/>
              </a:rPr>
              <a:t>m</a:t>
            </a:r>
            <a:r>
              <a:rPr lang="zh-CN" altLang="en-US" b="1" dirty="0">
                <a:ea typeface="宋体" panose="02010600030101010101" pitchFamily="2" charset="-122"/>
              </a:rPr>
              <a:t>＝</a:t>
            </a:r>
            <a:r>
              <a:rPr lang="en-US" altLang="zh-CN" b="1" dirty="0">
                <a:ea typeface="宋体" panose="02010600030101010101" pitchFamily="2" charset="-122"/>
              </a:rPr>
              <a:t>3</a:t>
            </a:r>
            <a:r>
              <a:rPr lang="zh-CN" altLang="en-US" b="1" dirty="0">
                <a:ea typeface="宋体" panose="02010600030101010101" pitchFamily="2" charset="-122"/>
              </a:rPr>
              <a:t>时的超标量流水时空图 </a:t>
            </a:r>
          </a:p>
        </p:txBody>
      </p:sp>
      <mc:AlternateContent xmlns:mc="http://schemas.openxmlformats.org/markup-compatibility/2006" xmlns:a14="http://schemas.microsoft.com/office/drawing/2010/main">
        <mc:Choice Requires="a14">
          <p:sp>
            <p:nvSpPr>
              <p:cNvPr id="8" name="文本框 7"/>
              <p:cNvSpPr txBox="1"/>
              <p:nvPr/>
            </p:nvSpPr>
            <p:spPr>
              <a:xfrm>
                <a:off x="572679" y="4873756"/>
                <a:ext cx="4222044" cy="1865126"/>
              </a:xfrm>
              <a:prstGeom prst="rect">
                <a:avLst/>
              </a:prstGeom>
              <a:noFill/>
            </p:spPr>
            <p:txBody>
              <a:bodyPr wrap="square" rtlCol="0">
                <a:spAutoFit/>
              </a:bodyPr>
              <a:lstStyle/>
              <a:p>
                <a:pPr marL="342900" indent="-342900">
                  <a:lnSpc>
                    <a:spcPct val="120000"/>
                  </a:lnSpc>
                  <a:buFont typeface="Wingdings" panose="05000000000000000000" pitchFamily="2" charset="2"/>
                  <a:buChar char="Ø"/>
                </a:pPr>
                <a14:m>
                  <m:oMath xmlns:m="http://schemas.openxmlformats.org/officeDocument/2006/math">
                    <m:r>
                      <a:rPr lang="en-US" altLang="zh-CN" sz="2400" b="1" i="1" dirty="0" smtClean="0">
                        <a:solidFill>
                          <a:srgbClr val="1D528D"/>
                        </a:solidFill>
                        <a:latin typeface="Cambria Math" panose="02040503050406030204" pitchFamily="18" charset="0"/>
                        <a:ea typeface="宋体" panose="02010600030101010101" pitchFamily="2" charset="-122"/>
                      </a:rPr>
                      <m:t>𝟏</m:t>
                    </m:r>
                    <m:r>
                      <a:rPr lang="zh-CN" altLang="en-US" sz="2400" b="1" i="1" dirty="0" smtClean="0">
                        <a:solidFill>
                          <a:srgbClr val="1D528D"/>
                        </a:solidFill>
                        <a:latin typeface="Cambria Math" panose="02040503050406030204" pitchFamily="18" charset="0"/>
                        <a:ea typeface="宋体" panose="02010600030101010101" pitchFamily="2" charset="-122"/>
                      </a:rPr>
                      <m:t>个</m:t>
                    </m:r>
                    <m:r>
                      <a:rPr lang="en-US" altLang="zh-CN" sz="2400" b="1" i="1" dirty="0" smtClean="0">
                        <a:solidFill>
                          <a:srgbClr val="1D528D"/>
                        </a:solidFill>
                        <a:latin typeface="Cambria Math" panose="02040503050406030204" pitchFamily="18" charset="0"/>
                        <a:ea typeface="宋体" panose="02010600030101010101" pitchFamily="2" charset="-122"/>
                      </a:rPr>
                      <m:t>𝑪𝑷𝑼</m:t>
                    </m:r>
                    <m:r>
                      <a:rPr lang="zh-CN" altLang="en-US" sz="2400" b="1" i="1" dirty="0" smtClean="0">
                        <a:solidFill>
                          <a:srgbClr val="1D528D"/>
                        </a:solidFill>
                        <a:latin typeface="Cambria Math" panose="02040503050406030204" pitchFamily="18" charset="0"/>
                        <a:ea typeface="宋体" panose="02010600030101010101" pitchFamily="2" charset="-122"/>
                      </a:rPr>
                      <m:t>周期</m:t>
                    </m:r>
                    <m:r>
                      <a:rPr lang="zh-CN" altLang="en-US" sz="2400" b="1" i="1" dirty="0" smtClean="0">
                        <a:solidFill>
                          <a:srgbClr val="1D528D"/>
                        </a:solidFill>
                        <a:latin typeface="Cambria Math" panose="02040503050406030204" pitchFamily="18" charset="0"/>
                        <a:ea typeface="宋体" panose="02010600030101010101" pitchFamily="2" charset="-122"/>
                      </a:rPr>
                      <m:t>⊿</m:t>
                    </m:r>
                    <m:r>
                      <a:rPr lang="en-US" altLang="zh-CN" sz="2400" b="1" i="1" dirty="0" smtClean="0">
                        <a:solidFill>
                          <a:srgbClr val="1D528D"/>
                        </a:solidFill>
                        <a:latin typeface="Cambria Math" panose="02040503050406030204" pitchFamily="18" charset="0"/>
                        <a:ea typeface="宋体" panose="02010600030101010101" pitchFamily="2" charset="-122"/>
                      </a:rPr>
                      <m:t>𝒕</m:t>
                    </m:r>
                  </m:oMath>
                </a14:m>
                <a:endParaRPr lang="en-US" altLang="zh-CN" sz="2400" b="1" dirty="0">
                  <a:latin typeface="微软雅黑" panose="020B0503020204020204" pitchFamily="34" charset="-122"/>
                  <a:ea typeface="微软雅黑" panose="020B0503020204020204" pitchFamily="34" charset="-122"/>
                </a:endParaRPr>
              </a:p>
              <a:p>
                <a:pPr marL="342900" indent="-342900">
                  <a:lnSpc>
                    <a:spcPct val="120000"/>
                  </a:lnSpc>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并行度 </a:t>
                </a:r>
                <a:r>
                  <a:rPr lang="en-US" altLang="zh-CN" sz="2400" b="1" dirty="0">
                    <a:latin typeface="微软雅黑" panose="020B0503020204020204" pitchFamily="34" charset="-122"/>
                    <a:ea typeface="微软雅黑" panose="020B0503020204020204" pitchFamily="34" charset="-122"/>
                  </a:rPr>
                  <a:t>m = 3</a:t>
                </a:r>
                <a:r>
                  <a:rPr lang="zh-CN" altLang="en-US" sz="2400" b="1" dirty="0">
                    <a:latin typeface="微软雅黑" panose="020B0503020204020204" pitchFamily="34" charset="-122"/>
                    <a:ea typeface="微软雅黑" panose="020B0503020204020204" pitchFamily="34" charset="-122"/>
                  </a:rPr>
                  <a:t>（            ）</a:t>
                </a:r>
                <a:endParaRPr lang="en-US" altLang="zh-CN" sz="2400" b="1" dirty="0">
                  <a:latin typeface="微软雅黑" panose="020B0503020204020204" pitchFamily="34" charset="-122"/>
                  <a:ea typeface="微软雅黑" panose="020B0503020204020204" pitchFamily="34" charset="-122"/>
                </a:endParaRPr>
              </a:p>
              <a:p>
                <a:pPr marL="342900" indent="-342900">
                  <a:lnSpc>
                    <a:spcPct val="120000"/>
                  </a:lnSpc>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任务（指令）数：</a:t>
                </a:r>
                <a:r>
                  <a:rPr lang="en-US" altLang="zh-CN" sz="2400" b="1" dirty="0">
                    <a:latin typeface="微软雅黑" panose="020B0503020204020204" pitchFamily="34" charset="-122"/>
                    <a:ea typeface="微软雅黑" panose="020B0503020204020204" pitchFamily="34" charset="-122"/>
                  </a:rPr>
                  <a:t>n=9</a:t>
                </a:r>
                <a:r>
                  <a:rPr lang="zh-CN" altLang="en-US" sz="2400" b="1" dirty="0">
                    <a:latin typeface="微软雅黑" panose="020B0503020204020204" pitchFamily="34" charset="-122"/>
                    <a:ea typeface="微软雅黑" panose="020B0503020204020204" pitchFamily="34" charset="-122"/>
                  </a:rPr>
                  <a:t>（条）</a:t>
                </a:r>
                <a:endParaRPr lang="en-US" altLang="zh-CN" sz="2400" b="1" dirty="0">
                  <a:latin typeface="微软雅黑" panose="020B0503020204020204" pitchFamily="34" charset="-122"/>
                  <a:ea typeface="微软雅黑" panose="020B0503020204020204" pitchFamily="34" charset="-122"/>
                </a:endParaRPr>
              </a:p>
              <a:p>
                <a:pPr marL="342900" indent="-342900">
                  <a:lnSpc>
                    <a:spcPct val="120000"/>
                  </a:lnSpc>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流水有</a:t>
                </a:r>
                <a:r>
                  <a:rPr lang="en-US" altLang="zh-CN" sz="2400" b="1" dirty="0">
                    <a:latin typeface="微软雅黑" panose="020B0503020204020204" pitchFamily="34" charset="-122"/>
                    <a:ea typeface="微软雅黑" panose="020B0503020204020204" pitchFamily="34" charset="-122"/>
                  </a:rPr>
                  <a:t>d=4</a:t>
                </a:r>
                <a:r>
                  <a:rPr lang="zh-CN" altLang="en-US" sz="2400" b="1" dirty="0">
                    <a:latin typeface="微软雅黑" panose="020B0503020204020204" pitchFamily="34" charset="-122"/>
                    <a:ea typeface="微软雅黑" panose="020B0503020204020204" pitchFamily="34" charset="-122"/>
                  </a:rPr>
                  <a:t>（段）</a:t>
                </a:r>
              </a:p>
            </p:txBody>
          </p:sp>
        </mc:Choice>
        <mc:Fallback xmlns="">
          <p:sp>
            <p:nvSpPr>
              <p:cNvPr id="8" name="文本框 7"/>
              <p:cNvSpPr txBox="1">
                <a:spLocks noRot="1" noChangeAspect="1" noMove="1" noResize="1" noEditPoints="1" noAdjustHandles="1" noChangeArrowheads="1" noChangeShapeType="1" noTextEdit="1"/>
              </p:cNvSpPr>
              <p:nvPr/>
            </p:nvSpPr>
            <p:spPr>
              <a:xfrm>
                <a:off x="572679" y="4873756"/>
                <a:ext cx="4222044" cy="1865126"/>
              </a:xfrm>
              <a:prstGeom prst="rect">
                <a:avLst/>
              </a:prstGeom>
              <a:blipFill>
                <a:blip r:embed="rId2"/>
                <a:stretch>
                  <a:fillRect l="-2020" r="-8514" b="-45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p:cNvSpPr txBox="1"/>
              <p:nvPr/>
            </p:nvSpPr>
            <p:spPr>
              <a:xfrm>
                <a:off x="3425698" y="6199006"/>
                <a:ext cx="3262490" cy="623889"/>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altLang="zh-CN" sz="2000" b="1" i="0" smtClean="0">
                          <a:solidFill>
                            <a:srgbClr val="FF0000"/>
                          </a:solidFill>
                          <a:latin typeface="Cambria Math" panose="02040503050406030204" pitchFamily="18" charset="0"/>
                          <a:ea typeface="Cambria Math" panose="02040503050406030204" pitchFamily="18" charset="0"/>
                        </a:rPr>
                        <m:t>𝐓</m:t>
                      </m:r>
                      <m:r>
                        <a:rPr lang="en-US" altLang="zh-CN" sz="2000" b="1" i="0" smtClean="0">
                          <a:solidFill>
                            <a:srgbClr val="FF0000"/>
                          </a:solidFill>
                          <a:latin typeface="Cambria Math" panose="02040503050406030204" pitchFamily="18" charset="0"/>
                          <a:ea typeface="Cambria Math" panose="02040503050406030204" pitchFamily="18" charset="0"/>
                        </a:rPr>
                        <m:t>=</m:t>
                      </m:r>
                      <m:r>
                        <a:rPr lang="en-US" altLang="zh-CN" sz="2000" b="1" i="1" smtClean="0">
                          <a:solidFill>
                            <a:srgbClr val="FF0000"/>
                          </a:solidFill>
                          <a:latin typeface="Cambria Math" panose="02040503050406030204" pitchFamily="18" charset="0"/>
                          <a:ea typeface="Cambria Math" panose="02040503050406030204" pitchFamily="18" charset="0"/>
                        </a:rPr>
                        <m:t>𝒅</m:t>
                      </m:r>
                      <m:r>
                        <a:rPr lang="en-US" altLang="zh-CN" sz="2000" b="1" i="1" smtClean="0">
                          <a:solidFill>
                            <a:srgbClr val="FF0000"/>
                          </a:solidFill>
                          <a:latin typeface="Cambria Math" panose="02040503050406030204" pitchFamily="18" charset="0"/>
                          <a:ea typeface="Cambria Math" panose="02040503050406030204" pitchFamily="18" charset="0"/>
                        </a:rPr>
                        <m:t>∙∆</m:t>
                      </m:r>
                      <m:r>
                        <a:rPr lang="en-US" altLang="zh-CN" sz="2000" b="1" i="1">
                          <a:solidFill>
                            <a:srgbClr val="FF0000"/>
                          </a:solidFill>
                          <a:latin typeface="Cambria Math" panose="02040503050406030204" pitchFamily="18" charset="0"/>
                          <a:ea typeface="Cambria Math" panose="02040503050406030204" pitchFamily="18" charset="0"/>
                        </a:rPr>
                        <m:t>𝒕</m:t>
                      </m:r>
                      <m:r>
                        <a:rPr lang="en-US" altLang="zh-CN" sz="2000" b="1" i="1" smtClean="0">
                          <a:solidFill>
                            <a:srgbClr val="FF0000"/>
                          </a:solidFill>
                          <a:latin typeface="Cambria Math" panose="02040503050406030204" pitchFamily="18" charset="0"/>
                          <a:ea typeface="Cambria Math" panose="02040503050406030204" pitchFamily="18" charset="0"/>
                        </a:rPr>
                        <m:t>+</m:t>
                      </m:r>
                      <m:f>
                        <m:fPr>
                          <m:ctrlPr>
                            <a:rPr lang="en-US" altLang="zh-CN" sz="2000" b="1" i="1" smtClean="0">
                              <a:solidFill>
                                <a:srgbClr val="FF0000"/>
                              </a:solidFill>
                              <a:latin typeface="Cambria Math" panose="02040503050406030204" pitchFamily="18" charset="0"/>
                              <a:ea typeface="Cambria Math" panose="02040503050406030204" pitchFamily="18" charset="0"/>
                            </a:rPr>
                          </m:ctrlPr>
                        </m:fPr>
                        <m:num>
                          <m:r>
                            <a:rPr lang="en-US" altLang="zh-CN" sz="2000" b="1" i="1" smtClean="0">
                              <a:solidFill>
                                <a:srgbClr val="FF0000"/>
                              </a:solidFill>
                              <a:latin typeface="Cambria Math" panose="02040503050406030204" pitchFamily="18" charset="0"/>
                              <a:ea typeface="Cambria Math" panose="02040503050406030204" pitchFamily="18" charset="0"/>
                            </a:rPr>
                            <m:t>𝒏</m:t>
                          </m:r>
                          <m:r>
                            <a:rPr lang="en-US" altLang="zh-CN" sz="2000" b="1" i="1" smtClean="0">
                              <a:solidFill>
                                <a:srgbClr val="FF0000"/>
                              </a:solidFill>
                              <a:latin typeface="Cambria Math" panose="02040503050406030204" pitchFamily="18" charset="0"/>
                              <a:ea typeface="Cambria Math" panose="02040503050406030204" pitchFamily="18" charset="0"/>
                            </a:rPr>
                            <m:t>−</m:t>
                          </m:r>
                          <m:r>
                            <a:rPr lang="en-US" altLang="zh-CN" sz="2000" b="1" i="1" smtClean="0">
                              <a:solidFill>
                                <a:srgbClr val="FF0000"/>
                              </a:solidFill>
                              <a:latin typeface="Cambria Math" panose="02040503050406030204" pitchFamily="18" charset="0"/>
                              <a:ea typeface="Cambria Math" panose="02040503050406030204" pitchFamily="18" charset="0"/>
                            </a:rPr>
                            <m:t>𝒎</m:t>
                          </m:r>
                        </m:num>
                        <m:den>
                          <m:r>
                            <a:rPr lang="en-US" altLang="zh-CN" sz="2000" b="1" i="1" smtClean="0">
                              <a:solidFill>
                                <a:srgbClr val="FF0000"/>
                              </a:solidFill>
                              <a:latin typeface="Cambria Math" panose="02040503050406030204" pitchFamily="18" charset="0"/>
                              <a:ea typeface="Cambria Math" panose="02040503050406030204" pitchFamily="18" charset="0"/>
                            </a:rPr>
                            <m:t>𝒎</m:t>
                          </m:r>
                        </m:den>
                      </m:f>
                      <m:r>
                        <a:rPr lang="en-US" altLang="zh-CN" sz="2000" b="1" i="1" smtClean="0">
                          <a:solidFill>
                            <a:srgbClr val="FF0000"/>
                          </a:solidFill>
                          <a:latin typeface="Cambria Math" panose="02040503050406030204" pitchFamily="18" charset="0"/>
                          <a:ea typeface="Cambria Math" panose="02040503050406030204" pitchFamily="18" charset="0"/>
                        </a:rPr>
                        <m:t>∆</m:t>
                      </m:r>
                      <m:r>
                        <a:rPr lang="en-US" altLang="zh-CN" sz="2000" b="1" i="1" smtClean="0">
                          <a:solidFill>
                            <a:srgbClr val="FF0000"/>
                          </a:solidFill>
                          <a:latin typeface="Cambria Math" panose="02040503050406030204" pitchFamily="18" charset="0"/>
                          <a:ea typeface="Cambria Math" panose="02040503050406030204" pitchFamily="18" charset="0"/>
                        </a:rPr>
                        <m:t>𝒕</m:t>
                      </m:r>
                    </m:oMath>
                  </m:oMathPara>
                </a14:m>
                <a:endParaRPr lang="zh-CN" altLang="en-US" sz="2000" b="1" dirty="0">
                  <a:solidFill>
                    <a:srgbClr val="FF0000"/>
                  </a:solidFill>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3425698" y="6199006"/>
                <a:ext cx="3262490" cy="623889"/>
              </a:xfrm>
              <a:prstGeom prst="rect">
                <a:avLst/>
              </a:prstGeom>
              <a:blipFill>
                <a:blip r:embed="rId3"/>
                <a:stretch>
                  <a:fillRect/>
                </a:stretch>
              </a:blipFill>
            </p:spPr>
            <p:txBody>
              <a:bodyPr/>
              <a:lstStyle/>
              <a:p>
                <a:r>
                  <a:rPr lang="zh-CN" altLang="en-US">
                    <a:noFill/>
                  </a:rPr>
                  <a:t> </a:t>
                </a:r>
              </a:p>
            </p:txBody>
          </p:sp>
        </mc:Fallback>
      </mc:AlternateContent>
      <p:pic>
        <p:nvPicPr>
          <p:cNvPr id="4" name="图片 3"/>
          <p:cNvPicPr>
            <a:picLocks noChangeAspect="1"/>
          </p:cNvPicPr>
          <p:nvPr/>
        </p:nvPicPr>
        <p:blipFill>
          <a:blip r:embed="rId4"/>
          <a:stretch>
            <a:fillRect/>
          </a:stretch>
        </p:blipFill>
        <p:spPr>
          <a:xfrm>
            <a:off x="6784123" y="976566"/>
            <a:ext cx="4640849" cy="5113336"/>
          </a:xfrm>
          <a:prstGeom prst="rect">
            <a:avLst/>
          </a:prstGeom>
        </p:spPr>
      </p:pic>
      <p:sp>
        <p:nvSpPr>
          <p:cNvPr id="5" name="矩形 4"/>
          <p:cNvSpPr/>
          <p:nvPr/>
        </p:nvSpPr>
        <p:spPr>
          <a:xfrm>
            <a:off x="3091195" y="5373212"/>
            <a:ext cx="1418978" cy="461665"/>
          </a:xfrm>
          <a:prstGeom prst="rect">
            <a:avLst/>
          </a:prstGeom>
        </p:spPr>
        <p:txBody>
          <a:bodyPr wrap="none">
            <a:spAutoFit/>
          </a:bodyPr>
          <a:lstStyle/>
          <a:p>
            <a:r>
              <a:rPr lang="zh-CN" altLang="en-US" sz="2400" b="1" dirty="0">
                <a:solidFill>
                  <a:srgbClr val="FF0000"/>
                </a:solidFill>
                <a:latin typeface="宋体" panose="02010600030101010101" pitchFamily="2" charset="-122"/>
                <a:ea typeface="宋体" panose="02010600030101010101" pitchFamily="2" charset="-122"/>
              </a:rPr>
              <a:t>部件</a:t>
            </a:r>
            <a:r>
              <a:rPr lang="zh-CN" altLang="en-US" sz="2400" dirty="0">
                <a:solidFill>
                  <a:srgbClr val="1D528D"/>
                </a:solidFill>
                <a:latin typeface="宋体" panose="02010600030101010101" pitchFamily="2" charset="-122"/>
                <a:ea typeface="宋体" panose="02010600030101010101" pitchFamily="2" charset="-122"/>
              </a:rPr>
              <a:t>重复</a:t>
            </a:r>
            <a:endParaRPr lang="zh-CN" altLang="en-US" dirty="0"/>
          </a:p>
        </p:txBody>
      </p:sp>
      <p:cxnSp>
        <p:nvCxnSpPr>
          <p:cNvPr id="3" name="直接连接符 2"/>
          <p:cNvCxnSpPr/>
          <p:nvPr/>
        </p:nvCxnSpPr>
        <p:spPr bwMode="auto">
          <a:xfrm>
            <a:off x="9283273" y="838337"/>
            <a:ext cx="10631" cy="5113336"/>
          </a:xfrm>
          <a:prstGeom prst="line">
            <a:avLst/>
          </a:prstGeom>
          <a:gradFill rotWithShape="1">
            <a:gsLst>
              <a:gs pos="0">
                <a:schemeClr val="accent1"/>
              </a:gs>
              <a:gs pos="100000">
                <a:schemeClr val="accent1">
                  <a:gamma/>
                  <a:shade val="46275"/>
                  <a:invGamma/>
                </a:schemeClr>
              </a:gs>
            </a:gsLst>
            <a:lin ang="0" scaled="1"/>
          </a:gradFill>
          <a:ln w="38100" cap="flat" cmpd="sng" algn="ctr">
            <a:solidFill>
              <a:srgbClr val="FF0000"/>
            </a:solidFill>
            <a:prstDash val="dashDot"/>
            <a:round/>
            <a:headEnd type="none" w="med" len="med"/>
            <a:tailEnd type="none" w="med" len="med"/>
          </a:ln>
          <a:effectLst>
            <a:outerShdw dist="109250" dir="3267739" algn="ctr" rotWithShape="0">
              <a:schemeClr val="bg1">
                <a:alpha val="50000"/>
              </a:schemeClr>
            </a:outerShdw>
          </a:effectLst>
        </p:spPr>
      </p:cxnSp>
      <mc:AlternateContent xmlns:mc="http://schemas.openxmlformats.org/markup-compatibility/2006" xmlns:a14="http://schemas.microsoft.com/office/drawing/2010/main">
        <mc:Choice Requires="a14">
          <p:sp>
            <p:nvSpPr>
              <p:cNvPr id="10" name="文本框 9"/>
              <p:cNvSpPr txBox="1"/>
              <p:nvPr/>
            </p:nvSpPr>
            <p:spPr>
              <a:xfrm>
                <a:off x="9487874" y="889173"/>
                <a:ext cx="988827" cy="517578"/>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
                        <m:fPr>
                          <m:ctrlPr>
                            <a:rPr lang="en-US" altLang="zh-CN" sz="1600" b="1" i="1">
                              <a:solidFill>
                                <a:srgbClr val="FF0000"/>
                              </a:solidFill>
                              <a:latin typeface="Cambria Math" panose="02040503050406030204" pitchFamily="18" charset="0"/>
                              <a:ea typeface="Cambria Math" panose="02040503050406030204" pitchFamily="18" charset="0"/>
                            </a:rPr>
                          </m:ctrlPr>
                        </m:fPr>
                        <m:num>
                          <m:r>
                            <a:rPr lang="en-US" altLang="zh-CN" sz="1600" b="1" i="1">
                              <a:solidFill>
                                <a:srgbClr val="FF0000"/>
                              </a:solidFill>
                              <a:latin typeface="Cambria Math" panose="02040503050406030204" pitchFamily="18" charset="0"/>
                              <a:ea typeface="Cambria Math" panose="02040503050406030204" pitchFamily="18" charset="0"/>
                            </a:rPr>
                            <m:t>𝒏</m:t>
                          </m:r>
                          <m:r>
                            <a:rPr lang="en-US" altLang="zh-CN" sz="1600" b="1" i="1">
                              <a:solidFill>
                                <a:srgbClr val="FF0000"/>
                              </a:solidFill>
                              <a:latin typeface="Cambria Math" panose="02040503050406030204" pitchFamily="18" charset="0"/>
                              <a:ea typeface="Cambria Math" panose="02040503050406030204" pitchFamily="18" charset="0"/>
                            </a:rPr>
                            <m:t>−</m:t>
                          </m:r>
                          <m:r>
                            <a:rPr lang="en-US" altLang="zh-CN" sz="1600" b="1" i="1">
                              <a:solidFill>
                                <a:srgbClr val="FF0000"/>
                              </a:solidFill>
                              <a:latin typeface="Cambria Math" panose="02040503050406030204" pitchFamily="18" charset="0"/>
                              <a:ea typeface="Cambria Math" panose="02040503050406030204" pitchFamily="18" charset="0"/>
                            </a:rPr>
                            <m:t>𝒎</m:t>
                          </m:r>
                        </m:num>
                        <m:den>
                          <m:r>
                            <a:rPr lang="en-US" altLang="zh-CN" sz="1600" b="1" i="1">
                              <a:solidFill>
                                <a:srgbClr val="FF0000"/>
                              </a:solidFill>
                              <a:latin typeface="Cambria Math" panose="02040503050406030204" pitchFamily="18" charset="0"/>
                              <a:ea typeface="Cambria Math" panose="02040503050406030204" pitchFamily="18" charset="0"/>
                            </a:rPr>
                            <m:t>𝒎</m:t>
                          </m:r>
                        </m:den>
                      </m:f>
                      <m:r>
                        <a:rPr lang="en-US" altLang="zh-CN" sz="1600" b="1" i="1">
                          <a:solidFill>
                            <a:srgbClr val="FF0000"/>
                          </a:solidFill>
                          <a:latin typeface="Cambria Math" panose="02040503050406030204" pitchFamily="18" charset="0"/>
                          <a:ea typeface="Cambria Math" panose="02040503050406030204" pitchFamily="18" charset="0"/>
                        </a:rPr>
                        <m:t>∆</m:t>
                      </m:r>
                      <m:r>
                        <a:rPr lang="en-US" altLang="zh-CN" sz="1600" b="1" i="1">
                          <a:solidFill>
                            <a:srgbClr val="FF0000"/>
                          </a:solidFill>
                          <a:latin typeface="Cambria Math" panose="02040503050406030204" pitchFamily="18" charset="0"/>
                          <a:ea typeface="Cambria Math" panose="02040503050406030204" pitchFamily="18" charset="0"/>
                        </a:rPr>
                        <m:t>𝒕</m:t>
                      </m:r>
                    </m:oMath>
                  </m:oMathPara>
                </a14:m>
                <a:endParaRPr lang="zh-CN" altLang="en-US" sz="1600" b="1" dirty="0">
                  <a:solidFill>
                    <a:srgbClr val="FF0000"/>
                  </a:solidFill>
                </a:endParaRPr>
              </a:p>
            </p:txBody>
          </p:sp>
        </mc:Choice>
        <mc:Fallback xmlns="">
          <p:sp>
            <p:nvSpPr>
              <p:cNvPr id="10" name="文本框 9"/>
              <p:cNvSpPr txBox="1">
                <a:spLocks noRot="1" noChangeAspect="1" noMove="1" noResize="1" noEditPoints="1" noAdjustHandles="1" noChangeArrowheads="1" noChangeShapeType="1" noTextEdit="1"/>
              </p:cNvSpPr>
              <p:nvPr/>
            </p:nvSpPr>
            <p:spPr>
              <a:xfrm>
                <a:off x="9487874" y="889173"/>
                <a:ext cx="988827" cy="517578"/>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8289084" y="963296"/>
                <a:ext cx="80021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1" i="1">
                          <a:solidFill>
                            <a:srgbClr val="FF0000"/>
                          </a:solidFill>
                          <a:latin typeface="Cambria Math" panose="02040503050406030204" pitchFamily="18" charset="0"/>
                          <a:ea typeface="Cambria Math" panose="02040503050406030204" pitchFamily="18" charset="0"/>
                        </a:rPr>
                        <m:t>𝒅</m:t>
                      </m:r>
                      <m:r>
                        <a:rPr lang="en-US" altLang="zh-CN" b="1" i="1">
                          <a:solidFill>
                            <a:srgbClr val="FF0000"/>
                          </a:solidFill>
                          <a:latin typeface="Cambria Math" panose="02040503050406030204" pitchFamily="18" charset="0"/>
                          <a:ea typeface="Cambria Math" panose="02040503050406030204" pitchFamily="18" charset="0"/>
                        </a:rPr>
                        <m:t>∙∆</m:t>
                      </m:r>
                      <m:r>
                        <a:rPr lang="en-US" altLang="zh-CN" b="1" i="1">
                          <a:solidFill>
                            <a:srgbClr val="FF0000"/>
                          </a:solidFill>
                          <a:latin typeface="Cambria Math" panose="02040503050406030204" pitchFamily="18" charset="0"/>
                          <a:ea typeface="Cambria Math" panose="02040503050406030204" pitchFamily="18" charset="0"/>
                        </a:rPr>
                        <m:t>𝒕</m:t>
                      </m:r>
                    </m:oMath>
                  </m:oMathPara>
                </a14:m>
                <a:endParaRPr lang="zh-CN" altLang="en-US" dirty="0"/>
              </a:p>
            </p:txBody>
          </p:sp>
        </mc:Choice>
        <mc:Fallback xmlns="">
          <p:sp>
            <p:nvSpPr>
              <p:cNvPr id="11" name="矩形 10"/>
              <p:cNvSpPr>
                <a:spLocks noRot="1" noChangeAspect="1" noMove="1" noResize="1" noEditPoints="1" noAdjustHandles="1" noChangeArrowheads="1" noChangeShapeType="1" noTextEdit="1"/>
              </p:cNvSpPr>
              <p:nvPr/>
            </p:nvSpPr>
            <p:spPr>
              <a:xfrm>
                <a:off x="8289084" y="963296"/>
                <a:ext cx="800219" cy="369332"/>
              </a:xfrm>
              <a:prstGeom prst="rect">
                <a:avLst/>
              </a:prstGeom>
              <a:blipFill>
                <a:blip r:embed="rId6"/>
                <a:stretch>
                  <a:fillRect/>
                </a:stretch>
              </a:blipFill>
            </p:spPr>
            <p:txBody>
              <a:bodyPr/>
              <a:lstStyle/>
              <a:p>
                <a:r>
                  <a:rPr lang="zh-CN" altLang="en-US">
                    <a:noFill/>
                  </a:rPr>
                  <a:t> </a:t>
                </a:r>
              </a:p>
            </p:txBody>
          </p:sp>
        </mc:Fallback>
      </mc:AlternateContent>
      <p:grpSp>
        <p:nvGrpSpPr>
          <p:cNvPr id="13" name="组合 12"/>
          <p:cNvGrpSpPr/>
          <p:nvPr/>
        </p:nvGrpSpPr>
        <p:grpSpPr>
          <a:xfrm>
            <a:off x="265635" y="269251"/>
            <a:ext cx="438352" cy="621987"/>
            <a:chOff x="265635" y="269251"/>
            <a:chExt cx="438352" cy="621987"/>
          </a:xfrm>
        </p:grpSpPr>
        <p:sp>
          <p:nvSpPr>
            <p:cNvPr id="14"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5"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6"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Tree>
    <p:extLst>
      <p:ext uri="{BB962C8B-B14F-4D97-AF65-F5344CB8AC3E}">
        <p14:creationId xmlns:p14="http://schemas.microsoft.com/office/powerpoint/2010/main" val="1897006046"/>
      </p:ext>
    </p:extLst>
  </p:cSld>
  <p:clrMapOvr>
    <a:masterClrMapping/>
  </p:clrMapOvr>
  <mc:AlternateContent xmlns:mc="http://schemas.openxmlformats.org/markup-compatibility/2006" xmlns:p14="http://schemas.microsoft.com/office/powerpoint/2010/main">
    <mc:Choice Requires="p14">
      <p:transition spd="slow">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2" presetClass="emph" presetSubtype="0" fill="hold" grpId="0" nodeType="clickEffect">
                                  <p:stCondLst>
                                    <p:cond delay="0"/>
                                  </p:stCondLst>
                                  <p:childTnLst>
                                    <p:animRot by="120000">
                                      <p:cBhvr>
                                        <p:cTn id="13" dur="100" fill="hold">
                                          <p:stCondLst>
                                            <p:cond delay="0"/>
                                          </p:stCondLst>
                                        </p:cTn>
                                        <p:tgtEl>
                                          <p:spTgt spid="9"/>
                                        </p:tgtEl>
                                        <p:attrNameLst>
                                          <p:attrName>r</p:attrName>
                                        </p:attrNameLst>
                                      </p:cBhvr>
                                    </p:animRot>
                                    <p:animRot by="-240000">
                                      <p:cBhvr>
                                        <p:cTn id="14" dur="200" fill="hold">
                                          <p:stCondLst>
                                            <p:cond delay="200"/>
                                          </p:stCondLst>
                                        </p:cTn>
                                        <p:tgtEl>
                                          <p:spTgt spid="9"/>
                                        </p:tgtEl>
                                        <p:attrNameLst>
                                          <p:attrName>r</p:attrName>
                                        </p:attrNameLst>
                                      </p:cBhvr>
                                    </p:animRot>
                                    <p:animRot by="240000">
                                      <p:cBhvr>
                                        <p:cTn id="15" dur="200" fill="hold">
                                          <p:stCondLst>
                                            <p:cond delay="400"/>
                                          </p:stCondLst>
                                        </p:cTn>
                                        <p:tgtEl>
                                          <p:spTgt spid="9"/>
                                        </p:tgtEl>
                                        <p:attrNameLst>
                                          <p:attrName>r</p:attrName>
                                        </p:attrNameLst>
                                      </p:cBhvr>
                                    </p:animRot>
                                    <p:animRot by="-240000">
                                      <p:cBhvr>
                                        <p:cTn id="16" dur="200" fill="hold">
                                          <p:stCondLst>
                                            <p:cond delay="600"/>
                                          </p:stCondLst>
                                        </p:cTn>
                                        <p:tgtEl>
                                          <p:spTgt spid="9"/>
                                        </p:tgtEl>
                                        <p:attrNameLst>
                                          <p:attrName>r</p:attrName>
                                        </p:attrNameLst>
                                      </p:cBhvr>
                                    </p:animRot>
                                    <p:animRot by="120000">
                                      <p:cBhvr>
                                        <p:cTn id="17" dur="200" fill="hold">
                                          <p:stCondLst>
                                            <p:cond delay="800"/>
                                          </p:stCondLst>
                                        </p:cTn>
                                        <p:tgtEl>
                                          <p:spTgt spid="9"/>
                                        </p:tgtEl>
                                        <p:attrNameLst>
                                          <p:attrName>r</p:attrName>
                                        </p:attrNameLst>
                                      </p:cBhvr>
                                    </p:animRo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1000"/>
                                        <p:tgtEl>
                                          <p:spTgt spid="11"/>
                                        </p:tgtEl>
                                      </p:cBhvr>
                                    </p:animEffect>
                                    <p:anim calcmode="lin" valueType="num">
                                      <p:cBhvr>
                                        <p:cTn id="23" dur="1000" fill="hold"/>
                                        <p:tgtEl>
                                          <p:spTgt spid="11"/>
                                        </p:tgtEl>
                                        <p:attrNameLst>
                                          <p:attrName>ppt_x</p:attrName>
                                        </p:attrNameLst>
                                      </p:cBhvr>
                                      <p:tavLst>
                                        <p:tav tm="0">
                                          <p:val>
                                            <p:strVal val="#ppt_x"/>
                                          </p:val>
                                        </p:tav>
                                        <p:tav tm="100000">
                                          <p:val>
                                            <p:strVal val="#ppt_x"/>
                                          </p:val>
                                        </p:tav>
                                      </p:tavLst>
                                    </p:anim>
                                    <p:anim calcmode="lin" valueType="num">
                                      <p:cBhvr>
                                        <p:cTn id="2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1000"/>
                                        <p:tgtEl>
                                          <p:spTgt spid="10"/>
                                        </p:tgtEl>
                                      </p:cBhvr>
                                    </p:animEffect>
                                    <p:anim calcmode="lin" valueType="num">
                                      <p:cBhvr>
                                        <p:cTn id="30" dur="1000" fill="hold"/>
                                        <p:tgtEl>
                                          <p:spTgt spid="10"/>
                                        </p:tgtEl>
                                        <p:attrNameLst>
                                          <p:attrName>ppt_x</p:attrName>
                                        </p:attrNameLst>
                                      </p:cBhvr>
                                      <p:tavLst>
                                        <p:tav tm="0">
                                          <p:val>
                                            <p:strVal val="#ppt_x"/>
                                          </p:val>
                                        </p:tav>
                                        <p:tav tm="100000">
                                          <p:val>
                                            <p:strVal val="#ppt_x"/>
                                          </p:val>
                                        </p:tav>
                                      </p:tavLst>
                                    </p:anim>
                                    <p:anim calcmode="lin" valueType="num">
                                      <p:cBhvr>
                                        <p:cTn id="3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5" grpId="0"/>
      <p:bldP spid="10" grpId="0"/>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265635" y="269251"/>
            <a:ext cx="438352" cy="621987"/>
            <a:chOff x="265635" y="269251"/>
            <a:chExt cx="438352" cy="621987"/>
          </a:xfrm>
        </p:grpSpPr>
        <p:sp>
          <p:nvSpPr>
            <p:cNvPr id="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
        <p:nvSpPr>
          <p:cNvPr id="11" name="椭圆 10"/>
          <p:cNvSpPr/>
          <p:nvPr/>
        </p:nvSpPr>
        <p:spPr bwMode="auto">
          <a:xfrm>
            <a:off x="395955" y="2973773"/>
            <a:ext cx="1680733" cy="1680733"/>
          </a:xfrm>
          <a:prstGeom prst="ellipse">
            <a:avLst/>
          </a:prstGeom>
          <a:solidFill>
            <a:srgbClr val="04BEB0"/>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endParaRPr lang="zh-CN" altLang="en-US" sz="1699"/>
          </a:p>
        </p:txBody>
      </p:sp>
      <p:sp>
        <p:nvSpPr>
          <p:cNvPr id="8" name="Freeform 5"/>
          <p:cNvSpPr>
            <a:spLocks noEditPoints="1"/>
          </p:cNvSpPr>
          <p:nvPr/>
        </p:nvSpPr>
        <p:spPr bwMode="auto">
          <a:xfrm>
            <a:off x="751614" y="3260130"/>
            <a:ext cx="969414" cy="1108018"/>
          </a:xfrm>
          <a:custGeom>
            <a:avLst/>
            <a:gdLst>
              <a:gd name="T0" fmla="*/ 1232 w 1933"/>
              <a:gd name="T1" fmla="*/ 274 h 2183"/>
              <a:gd name="T2" fmla="*/ 958 w 1933"/>
              <a:gd name="T3" fmla="*/ 547 h 2183"/>
              <a:gd name="T4" fmla="*/ 684 w 1933"/>
              <a:gd name="T5" fmla="*/ 547 h 2183"/>
              <a:gd name="T6" fmla="*/ 411 w 1933"/>
              <a:gd name="T7" fmla="*/ 274 h 2183"/>
              <a:gd name="T8" fmla="*/ 684 w 1933"/>
              <a:gd name="T9" fmla="*/ 0 h 2183"/>
              <a:gd name="T10" fmla="*/ 958 w 1933"/>
              <a:gd name="T11" fmla="*/ 0 h 2183"/>
              <a:gd name="T12" fmla="*/ 1232 w 1933"/>
              <a:gd name="T13" fmla="*/ 274 h 2183"/>
              <a:gd name="T14" fmla="*/ 1362 w 1933"/>
              <a:gd name="T15" fmla="*/ 274 h 2183"/>
              <a:gd name="T16" fmla="*/ 1368 w 1933"/>
              <a:gd name="T17" fmla="*/ 336 h 2183"/>
              <a:gd name="T18" fmla="*/ 1026 w 1933"/>
              <a:gd name="T19" fmla="*/ 678 h 2183"/>
              <a:gd name="T20" fmla="*/ 616 w 1933"/>
              <a:gd name="T21" fmla="*/ 678 h 2183"/>
              <a:gd name="T22" fmla="*/ 274 w 1933"/>
              <a:gd name="T23" fmla="*/ 336 h 2183"/>
              <a:gd name="T24" fmla="*/ 280 w 1933"/>
              <a:gd name="T25" fmla="*/ 274 h 2183"/>
              <a:gd name="T26" fmla="*/ 0 w 1933"/>
              <a:gd name="T27" fmla="*/ 610 h 2183"/>
              <a:gd name="T28" fmla="*/ 0 w 1933"/>
              <a:gd name="T29" fmla="*/ 1841 h 2183"/>
              <a:gd name="T30" fmla="*/ 342 w 1933"/>
              <a:gd name="T31" fmla="*/ 2183 h 2183"/>
              <a:gd name="T32" fmla="*/ 1253 w 1933"/>
              <a:gd name="T33" fmla="*/ 2183 h 2183"/>
              <a:gd name="T34" fmla="*/ 881 w 1933"/>
              <a:gd name="T35" fmla="*/ 1620 h 2183"/>
              <a:gd name="T36" fmla="*/ 1492 w 1933"/>
              <a:gd name="T37" fmla="*/ 1009 h 2183"/>
              <a:gd name="T38" fmla="*/ 1642 w 1933"/>
              <a:gd name="T39" fmla="*/ 1028 h 2183"/>
              <a:gd name="T40" fmla="*/ 1642 w 1933"/>
              <a:gd name="T41" fmla="*/ 610 h 2183"/>
              <a:gd name="T42" fmla="*/ 1362 w 1933"/>
              <a:gd name="T43" fmla="*/ 274 h 2183"/>
              <a:gd name="T44" fmla="*/ 770 w 1933"/>
              <a:gd name="T45" fmla="*/ 1368 h 2183"/>
              <a:gd name="T46" fmla="*/ 770 w 1933"/>
              <a:gd name="T47" fmla="*/ 1368 h 2183"/>
              <a:gd name="T48" fmla="*/ 342 w 1933"/>
              <a:gd name="T49" fmla="*/ 1368 h 2183"/>
              <a:gd name="T50" fmla="*/ 274 w 1933"/>
              <a:gd name="T51" fmla="*/ 1300 h 2183"/>
              <a:gd name="T52" fmla="*/ 342 w 1933"/>
              <a:gd name="T53" fmla="*/ 1232 h 2183"/>
              <a:gd name="T54" fmla="*/ 770 w 1933"/>
              <a:gd name="T55" fmla="*/ 1232 h 2183"/>
              <a:gd name="T56" fmla="*/ 838 w 1933"/>
              <a:gd name="T57" fmla="*/ 1300 h 2183"/>
              <a:gd name="T58" fmla="*/ 770 w 1933"/>
              <a:gd name="T59" fmla="*/ 1368 h 2183"/>
              <a:gd name="T60" fmla="*/ 907 w 1933"/>
              <a:gd name="T61" fmla="*/ 1095 h 2183"/>
              <a:gd name="T62" fmla="*/ 907 w 1933"/>
              <a:gd name="T63" fmla="*/ 1095 h 2183"/>
              <a:gd name="T64" fmla="*/ 342 w 1933"/>
              <a:gd name="T65" fmla="*/ 1095 h 2183"/>
              <a:gd name="T66" fmla="*/ 274 w 1933"/>
              <a:gd name="T67" fmla="*/ 1026 h 2183"/>
              <a:gd name="T68" fmla="*/ 342 w 1933"/>
              <a:gd name="T69" fmla="*/ 958 h 2183"/>
              <a:gd name="T70" fmla="*/ 907 w 1933"/>
              <a:gd name="T71" fmla="*/ 958 h 2183"/>
              <a:gd name="T72" fmla="*/ 975 w 1933"/>
              <a:gd name="T73" fmla="*/ 1026 h 2183"/>
              <a:gd name="T74" fmla="*/ 907 w 1933"/>
              <a:gd name="T75" fmla="*/ 1095 h 2183"/>
              <a:gd name="T76" fmla="*/ 1605 w 1933"/>
              <a:gd name="T77" fmla="*/ 1197 h 2183"/>
              <a:gd name="T78" fmla="*/ 1497 w 1933"/>
              <a:gd name="T79" fmla="*/ 1183 h 2183"/>
              <a:gd name="T80" fmla="*/ 1060 w 1933"/>
              <a:gd name="T81" fmla="*/ 1619 h 2183"/>
              <a:gd name="T82" fmla="*/ 1405 w 1933"/>
              <a:gd name="T83" fmla="*/ 2045 h 2183"/>
              <a:gd name="T84" fmla="*/ 1497 w 1933"/>
              <a:gd name="T85" fmla="*/ 2055 h 2183"/>
              <a:gd name="T86" fmla="*/ 1933 w 1933"/>
              <a:gd name="T87" fmla="*/ 1619 h 2183"/>
              <a:gd name="T88" fmla="*/ 1605 w 1933"/>
              <a:gd name="T89" fmla="*/ 1197 h 2183"/>
              <a:gd name="T90" fmla="*/ 1743 w 1933"/>
              <a:gd name="T91" fmla="*/ 1557 h 2183"/>
              <a:gd name="T92" fmla="*/ 1743 w 1933"/>
              <a:gd name="T93" fmla="*/ 1557 h 2183"/>
              <a:gd name="T94" fmla="*/ 1605 w 1933"/>
              <a:gd name="T95" fmla="*/ 1695 h 2183"/>
              <a:gd name="T96" fmla="*/ 1497 w 1933"/>
              <a:gd name="T97" fmla="*/ 1804 h 2183"/>
              <a:gd name="T98" fmla="*/ 1373 w 1933"/>
              <a:gd name="T99" fmla="*/ 1804 h 2183"/>
              <a:gd name="T100" fmla="*/ 1250 w 1933"/>
              <a:gd name="T101" fmla="*/ 1681 h 2183"/>
              <a:gd name="T102" fmla="*/ 1250 w 1933"/>
              <a:gd name="T103" fmla="*/ 1557 h 2183"/>
              <a:gd name="T104" fmla="*/ 1373 w 1933"/>
              <a:gd name="T105" fmla="*/ 1557 h 2183"/>
              <a:gd name="T106" fmla="*/ 1435 w 1933"/>
              <a:gd name="T107" fmla="*/ 1619 h 2183"/>
              <a:gd name="T108" fmla="*/ 1605 w 1933"/>
              <a:gd name="T109" fmla="*/ 1448 h 2183"/>
              <a:gd name="T110" fmla="*/ 1620 w 1933"/>
              <a:gd name="T111" fmla="*/ 1434 h 2183"/>
              <a:gd name="T112" fmla="*/ 1743 w 1933"/>
              <a:gd name="T113" fmla="*/ 1434 h 2183"/>
              <a:gd name="T114" fmla="*/ 1743 w 1933"/>
              <a:gd name="T115" fmla="*/ 1557 h 2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933" h="2183">
                <a:moveTo>
                  <a:pt x="1232" y="274"/>
                </a:moveTo>
                <a:cubicBezTo>
                  <a:pt x="1232" y="425"/>
                  <a:pt x="1109" y="547"/>
                  <a:pt x="958" y="547"/>
                </a:cubicBezTo>
                <a:lnTo>
                  <a:pt x="684" y="547"/>
                </a:lnTo>
                <a:cubicBezTo>
                  <a:pt x="533" y="547"/>
                  <a:pt x="411" y="425"/>
                  <a:pt x="411" y="274"/>
                </a:cubicBezTo>
                <a:cubicBezTo>
                  <a:pt x="411" y="122"/>
                  <a:pt x="533" y="0"/>
                  <a:pt x="684" y="0"/>
                </a:cubicBezTo>
                <a:lnTo>
                  <a:pt x="958" y="0"/>
                </a:lnTo>
                <a:cubicBezTo>
                  <a:pt x="1109" y="0"/>
                  <a:pt x="1232" y="122"/>
                  <a:pt x="1232" y="274"/>
                </a:cubicBezTo>
                <a:close/>
                <a:moveTo>
                  <a:pt x="1362" y="274"/>
                </a:moveTo>
                <a:cubicBezTo>
                  <a:pt x="1366" y="294"/>
                  <a:pt x="1368" y="315"/>
                  <a:pt x="1368" y="336"/>
                </a:cubicBezTo>
                <a:cubicBezTo>
                  <a:pt x="1368" y="525"/>
                  <a:pt x="1215" y="678"/>
                  <a:pt x="1026" y="678"/>
                </a:cubicBezTo>
                <a:lnTo>
                  <a:pt x="616" y="678"/>
                </a:lnTo>
                <a:cubicBezTo>
                  <a:pt x="427" y="678"/>
                  <a:pt x="274" y="525"/>
                  <a:pt x="274" y="336"/>
                </a:cubicBezTo>
                <a:cubicBezTo>
                  <a:pt x="274" y="315"/>
                  <a:pt x="276" y="294"/>
                  <a:pt x="280" y="274"/>
                </a:cubicBezTo>
                <a:cubicBezTo>
                  <a:pt x="121" y="303"/>
                  <a:pt x="0" y="442"/>
                  <a:pt x="0" y="610"/>
                </a:cubicBezTo>
                <a:lnTo>
                  <a:pt x="0" y="1841"/>
                </a:lnTo>
                <a:cubicBezTo>
                  <a:pt x="0" y="2030"/>
                  <a:pt x="153" y="2183"/>
                  <a:pt x="342" y="2183"/>
                </a:cubicBezTo>
                <a:lnTo>
                  <a:pt x="1253" y="2183"/>
                </a:lnTo>
                <a:cubicBezTo>
                  <a:pt x="1034" y="2090"/>
                  <a:pt x="881" y="1873"/>
                  <a:pt x="881" y="1620"/>
                </a:cubicBezTo>
                <a:cubicBezTo>
                  <a:pt x="881" y="1283"/>
                  <a:pt x="1155" y="1009"/>
                  <a:pt x="1492" y="1009"/>
                </a:cubicBezTo>
                <a:cubicBezTo>
                  <a:pt x="1544" y="1009"/>
                  <a:pt x="1594" y="1016"/>
                  <a:pt x="1642" y="1028"/>
                </a:cubicBezTo>
                <a:lnTo>
                  <a:pt x="1642" y="610"/>
                </a:lnTo>
                <a:cubicBezTo>
                  <a:pt x="1642" y="442"/>
                  <a:pt x="1521" y="303"/>
                  <a:pt x="1362" y="274"/>
                </a:cubicBezTo>
                <a:close/>
                <a:moveTo>
                  <a:pt x="770" y="1368"/>
                </a:moveTo>
                <a:lnTo>
                  <a:pt x="770" y="1368"/>
                </a:lnTo>
                <a:lnTo>
                  <a:pt x="342" y="1368"/>
                </a:lnTo>
                <a:cubicBezTo>
                  <a:pt x="304" y="1368"/>
                  <a:pt x="274" y="1338"/>
                  <a:pt x="274" y="1300"/>
                </a:cubicBezTo>
                <a:cubicBezTo>
                  <a:pt x="274" y="1262"/>
                  <a:pt x="304" y="1232"/>
                  <a:pt x="342" y="1232"/>
                </a:cubicBezTo>
                <a:lnTo>
                  <a:pt x="770" y="1232"/>
                </a:lnTo>
                <a:cubicBezTo>
                  <a:pt x="807" y="1232"/>
                  <a:pt x="838" y="1262"/>
                  <a:pt x="838" y="1300"/>
                </a:cubicBezTo>
                <a:cubicBezTo>
                  <a:pt x="838" y="1338"/>
                  <a:pt x="807" y="1368"/>
                  <a:pt x="770" y="1368"/>
                </a:cubicBezTo>
                <a:close/>
                <a:moveTo>
                  <a:pt x="907" y="1095"/>
                </a:moveTo>
                <a:lnTo>
                  <a:pt x="907" y="1095"/>
                </a:lnTo>
                <a:lnTo>
                  <a:pt x="342" y="1095"/>
                </a:lnTo>
                <a:cubicBezTo>
                  <a:pt x="304" y="1095"/>
                  <a:pt x="274" y="1064"/>
                  <a:pt x="274" y="1026"/>
                </a:cubicBezTo>
                <a:cubicBezTo>
                  <a:pt x="274" y="988"/>
                  <a:pt x="304" y="958"/>
                  <a:pt x="342" y="958"/>
                </a:cubicBezTo>
                <a:lnTo>
                  <a:pt x="907" y="958"/>
                </a:lnTo>
                <a:cubicBezTo>
                  <a:pt x="944" y="958"/>
                  <a:pt x="975" y="988"/>
                  <a:pt x="975" y="1026"/>
                </a:cubicBezTo>
                <a:cubicBezTo>
                  <a:pt x="975" y="1064"/>
                  <a:pt x="944" y="1095"/>
                  <a:pt x="907" y="1095"/>
                </a:cubicBezTo>
                <a:close/>
                <a:moveTo>
                  <a:pt x="1605" y="1197"/>
                </a:moveTo>
                <a:cubicBezTo>
                  <a:pt x="1571" y="1187"/>
                  <a:pt x="1534" y="1183"/>
                  <a:pt x="1497" y="1183"/>
                </a:cubicBezTo>
                <a:cubicBezTo>
                  <a:pt x="1256" y="1183"/>
                  <a:pt x="1060" y="1378"/>
                  <a:pt x="1060" y="1619"/>
                </a:cubicBezTo>
                <a:cubicBezTo>
                  <a:pt x="1060" y="1828"/>
                  <a:pt x="1208" y="2003"/>
                  <a:pt x="1405" y="2045"/>
                </a:cubicBezTo>
                <a:cubicBezTo>
                  <a:pt x="1434" y="2051"/>
                  <a:pt x="1465" y="2055"/>
                  <a:pt x="1497" y="2055"/>
                </a:cubicBezTo>
                <a:cubicBezTo>
                  <a:pt x="1737" y="2055"/>
                  <a:pt x="1933" y="1860"/>
                  <a:pt x="1933" y="1619"/>
                </a:cubicBezTo>
                <a:cubicBezTo>
                  <a:pt x="1933" y="1416"/>
                  <a:pt x="1794" y="1245"/>
                  <a:pt x="1605" y="1197"/>
                </a:cubicBezTo>
                <a:close/>
                <a:moveTo>
                  <a:pt x="1743" y="1557"/>
                </a:moveTo>
                <a:lnTo>
                  <a:pt x="1743" y="1557"/>
                </a:lnTo>
                <a:lnTo>
                  <a:pt x="1605" y="1695"/>
                </a:lnTo>
                <a:lnTo>
                  <a:pt x="1497" y="1804"/>
                </a:lnTo>
                <a:cubicBezTo>
                  <a:pt x="1462" y="1838"/>
                  <a:pt x="1407" y="1838"/>
                  <a:pt x="1373" y="1804"/>
                </a:cubicBezTo>
                <a:lnTo>
                  <a:pt x="1250" y="1681"/>
                </a:lnTo>
                <a:cubicBezTo>
                  <a:pt x="1216" y="1646"/>
                  <a:pt x="1216" y="1591"/>
                  <a:pt x="1250" y="1557"/>
                </a:cubicBezTo>
                <a:cubicBezTo>
                  <a:pt x="1284" y="1523"/>
                  <a:pt x="1339" y="1523"/>
                  <a:pt x="1373" y="1557"/>
                </a:cubicBezTo>
                <a:lnTo>
                  <a:pt x="1435" y="1619"/>
                </a:lnTo>
                <a:lnTo>
                  <a:pt x="1605" y="1448"/>
                </a:lnTo>
                <a:lnTo>
                  <a:pt x="1620" y="1434"/>
                </a:lnTo>
                <a:cubicBezTo>
                  <a:pt x="1654" y="1400"/>
                  <a:pt x="1709" y="1400"/>
                  <a:pt x="1743" y="1434"/>
                </a:cubicBezTo>
                <a:cubicBezTo>
                  <a:pt x="1777" y="1468"/>
                  <a:pt x="1777" y="1523"/>
                  <a:pt x="1743" y="1557"/>
                </a:cubicBezTo>
                <a:close/>
              </a:path>
            </a:pathLst>
          </a:custGeom>
          <a:solidFill>
            <a:schemeClr val="bg1"/>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30" name="椭圆 29"/>
          <p:cNvSpPr>
            <a:spLocks noChangeAspect="1"/>
          </p:cNvSpPr>
          <p:nvPr/>
        </p:nvSpPr>
        <p:spPr bwMode="auto">
          <a:xfrm>
            <a:off x="2432347" y="1571838"/>
            <a:ext cx="417437" cy="417437"/>
          </a:xfrm>
          <a:prstGeom prst="ellipse">
            <a:avLst/>
          </a:prstGeom>
          <a:solidFill>
            <a:srgbClr val="92D050"/>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r>
              <a:rPr lang="en-US" altLang="zh-CN" sz="1599" b="1" dirty="0">
                <a:solidFill>
                  <a:schemeClr val="bg1"/>
                </a:solidFill>
                <a:latin typeface="+mn-ea"/>
              </a:rPr>
              <a:t>1</a:t>
            </a:r>
            <a:endParaRPr lang="zh-CN" altLang="en-US" sz="1599" b="1" dirty="0">
              <a:solidFill>
                <a:schemeClr val="bg1"/>
              </a:solidFill>
              <a:latin typeface="+mn-ea"/>
            </a:endParaRPr>
          </a:p>
        </p:txBody>
      </p:sp>
      <p:sp>
        <p:nvSpPr>
          <p:cNvPr id="32" name="椭圆 31"/>
          <p:cNvSpPr>
            <a:spLocks noChangeAspect="1"/>
          </p:cNvSpPr>
          <p:nvPr/>
        </p:nvSpPr>
        <p:spPr bwMode="auto">
          <a:xfrm>
            <a:off x="2432347" y="2556336"/>
            <a:ext cx="417437" cy="417437"/>
          </a:xfrm>
          <a:prstGeom prst="ellipse">
            <a:avLst/>
          </a:prstGeom>
          <a:solidFill>
            <a:srgbClr val="FFC000"/>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r>
              <a:rPr lang="en-US" altLang="zh-CN" sz="1599" b="1" dirty="0">
                <a:solidFill>
                  <a:schemeClr val="bg1"/>
                </a:solidFill>
                <a:latin typeface="+mn-ea"/>
              </a:rPr>
              <a:t>2</a:t>
            </a:r>
            <a:endParaRPr lang="zh-CN" altLang="en-US" sz="1599" b="1" dirty="0">
              <a:solidFill>
                <a:schemeClr val="bg1"/>
              </a:solidFill>
              <a:latin typeface="+mn-ea"/>
            </a:endParaRPr>
          </a:p>
        </p:txBody>
      </p:sp>
      <p:sp>
        <p:nvSpPr>
          <p:cNvPr id="34" name="椭圆 33"/>
          <p:cNvSpPr>
            <a:spLocks noChangeAspect="1"/>
          </p:cNvSpPr>
          <p:nvPr/>
        </p:nvSpPr>
        <p:spPr bwMode="auto">
          <a:xfrm>
            <a:off x="2432347" y="3581059"/>
            <a:ext cx="417437" cy="417437"/>
          </a:xfrm>
          <a:prstGeom prst="ellipse">
            <a:avLst/>
          </a:prstGeom>
          <a:solidFill>
            <a:srgbClr val="04B0BE"/>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r>
              <a:rPr lang="en-US" altLang="zh-CN" sz="1599" b="1" dirty="0">
                <a:solidFill>
                  <a:schemeClr val="bg1"/>
                </a:solidFill>
                <a:latin typeface="+mn-ea"/>
              </a:rPr>
              <a:t>3</a:t>
            </a:r>
            <a:endParaRPr lang="zh-CN" altLang="en-US" sz="1599" b="1" dirty="0">
              <a:solidFill>
                <a:schemeClr val="bg1"/>
              </a:solidFill>
              <a:latin typeface="+mn-ea"/>
            </a:endParaRPr>
          </a:p>
        </p:txBody>
      </p:sp>
      <p:sp>
        <p:nvSpPr>
          <p:cNvPr id="36" name="椭圆 35"/>
          <p:cNvSpPr>
            <a:spLocks noChangeAspect="1"/>
          </p:cNvSpPr>
          <p:nvPr/>
        </p:nvSpPr>
        <p:spPr bwMode="auto">
          <a:xfrm>
            <a:off x="2432347" y="4573899"/>
            <a:ext cx="417437" cy="417437"/>
          </a:xfrm>
          <a:prstGeom prst="ellipse">
            <a:avLst/>
          </a:prstGeom>
          <a:solidFill>
            <a:schemeClr val="accent6">
              <a:lumMod val="75000"/>
            </a:schemeClr>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r>
              <a:rPr lang="en-US" altLang="zh-CN" sz="1599" b="1" dirty="0">
                <a:solidFill>
                  <a:schemeClr val="bg1"/>
                </a:solidFill>
                <a:latin typeface="+mn-ea"/>
              </a:rPr>
              <a:t>4</a:t>
            </a:r>
            <a:endParaRPr lang="zh-CN" altLang="en-US" sz="1599" b="1" dirty="0">
              <a:solidFill>
                <a:schemeClr val="bg1"/>
              </a:solidFill>
              <a:latin typeface="+mn-ea"/>
            </a:endParaRPr>
          </a:p>
        </p:txBody>
      </p:sp>
      <p:sp>
        <p:nvSpPr>
          <p:cNvPr id="38" name="椭圆 37"/>
          <p:cNvSpPr>
            <a:spLocks noChangeAspect="1"/>
          </p:cNvSpPr>
          <p:nvPr/>
        </p:nvSpPr>
        <p:spPr bwMode="auto">
          <a:xfrm>
            <a:off x="2432347" y="5535221"/>
            <a:ext cx="417437" cy="417437"/>
          </a:xfrm>
          <a:prstGeom prst="ellipse">
            <a:avLst/>
          </a:prstGeom>
          <a:solidFill>
            <a:schemeClr val="accent2">
              <a:lumMod val="75000"/>
            </a:schemeClr>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r>
              <a:rPr lang="en-US" altLang="zh-CN" sz="1599" b="1" dirty="0">
                <a:solidFill>
                  <a:schemeClr val="bg1"/>
                </a:solidFill>
                <a:latin typeface="+mn-ea"/>
              </a:rPr>
              <a:t>5</a:t>
            </a:r>
            <a:endParaRPr lang="zh-CN" altLang="en-US" sz="1599" b="1" dirty="0">
              <a:solidFill>
                <a:schemeClr val="bg1"/>
              </a:solidFill>
              <a:latin typeface="+mn-ea"/>
            </a:endParaRPr>
          </a:p>
        </p:txBody>
      </p:sp>
      <p:sp>
        <p:nvSpPr>
          <p:cNvPr id="19" name="TextBox 26"/>
          <p:cNvSpPr txBox="1"/>
          <p:nvPr/>
        </p:nvSpPr>
        <p:spPr>
          <a:xfrm>
            <a:off x="14146653" y="8510121"/>
            <a:ext cx="1107996" cy="461665"/>
          </a:xfrm>
          <a:prstGeom prst="rect">
            <a:avLst/>
          </a:prstGeom>
          <a:noFill/>
        </p:spPr>
        <p:txBody>
          <a:bodyPr wrap="none" rtlCol="0">
            <a:spAutoFit/>
          </a:bodyPr>
          <a:lstStyle/>
          <a:p>
            <a:r>
              <a:rPr lang="zh-CN" altLang="en-US" sz="2400" dirty="0"/>
              <a:t>延时符</a:t>
            </a:r>
          </a:p>
        </p:txBody>
      </p:sp>
      <p:sp>
        <p:nvSpPr>
          <p:cNvPr id="2" name="矩形 1"/>
          <p:cNvSpPr/>
          <p:nvPr/>
        </p:nvSpPr>
        <p:spPr>
          <a:xfrm>
            <a:off x="875773" y="296257"/>
            <a:ext cx="3640740" cy="584775"/>
          </a:xfrm>
          <a:prstGeom prst="rect">
            <a:avLst/>
          </a:prstGeom>
        </p:spPr>
        <p:txBody>
          <a:bodyPr wrap="none">
            <a:spAutoFit/>
          </a:bodyPr>
          <a:lstStyle/>
          <a:p>
            <a:pPr marL="457200" indent="-457200">
              <a:buFont typeface="Wingdings" panose="05000000000000000000" pitchFamily="2" charset="2"/>
              <a:buChar char="u"/>
            </a:pPr>
            <a:r>
              <a:rPr lang="zh-CN" altLang="en-US" sz="3200" b="1" dirty="0">
                <a:latin typeface="微软雅黑" panose="020B0503020204020204" pitchFamily="34" charset="-122"/>
                <a:ea typeface="微软雅黑" panose="020B0503020204020204" pitchFamily="34" charset="-122"/>
              </a:rPr>
              <a:t>超流水线处理机 </a:t>
            </a:r>
          </a:p>
        </p:txBody>
      </p:sp>
      <p:sp>
        <p:nvSpPr>
          <p:cNvPr id="3" name="矩形 2"/>
          <p:cNvSpPr/>
          <p:nvPr/>
        </p:nvSpPr>
        <p:spPr>
          <a:xfrm>
            <a:off x="3019352" y="1523329"/>
            <a:ext cx="8092280" cy="523220"/>
          </a:xfrm>
          <a:prstGeom prst="rect">
            <a:avLst/>
          </a:prstGeom>
        </p:spPr>
        <p:txBody>
          <a:bodyPr wrap="none">
            <a:spAutoFit/>
          </a:bodyPr>
          <a:lstStyle/>
          <a:p>
            <a:pPr fontAlgn="base">
              <a:spcBef>
                <a:spcPct val="50000"/>
              </a:spcBef>
              <a:spcAft>
                <a:spcPct val="0"/>
              </a:spcAft>
            </a:pPr>
            <a:r>
              <a:rPr lang="zh-CN" altLang="en-US" sz="2800" b="1" dirty="0">
                <a:latin typeface="微软雅黑" panose="020B0503020204020204" pitchFamily="34" charset="-122"/>
                <a:ea typeface="微软雅黑" panose="020B0503020204020204" pitchFamily="34" charset="-122"/>
              </a:rPr>
              <a:t>设超流水线处理机的度为</a:t>
            </a:r>
            <a:r>
              <a:rPr lang="en-US" altLang="zh-CN" sz="2800" b="1" dirty="0">
                <a:latin typeface="微软雅黑" panose="020B0503020204020204" pitchFamily="34" charset="-122"/>
                <a:ea typeface="微软雅黑" panose="020B0503020204020204" pitchFamily="34" charset="-122"/>
              </a:rPr>
              <a:t>m</a:t>
            </a:r>
            <a:r>
              <a:rPr lang="zh-CN" altLang="en-US" sz="2800" b="1" dirty="0">
                <a:latin typeface="微软雅黑" panose="020B0503020204020204" pitchFamily="34" charset="-122"/>
                <a:ea typeface="微软雅黑" panose="020B0503020204020204" pitchFamily="34" charset="-122"/>
              </a:rPr>
              <a:t>，一个</a:t>
            </a:r>
            <a:r>
              <a:rPr lang="zh-CN" altLang="en-US" sz="2800" b="1" dirty="0">
                <a:solidFill>
                  <a:srgbClr val="FF0000"/>
                </a:solidFill>
                <a:latin typeface="微软雅黑" panose="020B0503020204020204" pitchFamily="34" charset="-122"/>
                <a:ea typeface="微软雅黑" panose="020B0503020204020204" pitchFamily="34" charset="-122"/>
              </a:rPr>
              <a:t>机器周期为⊿</a:t>
            </a:r>
            <a:r>
              <a:rPr lang="en-US" altLang="zh-CN" sz="2800" b="1" dirty="0">
                <a:solidFill>
                  <a:srgbClr val="FF0000"/>
                </a:solidFill>
                <a:latin typeface="微软雅黑" panose="020B0503020204020204" pitchFamily="34" charset="-122"/>
                <a:ea typeface="微软雅黑" panose="020B0503020204020204" pitchFamily="34" charset="-122"/>
              </a:rPr>
              <a:t>t</a:t>
            </a:r>
            <a:r>
              <a:rPr lang="zh-CN" altLang="en-US" sz="2800" b="1" dirty="0">
                <a:solidFill>
                  <a:srgbClr val="1D528D"/>
                </a:solidFill>
                <a:latin typeface="微软雅黑" panose="020B0503020204020204" pitchFamily="34" charset="-122"/>
                <a:ea typeface="微软雅黑" panose="020B0503020204020204" pitchFamily="34" charset="-122"/>
              </a:rPr>
              <a:t>；</a:t>
            </a:r>
            <a:endParaRPr lang="en-US" altLang="zh-CN" sz="2800" b="1" dirty="0">
              <a:solidFill>
                <a:srgbClr val="1D528D"/>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4" name="矩形 3"/>
              <p:cNvSpPr/>
              <p:nvPr/>
            </p:nvSpPr>
            <p:spPr>
              <a:xfrm>
                <a:off x="3034463" y="2321812"/>
                <a:ext cx="8607361" cy="1129540"/>
              </a:xfrm>
              <a:prstGeom prst="rect">
                <a:avLst/>
              </a:prstGeom>
            </p:spPr>
            <p:txBody>
              <a:bodyPr wrap="square">
                <a:spAutoFit/>
              </a:bodyPr>
              <a:lstStyle/>
              <a:p>
                <a:pPr fontAlgn="base">
                  <a:spcBef>
                    <a:spcPct val="50000"/>
                  </a:spcBef>
                  <a:spcAft>
                    <a:spcPct val="0"/>
                  </a:spcAft>
                </a:pPr>
                <a:r>
                  <a:rPr lang="zh-CN" altLang="en-US" sz="2800" b="1" dirty="0">
                    <a:latin typeface="微软雅黑" panose="020B0503020204020204" pitchFamily="34" charset="-122"/>
                    <a:ea typeface="微软雅黑" panose="020B0503020204020204" pitchFamily="34" charset="-122"/>
                  </a:rPr>
                  <a:t>把机器周期分为</a:t>
                </a:r>
                <a:r>
                  <a:rPr lang="en-US" altLang="zh-CN" sz="2800" b="1" dirty="0">
                    <a:latin typeface="微软雅黑" panose="020B0503020204020204" pitchFamily="34" charset="-122"/>
                    <a:ea typeface="微软雅黑" panose="020B0503020204020204" pitchFamily="34" charset="-122"/>
                  </a:rPr>
                  <a:t>m</a:t>
                </a:r>
                <a:r>
                  <a:rPr lang="zh-CN" altLang="en-US" sz="2800" b="1" dirty="0">
                    <a:latin typeface="微软雅黑" panose="020B0503020204020204" pitchFamily="34" charset="-122"/>
                    <a:ea typeface="微软雅黑" panose="020B0503020204020204" pitchFamily="34" charset="-122"/>
                  </a:rPr>
                  <a:t>个子周期，每个</a:t>
                </a:r>
                <a:r>
                  <a:rPr lang="zh-CN" altLang="en-US" sz="2800" b="1" dirty="0">
                    <a:solidFill>
                      <a:srgbClr val="FF0000"/>
                    </a:solidFill>
                    <a:latin typeface="微软雅黑" panose="020B0503020204020204" pitchFamily="34" charset="-122"/>
                    <a:ea typeface="微软雅黑" panose="020B0503020204020204" pitchFamily="34" charset="-122"/>
                  </a:rPr>
                  <a:t>子周期表示为⊿</a:t>
                </a:r>
                <a:r>
                  <a:rPr lang="en-US" altLang="zh-CN" sz="2800" b="1" dirty="0">
                    <a:solidFill>
                      <a:srgbClr val="FF0000"/>
                    </a:solidFill>
                    <a:latin typeface="微软雅黑" panose="020B0503020204020204" pitchFamily="34" charset="-122"/>
                    <a:ea typeface="微软雅黑" panose="020B0503020204020204" pitchFamily="34" charset="-122"/>
                  </a:rPr>
                  <a:t>t’</a:t>
                </a:r>
                <a:r>
                  <a:rPr lang="zh-CN" altLang="en-US" sz="2800" b="1" dirty="0">
                    <a:solidFill>
                      <a:srgbClr val="1D528D"/>
                    </a:solidFill>
                    <a:latin typeface="微软雅黑" panose="020B0503020204020204" pitchFamily="34" charset="-122"/>
                    <a:ea typeface="微软雅黑" panose="020B0503020204020204" pitchFamily="34" charset="-122"/>
                  </a:rPr>
                  <a:t>，</a:t>
                </a:r>
                <a14:m>
                  <m:oMath xmlns:m="http://schemas.openxmlformats.org/officeDocument/2006/math">
                    <m:r>
                      <a:rPr lang="zh-CN" altLang="en-US" sz="2800" b="1" dirty="0">
                        <a:latin typeface="Cambria Math" panose="02040503050406030204" pitchFamily="18" charset="0"/>
                        <a:ea typeface="微软雅黑" panose="020B0503020204020204" pitchFamily="34" charset="-122"/>
                      </a:rPr>
                      <m:t>⊿</m:t>
                    </m:r>
                    <m:r>
                      <a:rPr lang="en-US" altLang="zh-CN" sz="2800" b="1" dirty="0">
                        <a:latin typeface="Cambria Math" panose="02040503050406030204" pitchFamily="18" charset="0"/>
                        <a:ea typeface="微软雅黑" panose="020B0503020204020204" pitchFamily="34" charset="-122"/>
                      </a:rPr>
                      <m:t>𝒕</m:t>
                    </m:r>
                  </m:oMath>
                </a14:m>
                <a:r>
                  <a:rPr lang="en-US" altLang="zh-CN" sz="2800" b="1" dirty="0">
                    <a:latin typeface="微软雅黑" panose="020B0503020204020204" pitchFamily="34" charset="-122"/>
                    <a:ea typeface="微软雅黑" panose="020B0503020204020204" pitchFamily="34" charset="-122"/>
                  </a:rPr>
                  <a:t>’</a:t>
                </a:r>
                <a:r>
                  <a:rPr lang="zh-CN" altLang="en-US" sz="2800" b="1" dirty="0">
                    <a:latin typeface="微软雅黑" panose="020B0503020204020204" pitchFamily="34" charset="-122"/>
                    <a:ea typeface="微软雅黑" panose="020B0503020204020204" pitchFamily="34" charset="-122"/>
                  </a:rPr>
                  <a:t>＝</a:t>
                </a:r>
                <a14:m>
                  <m:oMath xmlns:m="http://schemas.openxmlformats.org/officeDocument/2006/math">
                    <m:f>
                      <m:fPr>
                        <m:ctrlPr>
                          <a:rPr lang="en-US" altLang="zh-CN" sz="2800" b="1" i="1" dirty="0">
                            <a:latin typeface="Cambria Math" panose="02040503050406030204" pitchFamily="18" charset="0"/>
                            <a:ea typeface="微软雅黑" panose="020B0503020204020204" pitchFamily="34" charset="-122"/>
                          </a:rPr>
                        </m:ctrlPr>
                      </m:fPr>
                      <m:num>
                        <m:r>
                          <a:rPr lang="zh-CN" altLang="en-US" sz="2800" b="1" dirty="0">
                            <a:latin typeface="Cambria Math" panose="02040503050406030204" pitchFamily="18" charset="0"/>
                            <a:ea typeface="微软雅黑" panose="020B0503020204020204" pitchFamily="34" charset="-122"/>
                          </a:rPr>
                          <m:t>⊿</m:t>
                        </m:r>
                        <m:r>
                          <a:rPr lang="en-US" altLang="zh-CN" sz="2800" b="1" dirty="0">
                            <a:latin typeface="Cambria Math" panose="02040503050406030204" pitchFamily="18" charset="0"/>
                            <a:ea typeface="微软雅黑" panose="020B0503020204020204" pitchFamily="34" charset="-122"/>
                          </a:rPr>
                          <m:t>𝒕</m:t>
                        </m:r>
                      </m:num>
                      <m:den>
                        <m:r>
                          <a:rPr lang="en-US" altLang="zh-CN" sz="2800" b="1" dirty="0">
                            <a:latin typeface="Cambria Math" panose="02040503050406030204" pitchFamily="18" charset="0"/>
                            <a:ea typeface="微软雅黑" panose="020B0503020204020204" pitchFamily="34" charset="-122"/>
                          </a:rPr>
                          <m:t>𝒎</m:t>
                        </m:r>
                      </m:den>
                    </m:f>
                    <m:r>
                      <a:rPr lang="zh-CN" altLang="en-US" sz="2800" b="1" dirty="0">
                        <a:latin typeface="Cambria Math" panose="02040503050406030204" pitchFamily="18" charset="0"/>
                        <a:ea typeface="微软雅黑" panose="020B0503020204020204" pitchFamily="34" charset="-122"/>
                      </a:rPr>
                      <m:t>；</m:t>
                    </m:r>
                  </m:oMath>
                </a14:m>
                <a:endParaRPr lang="en-US" altLang="zh-CN" sz="2800" b="1" dirty="0">
                  <a:latin typeface="微软雅黑" panose="020B0503020204020204" pitchFamily="34" charset="-122"/>
                  <a:ea typeface="微软雅黑" panose="020B0503020204020204" pitchFamily="34" charset="-122"/>
                </a:endParaRPr>
              </a:p>
            </p:txBody>
          </p:sp>
        </mc:Choice>
        <mc:Fallback xmlns="">
          <p:sp>
            <p:nvSpPr>
              <p:cNvPr id="4" name="矩形 3"/>
              <p:cNvSpPr>
                <a:spLocks noRot="1" noChangeAspect="1" noMove="1" noResize="1" noEditPoints="1" noAdjustHandles="1" noChangeArrowheads="1" noChangeShapeType="1" noTextEdit="1"/>
              </p:cNvSpPr>
              <p:nvPr/>
            </p:nvSpPr>
            <p:spPr>
              <a:xfrm>
                <a:off x="3034463" y="2321812"/>
                <a:ext cx="8607361" cy="1129540"/>
              </a:xfrm>
              <a:prstGeom prst="rect">
                <a:avLst/>
              </a:prstGeom>
              <a:blipFill>
                <a:blip r:embed="rId3"/>
                <a:stretch>
                  <a:fillRect l="-1487" t="-5946" r="-3187" b="-5946"/>
                </a:stretch>
              </a:blipFill>
            </p:spPr>
            <p:txBody>
              <a:bodyPr/>
              <a:lstStyle/>
              <a:p>
                <a:r>
                  <a:rPr lang="zh-CN" altLang="en-US">
                    <a:noFill/>
                  </a:rPr>
                  <a:t> </a:t>
                </a:r>
              </a:p>
            </p:txBody>
          </p:sp>
        </mc:Fallback>
      </mc:AlternateContent>
      <p:sp>
        <p:nvSpPr>
          <p:cNvPr id="9" name="矩形 8"/>
          <p:cNvSpPr/>
          <p:nvPr/>
        </p:nvSpPr>
        <p:spPr>
          <a:xfrm>
            <a:off x="3034463" y="3552529"/>
            <a:ext cx="4883068" cy="523220"/>
          </a:xfrm>
          <a:prstGeom prst="rect">
            <a:avLst/>
          </a:prstGeom>
        </p:spPr>
        <p:txBody>
          <a:bodyPr wrap="none">
            <a:spAutoFit/>
          </a:bodyPr>
          <a:lstStyle/>
          <a:p>
            <a:pPr fontAlgn="base">
              <a:spcBef>
                <a:spcPct val="50000"/>
              </a:spcBef>
              <a:spcAft>
                <a:spcPct val="0"/>
              </a:spcAft>
            </a:pPr>
            <a:r>
              <a:rPr lang="zh-CN" altLang="en-US" sz="2800" b="1" dirty="0">
                <a:latin typeface="微软雅黑" panose="020B0503020204020204" pitchFamily="34" charset="-122"/>
                <a:ea typeface="微软雅黑" panose="020B0503020204020204" pitchFamily="34" charset="-122"/>
              </a:rPr>
              <a:t>每个⊿</a:t>
            </a:r>
            <a:r>
              <a:rPr lang="en-US" altLang="zh-CN" sz="2800" b="1" dirty="0">
                <a:latin typeface="微软雅黑" panose="020B0503020204020204" pitchFamily="34" charset="-122"/>
                <a:ea typeface="微软雅黑" panose="020B0503020204020204" pitchFamily="34" charset="-122"/>
              </a:rPr>
              <a:t>t’</a:t>
            </a:r>
            <a:r>
              <a:rPr lang="zh-CN" altLang="en-US" sz="2800" b="1" dirty="0">
                <a:latin typeface="微软雅黑" panose="020B0503020204020204" pitchFamily="34" charset="-122"/>
                <a:ea typeface="微软雅黑" panose="020B0503020204020204" pitchFamily="34" charset="-122"/>
              </a:rPr>
              <a:t>可以流出一条指令。</a:t>
            </a:r>
            <a:endParaRPr lang="en-US" altLang="zh-CN" sz="2800" b="1"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2" name="矩形 11"/>
              <p:cNvSpPr/>
              <p:nvPr/>
            </p:nvSpPr>
            <p:spPr>
              <a:xfrm>
                <a:off x="3019352" y="4368148"/>
                <a:ext cx="8433504" cy="954107"/>
              </a:xfrm>
              <a:prstGeom prst="rect">
                <a:avLst/>
              </a:prstGeom>
            </p:spPr>
            <p:txBody>
              <a:bodyPr wrap="square">
                <a:spAutoFit/>
              </a:bodyPr>
              <a:lstStyle/>
              <a:p>
                <a:pPr fontAlgn="base">
                  <a:spcBef>
                    <a:spcPct val="50000"/>
                  </a:spcBef>
                  <a:spcAft>
                    <a:spcPct val="0"/>
                  </a:spcAft>
                </a:pPr>
                <a:r>
                  <a:rPr lang="zh-CN" altLang="en-US" sz="2800" b="1" dirty="0">
                    <a:latin typeface="微软雅黑" panose="020B0503020204020204" pitchFamily="34" charset="-122"/>
                    <a:ea typeface="微软雅黑" panose="020B0503020204020204" pitchFamily="34" charset="-122"/>
                  </a:rPr>
                  <a:t>用</a:t>
                </a:r>
                <a:r>
                  <a:rPr lang="en-US" altLang="zh-CN" sz="2800" b="1" dirty="0">
                    <a:latin typeface="微软雅黑" panose="020B0503020204020204" pitchFamily="34" charset="-122"/>
                    <a:ea typeface="微软雅黑" panose="020B0503020204020204" pitchFamily="34" charset="-122"/>
                  </a:rPr>
                  <a:t>k</a:t>
                </a:r>
                <a:r>
                  <a:rPr lang="zh-CN" altLang="en-US" sz="2800" b="1" dirty="0">
                    <a:latin typeface="微软雅黑" panose="020B0503020204020204" pitchFamily="34" charset="-122"/>
                    <a:ea typeface="微软雅黑" panose="020B0503020204020204" pitchFamily="34" charset="-122"/>
                  </a:rPr>
                  <a:t>表示一条指令所含的基本机器周期数，那么一条指令需花</a:t>
                </a:r>
                <a:r>
                  <a:rPr lang="en-US" altLang="zh-CN" sz="2800" b="1" dirty="0">
                    <a:solidFill>
                      <a:srgbClr val="FF0000"/>
                    </a:solidFill>
                    <a:latin typeface="微软雅黑" panose="020B0503020204020204" pitchFamily="34" charset="-122"/>
                    <a:ea typeface="微软雅黑" panose="020B0503020204020204" pitchFamily="34" charset="-122"/>
                  </a:rPr>
                  <a:t>k</a:t>
                </a:r>
                <a14:m>
                  <m:oMath xmlns:m="http://schemas.openxmlformats.org/officeDocument/2006/math">
                    <m:r>
                      <a:rPr lang="en-US" altLang="zh-CN" sz="2800" b="1" i="1" smtClean="0">
                        <a:solidFill>
                          <a:srgbClr val="FF0000"/>
                        </a:solidFill>
                        <a:latin typeface="Cambria Math" panose="02040503050406030204" pitchFamily="18" charset="0"/>
                        <a:ea typeface="Cambria Math" panose="02040503050406030204" pitchFamily="18" charset="0"/>
                      </a:rPr>
                      <m:t>∙</m:t>
                    </m:r>
                  </m:oMath>
                </a14:m>
                <a:r>
                  <a:rPr lang="en-US" altLang="zh-CN" sz="2800" b="1" dirty="0" err="1">
                    <a:solidFill>
                      <a:srgbClr val="FF0000"/>
                    </a:solidFill>
                    <a:latin typeface="微软雅黑" panose="020B0503020204020204" pitchFamily="34" charset="-122"/>
                    <a:ea typeface="微软雅黑" panose="020B0503020204020204" pitchFamily="34" charset="-122"/>
                  </a:rPr>
                  <a:t>m</a:t>
                </a:r>
                <a14:m>
                  <m:oMath xmlns:m="http://schemas.openxmlformats.org/officeDocument/2006/math">
                    <m:r>
                      <a:rPr lang="en-US" altLang="zh-CN" sz="2800" b="1" i="1" smtClean="0">
                        <a:solidFill>
                          <a:srgbClr val="FF0000"/>
                        </a:solidFill>
                        <a:latin typeface="Cambria Math" panose="02040503050406030204" pitchFamily="18" charset="0"/>
                        <a:ea typeface="Cambria Math" panose="02040503050406030204" pitchFamily="18" charset="0"/>
                      </a:rPr>
                      <m:t>∙</m:t>
                    </m:r>
                  </m:oMath>
                </a14:m>
                <a:r>
                  <a:rPr lang="en-US" altLang="zh-CN" sz="2800" b="1" dirty="0" err="1">
                    <a:solidFill>
                      <a:srgbClr val="FF0000"/>
                    </a:solidFill>
                    <a:latin typeface="微软雅黑" panose="020B0503020204020204" pitchFamily="34" charset="-122"/>
                    <a:ea typeface="微软雅黑" panose="020B0503020204020204" pitchFamily="34" charset="-122"/>
                  </a:rPr>
                  <a:t>⊿t</a:t>
                </a:r>
                <a:r>
                  <a:rPr lang="en-US" altLang="zh-CN" sz="2800" b="1" dirty="0">
                    <a:solidFill>
                      <a:srgbClr val="FF0000"/>
                    </a:solidFill>
                    <a:latin typeface="微软雅黑" panose="020B0503020204020204" pitchFamily="34" charset="-122"/>
                    <a:ea typeface="微软雅黑" panose="020B0503020204020204" pitchFamily="34" charset="-122"/>
                  </a:rPr>
                  <a:t>’</a:t>
                </a:r>
                <a:r>
                  <a:rPr lang="zh-CN" altLang="en-US" sz="2800" b="1" dirty="0">
                    <a:latin typeface="微软雅黑" panose="020B0503020204020204" pitchFamily="34" charset="-122"/>
                    <a:ea typeface="微软雅黑" panose="020B0503020204020204" pitchFamily="34" charset="-122"/>
                  </a:rPr>
                  <a:t>的时间。</a:t>
                </a:r>
              </a:p>
            </p:txBody>
          </p:sp>
        </mc:Choice>
        <mc:Fallback xmlns="">
          <p:sp>
            <p:nvSpPr>
              <p:cNvPr id="12" name="矩形 11"/>
              <p:cNvSpPr>
                <a:spLocks noRot="1" noChangeAspect="1" noMove="1" noResize="1" noEditPoints="1" noAdjustHandles="1" noChangeArrowheads="1" noChangeShapeType="1" noTextEdit="1"/>
              </p:cNvSpPr>
              <p:nvPr/>
            </p:nvSpPr>
            <p:spPr>
              <a:xfrm>
                <a:off x="3019352" y="4368148"/>
                <a:ext cx="8433504" cy="954107"/>
              </a:xfrm>
              <a:prstGeom prst="rect">
                <a:avLst/>
              </a:prstGeom>
              <a:blipFill>
                <a:blip r:embed="rId4"/>
                <a:stretch>
                  <a:fillRect l="-1445" t="-7051" b="-17308"/>
                </a:stretch>
              </a:blipFill>
            </p:spPr>
            <p:txBody>
              <a:bodyPr/>
              <a:lstStyle/>
              <a:p>
                <a:r>
                  <a:rPr lang="zh-CN" altLang="en-US">
                    <a:noFill/>
                  </a:rPr>
                  <a:t> </a:t>
                </a:r>
              </a:p>
            </p:txBody>
          </p:sp>
        </mc:Fallback>
      </mc:AlternateContent>
      <p:sp>
        <p:nvSpPr>
          <p:cNvPr id="13" name="矩形 12"/>
          <p:cNvSpPr/>
          <p:nvPr/>
        </p:nvSpPr>
        <p:spPr>
          <a:xfrm>
            <a:off x="3019352" y="5482329"/>
            <a:ext cx="6753772" cy="523220"/>
          </a:xfrm>
          <a:prstGeom prst="rect">
            <a:avLst/>
          </a:prstGeom>
        </p:spPr>
        <p:txBody>
          <a:bodyPr wrap="none">
            <a:spAutoFit/>
          </a:bodyPr>
          <a:lstStyle/>
          <a:p>
            <a:pPr fontAlgn="base">
              <a:spcBef>
                <a:spcPct val="50000"/>
              </a:spcBef>
              <a:spcAft>
                <a:spcPct val="0"/>
              </a:spcAft>
            </a:pPr>
            <a:r>
              <a:rPr lang="zh-CN" altLang="en-US" sz="2800" b="1" dirty="0">
                <a:latin typeface="微软雅黑" panose="020B0503020204020204" pitchFamily="34" charset="-122"/>
                <a:ea typeface="微软雅黑" panose="020B0503020204020204" pitchFamily="34" charset="-122"/>
              </a:rPr>
              <a:t>超流水线处理机着重开发</a:t>
            </a:r>
            <a:r>
              <a:rPr lang="zh-CN" altLang="en-US" sz="2800" b="1" dirty="0">
                <a:solidFill>
                  <a:srgbClr val="FF0000"/>
                </a:solidFill>
                <a:latin typeface="微软雅黑" panose="020B0503020204020204" pitchFamily="34" charset="-122"/>
                <a:ea typeface="微软雅黑" panose="020B0503020204020204" pitchFamily="34" charset="-122"/>
              </a:rPr>
              <a:t>时间的并行性</a:t>
            </a:r>
            <a:r>
              <a:rPr lang="zh-CN" altLang="en-US" sz="2800" b="1" dirty="0">
                <a:solidFill>
                  <a:srgbClr val="1D528D"/>
                </a:solidFill>
                <a:latin typeface="微软雅黑" panose="020B0503020204020204" pitchFamily="34" charset="-122"/>
                <a:ea typeface="微软雅黑" panose="020B0503020204020204" pitchFamily="34" charset="-122"/>
              </a:rPr>
              <a:t>。 </a:t>
            </a:r>
          </a:p>
        </p:txBody>
      </p:sp>
    </p:spTree>
    <p:extLst>
      <p:ext uri="{BB962C8B-B14F-4D97-AF65-F5344CB8AC3E}">
        <p14:creationId xmlns:p14="http://schemas.microsoft.com/office/powerpoint/2010/main" val="2778606113"/>
      </p:ext>
    </p:extLst>
  </p:cSld>
  <p:clrMapOvr>
    <a:masterClrMapping/>
  </p:clrMapOvr>
  <mc:AlternateContent xmlns:mc="http://schemas.openxmlformats.org/markup-compatibility/2006" xmlns:p14="http://schemas.microsoft.com/office/powerpoint/2010/main">
    <mc:Choice Requires="p14">
      <p:transition spd="slow" advTm="5214">
        <p14:flip dir="r"/>
      </p:transition>
    </mc:Choice>
    <mc:Fallback xmlns="">
      <p:transition spd="slow" advTm="5214">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599194" y="1359611"/>
            <a:ext cx="8545690" cy="5093577"/>
          </a:xfrm>
          <a:prstGeom prst="rect">
            <a:avLst/>
          </a:prstGeom>
        </p:spPr>
      </p:pic>
      <p:sp>
        <p:nvSpPr>
          <p:cNvPr id="117765" name="Rectangle 5"/>
          <p:cNvSpPr>
            <a:spLocks noGrp="1" noChangeArrowheads="1"/>
          </p:cNvSpPr>
          <p:nvPr>
            <p:ph type="title"/>
          </p:nvPr>
        </p:nvSpPr>
        <p:spPr>
          <a:xfrm>
            <a:off x="875773" y="-27902"/>
            <a:ext cx="10515600" cy="1325563"/>
          </a:xfrm>
        </p:spPr>
        <p:txBody>
          <a:bodyPr>
            <a:normAutofit/>
          </a:bodyPr>
          <a:lstStyle/>
          <a:p>
            <a:pPr algn="l"/>
            <a:r>
              <a:rPr lang="zh-CN" altLang="en-US" sz="3200" b="1" dirty="0">
                <a:latin typeface="微软雅黑" panose="020B0503020204020204" pitchFamily="34" charset="-122"/>
                <a:ea typeface="微软雅黑" panose="020B0503020204020204" pitchFamily="34" charset="-122"/>
              </a:rPr>
              <a:t>度</a:t>
            </a:r>
            <a:r>
              <a:rPr lang="en-US" altLang="zh-CN" sz="3200" b="1" dirty="0">
                <a:latin typeface="微软雅黑" panose="020B0503020204020204" pitchFamily="34" charset="-122"/>
                <a:ea typeface="微软雅黑" panose="020B0503020204020204" pitchFamily="34" charset="-122"/>
              </a:rPr>
              <a:t>m</a:t>
            </a:r>
            <a:r>
              <a:rPr lang="zh-CN" altLang="en-US" sz="3200" b="1" dirty="0">
                <a:latin typeface="微软雅黑" panose="020B0503020204020204" pitchFamily="34" charset="-122"/>
                <a:ea typeface="微软雅黑" panose="020B0503020204020204" pitchFamily="34" charset="-122"/>
              </a:rPr>
              <a:t>＝</a:t>
            </a:r>
            <a:r>
              <a:rPr lang="en-US" altLang="zh-CN" sz="3200" b="1" dirty="0">
                <a:latin typeface="微软雅黑" panose="020B0503020204020204" pitchFamily="34" charset="-122"/>
                <a:ea typeface="微软雅黑" panose="020B0503020204020204" pitchFamily="34" charset="-122"/>
              </a:rPr>
              <a:t>3</a:t>
            </a:r>
            <a:r>
              <a:rPr lang="zh-CN" altLang="en-US" sz="3200" b="1" dirty="0">
                <a:latin typeface="微软雅黑" panose="020B0503020204020204" pitchFamily="34" charset="-122"/>
                <a:ea typeface="微软雅黑" panose="020B0503020204020204" pitchFamily="34" charset="-122"/>
              </a:rPr>
              <a:t>的超流水线时空图 </a:t>
            </a:r>
          </a:p>
        </p:txBody>
      </p:sp>
      <mc:AlternateContent xmlns:mc="http://schemas.openxmlformats.org/markup-compatibility/2006" xmlns:a14="http://schemas.microsoft.com/office/drawing/2010/main">
        <mc:Choice Requires="a14">
          <p:sp>
            <p:nvSpPr>
              <p:cNvPr id="7" name="文本框 6"/>
              <p:cNvSpPr txBox="1"/>
              <p:nvPr/>
            </p:nvSpPr>
            <p:spPr>
              <a:xfrm>
                <a:off x="7615279" y="1706428"/>
                <a:ext cx="4222044" cy="2308324"/>
              </a:xfrm>
              <a:prstGeom prst="rect">
                <a:avLst/>
              </a:prstGeom>
              <a:noFill/>
            </p:spPr>
            <p:txBody>
              <a:bodyPr wrap="square" rtlCol="0">
                <a:spAutoFit/>
              </a:bodyPr>
              <a:lstStyle/>
              <a:p>
                <a:pPr marL="342900" indent="-342900">
                  <a:buFont typeface="Wingdings" panose="05000000000000000000" pitchFamily="2" charset="2"/>
                  <a:buChar char="Ø"/>
                </a:pPr>
                <a14:m>
                  <m:oMath xmlns:m="http://schemas.openxmlformats.org/officeDocument/2006/math">
                    <m:r>
                      <a:rPr lang="en-US" altLang="zh-CN" sz="2400" b="1" i="1" dirty="0" smtClean="0">
                        <a:solidFill>
                          <a:srgbClr val="1D528D"/>
                        </a:solidFill>
                        <a:latin typeface="Cambria Math" panose="02040503050406030204" pitchFamily="18" charset="0"/>
                        <a:ea typeface="宋体" panose="02010600030101010101" pitchFamily="2" charset="-122"/>
                      </a:rPr>
                      <m:t>𝟏</m:t>
                    </m:r>
                    <m:r>
                      <a:rPr lang="zh-CN" altLang="en-US" sz="2400" b="1" i="1" dirty="0" smtClean="0">
                        <a:solidFill>
                          <a:srgbClr val="1D528D"/>
                        </a:solidFill>
                        <a:latin typeface="Cambria Math" panose="02040503050406030204" pitchFamily="18" charset="0"/>
                        <a:ea typeface="宋体" panose="02010600030101010101" pitchFamily="2" charset="-122"/>
                      </a:rPr>
                      <m:t>个</m:t>
                    </m:r>
                    <m:r>
                      <a:rPr lang="en-US" altLang="zh-CN" sz="2400" b="1" i="1" dirty="0" smtClean="0">
                        <a:solidFill>
                          <a:srgbClr val="1D528D"/>
                        </a:solidFill>
                        <a:latin typeface="Cambria Math" panose="02040503050406030204" pitchFamily="18" charset="0"/>
                        <a:ea typeface="宋体" panose="02010600030101010101" pitchFamily="2" charset="-122"/>
                      </a:rPr>
                      <m:t>𝑪𝑷𝑼</m:t>
                    </m:r>
                    <m:r>
                      <a:rPr lang="zh-CN" altLang="en-US" sz="2400" b="1" i="1" dirty="0" smtClean="0">
                        <a:solidFill>
                          <a:srgbClr val="1D528D"/>
                        </a:solidFill>
                        <a:latin typeface="Cambria Math" panose="02040503050406030204" pitchFamily="18" charset="0"/>
                        <a:ea typeface="宋体" panose="02010600030101010101" pitchFamily="2" charset="-122"/>
                      </a:rPr>
                      <m:t>周期</m:t>
                    </m:r>
                    <m:r>
                      <a:rPr lang="zh-CN" altLang="en-US" sz="2400" b="1" i="1" dirty="0" smtClean="0">
                        <a:solidFill>
                          <a:srgbClr val="1D528D"/>
                        </a:solidFill>
                        <a:latin typeface="Cambria Math" panose="02040503050406030204" pitchFamily="18" charset="0"/>
                        <a:ea typeface="宋体" panose="02010600030101010101" pitchFamily="2" charset="-122"/>
                      </a:rPr>
                      <m:t>⊿</m:t>
                    </m:r>
                    <m:r>
                      <a:rPr lang="en-US" altLang="zh-CN" sz="2400" b="1" i="1" dirty="0" smtClean="0">
                        <a:solidFill>
                          <a:srgbClr val="1D528D"/>
                        </a:solidFill>
                        <a:latin typeface="Cambria Math" panose="02040503050406030204" pitchFamily="18" charset="0"/>
                        <a:ea typeface="宋体" panose="02010600030101010101" pitchFamily="2" charset="-122"/>
                      </a:rPr>
                      <m:t>𝒕</m:t>
                    </m:r>
                    <m:r>
                      <a:rPr lang="en-US" altLang="zh-CN" sz="2400" b="1" i="1" dirty="0" smtClean="0">
                        <a:solidFill>
                          <a:srgbClr val="1D528D"/>
                        </a:solidFill>
                        <a:latin typeface="Cambria Math" panose="02040503050406030204" pitchFamily="18" charset="0"/>
                        <a:ea typeface="宋体" panose="02010600030101010101" pitchFamily="2" charset="-122"/>
                      </a:rPr>
                      <m:t>=</m:t>
                    </m:r>
                    <m:r>
                      <a:rPr lang="en-US" altLang="zh-CN" sz="2400" b="1" i="1" dirty="0" smtClean="0">
                        <a:solidFill>
                          <a:srgbClr val="1D528D"/>
                        </a:solidFill>
                        <a:latin typeface="Cambria Math" panose="02040503050406030204" pitchFamily="18" charset="0"/>
                        <a:ea typeface="宋体" panose="02010600030101010101" pitchFamily="2" charset="-122"/>
                      </a:rPr>
                      <m:t>𝟑</m:t>
                    </m:r>
                    <m:r>
                      <a:rPr lang="en-US" altLang="zh-CN" sz="2400" b="1" i="1" dirty="0" smtClean="0">
                        <a:solidFill>
                          <a:srgbClr val="1D528D"/>
                        </a:solidFill>
                        <a:latin typeface="Cambria Math" panose="02040503050406030204" pitchFamily="18" charset="0"/>
                        <a:ea typeface="宋体" panose="02010600030101010101" pitchFamily="2" charset="-122"/>
                      </a:rPr>
                      <m:t>∙⊿</m:t>
                    </m:r>
                    <m:r>
                      <a:rPr lang="en-US" altLang="zh-CN" sz="2400" b="1" i="1" dirty="0" smtClean="0">
                        <a:solidFill>
                          <a:srgbClr val="1D528D"/>
                        </a:solidFill>
                        <a:latin typeface="Cambria Math" panose="02040503050406030204" pitchFamily="18" charset="0"/>
                        <a:ea typeface="宋体" panose="02010600030101010101" pitchFamily="2" charset="-122"/>
                      </a:rPr>
                      <m:t>𝒕</m:t>
                    </m:r>
                  </m:oMath>
                </a14:m>
                <a:r>
                  <a:rPr lang="en-US" altLang="zh-CN" sz="2400" b="1" dirty="0">
                    <a:solidFill>
                      <a:srgbClr val="1D528D"/>
                    </a:solidFill>
                    <a:latin typeface="微软雅黑" panose="020B0503020204020204" pitchFamily="34" charset="-122"/>
                    <a:ea typeface="微软雅黑" panose="020B0503020204020204" pitchFamily="34" charset="-122"/>
                  </a:rPr>
                  <a:t>’</a:t>
                </a:r>
                <a:endParaRPr lang="zh-CN" altLang="en-US" sz="2400" b="1"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并行度 </a:t>
                </a:r>
                <a:r>
                  <a:rPr lang="en-US" altLang="zh-CN" sz="2400" b="1" dirty="0">
                    <a:latin typeface="微软雅黑" panose="020B0503020204020204" pitchFamily="34" charset="-122"/>
                    <a:ea typeface="微软雅黑" panose="020B0503020204020204" pitchFamily="34" charset="-122"/>
                  </a:rPr>
                  <a:t>m = 3</a:t>
                </a:r>
                <a:r>
                  <a:rPr lang="zh-CN" altLang="en-US" sz="2400" b="1" dirty="0">
                    <a:latin typeface="微软雅黑" panose="020B0503020204020204" pitchFamily="34" charset="-122"/>
                    <a:ea typeface="微软雅黑" panose="020B0503020204020204" pitchFamily="34" charset="-122"/>
                  </a:rPr>
                  <a:t>（            ）</a:t>
                </a:r>
                <a:endParaRPr lang="en-US" altLang="zh-CN" sz="2400" b="1"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任务（指令）数：</a:t>
                </a:r>
                <a:r>
                  <a:rPr lang="en-US" altLang="zh-CN" sz="2400" b="1" dirty="0">
                    <a:latin typeface="微软雅黑" panose="020B0503020204020204" pitchFamily="34" charset="-122"/>
                    <a:ea typeface="微软雅黑" panose="020B0503020204020204" pitchFamily="34" charset="-122"/>
                  </a:rPr>
                  <a:t>n=9</a:t>
                </a:r>
                <a:r>
                  <a:rPr lang="zh-CN" altLang="en-US" sz="2400" b="1" dirty="0">
                    <a:latin typeface="微软雅黑" panose="020B0503020204020204" pitchFamily="34" charset="-122"/>
                    <a:ea typeface="微软雅黑" panose="020B0503020204020204" pitchFamily="34" charset="-122"/>
                  </a:rPr>
                  <a:t>（条）</a:t>
                </a:r>
                <a:endParaRPr lang="en-US" altLang="zh-CN" sz="2400" b="1"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流水有</a:t>
                </a:r>
                <a:r>
                  <a:rPr lang="en-US" altLang="zh-CN" sz="2400" b="1" dirty="0">
                    <a:latin typeface="微软雅黑" panose="020B0503020204020204" pitchFamily="34" charset="-122"/>
                    <a:ea typeface="微软雅黑" panose="020B0503020204020204" pitchFamily="34" charset="-122"/>
                  </a:rPr>
                  <a:t>d=4</a:t>
                </a:r>
                <a:r>
                  <a:rPr lang="zh-CN" altLang="en-US" sz="2400" b="1" dirty="0">
                    <a:latin typeface="微软雅黑" panose="020B0503020204020204" pitchFamily="34" charset="-122"/>
                    <a:ea typeface="微软雅黑" panose="020B0503020204020204" pitchFamily="34" charset="-122"/>
                  </a:rPr>
                  <a:t>（段）</a:t>
                </a:r>
                <a:endParaRPr lang="en-US" altLang="zh-CN" sz="2400" b="1"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Ø"/>
                </a:pPr>
                <a:r>
                  <a:rPr lang="en-US" altLang="zh-CN" sz="2400" b="1" dirty="0">
                    <a:latin typeface="微软雅黑" panose="020B0503020204020204" pitchFamily="34" charset="-122"/>
                    <a:ea typeface="微软雅黑" panose="020B0503020204020204" pitchFamily="34" charset="-122"/>
                  </a:rPr>
                  <a:t>k=d</a:t>
                </a:r>
                <a:r>
                  <a:rPr lang="zh-CN" altLang="en-US" sz="2400" b="1" dirty="0">
                    <a:latin typeface="微软雅黑" panose="020B0503020204020204" pitchFamily="34" charset="-122"/>
                    <a:ea typeface="微软雅黑" panose="020B0503020204020204" pitchFamily="34" charset="-122"/>
                  </a:rPr>
                  <a:t>（一条指令执行需</a:t>
                </a:r>
                <a:r>
                  <a:rPr lang="en-US" altLang="zh-CN" sz="2400" b="1" dirty="0">
                    <a:latin typeface="微软雅黑" panose="020B0503020204020204" pitchFamily="34" charset="-122"/>
                    <a:ea typeface="微软雅黑" panose="020B0503020204020204" pitchFamily="34" charset="-122"/>
                  </a:rPr>
                  <a:t>k</a:t>
                </a:r>
                <a:r>
                  <a:rPr lang="zh-CN" altLang="en-US" sz="2400" b="1" dirty="0">
                    <a:latin typeface="微软雅黑" panose="020B0503020204020204" pitchFamily="34" charset="-122"/>
                    <a:ea typeface="微软雅黑" panose="020B0503020204020204" pitchFamily="34" charset="-122"/>
                  </a:rPr>
                  <a:t>个</a:t>
                </a:r>
                <a:r>
                  <a:rPr lang="en-US" altLang="zh-CN" sz="2400" b="1" dirty="0">
                    <a:latin typeface="微软雅黑" panose="020B0503020204020204" pitchFamily="34" charset="-122"/>
                    <a:ea typeface="微软雅黑" panose="020B0503020204020204" pitchFamily="34" charset="-122"/>
                  </a:rPr>
                  <a:t>CPU</a:t>
                </a:r>
                <a:r>
                  <a:rPr lang="zh-CN" altLang="en-US" sz="2400" b="1" dirty="0">
                    <a:latin typeface="微软雅黑" panose="020B0503020204020204" pitchFamily="34" charset="-122"/>
                    <a:ea typeface="微软雅黑" panose="020B0503020204020204" pitchFamily="34" charset="-122"/>
                  </a:rPr>
                  <a:t>周期）</a:t>
                </a:r>
              </a:p>
            </p:txBody>
          </p:sp>
        </mc:Choice>
        <mc:Fallback xmlns="">
          <p:sp>
            <p:nvSpPr>
              <p:cNvPr id="7" name="文本框 6"/>
              <p:cNvSpPr txBox="1">
                <a:spLocks noRot="1" noChangeAspect="1" noMove="1" noResize="1" noEditPoints="1" noAdjustHandles="1" noChangeArrowheads="1" noChangeShapeType="1" noTextEdit="1"/>
              </p:cNvSpPr>
              <p:nvPr/>
            </p:nvSpPr>
            <p:spPr>
              <a:xfrm>
                <a:off x="7615279" y="1706428"/>
                <a:ext cx="4222044" cy="2308324"/>
              </a:xfrm>
              <a:prstGeom prst="rect">
                <a:avLst/>
              </a:prstGeom>
              <a:blipFill>
                <a:blip r:embed="rId3"/>
                <a:stretch>
                  <a:fillRect l="-1876" t="-2111" r="-8658" b="-5013"/>
                </a:stretch>
              </a:blipFill>
            </p:spPr>
            <p:txBody>
              <a:bodyPr/>
              <a:lstStyle/>
              <a:p>
                <a:r>
                  <a:rPr lang="zh-CN" altLang="en-US">
                    <a:noFill/>
                  </a:rPr>
                  <a:t> </a:t>
                </a:r>
              </a:p>
            </p:txBody>
          </p:sp>
        </mc:Fallback>
      </mc:AlternateContent>
      <p:sp>
        <p:nvSpPr>
          <p:cNvPr id="9" name="矩形 8"/>
          <p:cNvSpPr/>
          <p:nvPr/>
        </p:nvSpPr>
        <p:spPr>
          <a:xfrm>
            <a:off x="9685357" y="2129165"/>
            <a:ext cx="1864613" cy="400110"/>
          </a:xfrm>
          <a:prstGeom prst="rect">
            <a:avLst/>
          </a:prstGeom>
        </p:spPr>
        <p:txBody>
          <a:bodyPr wrap="none">
            <a:spAutoFit/>
          </a:bodyPr>
          <a:lstStyle/>
          <a:p>
            <a:r>
              <a:rPr lang="zh-CN" altLang="en-US" sz="2000" b="1" dirty="0">
                <a:solidFill>
                  <a:srgbClr val="FF0000"/>
                </a:solidFill>
                <a:latin typeface="宋体" panose="02010600030101010101" pitchFamily="2" charset="-122"/>
                <a:ea typeface="宋体" panose="02010600030101010101" pitchFamily="2" charset="-122"/>
              </a:rPr>
              <a:t>   时间并行度</a:t>
            </a:r>
            <a:endParaRPr lang="zh-CN" altLang="en-US" sz="2000" dirty="0"/>
          </a:p>
        </p:txBody>
      </p:sp>
      <p:sp>
        <p:nvSpPr>
          <p:cNvPr id="6" name="文本框 5"/>
          <p:cNvSpPr txBox="1"/>
          <p:nvPr/>
        </p:nvSpPr>
        <p:spPr>
          <a:xfrm>
            <a:off x="1561574" y="6368799"/>
            <a:ext cx="1068738" cy="338554"/>
          </a:xfrm>
          <a:prstGeom prst="rect">
            <a:avLst/>
          </a:prstGeom>
          <a:noFill/>
        </p:spPr>
        <p:txBody>
          <a:bodyPr wrap="square" rtlCol="0">
            <a:spAutoFit/>
          </a:bodyPr>
          <a:lstStyle/>
          <a:p>
            <a:r>
              <a:rPr lang="en-US" altLang="zh-CN" sz="1600" dirty="0">
                <a:solidFill>
                  <a:srgbClr val="FF0000"/>
                </a:solidFill>
              </a:rPr>
              <a:t>CPU</a:t>
            </a:r>
            <a:r>
              <a:rPr lang="zh-CN" altLang="en-US" sz="1600" dirty="0">
                <a:solidFill>
                  <a:srgbClr val="FF0000"/>
                </a:solidFill>
              </a:rPr>
              <a:t>周期</a:t>
            </a:r>
          </a:p>
        </p:txBody>
      </p:sp>
      <p:pic>
        <p:nvPicPr>
          <p:cNvPr id="10" name="图片 9"/>
          <p:cNvPicPr>
            <a:picLocks noChangeAspect="1"/>
          </p:cNvPicPr>
          <p:nvPr/>
        </p:nvPicPr>
        <p:blipFill>
          <a:blip r:embed="rId4"/>
          <a:stretch>
            <a:fillRect/>
          </a:stretch>
        </p:blipFill>
        <p:spPr>
          <a:xfrm flipH="1">
            <a:off x="5028578" y="1669567"/>
            <a:ext cx="119154" cy="4346121"/>
          </a:xfrm>
          <a:prstGeom prst="rect">
            <a:avLst/>
          </a:prstGeom>
        </p:spPr>
      </p:pic>
      <p:pic>
        <p:nvPicPr>
          <p:cNvPr id="11" name="图片 10"/>
          <p:cNvPicPr>
            <a:picLocks noChangeAspect="1"/>
          </p:cNvPicPr>
          <p:nvPr/>
        </p:nvPicPr>
        <p:blipFill>
          <a:blip r:embed="rId5"/>
          <a:stretch>
            <a:fillRect/>
          </a:stretch>
        </p:blipFill>
        <p:spPr>
          <a:xfrm rot="5400000">
            <a:off x="3228705" y="-22490"/>
            <a:ext cx="261868" cy="3576181"/>
          </a:xfrm>
          <a:prstGeom prst="rect">
            <a:avLst/>
          </a:prstGeom>
        </p:spPr>
      </p:pic>
      <mc:AlternateContent xmlns:mc="http://schemas.openxmlformats.org/markup-compatibility/2006" xmlns:a14="http://schemas.microsoft.com/office/drawing/2010/main">
        <mc:Choice Requires="a14">
          <p:sp>
            <p:nvSpPr>
              <p:cNvPr id="12" name="矩形 11"/>
              <p:cNvSpPr/>
              <p:nvPr/>
            </p:nvSpPr>
            <p:spPr>
              <a:xfrm>
                <a:off x="3054784" y="1359611"/>
                <a:ext cx="800219" cy="369332"/>
              </a:xfrm>
              <a:prstGeom prst="rect">
                <a:avLst/>
              </a:prstGeom>
            </p:spPr>
            <p:txBody>
              <a:bodyPr wrap="none">
                <a:spAutoFit/>
              </a:bodyPr>
              <a:lstStyle/>
              <a:p>
                <a:pPr/>
                <a14:m>
                  <m:oMathPara xmlns:m="http://schemas.openxmlformats.org/officeDocument/2006/math">
                    <m:oMathParaPr>
                      <m:jc m:val="center"/>
                    </m:oMathParaPr>
                    <m:oMath xmlns:m="http://schemas.openxmlformats.org/officeDocument/2006/math">
                      <m:r>
                        <a:rPr lang="en-US" altLang="zh-CN" b="1" i="1">
                          <a:solidFill>
                            <a:srgbClr val="FF0000"/>
                          </a:solidFill>
                          <a:latin typeface="Cambria Math" panose="02040503050406030204" pitchFamily="18" charset="0"/>
                          <a:ea typeface="Cambria Math" panose="02040503050406030204" pitchFamily="18" charset="0"/>
                        </a:rPr>
                        <m:t>𝒅</m:t>
                      </m:r>
                      <m:r>
                        <a:rPr lang="en-US" altLang="zh-CN" b="1" i="1">
                          <a:solidFill>
                            <a:srgbClr val="FF0000"/>
                          </a:solidFill>
                          <a:latin typeface="Cambria Math" panose="02040503050406030204" pitchFamily="18" charset="0"/>
                          <a:ea typeface="Cambria Math" panose="02040503050406030204" pitchFamily="18" charset="0"/>
                        </a:rPr>
                        <m:t>∙∆</m:t>
                      </m:r>
                      <m:r>
                        <a:rPr lang="en-US" altLang="zh-CN" b="1" i="1">
                          <a:solidFill>
                            <a:srgbClr val="FF0000"/>
                          </a:solidFill>
                          <a:latin typeface="Cambria Math" panose="02040503050406030204" pitchFamily="18" charset="0"/>
                          <a:ea typeface="Cambria Math" panose="02040503050406030204" pitchFamily="18" charset="0"/>
                        </a:rPr>
                        <m:t>𝒕</m:t>
                      </m:r>
                    </m:oMath>
                  </m:oMathPara>
                </a14:m>
                <a:endParaRPr lang="zh-CN" altLang="en-US" dirty="0"/>
              </a:p>
            </p:txBody>
          </p:sp>
        </mc:Choice>
        <mc:Fallback xmlns="">
          <p:sp>
            <p:nvSpPr>
              <p:cNvPr id="12" name="矩形 11"/>
              <p:cNvSpPr>
                <a:spLocks noRot="1" noChangeAspect="1" noMove="1" noResize="1" noEditPoints="1" noAdjustHandles="1" noChangeArrowheads="1" noChangeShapeType="1" noTextEdit="1"/>
              </p:cNvSpPr>
              <p:nvPr/>
            </p:nvSpPr>
            <p:spPr>
              <a:xfrm>
                <a:off x="3054784" y="1359611"/>
                <a:ext cx="800219" cy="369332"/>
              </a:xfrm>
              <a:prstGeom prst="rect">
                <a:avLst/>
              </a:prstGeom>
              <a:blipFill rotWithShape="0">
                <a:blip r:embed="rId7"/>
                <a:stretch>
                  <a:fillRect/>
                </a:stretch>
              </a:blipFill>
            </p:spPr>
            <p:txBody>
              <a:bodyPr/>
              <a:lstStyle/>
              <a:p>
                <a:r>
                  <a:rPr lang="zh-CN" altLang="en-US">
                    <a:noFill/>
                  </a:rPr>
                  <a:t> </a:t>
                </a:r>
              </a:p>
            </p:txBody>
          </p:sp>
        </mc:Fallback>
      </mc:AlternateContent>
      <p:pic>
        <p:nvPicPr>
          <p:cNvPr id="15" name="图片 14"/>
          <p:cNvPicPr>
            <a:picLocks noChangeAspect="1"/>
          </p:cNvPicPr>
          <p:nvPr/>
        </p:nvPicPr>
        <p:blipFill>
          <a:blip r:embed="rId5"/>
          <a:stretch>
            <a:fillRect/>
          </a:stretch>
        </p:blipFill>
        <p:spPr>
          <a:xfrm rot="5400000">
            <a:off x="6128874" y="621850"/>
            <a:ext cx="247708" cy="2337595"/>
          </a:xfrm>
          <a:prstGeom prst="rect">
            <a:avLst/>
          </a:prstGeom>
        </p:spPr>
      </p:pic>
      <mc:AlternateContent xmlns:mc="http://schemas.openxmlformats.org/markup-compatibility/2006" xmlns:a14="http://schemas.microsoft.com/office/drawing/2010/main">
        <mc:Choice Requires="a14">
          <p:sp>
            <p:nvSpPr>
              <p:cNvPr id="16" name="矩形 15"/>
              <p:cNvSpPr/>
              <p:nvPr/>
            </p:nvSpPr>
            <p:spPr>
              <a:xfrm>
                <a:off x="5633814" y="1348978"/>
                <a:ext cx="129715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1" i="1" smtClean="0">
                          <a:solidFill>
                            <a:srgbClr val="FF0000"/>
                          </a:solidFill>
                          <a:latin typeface="Cambria Math" panose="02040503050406030204" pitchFamily="18" charset="0"/>
                          <a:ea typeface="Cambria Math" panose="02040503050406030204" pitchFamily="18" charset="0"/>
                        </a:rPr>
                        <m:t>(</m:t>
                      </m:r>
                      <m:r>
                        <a:rPr lang="en-US" altLang="zh-CN" b="1" i="1" smtClean="0">
                          <a:solidFill>
                            <a:srgbClr val="FF0000"/>
                          </a:solidFill>
                          <a:latin typeface="Cambria Math" panose="02040503050406030204" pitchFamily="18" charset="0"/>
                          <a:ea typeface="Cambria Math" panose="02040503050406030204" pitchFamily="18" charset="0"/>
                        </a:rPr>
                        <m:t>𝒏</m:t>
                      </m:r>
                      <m:r>
                        <a:rPr lang="en-US" altLang="zh-CN" b="1" i="1" smtClean="0">
                          <a:solidFill>
                            <a:srgbClr val="FF0000"/>
                          </a:solidFill>
                          <a:latin typeface="Cambria Math" panose="02040503050406030204" pitchFamily="18" charset="0"/>
                          <a:ea typeface="Cambria Math" panose="02040503050406030204" pitchFamily="18" charset="0"/>
                        </a:rPr>
                        <m:t>−</m:t>
                      </m:r>
                      <m:r>
                        <a:rPr lang="en-US" altLang="zh-CN" b="1" i="1" smtClean="0">
                          <a:solidFill>
                            <a:srgbClr val="FF0000"/>
                          </a:solidFill>
                          <a:latin typeface="Cambria Math" panose="02040503050406030204" pitchFamily="18" charset="0"/>
                          <a:ea typeface="Cambria Math" panose="02040503050406030204" pitchFamily="18" charset="0"/>
                        </a:rPr>
                        <m:t>𝟏</m:t>
                      </m:r>
                      <m:r>
                        <a:rPr lang="en-US" altLang="zh-CN" b="1" i="1">
                          <a:solidFill>
                            <a:srgbClr val="FF0000"/>
                          </a:solidFill>
                          <a:latin typeface="Cambria Math" panose="02040503050406030204" pitchFamily="18" charset="0"/>
                          <a:ea typeface="Cambria Math" panose="02040503050406030204" pitchFamily="18" charset="0"/>
                        </a:rPr>
                        <m:t>)∆</m:t>
                      </m:r>
                      <m:r>
                        <a:rPr lang="en-US" altLang="zh-CN" b="1" i="1">
                          <a:solidFill>
                            <a:srgbClr val="FF0000"/>
                          </a:solidFill>
                          <a:latin typeface="Cambria Math" panose="02040503050406030204" pitchFamily="18" charset="0"/>
                          <a:ea typeface="Cambria Math" panose="02040503050406030204" pitchFamily="18" charset="0"/>
                        </a:rPr>
                        <m:t>𝒕</m:t>
                      </m:r>
                      <m:r>
                        <a:rPr lang="en-US" altLang="zh-CN" b="1" i="1">
                          <a:solidFill>
                            <a:srgbClr val="FF0000"/>
                          </a:solidFill>
                          <a:latin typeface="Cambria Math" panose="02040503050406030204" pitchFamily="18" charset="0"/>
                          <a:ea typeface="Cambria Math" panose="02040503050406030204" pitchFamily="18" charset="0"/>
                        </a:rPr>
                        <m:t>′</m:t>
                      </m:r>
                    </m:oMath>
                  </m:oMathPara>
                </a14:m>
                <a:endParaRPr lang="zh-CN" altLang="en-US" dirty="0"/>
              </a:p>
            </p:txBody>
          </p:sp>
        </mc:Choice>
        <mc:Fallback xmlns="">
          <p:sp>
            <p:nvSpPr>
              <p:cNvPr id="16" name="矩形 15"/>
              <p:cNvSpPr>
                <a:spLocks noRot="1" noChangeAspect="1" noMove="1" noResize="1" noEditPoints="1" noAdjustHandles="1" noChangeArrowheads="1" noChangeShapeType="1" noTextEdit="1"/>
              </p:cNvSpPr>
              <p:nvPr/>
            </p:nvSpPr>
            <p:spPr>
              <a:xfrm>
                <a:off x="5633814" y="1348978"/>
                <a:ext cx="1297150" cy="369332"/>
              </a:xfrm>
              <a:prstGeom prst="rect">
                <a:avLst/>
              </a:prstGeom>
              <a:blipFill rotWithShape="0">
                <a:blip r:embed="rId8"/>
                <a:stretch>
                  <a:fillRect b="-1475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p:cNvSpPr txBox="1"/>
              <p:nvPr/>
            </p:nvSpPr>
            <p:spPr>
              <a:xfrm>
                <a:off x="7059288" y="5864095"/>
                <a:ext cx="70686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chemeClr val="accent1"/>
                          </a:solidFill>
                          <a:latin typeface="Cambria Math" panose="02040503050406030204" pitchFamily="18" charset="0"/>
                          <a:ea typeface="Cambria Math" panose="02040503050406030204" pitchFamily="18" charset="0"/>
                        </a:rPr>
                        <m:t>𝟐𝟎</m:t>
                      </m:r>
                      <m:r>
                        <a:rPr lang="en-US" altLang="zh-CN" b="1" i="1">
                          <a:solidFill>
                            <a:schemeClr val="accent1"/>
                          </a:solidFill>
                          <a:latin typeface="Cambria Math" panose="02040503050406030204" pitchFamily="18" charset="0"/>
                          <a:ea typeface="Cambria Math" panose="02040503050406030204" pitchFamily="18" charset="0"/>
                        </a:rPr>
                        <m:t>∆</m:t>
                      </m:r>
                      <m:sSup>
                        <m:sSupPr>
                          <m:ctrlPr>
                            <a:rPr lang="en-US" altLang="zh-CN" b="1" i="1">
                              <a:solidFill>
                                <a:schemeClr val="accent1"/>
                              </a:solidFill>
                              <a:latin typeface="Cambria Math" panose="02040503050406030204" pitchFamily="18" charset="0"/>
                              <a:ea typeface="Cambria Math" panose="02040503050406030204" pitchFamily="18" charset="0"/>
                            </a:rPr>
                          </m:ctrlPr>
                        </m:sSupPr>
                        <m:e>
                          <m:r>
                            <a:rPr lang="en-US" altLang="zh-CN" b="1" i="1">
                              <a:solidFill>
                                <a:schemeClr val="accent1"/>
                              </a:solidFill>
                              <a:latin typeface="Cambria Math" panose="02040503050406030204" pitchFamily="18" charset="0"/>
                              <a:ea typeface="Cambria Math" panose="02040503050406030204" pitchFamily="18" charset="0"/>
                            </a:rPr>
                            <m:t>𝒕</m:t>
                          </m:r>
                        </m:e>
                        <m:sup>
                          <m:r>
                            <a:rPr lang="en-US" altLang="zh-CN" b="1" i="1">
                              <a:solidFill>
                                <a:schemeClr val="accent1"/>
                              </a:solidFill>
                              <a:latin typeface="Cambria Math" panose="02040503050406030204" pitchFamily="18" charset="0"/>
                              <a:ea typeface="Cambria Math" panose="02040503050406030204" pitchFamily="18" charset="0"/>
                            </a:rPr>
                            <m:t>′</m:t>
                          </m:r>
                        </m:sup>
                      </m:sSup>
                    </m:oMath>
                  </m:oMathPara>
                </a14:m>
                <a:endParaRPr lang="zh-CN" altLang="en-US" dirty="0"/>
              </a:p>
            </p:txBody>
          </p:sp>
        </mc:Choice>
        <mc:Fallback xmlns="">
          <p:sp>
            <p:nvSpPr>
              <p:cNvPr id="21" name="文本框 20"/>
              <p:cNvSpPr txBox="1">
                <a:spLocks noRot="1" noChangeAspect="1" noMove="1" noResize="1" noEditPoints="1" noAdjustHandles="1" noChangeArrowheads="1" noChangeShapeType="1" noTextEdit="1"/>
              </p:cNvSpPr>
              <p:nvPr/>
            </p:nvSpPr>
            <p:spPr>
              <a:xfrm>
                <a:off x="7059288" y="5864095"/>
                <a:ext cx="706868" cy="369332"/>
              </a:xfrm>
              <a:prstGeom prst="rect">
                <a:avLst/>
              </a:prstGeom>
              <a:blipFill rotWithShape="0">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p:cNvSpPr txBox="1"/>
              <p:nvPr/>
            </p:nvSpPr>
            <p:spPr>
              <a:xfrm>
                <a:off x="7919634" y="4130736"/>
                <a:ext cx="3314963" cy="461665"/>
              </a:xfrm>
              <a:prstGeom prst="rect">
                <a:avLst/>
              </a:prstGeom>
              <a:noFill/>
            </p:spPr>
            <p:txBody>
              <a:bodyPr wrap="square" rtlCol="0">
                <a:spAutoFit/>
              </a:bodyPr>
              <a:lstStyle/>
              <a:p>
                <a14:m>
                  <m:oMath xmlns:m="http://schemas.openxmlformats.org/officeDocument/2006/math">
                    <m:r>
                      <a:rPr lang="en-US" altLang="zh-CN" sz="2400" b="1" i="0" smtClean="0">
                        <a:solidFill>
                          <a:srgbClr val="FF0000"/>
                        </a:solidFill>
                        <a:latin typeface="Cambria Math" panose="02040503050406030204" pitchFamily="18" charset="0"/>
                        <a:ea typeface="Cambria Math" panose="02040503050406030204" pitchFamily="18" charset="0"/>
                      </a:rPr>
                      <m:t>𝐓</m:t>
                    </m:r>
                    <m:r>
                      <a:rPr lang="en-US" altLang="zh-CN" sz="2400" b="1" i="0" smtClean="0">
                        <a:solidFill>
                          <a:srgbClr val="FF0000"/>
                        </a:solidFill>
                        <a:latin typeface="Cambria Math" panose="02040503050406030204" pitchFamily="18" charset="0"/>
                        <a:ea typeface="Cambria Math" panose="02040503050406030204" pitchFamily="18" charset="0"/>
                      </a:rPr>
                      <m:t>=</m:t>
                    </m:r>
                  </m:oMath>
                </a14:m>
                <a:r>
                  <a:rPr lang="en-US" altLang="zh-CN" sz="2400" b="1" dirty="0">
                    <a:solidFill>
                      <a:srgbClr val="FF0000"/>
                    </a:solidFill>
                    <a:latin typeface="微软雅黑" panose="020B0503020204020204" pitchFamily="34" charset="-122"/>
                    <a:ea typeface="微软雅黑" panose="020B0503020204020204" pitchFamily="34" charset="-122"/>
                  </a:rPr>
                  <a:t> </a:t>
                </a:r>
                <a14:m>
                  <m:oMath xmlns:m="http://schemas.openxmlformats.org/officeDocument/2006/math">
                    <m:r>
                      <a:rPr lang="en-US" altLang="zh-CN" sz="2400" b="1" i="1" smtClean="0">
                        <a:solidFill>
                          <a:srgbClr val="FF0000"/>
                        </a:solidFill>
                        <a:latin typeface="Cambria Math" panose="02040503050406030204" pitchFamily="18" charset="0"/>
                        <a:ea typeface="Cambria Math" panose="02040503050406030204" pitchFamily="18" charset="0"/>
                      </a:rPr>
                      <m:t>𝒅</m:t>
                    </m:r>
                    <m:r>
                      <a:rPr lang="en-US" altLang="zh-CN" sz="2400" b="1" i="1" smtClean="0">
                        <a:solidFill>
                          <a:srgbClr val="FF0000"/>
                        </a:solidFill>
                        <a:latin typeface="Cambria Math" panose="02040503050406030204" pitchFamily="18" charset="0"/>
                        <a:ea typeface="Cambria Math" panose="02040503050406030204" pitchFamily="18" charset="0"/>
                      </a:rPr>
                      <m:t>∙∆</m:t>
                    </m:r>
                    <m:r>
                      <a:rPr lang="en-US" altLang="zh-CN" sz="2400" b="1" i="1" smtClean="0">
                        <a:solidFill>
                          <a:srgbClr val="FF0000"/>
                        </a:solidFill>
                        <a:latin typeface="Cambria Math" panose="02040503050406030204" pitchFamily="18" charset="0"/>
                        <a:ea typeface="Cambria Math" panose="02040503050406030204" pitchFamily="18" charset="0"/>
                      </a:rPr>
                      <m:t>𝒕</m:t>
                    </m:r>
                    <m:r>
                      <a:rPr lang="en-US" altLang="zh-CN" sz="2400" b="1" i="1" smtClean="0">
                        <a:solidFill>
                          <a:srgbClr val="FF0000"/>
                        </a:solidFill>
                        <a:latin typeface="Cambria Math" panose="02040503050406030204" pitchFamily="18" charset="0"/>
                        <a:ea typeface="Cambria Math" panose="02040503050406030204" pitchFamily="18" charset="0"/>
                      </a:rPr>
                      <m:t>+(</m:t>
                    </m:r>
                    <m:r>
                      <a:rPr lang="en-US" altLang="zh-CN" sz="2400" b="1" i="1" smtClean="0">
                        <a:solidFill>
                          <a:srgbClr val="FF0000"/>
                        </a:solidFill>
                        <a:latin typeface="Cambria Math" panose="02040503050406030204" pitchFamily="18" charset="0"/>
                        <a:ea typeface="Cambria Math" panose="02040503050406030204" pitchFamily="18" charset="0"/>
                      </a:rPr>
                      <m:t>𝒏</m:t>
                    </m:r>
                    <m:r>
                      <a:rPr lang="en-US" altLang="zh-CN" sz="2400" b="1" i="1" smtClean="0">
                        <a:solidFill>
                          <a:srgbClr val="FF0000"/>
                        </a:solidFill>
                        <a:latin typeface="Cambria Math" panose="02040503050406030204" pitchFamily="18" charset="0"/>
                        <a:ea typeface="Cambria Math" panose="02040503050406030204" pitchFamily="18" charset="0"/>
                      </a:rPr>
                      <m:t>−</m:t>
                    </m:r>
                    <m:r>
                      <a:rPr lang="en-US" altLang="zh-CN" sz="2400" b="1" i="1" smtClean="0">
                        <a:solidFill>
                          <a:srgbClr val="FF0000"/>
                        </a:solidFill>
                        <a:latin typeface="Cambria Math" panose="02040503050406030204" pitchFamily="18" charset="0"/>
                        <a:ea typeface="Cambria Math" panose="02040503050406030204" pitchFamily="18" charset="0"/>
                      </a:rPr>
                      <m:t>𝟏</m:t>
                    </m:r>
                    <m:r>
                      <a:rPr lang="en-US" altLang="zh-CN" sz="2400" b="1" i="1" smtClean="0">
                        <a:solidFill>
                          <a:srgbClr val="FF0000"/>
                        </a:solidFill>
                        <a:latin typeface="Cambria Math" panose="02040503050406030204" pitchFamily="18" charset="0"/>
                        <a:ea typeface="Cambria Math" panose="02040503050406030204" pitchFamily="18" charset="0"/>
                      </a:rPr>
                      <m:t>)∆</m:t>
                    </m:r>
                    <m:r>
                      <a:rPr lang="en-US" altLang="zh-CN" sz="2400" b="1" i="1" smtClean="0">
                        <a:solidFill>
                          <a:srgbClr val="FF0000"/>
                        </a:solidFill>
                        <a:latin typeface="Cambria Math" panose="02040503050406030204" pitchFamily="18" charset="0"/>
                        <a:ea typeface="Cambria Math" panose="02040503050406030204" pitchFamily="18" charset="0"/>
                      </a:rPr>
                      <m:t>𝒕</m:t>
                    </m:r>
                    <m:r>
                      <a:rPr lang="en-US" altLang="zh-CN" sz="2400" b="1" i="1" smtClean="0">
                        <a:solidFill>
                          <a:srgbClr val="FF0000"/>
                        </a:solidFill>
                        <a:latin typeface="Cambria Math" panose="02040503050406030204" pitchFamily="18" charset="0"/>
                        <a:ea typeface="Cambria Math" panose="02040503050406030204" pitchFamily="18" charset="0"/>
                      </a:rPr>
                      <m:t>′</m:t>
                    </m:r>
                  </m:oMath>
                </a14:m>
                <a:endParaRPr lang="en-US" altLang="zh-CN" sz="2400" b="1" dirty="0">
                  <a:solidFill>
                    <a:srgbClr val="FF0000"/>
                  </a:solidFill>
                  <a:latin typeface="微软雅黑" panose="020B0503020204020204" pitchFamily="34" charset="-122"/>
                  <a:ea typeface="微软雅黑" panose="020B0503020204020204" pitchFamily="34" charset="-122"/>
                </a:endParaRPr>
              </a:p>
            </p:txBody>
          </p:sp>
        </mc:Choice>
        <mc:Fallback xmlns="">
          <p:sp>
            <p:nvSpPr>
              <p:cNvPr id="17" name="文本框 16"/>
              <p:cNvSpPr txBox="1">
                <a:spLocks noRot="1" noChangeAspect="1" noMove="1" noResize="1" noEditPoints="1" noAdjustHandles="1" noChangeArrowheads="1" noChangeShapeType="1" noTextEdit="1"/>
              </p:cNvSpPr>
              <p:nvPr/>
            </p:nvSpPr>
            <p:spPr>
              <a:xfrm>
                <a:off x="7919634" y="4130736"/>
                <a:ext cx="3314963" cy="461665"/>
              </a:xfrm>
              <a:prstGeom prst="rect">
                <a:avLst/>
              </a:prstGeom>
              <a:blipFill>
                <a:blip r:embed="rId12"/>
                <a:stretch>
                  <a:fillRect l="-368" b="-20000"/>
                </a:stretch>
              </a:blipFill>
            </p:spPr>
            <p:txBody>
              <a:bodyPr/>
              <a:lstStyle/>
              <a:p>
                <a:r>
                  <a:rPr lang="zh-CN" altLang="en-US">
                    <a:noFill/>
                  </a:rPr>
                  <a:t> </a:t>
                </a:r>
              </a:p>
            </p:txBody>
          </p:sp>
        </mc:Fallback>
      </mc:AlternateContent>
      <p:grpSp>
        <p:nvGrpSpPr>
          <p:cNvPr id="14" name="组合 13"/>
          <p:cNvGrpSpPr/>
          <p:nvPr/>
        </p:nvGrpSpPr>
        <p:grpSpPr>
          <a:xfrm>
            <a:off x="265635" y="269251"/>
            <a:ext cx="438352" cy="621987"/>
            <a:chOff x="265635" y="269251"/>
            <a:chExt cx="438352" cy="621987"/>
          </a:xfrm>
        </p:grpSpPr>
        <p:sp>
          <p:nvSpPr>
            <p:cNvPr id="18"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9"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20"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Tree>
    <p:extLst>
      <p:ext uri="{BB962C8B-B14F-4D97-AF65-F5344CB8AC3E}">
        <p14:creationId xmlns:p14="http://schemas.microsoft.com/office/powerpoint/2010/main" val="3924815376"/>
      </p:ext>
    </p:extLst>
  </p:cSld>
  <p:clrMapOvr>
    <a:masterClrMapping/>
  </p:clrMapOvr>
  <mc:AlternateContent xmlns:mc="http://schemas.openxmlformats.org/markup-compatibility/2006" xmlns:p14="http://schemas.microsoft.com/office/powerpoint/2010/main">
    <mc:Choice Requires="p14">
      <p:transition spd="slow">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1000"/>
                                        <p:tgtEl>
                                          <p:spTgt spid="12"/>
                                        </p:tgtEl>
                                      </p:cBhvr>
                                    </p:animEffect>
                                    <p:anim calcmode="lin" valueType="num">
                                      <p:cBhvr>
                                        <p:cTn id="22" dur="1000" fill="hold"/>
                                        <p:tgtEl>
                                          <p:spTgt spid="12"/>
                                        </p:tgtEl>
                                        <p:attrNameLst>
                                          <p:attrName>ppt_x</p:attrName>
                                        </p:attrNameLst>
                                      </p:cBhvr>
                                      <p:tavLst>
                                        <p:tav tm="0">
                                          <p:val>
                                            <p:strVal val="#ppt_x"/>
                                          </p:val>
                                        </p:tav>
                                        <p:tav tm="100000">
                                          <p:val>
                                            <p:strVal val="#ppt_x"/>
                                          </p:val>
                                        </p:tav>
                                      </p:tavLst>
                                    </p:anim>
                                    <p:anim calcmode="lin" valueType="num">
                                      <p:cBhvr>
                                        <p:cTn id="23"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1000"/>
                                        <p:tgtEl>
                                          <p:spTgt spid="16"/>
                                        </p:tgtEl>
                                      </p:cBhvr>
                                    </p:animEffect>
                                    <p:anim calcmode="lin" valueType="num">
                                      <p:cBhvr>
                                        <p:cTn id="29" dur="1000" fill="hold"/>
                                        <p:tgtEl>
                                          <p:spTgt spid="16"/>
                                        </p:tgtEl>
                                        <p:attrNameLst>
                                          <p:attrName>ppt_x</p:attrName>
                                        </p:attrNameLst>
                                      </p:cBhvr>
                                      <p:tavLst>
                                        <p:tav tm="0">
                                          <p:val>
                                            <p:strVal val="#ppt_x"/>
                                          </p:val>
                                        </p:tav>
                                        <p:tav tm="100000">
                                          <p:val>
                                            <p:strVal val="#ppt_x"/>
                                          </p:val>
                                        </p:tav>
                                      </p:tavLst>
                                    </p:anim>
                                    <p:anim calcmode="lin" valueType="num">
                                      <p:cBhvr>
                                        <p:cTn id="30"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1000"/>
                                        <p:tgtEl>
                                          <p:spTgt spid="17"/>
                                        </p:tgtEl>
                                      </p:cBhvr>
                                    </p:animEffect>
                                    <p:anim calcmode="lin" valueType="num">
                                      <p:cBhvr>
                                        <p:cTn id="36" dur="1000" fill="hold"/>
                                        <p:tgtEl>
                                          <p:spTgt spid="17"/>
                                        </p:tgtEl>
                                        <p:attrNameLst>
                                          <p:attrName>ppt_x</p:attrName>
                                        </p:attrNameLst>
                                      </p:cBhvr>
                                      <p:tavLst>
                                        <p:tav tm="0">
                                          <p:val>
                                            <p:strVal val="#ppt_x"/>
                                          </p:val>
                                        </p:tav>
                                        <p:tav tm="100000">
                                          <p:val>
                                            <p:strVal val="#ppt_x"/>
                                          </p:val>
                                        </p:tav>
                                      </p:tavLst>
                                    </p:anim>
                                    <p:anim calcmode="lin" valueType="num">
                                      <p:cBhvr>
                                        <p:cTn id="37"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6" presetClass="emph" presetSubtype="0" fill="hold" grpId="0" nodeType="clickEffect">
                                  <p:stCondLst>
                                    <p:cond delay="0"/>
                                  </p:stCondLst>
                                  <p:childTnLst>
                                    <p:animScale>
                                      <p:cBhvr>
                                        <p:cTn id="41" dur="2000" fill="hold"/>
                                        <p:tgtEl>
                                          <p:spTgt spid="21"/>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6" grpId="0"/>
      <p:bldP spid="12" grpId="0"/>
      <p:bldP spid="16" grpId="0"/>
      <p:bldP spid="21" grpId="0"/>
      <p:bldP spid="1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a:xfrm>
            <a:off x="746323" y="-85502"/>
            <a:ext cx="10515600" cy="1325563"/>
          </a:xfrm>
        </p:spPr>
        <p:txBody>
          <a:bodyPr>
            <a:normAutofit/>
          </a:bodyPr>
          <a:lstStyle/>
          <a:p>
            <a:pPr marL="457200" indent="-457200" algn="l">
              <a:lnSpc>
                <a:spcPct val="150000"/>
              </a:lnSpc>
              <a:buFont typeface="Wingdings" panose="05000000000000000000" pitchFamily="2" charset="2"/>
              <a:buChar char="u"/>
            </a:pPr>
            <a:r>
              <a:rPr lang="zh-CN" altLang="en-US" sz="3200" b="1" dirty="0">
                <a:latin typeface="微软雅黑" panose="020B0503020204020204" pitchFamily="34" charset="-122"/>
                <a:ea typeface="微软雅黑" panose="020B0503020204020204" pitchFamily="34" charset="-122"/>
              </a:rPr>
              <a:t>超标量超流水线处理机 </a:t>
            </a:r>
          </a:p>
        </p:txBody>
      </p:sp>
      <p:sp>
        <p:nvSpPr>
          <p:cNvPr id="120835" name="Rectangle 3"/>
          <p:cNvSpPr>
            <a:spLocks noGrp="1" noChangeArrowheads="1"/>
          </p:cNvSpPr>
          <p:nvPr>
            <p:ph type="body" idx="1"/>
          </p:nvPr>
        </p:nvSpPr>
        <p:spPr>
          <a:xfrm>
            <a:off x="1252200" y="3613591"/>
            <a:ext cx="7332241" cy="2736273"/>
          </a:xfrm>
        </p:spPr>
        <p:txBody>
          <a:bodyPr>
            <a:normAutofit/>
          </a:bodyPr>
          <a:lstStyle/>
          <a:p>
            <a:pPr marL="0" indent="0">
              <a:lnSpc>
                <a:spcPct val="150000"/>
              </a:lnSpc>
              <a:buNone/>
            </a:pPr>
            <a:r>
              <a:rPr lang="zh-CN" altLang="en-US" b="1" dirty="0">
                <a:latin typeface="微软雅黑" panose="020B0503020204020204" pitchFamily="34" charset="-122"/>
                <a:ea typeface="微软雅黑" panose="020B0503020204020204" pitchFamily="34" charset="-122"/>
              </a:rPr>
              <a:t>超标量超流水线处理机在一个⊿</a:t>
            </a:r>
            <a:r>
              <a:rPr lang="en-US" altLang="zh-CN" b="1" dirty="0">
                <a:latin typeface="微软雅黑" panose="020B0503020204020204" pitchFamily="34" charset="-122"/>
                <a:ea typeface="微软雅黑" panose="020B0503020204020204" pitchFamily="34" charset="-122"/>
              </a:rPr>
              <a:t>t’</a:t>
            </a:r>
            <a:r>
              <a:rPr lang="zh-CN" altLang="en-US" b="1" dirty="0">
                <a:latin typeface="微软雅黑" panose="020B0503020204020204" pitchFamily="34" charset="-122"/>
                <a:ea typeface="微软雅黑" panose="020B0503020204020204" pitchFamily="34" charset="-122"/>
              </a:rPr>
              <a:t>时间内发射了</a:t>
            </a:r>
            <a:r>
              <a:rPr lang="en-US" altLang="zh-CN" b="1" dirty="0">
                <a:latin typeface="微软雅黑" panose="020B0503020204020204" pitchFamily="34" charset="-122"/>
                <a:ea typeface="微软雅黑" panose="020B0503020204020204" pitchFamily="34" charset="-122"/>
              </a:rPr>
              <a:t>k</a:t>
            </a:r>
            <a:r>
              <a:rPr lang="zh-CN" altLang="en-US" b="1" dirty="0">
                <a:latin typeface="微软雅黑" panose="020B0503020204020204" pitchFamily="34" charset="-122"/>
                <a:ea typeface="微软雅黑" panose="020B0503020204020204" pitchFamily="34" charset="-122"/>
              </a:rPr>
              <a:t>条指令（超标量）。每次发射时间错开⊿</a:t>
            </a:r>
            <a:r>
              <a:rPr lang="en-US" altLang="zh-CN" b="1" dirty="0">
                <a:latin typeface="微软雅黑" panose="020B0503020204020204" pitchFamily="34" charset="-122"/>
                <a:ea typeface="微软雅黑" panose="020B0503020204020204" pitchFamily="34" charset="-122"/>
              </a:rPr>
              <a:t>t’</a:t>
            </a:r>
            <a:r>
              <a:rPr lang="zh-CN" altLang="en-US" b="1" dirty="0">
                <a:latin typeface="微软雅黑" panose="020B0503020204020204" pitchFamily="34" charset="-122"/>
                <a:ea typeface="微软雅黑" panose="020B0503020204020204" pitchFamily="34" charset="-122"/>
              </a:rPr>
              <a:t>（超流水），相当于每拍⊿</a:t>
            </a:r>
            <a:r>
              <a:rPr lang="en-US" altLang="zh-CN" b="1" dirty="0">
                <a:latin typeface="微软雅黑" panose="020B0503020204020204" pitchFamily="34" charset="-122"/>
                <a:ea typeface="微软雅黑" panose="020B0503020204020204" pitchFamily="34" charset="-122"/>
              </a:rPr>
              <a:t>t</a:t>
            </a:r>
            <a:r>
              <a:rPr lang="zh-CN" altLang="en-US" b="1" dirty="0">
                <a:latin typeface="微软雅黑" panose="020B0503020204020204" pitchFamily="34" charset="-122"/>
                <a:ea typeface="微软雅黑" panose="020B0503020204020204" pitchFamily="34" charset="-122"/>
              </a:rPr>
              <a:t>流出了</a:t>
            </a:r>
            <a:r>
              <a:rPr lang="en-US" altLang="zh-CN" b="1" dirty="0" err="1">
                <a:latin typeface="微软雅黑" panose="020B0503020204020204" pitchFamily="34" charset="-122"/>
                <a:ea typeface="微软雅黑" panose="020B0503020204020204" pitchFamily="34" charset="-122"/>
              </a:rPr>
              <a:t>n·k</a:t>
            </a:r>
            <a:r>
              <a:rPr lang="zh-CN" altLang="en-US" b="1" dirty="0">
                <a:latin typeface="微软雅黑" panose="020B0503020204020204" pitchFamily="34" charset="-122"/>
                <a:ea typeface="微软雅黑" panose="020B0503020204020204" pitchFamily="34" charset="-122"/>
              </a:rPr>
              <a:t>条任务，并行度为</a:t>
            </a:r>
            <a:r>
              <a:rPr lang="en-US" altLang="zh-CN" b="1" dirty="0">
                <a:latin typeface="微软雅黑" panose="020B0503020204020204" pitchFamily="34" charset="-122"/>
                <a:ea typeface="微软雅黑" panose="020B0503020204020204" pitchFamily="34" charset="-122"/>
              </a:rPr>
              <a:t>m</a:t>
            </a:r>
            <a:r>
              <a:rPr lang="zh-CN" altLang="en-US" b="1" dirty="0">
                <a:latin typeface="微软雅黑" panose="020B0503020204020204" pitchFamily="34" charset="-122"/>
                <a:ea typeface="微软雅黑" panose="020B0503020204020204" pitchFamily="34" charset="-122"/>
              </a:rPr>
              <a:t>＝</a:t>
            </a:r>
            <a:r>
              <a:rPr lang="en-US" altLang="zh-CN" b="1" dirty="0" err="1">
                <a:latin typeface="微软雅黑" panose="020B0503020204020204" pitchFamily="34" charset="-122"/>
                <a:ea typeface="微软雅黑" panose="020B0503020204020204" pitchFamily="34" charset="-122"/>
              </a:rPr>
              <a:t>k·n</a:t>
            </a:r>
            <a:r>
              <a:rPr lang="zh-CN" altLang="en-US" b="1" dirty="0">
                <a:latin typeface="微软雅黑" panose="020B0503020204020204" pitchFamily="34" charset="-122"/>
                <a:ea typeface="微软雅黑" panose="020B0503020204020204" pitchFamily="34" charset="-122"/>
              </a:rPr>
              <a:t>。</a:t>
            </a:r>
          </a:p>
        </p:txBody>
      </p:sp>
      <p:sp>
        <p:nvSpPr>
          <p:cNvPr id="4" name="Oval 5"/>
          <p:cNvSpPr>
            <a:spLocks noChangeArrowheads="1"/>
          </p:cNvSpPr>
          <p:nvPr/>
        </p:nvSpPr>
        <p:spPr bwMode="auto">
          <a:xfrm>
            <a:off x="1081967" y="1644982"/>
            <a:ext cx="1573899" cy="1563688"/>
          </a:xfrm>
          <a:prstGeom prst="ellipse">
            <a:avLst/>
          </a:prstGeom>
          <a:solidFill>
            <a:srgbClr val="04B0BE"/>
          </a:solidFill>
          <a:ln w="38100" cap="flat">
            <a:solidFill>
              <a:srgbClr val="04B0BE"/>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5" name="Oval 6"/>
          <p:cNvSpPr>
            <a:spLocks noChangeArrowheads="1"/>
          </p:cNvSpPr>
          <p:nvPr/>
        </p:nvSpPr>
        <p:spPr bwMode="auto">
          <a:xfrm>
            <a:off x="9292578" y="4091462"/>
            <a:ext cx="1573899" cy="1563688"/>
          </a:xfrm>
          <a:prstGeom prst="ellipse">
            <a:avLst/>
          </a:prstGeom>
          <a:solidFill>
            <a:srgbClr val="FFC000"/>
          </a:solidFill>
          <a:ln w="38100" cap="flat">
            <a:solidFill>
              <a:srgbClr val="FFC000"/>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10"/>
          <p:cNvSpPr>
            <a:spLocks noEditPoints="1"/>
          </p:cNvSpPr>
          <p:nvPr/>
        </p:nvSpPr>
        <p:spPr bwMode="auto">
          <a:xfrm>
            <a:off x="2747597" y="2253488"/>
            <a:ext cx="365303" cy="362962"/>
          </a:xfrm>
          <a:custGeom>
            <a:avLst/>
            <a:gdLst>
              <a:gd name="T0" fmla="*/ 173 w 346"/>
              <a:gd name="T1" fmla="*/ 0 h 346"/>
              <a:gd name="T2" fmla="*/ 346 w 346"/>
              <a:gd name="T3" fmla="*/ 173 h 346"/>
              <a:gd name="T4" fmla="*/ 173 w 346"/>
              <a:gd name="T5" fmla="*/ 346 h 346"/>
              <a:gd name="T6" fmla="*/ 0 w 346"/>
              <a:gd name="T7" fmla="*/ 173 h 346"/>
              <a:gd name="T8" fmla="*/ 173 w 346"/>
              <a:gd name="T9" fmla="*/ 0 h 346"/>
              <a:gd name="T10" fmla="*/ 277 w 346"/>
              <a:gd name="T11" fmla="*/ 176 h 346"/>
              <a:gd name="T12" fmla="*/ 204 w 346"/>
              <a:gd name="T13" fmla="*/ 218 h 346"/>
              <a:gd name="T14" fmla="*/ 131 w 346"/>
              <a:gd name="T15" fmla="*/ 260 h 346"/>
              <a:gd name="T16" fmla="*/ 131 w 346"/>
              <a:gd name="T17" fmla="*/ 176 h 346"/>
              <a:gd name="T18" fmla="*/ 131 w 346"/>
              <a:gd name="T19" fmla="*/ 92 h 346"/>
              <a:gd name="T20" fmla="*/ 204 w 346"/>
              <a:gd name="T21" fmla="*/ 134 h 346"/>
              <a:gd name="T22" fmla="*/ 277 w 346"/>
              <a:gd name="T23" fmla="*/ 176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6" h="346">
                <a:moveTo>
                  <a:pt x="173" y="0"/>
                </a:moveTo>
                <a:cubicBezTo>
                  <a:pt x="268" y="0"/>
                  <a:pt x="346" y="77"/>
                  <a:pt x="346" y="173"/>
                </a:cubicBezTo>
                <a:cubicBezTo>
                  <a:pt x="346" y="268"/>
                  <a:pt x="268" y="346"/>
                  <a:pt x="173" y="346"/>
                </a:cubicBezTo>
                <a:cubicBezTo>
                  <a:pt x="77" y="346"/>
                  <a:pt x="0" y="268"/>
                  <a:pt x="0" y="173"/>
                </a:cubicBezTo>
                <a:cubicBezTo>
                  <a:pt x="0" y="77"/>
                  <a:pt x="77" y="0"/>
                  <a:pt x="173" y="0"/>
                </a:cubicBezTo>
                <a:close/>
                <a:moveTo>
                  <a:pt x="277" y="176"/>
                </a:moveTo>
                <a:lnTo>
                  <a:pt x="204" y="218"/>
                </a:lnTo>
                <a:lnTo>
                  <a:pt x="131" y="260"/>
                </a:lnTo>
                <a:lnTo>
                  <a:pt x="131" y="176"/>
                </a:lnTo>
                <a:lnTo>
                  <a:pt x="131" y="92"/>
                </a:lnTo>
                <a:lnTo>
                  <a:pt x="204" y="134"/>
                </a:lnTo>
                <a:lnTo>
                  <a:pt x="277" y="176"/>
                </a:lnTo>
                <a:close/>
              </a:path>
            </a:pathLst>
          </a:custGeom>
          <a:solidFill>
            <a:srgbClr val="04B0BE"/>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11"/>
          <p:cNvSpPr>
            <a:spLocks noEditPoints="1"/>
          </p:cNvSpPr>
          <p:nvPr/>
        </p:nvSpPr>
        <p:spPr bwMode="auto">
          <a:xfrm>
            <a:off x="8848094" y="4669578"/>
            <a:ext cx="365303" cy="362962"/>
          </a:xfrm>
          <a:custGeom>
            <a:avLst/>
            <a:gdLst>
              <a:gd name="T0" fmla="*/ 173 w 346"/>
              <a:gd name="T1" fmla="*/ 0 h 346"/>
              <a:gd name="T2" fmla="*/ 0 w 346"/>
              <a:gd name="T3" fmla="*/ 173 h 346"/>
              <a:gd name="T4" fmla="*/ 173 w 346"/>
              <a:gd name="T5" fmla="*/ 346 h 346"/>
              <a:gd name="T6" fmla="*/ 346 w 346"/>
              <a:gd name="T7" fmla="*/ 173 h 346"/>
              <a:gd name="T8" fmla="*/ 173 w 346"/>
              <a:gd name="T9" fmla="*/ 0 h 346"/>
              <a:gd name="T10" fmla="*/ 69 w 346"/>
              <a:gd name="T11" fmla="*/ 177 h 346"/>
              <a:gd name="T12" fmla="*/ 142 w 346"/>
              <a:gd name="T13" fmla="*/ 219 h 346"/>
              <a:gd name="T14" fmla="*/ 215 w 346"/>
              <a:gd name="T15" fmla="*/ 261 h 346"/>
              <a:gd name="T16" fmla="*/ 215 w 346"/>
              <a:gd name="T17" fmla="*/ 177 h 346"/>
              <a:gd name="T18" fmla="*/ 215 w 346"/>
              <a:gd name="T19" fmla="*/ 93 h 346"/>
              <a:gd name="T20" fmla="*/ 142 w 346"/>
              <a:gd name="T21" fmla="*/ 135 h 346"/>
              <a:gd name="T22" fmla="*/ 69 w 346"/>
              <a:gd name="T23" fmla="*/ 177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6" h="346">
                <a:moveTo>
                  <a:pt x="173" y="0"/>
                </a:moveTo>
                <a:cubicBezTo>
                  <a:pt x="78" y="0"/>
                  <a:pt x="0" y="78"/>
                  <a:pt x="0" y="173"/>
                </a:cubicBezTo>
                <a:cubicBezTo>
                  <a:pt x="0" y="269"/>
                  <a:pt x="78" y="346"/>
                  <a:pt x="173" y="346"/>
                </a:cubicBezTo>
                <a:cubicBezTo>
                  <a:pt x="269" y="346"/>
                  <a:pt x="346" y="269"/>
                  <a:pt x="346" y="173"/>
                </a:cubicBezTo>
                <a:cubicBezTo>
                  <a:pt x="346" y="78"/>
                  <a:pt x="269" y="0"/>
                  <a:pt x="173" y="0"/>
                </a:cubicBezTo>
                <a:close/>
                <a:moveTo>
                  <a:pt x="69" y="177"/>
                </a:moveTo>
                <a:lnTo>
                  <a:pt x="142" y="219"/>
                </a:lnTo>
                <a:lnTo>
                  <a:pt x="215" y="261"/>
                </a:lnTo>
                <a:lnTo>
                  <a:pt x="215" y="177"/>
                </a:lnTo>
                <a:lnTo>
                  <a:pt x="215" y="93"/>
                </a:lnTo>
                <a:lnTo>
                  <a:pt x="142" y="135"/>
                </a:lnTo>
                <a:lnTo>
                  <a:pt x="69" y="177"/>
                </a:lnTo>
                <a:close/>
              </a:path>
            </a:pathLst>
          </a:custGeom>
          <a:solidFill>
            <a:srgbClr val="FFC000"/>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sp>
        <p:nvSpPr>
          <p:cNvPr id="8" name="TextBox 13"/>
          <p:cNvSpPr txBox="1"/>
          <p:nvPr/>
        </p:nvSpPr>
        <p:spPr>
          <a:xfrm flipH="1">
            <a:off x="1318404" y="1965342"/>
            <a:ext cx="1116324" cy="907578"/>
          </a:xfrm>
          <a:prstGeom prst="rect">
            <a:avLst/>
          </a:prstGeom>
          <a:noFill/>
        </p:spPr>
        <p:txBody>
          <a:bodyPr wrap="square" lIns="91398" tIns="45699" rIns="91398" bIns="45699" rtlCol="0">
            <a:spAutoFit/>
          </a:bodyPr>
          <a:lstStyle/>
          <a:p>
            <a:pPr algn="ctr"/>
            <a:r>
              <a:rPr lang="en-US" altLang="zh-CN" sz="5298" dirty="0">
                <a:solidFill>
                  <a:schemeClr val="bg1"/>
                </a:solidFill>
                <a:latin typeface="+mn-ea"/>
              </a:rPr>
              <a:t>01</a:t>
            </a:r>
          </a:p>
        </p:txBody>
      </p:sp>
      <p:sp>
        <p:nvSpPr>
          <p:cNvPr id="9" name="TextBox 14"/>
          <p:cNvSpPr txBox="1"/>
          <p:nvPr/>
        </p:nvSpPr>
        <p:spPr>
          <a:xfrm flipH="1">
            <a:off x="9537466" y="4411822"/>
            <a:ext cx="1116324" cy="907578"/>
          </a:xfrm>
          <a:prstGeom prst="rect">
            <a:avLst/>
          </a:prstGeom>
          <a:noFill/>
        </p:spPr>
        <p:txBody>
          <a:bodyPr wrap="square" lIns="91398" tIns="45699" rIns="91398" bIns="45699" rtlCol="0">
            <a:spAutoFit/>
          </a:bodyPr>
          <a:lstStyle/>
          <a:p>
            <a:pPr algn="ctr"/>
            <a:r>
              <a:rPr lang="en-US" altLang="zh-CN" sz="5298" dirty="0">
                <a:solidFill>
                  <a:schemeClr val="bg1"/>
                </a:solidFill>
                <a:latin typeface="+mn-ea"/>
              </a:rPr>
              <a:t>02</a:t>
            </a:r>
          </a:p>
        </p:txBody>
      </p:sp>
      <p:sp>
        <p:nvSpPr>
          <p:cNvPr id="2" name="矩形 1"/>
          <p:cNvSpPr/>
          <p:nvPr/>
        </p:nvSpPr>
        <p:spPr>
          <a:xfrm>
            <a:off x="3333055" y="1738598"/>
            <a:ext cx="7928868" cy="1384995"/>
          </a:xfrm>
          <a:prstGeom prst="rect">
            <a:avLst/>
          </a:prstGeom>
        </p:spPr>
        <p:txBody>
          <a:bodyPr wrap="square">
            <a:spAutoFit/>
          </a:bodyPr>
          <a:lstStyle/>
          <a:p>
            <a:pPr>
              <a:lnSpc>
                <a:spcPct val="150000"/>
              </a:lnSpc>
            </a:pPr>
            <a:r>
              <a:rPr lang="zh-CN" altLang="en-US" sz="2800" b="1" dirty="0">
                <a:latin typeface="微软雅黑" panose="020B0503020204020204" pitchFamily="34" charset="-122"/>
                <a:ea typeface="微软雅黑" panose="020B0503020204020204" pitchFamily="34" charset="-122"/>
              </a:rPr>
              <a:t>将超标量流水线与超流水线机结合就形成了超标量超流水线处理机。</a:t>
            </a:r>
            <a:endParaRPr lang="en-US" altLang="zh-CN" sz="2800" b="1" dirty="0">
              <a:latin typeface="微软雅黑" panose="020B0503020204020204" pitchFamily="34" charset="-122"/>
              <a:ea typeface="微软雅黑" panose="020B0503020204020204" pitchFamily="34" charset="-122"/>
            </a:endParaRPr>
          </a:p>
        </p:txBody>
      </p:sp>
      <p:grpSp>
        <p:nvGrpSpPr>
          <p:cNvPr id="11" name="组合 10"/>
          <p:cNvGrpSpPr/>
          <p:nvPr/>
        </p:nvGrpSpPr>
        <p:grpSpPr>
          <a:xfrm>
            <a:off x="265635" y="269251"/>
            <a:ext cx="438352" cy="621987"/>
            <a:chOff x="265635" y="269251"/>
            <a:chExt cx="438352" cy="621987"/>
          </a:xfrm>
        </p:grpSpPr>
        <p:sp>
          <p:nvSpPr>
            <p:cNvPr id="12"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3"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4"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Tree>
    <p:extLst>
      <p:ext uri="{BB962C8B-B14F-4D97-AF65-F5344CB8AC3E}">
        <p14:creationId xmlns:p14="http://schemas.microsoft.com/office/powerpoint/2010/main" val="540495161"/>
      </p:ext>
    </p:extLst>
  </p:cSld>
  <p:clrMapOvr>
    <a:masterClrMapping/>
  </p:clrMapOvr>
  <mc:AlternateContent xmlns:mc="http://schemas.openxmlformats.org/markup-compatibility/2006" xmlns:p14="http://schemas.microsoft.com/office/powerpoint/2010/main">
    <mc:Choice Requires="p14">
      <p:transition spd="slow">
        <p14:flip dir="r"/>
      </p:transition>
    </mc:Choice>
    <mc:Fallback xmlns="">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1134649" y="1114523"/>
            <a:ext cx="4048556" cy="5714790"/>
          </a:xfrm>
          <a:prstGeom prst="rect">
            <a:avLst/>
          </a:prstGeom>
        </p:spPr>
      </p:pic>
      <p:sp>
        <p:nvSpPr>
          <p:cNvPr id="38914" name="Rectangle 2"/>
          <p:cNvSpPr>
            <a:spLocks noGrp="1" noChangeArrowheads="1"/>
          </p:cNvSpPr>
          <p:nvPr>
            <p:ph type="title"/>
          </p:nvPr>
        </p:nvSpPr>
        <p:spPr>
          <a:xfrm>
            <a:off x="745835" y="-9540"/>
            <a:ext cx="10515600" cy="1325563"/>
          </a:xfrm>
        </p:spPr>
        <p:txBody>
          <a:bodyPr>
            <a:normAutofit/>
          </a:bodyPr>
          <a:lstStyle/>
          <a:p>
            <a:pPr algn="l">
              <a:lnSpc>
                <a:spcPct val="120000"/>
              </a:lnSpc>
            </a:pPr>
            <a:r>
              <a:rPr lang="zh-CN" altLang="en-US" sz="2400" b="1" dirty="0">
                <a:latin typeface="微软雅黑" panose="020B0503020204020204" pitchFamily="34" charset="-122"/>
                <a:ea typeface="微软雅黑" panose="020B0503020204020204" pitchFamily="34" charset="-122"/>
              </a:rPr>
              <a:t>并行度</a:t>
            </a:r>
            <a:r>
              <a:rPr lang="en-US" altLang="zh-CN" sz="2400" b="1" dirty="0">
                <a:latin typeface="微软雅黑" panose="020B0503020204020204" pitchFamily="34" charset="-122"/>
                <a:ea typeface="微软雅黑" panose="020B0503020204020204" pitchFamily="34" charset="-122"/>
              </a:rPr>
              <a:t>m</a:t>
            </a:r>
            <a:r>
              <a:rPr lang="zh-CN" altLang="en-US" sz="2400" b="1" dirty="0">
                <a:latin typeface="微软雅黑" panose="020B0503020204020204" pitchFamily="34" charset="-122"/>
                <a:ea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rPr>
              <a:t>9</a:t>
            </a:r>
            <a:r>
              <a:rPr lang="zh-CN" altLang="en-US" sz="2400" b="1" dirty="0">
                <a:latin typeface="微软雅黑" panose="020B0503020204020204" pitchFamily="34" charset="-122"/>
                <a:ea typeface="微软雅黑" panose="020B0503020204020204" pitchFamily="34" charset="-122"/>
              </a:rPr>
              <a:t>的超标量超流水线，</a:t>
            </a:r>
            <a:r>
              <a:rPr lang="en-US" altLang="zh-CN" sz="2400" b="1" dirty="0">
                <a:latin typeface="微软雅黑" panose="020B0503020204020204" pitchFamily="34" charset="-122"/>
                <a:ea typeface="微软雅黑" panose="020B0503020204020204" pitchFamily="34" charset="-122"/>
              </a:rPr>
              <a:t>k</a:t>
            </a:r>
            <a:r>
              <a:rPr lang="zh-CN" altLang="en-US" sz="2400" b="1" dirty="0">
                <a:latin typeface="微软雅黑" panose="020B0503020204020204" pitchFamily="34" charset="-122"/>
                <a:ea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rPr>
              <a:t>3</a:t>
            </a:r>
            <a:r>
              <a:rPr lang="zh-CN" altLang="en-US" sz="2400" b="1" dirty="0">
                <a:latin typeface="微软雅黑" panose="020B0503020204020204" pitchFamily="34" charset="-122"/>
                <a:ea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rPr>
              <a:t>n</a:t>
            </a:r>
            <a:r>
              <a:rPr lang="zh-CN" altLang="en-US" sz="2400" b="1" dirty="0">
                <a:latin typeface="微软雅黑" panose="020B0503020204020204" pitchFamily="34" charset="-122"/>
                <a:ea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rPr>
              <a:t>3</a:t>
            </a:r>
            <a:r>
              <a:rPr lang="zh-CN" altLang="en-US" sz="2400" b="1" dirty="0">
                <a:latin typeface="微软雅黑" panose="020B0503020204020204" pitchFamily="34" charset="-122"/>
                <a:ea typeface="微软雅黑" panose="020B0503020204020204" pitchFamily="34" charset="-122"/>
              </a:rPr>
              <a:t>，并行度</a:t>
            </a:r>
            <a:r>
              <a:rPr lang="en-US" altLang="zh-CN" sz="2400" b="1" dirty="0">
                <a:latin typeface="微软雅黑" panose="020B0503020204020204" pitchFamily="34" charset="-122"/>
                <a:ea typeface="微软雅黑" panose="020B0503020204020204" pitchFamily="34" charset="-122"/>
              </a:rPr>
              <a:t>m</a:t>
            </a:r>
            <a:r>
              <a:rPr lang="zh-CN" altLang="en-US" sz="2400" b="1" dirty="0">
                <a:latin typeface="微软雅黑" panose="020B0503020204020204" pitchFamily="34" charset="-122"/>
                <a:ea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rPr>
              <a:t>9</a:t>
            </a:r>
            <a:r>
              <a:rPr lang="zh-CN" altLang="en-US" sz="2400" b="1" dirty="0">
                <a:latin typeface="微软雅黑" panose="020B0503020204020204" pitchFamily="34" charset="-122"/>
                <a:ea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rPr>
              <a:t/>
            </a:r>
            <a:br>
              <a:rPr lang="en-US" altLang="zh-CN" sz="2400" b="1" dirty="0">
                <a:latin typeface="微软雅黑" panose="020B0503020204020204" pitchFamily="34" charset="-122"/>
                <a:ea typeface="微软雅黑" panose="020B0503020204020204" pitchFamily="34" charset="-122"/>
              </a:rPr>
            </a:br>
            <a:r>
              <a:rPr lang="zh-CN" altLang="en-US" sz="2400" b="1" dirty="0">
                <a:latin typeface="微软雅黑" panose="020B0503020204020204" pitchFamily="34" charset="-122"/>
                <a:ea typeface="微软雅黑" panose="020B0503020204020204" pitchFamily="34" charset="-122"/>
              </a:rPr>
              <a:t>完成</a:t>
            </a:r>
            <a:r>
              <a:rPr lang="en-US" altLang="zh-CN" sz="2400" b="1" dirty="0">
                <a:latin typeface="微软雅黑" panose="020B0503020204020204" pitchFamily="34" charset="-122"/>
                <a:ea typeface="微软雅黑" panose="020B0503020204020204" pitchFamily="34" charset="-122"/>
              </a:rPr>
              <a:t>12</a:t>
            </a:r>
            <a:r>
              <a:rPr lang="zh-CN" altLang="en-US" sz="2400" b="1" dirty="0">
                <a:latin typeface="微软雅黑" panose="020B0503020204020204" pitchFamily="34" charset="-122"/>
                <a:ea typeface="微软雅黑" panose="020B0503020204020204" pitchFamily="34" charset="-122"/>
              </a:rPr>
              <a:t>个任务就需</a:t>
            </a:r>
            <a:r>
              <a:rPr lang="en-US" altLang="zh-CN" sz="2400" b="1" dirty="0">
                <a:latin typeface="微软雅黑" panose="020B0503020204020204" pitchFamily="34" charset="-122"/>
                <a:ea typeface="微软雅黑" panose="020B0503020204020204" pitchFamily="34" charset="-122"/>
              </a:rPr>
              <a:t>5⊿t</a:t>
            </a:r>
            <a:r>
              <a:rPr lang="zh-CN" altLang="en-US" sz="2400" b="1" dirty="0">
                <a:latin typeface="微软雅黑" panose="020B0503020204020204" pitchFamily="34" charset="-122"/>
                <a:ea typeface="微软雅黑" panose="020B0503020204020204" pitchFamily="34" charset="-122"/>
              </a:rPr>
              <a:t>，完成</a:t>
            </a:r>
            <a:r>
              <a:rPr lang="en-US" altLang="zh-CN" sz="2400" b="1" dirty="0">
                <a:latin typeface="微软雅黑" panose="020B0503020204020204" pitchFamily="34" charset="-122"/>
                <a:ea typeface="微软雅黑" panose="020B0503020204020204" pitchFamily="34" charset="-122"/>
              </a:rPr>
              <a:t>21</a:t>
            </a:r>
            <a:r>
              <a:rPr lang="zh-CN" altLang="en-US" sz="2400" b="1" dirty="0">
                <a:latin typeface="微软雅黑" panose="020B0503020204020204" pitchFamily="34" charset="-122"/>
                <a:ea typeface="微软雅黑" panose="020B0503020204020204" pitchFamily="34" charset="-122"/>
              </a:rPr>
              <a:t>个任务就只需</a:t>
            </a:r>
            <a:r>
              <a:rPr lang="en-US" altLang="zh-CN" sz="2400" b="1" dirty="0">
                <a:latin typeface="微软雅黑" panose="020B0503020204020204" pitchFamily="34" charset="-122"/>
                <a:ea typeface="微软雅黑" panose="020B0503020204020204" pitchFamily="34" charset="-122"/>
              </a:rPr>
              <a:t>6⊿t</a:t>
            </a:r>
            <a:endParaRPr lang="zh-CN" altLang="en-US" sz="2400" b="1" dirty="0">
              <a:latin typeface="微软雅黑" panose="020B0503020204020204" pitchFamily="34" charset="-122"/>
              <a:ea typeface="微软雅黑" panose="020B0503020204020204" pitchFamily="34" charset="-122"/>
            </a:endParaRPr>
          </a:p>
        </p:txBody>
      </p:sp>
      <p:sp>
        <p:nvSpPr>
          <p:cNvPr id="38956" name="Rectangle 44"/>
          <p:cNvSpPr>
            <a:spLocks noChangeArrowheads="1"/>
          </p:cNvSpPr>
          <p:nvPr/>
        </p:nvSpPr>
        <p:spPr bwMode="auto">
          <a:xfrm>
            <a:off x="6003635" y="1915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fontAlgn="base">
              <a:spcBef>
                <a:spcPct val="0"/>
              </a:spcBef>
              <a:spcAft>
                <a:spcPct val="0"/>
              </a:spcAft>
            </a:pPr>
            <a:endParaRPr lang="zh-CN" altLang="en-US">
              <a:solidFill>
                <a:srgbClr val="FFFFFF"/>
              </a:solidFill>
              <a:ea typeface="宋体" panose="02010600030101010101" pitchFamily="2" charset="-122"/>
            </a:endParaRPr>
          </a:p>
        </p:txBody>
      </p:sp>
      <mc:AlternateContent xmlns:mc="http://schemas.openxmlformats.org/markup-compatibility/2006">
        <mc:Choice xmlns:a14="http://schemas.microsoft.com/office/drawing/2010/main" Requires="a14">
          <p:sp>
            <p:nvSpPr>
              <p:cNvPr id="5" name="文本框 4"/>
              <p:cNvSpPr txBox="1"/>
              <p:nvPr/>
            </p:nvSpPr>
            <p:spPr>
              <a:xfrm>
                <a:off x="5865169" y="1463934"/>
                <a:ext cx="4906434" cy="2554545"/>
              </a:xfrm>
              <a:prstGeom prst="rect">
                <a:avLst/>
              </a:prstGeom>
              <a:noFill/>
            </p:spPr>
            <p:txBody>
              <a:bodyPr wrap="square" rtlCol="0">
                <a:spAutoFit/>
              </a:bodyPr>
              <a:lstStyle/>
              <a:p>
                <a:pPr marL="342900" indent="-342900">
                  <a:buFont typeface="Wingdings" panose="05000000000000000000" pitchFamily="2" charset="2"/>
                  <a:buChar char="Ø"/>
                </a:pPr>
                <a14:m>
                  <m:oMath xmlns:m="http://schemas.openxmlformats.org/officeDocument/2006/math">
                    <m:r>
                      <a:rPr lang="en-US" altLang="zh-CN" sz="2000" b="1" i="1" dirty="0" smtClean="0">
                        <a:solidFill>
                          <a:srgbClr val="1D528D"/>
                        </a:solidFill>
                        <a:latin typeface="Cambria Math" panose="02040503050406030204" pitchFamily="18" charset="0"/>
                        <a:ea typeface="宋体" panose="02010600030101010101" pitchFamily="2" charset="-122"/>
                      </a:rPr>
                      <m:t>𝟏</m:t>
                    </m:r>
                    <m:r>
                      <a:rPr lang="zh-CN" altLang="en-US" sz="2000" b="1" i="1" dirty="0">
                        <a:solidFill>
                          <a:srgbClr val="1D528D"/>
                        </a:solidFill>
                        <a:latin typeface="Cambria Math" panose="02040503050406030204" pitchFamily="18" charset="0"/>
                        <a:ea typeface="宋体" panose="02010600030101010101" pitchFamily="2" charset="-122"/>
                      </a:rPr>
                      <m:t>个</m:t>
                    </m:r>
                    <m:r>
                      <a:rPr lang="en-US" altLang="zh-CN" sz="2000" b="1" i="1" dirty="0" smtClean="0">
                        <a:solidFill>
                          <a:srgbClr val="1D528D"/>
                        </a:solidFill>
                        <a:latin typeface="Cambria Math" panose="02040503050406030204" pitchFamily="18" charset="0"/>
                        <a:ea typeface="宋体" panose="02010600030101010101" pitchFamily="2" charset="-122"/>
                      </a:rPr>
                      <m:t>𝑪𝑷𝑼</m:t>
                    </m:r>
                    <m:r>
                      <a:rPr lang="zh-CN" altLang="en-US" sz="2000" b="1" i="1" dirty="0">
                        <a:solidFill>
                          <a:srgbClr val="1D528D"/>
                        </a:solidFill>
                        <a:latin typeface="Cambria Math" panose="02040503050406030204" pitchFamily="18" charset="0"/>
                        <a:ea typeface="宋体" panose="02010600030101010101" pitchFamily="2" charset="-122"/>
                      </a:rPr>
                      <m:t>周期</m:t>
                    </m:r>
                    <m:r>
                      <a:rPr lang="zh-CN" altLang="en-US" sz="2000" b="1" i="1" dirty="0">
                        <a:solidFill>
                          <a:srgbClr val="1D528D"/>
                        </a:solidFill>
                        <a:latin typeface="Cambria Math" panose="02040503050406030204" pitchFamily="18" charset="0"/>
                        <a:ea typeface="宋体" panose="02010600030101010101" pitchFamily="2" charset="-122"/>
                      </a:rPr>
                      <m:t>⊿</m:t>
                    </m:r>
                    <m:r>
                      <a:rPr lang="en-US" altLang="zh-CN" sz="2000" b="1" i="1" dirty="0">
                        <a:solidFill>
                          <a:srgbClr val="1D528D"/>
                        </a:solidFill>
                        <a:latin typeface="Cambria Math" panose="02040503050406030204" pitchFamily="18" charset="0"/>
                        <a:ea typeface="宋体" panose="02010600030101010101" pitchFamily="2" charset="-122"/>
                      </a:rPr>
                      <m:t>𝒕</m:t>
                    </m:r>
                    <m:r>
                      <a:rPr lang="en-US" altLang="zh-CN" sz="2000" b="1" i="1" dirty="0">
                        <a:solidFill>
                          <a:srgbClr val="1D528D"/>
                        </a:solidFill>
                        <a:latin typeface="Cambria Math" panose="02040503050406030204" pitchFamily="18" charset="0"/>
                        <a:ea typeface="宋体" panose="02010600030101010101" pitchFamily="2" charset="-122"/>
                      </a:rPr>
                      <m:t>=</m:t>
                    </m:r>
                    <m:r>
                      <a:rPr lang="en-US" altLang="zh-CN" sz="2000" b="1" i="1" dirty="0">
                        <a:solidFill>
                          <a:srgbClr val="1D528D"/>
                        </a:solidFill>
                        <a:latin typeface="Cambria Math" panose="02040503050406030204" pitchFamily="18" charset="0"/>
                        <a:ea typeface="宋体" panose="02010600030101010101" pitchFamily="2" charset="-122"/>
                      </a:rPr>
                      <m:t>𝟑</m:t>
                    </m:r>
                    <m:r>
                      <a:rPr lang="en-US" altLang="zh-CN" sz="2000" b="1" i="1" dirty="0">
                        <a:solidFill>
                          <a:srgbClr val="1D528D"/>
                        </a:solidFill>
                        <a:latin typeface="Cambria Math" panose="02040503050406030204" pitchFamily="18" charset="0"/>
                        <a:ea typeface="宋体" panose="02010600030101010101" pitchFamily="2" charset="-122"/>
                      </a:rPr>
                      <m:t>∙⊿</m:t>
                    </m:r>
                    <m:r>
                      <a:rPr lang="en-US" altLang="zh-CN" sz="2000" b="1" i="1" dirty="0">
                        <a:solidFill>
                          <a:srgbClr val="1D528D"/>
                        </a:solidFill>
                        <a:latin typeface="Cambria Math" panose="02040503050406030204" pitchFamily="18" charset="0"/>
                        <a:ea typeface="宋体" panose="02010600030101010101" pitchFamily="2" charset="-122"/>
                      </a:rPr>
                      <m:t>𝒕</m:t>
                    </m:r>
                  </m:oMath>
                </a14:m>
                <a:r>
                  <a:rPr lang="en-US" altLang="zh-CN" sz="2000" b="1" dirty="0">
                    <a:solidFill>
                      <a:srgbClr val="1D528D"/>
                    </a:solidFill>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Ø"/>
                </a:pPr>
                <a:r>
                  <a:rPr lang="en-US" altLang="zh-CN" sz="2000" b="1" dirty="0">
                    <a:latin typeface="微软雅黑" panose="020B0503020204020204" pitchFamily="34" charset="-122"/>
                    <a:ea typeface="微软雅黑" panose="020B0503020204020204" pitchFamily="34" charset="-122"/>
                  </a:rPr>
                  <a:t>k=3</a:t>
                </a:r>
                <a:r>
                  <a:rPr lang="zh-CN" altLang="en-US" sz="2000" b="1" dirty="0" smtClean="0">
                    <a:latin typeface="微软雅黑" panose="020B0503020204020204" pitchFamily="34" charset="-122"/>
                    <a:ea typeface="微软雅黑" panose="020B0503020204020204" pitchFamily="34" charset="-122"/>
                  </a:rPr>
                  <a:t>（</a:t>
                </a:r>
                <a:r>
                  <a:rPr lang="zh-CN" altLang="en-US" sz="2000" b="1" dirty="0">
                    <a:solidFill>
                      <a:srgbClr val="FF0000"/>
                    </a:solidFill>
                    <a:latin typeface="微软雅黑" panose="020B0503020204020204" pitchFamily="34" charset="-122"/>
                    <a:ea typeface="微软雅黑" panose="020B0503020204020204" pitchFamily="34" charset="-122"/>
                  </a:rPr>
                  <a:t>部件重复</a:t>
                </a:r>
                <a:r>
                  <a:rPr lang="zh-CN" altLang="en-US" sz="2000" b="1" dirty="0" smtClean="0">
                    <a:latin typeface="微软雅黑" panose="020B0503020204020204" pitchFamily="34" charset="-122"/>
                    <a:ea typeface="微软雅黑" panose="020B0503020204020204" pitchFamily="34" charset="-122"/>
                  </a:rPr>
                  <a:t>一</a:t>
                </a:r>
                <a:r>
                  <a:rPr lang="zh-CN" altLang="en-US" sz="2000" b="1" dirty="0">
                    <a:latin typeface="微软雅黑" panose="020B0503020204020204" pitchFamily="34" charset="-122"/>
                    <a:ea typeface="微软雅黑" panose="020B0503020204020204" pitchFamily="34" charset="-122"/>
                  </a:rPr>
                  <a:t>个⊿</a:t>
                </a:r>
                <a:r>
                  <a:rPr lang="en-US" altLang="zh-CN" sz="2000" b="1" dirty="0">
                    <a:latin typeface="微软雅黑" panose="020B0503020204020204" pitchFamily="34" charset="-122"/>
                    <a:ea typeface="微软雅黑" panose="020B0503020204020204" pitchFamily="34" charset="-122"/>
                  </a:rPr>
                  <a:t>t’</a:t>
                </a:r>
                <a:r>
                  <a:rPr lang="zh-CN" altLang="en-US" sz="2000" b="1" dirty="0">
                    <a:latin typeface="微软雅黑" panose="020B0503020204020204" pitchFamily="34" charset="-122"/>
                    <a:ea typeface="微软雅黑" panose="020B0503020204020204" pitchFamily="34" charset="-122"/>
                  </a:rPr>
                  <a:t>时间内发射了</a:t>
                </a:r>
                <a:r>
                  <a:rPr lang="en-US" altLang="zh-CN" sz="2000" b="1" dirty="0">
                    <a:latin typeface="微软雅黑" panose="020B0503020204020204" pitchFamily="34" charset="-122"/>
                    <a:ea typeface="微软雅黑" panose="020B0503020204020204" pitchFamily="34" charset="-122"/>
                  </a:rPr>
                  <a:t>k</a:t>
                </a:r>
                <a:r>
                  <a:rPr lang="zh-CN" altLang="en-US" sz="2000" b="1" dirty="0">
                    <a:latin typeface="微软雅黑" panose="020B0503020204020204" pitchFamily="34" charset="-122"/>
                    <a:ea typeface="微软雅黑" panose="020B0503020204020204" pitchFamily="34" charset="-122"/>
                  </a:rPr>
                  <a:t>条指令）</a:t>
                </a:r>
                <a:endParaRPr lang="en-US" altLang="zh-CN" sz="2000" b="1"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Ø"/>
                </a:pPr>
                <a:r>
                  <a:rPr lang="en-US" altLang="zh-CN" sz="2000" b="1" dirty="0">
                    <a:latin typeface="微软雅黑" panose="020B0503020204020204" pitchFamily="34" charset="-122"/>
                    <a:ea typeface="微软雅黑" panose="020B0503020204020204" pitchFamily="34" charset="-122"/>
                  </a:rPr>
                  <a:t>n=3</a:t>
                </a:r>
                <a:r>
                  <a:rPr lang="zh-CN" altLang="en-US" sz="2000" b="1" dirty="0" smtClean="0">
                    <a:latin typeface="微软雅黑" panose="020B0503020204020204" pitchFamily="34" charset="-122"/>
                    <a:ea typeface="微软雅黑" panose="020B0503020204020204" pitchFamily="34" charset="-122"/>
                  </a:rPr>
                  <a:t>（</a:t>
                </a:r>
                <a:r>
                  <a:rPr lang="zh-CN" altLang="en-US" sz="2000" b="1" dirty="0" smtClean="0">
                    <a:solidFill>
                      <a:srgbClr val="FF0000"/>
                    </a:solidFill>
                    <a:latin typeface="微软雅黑" panose="020B0503020204020204" pitchFamily="34" charset="-122"/>
                    <a:ea typeface="微软雅黑" panose="020B0503020204020204" pitchFamily="34" charset="-122"/>
                  </a:rPr>
                  <a:t>时间重叠</a:t>
                </a:r>
                <a:r>
                  <a:rPr lang="zh-CN" altLang="en-US" sz="2000" b="1" dirty="0" smtClean="0">
                    <a:latin typeface="微软雅黑" panose="020B0503020204020204" pitchFamily="34" charset="-122"/>
                    <a:ea typeface="微软雅黑" panose="020B0503020204020204" pitchFamily="34" charset="-122"/>
                  </a:rPr>
                  <a:t>）</a:t>
                </a:r>
                <a:endParaRPr lang="en-US" altLang="zh-CN" sz="2000" b="1"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并行度 </a:t>
                </a:r>
                <a:r>
                  <a:rPr lang="en-US" altLang="zh-CN" sz="2000" b="1" dirty="0">
                    <a:latin typeface="微软雅黑" panose="020B0503020204020204" pitchFamily="34" charset="-122"/>
                    <a:ea typeface="微软雅黑" panose="020B0503020204020204" pitchFamily="34" charset="-122"/>
                  </a:rPr>
                  <a:t>m = 9</a:t>
                </a:r>
                <a:r>
                  <a:rPr lang="zh-CN" altLang="en-US" sz="2000" b="1" dirty="0">
                    <a:latin typeface="微软雅黑" panose="020B0503020204020204" pitchFamily="34" charset="-122"/>
                    <a:ea typeface="微软雅黑" panose="020B0503020204020204" pitchFamily="34" charset="-122"/>
                  </a:rPr>
                  <a:t>（                                ）</a:t>
                </a:r>
                <a:endParaRPr lang="en-US" altLang="zh-CN" sz="2000" b="1"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任务（指令）数：</a:t>
                </a:r>
                <a:r>
                  <a:rPr lang="en-US" altLang="zh-CN" sz="2000" b="1" dirty="0">
                    <a:latin typeface="微软雅黑" panose="020B0503020204020204" pitchFamily="34" charset="-122"/>
                    <a:ea typeface="微软雅黑" panose="020B0503020204020204" pitchFamily="34" charset="-122"/>
                  </a:rPr>
                  <a:t>r </a:t>
                </a:r>
                <a:r>
                  <a:rPr lang="zh-CN" altLang="en-US" sz="2000" b="1" dirty="0">
                    <a:latin typeface="微软雅黑" panose="020B0503020204020204" pitchFamily="34" charset="-122"/>
                    <a:ea typeface="微软雅黑" panose="020B0503020204020204" pitchFamily="34" charset="-122"/>
                  </a:rPr>
                  <a:t>条</a:t>
                </a:r>
                <a:r>
                  <a:rPr lang="en-US" altLang="zh-CN" sz="2000" b="1" dirty="0">
                    <a:latin typeface="微软雅黑" panose="020B0503020204020204" pitchFamily="34" charset="-122"/>
                    <a:ea typeface="微软雅黑" panose="020B0503020204020204" pitchFamily="34" charset="-122"/>
                  </a:rPr>
                  <a:t>         </a:t>
                </a:r>
              </a:p>
              <a:p>
                <a:pPr marL="342900" indent="-342900">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流水有</a:t>
                </a:r>
                <a:r>
                  <a:rPr lang="en-US" altLang="zh-CN" sz="2000" b="1" dirty="0">
                    <a:latin typeface="微软雅黑" panose="020B0503020204020204" pitchFamily="34" charset="-122"/>
                    <a:ea typeface="微软雅黑" panose="020B0503020204020204" pitchFamily="34" charset="-122"/>
                  </a:rPr>
                  <a:t>d=4</a:t>
                </a:r>
                <a:r>
                  <a:rPr lang="zh-CN" altLang="en-US" sz="2000" b="1" dirty="0">
                    <a:latin typeface="微软雅黑" panose="020B0503020204020204" pitchFamily="34" charset="-122"/>
                    <a:ea typeface="微软雅黑" panose="020B0503020204020204" pitchFamily="34" charset="-122"/>
                  </a:rPr>
                  <a:t>（段）</a:t>
                </a:r>
                <a:endParaRPr lang="en-US" altLang="zh-CN" sz="2000" b="1"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Ø"/>
                </a:pPr>
                <a:endParaRPr lang="zh-CN" altLang="en-US" sz="2000" b="1" dirty="0">
                  <a:latin typeface="微软雅黑" panose="020B0503020204020204" pitchFamily="34" charset="-122"/>
                  <a:ea typeface="微软雅黑" panose="020B0503020204020204" pitchFamily="34" charset="-122"/>
                </a:endParaRPr>
              </a:p>
            </p:txBody>
          </p:sp>
        </mc:Choice>
        <mc:Fallback>
          <p:sp>
            <p:nvSpPr>
              <p:cNvPr id="5" name="文本框 4"/>
              <p:cNvSpPr txBox="1">
                <a:spLocks noRot="1" noChangeAspect="1" noMove="1" noResize="1" noEditPoints="1" noAdjustHandles="1" noChangeArrowheads="1" noChangeShapeType="1" noTextEdit="1"/>
              </p:cNvSpPr>
              <p:nvPr/>
            </p:nvSpPr>
            <p:spPr>
              <a:xfrm>
                <a:off x="5865169" y="1463934"/>
                <a:ext cx="4906434" cy="2554545"/>
              </a:xfrm>
              <a:prstGeom prst="rect">
                <a:avLst/>
              </a:prstGeom>
              <a:blipFill rotWithShape="0">
                <a:blip r:embed="rId3"/>
                <a:stretch>
                  <a:fillRect l="-1118" t="-1193" r="-447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5946760" y="3965582"/>
                <a:ext cx="2828436" cy="693973"/>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altLang="zh-CN" sz="2000" b="1" i="0" smtClean="0">
                          <a:solidFill>
                            <a:srgbClr val="FF0000"/>
                          </a:solidFill>
                          <a:latin typeface="Cambria Math" panose="02040503050406030204" pitchFamily="18" charset="0"/>
                          <a:ea typeface="Cambria Math" panose="02040503050406030204" pitchFamily="18" charset="0"/>
                        </a:rPr>
                        <m:t>𝐓</m:t>
                      </m:r>
                      <m:r>
                        <a:rPr lang="en-US" altLang="zh-CN" sz="2000" b="1" i="0" smtClean="0">
                          <a:solidFill>
                            <a:srgbClr val="FF0000"/>
                          </a:solidFill>
                          <a:latin typeface="Cambria Math" panose="02040503050406030204" pitchFamily="18" charset="0"/>
                          <a:ea typeface="Cambria Math" panose="02040503050406030204" pitchFamily="18" charset="0"/>
                        </a:rPr>
                        <m:t>=</m:t>
                      </m:r>
                      <m:r>
                        <a:rPr lang="en-US" altLang="zh-CN" sz="2000" b="1" i="1" smtClean="0">
                          <a:solidFill>
                            <a:srgbClr val="FF0000"/>
                          </a:solidFill>
                          <a:latin typeface="Cambria Math" panose="02040503050406030204" pitchFamily="18" charset="0"/>
                          <a:ea typeface="Cambria Math" panose="02040503050406030204" pitchFamily="18" charset="0"/>
                        </a:rPr>
                        <m:t>𝒅</m:t>
                      </m:r>
                      <m:r>
                        <a:rPr lang="en-US" altLang="zh-CN" sz="2000" b="1" i="1" smtClean="0">
                          <a:solidFill>
                            <a:srgbClr val="FF0000"/>
                          </a:solidFill>
                          <a:latin typeface="Cambria Math" panose="02040503050406030204" pitchFamily="18" charset="0"/>
                          <a:ea typeface="Cambria Math" panose="02040503050406030204" pitchFamily="18" charset="0"/>
                        </a:rPr>
                        <m:t>∙∆</m:t>
                      </m:r>
                      <m:r>
                        <a:rPr lang="en-US" altLang="zh-CN" sz="2000" b="1" i="1">
                          <a:solidFill>
                            <a:srgbClr val="FF0000"/>
                          </a:solidFill>
                          <a:latin typeface="Cambria Math" panose="02040503050406030204" pitchFamily="18" charset="0"/>
                          <a:ea typeface="Cambria Math" panose="02040503050406030204" pitchFamily="18" charset="0"/>
                        </a:rPr>
                        <m:t>𝒕</m:t>
                      </m:r>
                      <m:r>
                        <a:rPr lang="en-US" altLang="zh-CN" sz="2000" b="1" i="1" smtClean="0">
                          <a:solidFill>
                            <a:srgbClr val="FF0000"/>
                          </a:solidFill>
                          <a:latin typeface="Cambria Math" panose="02040503050406030204" pitchFamily="18" charset="0"/>
                          <a:ea typeface="Cambria Math" panose="02040503050406030204" pitchFamily="18" charset="0"/>
                        </a:rPr>
                        <m:t>+</m:t>
                      </m:r>
                      <m:f>
                        <m:fPr>
                          <m:ctrlPr>
                            <a:rPr lang="en-US" altLang="zh-CN" sz="2000" b="1" i="1" smtClean="0">
                              <a:solidFill>
                                <a:srgbClr val="FF0000"/>
                              </a:solidFill>
                              <a:latin typeface="Cambria Math" panose="02040503050406030204" pitchFamily="18" charset="0"/>
                              <a:ea typeface="Cambria Math" panose="02040503050406030204" pitchFamily="18" charset="0"/>
                            </a:rPr>
                          </m:ctrlPr>
                        </m:fPr>
                        <m:num>
                          <m:r>
                            <a:rPr lang="en-US" altLang="zh-CN" sz="2000" b="1" i="1">
                              <a:solidFill>
                                <a:srgbClr val="FF0000"/>
                              </a:solidFill>
                              <a:latin typeface="Cambria Math" panose="02040503050406030204" pitchFamily="18" charset="0"/>
                              <a:ea typeface="Cambria Math" panose="02040503050406030204" pitchFamily="18" charset="0"/>
                            </a:rPr>
                            <m:t>(</m:t>
                          </m:r>
                          <m:r>
                            <a:rPr lang="en-US" altLang="zh-CN" sz="2000" b="1" i="1">
                              <a:solidFill>
                                <a:srgbClr val="FF0000"/>
                              </a:solidFill>
                              <a:latin typeface="Cambria Math" panose="02040503050406030204" pitchFamily="18" charset="0"/>
                              <a:ea typeface="Cambria Math" panose="02040503050406030204" pitchFamily="18" charset="0"/>
                            </a:rPr>
                            <m:t>𝒓</m:t>
                          </m:r>
                          <m:r>
                            <a:rPr lang="en-US" altLang="zh-CN" sz="2000" b="1" i="1">
                              <a:solidFill>
                                <a:srgbClr val="FF0000"/>
                              </a:solidFill>
                              <a:latin typeface="Cambria Math" panose="02040503050406030204" pitchFamily="18" charset="0"/>
                              <a:ea typeface="Cambria Math" panose="02040503050406030204" pitchFamily="18" charset="0"/>
                            </a:rPr>
                            <m:t>−</m:t>
                          </m:r>
                          <m:r>
                            <a:rPr lang="en-US" altLang="zh-CN" sz="2000" b="1" i="1">
                              <a:solidFill>
                                <a:srgbClr val="FF0000"/>
                              </a:solidFill>
                              <a:latin typeface="Cambria Math" panose="02040503050406030204" pitchFamily="18" charset="0"/>
                              <a:ea typeface="Cambria Math" panose="02040503050406030204" pitchFamily="18" charset="0"/>
                            </a:rPr>
                            <m:t>𝒌</m:t>
                          </m:r>
                          <m:r>
                            <a:rPr lang="en-US" altLang="zh-CN" sz="2000" b="1" i="1">
                              <a:solidFill>
                                <a:srgbClr val="FF0000"/>
                              </a:solidFill>
                              <a:latin typeface="Cambria Math" panose="02040503050406030204" pitchFamily="18" charset="0"/>
                              <a:ea typeface="Cambria Math" panose="02040503050406030204" pitchFamily="18" charset="0"/>
                            </a:rPr>
                            <m:t>)∆</m:t>
                          </m:r>
                          <m:r>
                            <a:rPr lang="en-US" altLang="zh-CN" sz="2000" b="1" i="1">
                              <a:solidFill>
                                <a:srgbClr val="FF0000"/>
                              </a:solidFill>
                              <a:latin typeface="Cambria Math" panose="02040503050406030204" pitchFamily="18" charset="0"/>
                              <a:ea typeface="Cambria Math" panose="02040503050406030204" pitchFamily="18" charset="0"/>
                            </a:rPr>
                            <m:t>𝒕</m:t>
                          </m:r>
                          <m:r>
                            <a:rPr lang="en-US" altLang="zh-CN" sz="2000" b="1" i="1">
                              <a:solidFill>
                                <a:srgbClr val="FF0000"/>
                              </a:solidFill>
                              <a:latin typeface="Cambria Math" panose="02040503050406030204" pitchFamily="18" charset="0"/>
                              <a:ea typeface="Cambria Math" panose="02040503050406030204" pitchFamily="18" charset="0"/>
                            </a:rPr>
                            <m:t>′</m:t>
                          </m:r>
                        </m:num>
                        <m:den>
                          <m:r>
                            <a:rPr lang="en-US" altLang="zh-CN" sz="2000" b="1" i="1">
                              <a:solidFill>
                                <a:srgbClr val="FF0000"/>
                              </a:solidFill>
                              <a:latin typeface="Cambria Math" panose="02040503050406030204" pitchFamily="18" charset="0"/>
                              <a:ea typeface="Cambria Math" panose="02040503050406030204" pitchFamily="18" charset="0"/>
                            </a:rPr>
                            <m:t>𝒌</m:t>
                          </m:r>
                          <m:r>
                            <a:rPr lang="en-US" altLang="zh-CN" sz="2000" b="1" i="1" dirty="0">
                              <a:solidFill>
                                <a:srgbClr val="FF0000"/>
                              </a:solidFill>
                              <a:latin typeface="Cambria Math" panose="02040503050406030204" pitchFamily="18" charset="0"/>
                              <a:ea typeface="Cambria Math" panose="02040503050406030204" pitchFamily="18" charset="0"/>
                            </a:rPr>
                            <m:t>∙ </m:t>
                          </m:r>
                          <m:r>
                            <m:rPr>
                              <m:nor/>
                            </m:rPr>
                            <a:rPr lang="en-US" altLang="zh-CN" sz="2000" b="1" dirty="0">
                              <a:solidFill>
                                <a:srgbClr val="FF0000"/>
                              </a:solidFill>
                              <a:latin typeface="微软雅黑" panose="020B0503020204020204" pitchFamily="34" charset="-122"/>
                              <a:ea typeface="微软雅黑" panose="020B0503020204020204" pitchFamily="34" charset="-122"/>
                            </a:rPr>
                            <m:t>n</m:t>
                          </m:r>
                        </m:den>
                      </m:f>
                    </m:oMath>
                  </m:oMathPara>
                </a14:m>
                <a:endParaRPr lang="zh-CN" altLang="en-US" sz="2000" b="1" dirty="0">
                  <a:solidFill>
                    <a:srgbClr val="FF0000"/>
                  </a:solidFill>
                  <a:latin typeface="微软雅黑" panose="020B0503020204020204" pitchFamily="34" charset="-122"/>
                  <a:ea typeface="微软雅黑" panose="020B0503020204020204" pitchFamily="34" charset="-122"/>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5946760" y="3965582"/>
                <a:ext cx="2828436" cy="693973"/>
              </a:xfrm>
              <a:prstGeom prst="rect">
                <a:avLst/>
              </a:prstGeom>
              <a:blipFill>
                <a:blip r:embed="rId4"/>
                <a:stretch>
                  <a:fillRect/>
                </a:stretch>
              </a:blipFill>
            </p:spPr>
            <p:txBody>
              <a:bodyPr/>
              <a:lstStyle/>
              <a:p>
                <a:r>
                  <a:rPr lang="zh-CN" altLang="en-US">
                    <a:noFill/>
                  </a:rPr>
                  <a:t> </a:t>
                </a:r>
              </a:p>
            </p:txBody>
          </p:sp>
        </mc:Fallback>
      </mc:AlternateContent>
      <p:sp>
        <p:nvSpPr>
          <p:cNvPr id="2" name="矩形 1"/>
          <p:cNvSpPr/>
          <p:nvPr/>
        </p:nvSpPr>
        <p:spPr>
          <a:xfrm>
            <a:off x="7986132" y="2704211"/>
            <a:ext cx="2826415" cy="400110"/>
          </a:xfrm>
          <a:prstGeom prst="rect">
            <a:avLst/>
          </a:prstGeom>
        </p:spPr>
        <p:txBody>
          <a:bodyPr wrap="none">
            <a:spAutoFit/>
          </a:bodyPr>
          <a:lstStyle/>
          <a:p>
            <a:r>
              <a:rPr lang="zh-CN" altLang="en-US" sz="2000" b="1" dirty="0">
                <a:solidFill>
                  <a:srgbClr val="FF0000"/>
                </a:solidFill>
                <a:latin typeface="微软雅黑" panose="020B0503020204020204" pitchFamily="34" charset="-122"/>
                <a:ea typeface="微软雅黑" panose="020B0503020204020204" pitchFamily="34" charset="-122"/>
              </a:rPr>
              <a:t>部件和时间并行度同时 </a:t>
            </a:r>
          </a:p>
        </p:txBody>
      </p:sp>
      <mc:AlternateContent xmlns:mc="http://schemas.openxmlformats.org/markup-compatibility/2006" xmlns:a14="http://schemas.microsoft.com/office/drawing/2010/main">
        <mc:Choice Requires="a14">
          <p:sp>
            <p:nvSpPr>
              <p:cNvPr id="17" name="文本框 16"/>
              <p:cNvSpPr txBox="1"/>
              <p:nvPr/>
            </p:nvSpPr>
            <p:spPr>
              <a:xfrm>
                <a:off x="6003635" y="4887755"/>
                <a:ext cx="4069401" cy="453137"/>
              </a:xfrm>
              <a:prstGeom prst="rect">
                <a:avLst/>
              </a:prstGeom>
              <a:noFill/>
            </p:spPr>
            <p:txBody>
              <a:bodyPr wrap="square" rtlCol="0">
                <a:spAutoFit/>
              </a:bodyPr>
              <a:lstStyle/>
              <a:p>
                <a14:m>
                  <m:oMath xmlns:m="http://schemas.openxmlformats.org/officeDocument/2006/math">
                    <m:r>
                      <m:rPr>
                        <m:nor/>
                      </m:rPr>
                      <a:rPr lang="en-US" altLang="zh-CN" sz="2400" b="1" dirty="0" smtClean="0">
                        <a:latin typeface="微软雅黑" panose="020B0503020204020204" pitchFamily="34" charset="-122"/>
                        <a:ea typeface="微软雅黑" panose="020B0503020204020204" pitchFamily="34" charset="-122"/>
                      </a:rPr>
                      <m:t>r</m:t>
                    </m:r>
                    <m:r>
                      <m:rPr>
                        <m:nor/>
                      </m:rPr>
                      <a:rPr lang="en-US" altLang="zh-CN" sz="2400" b="1" baseline="-25000" dirty="0" smtClean="0">
                        <a:latin typeface="微软雅黑" panose="020B0503020204020204" pitchFamily="34" charset="-122"/>
                        <a:ea typeface="微软雅黑" panose="020B0503020204020204" pitchFamily="34" charset="-122"/>
                      </a:rPr>
                      <m:t>1</m:t>
                    </m:r>
                    <m:r>
                      <m:rPr>
                        <m:nor/>
                      </m:rPr>
                      <a:rPr lang="en-US" altLang="zh-CN" sz="2400" b="1" dirty="0" smtClean="0">
                        <a:latin typeface="微软雅黑" panose="020B0503020204020204" pitchFamily="34" charset="-122"/>
                        <a:ea typeface="微软雅黑" panose="020B0503020204020204" pitchFamily="34" charset="-122"/>
                      </a:rPr>
                      <m:t>=12</m:t>
                    </m:r>
                    <m:r>
                      <a:rPr lang="en-US" altLang="zh-CN" sz="2400" b="1" i="0" dirty="0" smtClean="0">
                        <a:latin typeface="Cambria Math" panose="02040503050406030204" pitchFamily="18" charset="0"/>
                        <a:ea typeface="宋体" panose="02010600030101010101" pitchFamily="2" charset="-122"/>
                      </a:rPr>
                      <m:t>    </m:t>
                    </m:r>
                    <m:r>
                      <a:rPr lang="en-US" altLang="zh-CN" sz="2200" b="1" i="0" smtClean="0">
                        <a:solidFill>
                          <a:schemeClr val="tx2"/>
                        </a:solidFill>
                        <a:latin typeface="Cambria Math" panose="02040503050406030204" pitchFamily="18" charset="0"/>
                        <a:ea typeface="Cambria Math" panose="02040503050406030204" pitchFamily="18" charset="0"/>
                      </a:rPr>
                      <m:t>𝐓</m:t>
                    </m:r>
                    <m:r>
                      <a:rPr lang="en-US" altLang="zh-CN" sz="2200" b="1" i="0" smtClean="0">
                        <a:solidFill>
                          <a:schemeClr val="tx2"/>
                        </a:solidFill>
                        <a:latin typeface="Cambria Math" panose="02040503050406030204" pitchFamily="18" charset="0"/>
                        <a:ea typeface="Cambria Math" panose="02040503050406030204" pitchFamily="18" charset="0"/>
                      </a:rPr>
                      <m:t>=</m:t>
                    </m:r>
                  </m:oMath>
                </a14:m>
                <a:r>
                  <a:rPr lang="en-US" altLang="zh-CN" sz="2200" b="1" dirty="0">
                    <a:solidFill>
                      <a:schemeClr val="tx2"/>
                    </a:solidFill>
                    <a:latin typeface="微软雅黑" panose="020B0503020204020204" pitchFamily="34" charset="-122"/>
                    <a:ea typeface="微软雅黑" panose="020B0503020204020204" pitchFamily="34" charset="-122"/>
                  </a:rPr>
                  <a:t> 5 </a:t>
                </a:r>
                <a14:m>
                  <m:oMath xmlns:m="http://schemas.openxmlformats.org/officeDocument/2006/math">
                    <m:r>
                      <a:rPr lang="en-US" altLang="zh-CN" sz="2200" b="1" i="1">
                        <a:solidFill>
                          <a:schemeClr val="tx2"/>
                        </a:solidFill>
                        <a:latin typeface="Cambria Math" panose="02040503050406030204" pitchFamily="18" charset="0"/>
                        <a:ea typeface="Cambria Math" panose="02040503050406030204" pitchFamily="18" charset="0"/>
                      </a:rPr>
                      <m:t>∆</m:t>
                    </m:r>
                    <m:r>
                      <a:rPr lang="en-US" altLang="zh-CN" sz="2200" b="1" i="1">
                        <a:solidFill>
                          <a:schemeClr val="tx2"/>
                        </a:solidFill>
                        <a:latin typeface="Cambria Math" panose="02040503050406030204" pitchFamily="18" charset="0"/>
                        <a:ea typeface="Cambria Math" panose="02040503050406030204" pitchFamily="18" charset="0"/>
                      </a:rPr>
                      <m:t>𝒕</m:t>
                    </m:r>
                  </m:oMath>
                </a14:m>
                <a:endParaRPr lang="zh-CN" altLang="en-US" sz="2200" b="1" dirty="0">
                  <a:solidFill>
                    <a:schemeClr val="tx2"/>
                  </a:solidFill>
                  <a:latin typeface="微软雅黑" panose="020B0503020204020204" pitchFamily="34" charset="-122"/>
                  <a:ea typeface="微软雅黑" panose="020B0503020204020204" pitchFamily="34" charset="-122"/>
                </a:endParaRPr>
              </a:p>
            </p:txBody>
          </p:sp>
        </mc:Choice>
        <mc:Fallback xmlns="">
          <p:sp>
            <p:nvSpPr>
              <p:cNvPr id="17" name="文本框 16"/>
              <p:cNvSpPr txBox="1">
                <a:spLocks noRot="1" noChangeAspect="1" noMove="1" noResize="1" noEditPoints="1" noAdjustHandles="1" noChangeArrowheads="1" noChangeShapeType="1" noTextEdit="1"/>
              </p:cNvSpPr>
              <p:nvPr/>
            </p:nvSpPr>
            <p:spPr>
              <a:xfrm>
                <a:off x="6003635" y="4887755"/>
                <a:ext cx="4069401" cy="453137"/>
              </a:xfrm>
              <a:prstGeom prst="rect">
                <a:avLst/>
              </a:prstGeom>
              <a:blipFill>
                <a:blip r:embed="rId7"/>
                <a:stretch>
                  <a:fillRect t="-4054" b="-2702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文本框 12"/>
              <p:cNvSpPr txBox="1"/>
              <p:nvPr/>
            </p:nvSpPr>
            <p:spPr>
              <a:xfrm>
                <a:off x="4808133" y="6106927"/>
                <a:ext cx="6815247" cy="400110"/>
              </a:xfrm>
              <a:prstGeom prst="rect">
                <a:avLst/>
              </a:prstGeom>
              <a:noFill/>
            </p:spPr>
            <p:txBody>
              <a:bodyPr wrap="square" rtlCol="0">
                <a:spAutoFit/>
              </a:bodyPr>
              <a:lstStyle/>
              <a:p>
                <a:r>
                  <a:rPr lang="zh-CN" altLang="en-US" sz="2000" b="1" dirty="0">
                    <a:latin typeface="微软雅黑" panose="020B0503020204020204" pitchFamily="34" charset="-122"/>
                    <a:ea typeface="微软雅黑" panose="020B0503020204020204" pitchFamily="34" charset="-122"/>
                  </a:rPr>
                  <a:t>超标量超流水线流水机每</a:t>
                </a:r>
                <a14:m>
                  <m:oMath xmlns:m="http://schemas.openxmlformats.org/officeDocument/2006/math">
                    <m:r>
                      <a:rPr lang="zh-CN" altLang="en-US" sz="2000" b="1" i="1" dirty="0">
                        <a:solidFill>
                          <a:srgbClr val="1D528D"/>
                        </a:solidFill>
                        <a:latin typeface="Cambria Math" panose="02040503050406030204" pitchFamily="18" charset="0"/>
                        <a:ea typeface="宋体" panose="02010600030101010101" pitchFamily="2" charset="-122"/>
                      </a:rPr>
                      <m:t>⊿</m:t>
                    </m:r>
                    <m:r>
                      <a:rPr lang="en-US" altLang="zh-CN" sz="2000" b="1" i="1" dirty="0">
                        <a:solidFill>
                          <a:srgbClr val="1D528D"/>
                        </a:solidFill>
                        <a:latin typeface="Cambria Math" panose="02040503050406030204" pitchFamily="18" charset="0"/>
                        <a:ea typeface="宋体" panose="02010600030101010101" pitchFamily="2" charset="-122"/>
                      </a:rPr>
                      <m:t>𝒕</m:t>
                    </m:r>
                  </m:oMath>
                </a14:m>
                <a:r>
                  <a:rPr lang="zh-CN" altLang="en-US" sz="2000" b="1" dirty="0">
                    <a:latin typeface="微软雅黑" panose="020B0503020204020204" pitchFamily="34" charset="-122"/>
                    <a:ea typeface="微软雅黑" panose="020B0503020204020204" pitchFamily="34" charset="-122"/>
                  </a:rPr>
                  <a:t>能产生 </a:t>
                </a:r>
                <a:r>
                  <a:rPr lang="en-US" altLang="zh-CN" sz="2000" b="1" dirty="0">
                    <a:solidFill>
                      <a:srgbClr val="FF0000"/>
                    </a:solidFill>
                    <a:latin typeface="微软雅黑" panose="020B0503020204020204" pitchFamily="34" charset="-122"/>
                    <a:ea typeface="微软雅黑" panose="020B0503020204020204" pitchFamily="34" charset="-122"/>
                  </a:rPr>
                  <a:t>9</a:t>
                </a:r>
                <a:r>
                  <a:rPr lang="zh-CN" altLang="en-US" sz="2000" b="1" dirty="0" smtClean="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即</a:t>
                </a:r>
                <a:r>
                  <a:rPr lang="en-US" altLang="zh-CN" sz="2000" b="1" dirty="0" smtClean="0">
                    <a:latin typeface="微软雅黑" panose="020B0503020204020204" pitchFamily="34" charset="-122"/>
                    <a:ea typeface="微软雅黑" panose="020B0503020204020204" pitchFamily="34" charset="-122"/>
                  </a:rPr>
                  <a:t>k</a:t>
                </a:r>
                <a:r>
                  <a:rPr lang="en-US" altLang="zh-CN" sz="2000" b="1" dirty="0" smtClean="0">
                    <a:solidFill>
                      <a:srgbClr val="1D528D"/>
                    </a:solidFill>
                    <a:latin typeface="微软雅黑" panose="020B0503020204020204" pitchFamily="34" charset="-122"/>
                    <a:ea typeface="微软雅黑" panose="020B0503020204020204" pitchFamily="34" charset="-122"/>
                  </a:rPr>
                  <a:t> </a:t>
                </a:r>
                <a14:m>
                  <m:oMath xmlns:m="http://schemas.openxmlformats.org/officeDocument/2006/math">
                    <m:r>
                      <a:rPr lang="en-US" altLang="zh-CN" sz="2000" b="1" i="1" dirty="0">
                        <a:solidFill>
                          <a:srgbClr val="1D528D"/>
                        </a:solidFill>
                        <a:latin typeface="Cambria Math" panose="02040503050406030204" pitchFamily="18" charset="0"/>
                        <a:ea typeface="Cambria Math" panose="02040503050406030204" pitchFamily="18" charset="0"/>
                      </a:rPr>
                      <m:t>∙ </m:t>
                    </m:r>
                  </m:oMath>
                </a14:m>
                <a:r>
                  <a:rPr lang="en-US" altLang="zh-CN" sz="2000" b="1" dirty="0">
                    <a:latin typeface="微软雅黑" panose="020B0503020204020204" pitchFamily="34" charset="-122"/>
                    <a:ea typeface="微软雅黑" panose="020B0503020204020204" pitchFamily="34" charset="-122"/>
                  </a:rPr>
                  <a:t>n</a:t>
                </a:r>
                <a:r>
                  <a:rPr lang="zh-CN" altLang="en-US" sz="2000" b="1" dirty="0">
                    <a:latin typeface="微软雅黑" panose="020B0503020204020204" pitchFamily="34" charset="-122"/>
                    <a:ea typeface="微软雅黑" panose="020B0503020204020204" pitchFamily="34" charset="-122"/>
                  </a:rPr>
                  <a:t>）条指令结果</a:t>
                </a:r>
              </a:p>
            </p:txBody>
          </p:sp>
        </mc:Choice>
        <mc:Fallback>
          <p:sp>
            <p:nvSpPr>
              <p:cNvPr id="13" name="文本框 12"/>
              <p:cNvSpPr txBox="1">
                <a:spLocks noRot="1" noChangeAspect="1" noMove="1" noResize="1" noEditPoints="1" noAdjustHandles="1" noChangeArrowheads="1" noChangeShapeType="1" noTextEdit="1"/>
              </p:cNvSpPr>
              <p:nvPr/>
            </p:nvSpPr>
            <p:spPr>
              <a:xfrm>
                <a:off x="4808133" y="6106927"/>
                <a:ext cx="6815247" cy="400110"/>
              </a:xfrm>
              <a:prstGeom prst="rect">
                <a:avLst/>
              </a:prstGeom>
              <a:blipFill rotWithShape="0">
                <a:blip r:embed="rId8"/>
                <a:stretch>
                  <a:fillRect l="-984" t="-9231" r="-894" b="-2769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p:cNvSpPr txBox="1"/>
              <p:nvPr/>
            </p:nvSpPr>
            <p:spPr>
              <a:xfrm>
                <a:off x="6003636" y="5340892"/>
                <a:ext cx="4424242" cy="461665"/>
              </a:xfrm>
              <a:prstGeom prst="rect">
                <a:avLst/>
              </a:prstGeom>
              <a:noFill/>
            </p:spPr>
            <p:txBody>
              <a:bodyPr wrap="square" rtlCol="0">
                <a:spAutoFit/>
              </a:bodyPr>
              <a:lstStyle/>
              <a:p>
                <a:r>
                  <a:rPr lang="en-US" altLang="zh-CN" sz="2400" b="1" dirty="0">
                    <a:latin typeface="微软雅黑" panose="020B0503020204020204" pitchFamily="34" charset="-122"/>
                    <a:ea typeface="微软雅黑" panose="020B0503020204020204" pitchFamily="34" charset="-122"/>
                  </a:rPr>
                  <a:t>r</a:t>
                </a:r>
                <a:r>
                  <a:rPr lang="en-US" altLang="zh-CN" sz="2400" b="1" baseline="-25000" dirty="0">
                    <a:latin typeface="微软雅黑" panose="020B0503020204020204" pitchFamily="34" charset="-122"/>
                    <a:ea typeface="微软雅黑" panose="020B0503020204020204" pitchFamily="34" charset="-122"/>
                  </a:rPr>
                  <a:t>2</a:t>
                </a:r>
                <a:r>
                  <a:rPr lang="en-US" altLang="zh-CN" sz="2400" b="1" dirty="0">
                    <a:latin typeface="微软雅黑" panose="020B0503020204020204" pitchFamily="34" charset="-122"/>
                    <a:ea typeface="微软雅黑" panose="020B0503020204020204" pitchFamily="34" charset="-122"/>
                  </a:rPr>
                  <a:t>=21</a:t>
                </a:r>
                <a14:m>
                  <m:oMath xmlns:m="http://schemas.openxmlformats.org/officeDocument/2006/math">
                    <m:r>
                      <a:rPr lang="en-US" altLang="zh-CN" sz="2200" b="1" i="0" smtClean="0">
                        <a:solidFill>
                          <a:schemeClr val="tx2"/>
                        </a:solidFill>
                        <a:latin typeface="Cambria Math" panose="02040503050406030204" pitchFamily="18" charset="0"/>
                        <a:ea typeface="Cambria Math" panose="02040503050406030204" pitchFamily="18" charset="0"/>
                      </a:rPr>
                      <m:t>    </m:t>
                    </m:r>
                    <m:r>
                      <a:rPr lang="en-US" altLang="zh-CN" sz="2200" b="1" i="0" smtClean="0">
                        <a:solidFill>
                          <a:schemeClr val="tx2"/>
                        </a:solidFill>
                        <a:latin typeface="Cambria Math" panose="02040503050406030204" pitchFamily="18" charset="0"/>
                        <a:ea typeface="Cambria Math" panose="02040503050406030204" pitchFamily="18" charset="0"/>
                      </a:rPr>
                      <m:t>𝐓</m:t>
                    </m:r>
                    <m:r>
                      <a:rPr lang="en-US" altLang="zh-CN" sz="2200" b="1" i="0" smtClean="0">
                        <a:solidFill>
                          <a:schemeClr val="tx2"/>
                        </a:solidFill>
                        <a:latin typeface="Cambria Math" panose="02040503050406030204" pitchFamily="18" charset="0"/>
                        <a:ea typeface="Cambria Math" panose="02040503050406030204" pitchFamily="18" charset="0"/>
                      </a:rPr>
                      <m:t>=</m:t>
                    </m:r>
                    <m:r>
                      <a:rPr lang="en-US" altLang="zh-CN" sz="2200" b="1" i="0" smtClean="0">
                        <a:solidFill>
                          <a:schemeClr val="tx2"/>
                        </a:solidFill>
                        <a:latin typeface="Cambria Math" panose="02040503050406030204" pitchFamily="18" charset="0"/>
                        <a:ea typeface="Cambria Math" panose="02040503050406030204" pitchFamily="18" charset="0"/>
                      </a:rPr>
                      <m:t>𝟔</m:t>
                    </m:r>
                  </m:oMath>
                </a14:m>
                <a:r>
                  <a:rPr lang="en-US" altLang="zh-CN" sz="2200" b="1" dirty="0">
                    <a:solidFill>
                      <a:schemeClr val="tx2"/>
                    </a:solidFill>
                    <a:latin typeface="微软雅黑" panose="020B0503020204020204" pitchFamily="34" charset="-122"/>
                    <a:ea typeface="微软雅黑" panose="020B0503020204020204" pitchFamily="34" charset="-122"/>
                  </a:rPr>
                  <a:t> </a:t>
                </a:r>
                <a14:m>
                  <m:oMath xmlns:m="http://schemas.openxmlformats.org/officeDocument/2006/math">
                    <m:r>
                      <a:rPr lang="en-US" altLang="zh-CN" sz="2200" b="1" i="1">
                        <a:solidFill>
                          <a:schemeClr val="tx2"/>
                        </a:solidFill>
                        <a:latin typeface="Cambria Math" panose="02040503050406030204" pitchFamily="18" charset="0"/>
                        <a:ea typeface="Cambria Math" panose="02040503050406030204" pitchFamily="18" charset="0"/>
                      </a:rPr>
                      <m:t>∆</m:t>
                    </m:r>
                    <m:r>
                      <a:rPr lang="en-US" altLang="zh-CN" sz="2200" b="1" i="1">
                        <a:solidFill>
                          <a:schemeClr val="tx2"/>
                        </a:solidFill>
                        <a:latin typeface="Cambria Math" panose="02040503050406030204" pitchFamily="18" charset="0"/>
                        <a:ea typeface="Cambria Math" panose="02040503050406030204" pitchFamily="18" charset="0"/>
                      </a:rPr>
                      <m:t>𝒕</m:t>
                    </m:r>
                  </m:oMath>
                </a14:m>
                <a:endParaRPr lang="zh-CN" altLang="en-US" sz="2200" b="1" dirty="0">
                  <a:solidFill>
                    <a:schemeClr val="tx2"/>
                  </a:solidFill>
                  <a:latin typeface="微软雅黑" panose="020B0503020204020204" pitchFamily="34" charset="-122"/>
                  <a:ea typeface="微软雅黑" panose="020B0503020204020204" pitchFamily="34" charset="-122"/>
                </a:endParaRPr>
              </a:p>
            </p:txBody>
          </p:sp>
        </mc:Choice>
        <mc:Fallback xmlns="">
          <p:sp>
            <p:nvSpPr>
              <p:cNvPr id="21" name="文本框 20"/>
              <p:cNvSpPr txBox="1">
                <a:spLocks noRot="1" noChangeAspect="1" noMove="1" noResize="1" noEditPoints="1" noAdjustHandles="1" noChangeArrowheads="1" noChangeShapeType="1" noTextEdit="1"/>
              </p:cNvSpPr>
              <p:nvPr/>
            </p:nvSpPr>
            <p:spPr>
              <a:xfrm>
                <a:off x="6003636" y="5340892"/>
                <a:ext cx="4424242" cy="461665"/>
              </a:xfrm>
              <a:prstGeom prst="rect">
                <a:avLst/>
              </a:prstGeom>
              <a:blipFill>
                <a:blip r:embed="rId9"/>
                <a:stretch>
                  <a:fillRect l="-2204" t="-10526" b="-28947"/>
                </a:stretch>
              </a:blipFill>
            </p:spPr>
            <p:txBody>
              <a:bodyPr/>
              <a:lstStyle/>
              <a:p>
                <a:r>
                  <a:rPr lang="zh-CN" altLang="en-US">
                    <a:noFill/>
                  </a:rPr>
                  <a:t> </a:t>
                </a:r>
              </a:p>
            </p:txBody>
          </p:sp>
        </mc:Fallback>
      </mc:AlternateContent>
      <p:grpSp>
        <p:nvGrpSpPr>
          <p:cNvPr id="14" name="组合 13"/>
          <p:cNvGrpSpPr/>
          <p:nvPr/>
        </p:nvGrpSpPr>
        <p:grpSpPr>
          <a:xfrm>
            <a:off x="265635" y="269251"/>
            <a:ext cx="438352" cy="621987"/>
            <a:chOff x="265635" y="269251"/>
            <a:chExt cx="438352" cy="621987"/>
          </a:xfrm>
        </p:grpSpPr>
        <p:sp>
          <p:nvSpPr>
            <p:cNvPr id="16"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8"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9"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cxnSp>
        <p:nvCxnSpPr>
          <p:cNvPr id="7" name="直接连接符 6"/>
          <p:cNvCxnSpPr/>
          <p:nvPr/>
        </p:nvCxnSpPr>
        <p:spPr>
          <a:xfrm>
            <a:off x="3478893" y="1020726"/>
            <a:ext cx="8019" cy="6252158"/>
          </a:xfrm>
          <a:prstGeom prst="line">
            <a:avLst/>
          </a:prstGeom>
          <a:ln w="19050">
            <a:solidFill>
              <a:srgbClr val="0000FF"/>
            </a:solidFill>
            <a:prstDash val="dash"/>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3472787" y="1316023"/>
            <a:ext cx="427874" cy="1310219"/>
          </a:xfrm>
          <a:prstGeom prst="rect">
            <a:avLst/>
          </a:prstGeom>
          <a:no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 name="直接连接符 22"/>
          <p:cNvCxnSpPr/>
          <p:nvPr/>
        </p:nvCxnSpPr>
        <p:spPr>
          <a:xfrm>
            <a:off x="3888973" y="1007676"/>
            <a:ext cx="48194" cy="6286474"/>
          </a:xfrm>
          <a:prstGeom prst="line">
            <a:avLst/>
          </a:prstGeom>
          <a:ln w="19050">
            <a:solidFill>
              <a:srgbClr val="0000FF"/>
            </a:solidFill>
            <a:prstDash val="dash"/>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051019" y="1319561"/>
            <a:ext cx="427874" cy="1310219"/>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23174622"/>
      </p:ext>
    </p:extLst>
  </p:cSld>
  <p:clrMapOvr>
    <a:masterClrMapping/>
  </p:clrMapOvr>
  <mc:AlternateContent xmlns:mc="http://schemas.openxmlformats.org/markup-compatibility/2006" xmlns:p14="http://schemas.microsoft.com/office/powerpoint/2010/main">
    <mc:Choice Requires="p14">
      <p:transition spd="slow">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2" presetClass="emph" presetSubtype="0" fill="hold" grpId="0" nodeType="clickEffect">
                                  <p:stCondLst>
                                    <p:cond delay="0"/>
                                  </p:stCondLst>
                                  <p:childTnLst>
                                    <p:animRot by="120000">
                                      <p:cBhvr>
                                        <p:cTn id="6" dur="100" fill="hold">
                                          <p:stCondLst>
                                            <p:cond delay="0"/>
                                          </p:stCondLst>
                                        </p:cTn>
                                        <p:tgtEl>
                                          <p:spTgt spid="2"/>
                                        </p:tgtEl>
                                        <p:attrNameLst>
                                          <p:attrName>r</p:attrName>
                                        </p:attrNameLst>
                                      </p:cBhvr>
                                    </p:animRot>
                                    <p:animRot by="-240000">
                                      <p:cBhvr>
                                        <p:cTn id="7" dur="200" fill="hold">
                                          <p:stCondLst>
                                            <p:cond delay="200"/>
                                          </p:stCondLst>
                                        </p:cTn>
                                        <p:tgtEl>
                                          <p:spTgt spid="2"/>
                                        </p:tgtEl>
                                        <p:attrNameLst>
                                          <p:attrName>r</p:attrName>
                                        </p:attrNameLst>
                                      </p:cBhvr>
                                    </p:animRot>
                                    <p:animRot by="240000">
                                      <p:cBhvr>
                                        <p:cTn id="8" dur="200" fill="hold">
                                          <p:stCondLst>
                                            <p:cond delay="400"/>
                                          </p:stCondLst>
                                        </p:cTn>
                                        <p:tgtEl>
                                          <p:spTgt spid="2"/>
                                        </p:tgtEl>
                                        <p:attrNameLst>
                                          <p:attrName>r</p:attrName>
                                        </p:attrNameLst>
                                      </p:cBhvr>
                                    </p:animRot>
                                    <p:animRot by="-240000">
                                      <p:cBhvr>
                                        <p:cTn id="9" dur="200" fill="hold">
                                          <p:stCondLst>
                                            <p:cond delay="600"/>
                                          </p:stCondLst>
                                        </p:cTn>
                                        <p:tgtEl>
                                          <p:spTgt spid="2"/>
                                        </p:tgtEl>
                                        <p:attrNameLst>
                                          <p:attrName>r</p:attrName>
                                        </p:attrNameLst>
                                      </p:cBhvr>
                                    </p:animRot>
                                    <p:animRot by="120000">
                                      <p:cBhvr>
                                        <p:cTn id="10" dur="200" fill="hold">
                                          <p:stCondLst>
                                            <p:cond delay="800"/>
                                          </p:stCondLst>
                                        </p:cTn>
                                        <p:tgtEl>
                                          <p:spTgt spid="2"/>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1000"/>
                                        <p:tgtEl>
                                          <p:spTgt spid="7"/>
                                        </p:tgtEl>
                                      </p:cBhvr>
                                    </p:animEffect>
                                    <p:anim calcmode="lin" valueType="num">
                                      <p:cBhvr>
                                        <p:cTn id="16" dur="1000" fill="hold"/>
                                        <p:tgtEl>
                                          <p:spTgt spid="7"/>
                                        </p:tgtEl>
                                        <p:attrNameLst>
                                          <p:attrName>ppt_x</p:attrName>
                                        </p:attrNameLst>
                                      </p:cBhvr>
                                      <p:tavLst>
                                        <p:tav tm="0">
                                          <p:val>
                                            <p:strVal val="#ppt_x"/>
                                          </p:val>
                                        </p:tav>
                                        <p:tav tm="100000">
                                          <p:val>
                                            <p:strVal val="#ppt_x"/>
                                          </p:val>
                                        </p:tav>
                                      </p:tavLst>
                                    </p:anim>
                                    <p:anim calcmode="lin" valueType="num">
                                      <p:cBhvr>
                                        <p:cTn id="17"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1" presetClass="entr" presetSubtype="0" fill="hold" grpId="0" nodeType="clickEffect">
                                  <p:stCondLst>
                                    <p:cond delay="0"/>
                                  </p:stCondLst>
                                  <p:childTnLst>
                                    <p:set>
                                      <p:cBhvr>
                                        <p:cTn id="21" dur="1" fill="hold">
                                          <p:stCondLst>
                                            <p:cond delay="0"/>
                                          </p:stCondLst>
                                        </p:cTn>
                                        <p:tgtEl>
                                          <p:spTgt spid="24"/>
                                        </p:tgtEl>
                                        <p:attrNameLst>
                                          <p:attrName>style.visibility</p:attrName>
                                        </p:attrNameLst>
                                      </p:cBhvr>
                                      <p:to>
                                        <p:strVal val="visible"/>
                                      </p:to>
                                    </p:set>
                                    <p:anim calcmode="lin" valueType="num">
                                      <p:cBhvr>
                                        <p:cTn id="22" dur="1000" fill="hold"/>
                                        <p:tgtEl>
                                          <p:spTgt spid="24"/>
                                        </p:tgtEl>
                                        <p:attrNameLst>
                                          <p:attrName>ppt_w</p:attrName>
                                        </p:attrNameLst>
                                      </p:cBhvr>
                                      <p:tavLst>
                                        <p:tav tm="0">
                                          <p:val>
                                            <p:fltVal val="0"/>
                                          </p:val>
                                        </p:tav>
                                        <p:tav tm="100000">
                                          <p:val>
                                            <p:strVal val="#ppt_w"/>
                                          </p:val>
                                        </p:tav>
                                      </p:tavLst>
                                    </p:anim>
                                    <p:anim calcmode="lin" valueType="num">
                                      <p:cBhvr>
                                        <p:cTn id="23" dur="1000" fill="hold"/>
                                        <p:tgtEl>
                                          <p:spTgt spid="24"/>
                                        </p:tgtEl>
                                        <p:attrNameLst>
                                          <p:attrName>ppt_h</p:attrName>
                                        </p:attrNameLst>
                                      </p:cBhvr>
                                      <p:tavLst>
                                        <p:tav tm="0">
                                          <p:val>
                                            <p:fltVal val="0"/>
                                          </p:val>
                                        </p:tav>
                                        <p:tav tm="100000">
                                          <p:val>
                                            <p:strVal val="#ppt_h"/>
                                          </p:val>
                                        </p:tav>
                                      </p:tavLst>
                                    </p:anim>
                                    <p:anim calcmode="lin" valueType="num">
                                      <p:cBhvr>
                                        <p:cTn id="24" dur="1000" fill="hold"/>
                                        <p:tgtEl>
                                          <p:spTgt spid="24"/>
                                        </p:tgtEl>
                                        <p:attrNameLst>
                                          <p:attrName>style.rotation</p:attrName>
                                        </p:attrNameLst>
                                      </p:cBhvr>
                                      <p:tavLst>
                                        <p:tav tm="0">
                                          <p:val>
                                            <p:fltVal val="90"/>
                                          </p:val>
                                        </p:tav>
                                        <p:tav tm="100000">
                                          <p:val>
                                            <p:fltVal val="0"/>
                                          </p:val>
                                        </p:tav>
                                      </p:tavLst>
                                    </p:anim>
                                    <p:animEffect transition="in" filter="fade">
                                      <p:cBhvr>
                                        <p:cTn id="25" dur="1000"/>
                                        <p:tgtEl>
                                          <p:spTgt spid="24"/>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nodeType="click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fade">
                                      <p:cBhvr>
                                        <p:cTn id="30" dur="1000"/>
                                        <p:tgtEl>
                                          <p:spTgt spid="23"/>
                                        </p:tgtEl>
                                      </p:cBhvr>
                                    </p:animEffect>
                                    <p:anim calcmode="lin" valueType="num">
                                      <p:cBhvr>
                                        <p:cTn id="31" dur="1000" fill="hold"/>
                                        <p:tgtEl>
                                          <p:spTgt spid="23"/>
                                        </p:tgtEl>
                                        <p:attrNameLst>
                                          <p:attrName>ppt_x</p:attrName>
                                        </p:attrNameLst>
                                      </p:cBhvr>
                                      <p:tavLst>
                                        <p:tav tm="0">
                                          <p:val>
                                            <p:strVal val="#ppt_x"/>
                                          </p:val>
                                        </p:tav>
                                        <p:tav tm="100000">
                                          <p:val>
                                            <p:strVal val="#ppt_x"/>
                                          </p:val>
                                        </p:tav>
                                      </p:tavLst>
                                    </p:anim>
                                    <p:anim calcmode="lin" valueType="num">
                                      <p:cBhvr>
                                        <p:cTn id="32"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p:cTn id="37" dur="1000" fill="hold"/>
                                        <p:tgtEl>
                                          <p:spTgt spid="8"/>
                                        </p:tgtEl>
                                        <p:attrNameLst>
                                          <p:attrName>ppt_w</p:attrName>
                                        </p:attrNameLst>
                                      </p:cBhvr>
                                      <p:tavLst>
                                        <p:tav tm="0">
                                          <p:val>
                                            <p:fltVal val="0"/>
                                          </p:val>
                                        </p:tav>
                                        <p:tav tm="100000">
                                          <p:val>
                                            <p:strVal val="#ppt_w"/>
                                          </p:val>
                                        </p:tav>
                                      </p:tavLst>
                                    </p:anim>
                                    <p:anim calcmode="lin" valueType="num">
                                      <p:cBhvr>
                                        <p:cTn id="38" dur="1000" fill="hold"/>
                                        <p:tgtEl>
                                          <p:spTgt spid="8"/>
                                        </p:tgtEl>
                                        <p:attrNameLst>
                                          <p:attrName>ppt_h</p:attrName>
                                        </p:attrNameLst>
                                      </p:cBhvr>
                                      <p:tavLst>
                                        <p:tav tm="0">
                                          <p:val>
                                            <p:fltVal val="0"/>
                                          </p:val>
                                        </p:tav>
                                        <p:tav tm="100000">
                                          <p:val>
                                            <p:strVal val="#ppt_h"/>
                                          </p:val>
                                        </p:tav>
                                      </p:tavLst>
                                    </p:anim>
                                    <p:anim calcmode="lin" valueType="num">
                                      <p:cBhvr>
                                        <p:cTn id="39" dur="1000" fill="hold"/>
                                        <p:tgtEl>
                                          <p:spTgt spid="8"/>
                                        </p:tgtEl>
                                        <p:attrNameLst>
                                          <p:attrName>style.rotation</p:attrName>
                                        </p:attrNameLst>
                                      </p:cBhvr>
                                      <p:tavLst>
                                        <p:tav tm="0">
                                          <p:val>
                                            <p:fltVal val="90"/>
                                          </p:val>
                                        </p:tav>
                                        <p:tav tm="100000">
                                          <p:val>
                                            <p:fltVal val="0"/>
                                          </p:val>
                                        </p:tav>
                                      </p:tavLst>
                                    </p:anim>
                                    <p:animEffect transition="in" filter="fade">
                                      <p:cBhvr>
                                        <p:cTn id="40" dur="1000"/>
                                        <p:tgtEl>
                                          <p:spTgt spid="8"/>
                                        </p:tgtEl>
                                      </p:cBhvr>
                                    </p:animEffect>
                                  </p:childTnLst>
                                </p:cTn>
                              </p:par>
                            </p:childTnLst>
                          </p:cTn>
                        </p:par>
                      </p:childTnLst>
                    </p:cTn>
                  </p:par>
                  <p:par>
                    <p:cTn id="41" fill="hold">
                      <p:stCondLst>
                        <p:cond delay="indefinite"/>
                      </p:stCondLst>
                      <p:childTnLst>
                        <p:par>
                          <p:cTn id="42" fill="hold">
                            <p:stCondLst>
                              <p:cond delay="0"/>
                            </p:stCondLst>
                            <p:childTnLst>
                              <p:par>
                                <p:cTn id="43" presetID="6" presetClass="emph" presetSubtype="0" fill="hold" grpId="0" nodeType="clickEffect">
                                  <p:stCondLst>
                                    <p:cond delay="0"/>
                                  </p:stCondLst>
                                  <p:childTnLst>
                                    <p:animScale>
                                      <p:cBhvr>
                                        <p:cTn id="44" dur="2000" fill="hold"/>
                                        <p:tgtEl>
                                          <p:spTgt spid="6"/>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8" grpId="0" animBg="1"/>
      <p:bldP spid="2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47757" y="2340487"/>
            <a:ext cx="6598050" cy="1698614"/>
          </a:xfrm>
          <a:prstGeom prst="rect">
            <a:avLst/>
          </a:prstGeom>
          <a:solidFill>
            <a:srgbClr val="02B9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Rectangle 3"/>
          <p:cNvSpPr txBox="1">
            <a:spLocks noChangeArrowheads="1"/>
          </p:cNvSpPr>
          <p:nvPr/>
        </p:nvSpPr>
        <p:spPr bwMode="auto">
          <a:xfrm>
            <a:off x="4483441" y="2541722"/>
            <a:ext cx="3868499" cy="1296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4" tIns="45717" rIns="91434" bIns="45717" numCol="1" anchor="ctr" anchorCtr="0" compatLnSpc="1">
            <a:prstTxWarp prst="textNoShape">
              <a:avLst/>
            </a:prstTxWarp>
          </a:bodyPr>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itchFamily="34" charset="0"/>
                <a:ea typeface="微软雅黑" pitchFamily="34" charset="-122"/>
              </a:defRPr>
            </a:lvl2pPr>
            <a:lvl3pPr algn="l" rtl="0" fontAlgn="base">
              <a:spcBef>
                <a:spcPct val="0"/>
              </a:spcBef>
              <a:spcAft>
                <a:spcPct val="0"/>
              </a:spcAft>
              <a:defRPr sz="2400">
                <a:solidFill>
                  <a:schemeClr val="tx2"/>
                </a:solidFill>
                <a:latin typeface="Arial" pitchFamily="34" charset="0"/>
                <a:ea typeface="微软雅黑" pitchFamily="34" charset="-122"/>
              </a:defRPr>
            </a:lvl3pPr>
            <a:lvl4pPr algn="l" rtl="0" fontAlgn="base">
              <a:spcBef>
                <a:spcPct val="0"/>
              </a:spcBef>
              <a:spcAft>
                <a:spcPct val="0"/>
              </a:spcAft>
              <a:defRPr sz="2400">
                <a:solidFill>
                  <a:schemeClr val="tx2"/>
                </a:solidFill>
                <a:latin typeface="Arial" pitchFamily="34" charset="0"/>
                <a:ea typeface="微软雅黑" pitchFamily="34" charset="-122"/>
              </a:defRPr>
            </a:lvl4pPr>
            <a:lvl5pPr algn="l" rtl="0" fontAlgn="base">
              <a:spcBef>
                <a:spcPct val="0"/>
              </a:spcBef>
              <a:spcAft>
                <a:spcPct val="0"/>
              </a:spcAft>
              <a:defRPr sz="2400">
                <a:solidFill>
                  <a:schemeClr val="tx2"/>
                </a:solidFill>
                <a:latin typeface="Arial" pitchFamily="34" charset="0"/>
                <a:ea typeface="微软雅黑" pitchFamily="34" charset="-122"/>
              </a:defRPr>
            </a:lvl5pPr>
            <a:lvl6pPr marL="457200" algn="l" rtl="0" fontAlgn="base">
              <a:spcBef>
                <a:spcPct val="0"/>
              </a:spcBef>
              <a:spcAft>
                <a:spcPct val="0"/>
              </a:spcAft>
              <a:defRPr sz="2400">
                <a:solidFill>
                  <a:schemeClr val="tx2"/>
                </a:solidFill>
                <a:latin typeface="Arial" pitchFamily="34" charset="0"/>
                <a:ea typeface="微软雅黑" pitchFamily="34" charset="-122"/>
              </a:defRPr>
            </a:lvl6pPr>
            <a:lvl7pPr marL="914400" algn="l" rtl="0" fontAlgn="base">
              <a:spcBef>
                <a:spcPct val="0"/>
              </a:spcBef>
              <a:spcAft>
                <a:spcPct val="0"/>
              </a:spcAft>
              <a:defRPr sz="2400">
                <a:solidFill>
                  <a:schemeClr val="tx2"/>
                </a:solidFill>
                <a:latin typeface="Arial" pitchFamily="34" charset="0"/>
                <a:ea typeface="微软雅黑" pitchFamily="34" charset="-122"/>
              </a:defRPr>
            </a:lvl7pPr>
            <a:lvl8pPr marL="1371600" algn="l" rtl="0" fontAlgn="base">
              <a:spcBef>
                <a:spcPct val="0"/>
              </a:spcBef>
              <a:spcAft>
                <a:spcPct val="0"/>
              </a:spcAft>
              <a:defRPr sz="2400">
                <a:solidFill>
                  <a:schemeClr val="tx2"/>
                </a:solidFill>
                <a:latin typeface="Arial" pitchFamily="34" charset="0"/>
                <a:ea typeface="微软雅黑" pitchFamily="34" charset="-122"/>
              </a:defRPr>
            </a:lvl8pPr>
            <a:lvl9pPr marL="1828800" algn="l" rtl="0" fontAlgn="base">
              <a:spcBef>
                <a:spcPct val="0"/>
              </a:spcBef>
              <a:spcAft>
                <a:spcPct val="0"/>
              </a:spcAft>
              <a:defRPr sz="2400">
                <a:solidFill>
                  <a:schemeClr val="tx2"/>
                </a:solidFill>
                <a:latin typeface="Arial" pitchFamily="34" charset="0"/>
                <a:ea typeface="微软雅黑" pitchFamily="34" charset="-122"/>
              </a:defRPr>
            </a:lvl9pPr>
          </a:lstStyle>
          <a:p>
            <a:pPr algn="dist"/>
            <a:r>
              <a:rPr lang="zh-CN" altLang="en-US" sz="6600" b="1" dirty="0">
                <a:solidFill>
                  <a:schemeClr val="bg1"/>
                </a:solidFill>
                <a:latin typeface="微软雅黑" panose="020B0503020204020204" pitchFamily="34" charset="-122"/>
                <a:ea typeface="微软雅黑" panose="020B0503020204020204" pitchFamily="34" charset="-122"/>
              </a:rPr>
              <a:t>谢谢！</a:t>
            </a:r>
            <a:endParaRPr lang="en-US" altLang="zh-CN" sz="6600" b="1" dirty="0">
              <a:solidFill>
                <a:schemeClr val="bg1"/>
              </a:solidFill>
              <a:latin typeface="微软雅黑" panose="020B0503020204020204" pitchFamily="34" charset="-122"/>
              <a:ea typeface="微软雅黑" panose="020B0503020204020204" pitchFamily="34" charset="-122"/>
            </a:endParaRPr>
          </a:p>
        </p:txBody>
      </p:sp>
      <p:sp>
        <p:nvSpPr>
          <p:cNvPr id="7" name="Rectangle 6"/>
          <p:cNvSpPr>
            <a:spLocks noChangeArrowheads="1"/>
          </p:cNvSpPr>
          <p:nvPr/>
        </p:nvSpPr>
        <p:spPr bwMode="auto">
          <a:xfrm>
            <a:off x="6353950" y="5153618"/>
            <a:ext cx="2835079" cy="81520"/>
          </a:xfrm>
          <a:prstGeom prst="rect">
            <a:avLst/>
          </a:prstGeom>
          <a:solidFill>
            <a:srgbClr val="01C0B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8" name="Rectangle 7"/>
          <p:cNvSpPr>
            <a:spLocks noChangeArrowheads="1"/>
          </p:cNvSpPr>
          <p:nvPr/>
        </p:nvSpPr>
        <p:spPr bwMode="auto">
          <a:xfrm>
            <a:off x="7620664" y="5153618"/>
            <a:ext cx="2831571" cy="81520"/>
          </a:xfrm>
          <a:prstGeom prst="rect">
            <a:avLst/>
          </a:prstGeom>
          <a:solidFill>
            <a:srgbClr val="FFC0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9" name="Rectangle 8"/>
          <p:cNvSpPr>
            <a:spLocks noChangeArrowheads="1"/>
          </p:cNvSpPr>
          <p:nvPr/>
        </p:nvSpPr>
        <p:spPr bwMode="auto">
          <a:xfrm>
            <a:off x="8885806" y="5153618"/>
            <a:ext cx="2835079" cy="81520"/>
          </a:xfrm>
          <a:prstGeom prst="rect">
            <a:avLst/>
          </a:prstGeom>
          <a:solidFill>
            <a:srgbClr val="92D05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10" name="Rectangle 9"/>
          <p:cNvSpPr>
            <a:spLocks noChangeArrowheads="1"/>
          </p:cNvSpPr>
          <p:nvPr/>
        </p:nvSpPr>
        <p:spPr bwMode="auto">
          <a:xfrm>
            <a:off x="10152517" y="5153618"/>
            <a:ext cx="2039483" cy="81520"/>
          </a:xfrm>
          <a:prstGeom prst="rect">
            <a:avLst/>
          </a:prstGeom>
          <a:solidFill>
            <a:srgbClr val="FFFF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12" name="Freeform 9"/>
          <p:cNvSpPr>
            <a:spLocks noEditPoints="1"/>
          </p:cNvSpPr>
          <p:nvPr/>
        </p:nvSpPr>
        <p:spPr bwMode="auto">
          <a:xfrm>
            <a:off x="10057335" y="4692974"/>
            <a:ext cx="373115" cy="374683"/>
          </a:xfrm>
          <a:custGeom>
            <a:avLst/>
            <a:gdLst>
              <a:gd name="T0" fmla="*/ 358 w 490"/>
              <a:gd name="T1" fmla="*/ 250 h 490"/>
              <a:gd name="T2" fmla="*/ 358 w 490"/>
              <a:gd name="T3" fmla="*/ 183 h 490"/>
              <a:gd name="T4" fmla="*/ 328 w 490"/>
              <a:gd name="T5" fmla="*/ 183 h 490"/>
              <a:gd name="T6" fmla="*/ 328 w 490"/>
              <a:gd name="T7" fmla="*/ 250 h 490"/>
              <a:gd name="T8" fmla="*/ 247 w 490"/>
              <a:gd name="T9" fmla="*/ 330 h 490"/>
              <a:gd name="T10" fmla="*/ 246 w 490"/>
              <a:gd name="T11" fmla="*/ 330 h 490"/>
              <a:gd name="T12" fmla="*/ 245 w 490"/>
              <a:gd name="T13" fmla="*/ 330 h 490"/>
              <a:gd name="T14" fmla="*/ 245 w 490"/>
              <a:gd name="T15" fmla="*/ 330 h 490"/>
              <a:gd name="T16" fmla="*/ 243 w 490"/>
              <a:gd name="T17" fmla="*/ 330 h 490"/>
              <a:gd name="T18" fmla="*/ 162 w 490"/>
              <a:gd name="T19" fmla="*/ 250 h 490"/>
              <a:gd name="T20" fmla="*/ 162 w 490"/>
              <a:gd name="T21" fmla="*/ 183 h 490"/>
              <a:gd name="T22" fmla="*/ 132 w 490"/>
              <a:gd name="T23" fmla="*/ 183 h 490"/>
              <a:gd name="T24" fmla="*/ 132 w 490"/>
              <a:gd name="T25" fmla="*/ 250 h 490"/>
              <a:gd name="T26" fmla="*/ 227 w 490"/>
              <a:gd name="T27" fmla="*/ 359 h 490"/>
              <a:gd name="T28" fmla="*/ 227 w 490"/>
              <a:gd name="T29" fmla="*/ 407 h 490"/>
              <a:gd name="T30" fmla="*/ 160 w 490"/>
              <a:gd name="T31" fmla="*/ 426 h 490"/>
              <a:gd name="T32" fmla="*/ 331 w 490"/>
              <a:gd name="T33" fmla="*/ 426 h 490"/>
              <a:gd name="T34" fmla="*/ 263 w 490"/>
              <a:gd name="T35" fmla="*/ 407 h 490"/>
              <a:gd name="T36" fmla="*/ 263 w 490"/>
              <a:gd name="T37" fmla="*/ 360 h 490"/>
              <a:gd name="T38" fmla="*/ 358 w 490"/>
              <a:gd name="T39" fmla="*/ 250 h 490"/>
              <a:gd name="T40" fmla="*/ 244 w 490"/>
              <a:gd name="T41" fmla="*/ 302 h 490"/>
              <a:gd name="T42" fmla="*/ 245 w 490"/>
              <a:gd name="T43" fmla="*/ 302 h 490"/>
              <a:gd name="T44" fmla="*/ 246 w 490"/>
              <a:gd name="T45" fmla="*/ 302 h 490"/>
              <a:gd name="T46" fmla="*/ 300 w 490"/>
              <a:gd name="T47" fmla="*/ 248 h 490"/>
              <a:gd name="T48" fmla="*/ 300 w 490"/>
              <a:gd name="T49" fmla="*/ 118 h 490"/>
              <a:gd name="T50" fmla="*/ 246 w 490"/>
              <a:gd name="T51" fmla="*/ 64 h 490"/>
              <a:gd name="T52" fmla="*/ 245 w 490"/>
              <a:gd name="T53" fmla="*/ 64 h 490"/>
              <a:gd name="T54" fmla="*/ 244 w 490"/>
              <a:gd name="T55" fmla="*/ 64 h 490"/>
              <a:gd name="T56" fmla="*/ 190 w 490"/>
              <a:gd name="T57" fmla="*/ 118 h 490"/>
              <a:gd name="T58" fmla="*/ 190 w 490"/>
              <a:gd name="T59" fmla="*/ 248 h 490"/>
              <a:gd name="T60" fmla="*/ 244 w 490"/>
              <a:gd name="T61" fmla="*/ 302 h 490"/>
              <a:gd name="T62" fmla="*/ 245 w 490"/>
              <a:gd name="T63" fmla="*/ 0 h 490"/>
              <a:gd name="T64" fmla="*/ 490 w 490"/>
              <a:gd name="T65" fmla="*/ 245 h 490"/>
              <a:gd name="T66" fmla="*/ 245 w 490"/>
              <a:gd name="T67" fmla="*/ 490 h 490"/>
              <a:gd name="T68" fmla="*/ 0 w 490"/>
              <a:gd name="T69" fmla="*/ 245 h 490"/>
              <a:gd name="T70" fmla="*/ 245 w 490"/>
              <a:gd name="T71" fmla="*/ 0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90" h="490">
                <a:moveTo>
                  <a:pt x="358" y="250"/>
                </a:moveTo>
                <a:lnTo>
                  <a:pt x="358" y="183"/>
                </a:lnTo>
                <a:cubicBezTo>
                  <a:pt x="358" y="165"/>
                  <a:pt x="328" y="164"/>
                  <a:pt x="328" y="183"/>
                </a:cubicBezTo>
                <a:lnTo>
                  <a:pt x="328" y="250"/>
                </a:lnTo>
                <a:cubicBezTo>
                  <a:pt x="328" y="294"/>
                  <a:pt x="292" y="330"/>
                  <a:pt x="247" y="330"/>
                </a:cubicBezTo>
                <a:cubicBezTo>
                  <a:pt x="247" y="330"/>
                  <a:pt x="246" y="330"/>
                  <a:pt x="246" y="330"/>
                </a:cubicBezTo>
                <a:lnTo>
                  <a:pt x="245" y="330"/>
                </a:lnTo>
                <a:lnTo>
                  <a:pt x="245" y="330"/>
                </a:lnTo>
                <a:cubicBezTo>
                  <a:pt x="244" y="330"/>
                  <a:pt x="244" y="330"/>
                  <a:pt x="243" y="330"/>
                </a:cubicBezTo>
                <a:cubicBezTo>
                  <a:pt x="198" y="330"/>
                  <a:pt x="162" y="294"/>
                  <a:pt x="162" y="250"/>
                </a:cubicBezTo>
                <a:lnTo>
                  <a:pt x="162" y="183"/>
                </a:lnTo>
                <a:cubicBezTo>
                  <a:pt x="162" y="165"/>
                  <a:pt x="132" y="164"/>
                  <a:pt x="132" y="183"/>
                </a:cubicBezTo>
                <a:cubicBezTo>
                  <a:pt x="132" y="192"/>
                  <a:pt x="132" y="250"/>
                  <a:pt x="132" y="250"/>
                </a:cubicBezTo>
                <a:cubicBezTo>
                  <a:pt x="132" y="306"/>
                  <a:pt x="173" y="352"/>
                  <a:pt x="227" y="359"/>
                </a:cubicBezTo>
                <a:lnTo>
                  <a:pt x="227" y="407"/>
                </a:lnTo>
                <a:lnTo>
                  <a:pt x="160" y="426"/>
                </a:lnTo>
                <a:lnTo>
                  <a:pt x="331" y="426"/>
                </a:lnTo>
                <a:lnTo>
                  <a:pt x="263" y="407"/>
                </a:lnTo>
                <a:lnTo>
                  <a:pt x="263" y="360"/>
                </a:lnTo>
                <a:cubicBezTo>
                  <a:pt x="317" y="352"/>
                  <a:pt x="358" y="306"/>
                  <a:pt x="358" y="250"/>
                </a:cubicBezTo>
                <a:close/>
                <a:moveTo>
                  <a:pt x="244" y="302"/>
                </a:moveTo>
                <a:cubicBezTo>
                  <a:pt x="244" y="302"/>
                  <a:pt x="245" y="302"/>
                  <a:pt x="245" y="302"/>
                </a:cubicBezTo>
                <a:cubicBezTo>
                  <a:pt x="245" y="302"/>
                  <a:pt x="246" y="302"/>
                  <a:pt x="246" y="302"/>
                </a:cubicBezTo>
                <a:cubicBezTo>
                  <a:pt x="276" y="302"/>
                  <a:pt x="300" y="278"/>
                  <a:pt x="300" y="248"/>
                </a:cubicBezTo>
                <a:lnTo>
                  <a:pt x="300" y="118"/>
                </a:lnTo>
                <a:cubicBezTo>
                  <a:pt x="300" y="88"/>
                  <a:pt x="276" y="64"/>
                  <a:pt x="246" y="64"/>
                </a:cubicBezTo>
                <a:cubicBezTo>
                  <a:pt x="246" y="64"/>
                  <a:pt x="245" y="64"/>
                  <a:pt x="245" y="64"/>
                </a:cubicBezTo>
                <a:cubicBezTo>
                  <a:pt x="245" y="64"/>
                  <a:pt x="244" y="64"/>
                  <a:pt x="244" y="64"/>
                </a:cubicBezTo>
                <a:cubicBezTo>
                  <a:pt x="214" y="64"/>
                  <a:pt x="190" y="88"/>
                  <a:pt x="190" y="118"/>
                </a:cubicBezTo>
                <a:lnTo>
                  <a:pt x="190" y="248"/>
                </a:lnTo>
                <a:cubicBezTo>
                  <a:pt x="190" y="278"/>
                  <a:pt x="214" y="302"/>
                  <a:pt x="244" y="302"/>
                </a:cubicBezTo>
                <a:close/>
                <a:moveTo>
                  <a:pt x="245" y="0"/>
                </a:moveTo>
                <a:cubicBezTo>
                  <a:pt x="381" y="0"/>
                  <a:pt x="490" y="110"/>
                  <a:pt x="490" y="245"/>
                </a:cubicBezTo>
                <a:cubicBezTo>
                  <a:pt x="490" y="381"/>
                  <a:pt x="381" y="490"/>
                  <a:pt x="245" y="490"/>
                </a:cubicBezTo>
                <a:cubicBezTo>
                  <a:pt x="110" y="490"/>
                  <a:pt x="0" y="381"/>
                  <a:pt x="0" y="245"/>
                </a:cubicBezTo>
                <a:cubicBezTo>
                  <a:pt x="0" y="110"/>
                  <a:pt x="110" y="0"/>
                  <a:pt x="245" y="0"/>
                </a:cubicBezTo>
                <a:close/>
              </a:path>
            </a:pathLst>
          </a:custGeom>
          <a:solidFill>
            <a:schemeClr val="bg1"/>
          </a:solidFill>
          <a:ln>
            <a:noFill/>
          </a:ln>
          <a:extLst/>
        </p:spPr>
        <p:txBody>
          <a:bodyPr vert="horz" wrap="square" lIns="91434" tIns="45717" rIns="91434" bIns="45717" numCol="1" anchor="t" anchorCtr="0" compatLnSpc="1">
            <a:prstTxWarp prst="textNoShape">
              <a:avLst/>
            </a:prstTxWarp>
          </a:bodyPr>
          <a:lstStyle/>
          <a:p>
            <a:endParaRPr lang="zh-CN" altLang="en-US">
              <a:solidFill>
                <a:srgbClr val="484849"/>
              </a:solidFill>
            </a:endParaRPr>
          </a:p>
        </p:txBody>
      </p:sp>
      <p:sp>
        <p:nvSpPr>
          <p:cNvPr id="13" name="Rectangle 4"/>
          <p:cNvSpPr txBox="1">
            <a:spLocks noChangeArrowheads="1"/>
          </p:cNvSpPr>
          <p:nvPr/>
        </p:nvSpPr>
        <p:spPr bwMode="auto">
          <a:xfrm>
            <a:off x="10466453" y="4703232"/>
            <a:ext cx="1899476" cy="3539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4" tIns="45717" rIns="91434" bIns="45717" rtlCol="0">
            <a:spAutoFit/>
          </a:bodyPr>
          <a:lstStyle>
            <a:defPPr>
              <a:defRPr lang="zh-CN"/>
            </a:defPPr>
            <a:lvl1pPr>
              <a:defRPr sz="2400" b="1">
                <a:latin typeface="+mj-ea"/>
                <a:ea typeface="+mj-ea"/>
              </a:defRPr>
            </a:lvl1pPr>
          </a:lstStyle>
          <a:p>
            <a:r>
              <a:rPr lang="zh-CN" altLang="en-US" sz="1700" dirty="0">
                <a:solidFill>
                  <a:schemeClr val="bg1"/>
                </a:solidFill>
              </a:rPr>
              <a:t>汇报人：代用名</a:t>
            </a:r>
          </a:p>
        </p:txBody>
      </p:sp>
      <p:sp>
        <p:nvSpPr>
          <p:cNvPr id="14" name="Freeform 10"/>
          <p:cNvSpPr>
            <a:spLocks noChangeAspect="1" noEditPoints="1"/>
          </p:cNvSpPr>
          <p:nvPr/>
        </p:nvSpPr>
        <p:spPr bwMode="auto">
          <a:xfrm>
            <a:off x="6417691" y="4693112"/>
            <a:ext cx="372836" cy="374400"/>
          </a:xfrm>
          <a:custGeom>
            <a:avLst/>
            <a:gdLst>
              <a:gd name="T0" fmla="*/ 245 w 490"/>
              <a:gd name="T1" fmla="*/ 0 h 490"/>
              <a:gd name="T2" fmla="*/ 490 w 490"/>
              <a:gd name="T3" fmla="*/ 245 h 490"/>
              <a:gd name="T4" fmla="*/ 245 w 490"/>
              <a:gd name="T5" fmla="*/ 490 h 490"/>
              <a:gd name="T6" fmla="*/ 0 w 490"/>
              <a:gd name="T7" fmla="*/ 245 h 490"/>
              <a:gd name="T8" fmla="*/ 245 w 490"/>
              <a:gd name="T9" fmla="*/ 0 h 490"/>
              <a:gd name="T10" fmla="*/ 436 w 490"/>
              <a:gd name="T11" fmla="*/ 250 h 490"/>
              <a:gd name="T12" fmla="*/ 427 w 490"/>
              <a:gd name="T13" fmla="*/ 256 h 490"/>
              <a:gd name="T14" fmla="*/ 394 w 490"/>
              <a:gd name="T15" fmla="*/ 256 h 490"/>
              <a:gd name="T16" fmla="*/ 386 w 490"/>
              <a:gd name="T17" fmla="*/ 253 h 490"/>
              <a:gd name="T18" fmla="*/ 245 w 490"/>
              <a:gd name="T19" fmla="*/ 105 h 490"/>
              <a:gd name="T20" fmla="*/ 104 w 490"/>
              <a:gd name="T21" fmla="*/ 253 h 490"/>
              <a:gd name="T22" fmla="*/ 96 w 490"/>
              <a:gd name="T23" fmla="*/ 256 h 490"/>
              <a:gd name="T24" fmla="*/ 63 w 490"/>
              <a:gd name="T25" fmla="*/ 256 h 490"/>
              <a:gd name="T26" fmla="*/ 54 w 490"/>
              <a:gd name="T27" fmla="*/ 250 h 490"/>
              <a:gd name="T28" fmla="*/ 56 w 490"/>
              <a:gd name="T29" fmla="*/ 239 h 490"/>
              <a:gd name="T30" fmla="*/ 236 w 490"/>
              <a:gd name="T31" fmla="*/ 52 h 490"/>
              <a:gd name="T32" fmla="*/ 245 w 490"/>
              <a:gd name="T33" fmla="*/ 48 h 490"/>
              <a:gd name="T34" fmla="*/ 254 w 490"/>
              <a:gd name="T35" fmla="*/ 52 h 490"/>
              <a:gd name="T36" fmla="*/ 434 w 490"/>
              <a:gd name="T37" fmla="*/ 239 h 490"/>
              <a:gd name="T38" fmla="*/ 436 w 490"/>
              <a:gd name="T39" fmla="*/ 250 h 490"/>
              <a:gd name="T40" fmla="*/ 113 w 490"/>
              <a:gd name="T41" fmla="*/ 267 h 490"/>
              <a:gd name="T42" fmla="*/ 113 w 490"/>
              <a:gd name="T43" fmla="*/ 267 h 490"/>
              <a:gd name="T44" fmla="*/ 113 w 490"/>
              <a:gd name="T45" fmla="*/ 379 h 490"/>
              <a:gd name="T46" fmla="*/ 129 w 490"/>
              <a:gd name="T47" fmla="*/ 398 h 490"/>
              <a:gd name="T48" fmla="*/ 202 w 490"/>
              <a:gd name="T49" fmla="*/ 398 h 490"/>
              <a:gd name="T50" fmla="*/ 202 w 490"/>
              <a:gd name="T51" fmla="*/ 276 h 490"/>
              <a:gd name="T52" fmla="*/ 221 w 490"/>
              <a:gd name="T53" fmla="*/ 257 h 490"/>
              <a:gd name="T54" fmla="*/ 269 w 490"/>
              <a:gd name="T55" fmla="*/ 257 h 490"/>
              <a:gd name="T56" fmla="*/ 288 w 490"/>
              <a:gd name="T57" fmla="*/ 276 h 490"/>
              <a:gd name="T58" fmla="*/ 288 w 490"/>
              <a:gd name="T59" fmla="*/ 398 h 490"/>
              <a:gd name="T60" fmla="*/ 361 w 490"/>
              <a:gd name="T61" fmla="*/ 398 h 490"/>
              <a:gd name="T62" fmla="*/ 377 w 490"/>
              <a:gd name="T63" fmla="*/ 379 h 490"/>
              <a:gd name="T64" fmla="*/ 377 w 490"/>
              <a:gd name="T65" fmla="*/ 268 h 490"/>
              <a:gd name="T66" fmla="*/ 245 w 490"/>
              <a:gd name="T67" fmla="*/ 130 h 490"/>
              <a:gd name="T68" fmla="*/ 113 w 490"/>
              <a:gd name="T69" fmla="*/ 267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90" h="490">
                <a:moveTo>
                  <a:pt x="245" y="0"/>
                </a:moveTo>
                <a:cubicBezTo>
                  <a:pt x="380" y="0"/>
                  <a:pt x="490" y="110"/>
                  <a:pt x="490" y="245"/>
                </a:cubicBezTo>
                <a:cubicBezTo>
                  <a:pt x="490" y="381"/>
                  <a:pt x="380" y="490"/>
                  <a:pt x="245" y="490"/>
                </a:cubicBezTo>
                <a:cubicBezTo>
                  <a:pt x="110" y="490"/>
                  <a:pt x="0" y="381"/>
                  <a:pt x="0" y="245"/>
                </a:cubicBezTo>
                <a:cubicBezTo>
                  <a:pt x="0" y="110"/>
                  <a:pt x="110" y="0"/>
                  <a:pt x="245" y="0"/>
                </a:cubicBezTo>
                <a:close/>
                <a:moveTo>
                  <a:pt x="436" y="250"/>
                </a:moveTo>
                <a:cubicBezTo>
                  <a:pt x="435" y="254"/>
                  <a:pt x="431" y="256"/>
                  <a:pt x="427" y="256"/>
                </a:cubicBezTo>
                <a:lnTo>
                  <a:pt x="394" y="256"/>
                </a:lnTo>
                <a:cubicBezTo>
                  <a:pt x="391" y="256"/>
                  <a:pt x="388" y="255"/>
                  <a:pt x="386" y="253"/>
                </a:cubicBezTo>
                <a:lnTo>
                  <a:pt x="245" y="105"/>
                </a:lnTo>
                <a:lnTo>
                  <a:pt x="104" y="253"/>
                </a:lnTo>
                <a:cubicBezTo>
                  <a:pt x="102" y="255"/>
                  <a:pt x="99" y="256"/>
                  <a:pt x="96" y="256"/>
                </a:cubicBezTo>
                <a:lnTo>
                  <a:pt x="63" y="256"/>
                </a:lnTo>
                <a:cubicBezTo>
                  <a:pt x="59" y="256"/>
                  <a:pt x="55" y="254"/>
                  <a:pt x="54" y="250"/>
                </a:cubicBezTo>
                <a:cubicBezTo>
                  <a:pt x="52" y="246"/>
                  <a:pt x="53" y="242"/>
                  <a:pt x="56" y="239"/>
                </a:cubicBezTo>
                <a:lnTo>
                  <a:pt x="236" y="52"/>
                </a:lnTo>
                <a:cubicBezTo>
                  <a:pt x="238" y="49"/>
                  <a:pt x="242" y="48"/>
                  <a:pt x="245" y="48"/>
                </a:cubicBezTo>
                <a:cubicBezTo>
                  <a:pt x="248" y="48"/>
                  <a:pt x="252" y="49"/>
                  <a:pt x="254" y="52"/>
                </a:cubicBezTo>
                <a:lnTo>
                  <a:pt x="434" y="239"/>
                </a:lnTo>
                <a:cubicBezTo>
                  <a:pt x="437" y="242"/>
                  <a:pt x="438" y="246"/>
                  <a:pt x="436" y="250"/>
                </a:cubicBezTo>
                <a:close/>
                <a:moveTo>
                  <a:pt x="113" y="267"/>
                </a:moveTo>
                <a:lnTo>
                  <a:pt x="113" y="267"/>
                </a:lnTo>
                <a:lnTo>
                  <a:pt x="113" y="379"/>
                </a:lnTo>
                <a:cubicBezTo>
                  <a:pt x="113" y="389"/>
                  <a:pt x="120" y="398"/>
                  <a:pt x="129" y="398"/>
                </a:cubicBezTo>
                <a:lnTo>
                  <a:pt x="202" y="398"/>
                </a:lnTo>
                <a:lnTo>
                  <a:pt x="202" y="276"/>
                </a:lnTo>
                <a:cubicBezTo>
                  <a:pt x="202" y="266"/>
                  <a:pt x="211" y="257"/>
                  <a:pt x="221" y="257"/>
                </a:cubicBezTo>
                <a:lnTo>
                  <a:pt x="269" y="257"/>
                </a:lnTo>
                <a:cubicBezTo>
                  <a:pt x="279" y="257"/>
                  <a:pt x="288" y="266"/>
                  <a:pt x="288" y="276"/>
                </a:cubicBezTo>
                <a:lnTo>
                  <a:pt x="288" y="398"/>
                </a:lnTo>
                <a:lnTo>
                  <a:pt x="361" y="398"/>
                </a:lnTo>
                <a:cubicBezTo>
                  <a:pt x="370" y="398"/>
                  <a:pt x="377" y="389"/>
                  <a:pt x="377" y="379"/>
                </a:cubicBezTo>
                <a:lnTo>
                  <a:pt x="377" y="268"/>
                </a:lnTo>
                <a:lnTo>
                  <a:pt x="245" y="130"/>
                </a:lnTo>
                <a:lnTo>
                  <a:pt x="113" y="267"/>
                </a:lnTo>
                <a:close/>
              </a:path>
            </a:pathLst>
          </a:custGeom>
          <a:solidFill>
            <a:schemeClr val="bg1"/>
          </a:solidFill>
          <a:ln>
            <a:noFill/>
          </a:ln>
          <a:extLst/>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27" name="TextBox 26"/>
          <p:cNvSpPr txBox="1"/>
          <p:nvPr/>
        </p:nvSpPr>
        <p:spPr>
          <a:xfrm>
            <a:off x="14146653" y="8510121"/>
            <a:ext cx="1107996" cy="461665"/>
          </a:xfrm>
          <a:prstGeom prst="rect">
            <a:avLst/>
          </a:prstGeom>
          <a:noFill/>
        </p:spPr>
        <p:txBody>
          <a:bodyPr wrap="none" rtlCol="0">
            <a:spAutoFit/>
          </a:bodyPr>
          <a:lstStyle/>
          <a:p>
            <a:r>
              <a:rPr lang="zh-CN" altLang="en-US" sz="2400" dirty="0"/>
              <a:t>延时符</a:t>
            </a:r>
          </a:p>
        </p:txBody>
      </p:sp>
      <p:sp>
        <p:nvSpPr>
          <p:cNvPr id="28" name="Rectangle 6"/>
          <p:cNvSpPr>
            <a:spLocks noChangeArrowheads="1"/>
          </p:cNvSpPr>
          <p:nvPr/>
        </p:nvSpPr>
        <p:spPr bwMode="auto">
          <a:xfrm>
            <a:off x="0" y="1109114"/>
            <a:ext cx="2835079" cy="81520"/>
          </a:xfrm>
          <a:prstGeom prst="rect">
            <a:avLst/>
          </a:prstGeom>
          <a:solidFill>
            <a:srgbClr val="01C0B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29" name="Rectangle 7"/>
          <p:cNvSpPr>
            <a:spLocks noChangeArrowheads="1"/>
          </p:cNvSpPr>
          <p:nvPr/>
        </p:nvSpPr>
        <p:spPr bwMode="auto">
          <a:xfrm>
            <a:off x="1266714" y="1109114"/>
            <a:ext cx="2831571" cy="81520"/>
          </a:xfrm>
          <a:prstGeom prst="rect">
            <a:avLst/>
          </a:prstGeom>
          <a:solidFill>
            <a:srgbClr val="FFC0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30" name="Rectangle 8"/>
          <p:cNvSpPr>
            <a:spLocks noChangeArrowheads="1"/>
          </p:cNvSpPr>
          <p:nvPr/>
        </p:nvSpPr>
        <p:spPr bwMode="auto">
          <a:xfrm>
            <a:off x="2531856" y="1109114"/>
            <a:ext cx="2835079" cy="81520"/>
          </a:xfrm>
          <a:prstGeom prst="rect">
            <a:avLst/>
          </a:prstGeom>
          <a:solidFill>
            <a:srgbClr val="92D05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31" name="Rectangle 9"/>
          <p:cNvSpPr>
            <a:spLocks noChangeArrowheads="1"/>
          </p:cNvSpPr>
          <p:nvPr/>
        </p:nvSpPr>
        <p:spPr bwMode="auto">
          <a:xfrm>
            <a:off x="3798567" y="1109114"/>
            <a:ext cx="2039483" cy="81520"/>
          </a:xfrm>
          <a:prstGeom prst="rect">
            <a:avLst/>
          </a:prstGeom>
          <a:solidFill>
            <a:srgbClr val="FFFF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Tree>
    <p:extLst>
      <p:ext uri="{BB962C8B-B14F-4D97-AF65-F5344CB8AC3E}">
        <p14:creationId xmlns:p14="http://schemas.microsoft.com/office/powerpoint/2010/main" val="1255176408"/>
      </p:ext>
    </p:extLst>
  </p:cSld>
  <p:clrMapOvr>
    <a:masterClrMapping/>
  </p:clrMapOvr>
  <mc:AlternateContent xmlns:mc="http://schemas.openxmlformats.org/markup-compatibility/2006" xmlns:p14="http://schemas.microsoft.com/office/powerpoint/2010/main">
    <mc:Choice Requires="p14">
      <p:transition spd="slow">
        <p14:flip dir="r"/>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253</TotalTime>
  <Words>1674</Words>
  <Application>Microsoft Office PowerPoint</Application>
  <PresentationFormat>宽屏</PresentationFormat>
  <Paragraphs>141</Paragraphs>
  <Slides>17</Slides>
  <Notes>5</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17</vt:i4>
      </vt:variant>
    </vt:vector>
  </HeadingPairs>
  <TitlesOfParts>
    <vt:vector size="26" baseType="lpstr">
      <vt:lpstr>宋体</vt:lpstr>
      <vt:lpstr>微软雅黑</vt:lpstr>
      <vt:lpstr>Arial</vt:lpstr>
      <vt:lpstr>Calibri</vt:lpstr>
      <vt:lpstr>Calibri Light</vt:lpstr>
      <vt:lpstr>Cambria Math</vt:lpstr>
      <vt:lpstr>Microsoft Sans Serif</vt:lpstr>
      <vt:lpstr>Wingdings</vt:lpstr>
      <vt:lpstr>第一PPT，www.1ppt.com</vt:lpstr>
      <vt:lpstr>PowerPoint 演示文稿</vt:lpstr>
      <vt:lpstr>流水线的相关问题 </vt:lpstr>
      <vt:lpstr>结构相关</vt:lpstr>
      <vt:lpstr>结构相关解决办法</vt:lpstr>
      <vt:lpstr>数据相关 </vt:lpstr>
      <vt:lpstr>顺序流动和异步流动</vt:lpstr>
      <vt:lpstr>PowerPoint 演示文稿</vt:lpstr>
      <vt:lpstr>PowerPoint 演示文稿</vt:lpstr>
      <vt:lpstr>控制相关的解决办法——采用延迟转移</vt:lpstr>
      <vt:lpstr>控制相关的解决办法——加快短循环程序的处理</vt:lpstr>
      <vt:lpstr>超流水技术 </vt:lpstr>
      <vt:lpstr>超标量处理机</vt:lpstr>
      <vt:lpstr>PowerPoint 演示文稿</vt:lpstr>
      <vt:lpstr>度m＝3的超流水线时空图 </vt:lpstr>
      <vt:lpstr>超标量超流水线处理机 </vt:lpstr>
      <vt:lpstr>并行度m＝9的超标量超流水线，k＝3，n＝3，并行度m＝9； 完成12个任务就需5⊿t，完成21个任务就只需6⊿t</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07述职报告</dc:title>
  <dc:creator>user</dc:creator>
  <cp:lastModifiedBy>yhw</cp:lastModifiedBy>
  <cp:revision>35</cp:revision>
  <dcterms:created xsi:type="dcterms:W3CDTF">2016-06-01T05:10:04Z</dcterms:created>
  <dcterms:modified xsi:type="dcterms:W3CDTF">2017-06-03T02:18:24Z</dcterms:modified>
</cp:coreProperties>
</file>