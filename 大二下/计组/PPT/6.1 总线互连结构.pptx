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9" r:id="rId2"/>
    <p:sldId id="292" r:id="rId3"/>
    <p:sldId id="293" r:id="rId4"/>
    <p:sldId id="315" r:id="rId5"/>
    <p:sldId id="317" r:id="rId6"/>
    <p:sldId id="316" r:id="rId7"/>
    <p:sldId id="320" r:id="rId8"/>
    <p:sldId id="298" r:id="rId9"/>
    <p:sldId id="318" r:id="rId10"/>
    <p:sldId id="301" r:id="rId11"/>
    <p:sldId id="302" r:id="rId12"/>
    <p:sldId id="324" r:id="rId13"/>
    <p:sldId id="319" r:id="rId14"/>
    <p:sldId id="305" r:id="rId15"/>
    <p:sldId id="306" r:id="rId16"/>
    <p:sldId id="307" r:id="rId17"/>
    <p:sldId id="322" r:id="rId18"/>
    <p:sldId id="321" r:id="rId19"/>
    <p:sldId id="310" r:id="rId20"/>
    <p:sldId id="323" r:id="rId21"/>
    <p:sldId id="312" r:id="rId22"/>
    <p:sldId id="313" r:id="rId23"/>
    <p:sldId id="314" r:id="rId24"/>
    <p:sldId id="325"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C0B0"/>
    <a:srgbClr val="02B9E7"/>
    <a:srgbClr val="04B0BE"/>
    <a:srgbClr val="04B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48" y="48"/>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40966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790836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1879385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2169651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7</a:t>
            </a:fld>
            <a:endParaRPr lang="zh-CN" altLang="en-US"/>
          </a:p>
        </p:txBody>
      </p:sp>
    </p:spTree>
    <p:extLst>
      <p:ext uri="{BB962C8B-B14F-4D97-AF65-F5344CB8AC3E}">
        <p14:creationId xmlns:p14="http://schemas.microsoft.com/office/powerpoint/2010/main" val="2751457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133458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816085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886885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1311042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3543115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2841058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52800" y="228600"/>
            <a:ext cx="84328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D923522-042C-4ADD-BEC2-15CC088FDEE2}" type="slidenum">
              <a:rPr lang="zh-CN" altLang="en-US"/>
              <a:pPr>
                <a:defRPr/>
              </a:pPr>
              <a:t>‹#›</a:t>
            </a:fld>
            <a:endParaRPr lang="en-US" altLang="zh-CN"/>
          </a:p>
        </p:txBody>
      </p:sp>
    </p:spTree>
    <p:extLst>
      <p:ext uri="{BB962C8B-B14F-4D97-AF65-F5344CB8AC3E}">
        <p14:creationId xmlns:p14="http://schemas.microsoft.com/office/powerpoint/2010/main" val="307686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2017/5/26</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2.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1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3138985" y="2541722"/>
            <a:ext cx="6087679"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总线互连结构</a:t>
            </a: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75773" y="-60564"/>
            <a:ext cx="10515600" cy="1325563"/>
          </a:xfrm>
        </p:spPr>
        <p:txBody>
          <a:bodyPr vert="horz" lIns="91440" tIns="45720" rIns="91440" bIns="45720" rtlCol="0">
            <a:normAutofit/>
          </a:bodyPr>
          <a:lstStyle/>
          <a:p>
            <a:pPr>
              <a:spcBef>
                <a:spcPts val="1000"/>
              </a:spcBef>
              <a:buFont typeface="Arial" panose="020B0604020202020204" pitchFamily="34" charset="0"/>
            </a:pPr>
            <a:r>
              <a:rPr lang="zh-CN" altLang="en-US" sz="3200" b="1" dirty="0">
                <a:latin typeface="微软雅黑" panose="020B0503020204020204" pitchFamily="34" charset="-122"/>
                <a:ea typeface="微软雅黑" panose="020B0503020204020204" pitchFamily="34" charset="-122"/>
                <a:cs typeface="+mn-cs"/>
              </a:rPr>
              <a:t>互连结构 </a:t>
            </a:r>
          </a:p>
        </p:txBody>
      </p:sp>
      <p:sp>
        <p:nvSpPr>
          <p:cNvPr id="4099" name="Rectangle 3"/>
          <p:cNvSpPr>
            <a:spLocks noGrp="1" noChangeArrowheads="1"/>
          </p:cNvSpPr>
          <p:nvPr>
            <p:ph type="body" idx="1"/>
          </p:nvPr>
        </p:nvSpPr>
        <p:spPr>
          <a:xfrm>
            <a:off x="902689" y="1183759"/>
            <a:ext cx="8229600" cy="1196975"/>
          </a:xfrm>
        </p:spPr>
        <p:txBody>
          <a:bodyPr vert="horz" lIns="91440" tIns="45720" rIns="91440" bIns="45720" rtlCol="0">
            <a:normAutofit/>
          </a:bodyPr>
          <a:lstStyle/>
          <a:p>
            <a:pPr marL="0" indent="0">
              <a:buNone/>
            </a:pP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、存储器和输入输出接口需要交换的信息种类 ：</a:t>
            </a:r>
          </a:p>
        </p:txBody>
      </p:sp>
      <p:sp>
        <p:nvSpPr>
          <p:cNvPr id="4100" name="Rectangle 5"/>
          <p:cNvSpPr>
            <a:spLocks noChangeArrowheads="1"/>
          </p:cNvSpPr>
          <p:nvPr/>
        </p:nvSpPr>
        <p:spPr bwMode="auto">
          <a:xfrm>
            <a:off x="1524001" y="27776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pic>
        <p:nvPicPr>
          <p:cNvPr id="410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8242" y="2962275"/>
            <a:ext cx="3752961" cy="235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61746" y="1908975"/>
            <a:ext cx="3986456" cy="217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61746" y="4400827"/>
            <a:ext cx="3986456" cy="219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a:xfrm>
            <a:off x="265635" y="269251"/>
            <a:ext cx="438352" cy="621987"/>
            <a:chOff x="265635" y="269251"/>
            <a:chExt cx="438352" cy="621987"/>
          </a:xfrm>
        </p:grpSpPr>
        <p:sp>
          <p:nvSpPr>
            <p:cNvPr id="9"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970081119"/>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2"/>
          <p:cNvSpPr>
            <a:spLocks noGrp="1" noChangeArrowheads="1"/>
          </p:cNvSpPr>
          <p:nvPr>
            <p:ph type="body" idx="1"/>
          </p:nvPr>
        </p:nvSpPr>
        <p:spPr>
          <a:xfrm>
            <a:off x="984914" y="328962"/>
            <a:ext cx="8229600" cy="765175"/>
          </a:xfrm>
        </p:spPr>
        <p:txBody>
          <a:bodyPr vert="horz" lIns="91440" tIns="45720" rIns="91440" bIns="45720" rtlCol="0">
            <a:normAutofit/>
          </a:bodyPr>
          <a:lstStyle/>
          <a:p>
            <a:pPr marL="0" indent="0">
              <a:buNone/>
            </a:pPr>
            <a:r>
              <a:rPr lang="zh-CN" altLang="en-US" sz="3200" b="1" dirty="0">
                <a:latin typeface="微软雅黑" panose="020B0503020204020204" pitchFamily="34" charset="-122"/>
                <a:ea typeface="微软雅黑" panose="020B0503020204020204" pitchFamily="34" charset="-122"/>
              </a:rPr>
              <a:t>几种常见的部件互连结构 </a:t>
            </a:r>
          </a:p>
        </p:txBody>
      </p:sp>
      <p:sp>
        <p:nvSpPr>
          <p:cNvPr id="5124" name="Rectangle 44"/>
          <p:cNvSpPr>
            <a:spLocks noChangeArrowheads="1"/>
          </p:cNvSpPr>
          <p:nvPr/>
        </p:nvSpPr>
        <p:spPr bwMode="auto">
          <a:xfrm>
            <a:off x="1524001"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5125" name="Object 43"/>
          <p:cNvGraphicFramePr>
            <a:graphicFrameLocks noChangeAspect="1"/>
          </p:cNvGraphicFramePr>
          <p:nvPr>
            <p:extLst>
              <p:ext uri="{D42A27DB-BD31-4B8C-83A1-F6EECF244321}">
                <p14:modId xmlns:p14="http://schemas.microsoft.com/office/powerpoint/2010/main" val="4238738085"/>
              </p:ext>
            </p:extLst>
          </p:nvPr>
        </p:nvGraphicFramePr>
        <p:xfrm>
          <a:off x="703987" y="1884618"/>
          <a:ext cx="10383062" cy="2334145"/>
        </p:xfrm>
        <a:graphic>
          <a:graphicData uri="http://schemas.openxmlformats.org/presentationml/2006/ole">
            <mc:AlternateContent xmlns:mc="http://schemas.openxmlformats.org/markup-compatibility/2006">
              <mc:Choice xmlns:v="urn:schemas-microsoft-com:vml" Requires="v">
                <p:oleObj spid="_x0000_s1037" name="Visio" r:id="rId3" imgW="5002987" imgH="1126846" progId="Visio.Drawing.11">
                  <p:embed/>
                </p:oleObj>
              </mc:Choice>
              <mc:Fallback>
                <p:oleObj name="Visio" r:id="rId3" imgW="5002987" imgH="1126846" progId="Visio.Drawing.11">
                  <p:embed/>
                  <p:pic>
                    <p:nvPicPr>
                      <p:cNvPr id="5125"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987" y="1884618"/>
                        <a:ext cx="10383062" cy="2334145"/>
                      </a:xfrm>
                      <a:prstGeom prst="rect">
                        <a:avLst/>
                      </a:prstGeom>
                      <a:noFill/>
                      <a:ln>
                        <a:noFill/>
                      </a:ln>
                    </p:spPr>
                  </p:pic>
                </p:oleObj>
              </mc:Fallback>
            </mc:AlternateContent>
          </a:graphicData>
        </a:graphic>
      </p:graphicFrame>
      <p:sp>
        <p:nvSpPr>
          <p:cNvPr id="5126" name="Rectangle 45"/>
          <p:cNvSpPr>
            <a:spLocks noChangeArrowheads="1"/>
          </p:cNvSpPr>
          <p:nvPr/>
        </p:nvSpPr>
        <p:spPr bwMode="auto">
          <a:xfrm>
            <a:off x="526275" y="4733712"/>
            <a:ext cx="11101327"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zh-CN" altLang="en-US" b="1" dirty="0">
                <a:latin typeface="微软雅黑" panose="020B0503020204020204" pitchFamily="34" charset="-122"/>
                <a:ea typeface="微软雅黑" panose="020B0503020204020204" pitchFamily="34" charset="-122"/>
              </a:rPr>
              <a:t>    环型                全互连                星型                 总线型        </a:t>
            </a:r>
          </a:p>
        </p:txBody>
      </p:sp>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4041575798"/>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4426" y="3666022"/>
            <a:ext cx="5022365" cy="2821733"/>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5123" name="Picture 3" descr="E:\我的文档\商务图片\Nipic_1082507_20091207090526024812.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228894" y="3661058"/>
            <a:ext cx="5110573" cy="2826697"/>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1289258"/>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0" name="Freeform 12"/>
          <p:cNvSpPr>
            <a:spLocks/>
          </p:cNvSpPr>
          <p:nvPr/>
        </p:nvSpPr>
        <p:spPr bwMode="auto">
          <a:xfrm>
            <a:off x="970969" y="114326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10811033" y="294479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901216" y="330124"/>
            <a:ext cx="2493833" cy="369332"/>
          </a:xfrm>
          <a:prstGeom prst="rect">
            <a:avLst/>
          </a:prstGeom>
        </p:spPr>
        <p:txBody>
          <a:bodyPr vert="horz" lIns="91440" tIns="45720" rIns="91440" bIns="45720" rtlCol="0">
            <a:noAutofit/>
          </a:bodyPr>
          <a:lstStyle/>
          <a:p>
            <a:pPr>
              <a:lnSpc>
                <a:spcPct val="90000"/>
              </a:lnSpc>
              <a:spcBef>
                <a:spcPts val="1000"/>
              </a:spcBef>
            </a:pPr>
            <a:r>
              <a:rPr lang="zh-CN" altLang="en-US" sz="3200" b="1" dirty="0">
                <a:latin typeface="微软雅黑" panose="020B0503020204020204" pitchFamily="34" charset="-122"/>
                <a:ea typeface="微软雅黑" panose="020B0503020204020204" pitchFamily="34" charset="-122"/>
              </a:rPr>
              <a:t>总线互连</a:t>
            </a:r>
          </a:p>
        </p:txBody>
      </p:sp>
      <p:sp>
        <p:nvSpPr>
          <p:cNvPr id="4" name="矩形 3"/>
          <p:cNvSpPr/>
          <p:nvPr/>
        </p:nvSpPr>
        <p:spPr>
          <a:xfrm>
            <a:off x="1499401" y="1289258"/>
            <a:ext cx="9165861" cy="1815882"/>
          </a:xfrm>
          <a:prstGeom prst="rect">
            <a:avLst/>
          </a:prstGeom>
        </p:spPr>
        <p:txBody>
          <a:bodyPr wrap="square">
            <a:spAutoFit/>
          </a:bodyPr>
          <a:lstStyle/>
          <a:p>
            <a:pPr algn="just">
              <a:lnSpc>
                <a:spcPct val="200000"/>
              </a:lnSpc>
            </a:pPr>
            <a:r>
              <a:rPr lang="zh-CN" altLang="en-US" sz="2800" b="1" dirty="0">
                <a:solidFill>
                  <a:srgbClr val="FF0000"/>
                </a:solidFill>
                <a:latin typeface="微软雅黑" panose="020B0503020204020204" pitchFamily="34" charset="-122"/>
                <a:ea typeface="微软雅黑" panose="020B0503020204020204" pitchFamily="34" charset="-122"/>
              </a:rPr>
              <a:t>       总线</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BUS</a:t>
            </a:r>
            <a:r>
              <a:rPr lang="zh-CN" altLang="en-US" sz="2800" b="1" dirty="0">
                <a:latin typeface="微软雅黑" panose="020B0503020204020204" pitchFamily="34" charset="-122"/>
                <a:ea typeface="微软雅黑" panose="020B0503020204020204" pitchFamily="34" charset="-122"/>
              </a:rPr>
              <a:t>）是一组信号线，用于将两个或两个以上部件连接起来，形成部件之间的公共通信通路。</a:t>
            </a:r>
          </a:p>
        </p:txBody>
      </p:sp>
    </p:spTree>
    <p:extLst>
      <p:ext uri="{BB962C8B-B14F-4D97-AF65-F5344CB8AC3E}">
        <p14:creationId xmlns:p14="http://schemas.microsoft.com/office/powerpoint/2010/main" val="1289992707"/>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1225769" y="1576086"/>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dirty="0"/>
          </a:p>
        </p:txBody>
      </p:sp>
      <p:sp>
        <p:nvSpPr>
          <p:cNvPr id="9" name="Oval 6"/>
          <p:cNvSpPr>
            <a:spLocks noChangeArrowheads="1"/>
          </p:cNvSpPr>
          <p:nvPr/>
        </p:nvSpPr>
        <p:spPr bwMode="auto">
          <a:xfrm>
            <a:off x="9046917" y="4351665"/>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2891399" y="2184592"/>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8602433" y="4929781"/>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1462206" y="1896446"/>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9291805" y="4672025"/>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891578" y="340949"/>
            <a:ext cx="7802193" cy="1054049"/>
          </a:xfrm>
          <a:prstGeom prst="rect">
            <a:avLst/>
          </a:prstGeom>
        </p:spPr>
        <p:txBody>
          <a:bodyPr vert="horz" lIns="91440" tIns="45720" rIns="91440" bIns="45720" rtlCol="0">
            <a:normAutofit/>
          </a:bodyPr>
          <a:lstStyle/>
          <a:p>
            <a:pPr>
              <a:lnSpc>
                <a:spcPct val="90000"/>
              </a:lnSpc>
              <a:spcBef>
                <a:spcPts val="1000"/>
              </a:spcBef>
            </a:pPr>
            <a:r>
              <a:rPr lang="zh-CN" altLang="en-US" sz="3200" b="1" dirty="0">
                <a:latin typeface="微软雅黑" panose="020B0503020204020204" pitchFamily="34" charset="-122"/>
                <a:ea typeface="微软雅黑" panose="020B0503020204020204" pitchFamily="34" charset="-122"/>
              </a:rPr>
              <a:t>总线具有以下两个最主要的特点：</a:t>
            </a:r>
          </a:p>
        </p:txBody>
      </p:sp>
      <p:sp>
        <p:nvSpPr>
          <p:cNvPr id="4" name="矩形 3"/>
          <p:cNvSpPr/>
          <p:nvPr/>
        </p:nvSpPr>
        <p:spPr>
          <a:xfrm>
            <a:off x="3256702" y="1350410"/>
            <a:ext cx="7344116" cy="203132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共享性。总线是供所有部件进行通信所共享的，任何两个部件之间的数据传输都是通过共享的公共总线进行的。</a:t>
            </a:r>
          </a:p>
        </p:txBody>
      </p:sp>
      <p:sp>
        <p:nvSpPr>
          <p:cNvPr id="10" name="矩形 9"/>
          <p:cNvSpPr/>
          <p:nvPr/>
        </p:nvSpPr>
        <p:spPr>
          <a:xfrm>
            <a:off x="1179136" y="3794681"/>
            <a:ext cx="7344116" cy="2677656"/>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独占性。一旦有一个部件占用总线与另一个部件进行数据通信，其它部件就不能再使用总线，也就是说，一个部件对总线的使用是独占的。 </a:t>
            </a:r>
          </a:p>
        </p:txBody>
      </p:sp>
    </p:spTree>
    <p:extLst>
      <p:ext uri="{BB962C8B-B14F-4D97-AF65-F5344CB8AC3E}">
        <p14:creationId xmlns:p14="http://schemas.microsoft.com/office/powerpoint/2010/main" val="2189912483"/>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Line 5"/>
          <p:cNvSpPr>
            <a:spLocks noChangeShapeType="1"/>
          </p:cNvSpPr>
          <p:nvPr/>
        </p:nvSpPr>
        <p:spPr bwMode="auto">
          <a:xfrm>
            <a:off x="2644436" y="1791966"/>
            <a:ext cx="0" cy="4199401"/>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0" name="Oval 6"/>
          <p:cNvSpPr>
            <a:spLocks noChangeArrowheads="1"/>
          </p:cNvSpPr>
          <p:nvPr/>
        </p:nvSpPr>
        <p:spPr bwMode="auto">
          <a:xfrm>
            <a:off x="2508544" y="3968148"/>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2980855" y="1712619"/>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3054427" y="5022919"/>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2263533" y="1540770"/>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2337105" y="4860421"/>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0" name="Oval 6"/>
          <p:cNvSpPr>
            <a:spLocks noChangeArrowheads="1"/>
          </p:cNvSpPr>
          <p:nvPr/>
        </p:nvSpPr>
        <p:spPr bwMode="auto">
          <a:xfrm>
            <a:off x="2525421" y="2510314"/>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1" name="Oval 7"/>
          <p:cNvSpPr>
            <a:spLocks noChangeArrowheads="1"/>
          </p:cNvSpPr>
          <p:nvPr/>
        </p:nvSpPr>
        <p:spPr bwMode="auto">
          <a:xfrm>
            <a:off x="2502054" y="3265161"/>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5497781" y="8701190"/>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3435332" y="1625291"/>
            <a:ext cx="5211683"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根据总线的功能划分，总线包括</a:t>
            </a:r>
          </a:p>
        </p:txBody>
      </p:sp>
      <p:sp>
        <p:nvSpPr>
          <p:cNvPr id="4" name="矩形 3"/>
          <p:cNvSpPr/>
          <p:nvPr/>
        </p:nvSpPr>
        <p:spPr>
          <a:xfrm>
            <a:off x="2951768" y="2426300"/>
            <a:ext cx="5899244"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地址总线（</a:t>
            </a:r>
            <a:r>
              <a:rPr lang="en-US" altLang="zh-CN" sz="2800" b="1" dirty="0">
                <a:latin typeface="微软雅黑" panose="020B0503020204020204" pitchFamily="34" charset="-122"/>
                <a:ea typeface="微软雅黑" panose="020B0503020204020204" pitchFamily="34" charset="-122"/>
              </a:rPr>
              <a:t>Address Bus</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AB</a:t>
            </a:r>
            <a:r>
              <a:rPr lang="zh-CN" altLang="en-US" sz="2800" b="1" dirty="0">
                <a:latin typeface="微软雅黑" panose="020B0503020204020204" pitchFamily="34" charset="-122"/>
                <a:ea typeface="微软雅黑" panose="020B0503020204020204" pitchFamily="34" charset="-122"/>
              </a:rPr>
              <a:t>）</a:t>
            </a:r>
          </a:p>
        </p:txBody>
      </p:sp>
      <p:sp>
        <p:nvSpPr>
          <p:cNvPr id="8" name="矩形 7"/>
          <p:cNvSpPr/>
          <p:nvPr/>
        </p:nvSpPr>
        <p:spPr>
          <a:xfrm>
            <a:off x="2951768" y="3128114"/>
            <a:ext cx="5298245"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数据总线（</a:t>
            </a:r>
            <a:r>
              <a:rPr lang="en-US" altLang="zh-CN" sz="2800" b="1" dirty="0">
                <a:latin typeface="微软雅黑" panose="020B0503020204020204" pitchFamily="34" charset="-122"/>
                <a:ea typeface="微软雅黑" panose="020B0503020204020204" pitchFamily="34" charset="-122"/>
              </a:rPr>
              <a:t>Data Bus</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DB</a:t>
            </a:r>
            <a:r>
              <a:rPr lang="zh-CN" altLang="en-US" sz="2800" b="1" dirty="0">
                <a:latin typeface="微软雅黑" panose="020B0503020204020204" pitchFamily="34" charset="-122"/>
                <a:ea typeface="微软雅黑" panose="020B0503020204020204" pitchFamily="34" charset="-122"/>
              </a:rPr>
              <a:t>）</a:t>
            </a:r>
          </a:p>
        </p:txBody>
      </p:sp>
      <p:sp>
        <p:nvSpPr>
          <p:cNvPr id="9" name="矩形 8"/>
          <p:cNvSpPr/>
          <p:nvPr/>
        </p:nvSpPr>
        <p:spPr>
          <a:xfrm>
            <a:off x="2951768" y="3917500"/>
            <a:ext cx="5761385" cy="523220"/>
          </a:xfrm>
          <a:prstGeom prst="rect">
            <a:avLst/>
          </a:prstGeom>
        </p:spPr>
        <p:txBody>
          <a:bodyPr wrap="none">
            <a:spAutoFit/>
          </a:bodyPr>
          <a:lstStyle/>
          <a:p>
            <a:pPr lvl="1"/>
            <a:r>
              <a:rPr lang="zh-CN" altLang="en-US" sz="2800" b="1" dirty="0">
                <a:latin typeface="微软雅黑" panose="020B0503020204020204" pitchFamily="34" charset="-122"/>
                <a:ea typeface="微软雅黑" panose="020B0503020204020204" pitchFamily="34" charset="-122"/>
              </a:rPr>
              <a:t>控制总线（</a:t>
            </a:r>
            <a:r>
              <a:rPr lang="en-US" altLang="zh-CN" sz="2800" b="1" dirty="0">
                <a:latin typeface="微软雅黑" panose="020B0503020204020204" pitchFamily="34" charset="-122"/>
                <a:ea typeface="微软雅黑" panose="020B0503020204020204" pitchFamily="34" charset="-122"/>
              </a:rPr>
              <a:t>Control Bus</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CB</a:t>
            </a:r>
            <a:r>
              <a:rPr lang="zh-CN" altLang="en-US" sz="2800" b="1" dirty="0">
                <a:latin typeface="微软雅黑" panose="020B0503020204020204" pitchFamily="34" charset="-122"/>
                <a:ea typeface="微软雅黑" panose="020B0503020204020204" pitchFamily="34" charset="-122"/>
              </a:rPr>
              <a:t>）</a:t>
            </a:r>
          </a:p>
        </p:txBody>
      </p:sp>
      <p:sp>
        <p:nvSpPr>
          <p:cNvPr id="10" name="矩形 9"/>
          <p:cNvSpPr/>
          <p:nvPr/>
        </p:nvSpPr>
        <p:spPr>
          <a:xfrm>
            <a:off x="3435332" y="4885480"/>
            <a:ext cx="6394699"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另外，总线也提供电源线和接地线等。 </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6249350"/>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434609" y="1833034"/>
            <a:ext cx="9313819" cy="3684587"/>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409605" y="1769534"/>
            <a:ext cx="9313819" cy="3684587"/>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427165" y="1807634"/>
            <a:ext cx="9337675" cy="3684587"/>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974774" y="5241992"/>
            <a:ext cx="1658468" cy="105071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425202" y="7905750"/>
            <a:ext cx="877163" cy="369332"/>
          </a:xfrm>
          <a:prstGeom prst="rect">
            <a:avLst/>
          </a:prstGeom>
          <a:noFill/>
        </p:spPr>
        <p:txBody>
          <a:bodyPr wrap="none" rtlCol="0">
            <a:spAutoFit/>
          </a:bodyPr>
          <a:lstStyle/>
          <a:p>
            <a:r>
              <a:rPr lang="zh-CN" altLang="en-US" dirty="0"/>
              <a:t>延迟符</a:t>
            </a:r>
          </a:p>
        </p:txBody>
      </p:sp>
      <p:sp>
        <p:nvSpPr>
          <p:cNvPr id="2" name="矩形 1"/>
          <p:cNvSpPr/>
          <p:nvPr/>
        </p:nvSpPr>
        <p:spPr>
          <a:xfrm>
            <a:off x="1409605" y="1110673"/>
            <a:ext cx="1826141" cy="584775"/>
          </a:xfrm>
          <a:prstGeom prst="rect">
            <a:avLst/>
          </a:prstGeom>
        </p:spPr>
        <p:txBody>
          <a:bodyPr wrap="none">
            <a:spAutoFit/>
          </a:bodyPr>
          <a:lstStyle/>
          <a:p>
            <a:r>
              <a:rPr lang="zh-CN" altLang="en-US" sz="3200" b="1" dirty="0">
                <a:solidFill>
                  <a:srgbClr val="01C0B0"/>
                </a:solidFill>
                <a:latin typeface="微软雅黑" panose="020B0503020204020204" pitchFamily="34" charset="-122"/>
                <a:ea typeface="微软雅黑" panose="020B0503020204020204" pitchFamily="34" charset="-122"/>
              </a:rPr>
              <a:t>地址总线</a:t>
            </a:r>
          </a:p>
        </p:txBody>
      </p:sp>
      <p:sp>
        <p:nvSpPr>
          <p:cNvPr id="3" name="矩形 2"/>
          <p:cNvSpPr/>
          <p:nvPr/>
        </p:nvSpPr>
        <p:spPr>
          <a:xfrm>
            <a:off x="1748219" y="1807634"/>
            <a:ext cx="8636589" cy="3539430"/>
          </a:xfrm>
          <a:prstGeom prst="rect">
            <a:avLst/>
          </a:prstGeom>
        </p:spPr>
        <p:txBody>
          <a:bodyPr wrap="square">
            <a:spAutoFit/>
          </a:bodyPr>
          <a:lstStyle/>
          <a:p>
            <a:pPr>
              <a:lnSpc>
                <a:spcPct val="200000"/>
              </a:lnSpc>
            </a:pPr>
            <a:r>
              <a:rPr lang="zh-CN" altLang="en-US" sz="2800" b="1" dirty="0">
                <a:latin typeface="微软雅黑" panose="020B0503020204020204" pitchFamily="34" charset="-122"/>
                <a:ea typeface="微软雅黑" panose="020B0503020204020204" pitchFamily="34" charset="-122"/>
              </a:rPr>
              <a:t>       地址总线上传送的是由</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等主设备发往从设备的地址信号。当</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对存储器或</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接口进行读写时，必须首先给出所要访问的存储器单元的地址或</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端口的地址，并在整个读写周期一直保持有效。 </a:t>
            </a:r>
          </a:p>
        </p:txBody>
      </p:sp>
    </p:spTree>
    <p:extLst>
      <p:ext uri="{BB962C8B-B14F-4D97-AF65-F5344CB8AC3E}">
        <p14:creationId xmlns:p14="http://schemas.microsoft.com/office/powerpoint/2010/main" val="1545134703"/>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6167982" y="946906"/>
            <a:ext cx="4678692" cy="5467542"/>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6" name="矩形 5"/>
          <p:cNvSpPr/>
          <p:nvPr/>
        </p:nvSpPr>
        <p:spPr bwMode="auto">
          <a:xfrm>
            <a:off x="985431" y="946906"/>
            <a:ext cx="4678692" cy="5467542"/>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grpSp>
        <p:nvGrpSpPr>
          <p:cNvPr id="7" name="组合 6"/>
          <p:cNvGrpSpPr/>
          <p:nvPr/>
        </p:nvGrpSpPr>
        <p:grpSpPr>
          <a:xfrm>
            <a:off x="2684586" y="405296"/>
            <a:ext cx="1010843" cy="1010844"/>
            <a:chOff x="1230014" y="1296938"/>
            <a:chExt cx="1011238" cy="1011238"/>
          </a:xfrm>
        </p:grpSpPr>
        <p:sp>
          <p:nvSpPr>
            <p:cNvPr id="8" name="Oval 13"/>
            <p:cNvSpPr>
              <a:spLocks noChangeArrowheads="1"/>
            </p:cNvSpPr>
            <p:nvPr/>
          </p:nvSpPr>
          <p:spPr bwMode="auto">
            <a:xfrm>
              <a:off x="1230014" y="1296938"/>
              <a:ext cx="1011238" cy="1011238"/>
            </a:xfrm>
            <a:prstGeom prst="ellipse">
              <a:avLst/>
            </a:prstGeom>
            <a:solidFill>
              <a:srgbClr val="FFC00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TextBox 14"/>
            <p:cNvSpPr txBox="1"/>
            <p:nvPr/>
          </p:nvSpPr>
          <p:spPr>
            <a:xfrm>
              <a:off x="128208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01</a:t>
              </a:r>
              <a:endParaRPr lang="zh-CN" altLang="en-US" sz="3998" dirty="0">
                <a:solidFill>
                  <a:schemeClr val="bg1"/>
                </a:solidFill>
                <a:latin typeface="+mn-ea"/>
              </a:endParaRPr>
            </a:p>
          </p:txBody>
        </p:sp>
      </p:grpSp>
      <p:grpSp>
        <p:nvGrpSpPr>
          <p:cNvPr id="10" name="组合 9"/>
          <p:cNvGrpSpPr/>
          <p:nvPr/>
        </p:nvGrpSpPr>
        <p:grpSpPr>
          <a:xfrm>
            <a:off x="8001906" y="441484"/>
            <a:ext cx="1010843" cy="1010844"/>
            <a:chOff x="6470754" y="1296938"/>
            <a:chExt cx="1011238" cy="1011238"/>
          </a:xfrm>
        </p:grpSpPr>
        <p:sp>
          <p:nvSpPr>
            <p:cNvPr id="11" name="Oval 13"/>
            <p:cNvSpPr>
              <a:spLocks noChangeArrowheads="1"/>
            </p:cNvSpPr>
            <p:nvPr/>
          </p:nvSpPr>
          <p:spPr bwMode="auto">
            <a:xfrm>
              <a:off x="6470754" y="1296938"/>
              <a:ext cx="1011238" cy="1011238"/>
            </a:xfrm>
            <a:prstGeom prst="ellipse">
              <a:avLst/>
            </a:pr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2" name="TextBox 19"/>
            <p:cNvSpPr txBox="1"/>
            <p:nvPr/>
          </p:nvSpPr>
          <p:spPr>
            <a:xfrm>
              <a:off x="652282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02</a:t>
              </a:r>
              <a:endParaRPr lang="zh-CN" altLang="en-US" sz="3998" dirty="0">
                <a:solidFill>
                  <a:schemeClr val="bg1"/>
                </a:solidFill>
                <a:latin typeface="+mn-ea"/>
              </a:endParaRPr>
            </a:p>
          </p:txBody>
        </p:sp>
      </p:grpSp>
      <p:sp>
        <p:nvSpPr>
          <p:cNvPr id="4" name="Rectangle 3"/>
          <p:cNvSpPr txBox="1">
            <a:spLocks noChangeArrowheads="1"/>
          </p:cNvSpPr>
          <p:nvPr/>
        </p:nvSpPr>
        <p:spPr>
          <a:xfrm>
            <a:off x="6371049" y="1462749"/>
            <a:ext cx="4272555"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b="1" u="sng" dirty="0">
                <a:latin typeface="微软雅黑" panose="020B0503020204020204" pitchFamily="34" charset="-122"/>
                <a:ea typeface="微软雅黑" panose="020B0503020204020204" pitchFamily="34" charset="-122"/>
              </a:rPr>
              <a:t>控制总线</a:t>
            </a:r>
            <a:r>
              <a:rPr lang="zh-CN" altLang="en-US" b="1" dirty="0">
                <a:latin typeface="微软雅黑" panose="020B0503020204020204" pitchFamily="34" charset="-122"/>
                <a:ea typeface="微软雅黑" panose="020B0503020204020204" pitchFamily="34" charset="-122"/>
              </a:rPr>
              <a:t>：控制总线上传送的是一个部件对另一个部件的控制或状态信号，如</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对存储器的读、写控制信号，外部设备向</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发出的中断请求信号等。 </a:t>
            </a:r>
          </a:p>
        </p:txBody>
      </p:sp>
      <p:sp>
        <p:nvSpPr>
          <p:cNvPr id="2" name="矩形 1"/>
          <p:cNvSpPr/>
          <p:nvPr/>
        </p:nvSpPr>
        <p:spPr>
          <a:xfrm>
            <a:off x="1145407" y="1372353"/>
            <a:ext cx="4542561" cy="4616648"/>
          </a:xfrm>
          <a:prstGeom prst="rect">
            <a:avLst/>
          </a:prstGeom>
        </p:spPr>
        <p:txBody>
          <a:bodyPr wrap="square">
            <a:spAutoFit/>
          </a:bodyPr>
          <a:lstStyle/>
          <a:p>
            <a:pPr>
              <a:lnSpc>
                <a:spcPct val="150000"/>
              </a:lnSpc>
            </a:pPr>
            <a:r>
              <a:rPr lang="zh-CN" altLang="en-US" sz="2800" b="1" u="sng" dirty="0">
                <a:latin typeface="微软雅黑" panose="020B0503020204020204" pitchFamily="34" charset="-122"/>
                <a:ea typeface="微软雅黑" panose="020B0503020204020204" pitchFamily="34" charset="-122"/>
              </a:rPr>
              <a:t>数据总线</a:t>
            </a:r>
            <a:r>
              <a:rPr lang="zh-CN" altLang="en-US" sz="2800" b="1" dirty="0">
                <a:latin typeface="微软雅黑" panose="020B0503020204020204" pitchFamily="34" charset="-122"/>
                <a:ea typeface="微软雅黑" panose="020B0503020204020204" pitchFamily="34" charset="-122"/>
              </a:rPr>
              <a:t>：数据总线上传送的是各部件之间交换的数据信息。数据总线通常是双向的，即数据可以是由从设备发往主设备（称为读或输入），也可以是由主设备发往从设备（称为写或输出）。 </a:t>
            </a:r>
          </a:p>
        </p:txBody>
      </p:sp>
    </p:spTree>
    <p:extLst>
      <p:ext uri="{BB962C8B-B14F-4D97-AF65-F5344CB8AC3E}">
        <p14:creationId xmlns:p14="http://schemas.microsoft.com/office/powerpoint/2010/main" val="3602313472"/>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05302" y="300466"/>
            <a:ext cx="10589190"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gn="just"/>
            <a:r>
              <a:rPr lang="zh-CN" altLang="en-US" b="1" dirty="0">
                <a:latin typeface="微软雅黑" panose="020B0503020204020204" pitchFamily="34" charset="-122"/>
                <a:ea typeface="微软雅黑" panose="020B0503020204020204" pitchFamily="34" charset="-122"/>
              </a:rPr>
              <a:t>总线按其连接部件或设备的不同可以分为以下几类：</a:t>
            </a:r>
          </a:p>
        </p:txBody>
      </p:sp>
      <p:grpSp>
        <p:nvGrpSpPr>
          <p:cNvPr id="3" name="组合 2"/>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6"/>
          <p:cNvSpPr>
            <a:spLocks noChangeAspect="1" noChangeArrowheads="1"/>
          </p:cNvSpPr>
          <p:nvPr/>
        </p:nvSpPr>
        <p:spPr bwMode="auto">
          <a:xfrm>
            <a:off x="6129468" y="4076979"/>
            <a:ext cx="1435755" cy="1439438"/>
          </a:xfrm>
          <a:prstGeom prst="ellipse">
            <a:avLst/>
          </a:pr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7"/>
          <p:cNvSpPr>
            <a:spLocks noChangeAspect="1" noChangeArrowheads="1"/>
          </p:cNvSpPr>
          <p:nvPr/>
        </p:nvSpPr>
        <p:spPr bwMode="auto">
          <a:xfrm>
            <a:off x="8124834" y="2709201"/>
            <a:ext cx="1437597" cy="1439438"/>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Oval 8"/>
          <p:cNvSpPr>
            <a:spLocks noChangeAspect="1" noChangeArrowheads="1"/>
          </p:cNvSpPr>
          <p:nvPr/>
        </p:nvSpPr>
        <p:spPr bwMode="auto">
          <a:xfrm>
            <a:off x="10056895" y="1341743"/>
            <a:ext cx="1437597" cy="1439438"/>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9"/>
          <p:cNvSpPr>
            <a:spLocks/>
          </p:cNvSpPr>
          <p:nvPr/>
        </p:nvSpPr>
        <p:spPr bwMode="auto">
          <a:xfrm>
            <a:off x="5664121" y="2836734"/>
            <a:ext cx="6581779" cy="4019931"/>
          </a:xfrm>
          <a:custGeom>
            <a:avLst/>
            <a:gdLst/>
            <a:ahLst/>
            <a:cxnLst/>
            <a:rect l="l" t="t" r="r" b="b"/>
            <a:pathLst>
              <a:path w="5358466" h="3767155">
                <a:moveTo>
                  <a:pt x="3479568" y="0"/>
                </a:moveTo>
                <a:lnTo>
                  <a:pt x="3618115" y="0"/>
                </a:lnTo>
                <a:lnTo>
                  <a:pt x="5358466" y="0"/>
                </a:lnTo>
                <a:lnTo>
                  <a:pt x="5358466" y="138769"/>
                </a:lnTo>
                <a:lnTo>
                  <a:pt x="3618115" y="138769"/>
                </a:lnTo>
                <a:lnTo>
                  <a:pt x="3618115" y="1287028"/>
                </a:lnTo>
                <a:lnTo>
                  <a:pt x="3618115" y="1425797"/>
                </a:lnTo>
                <a:lnTo>
                  <a:pt x="3479568" y="1425797"/>
                </a:lnTo>
                <a:lnTo>
                  <a:pt x="1878331" y="1425797"/>
                </a:lnTo>
                <a:lnTo>
                  <a:pt x="1878331" y="2574055"/>
                </a:lnTo>
                <a:lnTo>
                  <a:pt x="1878331" y="2712824"/>
                </a:lnTo>
                <a:lnTo>
                  <a:pt x="1739784" y="2712824"/>
                </a:lnTo>
                <a:lnTo>
                  <a:pt x="138547" y="2712824"/>
                </a:lnTo>
                <a:lnTo>
                  <a:pt x="138547" y="3767155"/>
                </a:lnTo>
                <a:lnTo>
                  <a:pt x="0" y="3767155"/>
                </a:lnTo>
                <a:lnTo>
                  <a:pt x="0" y="2712824"/>
                </a:lnTo>
                <a:lnTo>
                  <a:pt x="0" y="2574055"/>
                </a:lnTo>
                <a:lnTo>
                  <a:pt x="138547" y="2574055"/>
                </a:lnTo>
                <a:lnTo>
                  <a:pt x="1739784" y="2574055"/>
                </a:lnTo>
                <a:lnTo>
                  <a:pt x="1739784" y="1425797"/>
                </a:lnTo>
                <a:lnTo>
                  <a:pt x="1739784" y="1287028"/>
                </a:lnTo>
                <a:lnTo>
                  <a:pt x="1878331" y="1287028"/>
                </a:lnTo>
                <a:lnTo>
                  <a:pt x="3479568" y="1287028"/>
                </a:lnTo>
                <a:lnTo>
                  <a:pt x="3479568" y="138769"/>
                </a:lnTo>
                <a:close/>
              </a:path>
            </a:pathLst>
          </a:cu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Line 10"/>
          <p:cNvSpPr>
            <a:spLocks noChangeShapeType="1"/>
          </p:cNvSpPr>
          <p:nvPr/>
        </p:nvSpPr>
        <p:spPr bwMode="auto">
          <a:xfrm flipH="1">
            <a:off x="4800363" y="4792654"/>
            <a:ext cx="1114472" cy="0"/>
          </a:xfrm>
          <a:prstGeom prst="line">
            <a:avLst/>
          </a:prstGeom>
          <a:noFill/>
          <a:ln w="38100" cap="flat">
            <a:solidFill>
              <a:schemeClr val="accent1"/>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Line 11"/>
          <p:cNvSpPr>
            <a:spLocks noChangeShapeType="1"/>
          </p:cNvSpPr>
          <p:nvPr/>
        </p:nvSpPr>
        <p:spPr bwMode="auto">
          <a:xfrm flipH="1">
            <a:off x="5914833" y="3428920"/>
            <a:ext cx="2052640" cy="0"/>
          </a:xfrm>
          <a:prstGeom prst="line">
            <a:avLst/>
          </a:prstGeom>
          <a:noFill/>
          <a:ln w="38100" cap="flat">
            <a:solidFill>
              <a:srgbClr val="92D050"/>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Line 12"/>
          <p:cNvSpPr>
            <a:spLocks noChangeShapeType="1"/>
          </p:cNvSpPr>
          <p:nvPr/>
        </p:nvSpPr>
        <p:spPr bwMode="auto">
          <a:xfrm flipH="1">
            <a:off x="6847344" y="2061462"/>
            <a:ext cx="3063587" cy="0"/>
          </a:xfrm>
          <a:prstGeom prst="line">
            <a:avLst/>
          </a:prstGeom>
          <a:noFill/>
          <a:ln w="38100" cap="flat">
            <a:solidFill>
              <a:srgbClr val="FFC000"/>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24"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4" name="文本框 3"/>
          <p:cNvSpPr txBox="1"/>
          <p:nvPr/>
        </p:nvSpPr>
        <p:spPr>
          <a:xfrm>
            <a:off x="10411496" y="1570792"/>
            <a:ext cx="411180" cy="1015663"/>
          </a:xfrm>
          <a:prstGeom prst="rect">
            <a:avLst/>
          </a:prstGeom>
          <a:noFill/>
        </p:spPr>
        <p:txBody>
          <a:bodyPr wrap="square" rtlCol="0">
            <a:spAutoFit/>
          </a:bodyPr>
          <a:lstStyle/>
          <a:p>
            <a:r>
              <a:rPr lang="en-US" altLang="zh-CN" sz="6000" b="1" dirty="0">
                <a:solidFill>
                  <a:schemeClr val="bg1"/>
                </a:solidFill>
                <a:latin typeface="微软雅黑" panose="020B0503020204020204" pitchFamily="34" charset="-122"/>
                <a:ea typeface="微软雅黑" panose="020B0503020204020204" pitchFamily="34" charset="-122"/>
              </a:rPr>
              <a:t>1</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8488850" y="2972833"/>
            <a:ext cx="411180" cy="1015663"/>
          </a:xfrm>
          <a:prstGeom prst="rect">
            <a:avLst/>
          </a:prstGeom>
          <a:noFill/>
        </p:spPr>
        <p:txBody>
          <a:bodyPr wrap="square" rtlCol="0">
            <a:spAutoFit/>
          </a:bodyPr>
          <a:lstStyle/>
          <a:p>
            <a:r>
              <a:rPr lang="en-US" altLang="zh-CN" sz="6000" b="1" dirty="0">
                <a:solidFill>
                  <a:schemeClr val="bg1"/>
                </a:solidFill>
                <a:latin typeface="微软雅黑" panose="020B0503020204020204" pitchFamily="34" charset="-122"/>
                <a:ea typeface="微软雅黑" panose="020B0503020204020204" pitchFamily="34" charset="-122"/>
              </a:rPr>
              <a:t>2</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6529973" y="4267153"/>
            <a:ext cx="411180" cy="1015663"/>
          </a:xfrm>
          <a:prstGeom prst="rect">
            <a:avLst/>
          </a:prstGeom>
          <a:noFill/>
        </p:spPr>
        <p:txBody>
          <a:bodyPr wrap="square" rtlCol="0">
            <a:spAutoFit/>
          </a:bodyPr>
          <a:lstStyle/>
          <a:p>
            <a:r>
              <a:rPr lang="en-US" altLang="zh-CN" sz="6000" b="1" dirty="0">
                <a:solidFill>
                  <a:schemeClr val="bg1"/>
                </a:solidFill>
                <a:latin typeface="微软雅黑" panose="020B0503020204020204" pitchFamily="34" charset="-122"/>
                <a:ea typeface="微软雅黑" panose="020B0503020204020204" pitchFamily="34" charset="-122"/>
              </a:rPr>
              <a:t>3</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3846675" y="1660470"/>
            <a:ext cx="2287806" cy="584775"/>
          </a:xfrm>
          <a:prstGeom prst="rect">
            <a:avLst/>
          </a:prstGeom>
        </p:spPr>
        <p:txBody>
          <a:bodyPr wrap="none">
            <a:spAutoFit/>
          </a:bodyPr>
          <a:lstStyle/>
          <a:p>
            <a:pPr lvl="1" algn="just"/>
            <a:r>
              <a:rPr lang="zh-CN" altLang="en-US" sz="3200" b="1" dirty="0">
                <a:latin typeface="微软雅黑" panose="020B0503020204020204" pitchFamily="34" charset="-122"/>
                <a:ea typeface="微软雅黑" panose="020B0503020204020204" pitchFamily="34" charset="-122"/>
              </a:rPr>
              <a:t>系统总线</a:t>
            </a:r>
          </a:p>
        </p:txBody>
      </p:sp>
      <p:sp>
        <p:nvSpPr>
          <p:cNvPr id="15" name="矩形 14"/>
          <p:cNvSpPr/>
          <p:nvPr/>
        </p:nvSpPr>
        <p:spPr>
          <a:xfrm>
            <a:off x="2566664" y="3079672"/>
            <a:ext cx="2287806" cy="584775"/>
          </a:xfrm>
          <a:prstGeom prst="rect">
            <a:avLst/>
          </a:prstGeom>
        </p:spPr>
        <p:txBody>
          <a:bodyPr wrap="none">
            <a:spAutoFit/>
          </a:bodyPr>
          <a:lstStyle/>
          <a:p>
            <a:pPr lvl="1" algn="just"/>
            <a:r>
              <a:rPr lang="zh-CN" altLang="en-US" sz="3200" b="1" dirty="0">
                <a:latin typeface="微软雅黑" panose="020B0503020204020204" pitchFamily="34" charset="-122"/>
                <a:ea typeface="微软雅黑" panose="020B0503020204020204" pitchFamily="34" charset="-122"/>
              </a:rPr>
              <a:t>局部总线</a:t>
            </a:r>
          </a:p>
        </p:txBody>
      </p:sp>
      <p:sp>
        <p:nvSpPr>
          <p:cNvPr id="16" name="矩形 15"/>
          <p:cNvSpPr/>
          <p:nvPr/>
        </p:nvSpPr>
        <p:spPr>
          <a:xfrm>
            <a:off x="1261338" y="4498874"/>
            <a:ext cx="2287806" cy="584775"/>
          </a:xfrm>
          <a:prstGeom prst="rect">
            <a:avLst/>
          </a:prstGeom>
        </p:spPr>
        <p:txBody>
          <a:bodyPr wrap="none">
            <a:spAutoFit/>
          </a:bodyPr>
          <a:lstStyle/>
          <a:p>
            <a:pPr lvl="1" algn="just"/>
            <a:r>
              <a:rPr lang="zh-CN" altLang="en-US" sz="3200" b="1" dirty="0">
                <a:latin typeface="微软雅黑" panose="020B0503020204020204" pitchFamily="34" charset="-122"/>
                <a:ea typeface="微软雅黑" panose="020B0503020204020204" pitchFamily="34" charset="-122"/>
              </a:rPr>
              <a:t>外部总线</a:t>
            </a:r>
          </a:p>
        </p:txBody>
      </p:sp>
    </p:spTree>
    <p:extLst>
      <p:ext uri="{BB962C8B-B14F-4D97-AF65-F5344CB8AC3E}">
        <p14:creationId xmlns:p14="http://schemas.microsoft.com/office/powerpoint/2010/main" val="2058221185"/>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3102590" y="3802138"/>
            <a:ext cx="6955810" cy="5013325"/>
          </a:xfrm>
        </p:spPr>
        <p:txBody>
          <a:bodyPr>
            <a:normAutofit/>
          </a:bodyPr>
          <a:lstStyle/>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例：</a:t>
            </a:r>
            <a:r>
              <a:rPr lang="en-US" altLang="zh-CN" b="1" dirty="0">
                <a:latin typeface="微软雅黑" panose="020B0503020204020204" pitchFamily="34" charset="-122"/>
                <a:ea typeface="微软雅黑" panose="020B0503020204020204" pitchFamily="34" charset="-122"/>
              </a:rPr>
              <a:t>ISA</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EISA</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MCA</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STD</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PCMCIA</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PCI</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PCIE</a:t>
            </a:r>
            <a:r>
              <a:rPr lang="zh-CN" altLang="en-US" b="1" dirty="0">
                <a:latin typeface="微软雅黑" panose="020B0503020204020204" pitchFamily="34" charset="-122"/>
                <a:ea typeface="微软雅黑" panose="020B0503020204020204" pitchFamily="34" charset="-122"/>
              </a:rPr>
              <a:t>等。 </a:t>
            </a:r>
          </a:p>
        </p:txBody>
      </p:sp>
      <p:grpSp>
        <p:nvGrpSpPr>
          <p:cNvPr id="4" name="组合 3"/>
          <p:cNvGrpSpPr/>
          <p:nvPr/>
        </p:nvGrpSpPr>
        <p:grpSpPr>
          <a:xfrm>
            <a:off x="1204335" y="3757072"/>
            <a:ext cx="1306003" cy="1526579"/>
            <a:chOff x="7793038" y="2205038"/>
            <a:chExt cx="1306513" cy="1527175"/>
          </a:xfrm>
        </p:grpSpPr>
        <p:sp>
          <p:nvSpPr>
            <p:cNvPr id="5" name="Freeform 8"/>
            <p:cNvSpPr>
              <a:spLocks/>
            </p:cNvSpPr>
            <p:nvPr/>
          </p:nvSpPr>
          <p:spPr bwMode="auto">
            <a:xfrm>
              <a:off x="7793038" y="2205038"/>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0" y="0"/>
                    <a:pt x="827" y="0"/>
                  </a:cubicBezTo>
                  <a:close/>
                </a:path>
              </a:pathLst>
            </a:custGeom>
            <a:solidFill>
              <a:schemeClr val="accent6">
                <a:lumMod val="75000"/>
              </a:schemeClr>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 name="Freeform 13"/>
            <p:cNvSpPr>
              <a:spLocks noEditPoints="1"/>
            </p:cNvSpPr>
            <p:nvPr/>
          </p:nvSpPr>
          <p:spPr bwMode="auto">
            <a:xfrm>
              <a:off x="8065047" y="2423672"/>
              <a:ext cx="819646" cy="881946"/>
            </a:xfrm>
            <a:custGeom>
              <a:avLst/>
              <a:gdLst>
                <a:gd name="T0" fmla="*/ 255 w 847"/>
                <a:gd name="T1" fmla="*/ 138 h 903"/>
                <a:gd name="T2" fmla="*/ 555 w 847"/>
                <a:gd name="T3" fmla="*/ 100 h 903"/>
                <a:gd name="T4" fmla="*/ 448 w 847"/>
                <a:gd name="T5" fmla="*/ 61 h 903"/>
                <a:gd name="T6" fmla="*/ 324 w 847"/>
                <a:gd name="T7" fmla="*/ 61 h 903"/>
                <a:gd name="T8" fmla="*/ 217 w 847"/>
                <a:gd name="T9" fmla="*/ 100 h 903"/>
                <a:gd name="T10" fmla="*/ 697 w 847"/>
                <a:gd name="T11" fmla="*/ 782 h 903"/>
                <a:gd name="T12" fmla="*/ 709 w 847"/>
                <a:gd name="T13" fmla="*/ 755 h 903"/>
                <a:gd name="T14" fmla="*/ 660 w 847"/>
                <a:gd name="T15" fmla="*/ 586 h 903"/>
                <a:gd name="T16" fmla="*/ 629 w 847"/>
                <a:gd name="T17" fmla="*/ 586 h 903"/>
                <a:gd name="T18" fmla="*/ 629 w 847"/>
                <a:gd name="T19" fmla="*/ 716 h 903"/>
                <a:gd name="T20" fmla="*/ 630 w 847"/>
                <a:gd name="T21" fmla="*/ 719 h 903"/>
                <a:gd name="T22" fmla="*/ 631 w 847"/>
                <a:gd name="T23" fmla="*/ 722 h 903"/>
                <a:gd name="T24" fmla="*/ 633 w 847"/>
                <a:gd name="T25" fmla="*/ 724 h 903"/>
                <a:gd name="T26" fmla="*/ 807 w 847"/>
                <a:gd name="T27" fmla="*/ 596 h 903"/>
                <a:gd name="T28" fmla="*/ 644 w 847"/>
                <a:gd name="T29" fmla="*/ 510 h 903"/>
                <a:gd name="T30" fmla="*/ 607 w 847"/>
                <a:gd name="T31" fmla="*/ 899 h 903"/>
                <a:gd name="T32" fmla="*/ 837 w 847"/>
                <a:gd name="T33" fmla="*/ 743 h 903"/>
                <a:gd name="T34" fmla="*/ 808 w 847"/>
                <a:gd name="T35" fmla="*/ 737 h 903"/>
                <a:gd name="T36" fmla="*/ 645 w 847"/>
                <a:gd name="T37" fmla="*/ 872 h 903"/>
                <a:gd name="T38" fmla="*/ 481 w 847"/>
                <a:gd name="T39" fmla="*/ 675 h 903"/>
                <a:gd name="T40" fmla="*/ 676 w 847"/>
                <a:gd name="T41" fmla="*/ 543 h 903"/>
                <a:gd name="T42" fmla="*/ 808 w 847"/>
                <a:gd name="T43" fmla="*/ 737 h 903"/>
                <a:gd name="T44" fmla="*/ 284 w 847"/>
                <a:gd name="T45" fmla="*/ 736 h 903"/>
                <a:gd name="T46" fmla="*/ 485 w 847"/>
                <a:gd name="T47" fmla="*/ 536 h 903"/>
                <a:gd name="T48" fmla="*/ 526 w 847"/>
                <a:gd name="T49" fmla="*/ 505 h 903"/>
                <a:gd name="T50" fmla="*/ 732 w 847"/>
                <a:gd name="T51" fmla="*/ 306 h 903"/>
                <a:gd name="T52" fmla="*/ 740 w 847"/>
                <a:gd name="T53" fmla="*/ 494 h 903"/>
                <a:gd name="T54" fmla="*/ 772 w 847"/>
                <a:gd name="T55" fmla="*/ 505 h 903"/>
                <a:gd name="T56" fmla="*/ 772 w 847"/>
                <a:gd name="T57" fmla="*/ 208 h 903"/>
                <a:gd name="T58" fmla="*/ 40 w 847"/>
                <a:gd name="T59" fmla="*/ 167 h 903"/>
                <a:gd name="T60" fmla="*/ 0 w 847"/>
                <a:gd name="T61" fmla="*/ 314 h 903"/>
                <a:gd name="T62" fmla="*/ 0 w 847"/>
                <a:gd name="T63" fmla="*/ 536 h 903"/>
                <a:gd name="T64" fmla="*/ 0 w 847"/>
                <a:gd name="T65" fmla="*/ 751 h 903"/>
                <a:gd name="T66" fmla="*/ 427 w 847"/>
                <a:gd name="T67" fmla="*/ 791 h 903"/>
                <a:gd name="T68" fmla="*/ 32 w 847"/>
                <a:gd name="T69" fmla="*/ 314 h 903"/>
                <a:gd name="T70" fmla="*/ 40 w 847"/>
                <a:gd name="T71" fmla="*/ 306 h 903"/>
                <a:gd name="T72" fmla="*/ 252 w 847"/>
                <a:gd name="T73" fmla="*/ 505 h 903"/>
                <a:gd name="T74" fmla="*/ 32 w 847"/>
                <a:gd name="T75" fmla="*/ 314 h 903"/>
                <a:gd name="T76" fmla="*/ 252 w 847"/>
                <a:gd name="T77" fmla="*/ 536 h 903"/>
                <a:gd name="T78" fmla="*/ 40 w 847"/>
                <a:gd name="T79" fmla="*/ 736 h 903"/>
                <a:gd name="T80" fmla="*/ 32 w 847"/>
                <a:gd name="T81" fmla="*/ 536 h 903"/>
                <a:gd name="T82" fmla="*/ 284 w 847"/>
                <a:gd name="T83" fmla="*/ 505 h 903"/>
                <a:gd name="T84" fmla="*/ 284 w 847"/>
                <a:gd name="T85" fmla="*/ 306 h 903"/>
                <a:gd name="T86" fmla="*/ 495 w 847"/>
                <a:gd name="T87" fmla="*/ 505 h 903"/>
                <a:gd name="T88" fmla="*/ 511 w 847"/>
                <a:gd name="T89" fmla="*/ 207 h 903"/>
                <a:gd name="T90" fmla="*/ 538 w 847"/>
                <a:gd name="T91" fmla="*/ 235 h 903"/>
                <a:gd name="T92" fmla="*/ 483 w 847"/>
                <a:gd name="T93" fmla="*/ 235 h 903"/>
                <a:gd name="T94" fmla="*/ 268 w 847"/>
                <a:gd name="T95" fmla="*/ 207 h 903"/>
                <a:gd name="T96" fmla="*/ 295 w 847"/>
                <a:gd name="T97" fmla="*/ 235 h 903"/>
                <a:gd name="T98" fmla="*/ 241 w 847"/>
                <a:gd name="T99" fmla="*/ 23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47" h="903">
                  <a:moveTo>
                    <a:pt x="217" y="100"/>
                  </a:moveTo>
                  <a:cubicBezTo>
                    <a:pt x="217" y="121"/>
                    <a:pt x="234" y="138"/>
                    <a:pt x="255" y="138"/>
                  </a:cubicBezTo>
                  <a:lnTo>
                    <a:pt x="517" y="138"/>
                  </a:lnTo>
                  <a:cubicBezTo>
                    <a:pt x="538" y="138"/>
                    <a:pt x="555" y="121"/>
                    <a:pt x="555" y="100"/>
                  </a:cubicBezTo>
                  <a:cubicBezTo>
                    <a:pt x="555" y="79"/>
                    <a:pt x="538" y="61"/>
                    <a:pt x="517" y="61"/>
                  </a:cubicBezTo>
                  <a:lnTo>
                    <a:pt x="448" y="61"/>
                  </a:lnTo>
                  <a:cubicBezTo>
                    <a:pt x="448" y="27"/>
                    <a:pt x="420" y="0"/>
                    <a:pt x="386" y="0"/>
                  </a:cubicBezTo>
                  <a:cubicBezTo>
                    <a:pt x="352" y="0"/>
                    <a:pt x="324" y="27"/>
                    <a:pt x="324" y="61"/>
                  </a:cubicBezTo>
                  <a:lnTo>
                    <a:pt x="255" y="61"/>
                  </a:lnTo>
                  <a:cubicBezTo>
                    <a:pt x="234" y="61"/>
                    <a:pt x="217" y="79"/>
                    <a:pt x="217" y="100"/>
                  </a:cubicBezTo>
                  <a:close/>
                  <a:moveTo>
                    <a:pt x="686" y="777"/>
                  </a:moveTo>
                  <a:cubicBezTo>
                    <a:pt x="689" y="780"/>
                    <a:pt x="693" y="782"/>
                    <a:pt x="697" y="782"/>
                  </a:cubicBezTo>
                  <a:cubicBezTo>
                    <a:pt x="702" y="782"/>
                    <a:pt x="706" y="780"/>
                    <a:pt x="709" y="777"/>
                  </a:cubicBezTo>
                  <a:cubicBezTo>
                    <a:pt x="715" y="771"/>
                    <a:pt x="715" y="761"/>
                    <a:pt x="709" y="755"/>
                  </a:cubicBezTo>
                  <a:lnTo>
                    <a:pt x="660" y="706"/>
                  </a:lnTo>
                  <a:lnTo>
                    <a:pt x="660" y="586"/>
                  </a:lnTo>
                  <a:cubicBezTo>
                    <a:pt x="660" y="577"/>
                    <a:pt x="653" y="570"/>
                    <a:pt x="644" y="570"/>
                  </a:cubicBezTo>
                  <a:cubicBezTo>
                    <a:pt x="636" y="570"/>
                    <a:pt x="629" y="577"/>
                    <a:pt x="629" y="586"/>
                  </a:cubicBezTo>
                  <a:lnTo>
                    <a:pt x="629" y="713"/>
                  </a:lnTo>
                  <a:cubicBezTo>
                    <a:pt x="629" y="714"/>
                    <a:pt x="629" y="715"/>
                    <a:pt x="629" y="716"/>
                  </a:cubicBezTo>
                  <a:cubicBezTo>
                    <a:pt x="629" y="716"/>
                    <a:pt x="629" y="717"/>
                    <a:pt x="629" y="717"/>
                  </a:cubicBezTo>
                  <a:cubicBezTo>
                    <a:pt x="629" y="718"/>
                    <a:pt x="630" y="718"/>
                    <a:pt x="630" y="719"/>
                  </a:cubicBezTo>
                  <a:cubicBezTo>
                    <a:pt x="630" y="719"/>
                    <a:pt x="630" y="720"/>
                    <a:pt x="631" y="720"/>
                  </a:cubicBezTo>
                  <a:cubicBezTo>
                    <a:pt x="631" y="721"/>
                    <a:pt x="631" y="721"/>
                    <a:pt x="631" y="722"/>
                  </a:cubicBezTo>
                  <a:cubicBezTo>
                    <a:pt x="632" y="722"/>
                    <a:pt x="632" y="723"/>
                    <a:pt x="633" y="724"/>
                  </a:cubicBezTo>
                  <a:cubicBezTo>
                    <a:pt x="633" y="724"/>
                    <a:pt x="633" y="724"/>
                    <a:pt x="633" y="724"/>
                  </a:cubicBezTo>
                  <a:lnTo>
                    <a:pt x="686" y="777"/>
                  </a:lnTo>
                  <a:close/>
                  <a:moveTo>
                    <a:pt x="807" y="596"/>
                  </a:moveTo>
                  <a:cubicBezTo>
                    <a:pt x="777" y="552"/>
                    <a:pt x="733" y="523"/>
                    <a:pt x="681" y="513"/>
                  </a:cubicBezTo>
                  <a:cubicBezTo>
                    <a:pt x="669" y="511"/>
                    <a:pt x="657" y="510"/>
                    <a:pt x="644" y="510"/>
                  </a:cubicBezTo>
                  <a:cubicBezTo>
                    <a:pt x="550" y="510"/>
                    <a:pt x="469" y="577"/>
                    <a:pt x="451" y="669"/>
                  </a:cubicBezTo>
                  <a:cubicBezTo>
                    <a:pt x="431" y="776"/>
                    <a:pt x="501" y="879"/>
                    <a:pt x="607" y="899"/>
                  </a:cubicBezTo>
                  <a:cubicBezTo>
                    <a:pt x="620" y="902"/>
                    <a:pt x="632" y="903"/>
                    <a:pt x="645" y="903"/>
                  </a:cubicBezTo>
                  <a:cubicBezTo>
                    <a:pt x="739" y="903"/>
                    <a:pt x="820" y="836"/>
                    <a:pt x="837" y="743"/>
                  </a:cubicBezTo>
                  <a:cubicBezTo>
                    <a:pt x="847" y="692"/>
                    <a:pt x="836" y="639"/>
                    <a:pt x="807" y="596"/>
                  </a:cubicBezTo>
                  <a:close/>
                  <a:moveTo>
                    <a:pt x="808" y="737"/>
                  </a:moveTo>
                  <a:lnTo>
                    <a:pt x="808" y="737"/>
                  </a:lnTo>
                  <a:cubicBezTo>
                    <a:pt x="793" y="816"/>
                    <a:pt x="724" y="872"/>
                    <a:pt x="645" y="872"/>
                  </a:cubicBezTo>
                  <a:cubicBezTo>
                    <a:pt x="634" y="872"/>
                    <a:pt x="624" y="871"/>
                    <a:pt x="613" y="869"/>
                  </a:cubicBezTo>
                  <a:cubicBezTo>
                    <a:pt x="523" y="852"/>
                    <a:pt x="464" y="765"/>
                    <a:pt x="481" y="675"/>
                  </a:cubicBezTo>
                  <a:cubicBezTo>
                    <a:pt x="496" y="597"/>
                    <a:pt x="565" y="540"/>
                    <a:pt x="644" y="540"/>
                  </a:cubicBezTo>
                  <a:cubicBezTo>
                    <a:pt x="655" y="540"/>
                    <a:pt x="665" y="541"/>
                    <a:pt x="676" y="543"/>
                  </a:cubicBezTo>
                  <a:cubicBezTo>
                    <a:pt x="719" y="551"/>
                    <a:pt x="757" y="576"/>
                    <a:pt x="782" y="613"/>
                  </a:cubicBezTo>
                  <a:cubicBezTo>
                    <a:pt x="807" y="650"/>
                    <a:pt x="816" y="694"/>
                    <a:pt x="808" y="737"/>
                  </a:cubicBezTo>
                  <a:close/>
                  <a:moveTo>
                    <a:pt x="413" y="736"/>
                  </a:moveTo>
                  <a:lnTo>
                    <a:pt x="284" y="736"/>
                  </a:lnTo>
                  <a:lnTo>
                    <a:pt x="284" y="536"/>
                  </a:lnTo>
                  <a:lnTo>
                    <a:pt x="485" y="536"/>
                  </a:lnTo>
                  <a:cubicBezTo>
                    <a:pt x="497" y="524"/>
                    <a:pt x="512" y="514"/>
                    <a:pt x="527" y="505"/>
                  </a:cubicBezTo>
                  <a:lnTo>
                    <a:pt x="526" y="505"/>
                  </a:lnTo>
                  <a:lnTo>
                    <a:pt x="526" y="306"/>
                  </a:lnTo>
                  <a:lnTo>
                    <a:pt x="732" y="306"/>
                  </a:lnTo>
                  <a:cubicBezTo>
                    <a:pt x="736" y="306"/>
                    <a:pt x="740" y="309"/>
                    <a:pt x="740" y="314"/>
                  </a:cubicBezTo>
                  <a:lnTo>
                    <a:pt x="740" y="494"/>
                  </a:lnTo>
                  <a:cubicBezTo>
                    <a:pt x="751" y="499"/>
                    <a:pt x="762" y="505"/>
                    <a:pt x="772" y="511"/>
                  </a:cubicBezTo>
                  <a:lnTo>
                    <a:pt x="772" y="505"/>
                  </a:lnTo>
                  <a:lnTo>
                    <a:pt x="772" y="314"/>
                  </a:lnTo>
                  <a:lnTo>
                    <a:pt x="772" y="208"/>
                  </a:lnTo>
                  <a:cubicBezTo>
                    <a:pt x="772" y="185"/>
                    <a:pt x="754" y="167"/>
                    <a:pt x="732" y="167"/>
                  </a:cubicBezTo>
                  <a:lnTo>
                    <a:pt x="40" y="167"/>
                  </a:lnTo>
                  <a:cubicBezTo>
                    <a:pt x="18" y="167"/>
                    <a:pt x="0" y="185"/>
                    <a:pt x="0" y="208"/>
                  </a:cubicBezTo>
                  <a:lnTo>
                    <a:pt x="0" y="314"/>
                  </a:lnTo>
                  <a:lnTo>
                    <a:pt x="0" y="505"/>
                  </a:lnTo>
                  <a:lnTo>
                    <a:pt x="0" y="536"/>
                  </a:lnTo>
                  <a:lnTo>
                    <a:pt x="0" y="727"/>
                  </a:lnTo>
                  <a:lnTo>
                    <a:pt x="0" y="751"/>
                  </a:lnTo>
                  <a:cubicBezTo>
                    <a:pt x="0" y="773"/>
                    <a:pt x="18" y="791"/>
                    <a:pt x="40" y="791"/>
                  </a:cubicBezTo>
                  <a:lnTo>
                    <a:pt x="427" y="791"/>
                  </a:lnTo>
                  <a:cubicBezTo>
                    <a:pt x="420" y="773"/>
                    <a:pt x="415" y="755"/>
                    <a:pt x="413" y="736"/>
                  </a:cubicBezTo>
                  <a:close/>
                  <a:moveTo>
                    <a:pt x="32" y="314"/>
                  </a:moveTo>
                  <a:lnTo>
                    <a:pt x="32" y="314"/>
                  </a:lnTo>
                  <a:cubicBezTo>
                    <a:pt x="32" y="309"/>
                    <a:pt x="36" y="306"/>
                    <a:pt x="40" y="306"/>
                  </a:cubicBezTo>
                  <a:lnTo>
                    <a:pt x="252" y="306"/>
                  </a:lnTo>
                  <a:lnTo>
                    <a:pt x="252" y="505"/>
                  </a:lnTo>
                  <a:lnTo>
                    <a:pt x="32" y="505"/>
                  </a:lnTo>
                  <a:lnTo>
                    <a:pt x="32" y="314"/>
                  </a:lnTo>
                  <a:close/>
                  <a:moveTo>
                    <a:pt x="252" y="536"/>
                  </a:moveTo>
                  <a:lnTo>
                    <a:pt x="252" y="536"/>
                  </a:lnTo>
                  <a:lnTo>
                    <a:pt x="252" y="736"/>
                  </a:lnTo>
                  <a:lnTo>
                    <a:pt x="40" y="736"/>
                  </a:lnTo>
                  <a:cubicBezTo>
                    <a:pt x="36" y="736"/>
                    <a:pt x="32" y="732"/>
                    <a:pt x="32" y="727"/>
                  </a:cubicBezTo>
                  <a:lnTo>
                    <a:pt x="32" y="536"/>
                  </a:lnTo>
                  <a:lnTo>
                    <a:pt x="252" y="536"/>
                  </a:lnTo>
                  <a:close/>
                  <a:moveTo>
                    <a:pt x="284" y="505"/>
                  </a:moveTo>
                  <a:lnTo>
                    <a:pt x="284" y="505"/>
                  </a:lnTo>
                  <a:lnTo>
                    <a:pt x="284" y="306"/>
                  </a:lnTo>
                  <a:lnTo>
                    <a:pt x="495" y="306"/>
                  </a:lnTo>
                  <a:lnTo>
                    <a:pt x="495" y="505"/>
                  </a:lnTo>
                  <a:lnTo>
                    <a:pt x="284" y="505"/>
                  </a:lnTo>
                  <a:close/>
                  <a:moveTo>
                    <a:pt x="511" y="207"/>
                  </a:moveTo>
                  <a:lnTo>
                    <a:pt x="511" y="207"/>
                  </a:lnTo>
                  <a:cubicBezTo>
                    <a:pt x="526" y="207"/>
                    <a:pt x="538" y="219"/>
                    <a:pt x="538" y="235"/>
                  </a:cubicBezTo>
                  <a:cubicBezTo>
                    <a:pt x="538" y="250"/>
                    <a:pt x="526" y="262"/>
                    <a:pt x="511" y="262"/>
                  </a:cubicBezTo>
                  <a:cubicBezTo>
                    <a:pt x="496" y="262"/>
                    <a:pt x="483" y="250"/>
                    <a:pt x="483" y="235"/>
                  </a:cubicBezTo>
                  <a:cubicBezTo>
                    <a:pt x="483" y="219"/>
                    <a:pt x="496" y="207"/>
                    <a:pt x="511" y="207"/>
                  </a:cubicBezTo>
                  <a:close/>
                  <a:moveTo>
                    <a:pt x="268" y="207"/>
                  </a:moveTo>
                  <a:lnTo>
                    <a:pt x="268" y="207"/>
                  </a:lnTo>
                  <a:cubicBezTo>
                    <a:pt x="283" y="207"/>
                    <a:pt x="295" y="219"/>
                    <a:pt x="295" y="235"/>
                  </a:cubicBezTo>
                  <a:cubicBezTo>
                    <a:pt x="295" y="250"/>
                    <a:pt x="283" y="262"/>
                    <a:pt x="268" y="262"/>
                  </a:cubicBezTo>
                  <a:cubicBezTo>
                    <a:pt x="253" y="262"/>
                    <a:pt x="241" y="250"/>
                    <a:pt x="241" y="235"/>
                  </a:cubicBezTo>
                  <a:cubicBezTo>
                    <a:pt x="241" y="219"/>
                    <a:pt x="253" y="207"/>
                    <a:pt x="268" y="2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7" name="组合 6"/>
          <p:cNvGrpSpPr/>
          <p:nvPr/>
        </p:nvGrpSpPr>
        <p:grpSpPr>
          <a:xfrm>
            <a:off x="1057487" y="1295401"/>
            <a:ext cx="1306003" cy="1526579"/>
            <a:chOff x="6560095" y="2132856"/>
            <a:chExt cx="1306513" cy="1527175"/>
          </a:xfrm>
        </p:grpSpPr>
        <p:sp>
          <p:nvSpPr>
            <p:cNvPr id="8" name="Freeform 7"/>
            <p:cNvSpPr>
              <a:spLocks/>
            </p:cNvSpPr>
            <p:nvPr/>
          </p:nvSpPr>
          <p:spPr bwMode="auto">
            <a:xfrm>
              <a:off x="6560095" y="2132856"/>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02B9E7"/>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Freeform 10"/>
            <p:cNvSpPr>
              <a:spLocks noEditPoints="1"/>
            </p:cNvSpPr>
            <p:nvPr/>
          </p:nvSpPr>
          <p:spPr bwMode="auto">
            <a:xfrm>
              <a:off x="6850001" y="2403005"/>
              <a:ext cx="726700" cy="778916"/>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sp>
        <p:nvSpPr>
          <p:cNvPr id="2" name="矩形 1"/>
          <p:cNvSpPr/>
          <p:nvPr/>
        </p:nvSpPr>
        <p:spPr>
          <a:xfrm>
            <a:off x="3102590" y="1262253"/>
            <a:ext cx="7365242" cy="1384995"/>
          </a:xfrm>
          <a:prstGeom prst="rect">
            <a:avLst/>
          </a:prstGeom>
        </p:spPr>
        <p:txBody>
          <a:bodyPr wrap="square">
            <a:spAutoFit/>
          </a:bodyPr>
          <a:lstStyle/>
          <a:p>
            <a:pPr>
              <a:lnSpc>
                <a:spcPct val="150000"/>
              </a:lnSpc>
            </a:pPr>
            <a:r>
              <a:rPr lang="zh-CN" altLang="en-US" sz="2800" b="1" u="sng" dirty="0">
                <a:latin typeface="微软雅黑" panose="020B0503020204020204" pitchFamily="34" charset="-122"/>
                <a:ea typeface="微软雅黑" panose="020B0503020204020204" pitchFamily="34" charset="-122"/>
              </a:rPr>
              <a:t>系统总线</a:t>
            </a:r>
            <a:r>
              <a:rPr lang="zh-CN" altLang="en-US" sz="2800" b="1" dirty="0">
                <a:latin typeface="微软雅黑" panose="020B0503020204020204" pitchFamily="34" charset="-122"/>
                <a:ea typeface="微软雅黑" panose="020B0503020204020204" pitchFamily="34" charset="-122"/>
              </a:rPr>
              <a:t> ：用于将</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、存储器和输入输出接口及设备连接起来的一组信号线。 </a:t>
            </a:r>
          </a:p>
        </p:txBody>
      </p:sp>
    </p:spTree>
    <p:extLst>
      <p:ext uri="{BB962C8B-B14F-4D97-AF65-F5344CB8AC3E}">
        <p14:creationId xmlns:p14="http://schemas.microsoft.com/office/powerpoint/2010/main" val="260290601"/>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162929" y="1722745"/>
            <a:ext cx="8273500" cy="4351338"/>
          </a:xfrm>
        </p:spPr>
        <p:txBody>
          <a:bodyPr/>
          <a:lstStyle/>
          <a:p>
            <a:pPr marL="0" indent="0" eaLnBrk="1" hangingPunct="1">
              <a:lnSpc>
                <a:spcPct val="150000"/>
              </a:lnSpc>
              <a:buNone/>
            </a:pPr>
            <a:r>
              <a:rPr lang="zh-CN" altLang="en-US" b="1" u="sng" dirty="0">
                <a:latin typeface="微软雅黑" panose="020B0503020204020204" pitchFamily="34" charset="-122"/>
                <a:ea typeface="微软雅黑" panose="020B0503020204020204" pitchFamily="34" charset="-122"/>
              </a:rPr>
              <a:t>局部总线</a:t>
            </a:r>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与一些部件之间连接的专用总线。</a:t>
            </a: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随着计算机对</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访存速度和图像处理速度的要求越来越高，可以将</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与存储器及显示器适配器相连接的信号线从系统总线中分离出来，形成</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与存储器和</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与显示器适配器之间局部的专用总线。</a:t>
            </a:r>
          </a:p>
        </p:txBody>
      </p:sp>
      <p:sp>
        <p:nvSpPr>
          <p:cNvPr id="4" name="Rectangle 5"/>
          <p:cNvSpPr>
            <a:spLocks noChangeArrowheads="1"/>
          </p:cNvSpPr>
          <p:nvPr/>
        </p:nvSpPr>
        <p:spPr bwMode="auto">
          <a:xfrm>
            <a:off x="-22289" y="2164754"/>
            <a:ext cx="2735237"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9"/>
          <p:cNvSpPr>
            <a:spLocks noChangeArrowheads="1"/>
          </p:cNvSpPr>
          <p:nvPr/>
        </p:nvSpPr>
        <p:spPr bwMode="auto">
          <a:xfrm>
            <a:off x="769489" y="2896757"/>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40"/>
          <p:cNvSpPr>
            <a:spLocks noEditPoints="1"/>
          </p:cNvSpPr>
          <p:nvPr/>
        </p:nvSpPr>
        <p:spPr bwMode="auto">
          <a:xfrm>
            <a:off x="927247" y="3188714"/>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945867820"/>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Freeform 5"/>
          <p:cNvSpPr>
            <a:spLocks/>
          </p:cNvSpPr>
          <p:nvPr/>
        </p:nvSpPr>
        <p:spPr bwMode="auto">
          <a:xfrm>
            <a:off x="1186989" y="1413566"/>
            <a:ext cx="304681"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1186989" y="1892805"/>
            <a:ext cx="304681" cy="3829143"/>
          </a:xfrm>
          <a:custGeom>
            <a:avLst/>
            <a:gdLst>
              <a:gd name="T0" fmla="*/ 175 w 351"/>
              <a:gd name="T1" fmla="*/ 0 h 4397"/>
              <a:gd name="T2" fmla="*/ 175 w 351"/>
              <a:gd name="T3" fmla="*/ 0 h 4397"/>
              <a:gd name="T4" fmla="*/ 351 w 351"/>
              <a:gd name="T5" fmla="*/ 143 h 4397"/>
              <a:gd name="T6" fmla="*/ 351 w 351"/>
              <a:gd name="T7" fmla="*/ 4254 h 4397"/>
              <a:gd name="T8" fmla="*/ 175 w 351"/>
              <a:gd name="T9" fmla="*/ 4397 h 4397"/>
              <a:gd name="T10" fmla="*/ 175 w 351"/>
              <a:gd name="T11" fmla="*/ 4397 h 4397"/>
              <a:gd name="T12" fmla="*/ 0 w 351"/>
              <a:gd name="T13" fmla="*/ 4254 h 4397"/>
              <a:gd name="T14" fmla="*/ 0 w 351"/>
              <a:gd name="T15" fmla="*/ 143 h 4397"/>
              <a:gd name="T16" fmla="*/ 175 w 351"/>
              <a:gd name="T17" fmla="*/ 0 h 4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397">
                <a:moveTo>
                  <a:pt x="175" y="0"/>
                </a:moveTo>
                <a:lnTo>
                  <a:pt x="175" y="0"/>
                </a:lnTo>
                <a:cubicBezTo>
                  <a:pt x="272" y="0"/>
                  <a:pt x="351" y="64"/>
                  <a:pt x="351" y="143"/>
                </a:cubicBezTo>
                <a:lnTo>
                  <a:pt x="351" y="4254"/>
                </a:lnTo>
                <a:cubicBezTo>
                  <a:pt x="351" y="4332"/>
                  <a:pt x="272" y="4397"/>
                  <a:pt x="175" y="4397"/>
                </a:cubicBezTo>
                <a:lnTo>
                  <a:pt x="175" y="4397"/>
                </a:lnTo>
                <a:cubicBezTo>
                  <a:pt x="79" y="4397"/>
                  <a:pt x="0" y="4332"/>
                  <a:pt x="0" y="4254"/>
                </a:cubicBezTo>
                <a:lnTo>
                  <a:pt x="0" y="143"/>
                </a:lnTo>
                <a:cubicBezTo>
                  <a:pt x="0" y="64"/>
                  <a:pt x="79" y="0"/>
                  <a:pt x="175" y="0"/>
                </a:cubicBezTo>
                <a:close/>
              </a:path>
            </a:pathLst>
          </a:cu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1056865" y="5353789"/>
            <a:ext cx="585559" cy="585559"/>
          </a:xfrm>
          <a:prstGeom prst="ellipse">
            <a:avLst/>
          </a:pr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8"/>
          <p:cNvSpPr>
            <a:spLocks/>
          </p:cNvSpPr>
          <p:nvPr/>
        </p:nvSpPr>
        <p:spPr bwMode="auto">
          <a:xfrm>
            <a:off x="2361453"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9"/>
          <p:cNvSpPr>
            <a:spLocks/>
          </p:cNvSpPr>
          <p:nvPr/>
        </p:nvSpPr>
        <p:spPr bwMode="auto">
          <a:xfrm>
            <a:off x="2361453" y="2389499"/>
            <a:ext cx="306268" cy="3332449"/>
          </a:xfrm>
          <a:custGeom>
            <a:avLst/>
            <a:gdLst>
              <a:gd name="T0" fmla="*/ 175 w 351"/>
              <a:gd name="T1" fmla="*/ 0 h 3828"/>
              <a:gd name="T2" fmla="*/ 175 w 351"/>
              <a:gd name="T3" fmla="*/ 0 h 3828"/>
              <a:gd name="T4" fmla="*/ 351 w 351"/>
              <a:gd name="T5" fmla="*/ 124 h 3828"/>
              <a:gd name="T6" fmla="*/ 351 w 351"/>
              <a:gd name="T7" fmla="*/ 3703 h 3828"/>
              <a:gd name="T8" fmla="*/ 175 w 351"/>
              <a:gd name="T9" fmla="*/ 3828 h 3828"/>
              <a:gd name="T10" fmla="*/ 175 w 351"/>
              <a:gd name="T11" fmla="*/ 3828 h 3828"/>
              <a:gd name="T12" fmla="*/ 0 w 351"/>
              <a:gd name="T13" fmla="*/ 3703 h 3828"/>
              <a:gd name="T14" fmla="*/ 0 w 351"/>
              <a:gd name="T15" fmla="*/ 124 h 3828"/>
              <a:gd name="T16" fmla="*/ 175 w 351"/>
              <a:gd name="T17" fmla="*/ 0 h 3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3828">
                <a:moveTo>
                  <a:pt x="175" y="0"/>
                </a:moveTo>
                <a:lnTo>
                  <a:pt x="175" y="0"/>
                </a:lnTo>
                <a:cubicBezTo>
                  <a:pt x="272" y="0"/>
                  <a:pt x="351" y="56"/>
                  <a:pt x="351" y="124"/>
                </a:cubicBezTo>
                <a:lnTo>
                  <a:pt x="351" y="3703"/>
                </a:lnTo>
                <a:cubicBezTo>
                  <a:pt x="351" y="3772"/>
                  <a:pt x="272" y="3828"/>
                  <a:pt x="175" y="3828"/>
                </a:cubicBezTo>
                <a:lnTo>
                  <a:pt x="175" y="3828"/>
                </a:lnTo>
                <a:cubicBezTo>
                  <a:pt x="79" y="3828"/>
                  <a:pt x="0" y="3772"/>
                  <a:pt x="0" y="3703"/>
                </a:cubicBezTo>
                <a:lnTo>
                  <a:pt x="0" y="124"/>
                </a:lnTo>
                <a:cubicBezTo>
                  <a:pt x="0" y="56"/>
                  <a:pt x="79" y="0"/>
                  <a:pt x="175" y="0"/>
                </a:cubicBezTo>
                <a:close/>
              </a:path>
            </a:pathLst>
          </a:cu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2231329" y="5353789"/>
            <a:ext cx="585559" cy="585559"/>
          </a:xfrm>
          <a:prstGeom prst="ellipse">
            <a:avLst/>
          </a:pr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11"/>
          <p:cNvSpPr>
            <a:spLocks/>
          </p:cNvSpPr>
          <p:nvPr/>
        </p:nvSpPr>
        <p:spPr bwMode="auto">
          <a:xfrm>
            <a:off x="3461731"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2"/>
          <p:cNvSpPr>
            <a:spLocks/>
          </p:cNvSpPr>
          <p:nvPr/>
        </p:nvSpPr>
        <p:spPr bwMode="auto">
          <a:xfrm>
            <a:off x="3461731" y="1591295"/>
            <a:ext cx="306268" cy="4130649"/>
          </a:xfrm>
          <a:custGeom>
            <a:avLst/>
            <a:gdLst>
              <a:gd name="T0" fmla="*/ 175 w 351"/>
              <a:gd name="T1" fmla="*/ 0 h 4744"/>
              <a:gd name="T2" fmla="*/ 175 w 351"/>
              <a:gd name="T3" fmla="*/ 0 h 4744"/>
              <a:gd name="T4" fmla="*/ 351 w 351"/>
              <a:gd name="T5" fmla="*/ 154 h 4744"/>
              <a:gd name="T6" fmla="*/ 351 w 351"/>
              <a:gd name="T7" fmla="*/ 4589 h 4744"/>
              <a:gd name="T8" fmla="*/ 175 w 351"/>
              <a:gd name="T9" fmla="*/ 4744 h 4744"/>
              <a:gd name="T10" fmla="*/ 175 w 351"/>
              <a:gd name="T11" fmla="*/ 4744 h 4744"/>
              <a:gd name="T12" fmla="*/ 0 w 351"/>
              <a:gd name="T13" fmla="*/ 4589 h 4744"/>
              <a:gd name="T14" fmla="*/ 0 w 351"/>
              <a:gd name="T15" fmla="*/ 154 h 4744"/>
              <a:gd name="T16" fmla="*/ 175 w 351"/>
              <a:gd name="T17" fmla="*/ 0 h 4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744">
                <a:moveTo>
                  <a:pt x="175" y="0"/>
                </a:moveTo>
                <a:lnTo>
                  <a:pt x="175" y="0"/>
                </a:lnTo>
                <a:cubicBezTo>
                  <a:pt x="272" y="0"/>
                  <a:pt x="351" y="69"/>
                  <a:pt x="351" y="154"/>
                </a:cubicBezTo>
                <a:lnTo>
                  <a:pt x="351" y="4589"/>
                </a:lnTo>
                <a:cubicBezTo>
                  <a:pt x="351" y="4674"/>
                  <a:pt x="272" y="4744"/>
                  <a:pt x="175" y="4744"/>
                </a:cubicBezTo>
                <a:lnTo>
                  <a:pt x="175" y="4744"/>
                </a:lnTo>
                <a:cubicBezTo>
                  <a:pt x="79" y="4744"/>
                  <a:pt x="0" y="4674"/>
                  <a:pt x="0" y="4589"/>
                </a:cubicBezTo>
                <a:lnTo>
                  <a:pt x="0" y="154"/>
                </a:lnTo>
                <a:cubicBezTo>
                  <a:pt x="0" y="69"/>
                  <a:pt x="79" y="0"/>
                  <a:pt x="175" y="0"/>
                </a:cubicBezTo>
                <a:close/>
              </a:path>
            </a:pathLst>
          </a:cu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Oval 13"/>
          <p:cNvSpPr>
            <a:spLocks noChangeArrowheads="1"/>
          </p:cNvSpPr>
          <p:nvPr/>
        </p:nvSpPr>
        <p:spPr bwMode="auto">
          <a:xfrm>
            <a:off x="3331607" y="5353789"/>
            <a:ext cx="585559" cy="585559"/>
          </a:xfrm>
          <a:prstGeom prst="ellipse">
            <a:avLst/>
          </a:pr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14"/>
          <p:cNvSpPr>
            <a:spLocks/>
          </p:cNvSpPr>
          <p:nvPr/>
        </p:nvSpPr>
        <p:spPr bwMode="auto">
          <a:xfrm>
            <a:off x="4703241" y="1413566"/>
            <a:ext cx="306268" cy="4308380"/>
          </a:xfrm>
          <a:custGeom>
            <a:avLst/>
            <a:gdLst>
              <a:gd name="T0" fmla="*/ 176 w 352"/>
              <a:gd name="T1" fmla="*/ 0 h 4948"/>
              <a:gd name="T2" fmla="*/ 176 w 352"/>
              <a:gd name="T3" fmla="*/ 0 h 4948"/>
              <a:gd name="T4" fmla="*/ 352 w 352"/>
              <a:gd name="T5" fmla="*/ 176 h 4948"/>
              <a:gd name="T6" fmla="*/ 352 w 352"/>
              <a:gd name="T7" fmla="*/ 4772 h 4948"/>
              <a:gd name="T8" fmla="*/ 176 w 352"/>
              <a:gd name="T9" fmla="*/ 4948 h 4948"/>
              <a:gd name="T10" fmla="*/ 176 w 352"/>
              <a:gd name="T11" fmla="*/ 4948 h 4948"/>
              <a:gd name="T12" fmla="*/ 0 w 352"/>
              <a:gd name="T13" fmla="*/ 4772 h 4948"/>
              <a:gd name="T14" fmla="*/ 0 w 352"/>
              <a:gd name="T15" fmla="*/ 176 h 4948"/>
              <a:gd name="T16" fmla="*/ 176 w 352"/>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948">
                <a:moveTo>
                  <a:pt x="176" y="0"/>
                </a:moveTo>
                <a:lnTo>
                  <a:pt x="176" y="0"/>
                </a:lnTo>
                <a:cubicBezTo>
                  <a:pt x="273" y="0"/>
                  <a:pt x="352" y="79"/>
                  <a:pt x="352" y="176"/>
                </a:cubicBezTo>
                <a:lnTo>
                  <a:pt x="352" y="4772"/>
                </a:lnTo>
                <a:cubicBezTo>
                  <a:pt x="352" y="4869"/>
                  <a:pt x="273" y="4948"/>
                  <a:pt x="176" y="4948"/>
                </a:cubicBezTo>
                <a:lnTo>
                  <a:pt x="176" y="4948"/>
                </a:lnTo>
                <a:cubicBezTo>
                  <a:pt x="79" y="4948"/>
                  <a:pt x="0" y="4869"/>
                  <a:pt x="0" y="4772"/>
                </a:cubicBezTo>
                <a:lnTo>
                  <a:pt x="0" y="176"/>
                </a:lnTo>
                <a:cubicBezTo>
                  <a:pt x="0" y="79"/>
                  <a:pt x="79" y="0"/>
                  <a:pt x="176"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15"/>
          <p:cNvSpPr>
            <a:spLocks/>
          </p:cNvSpPr>
          <p:nvPr/>
        </p:nvSpPr>
        <p:spPr bwMode="auto">
          <a:xfrm>
            <a:off x="4703241" y="2061387"/>
            <a:ext cx="306268" cy="3660561"/>
          </a:xfrm>
          <a:custGeom>
            <a:avLst/>
            <a:gdLst>
              <a:gd name="T0" fmla="*/ 176 w 352"/>
              <a:gd name="T1" fmla="*/ 0 h 4581"/>
              <a:gd name="T2" fmla="*/ 176 w 352"/>
              <a:gd name="T3" fmla="*/ 0 h 4581"/>
              <a:gd name="T4" fmla="*/ 352 w 352"/>
              <a:gd name="T5" fmla="*/ 149 h 4581"/>
              <a:gd name="T6" fmla="*/ 352 w 352"/>
              <a:gd name="T7" fmla="*/ 4432 h 4581"/>
              <a:gd name="T8" fmla="*/ 176 w 352"/>
              <a:gd name="T9" fmla="*/ 4581 h 4581"/>
              <a:gd name="T10" fmla="*/ 176 w 352"/>
              <a:gd name="T11" fmla="*/ 4581 h 4581"/>
              <a:gd name="T12" fmla="*/ 0 w 352"/>
              <a:gd name="T13" fmla="*/ 4432 h 4581"/>
              <a:gd name="T14" fmla="*/ 0 w 352"/>
              <a:gd name="T15" fmla="*/ 149 h 4581"/>
              <a:gd name="T16" fmla="*/ 176 w 352"/>
              <a:gd name="T17" fmla="*/ 0 h 4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581">
                <a:moveTo>
                  <a:pt x="176" y="0"/>
                </a:moveTo>
                <a:lnTo>
                  <a:pt x="176" y="0"/>
                </a:lnTo>
                <a:cubicBezTo>
                  <a:pt x="273" y="0"/>
                  <a:pt x="352" y="67"/>
                  <a:pt x="352" y="149"/>
                </a:cubicBezTo>
                <a:lnTo>
                  <a:pt x="352" y="4432"/>
                </a:lnTo>
                <a:cubicBezTo>
                  <a:pt x="352" y="4514"/>
                  <a:pt x="273" y="4581"/>
                  <a:pt x="176" y="4581"/>
                </a:cubicBezTo>
                <a:lnTo>
                  <a:pt x="176" y="4581"/>
                </a:lnTo>
                <a:cubicBezTo>
                  <a:pt x="79" y="4581"/>
                  <a:pt x="0" y="4514"/>
                  <a:pt x="0" y="4432"/>
                </a:cubicBezTo>
                <a:lnTo>
                  <a:pt x="0" y="149"/>
                </a:lnTo>
                <a:cubicBezTo>
                  <a:pt x="0" y="67"/>
                  <a:pt x="79" y="0"/>
                  <a:pt x="176" y="0"/>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Oval 16"/>
          <p:cNvSpPr>
            <a:spLocks noChangeArrowheads="1"/>
          </p:cNvSpPr>
          <p:nvPr/>
        </p:nvSpPr>
        <p:spPr bwMode="auto">
          <a:xfrm>
            <a:off x="4574706" y="5353789"/>
            <a:ext cx="585559" cy="585559"/>
          </a:xfrm>
          <a:prstGeom prst="ellipse">
            <a:avLst/>
          </a:pr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25" name="矩形 83"/>
          <p:cNvSpPr>
            <a:spLocks noChangeArrowheads="1"/>
          </p:cNvSpPr>
          <p:nvPr/>
        </p:nvSpPr>
        <p:spPr bwMode="auto">
          <a:xfrm>
            <a:off x="5944751" y="1235962"/>
            <a:ext cx="5589821" cy="4981870"/>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27" name="Freeform 12"/>
          <p:cNvSpPr>
            <a:spLocks/>
          </p:cNvSpPr>
          <p:nvPr/>
        </p:nvSpPr>
        <p:spPr bwMode="auto">
          <a:xfrm>
            <a:off x="5889623" y="1148557"/>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28" name="Freeform 12"/>
          <p:cNvSpPr>
            <a:spLocks/>
          </p:cNvSpPr>
          <p:nvPr/>
        </p:nvSpPr>
        <p:spPr bwMode="auto">
          <a:xfrm flipH="1" flipV="1">
            <a:off x="11162592" y="584877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3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4" name="Rectangle 3"/>
          <p:cNvSpPr txBox="1">
            <a:spLocks noChangeArrowheads="1"/>
          </p:cNvSpPr>
          <p:nvPr/>
        </p:nvSpPr>
        <p:spPr>
          <a:xfrm>
            <a:off x="6046075" y="1480101"/>
            <a:ext cx="5488497" cy="46545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b="1" dirty="0">
                <a:latin typeface="微软雅黑" panose="020B0503020204020204" pitchFamily="34" charset="-122"/>
                <a:ea typeface="微软雅黑" panose="020B0503020204020204" pitchFamily="34" charset="-122"/>
              </a:rPr>
              <a:t>计算机与计算机、计算机与外部设备之间的通信总线。</a:t>
            </a:r>
          </a:p>
          <a:p>
            <a:pPr marL="0" indent="0">
              <a:lnSpc>
                <a:spcPct val="150000"/>
              </a:lnSpc>
              <a:buFont typeface="Arial" panose="020B0604020202020204" pitchFamily="34" charset="0"/>
              <a:buNone/>
            </a:pPr>
            <a:r>
              <a:rPr lang="zh-CN" altLang="en-US" b="1" dirty="0">
                <a:latin typeface="微软雅黑" panose="020B0503020204020204" pitchFamily="34" charset="-122"/>
                <a:ea typeface="微软雅黑" panose="020B0503020204020204" pitchFamily="34" charset="-122"/>
              </a:rPr>
              <a:t>例如，用于微型计算机之间进行串行数据通信之用的</a:t>
            </a:r>
            <a:r>
              <a:rPr lang="en-US" altLang="zh-CN" b="1" dirty="0">
                <a:latin typeface="微软雅黑" panose="020B0503020204020204" pitchFamily="34" charset="-122"/>
                <a:ea typeface="微软雅黑" panose="020B0503020204020204" pitchFamily="34" charset="-122"/>
              </a:rPr>
              <a:t>RS-232/ RS-485</a:t>
            </a:r>
            <a:r>
              <a:rPr lang="zh-CN" altLang="en-US" b="1" dirty="0">
                <a:latin typeface="微软雅黑" panose="020B0503020204020204" pitchFamily="34" charset="-122"/>
                <a:ea typeface="微软雅黑" panose="020B0503020204020204" pitchFamily="34" charset="-122"/>
              </a:rPr>
              <a:t>接口标准，近几年发展和流行起来的微机与外部设备之间的</a:t>
            </a:r>
            <a:r>
              <a:rPr lang="en-US" altLang="zh-CN" b="1" dirty="0">
                <a:latin typeface="微软雅黑" panose="020B0503020204020204" pitchFamily="34" charset="-122"/>
                <a:ea typeface="微软雅黑" panose="020B0503020204020204" pitchFamily="34" charset="-122"/>
              </a:rPr>
              <a:t>USB</a:t>
            </a:r>
            <a:r>
              <a:rPr lang="zh-CN" altLang="en-US" b="1" dirty="0">
                <a:latin typeface="微软雅黑" panose="020B0503020204020204" pitchFamily="34" charset="-122"/>
                <a:ea typeface="微软雅黑" panose="020B0503020204020204" pitchFamily="34" charset="-122"/>
              </a:rPr>
              <a:t>接口标准等。 </a:t>
            </a:r>
          </a:p>
        </p:txBody>
      </p:sp>
      <p:sp>
        <p:nvSpPr>
          <p:cNvPr id="3" name="矩形 2"/>
          <p:cNvSpPr/>
          <p:nvPr/>
        </p:nvSpPr>
        <p:spPr>
          <a:xfrm>
            <a:off x="889055" y="269251"/>
            <a:ext cx="3093595" cy="369332"/>
          </a:xfrm>
          <a:prstGeom prst="rect">
            <a:avLst/>
          </a:prstGeom>
        </p:spPr>
        <p:txBody>
          <a:bodyPr vert="horz" lIns="91440" tIns="45720" rIns="91440" bIns="45720" rtlCol="0">
            <a:noAutofit/>
          </a:bodyPr>
          <a:lstStyle/>
          <a:p>
            <a:pPr>
              <a:lnSpc>
                <a:spcPct val="110000"/>
              </a:lnSpc>
              <a:spcBef>
                <a:spcPts val="1000"/>
              </a:spcBef>
            </a:pPr>
            <a:r>
              <a:rPr lang="zh-CN" altLang="en-US" sz="3200" b="1" dirty="0">
                <a:latin typeface="微软雅黑" panose="020B0503020204020204" pitchFamily="34" charset="-122"/>
                <a:ea typeface="微软雅黑" panose="020B0503020204020204" pitchFamily="34" charset="-122"/>
              </a:rPr>
              <a:t>外部总线</a:t>
            </a:r>
          </a:p>
        </p:txBody>
      </p:sp>
    </p:spTree>
    <p:extLst>
      <p:ext uri="{BB962C8B-B14F-4D97-AF65-F5344CB8AC3E}">
        <p14:creationId xmlns:p14="http://schemas.microsoft.com/office/powerpoint/2010/main" val="1847155938"/>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Line 5"/>
          <p:cNvSpPr>
            <a:spLocks noChangeShapeType="1"/>
          </p:cNvSpPr>
          <p:nvPr/>
        </p:nvSpPr>
        <p:spPr bwMode="auto">
          <a:xfrm>
            <a:off x="1306955" y="1655488"/>
            <a:ext cx="0" cy="3940095"/>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643374" y="1576141"/>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926052" y="1404292"/>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endParaRPr lang="zh-CN" altLang="en-US" sz="2799" dirty="0">
                <a:solidFill>
                  <a:schemeClr val="bg1"/>
                </a:solidFill>
                <a:latin typeface="+mn-ea"/>
              </a:endParaRPr>
            </a:p>
          </p:txBody>
        </p:sp>
      </p:grpSp>
      <p:sp>
        <p:nvSpPr>
          <p:cNvPr id="90" name="Oval 6"/>
          <p:cNvSpPr>
            <a:spLocks noChangeArrowheads="1"/>
          </p:cNvSpPr>
          <p:nvPr/>
        </p:nvSpPr>
        <p:spPr bwMode="auto">
          <a:xfrm>
            <a:off x="1162062" y="2932737"/>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1" name="Oval 7"/>
          <p:cNvSpPr>
            <a:spLocks noChangeArrowheads="1"/>
          </p:cNvSpPr>
          <p:nvPr/>
        </p:nvSpPr>
        <p:spPr bwMode="auto">
          <a:xfrm>
            <a:off x="1187939" y="3871513"/>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160300" y="8564712"/>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2024279" y="1079770"/>
            <a:ext cx="9235124" cy="138499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计算机各部件之间的总线互连结构随着计算机性能的不断提高也在不断发生着变化，这种变化主要体现在两个方面：</a:t>
            </a:r>
          </a:p>
        </p:txBody>
      </p:sp>
      <p:sp>
        <p:nvSpPr>
          <p:cNvPr id="4" name="矩形 3"/>
          <p:cNvSpPr/>
          <p:nvPr/>
        </p:nvSpPr>
        <p:spPr>
          <a:xfrm>
            <a:off x="1614809" y="2649706"/>
            <a:ext cx="9728022" cy="662554"/>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一是由单总线结构向多总线结构发展；</a:t>
            </a:r>
          </a:p>
        </p:txBody>
      </p:sp>
      <p:sp>
        <p:nvSpPr>
          <p:cNvPr id="8" name="矩形 7"/>
          <p:cNvSpPr/>
          <p:nvPr/>
        </p:nvSpPr>
        <p:spPr>
          <a:xfrm>
            <a:off x="1614809" y="3618629"/>
            <a:ext cx="9556104"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二是通过增加局部总线，提高</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与一些部件之间数据交换的速度。 </a:t>
            </a:r>
          </a:p>
        </p:txBody>
      </p:sp>
    </p:spTree>
    <p:extLst>
      <p:ext uri="{BB962C8B-B14F-4D97-AF65-F5344CB8AC3E}">
        <p14:creationId xmlns:p14="http://schemas.microsoft.com/office/powerpoint/2010/main" val="945513252"/>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875773" y="327948"/>
            <a:ext cx="10966174" cy="1270000"/>
          </a:xfrm>
        </p:spPr>
        <p:txBody>
          <a:bodyPr vert="horz" lIns="91440" tIns="45720" rIns="91440" bIns="45720" rtlCol="0">
            <a:normAutofit/>
          </a:bodyPr>
          <a:lstStyle/>
          <a:p>
            <a:pPr marL="0" indent="0">
              <a:buNone/>
            </a:pPr>
            <a:r>
              <a:rPr lang="zh-CN" altLang="en-US" b="1" dirty="0">
                <a:latin typeface="微软雅黑" panose="020B0503020204020204" pitchFamily="34" charset="-122"/>
                <a:ea typeface="微软雅黑" panose="020B0503020204020204" pitchFamily="34" charset="-122"/>
              </a:rPr>
              <a:t>单总线结构：</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、存储器和各种设备接口之间通过单条总线相连  </a:t>
            </a:r>
          </a:p>
        </p:txBody>
      </p:sp>
      <p:sp>
        <p:nvSpPr>
          <p:cNvPr id="17412" name="Rectangle 5"/>
          <p:cNvSpPr>
            <a:spLocks noChangeArrowheads="1"/>
          </p:cNvSpPr>
          <p:nvPr/>
        </p:nvSpPr>
        <p:spPr bwMode="auto">
          <a:xfrm>
            <a:off x="1524001" y="2744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17413" name="Object 4"/>
          <p:cNvGraphicFramePr>
            <a:graphicFrameLocks noChangeAspect="1"/>
          </p:cNvGraphicFramePr>
          <p:nvPr>
            <p:extLst>
              <p:ext uri="{D42A27DB-BD31-4B8C-83A1-F6EECF244321}">
                <p14:modId xmlns:p14="http://schemas.microsoft.com/office/powerpoint/2010/main" val="3201438532"/>
              </p:ext>
            </p:extLst>
          </p:nvPr>
        </p:nvGraphicFramePr>
        <p:xfrm>
          <a:off x="1524001" y="1722783"/>
          <a:ext cx="8992464" cy="3763617"/>
        </p:xfrm>
        <a:graphic>
          <a:graphicData uri="http://schemas.openxmlformats.org/presentationml/2006/ole">
            <mc:AlternateContent xmlns:mc="http://schemas.openxmlformats.org/markup-compatibility/2006">
              <mc:Choice xmlns:v="urn:schemas-microsoft-com:vml" Requires="v">
                <p:oleObj spid="_x0000_s2062" name="Visio" r:id="rId3" imgW="3616881" imgH="1000322" progId="Visio.Drawing.11">
                  <p:embed/>
                </p:oleObj>
              </mc:Choice>
              <mc:Fallback>
                <p:oleObj name="Visio" r:id="rId3" imgW="3616881" imgH="1000322" progId="Visio.Drawing.11">
                  <p:embed/>
                  <p:pic>
                    <p:nvPicPr>
                      <p:cNvPr id="1741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1722783"/>
                        <a:ext cx="8992464" cy="3763617"/>
                      </a:xfrm>
                      <a:prstGeom prst="rect">
                        <a:avLst/>
                      </a:prstGeom>
                      <a:noFill/>
                      <a:ln>
                        <a:noFill/>
                      </a:ln>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4266621643"/>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875773" y="314314"/>
            <a:ext cx="8229600" cy="620713"/>
          </a:xfrm>
        </p:spPr>
        <p:txBody>
          <a:bodyPr vert="horz" lIns="91440" tIns="45720" rIns="91440" bIns="45720" rtlCol="0">
            <a:normAutofit/>
          </a:bodyPr>
          <a:lstStyle/>
          <a:p>
            <a:pPr marL="0" indent="0">
              <a:buNone/>
            </a:pPr>
            <a:r>
              <a:rPr lang="zh-CN" altLang="en-US" sz="3200" b="1">
                <a:latin typeface="微软雅黑" panose="020B0503020204020204" pitchFamily="34" charset="-122"/>
                <a:ea typeface="微软雅黑" panose="020B0503020204020204" pitchFamily="34" charset="-122"/>
              </a:rPr>
              <a:t>局部总线结构 </a:t>
            </a:r>
          </a:p>
        </p:txBody>
      </p:sp>
      <p:sp>
        <p:nvSpPr>
          <p:cNvPr id="18436" name="Rectangle 5"/>
          <p:cNvSpPr>
            <a:spLocks noChangeArrowheads="1"/>
          </p:cNvSpPr>
          <p:nvPr/>
        </p:nvSpPr>
        <p:spPr bwMode="auto">
          <a:xfrm>
            <a:off x="1524001" y="24347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18437" name="Object 4"/>
          <p:cNvGraphicFramePr>
            <a:graphicFrameLocks noChangeAspect="1"/>
          </p:cNvGraphicFramePr>
          <p:nvPr>
            <p:extLst>
              <p:ext uri="{D42A27DB-BD31-4B8C-83A1-F6EECF244321}">
                <p14:modId xmlns:p14="http://schemas.microsoft.com/office/powerpoint/2010/main" val="268742428"/>
              </p:ext>
            </p:extLst>
          </p:nvPr>
        </p:nvGraphicFramePr>
        <p:xfrm>
          <a:off x="875773" y="1391477"/>
          <a:ext cx="10149543" cy="4863549"/>
        </p:xfrm>
        <a:graphic>
          <a:graphicData uri="http://schemas.openxmlformats.org/presentationml/2006/ole">
            <mc:AlternateContent xmlns:mc="http://schemas.openxmlformats.org/markup-compatibility/2006">
              <mc:Choice xmlns:v="urn:schemas-microsoft-com:vml" Requires="v">
                <p:oleObj spid="_x0000_s3086" name="Visio" r:id="rId3" imgW="3616881" imgH="1618015" progId="Visio.Drawing.11">
                  <p:embed/>
                </p:oleObj>
              </mc:Choice>
              <mc:Fallback>
                <p:oleObj name="Visio" r:id="rId3" imgW="3616881" imgH="1618015" progId="Visio.Drawing.11">
                  <p:embed/>
                  <p:pic>
                    <p:nvPicPr>
                      <p:cNvPr id="184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773" y="1391477"/>
                        <a:ext cx="10149543" cy="4863549"/>
                      </a:xfrm>
                      <a:prstGeom prst="rect">
                        <a:avLst/>
                      </a:prstGeom>
                      <a:noFill/>
                      <a:ln>
                        <a:noFill/>
                      </a:ln>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959148373"/>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875773" y="354452"/>
            <a:ext cx="8229600" cy="693738"/>
          </a:xfrm>
        </p:spPr>
        <p:txBody>
          <a:bodyPr vert="horz" lIns="91440" tIns="45720" rIns="91440" bIns="45720" rtlCol="0">
            <a:normAutofit/>
          </a:bodyPr>
          <a:lstStyle/>
          <a:p>
            <a:pPr marL="0" indent="0">
              <a:buNone/>
            </a:pPr>
            <a:r>
              <a:rPr lang="zh-CN" altLang="en-US" sz="3200" b="1" dirty="0">
                <a:latin typeface="微软雅黑" panose="020B0503020204020204" pitchFamily="34" charset="-122"/>
                <a:ea typeface="微软雅黑" panose="020B0503020204020204" pitchFamily="34" charset="-122"/>
              </a:rPr>
              <a:t>多总线结构</a:t>
            </a:r>
          </a:p>
          <a:p>
            <a:pPr marL="0" indent="0">
              <a:buNone/>
            </a:pPr>
            <a:endParaRPr lang="zh-CN" altLang="en-US" sz="3200" b="1" dirty="0">
              <a:latin typeface="微软雅黑" panose="020B0503020204020204" pitchFamily="34" charset="-122"/>
              <a:ea typeface="微软雅黑" panose="020B0503020204020204" pitchFamily="34" charset="-122"/>
            </a:endParaRPr>
          </a:p>
        </p:txBody>
      </p:sp>
      <p:sp>
        <p:nvSpPr>
          <p:cNvPr id="19460" name="Rectangle 5"/>
          <p:cNvSpPr>
            <a:spLocks noChangeArrowheads="1"/>
          </p:cNvSpPr>
          <p:nvPr/>
        </p:nvSpPr>
        <p:spPr bwMode="auto">
          <a:xfrm>
            <a:off x="1524001" y="17489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19461" name="Object 4"/>
          <p:cNvGraphicFramePr>
            <a:graphicFrameLocks noChangeAspect="1"/>
          </p:cNvGraphicFramePr>
          <p:nvPr>
            <p:extLst>
              <p:ext uri="{D42A27DB-BD31-4B8C-83A1-F6EECF244321}">
                <p14:modId xmlns:p14="http://schemas.microsoft.com/office/powerpoint/2010/main" val="2678071864"/>
              </p:ext>
            </p:extLst>
          </p:nvPr>
        </p:nvGraphicFramePr>
        <p:xfrm>
          <a:off x="1337671" y="1404731"/>
          <a:ext cx="9409842" cy="4923115"/>
        </p:xfrm>
        <a:graphic>
          <a:graphicData uri="http://schemas.openxmlformats.org/presentationml/2006/ole">
            <mc:AlternateContent xmlns:mc="http://schemas.openxmlformats.org/markup-compatibility/2006">
              <mc:Choice xmlns:v="urn:schemas-microsoft-com:vml" Requires="v">
                <p:oleObj spid="_x0000_s4110" name="Visio" r:id="rId3" imgW="4534477" imgH="2986777" progId="Visio.Drawing.11">
                  <p:embed/>
                </p:oleObj>
              </mc:Choice>
              <mc:Fallback>
                <p:oleObj name="Visio" r:id="rId3" imgW="4534477" imgH="2986777" progId="Visio.Drawing.11">
                  <p:embed/>
                  <p:pic>
                    <p:nvPicPr>
                      <p:cNvPr id="1946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7671" y="1404731"/>
                        <a:ext cx="9409842" cy="4923115"/>
                      </a:xfrm>
                      <a:prstGeom prst="rect">
                        <a:avLst/>
                      </a:prstGeom>
                      <a:noFill/>
                      <a:ln>
                        <a:noFill/>
                      </a:ln>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3965020954"/>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1C0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69" name="Line 5"/>
          <p:cNvSpPr>
            <a:spLocks noChangeShapeType="1"/>
          </p:cNvSpPr>
          <p:nvPr/>
        </p:nvSpPr>
        <p:spPr bwMode="auto">
          <a:xfrm>
            <a:off x="1914072" y="1719994"/>
            <a:ext cx="0" cy="4158459"/>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0" name="Oval 6"/>
          <p:cNvSpPr>
            <a:spLocks noChangeArrowheads="1"/>
          </p:cNvSpPr>
          <p:nvPr/>
        </p:nvSpPr>
        <p:spPr bwMode="auto">
          <a:xfrm>
            <a:off x="1795057" y="4595999"/>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1" name="Oval 7"/>
          <p:cNvSpPr>
            <a:spLocks noChangeArrowheads="1"/>
          </p:cNvSpPr>
          <p:nvPr/>
        </p:nvSpPr>
        <p:spPr bwMode="auto">
          <a:xfrm>
            <a:off x="1795057" y="5387579"/>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2257396" y="1891843"/>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2250491" y="3668235"/>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1540074" y="1719994"/>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1533169" y="3505737"/>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27" name="TextBox 26"/>
          <p:cNvSpPr txBox="1"/>
          <p:nvPr/>
        </p:nvSpPr>
        <p:spPr>
          <a:xfrm>
            <a:off x="14767417" y="8551064"/>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920102" y="282468"/>
            <a:ext cx="4146603" cy="369332"/>
          </a:xfrm>
          <a:prstGeom prst="rect">
            <a:avLst/>
          </a:prstGeom>
        </p:spPr>
        <p:txBody>
          <a:bodyPr vert="horz" lIns="91440" tIns="45720" rIns="91440" bIns="45720" rtlCol="0">
            <a:noAutofit/>
          </a:bodyPr>
          <a:lstStyle/>
          <a:p>
            <a:pPr>
              <a:lnSpc>
                <a:spcPct val="110000"/>
              </a:lnSpc>
              <a:spcBef>
                <a:spcPts val="1000"/>
              </a:spcBef>
            </a:pPr>
            <a:r>
              <a:rPr lang="zh-CN" altLang="en-US" sz="3200" b="1" dirty="0">
                <a:latin typeface="微软雅黑" panose="020B0503020204020204" pitchFamily="34" charset="-122"/>
                <a:ea typeface="微软雅黑" panose="020B0503020204020204" pitchFamily="34" charset="-122"/>
              </a:rPr>
              <a:t>总线的控制方式 </a:t>
            </a:r>
          </a:p>
        </p:txBody>
      </p:sp>
      <p:sp>
        <p:nvSpPr>
          <p:cNvPr id="4" name="矩形 3"/>
          <p:cNvSpPr/>
          <p:nvPr/>
        </p:nvSpPr>
        <p:spPr>
          <a:xfrm>
            <a:off x="2702957" y="1036543"/>
            <a:ext cx="8491391"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为完成一次总线操作，主、从设备所给出的地址、数据及控制信号可以在时序上采用不同的方式，称为总线控制方式。</a:t>
            </a:r>
            <a:endParaRPr lang="en-US" altLang="zh-CN" sz="2800" b="1" dirty="0">
              <a:latin typeface="微软雅黑" panose="020B0503020204020204" pitchFamily="34" charset="-122"/>
              <a:ea typeface="微软雅黑" panose="020B0503020204020204" pitchFamily="34" charset="-122"/>
            </a:endParaRPr>
          </a:p>
        </p:txBody>
      </p:sp>
      <p:sp>
        <p:nvSpPr>
          <p:cNvPr id="8" name="矩形 7"/>
          <p:cNvSpPr/>
          <p:nvPr/>
        </p:nvSpPr>
        <p:spPr>
          <a:xfrm>
            <a:off x="2727068" y="3365897"/>
            <a:ext cx="2698175" cy="738664"/>
          </a:xfrm>
          <a:prstGeom prst="rect">
            <a:avLst/>
          </a:prstGeom>
        </p:spPr>
        <p:txBody>
          <a:bodyPr wrap="non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主要分为两种：</a:t>
            </a:r>
            <a:endParaRPr lang="en-US" altLang="zh-CN" sz="2800" b="1" dirty="0">
              <a:latin typeface="微软雅黑" panose="020B0503020204020204" pitchFamily="34" charset="-122"/>
              <a:ea typeface="微软雅黑" panose="020B0503020204020204" pitchFamily="34" charset="-122"/>
            </a:endParaRPr>
          </a:p>
        </p:txBody>
      </p:sp>
      <p:sp>
        <p:nvSpPr>
          <p:cNvPr id="9" name="矩形 8"/>
          <p:cNvSpPr/>
          <p:nvPr/>
        </p:nvSpPr>
        <p:spPr>
          <a:xfrm>
            <a:off x="2294976" y="4299452"/>
            <a:ext cx="2082621" cy="738664"/>
          </a:xfrm>
          <a:prstGeom prst="rect">
            <a:avLst/>
          </a:prstGeom>
        </p:spPr>
        <p:txBody>
          <a:bodyPr wrap="non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同步控制</a:t>
            </a:r>
            <a:endParaRPr lang="en-US" altLang="zh-CN" sz="2800" b="1" dirty="0">
              <a:latin typeface="微软雅黑" panose="020B0503020204020204" pitchFamily="34" charset="-122"/>
              <a:ea typeface="微软雅黑" panose="020B0503020204020204" pitchFamily="34" charset="-122"/>
            </a:endParaRPr>
          </a:p>
        </p:txBody>
      </p:sp>
      <p:sp>
        <p:nvSpPr>
          <p:cNvPr id="10" name="矩形 9"/>
          <p:cNvSpPr/>
          <p:nvPr/>
        </p:nvSpPr>
        <p:spPr>
          <a:xfrm>
            <a:off x="2294975" y="5106113"/>
            <a:ext cx="2082621" cy="738664"/>
          </a:xfrm>
          <a:prstGeom prst="rect">
            <a:avLst/>
          </a:prstGeom>
        </p:spPr>
        <p:txBody>
          <a:bodyPr wrap="non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异步控制</a:t>
            </a:r>
          </a:p>
        </p:txBody>
      </p:sp>
    </p:spTree>
    <p:extLst>
      <p:ext uri="{BB962C8B-B14F-4D97-AF65-F5344CB8AC3E}">
        <p14:creationId xmlns:p14="http://schemas.microsoft.com/office/powerpoint/2010/main" val="2286155854"/>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7"/>
          <p:cNvSpPr>
            <a:spLocks noChangeArrowheads="1"/>
          </p:cNvSpPr>
          <p:nvPr/>
        </p:nvSpPr>
        <p:spPr bwMode="auto">
          <a:xfrm>
            <a:off x="3374417" y="2832270"/>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6"/>
          <p:cNvSpPr>
            <a:spLocks noChangeArrowheads="1"/>
          </p:cNvSpPr>
          <p:nvPr/>
        </p:nvSpPr>
        <p:spPr bwMode="auto">
          <a:xfrm>
            <a:off x="2572000" y="816140"/>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3"/>
          <p:cNvSpPr>
            <a:spLocks/>
          </p:cNvSpPr>
          <p:nvPr/>
        </p:nvSpPr>
        <p:spPr bwMode="auto">
          <a:xfrm>
            <a:off x="3132168" y="1309660"/>
            <a:ext cx="30151" cy="3174"/>
          </a:xfrm>
          <a:custGeom>
            <a:avLst/>
            <a:gdLst>
              <a:gd name="T0" fmla="*/ 0 w 43"/>
              <a:gd name="T1" fmla="*/ 0 h 5"/>
              <a:gd name="T2" fmla="*/ 1 w 43"/>
              <a:gd name="T3" fmla="*/ 5 h 5"/>
              <a:gd name="T4" fmla="*/ 43 w 43"/>
              <a:gd name="T5" fmla="*/ 3 h 5"/>
              <a:gd name="T6" fmla="*/ 0 w 43"/>
              <a:gd name="T7" fmla="*/ 0 h 5"/>
            </a:gdLst>
            <a:ahLst/>
            <a:cxnLst>
              <a:cxn ang="0">
                <a:pos x="T0" y="T1"/>
              </a:cxn>
              <a:cxn ang="0">
                <a:pos x="T2" y="T3"/>
              </a:cxn>
              <a:cxn ang="0">
                <a:pos x="T4" y="T5"/>
              </a:cxn>
              <a:cxn ang="0">
                <a:pos x="T6" y="T7"/>
              </a:cxn>
            </a:cxnLst>
            <a:rect l="0" t="0" r="r" b="b"/>
            <a:pathLst>
              <a:path w="43" h="5">
                <a:moveTo>
                  <a:pt x="0" y="0"/>
                </a:moveTo>
                <a:lnTo>
                  <a:pt x="1" y="5"/>
                </a:lnTo>
                <a:lnTo>
                  <a:pt x="4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Oval 9"/>
          <p:cNvSpPr>
            <a:spLocks noChangeArrowheads="1"/>
          </p:cNvSpPr>
          <p:nvPr/>
        </p:nvSpPr>
        <p:spPr bwMode="auto">
          <a:xfrm>
            <a:off x="2643663" y="4846814"/>
            <a:ext cx="831525" cy="831526"/>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6" name="Oval 5"/>
          <p:cNvSpPr>
            <a:spLocks noChangeArrowheads="1"/>
          </p:cNvSpPr>
          <p:nvPr/>
        </p:nvSpPr>
        <p:spPr bwMode="auto">
          <a:xfrm>
            <a:off x="505990" y="2058776"/>
            <a:ext cx="2376931" cy="2376928"/>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6" name="Freeform 5"/>
          <p:cNvSpPr>
            <a:spLocks noEditPoints="1"/>
          </p:cNvSpPr>
          <p:nvPr/>
        </p:nvSpPr>
        <p:spPr bwMode="auto">
          <a:xfrm>
            <a:off x="1230885" y="2659459"/>
            <a:ext cx="927140" cy="1175561"/>
          </a:xfrm>
          <a:custGeom>
            <a:avLst/>
            <a:gdLst>
              <a:gd name="T0" fmla="*/ 622 w 794"/>
              <a:gd name="T1" fmla="*/ 491 h 1018"/>
              <a:gd name="T2" fmla="*/ 481 w 794"/>
              <a:gd name="T3" fmla="*/ 612 h 1018"/>
              <a:gd name="T4" fmla="*/ 667 w 794"/>
              <a:gd name="T5" fmla="*/ 641 h 1018"/>
              <a:gd name="T6" fmla="*/ 672 w 794"/>
              <a:gd name="T7" fmla="*/ 487 h 1018"/>
              <a:gd name="T8" fmla="*/ 794 w 794"/>
              <a:gd name="T9" fmla="*/ 420 h 1018"/>
              <a:gd name="T10" fmla="*/ 747 w 794"/>
              <a:gd name="T11" fmla="*/ 487 h 1018"/>
              <a:gd name="T12" fmla="*/ 713 w 794"/>
              <a:gd name="T13" fmla="*/ 679 h 1018"/>
              <a:gd name="T14" fmla="*/ 631 w 794"/>
              <a:gd name="T15" fmla="*/ 709 h 1018"/>
              <a:gd name="T16" fmla="*/ 442 w 794"/>
              <a:gd name="T17" fmla="*/ 719 h 1018"/>
              <a:gd name="T18" fmla="*/ 627 w 794"/>
              <a:gd name="T19" fmla="*/ 911 h 1018"/>
              <a:gd name="T20" fmla="*/ 659 w 794"/>
              <a:gd name="T21" fmla="*/ 971 h 1018"/>
              <a:gd name="T22" fmla="*/ 565 w 794"/>
              <a:gd name="T23" fmla="*/ 971 h 1018"/>
              <a:gd name="T24" fmla="*/ 428 w 794"/>
              <a:gd name="T25" fmla="*/ 906 h 1018"/>
              <a:gd name="T26" fmla="*/ 456 w 794"/>
              <a:gd name="T27" fmla="*/ 971 h 1018"/>
              <a:gd name="T28" fmla="*/ 361 w 794"/>
              <a:gd name="T29" fmla="*/ 971 h 1018"/>
              <a:gd name="T30" fmla="*/ 381 w 794"/>
              <a:gd name="T31" fmla="*/ 905 h 1018"/>
              <a:gd name="T32" fmla="*/ 243 w 794"/>
              <a:gd name="T33" fmla="*/ 971 h 1018"/>
              <a:gd name="T34" fmla="*/ 148 w 794"/>
              <a:gd name="T35" fmla="*/ 971 h 1018"/>
              <a:gd name="T36" fmla="*/ 173 w 794"/>
              <a:gd name="T37" fmla="*/ 911 h 1018"/>
              <a:gd name="T38" fmla="*/ 346 w 794"/>
              <a:gd name="T39" fmla="*/ 719 h 1018"/>
              <a:gd name="T40" fmla="*/ 154 w 794"/>
              <a:gd name="T41" fmla="*/ 706 h 1018"/>
              <a:gd name="T42" fmla="*/ 81 w 794"/>
              <a:gd name="T43" fmla="*/ 679 h 1018"/>
              <a:gd name="T44" fmla="*/ 47 w 794"/>
              <a:gd name="T45" fmla="*/ 487 h 1018"/>
              <a:gd name="T46" fmla="*/ 0 w 794"/>
              <a:gd name="T47" fmla="*/ 420 h 1018"/>
              <a:gd name="T48" fmla="*/ 122 w 794"/>
              <a:gd name="T49" fmla="*/ 487 h 1018"/>
              <a:gd name="T50" fmla="*/ 127 w 794"/>
              <a:gd name="T51" fmla="*/ 641 h 1018"/>
              <a:gd name="T52" fmla="*/ 316 w 794"/>
              <a:gd name="T53" fmla="*/ 611 h 1018"/>
              <a:gd name="T54" fmla="*/ 168 w 794"/>
              <a:gd name="T55" fmla="*/ 491 h 1018"/>
              <a:gd name="T56" fmla="*/ 591 w 794"/>
              <a:gd name="T57" fmla="*/ 126 h 1018"/>
              <a:gd name="T58" fmla="*/ 494 w 794"/>
              <a:gd name="T59" fmla="*/ 168 h 1018"/>
              <a:gd name="T60" fmla="*/ 297 w 794"/>
              <a:gd name="T61" fmla="*/ 194 h 1018"/>
              <a:gd name="T62" fmla="*/ 287 w 794"/>
              <a:gd name="T63" fmla="*/ 273 h 1018"/>
              <a:gd name="T64" fmla="*/ 504 w 794"/>
              <a:gd name="T65" fmla="*/ 299 h 1018"/>
              <a:gd name="T66" fmla="*/ 287 w 794"/>
              <a:gd name="T67" fmla="*/ 273 h 1018"/>
              <a:gd name="T68" fmla="*/ 514 w 794"/>
              <a:gd name="T69" fmla="*/ 383 h 1018"/>
              <a:gd name="T70" fmla="*/ 277 w 794"/>
              <a:gd name="T71" fmla="*/ 409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4" h="1018">
                <a:moveTo>
                  <a:pt x="591" y="126"/>
                </a:moveTo>
                <a:cubicBezTo>
                  <a:pt x="601" y="248"/>
                  <a:pt x="611" y="370"/>
                  <a:pt x="622" y="491"/>
                </a:cubicBezTo>
                <a:cubicBezTo>
                  <a:pt x="607" y="518"/>
                  <a:pt x="550" y="536"/>
                  <a:pt x="481" y="544"/>
                </a:cubicBezTo>
                <a:lnTo>
                  <a:pt x="481" y="612"/>
                </a:lnTo>
                <a:cubicBezTo>
                  <a:pt x="548" y="619"/>
                  <a:pt x="604" y="634"/>
                  <a:pt x="624" y="657"/>
                </a:cubicBezTo>
                <a:lnTo>
                  <a:pt x="667" y="641"/>
                </a:lnTo>
                <a:lnTo>
                  <a:pt x="695" y="487"/>
                </a:lnTo>
                <a:lnTo>
                  <a:pt x="672" y="487"/>
                </a:lnTo>
                <a:lnTo>
                  <a:pt x="654" y="420"/>
                </a:lnTo>
                <a:lnTo>
                  <a:pt x="794" y="420"/>
                </a:lnTo>
                <a:lnTo>
                  <a:pt x="776" y="487"/>
                </a:lnTo>
                <a:lnTo>
                  <a:pt x="747" y="487"/>
                </a:lnTo>
                <a:lnTo>
                  <a:pt x="715" y="665"/>
                </a:lnTo>
                <a:lnTo>
                  <a:pt x="713" y="679"/>
                </a:lnTo>
                <a:lnTo>
                  <a:pt x="699" y="684"/>
                </a:lnTo>
                <a:lnTo>
                  <a:pt x="631" y="709"/>
                </a:lnTo>
                <a:lnTo>
                  <a:pt x="631" y="719"/>
                </a:lnTo>
                <a:lnTo>
                  <a:pt x="442" y="719"/>
                </a:lnTo>
                <a:lnTo>
                  <a:pt x="442" y="866"/>
                </a:lnTo>
                <a:cubicBezTo>
                  <a:pt x="504" y="871"/>
                  <a:pt x="565" y="887"/>
                  <a:pt x="627" y="911"/>
                </a:cubicBezTo>
                <a:lnTo>
                  <a:pt x="621" y="925"/>
                </a:lnTo>
                <a:cubicBezTo>
                  <a:pt x="643" y="929"/>
                  <a:pt x="659" y="948"/>
                  <a:pt x="659" y="971"/>
                </a:cubicBezTo>
                <a:cubicBezTo>
                  <a:pt x="659" y="997"/>
                  <a:pt x="638" y="1018"/>
                  <a:pt x="612" y="1018"/>
                </a:cubicBezTo>
                <a:cubicBezTo>
                  <a:pt x="586" y="1018"/>
                  <a:pt x="565" y="997"/>
                  <a:pt x="565" y="971"/>
                </a:cubicBezTo>
                <a:cubicBezTo>
                  <a:pt x="565" y="958"/>
                  <a:pt x="570" y="946"/>
                  <a:pt x="579" y="938"/>
                </a:cubicBezTo>
                <a:cubicBezTo>
                  <a:pt x="528" y="920"/>
                  <a:pt x="478" y="910"/>
                  <a:pt x="428" y="906"/>
                </a:cubicBezTo>
                <a:lnTo>
                  <a:pt x="430" y="929"/>
                </a:lnTo>
                <a:cubicBezTo>
                  <a:pt x="445" y="937"/>
                  <a:pt x="456" y="953"/>
                  <a:pt x="456" y="971"/>
                </a:cubicBezTo>
                <a:cubicBezTo>
                  <a:pt x="456" y="997"/>
                  <a:pt x="434" y="1018"/>
                  <a:pt x="408" y="1018"/>
                </a:cubicBezTo>
                <a:cubicBezTo>
                  <a:pt x="382" y="1018"/>
                  <a:pt x="361" y="997"/>
                  <a:pt x="361" y="971"/>
                </a:cubicBezTo>
                <a:cubicBezTo>
                  <a:pt x="361" y="954"/>
                  <a:pt x="370" y="940"/>
                  <a:pt x="383" y="931"/>
                </a:cubicBezTo>
                <a:lnTo>
                  <a:pt x="381" y="905"/>
                </a:lnTo>
                <a:cubicBezTo>
                  <a:pt x="330" y="907"/>
                  <a:pt x="278" y="916"/>
                  <a:pt x="226" y="935"/>
                </a:cubicBezTo>
                <a:cubicBezTo>
                  <a:pt x="236" y="943"/>
                  <a:pt x="243" y="956"/>
                  <a:pt x="243" y="971"/>
                </a:cubicBezTo>
                <a:cubicBezTo>
                  <a:pt x="243" y="997"/>
                  <a:pt x="222" y="1018"/>
                  <a:pt x="196" y="1018"/>
                </a:cubicBezTo>
                <a:cubicBezTo>
                  <a:pt x="170" y="1018"/>
                  <a:pt x="148" y="997"/>
                  <a:pt x="148" y="971"/>
                </a:cubicBezTo>
                <a:cubicBezTo>
                  <a:pt x="148" y="950"/>
                  <a:pt x="162" y="933"/>
                  <a:pt x="180" y="927"/>
                </a:cubicBezTo>
                <a:lnTo>
                  <a:pt x="173" y="911"/>
                </a:lnTo>
                <a:cubicBezTo>
                  <a:pt x="231" y="886"/>
                  <a:pt x="288" y="871"/>
                  <a:pt x="346" y="866"/>
                </a:cubicBezTo>
                <a:lnTo>
                  <a:pt x="346" y="719"/>
                </a:lnTo>
                <a:lnTo>
                  <a:pt x="154" y="719"/>
                </a:lnTo>
                <a:lnTo>
                  <a:pt x="154" y="706"/>
                </a:lnTo>
                <a:lnTo>
                  <a:pt x="95" y="684"/>
                </a:lnTo>
                <a:lnTo>
                  <a:pt x="81" y="679"/>
                </a:lnTo>
                <a:lnTo>
                  <a:pt x="78" y="665"/>
                </a:lnTo>
                <a:lnTo>
                  <a:pt x="47" y="487"/>
                </a:lnTo>
                <a:lnTo>
                  <a:pt x="17" y="487"/>
                </a:lnTo>
                <a:lnTo>
                  <a:pt x="0" y="420"/>
                </a:lnTo>
                <a:lnTo>
                  <a:pt x="139" y="420"/>
                </a:lnTo>
                <a:lnTo>
                  <a:pt x="122" y="487"/>
                </a:lnTo>
                <a:lnTo>
                  <a:pt x="99" y="487"/>
                </a:lnTo>
                <a:lnTo>
                  <a:pt x="127" y="641"/>
                </a:lnTo>
                <a:lnTo>
                  <a:pt x="163" y="654"/>
                </a:lnTo>
                <a:cubicBezTo>
                  <a:pt x="186" y="631"/>
                  <a:pt x="246" y="617"/>
                  <a:pt x="316" y="611"/>
                </a:cubicBezTo>
                <a:lnTo>
                  <a:pt x="316" y="546"/>
                </a:lnTo>
                <a:cubicBezTo>
                  <a:pt x="240" y="539"/>
                  <a:pt x="178" y="521"/>
                  <a:pt x="168" y="491"/>
                </a:cubicBezTo>
                <a:cubicBezTo>
                  <a:pt x="178" y="370"/>
                  <a:pt x="189" y="248"/>
                  <a:pt x="199" y="126"/>
                </a:cubicBezTo>
                <a:cubicBezTo>
                  <a:pt x="219" y="6"/>
                  <a:pt x="561" y="0"/>
                  <a:pt x="591" y="126"/>
                </a:cubicBezTo>
                <a:close/>
                <a:moveTo>
                  <a:pt x="297" y="168"/>
                </a:moveTo>
                <a:lnTo>
                  <a:pt x="494" y="168"/>
                </a:lnTo>
                <a:lnTo>
                  <a:pt x="494" y="194"/>
                </a:lnTo>
                <a:lnTo>
                  <a:pt x="297" y="194"/>
                </a:lnTo>
                <a:lnTo>
                  <a:pt x="297" y="168"/>
                </a:lnTo>
                <a:close/>
                <a:moveTo>
                  <a:pt x="287" y="273"/>
                </a:moveTo>
                <a:lnTo>
                  <a:pt x="504" y="273"/>
                </a:lnTo>
                <a:lnTo>
                  <a:pt x="504" y="299"/>
                </a:lnTo>
                <a:lnTo>
                  <a:pt x="287" y="299"/>
                </a:lnTo>
                <a:lnTo>
                  <a:pt x="287" y="273"/>
                </a:lnTo>
                <a:close/>
                <a:moveTo>
                  <a:pt x="277" y="383"/>
                </a:moveTo>
                <a:lnTo>
                  <a:pt x="514" y="383"/>
                </a:lnTo>
                <a:lnTo>
                  <a:pt x="514" y="409"/>
                </a:lnTo>
                <a:lnTo>
                  <a:pt x="277" y="409"/>
                </a:lnTo>
                <a:lnTo>
                  <a:pt x="277" y="383"/>
                </a:ln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dirty="0"/>
          </a:p>
        </p:txBody>
      </p:sp>
      <p:sp>
        <p:nvSpPr>
          <p:cNvPr id="37" name="TextBox 36"/>
          <p:cNvSpPr txBox="1"/>
          <p:nvPr/>
        </p:nvSpPr>
        <p:spPr>
          <a:xfrm>
            <a:off x="2667929" y="939631"/>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39" name="TextBox 38"/>
          <p:cNvSpPr txBox="1"/>
          <p:nvPr/>
        </p:nvSpPr>
        <p:spPr>
          <a:xfrm>
            <a:off x="3458909" y="2960136"/>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40" name="TextBox 39"/>
          <p:cNvSpPr txBox="1"/>
          <p:nvPr/>
        </p:nvSpPr>
        <p:spPr>
          <a:xfrm>
            <a:off x="2712395" y="4953618"/>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03</a:t>
            </a:r>
            <a:endParaRPr lang="zh-CN" altLang="en-US" sz="3199" b="1" dirty="0">
              <a:solidFill>
                <a:schemeClr val="bg1"/>
              </a:solidFill>
              <a:latin typeface="微软雅黑" pitchFamily="34" charset="-122"/>
              <a:ea typeface="微软雅黑" pitchFamily="34" charset="-122"/>
            </a:endParaRPr>
          </a:p>
        </p:txBody>
      </p:sp>
      <p:sp>
        <p:nvSpPr>
          <p:cNvPr id="38" name="TextBox 26"/>
          <p:cNvSpPr txBox="1"/>
          <p:nvPr/>
        </p:nvSpPr>
        <p:spPr>
          <a:xfrm>
            <a:off x="13423322" y="7609369"/>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3986265" y="513853"/>
            <a:ext cx="7163955" cy="1384995"/>
          </a:xfrm>
          <a:prstGeom prst="rect">
            <a:avLst/>
          </a:prstGeom>
        </p:spPr>
        <p:txBody>
          <a:bodyPr wrap="square">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同步控制</a:t>
            </a:r>
            <a:r>
              <a:rPr lang="zh-CN" altLang="en-US" sz="2800" b="1" dirty="0">
                <a:latin typeface="微软雅黑" panose="020B0503020204020204" pitchFamily="34" charset="-122"/>
                <a:ea typeface="微软雅黑" panose="020B0503020204020204" pitchFamily="34" charset="-122"/>
              </a:rPr>
              <a:t>：总线中包含有一条时钟信号线，总线上的所有操作都与时钟信号同步。</a:t>
            </a:r>
          </a:p>
        </p:txBody>
      </p:sp>
      <p:sp>
        <p:nvSpPr>
          <p:cNvPr id="4" name="矩形 3"/>
          <p:cNvSpPr/>
          <p:nvPr/>
        </p:nvSpPr>
        <p:spPr>
          <a:xfrm>
            <a:off x="4481013" y="2137789"/>
            <a:ext cx="7163955"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时钟信号是一个由等宽的高、低电位交替出现的规则信号，一次高、低电位的交替称为一个时钟周期。</a:t>
            </a:r>
          </a:p>
        </p:txBody>
      </p:sp>
      <p:sp>
        <p:nvSpPr>
          <p:cNvPr id="8" name="矩形 7"/>
          <p:cNvSpPr/>
          <p:nvPr/>
        </p:nvSpPr>
        <p:spPr>
          <a:xfrm>
            <a:off x="3986265" y="4338055"/>
            <a:ext cx="7327730" cy="203132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每一个时钟周期中都含有一个上升沿和一个下降沿，总线上的操作正是通过由时钟周期的上升沿或下降沿触发来实现同步的。 </a:t>
            </a:r>
          </a:p>
        </p:txBody>
      </p:sp>
    </p:spTree>
    <p:extLst>
      <p:ext uri="{BB962C8B-B14F-4D97-AF65-F5344CB8AC3E}">
        <p14:creationId xmlns:p14="http://schemas.microsoft.com/office/powerpoint/2010/main" val="2605722589"/>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875773" y="364681"/>
            <a:ext cx="8435975" cy="693738"/>
          </a:xfrm>
        </p:spPr>
        <p:txBody>
          <a:bodyPr vert="horz" lIns="91440" tIns="45720" rIns="91440" bIns="45720" rtlCol="0">
            <a:normAutofit/>
          </a:bodyPr>
          <a:lstStyle/>
          <a:p>
            <a:pPr marL="0" indent="0">
              <a:buNone/>
            </a:pPr>
            <a:r>
              <a:rPr lang="zh-CN" altLang="en-US" sz="3200" b="1" dirty="0">
                <a:latin typeface="微软雅黑" panose="020B0503020204020204" pitchFamily="34" charset="-122"/>
                <a:ea typeface="微软雅黑" panose="020B0503020204020204" pitchFamily="34" charset="-122"/>
              </a:rPr>
              <a:t>一个典型的同步总线操作时序 </a:t>
            </a:r>
          </a:p>
        </p:txBody>
      </p:sp>
      <p:graphicFrame>
        <p:nvGraphicFramePr>
          <p:cNvPr id="22533" name="Object 4"/>
          <p:cNvGraphicFramePr>
            <a:graphicFrameLocks noChangeAspect="1"/>
          </p:cNvGraphicFramePr>
          <p:nvPr>
            <p:extLst>
              <p:ext uri="{D42A27DB-BD31-4B8C-83A1-F6EECF244321}">
                <p14:modId xmlns:p14="http://schemas.microsoft.com/office/powerpoint/2010/main" val="3893902543"/>
              </p:ext>
            </p:extLst>
          </p:nvPr>
        </p:nvGraphicFramePr>
        <p:xfrm>
          <a:off x="1211402" y="1212434"/>
          <a:ext cx="9218060" cy="5294383"/>
        </p:xfrm>
        <a:graphic>
          <a:graphicData uri="http://schemas.openxmlformats.org/presentationml/2006/ole">
            <mc:AlternateContent xmlns:mc="http://schemas.openxmlformats.org/markup-compatibility/2006">
              <mc:Choice xmlns:v="urn:schemas-microsoft-com:vml" Requires="v">
                <p:oleObj spid="_x0000_s5135" name="Visio" r:id="rId3" imgW="4366867" imgH="3101235" progId="Visio.Drawing.11">
                  <p:embed/>
                </p:oleObj>
              </mc:Choice>
              <mc:Fallback>
                <p:oleObj name="Visio" r:id="rId3" imgW="4366867" imgH="3101235" progId="Visio.Drawing.11">
                  <p:embed/>
                  <p:pic>
                    <p:nvPicPr>
                      <p:cNvPr id="2253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1402" y="1212434"/>
                        <a:ext cx="9218060" cy="5294383"/>
                      </a:xfrm>
                      <a:prstGeom prst="rect">
                        <a:avLst/>
                      </a:prstGeom>
                      <a:noFill/>
                      <a:ln>
                        <a:noFill/>
                      </a:ln>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582185324"/>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3609966" y="1932654"/>
            <a:ext cx="7427715" cy="74956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9" name="右箭头 8"/>
          <p:cNvSpPr/>
          <p:nvPr/>
        </p:nvSpPr>
        <p:spPr bwMode="auto">
          <a:xfrm>
            <a:off x="3537987" y="2076613"/>
            <a:ext cx="575839" cy="461640"/>
          </a:xfrm>
          <a:prstGeom prst="rightArrow">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矩形 9"/>
          <p:cNvSpPr/>
          <p:nvPr/>
        </p:nvSpPr>
        <p:spPr bwMode="auto">
          <a:xfrm>
            <a:off x="1209699" y="1932654"/>
            <a:ext cx="2447316" cy="749560"/>
          </a:xfrm>
          <a:prstGeom prst="rect">
            <a:avLst/>
          </a:prstGeom>
          <a:solidFill>
            <a:srgbClr val="04B0BE"/>
          </a:solidFill>
          <a:ln w="9525" cap="flat" cmpd="sng" algn="ctr">
            <a:solidFill>
              <a:srgbClr val="04B0BE"/>
            </a:solid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1" name="矩形 10"/>
          <p:cNvSpPr/>
          <p:nvPr/>
        </p:nvSpPr>
        <p:spPr bwMode="auto">
          <a:xfrm>
            <a:off x="3609966" y="3706660"/>
            <a:ext cx="7427715" cy="1774007"/>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12" name="右箭头 11"/>
          <p:cNvSpPr/>
          <p:nvPr/>
        </p:nvSpPr>
        <p:spPr bwMode="auto">
          <a:xfrm>
            <a:off x="3565559" y="4382450"/>
            <a:ext cx="575839" cy="461640"/>
          </a:xfrm>
          <a:prstGeom prst="rightArrow">
            <a:avLst/>
          </a:prstGeom>
          <a:solidFill>
            <a:schemeClr val="accent4"/>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3" name="矩形 12"/>
          <p:cNvSpPr/>
          <p:nvPr/>
        </p:nvSpPr>
        <p:spPr bwMode="auto">
          <a:xfrm>
            <a:off x="1209699" y="3706661"/>
            <a:ext cx="2447316" cy="1774006"/>
          </a:xfrm>
          <a:prstGeom prst="rect">
            <a:avLst/>
          </a:prstGeom>
          <a:solidFill>
            <a:schemeClr val="accent4"/>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20" name="TextBox 19"/>
          <p:cNvSpPr txBox="1"/>
          <p:nvPr/>
        </p:nvSpPr>
        <p:spPr>
          <a:xfrm>
            <a:off x="1544752" y="2015066"/>
            <a:ext cx="1672287" cy="584733"/>
          </a:xfrm>
          <a:prstGeom prst="rect">
            <a:avLst/>
          </a:prstGeom>
          <a:noFill/>
        </p:spPr>
        <p:txBody>
          <a:bodyPr wrap="square" lIns="91398" tIns="45699" rIns="91398" bIns="45699" rtlCol="0">
            <a:spAutoFit/>
          </a:bodyPr>
          <a:lstStyle/>
          <a:p>
            <a:pPr algn="dist"/>
            <a:r>
              <a:rPr lang="zh-CN" altLang="en-US" sz="3200" b="1" dirty="0">
                <a:solidFill>
                  <a:schemeClr val="bg1"/>
                </a:solidFill>
                <a:latin typeface="微软雅黑" panose="020B0503020204020204" pitchFamily="34" charset="-122"/>
                <a:ea typeface="微软雅黑" panose="020B0503020204020204" pitchFamily="34" charset="-122"/>
              </a:rPr>
              <a:t>优点</a:t>
            </a:r>
          </a:p>
        </p:txBody>
      </p:sp>
      <p:sp>
        <p:nvSpPr>
          <p:cNvPr id="21" name="TextBox 20"/>
          <p:cNvSpPr txBox="1"/>
          <p:nvPr/>
        </p:nvSpPr>
        <p:spPr>
          <a:xfrm>
            <a:off x="4271573" y="2045843"/>
            <a:ext cx="6406211" cy="523178"/>
          </a:xfrm>
          <a:prstGeom prst="rect">
            <a:avLst/>
          </a:prstGeom>
          <a:noFill/>
        </p:spPr>
        <p:txBody>
          <a:bodyPr wrap="square" lIns="91398" tIns="45699" rIns="91398" bIns="45699" rtlCol="0">
            <a:spAutoFit/>
          </a:bodyPr>
          <a:lstStyle/>
          <a:p>
            <a:r>
              <a:rPr lang="zh-CN" altLang="en-US" sz="2800" b="1" dirty="0">
                <a:latin typeface="微软雅黑" panose="020B0503020204020204" pitchFamily="34" charset="-122"/>
                <a:ea typeface="微软雅黑" panose="020B0503020204020204" pitchFamily="34" charset="-122"/>
              </a:rPr>
              <a:t>控制简单、实现容易；</a:t>
            </a:r>
            <a:endParaRPr lang="en-US" altLang="zh-CN" sz="2800" b="1" dirty="0">
              <a:latin typeface="微软雅黑" panose="020B0503020204020204" pitchFamily="34" charset="-122"/>
              <a:ea typeface="微软雅黑" panose="020B0503020204020204" pitchFamily="34" charset="-122"/>
            </a:endParaRPr>
          </a:p>
        </p:txBody>
      </p:sp>
      <p:sp>
        <p:nvSpPr>
          <p:cNvPr id="22" name="TextBox 21"/>
          <p:cNvSpPr txBox="1"/>
          <p:nvPr/>
        </p:nvSpPr>
        <p:spPr>
          <a:xfrm>
            <a:off x="1500067" y="4259357"/>
            <a:ext cx="1730717" cy="584733"/>
          </a:xfrm>
          <a:prstGeom prst="rect">
            <a:avLst/>
          </a:prstGeom>
          <a:noFill/>
        </p:spPr>
        <p:txBody>
          <a:bodyPr wrap="square" lIns="91398" tIns="45699" rIns="91398" bIns="45699" rtlCol="0">
            <a:spAutoFit/>
          </a:bodyPr>
          <a:lstStyle/>
          <a:p>
            <a:pPr algn="dist"/>
            <a:r>
              <a:rPr lang="zh-CN" altLang="en-US" sz="3200" b="1" dirty="0">
                <a:solidFill>
                  <a:schemeClr val="bg1"/>
                </a:solidFill>
                <a:latin typeface="微软雅黑" panose="020B0503020204020204" pitchFamily="34" charset="-122"/>
                <a:ea typeface="微软雅黑" panose="020B0503020204020204" pitchFamily="34" charset="-122"/>
              </a:rPr>
              <a:t>缺点</a:t>
            </a:r>
          </a:p>
        </p:txBody>
      </p:sp>
      <p:sp>
        <p:nvSpPr>
          <p:cNvPr id="23" name="TextBox 22"/>
          <p:cNvSpPr txBox="1"/>
          <p:nvPr/>
        </p:nvSpPr>
        <p:spPr>
          <a:xfrm>
            <a:off x="4271573" y="3574136"/>
            <a:ext cx="6406211" cy="1955173"/>
          </a:xfrm>
          <a:prstGeom prst="rect">
            <a:avLst/>
          </a:prstGeom>
          <a:noFill/>
        </p:spPr>
        <p:txBody>
          <a:bodyPr wrap="square" lIns="91398" tIns="45699" rIns="91398" bIns="45699"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对各种操作来说总线周期往往是相同的，这对于短操作（所需时间短）来说，在时间上就有些浪费。</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540581165"/>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sz="half" idx="1"/>
          </p:nvPr>
        </p:nvSpPr>
        <p:spPr>
          <a:xfrm>
            <a:off x="1032643" y="2141562"/>
            <a:ext cx="7838220" cy="5026025"/>
          </a:xfrm>
        </p:spPr>
        <p:txBody>
          <a:bodyPr/>
          <a:lstStyle/>
          <a:p>
            <a:pPr marL="0" indent="0" eaLnBrk="1" hangingPunct="1">
              <a:lnSpc>
                <a:spcPct val="150000"/>
              </a:lnSpc>
              <a:buNone/>
            </a:pPr>
            <a:r>
              <a:rPr lang="zh-CN" altLang="en-US" b="1" dirty="0">
                <a:solidFill>
                  <a:srgbClr val="FF0000"/>
                </a:solidFill>
                <a:latin typeface="微软雅黑" panose="020B0503020204020204" pitchFamily="34" charset="-122"/>
                <a:ea typeface="微软雅黑" panose="020B0503020204020204" pitchFamily="34" charset="-122"/>
              </a:rPr>
              <a:t>异步控制</a:t>
            </a:r>
            <a:r>
              <a:rPr lang="zh-CN" altLang="en-US" b="1" dirty="0">
                <a:latin typeface="微软雅黑" panose="020B0503020204020204" pitchFamily="34" charset="-122"/>
                <a:ea typeface="微软雅黑" panose="020B0503020204020204" pitchFamily="34" charset="-122"/>
              </a:rPr>
              <a:t>：在时序关系上，后一操作出现在的时刻取决于前一操作的发生，即前后操作建立在应答式基础上，各种操作的产生不需要统一的公共时钟信号。 </a:t>
            </a:r>
          </a:p>
        </p:txBody>
      </p:sp>
      <p:sp>
        <p:nvSpPr>
          <p:cNvPr id="4" name="Rectangle 5"/>
          <p:cNvSpPr>
            <a:spLocks noChangeArrowheads="1"/>
          </p:cNvSpPr>
          <p:nvPr/>
        </p:nvSpPr>
        <p:spPr bwMode="auto">
          <a:xfrm>
            <a:off x="9407075" y="2369471"/>
            <a:ext cx="2784925" cy="2528499"/>
          </a:xfrm>
          <a:prstGeom prst="rect">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9"/>
          <p:cNvSpPr>
            <a:spLocks noChangeArrowheads="1"/>
          </p:cNvSpPr>
          <p:nvPr/>
        </p:nvSpPr>
        <p:spPr bwMode="auto">
          <a:xfrm>
            <a:off x="10228006" y="3129858"/>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9"/>
          <p:cNvSpPr>
            <a:spLocks noEditPoints="1"/>
          </p:cNvSpPr>
          <p:nvPr/>
        </p:nvSpPr>
        <p:spPr bwMode="auto">
          <a:xfrm>
            <a:off x="10506148" y="3297603"/>
            <a:ext cx="680933" cy="772597"/>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3050366513"/>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sz="half" idx="1"/>
          </p:nvPr>
        </p:nvSpPr>
        <p:spPr>
          <a:xfrm>
            <a:off x="875773" y="301515"/>
            <a:ext cx="8424862" cy="647700"/>
          </a:xfrm>
        </p:spPr>
        <p:txBody>
          <a:bodyPr>
            <a:normAutofit/>
          </a:bodyPr>
          <a:lstStyle/>
          <a:p>
            <a:pPr marL="0" indent="0" eaLnBrk="1" hangingPunct="1">
              <a:buNone/>
            </a:pPr>
            <a:r>
              <a:rPr lang="zh-CN" altLang="en-US" sz="3200" b="1" dirty="0">
                <a:latin typeface="微软雅黑" panose="020B0503020204020204" pitchFamily="34" charset="-122"/>
                <a:ea typeface="微软雅黑" panose="020B0503020204020204" pitchFamily="34" charset="-122"/>
              </a:rPr>
              <a:t>一个典型的异步总线操作时序 </a:t>
            </a:r>
          </a:p>
        </p:txBody>
      </p:sp>
      <p:sp>
        <p:nvSpPr>
          <p:cNvPr id="25604" name="Rectangle 9"/>
          <p:cNvSpPr>
            <a:spLocks noChangeArrowheads="1"/>
          </p:cNvSpPr>
          <p:nvPr/>
        </p:nvSpPr>
        <p:spPr bwMode="auto">
          <a:xfrm>
            <a:off x="1524001" y="25299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endParaRPr lang="zh-CN" altLang="en-US" sz="1800">
              <a:ea typeface="宋体" panose="02010600030101010101" pitchFamily="2" charset="-122"/>
            </a:endParaRPr>
          </a:p>
        </p:txBody>
      </p:sp>
      <p:graphicFrame>
        <p:nvGraphicFramePr>
          <p:cNvPr id="25605" name="Object 8"/>
          <p:cNvGraphicFramePr>
            <a:graphicFrameLocks noChangeAspect="1"/>
          </p:cNvGraphicFramePr>
          <p:nvPr>
            <p:extLst>
              <p:ext uri="{D42A27DB-BD31-4B8C-83A1-F6EECF244321}">
                <p14:modId xmlns:p14="http://schemas.microsoft.com/office/powerpoint/2010/main" val="3150984985"/>
              </p:ext>
            </p:extLst>
          </p:nvPr>
        </p:nvGraphicFramePr>
        <p:xfrm>
          <a:off x="1524001" y="1798802"/>
          <a:ext cx="8753403" cy="4219859"/>
        </p:xfrm>
        <a:graphic>
          <a:graphicData uri="http://schemas.openxmlformats.org/presentationml/2006/ole">
            <mc:AlternateContent xmlns:mc="http://schemas.openxmlformats.org/markup-compatibility/2006">
              <mc:Choice xmlns:v="urn:schemas-microsoft-com:vml" Requires="v">
                <p:oleObj spid="_x0000_s6158" name="Visio" r:id="rId3" imgW="3547754" imgH="1487004" progId="Visio.Drawing.11">
                  <p:embed/>
                </p:oleObj>
              </mc:Choice>
              <mc:Fallback>
                <p:oleObj name="Visio" r:id="rId3" imgW="3547754" imgH="1487004" progId="Visio.Drawing.11">
                  <p:embed/>
                  <p:pic>
                    <p:nvPicPr>
                      <p:cNvPr id="25605"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1798802"/>
                        <a:ext cx="8753403" cy="4219859"/>
                      </a:xfrm>
                      <a:prstGeom prst="rect">
                        <a:avLst/>
                      </a:prstGeom>
                      <a:noFill/>
                      <a:ln>
                        <a:noFill/>
                      </a:ln>
                    </p:spPr>
                  </p:pic>
                </p:oleObj>
              </mc:Fallback>
            </mc:AlternateContent>
          </a:graphicData>
        </a:graphic>
      </p:graphicFrame>
      <p:grpSp>
        <p:nvGrpSpPr>
          <p:cNvPr id="6" name="组合 5"/>
          <p:cNvGrpSpPr/>
          <p:nvPr/>
        </p:nvGrpSpPr>
        <p:grpSpPr>
          <a:xfrm>
            <a:off x="265635" y="269251"/>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963940443"/>
      </p:ext>
    </p:extLst>
  </p:cSld>
  <p:clrMapOvr>
    <a:masterClrMapping/>
  </p:clrMapOvr>
  <mc:AlternateContent xmlns:mc="http://schemas.openxmlformats.org/markup-compatibility/2006" xmlns:p14="http://schemas.microsoft.com/office/powerpoint/2010/main">
    <mc:Choice Requires="p14">
      <p:transition spd="slow" advTm="0">
        <p14:conveyor dir="l"/>
      </p:transition>
    </mc:Choice>
    <mc:Fallback xmlns="">
      <p:transition spd="slow" advTm="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250441" y="3991122"/>
            <a:ext cx="8362950" cy="5026025"/>
          </a:xfrm>
        </p:spPr>
        <p:txBody>
          <a:bodyPr>
            <a:normAutofit/>
          </a:bodyPr>
          <a:lstStyle/>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缺点：控制复杂，需要以更多的硬件成本为代价。 </a:t>
            </a:r>
          </a:p>
        </p:txBody>
      </p:sp>
      <p:grpSp>
        <p:nvGrpSpPr>
          <p:cNvPr id="4" name="组合 3"/>
          <p:cNvGrpSpPr/>
          <p:nvPr/>
        </p:nvGrpSpPr>
        <p:grpSpPr>
          <a:xfrm>
            <a:off x="1050549" y="1505570"/>
            <a:ext cx="1304416" cy="1526579"/>
            <a:chOff x="1446900" y="2132856"/>
            <a:chExt cx="1304925" cy="1527175"/>
          </a:xfrm>
        </p:grpSpPr>
        <p:sp>
          <p:nvSpPr>
            <p:cNvPr id="5"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7" name="组合 6"/>
          <p:cNvGrpSpPr/>
          <p:nvPr/>
        </p:nvGrpSpPr>
        <p:grpSpPr>
          <a:xfrm>
            <a:off x="1050549" y="3743803"/>
            <a:ext cx="1304416" cy="1526579"/>
            <a:chOff x="4022275" y="2132856"/>
            <a:chExt cx="1304925" cy="1527175"/>
          </a:xfrm>
        </p:grpSpPr>
        <p:sp>
          <p:nvSpPr>
            <p:cNvPr id="8"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sp>
        <p:nvSpPr>
          <p:cNvPr id="2" name="矩形 1"/>
          <p:cNvSpPr/>
          <p:nvPr/>
        </p:nvSpPr>
        <p:spPr>
          <a:xfrm>
            <a:off x="3250441" y="1665118"/>
            <a:ext cx="8213678" cy="1384995"/>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优点：总线周期长度可变，这对于快速和慢速的操作来讲都能做到高效；</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7290018"/>
      </p:ext>
    </p:extLst>
  </p:cSld>
  <p:clrMapOvr>
    <a:masterClrMapping/>
  </p:clrMapOvr>
  <mc:AlternateContent xmlns:mc="http://schemas.openxmlformats.org/markup-compatibility/2006" xmlns:p14="http://schemas.microsoft.com/office/powerpoint/2010/main">
    <mc:Choice Requires="p14">
      <p:transition spd="slow" advTm="9222">
        <p14:conveyor dir="l"/>
      </p:transition>
    </mc:Choice>
    <mc:Fallback xmlns="">
      <p:transition spd="slow" advTm="9222">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txBox="1">
            <a:spLocks noChangeArrowheads="1"/>
          </p:cNvSpPr>
          <p:nvPr/>
        </p:nvSpPr>
        <p:spPr bwMode="auto">
          <a:xfrm>
            <a:off x="4098285" y="2541722"/>
            <a:ext cx="4678532"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6000" b="1" dirty="0">
                <a:solidFill>
                  <a:schemeClr val="bg1"/>
                </a:solidFill>
                <a:latin typeface="微软雅黑" panose="020B0503020204020204" pitchFamily="34" charset="-122"/>
                <a:ea typeface="微软雅黑" panose="020B0503020204020204" pitchFamily="34" charset="-122"/>
              </a:rPr>
              <a:t>谢 谢！</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6"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7"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1"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2"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5"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6"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7"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749643526"/>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307</TotalTime>
  <Words>900</Words>
  <Application>Microsoft Office PowerPoint</Application>
  <PresentationFormat>宽屏</PresentationFormat>
  <Paragraphs>93</Paragraphs>
  <Slides>24</Slides>
  <Notes>11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2" baseType="lpstr">
      <vt:lpstr>宋体</vt:lpstr>
      <vt:lpstr>微软雅黑</vt:lpstr>
      <vt:lpstr>Arial</vt:lpstr>
      <vt:lpstr>Calibri</vt:lpstr>
      <vt:lpstr>Calibri Light</vt:lpstr>
      <vt:lpstr>Wingdings</vt:lpstr>
      <vt:lpstr>第一PPT，www.1ppt.com</vt:lpstr>
      <vt:lpstr>Visio</vt:lpstr>
      <vt:lpstr>PowerPoint 演示文稿</vt:lpstr>
      <vt:lpstr>互连结构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文光</cp:lastModifiedBy>
  <cp:revision>39</cp:revision>
  <dcterms:created xsi:type="dcterms:W3CDTF">2016-06-01T05:10:04Z</dcterms:created>
  <dcterms:modified xsi:type="dcterms:W3CDTF">2017-05-26T05:45:52Z</dcterms:modified>
</cp:coreProperties>
</file>