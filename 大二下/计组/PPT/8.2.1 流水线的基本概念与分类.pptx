
<file path=[Content_Types].xml><?xml version="1.0" encoding="utf-8"?>
<Types xmlns="http://schemas.openxmlformats.org/package/2006/content-types">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89" r:id="rId2"/>
    <p:sldId id="300" r:id="rId3"/>
    <p:sldId id="301" r:id="rId4"/>
    <p:sldId id="302" r:id="rId5"/>
    <p:sldId id="294" r:id="rId6"/>
    <p:sldId id="295" r:id="rId7"/>
    <p:sldId id="296" r:id="rId8"/>
    <p:sldId id="297" r:id="rId9"/>
    <p:sldId id="298" r:id="rId10"/>
    <p:sldId id="299" r:id="rId11"/>
    <p:sldId id="290"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2B9E7"/>
    <a:srgbClr val="01C0B0"/>
    <a:srgbClr val="04B0BE"/>
    <a:srgbClr val="04BE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0775" autoAdjust="0"/>
    <p:restoredTop sz="94660"/>
  </p:normalViewPr>
  <p:slideViewPr>
    <p:cSldViewPr snapToGrid="0" showGuides="1">
      <p:cViewPr varScale="1">
        <p:scale>
          <a:sx n="54" d="100"/>
          <a:sy n="54" d="100"/>
        </p:scale>
        <p:origin x="36" y="36"/>
      </p:cViewPr>
      <p:guideLst>
        <p:guide orient="horz" pos="2160"/>
        <p:guide pos="3840"/>
      </p:guideLst>
    </p:cSldViewPr>
  </p:slideViewPr>
  <p:notesTextViewPr>
    <p:cViewPr>
      <p:scale>
        <a:sx n="1" d="1"/>
        <a:sy n="1" d="1"/>
      </p:scale>
      <p:origin x="0" y="0"/>
    </p:cViewPr>
  </p:notesTextViewPr>
  <p:sorterViewPr>
    <p:cViewPr>
      <p:scale>
        <a:sx n="60" d="100"/>
        <a:sy n="60" d="100"/>
      </p:scale>
      <p:origin x="0" y="0"/>
    </p:cViewPr>
  </p:sorterViewPr>
  <p:notesViewPr>
    <p:cSldViewPr snapToGrid="0" showGuides="1">
      <p:cViewPr varScale="1">
        <p:scale>
          <a:sx n="57" d="100"/>
          <a:sy n="57" d="100"/>
        </p:scale>
        <p:origin x="2808" y="3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0E8A95-114D-4BB9-A729-058920B2735F}" type="datetimeFigureOut">
              <a:rPr lang="zh-CN" altLang="en-US" smtClean="0"/>
              <a:t>2017/6/5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D8029B-87F6-42DD-8185-B8A2A8D30728}" type="slidenum">
              <a:rPr lang="zh-CN" altLang="en-US" smtClean="0"/>
              <a:t>‹#›</a:t>
            </a:fld>
            <a:endParaRPr lang="zh-CN" altLang="en-US"/>
          </a:p>
        </p:txBody>
      </p:sp>
    </p:spTree>
    <p:extLst>
      <p:ext uri="{BB962C8B-B14F-4D97-AF65-F5344CB8AC3E}">
        <p14:creationId xmlns:p14="http://schemas.microsoft.com/office/powerpoint/2010/main" val="2923389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6D8029B-87F6-42DD-8185-B8A2A8D30728}" type="slidenum">
              <a:rPr lang="zh-CN" altLang="en-US" smtClean="0"/>
              <a:t>1</a:t>
            </a:fld>
            <a:endParaRPr lang="zh-CN" altLang="en-US"/>
          </a:p>
        </p:txBody>
      </p:sp>
    </p:spTree>
    <p:extLst>
      <p:ext uri="{BB962C8B-B14F-4D97-AF65-F5344CB8AC3E}">
        <p14:creationId xmlns:p14="http://schemas.microsoft.com/office/powerpoint/2010/main" val="16142554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2</a:t>
            </a:fld>
            <a:endParaRPr lang="en-US">
              <a:solidFill>
                <a:prstClr val="black"/>
              </a:solidFill>
            </a:endParaRPr>
          </a:p>
        </p:txBody>
      </p:sp>
    </p:spTree>
    <p:extLst>
      <p:ext uri="{BB962C8B-B14F-4D97-AF65-F5344CB8AC3E}">
        <p14:creationId xmlns:p14="http://schemas.microsoft.com/office/powerpoint/2010/main" val="4229721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3</a:t>
            </a:fld>
            <a:endParaRPr lang="en-US">
              <a:solidFill>
                <a:prstClr val="black"/>
              </a:solidFill>
            </a:endParaRPr>
          </a:p>
        </p:txBody>
      </p:sp>
    </p:spTree>
    <p:extLst>
      <p:ext uri="{BB962C8B-B14F-4D97-AF65-F5344CB8AC3E}">
        <p14:creationId xmlns:p14="http://schemas.microsoft.com/office/powerpoint/2010/main" val="17162427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4</a:t>
            </a:fld>
            <a:endParaRPr lang="en-US">
              <a:solidFill>
                <a:prstClr val="black"/>
              </a:solidFill>
            </a:endParaRPr>
          </a:p>
        </p:txBody>
      </p:sp>
    </p:spTree>
    <p:extLst>
      <p:ext uri="{BB962C8B-B14F-4D97-AF65-F5344CB8AC3E}">
        <p14:creationId xmlns:p14="http://schemas.microsoft.com/office/powerpoint/2010/main" val="24547215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6D8029B-87F6-42DD-8185-B8A2A8D30728}" type="slidenum">
              <a:rPr lang="zh-CN" altLang="en-US" smtClean="0"/>
              <a:t>11</a:t>
            </a:fld>
            <a:endParaRPr lang="zh-CN" altLang="en-US"/>
          </a:p>
        </p:txBody>
      </p:sp>
    </p:spTree>
    <p:extLst>
      <p:ext uri="{BB962C8B-B14F-4D97-AF65-F5344CB8AC3E}">
        <p14:creationId xmlns:p14="http://schemas.microsoft.com/office/powerpoint/2010/main" val="27909714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2017/6/5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2953354890"/>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2017/6/5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33343571"/>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2017/6/5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3018862345"/>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CAAD024-C6D2-498C-B6F9-0F94E70CC562}" type="datetimeFigureOut">
              <a:rPr lang="zh-CN" altLang="en-US" smtClean="0"/>
              <a:t>2017/6/5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3676858996"/>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CAAD024-C6D2-498C-B6F9-0F94E70CC562}" type="datetimeFigureOut">
              <a:rPr lang="zh-CN" altLang="en-US" smtClean="0"/>
              <a:t>2017/6/5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277365401"/>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CAAD024-C6D2-498C-B6F9-0F94E70CC562}" type="datetimeFigureOut">
              <a:rPr lang="zh-CN" altLang="en-US" smtClean="0"/>
              <a:t>2017/6/5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3739278484"/>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CAAD024-C6D2-498C-B6F9-0F94E70CC562}" type="datetimeFigureOut">
              <a:rPr lang="zh-CN" altLang="en-US" smtClean="0"/>
              <a:t>2017/6/5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473886793"/>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CAAD024-C6D2-498C-B6F9-0F94E70CC562}" type="datetimeFigureOut">
              <a:rPr lang="zh-CN" altLang="en-US" smtClean="0"/>
              <a:t>2017/6/5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383394598"/>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CAAD024-C6D2-498C-B6F9-0F94E70CC562}" type="datetimeFigureOut">
              <a:rPr lang="zh-CN" altLang="en-US" smtClean="0"/>
              <a:t>2017/6/5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2827041094"/>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2017/6/5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3303071220"/>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2017/6/5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104753532"/>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AAD024-C6D2-498C-B6F9-0F94E70CC562}" type="datetimeFigureOut">
              <a:rPr lang="zh-CN" altLang="en-US" smtClean="0"/>
              <a:t>2017/6/5</a:t>
            </a:fld>
            <a:endParaRPr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720530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emf"/></Relationships>
</file>

<file path=ppt/slides/_rels/slide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75328" y="2340487"/>
            <a:ext cx="7982008" cy="1698614"/>
          </a:xfrm>
          <a:prstGeom prst="rect">
            <a:avLst/>
          </a:prstGeom>
          <a:solidFill>
            <a:srgbClr val="02B9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7"/>
          <p:cNvSpPr>
            <a:spLocks/>
          </p:cNvSpPr>
          <p:nvPr/>
        </p:nvSpPr>
        <p:spPr bwMode="auto">
          <a:xfrm>
            <a:off x="10799813" y="5496958"/>
            <a:ext cx="1079283" cy="1080463"/>
          </a:xfrm>
          <a:custGeom>
            <a:avLst/>
            <a:gdLst>
              <a:gd name="T0" fmla="*/ 2199 w 2504"/>
              <a:gd name="T1" fmla="*/ 0 h 2504"/>
              <a:gd name="T2" fmla="*/ 2504 w 2504"/>
              <a:gd name="T3" fmla="*/ 0 h 2504"/>
              <a:gd name="T4" fmla="*/ 2504 w 2504"/>
              <a:gd name="T5" fmla="*/ 2504 h 2504"/>
              <a:gd name="T6" fmla="*/ 0 w 2504"/>
              <a:gd name="T7" fmla="*/ 2504 h 2504"/>
              <a:gd name="T8" fmla="*/ 0 w 2504"/>
              <a:gd name="T9" fmla="*/ 2199 h 2504"/>
              <a:gd name="T10" fmla="*/ 1970 w 2504"/>
              <a:gd name="T11" fmla="*/ 2199 h 2504"/>
              <a:gd name="T12" fmla="*/ 87 w 2504"/>
              <a:gd name="T13" fmla="*/ 315 h 2504"/>
              <a:gd name="T14" fmla="*/ 303 w 2504"/>
              <a:gd name="T15" fmla="*/ 99 h 2504"/>
              <a:gd name="T16" fmla="*/ 2199 w 2504"/>
              <a:gd name="T17" fmla="*/ 1996 h 2504"/>
              <a:gd name="T18" fmla="*/ 2199 w 2504"/>
              <a:gd name="T19" fmla="*/ 0 h 2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04" h="2504">
                <a:moveTo>
                  <a:pt x="2199" y="0"/>
                </a:moveTo>
                <a:lnTo>
                  <a:pt x="2504" y="0"/>
                </a:lnTo>
                <a:lnTo>
                  <a:pt x="2504" y="2504"/>
                </a:lnTo>
                <a:lnTo>
                  <a:pt x="0" y="2504"/>
                </a:lnTo>
                <a:lnTo>
                  <a:pt x="0" y="2199"/>
                </a:lnTo>
                <a:lnTo>
                  <a:pt x="1970" y="2199"/>
                </a:lnTo>
                <a:lnTo>
                  <a:pt x="87" y="315"/>
                </a:lnTo>
                <a:lnTo>
                  <a:pt x="303" y="99"/>
                </a:lnTo>
                <a:lnTo>
                  <a:pt x="2199" y="1996"/>
                </a:lnTo>
                <a:lnTo>
                  <a:pt x="2199" y="0"/>
                </a:lnTo>
                <a:close/>
              </a:path>
            </a:pathLst>
          </a:custGeom>
          <a:solidFill>
            <a:schemeClr val="bg1">
              <a:lumMod val="75000"/>
            </a:schemeClr>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6" name="Rectangle 3"/>
          <p:cNvSpPr txBox="1">
            <a:spLocks noChangeArrowheads="1"/>
          </p:cNvSpPr>
          <p:nvPr/>
        </p:nvSpPr>
        <p:spPr bwMode="auto">
          <a:xfrm>
            <a:off x="2150452" y="2541722"/>
            <a:ext cx="8406995" cy="1296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ctr" anchorCtr="0" compatLnSpc="1">
            <a:prstTxWarp prst="textNoShape">
              <a:avLst/>
            </a:prstTxWarp>
          </a:bodyPr>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itchFamily="34" charset="0"/>
                <a:ea typeface="微软雅黑" pitchFamily="34" charset="-122"/>
              </a:defRPr>
            </a:lvl2pPr>
            <a:lvl3pPr algn="l" rtl="0" fontAlgn="base">
              <a:spcBef>
                <a:spcPct val="0"/>
              </a:spcBef>
              <a:spcAft>
                <a:spcPct val="0"/>
              </a:spcAft>
              <a:defRPr sz="2400">
                <a:solidFill>
                  <a:schemeClr val="tx2"/>
                </a:solidFill>
                <a:latin typeface="Arial" pitchFamily="34" charset="0"/>
                <a:ea typeface="微软雅黑" pitchFamily="34" charset="-122"/>
              </a:defRPr>
            </a:lvl3pPr>
            <a:lvl4pPr algn="l" rtl="0" fontAlgn="base">
              <a:spcBef>
                <a:spcPct val="0"/>
              </a:spcBef>
              <a:spcAft>
                <a:spcPct val="0"/>
              </a:spcAft>
              <a:defRPr sz="2400">
                <a:solidFill>
                  <a:schemeClr val="tx2"/>
                </a:solidFill>
                <a:latin typeface="Arial" pitchFamily="34" charset="0"/>
                <a:ea typeface="微软雅黑" pitchFamily="34" charset="-122"/>
              </a:defRPr>
            </a:lvl4pPr>
            <a:lvl5pPr algn="l" rtl="0" fontAlgn="base">
              <a:spcBef>
                <a:spcPct val="0"/>
              </a:spcBef>
              <a:spcAft>
                <a:spcPct val="0"/>
              </a:spcAft>
              <a:defRPr sz="2400">
                <a:solidFill>
                  <a:schemeClr val="tx2"/>
                </a:solidFill>
                <a:latin typeface="Arial" pitchFamily="34" charset="0"/>
                <a:ea typeface="微软雅黑" pitchFamily="34" charset="-122"/>
              </a:defRPr>
            </a:lvl5pPr>
            <a:lvl6pPr marL="457200" algn="l" rtl="0" fontAlgn="base">
              <a:spcBef>
                <a:spcPct val="0"/>
              </a:spcBef>
              <a:spcAft>
                <a:spcPct val="0"/>
              </a:spcAft>
              <a:defRPr sz="2400">
                <a:solidFill>
                  <a:schemeClr val="tx2"/>
                </a:solidFill>
                <a:latin typeface="Arial" pitchFamily="34" charset="0"/>
                <a:ea typeface="微软雅黑" pitchFamily="34" charset="-122"/>
              </a:defRPr>
            </a:lvl6pPr>
            <a:lvl7pPr marL="914400" algn="l" rtl="0" fontAlgn="base">
              <a:spcBef>
                <a:spcPct val="0"/>
              </a:spcBef>
              <a:spcAft>
                <a:spcPct val="0"/>
              </a:spcAft>
              <a:defRPr sz="2400">
                <a:solidFill>
                  <a:schemeClr val="tx2"/>
                </a:solidFill>
                <a:latin typeface="Arial" pitchFamily="34" charset="0"/>
                <a:ea typeface="微软雅黑" pitchFamily="34" charset="-122"/>
              </a:defRPr>
            </a:lvl7pPr>
            <a:lvl8pPr marL="1371600" algn="l" rtl="0" fontAlgn="base">
              <a:spcBef>
                <a:spcPct val="0"/>
              </a:spcBef>
              <a:spcAft>
                <a:spcPct val="0"/>
              </a:spcAft>
              <a:defRPr sz="2400">
                <a:solidFill>
                  <a:schemeClr val="tx2"/>
                </a:solidFill>
                <a:latin typeface="Arial" pitchFamily="34" charset="0"/>
                <a:ea typeface="微软雅黑" pitchFamily="34" charset="-122"/>
              </a:defRPr>
            </a:lvl8pPr>
            <a:lvl9pPr marL="1828800" algn="l" rtl="0" fontAlgn="base">
              <a:spcBef>
                <a:spcPct val="0"/>
              </a:spcBef>
              <a:spcAft>
                <a:spcPct val="0"/>
              </a:spcAft>
              <a:defRPr sz="2400">
                <a:solidFill>
                  <a:schemeClr val="tx2"/>
                </a:solidFill>
                <a:latin typeface="Arial" pitchFamily="34" charset="0"/>
                <a:ea typeface="微软雅黑" pitchFamily="34" charset="-122"/>
              </a:defRPr>
            </a:lvl9pPr>
          </a:lstStyle>
          <a:p>
            <a:r>
              <a:rPr lang="zh-CN" altLang="en-US" sz="6000" b="1" dirty="0">
                <a:solidFill>
                  <a:schemeClr val="bg1"/>
                </a:solidFill>
                <a:latin typeface="微软雅黑" panose="020B0503020204020204" pitchFamily="34" charset="-122"/>
                <a:ea typeface="微软雅黑" panose="020B0503020204020204" pitchFamily="34" charset="-122"/>
              </a:rPr>
              <a:t>流水线基本概念和分类</a:t>
            </a:r>
            <a:endParaRPr lang="en-US" altLang="zh-CN" sz="6000" b="1" dirty="0">
              <a:solidFill>
                <a:schemeClr val="bg1"/>
              </a:solidFill>
              <a:latin typeface="微软雅黑" panose="020B0503020204020204" pitchFamily="34" charset="-122"/>
              <a:ea typeface="微软雅黑" panose="020B0503020204020204" pitchFamily="34" charset="-122"/>
            </a:endParaRPr>
          </a:p>
        </p:txBody>
      </p:sp>
      <p:sp>
        <p:nvSpPr>
          <p:cNvPr id="7" name="Rectangle 6"/>
          <p:cNvSpPr>
            <a:spLocks noChangeArrowheads="1"/>
          </p:cNvSpPr>
          <p:nvPr/>
        </p:nvSpPr>
        <p:spPr bwMode="auto">
          <a:xfrm>
            <a:off x="6353950" y="5153618"/>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8" name="Rectangle 7"/>
          <p:cNvSpPr>
            <a:spLocks noChangeArrowheads="1"/>
          </p:cNvSpPr>
          <p:nvPr/>
        </p:nvSpPr>
        <p:spPr bwMode="auto">
          <a:xfrm>
            <a:off x="7620664" y="5153618"/>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9" name="Rectangle 8"/>
          <p:cNvSpPr>
            <a:spLocks noChangeArrowheads="1"/>
          </p:cNvSpPr>
          <p:nvPr/>
        </p:nvSpPr>
        <p:spPr bwMode="auto">
          <a:xfrm>
            <a:off x="8885806" y="5153618"/>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0" name="Rectangle 9"/>
          <p:cNvSpPr>
            <a:spLocks noChangeArrowheads="1"/>
          </p:cNvSpPr>
          <p:nvPr/>
        </p:nvSpPr>
        <p:spPr bwMode="auto">
          <a:xfrm>
            <a:off x="10152517" y="5153618"/>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2" name="Freeform 9"/>
          <p:cNvSpPr>
            <a:spLocks noEditPoints="1"/>
          </p:cNvSpPr>
          <p:nvPr/>
        </p:nvSpPr>
        <p:spPr bwMode="auto">
          <a:xfrm>
            <a:off x="10057335" y="4692974"/>
            <a:ext cx="373115" cy="374683"/>
          </a:xfrm>
          <a:custGeom>
            <a:avLst/>
            <a:gdLst>
              <a:gd name="T0" fmla="*/ 358 w 490"/>
              <a:gd name="T1" fmla="*/ 250 h 490"/>
              <a:gd name="T2" fmla="*/ 358 w 490"/>
              <a:gd name="T3" fmla="*/ 183 h 490"/>
              <a:gd name="T4" fmla="*/ 328 w 490"/>
              <a:gd name="T5" fmla="*/ 183 h 490"/>
              <a:gd name="T6" fmla="*/ 328 w 490"/>
              <a:gd name="T7" fmla="*/ 250 h 490"/>
              <a:gd name="T8" fmla="*/ 247 w 490"/>
              <a:gd name="T9" fmla="*/ 330 h 490"/>
              <a:gd name="T10" fmla="*/ 246 w 490"/>
              <a:gd name="T11" fmla="*/ 330 h 490"/>
              <a:gd name="T12" fmla="*/ 245 w 490"/>
              <a:gd name="T13" fmla="*/ 330 h 490"/>
              <a:gd name="T14" fmla="*/ 245 w 490"/>
              <a:gd name="T15" fmla="*/ 330 h 490"/>
              <a:gd name="T16" fmla="*/ 243 w 490"/>
              <a:gd name="T17" fmla="*/ 330 h 490"/>
              <a:gd name="T18" fmla="*/ 162 w 490"/>
              <a:gd name="T19" fmla="*/ 250 h 490"/>
              <a:gd name="T20" fmla="*/ 162 w 490"/>
              <a:gd name="T21" fmla="*/ 183 h 490"/>
              <a:gd name="T22" fmla="*/ 132 w 490"/>
              <a:gd name="T23" fmla="*/ 183 h 490"/>
              <a:gd name="T24" fmla="*/ 132 w 490"/>
              <a:gd name="T25" fmla="*/ 250 h 490"/>
              <a:gd name="T26" fmla="*/ 227 w 490"/>
              <a:gd name="T27" fmla="*/ 359 h 490"/>
              <a:gd name="T28" fmla="*/ 227 w 490"/>
              <a:gd name="T29" fmla="*/ 407 h 490"/>
              <a:gd name="T30" fmla="*/ 160 w 490"/>
              <a:gd name="T31" fmla="*/ 426 h 490"/>
              <a:gd name="T32" fmla="*/ 331 w 490"/>
              <a:gd name="T33" fmla="*/ 426 h 490"/>
              <a:gd name="T34" fmla="*/ 263 w 490"/>
              <a:gd name="T35" fmla="*/ 407 h 490"/>
              <a:gd name="T36" fmla="*/ 263 w 490"/>
              <a:gd name="T37" fmla="*/ 360 h 490"/>
              <a:gd name="T38" fmla="*/ 358 w 490"/>
              <a:gd name="T39" fmla="*/ 250 h 490"/>
              <a:gd name="T40" fmla="*/ 244 w 490"/>
              <a:gd name="T41" fmla="*/ 302 h 490"/>
              <a:gd name="T42" fmla="*/ 245 w 490"/>
              <a:gd name="T43" fmla="*/ 302 h 490"/>
              <a:gd name="T44" fmla="*/ 246 w 490"/>
              <a:gd name="T45" fmla="*/ 302 h 490"/>
              <a:gd name="T46" fmla="*/ 300 w 490"/>
              <a:gd name="T47" fmla="*/ 248 h 490"/>
              <a:gd name="T48" fmla="*/ 300 w 490"/>
              <a:gd name="T49" fmla="*/ 118 h 490"/>
              <a:gd name="T50" fmla="*/ 246 w 490"/>
              <a:gd name="T51" fmla="*/ 64 h 490"/>
              <a:gd name="T52" fmla="*/ 245 w 490"/>
              <a:gd name="T53" fmla="*/ 64 h 490"/>
              <a:gd name="T54" fmla="*/ 244 w 490"/>
              <a:gd name="T55" fmla="*/ 64 h 490"/>
              <a:gd name="T56" fmla="*/ 190 w 490"/>
              <a:gd name="T57" fmla="*/ 118 h 490"/>
              <a:gd name="T58" fmla="*/ 190 w 490"/>
              <a:gd name="T59" fmla="*/ 248 h 490"/>
              <a:gd name="T60" fmla="*/ 244 w 490"/>
              <a:gd name="T61" fmla="*/ 302 h 490"/>
              <a:gd name="T62" fmla="*/ 245 w 490"/>
              <a:gd name="T63" fmla="*/ 0 h 490"/>
              <a:gd name="T64" fmla="*/ 490 w 490"/>
              <a:gd name="T65" fmla="*/ 245 h 490"/>
              <a:gd name="T66" fmla="*/ 245 w 490"/>
              <a:gd name="T67" fmla="*/ 490 h 490"/>
              <a:gd name="T68" fmla="*/ 0 w 490"/>
              <a:gd name="T69" fmla="*/ 245 h 490"/>
              <a:gd name="T70" fmla="*/ 245 w 490"/>
              <a:gd name="T71" fmla="*/ 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90" h="490">
                <a:moveTo>
                  <a:pt x="358" y="250"/>
                </a:moveTo>
                <a:lnTo>
                  <a:pt x="358" y="183"/>
                </a:lnTo>
                <a:cubicBezTo>
                  <a:pt x="358" y="165"/>
                  <a:pt x="328" y="164"/>
                  <a:pt x="328" y="183"/>
                </a:cubicBezTo>
                <a:lnTo>
                  <a:pt x="328" y="250"/>
                </a:lnTo>
                <a:cubicBezTo>
                  <a:pt x="328" y="294"/>
                  <a:pt x="292" y="330"/>
                  <a:pt x="247" y="330"/>
                </a:cubicBezTo>
                <a:cubicBezTo>
                  <a:pt x="247" y="330"/>
                  <a:pt x="246" y="330"/>
                  <a:pt x="246" y="330"/>
                </a:cubicBezTo>
                <a:lnTo>
                  <a:pt x="245" y="330"/>
                </a:lnTo>
                <a:lnTo>
                  <a:pt x="245" y="330"/>
                </a:lnTo>
                <a:cubicBezTo>
                  <a:pt x="244" y="330"/>
                  <a:pt x="244" y="330"/>
                  <a:pt x="243" y="330"/>
                </a:cubicBezTo>
                <a:cubicBezTo>
                  <a:pt x="198" y="330"/>
                  <a:pt x="162" y="294"/>
                  <a:pt x="162" y="250"/>
                </a:cubicBezTo>
                <a:lnTo>
                  <a:pt x="162" y="183"/>
                </a:lnTo>
                <a:cubicBezTo>
                  <a:pt x="162" y="165"/>
                  <a:pt x="132" y="164"/>
                  <a:pt x="132" y="183"/>
                </a:cubicBezTo>
                <a:cubicBezTo>
                  <a:pt x="132" y="192"/>
                  <a:pt x="132" y="250"/>
                  <a:pt x="132" y="250"/>
                </a:cubicBezTo>
                <a:cubicBezTo>
                  <a:pt x="132" y="306"/>
                  <a:pt x="173" y="352"/>
                  <a:pt x="227" y="359"/>
                </a:cubicBezTo>
                <a:lnTo>
                  <a:pt x="227" y="407"/>
                </a:lnTo>
                <a:lnTo>
                  <a:pt x="160" y="426"/>
                </a:lnTo>
                <a:lnTo>
                  <a:pt x="331" y="426"/>
                </a:lnTo>
                <a:lnTo>
                  <a:pt x="263" y="407"/>
                </a:lnTo>
                <a:lnTo>
                  <a:pt x="263" y="360"/>
                </a:lnTo>
                <a:cubicBezTo>
                  <a:pt x="317" y="352"/>
                  <a:pt x="358" y="306"/>
                  <a:pt x="358" y="250"/>
                </a:cubicBezTo>
                <a:close/>
                <a:moveTo>
                  <a:pt x="244" y="302"/>
                </a:moveTo>
                <a:cubicBezTo>
                  <a:pt x="244" y="302"/>
                  <a:pt x="245" y="302"/>
                  <a:pt x="245" y="302"/>
                </a:cubicBezTo>
                <a:cubicBezTo>
                  <a:pt x="245" y="302"/>
                  <a:pt x="246" y="302"/>
                  <a:pt x="246" y="302"/>
                </a:cubicBezTo>
                <a:cubicBezTo>
                  <a:pt x="276" y="302"/>
                  <a:pt x="300" y="278"/>
                  <a:pt x="300" y="248"/>
                </a:cubicBezTo>
                <a:lnTo>
                  <a:pt x="300" y="118"/>
                </a:lnTo>
                <a:cubicBezTo>
                  <a:pt x="300" y="88"/>
                  <a:pt x="276" y="64"/>
                  <a:pt x="246" y="64"/>
                </a:cubicBezTo>
                <a:cubicBezTo>
                  <a:pt x="246" y="64"/>
                  <a:pt x="245" y="64"/>
                  <a:pt x="245" y="64"/>
                </a:cubicBezTo>
                <a:cubicBezTo>
                  <a:pt x="245" y="64"/>
                  <a:pt x="244" y="64"/>
                  <a:pt x="244" y="64"/>
                </a:cubicBezTo>
                <a:cubicBezTo>
                  <a:pt x="214" y="64"/>
                  <a:pt x="190" y="88"/>
                  <a:pt x="190" y="118"/>
                </a:cubicBezTo>
                <a:lnTo>
                  <a:pt x="190" y="248"/>
                </a:lnTo>
                <a:cubicBezTo>
                  <a:pt x="190" y="278"/>
                  <a:pt x="214" y="302"/>
                  <a:pt x="244" y="302"/>
                </a:cubicBezTo>
                <a:close/>
                <a:moveTo>
                  <a:pt x="245" y="0"/>
                </a:moveTo>
                <a:cubicBezTo>
                  <a:pt x="381" y="0"/>
                  <a:pt x="490" y="110"/>
                  <a:pt x="490" y="245"/>
                </a:cubicBezTo>
                <a:cubicBezTo>
                  <a:pt x="490" y="381"/>
                  <a:pt x="381" y="490"/>
                  <a:pt x="245" y="490"/>
                </a:cubicBezTo>
                <a:cubicBezTo>
                  <a:pt x="110" y="490"/>
                  <a:pt x="0" y="381"/>
                  <a:pt x="0" y="245"/>
                </a:cubicBezTo>
                <a:cubicBezTo>
                  <a:pt x="0" y="110"/>
                  <a:pt x="110" y="0"/>
                  <a:pt x="245" y="0"/>
                </a:cubicBez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484849"/>
              </a:solidFill>
            </a:endParaRPr>
          </a:p>
        </p:txBody>
      </p:sp>
      <p:sp>
        <p:nvSpPr>
          <p:cNvPr id="13" name="Rectangle 4"/>
          <p:cNvSpPr txBox="1">
            <a:spLocks noChangeArrowheads="1"/>
          </p:cNvSpPr>
          <p:nvPr/>
        </p:nvSpPr>
        <p:spPr bwMode="auto">
          <a:xfrm>
            <a:off x="10466453" y="4703232"/>
            <a:ext cx="1899476" cy="3539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4" tIns="45717" rIns="91434" bIns="45717" rtlCol="0">
            <a:spAutoFit/>
          </a:bodyPr>
          <a:lstStyle>
            <a:defPPr>
              <a:defRPr lang="zh-CN"/>
            </a:defPPr>
            <a:lvl1pPr>
              <a:defRPr sz="2400" b="1">
                <a:latin typeface="+mj-ea"/>
                <a:ea typeface="+mj-ea"/>
              </a:defRPr>
            </a:lvl1pPr>
          </a:lstStyle>
          <a:p>
            <a:r>
              <a:rPr lang="zh-CN" altLang="en-US" sz="1700" dirty="0">
                <a:solidFill>
                  <a:schemeClr val="bg1"/>
                </a:solidFill>
              </a:rPr>
              <a:t>汇报人：代用名</a:t>
            </a:r>
          </a:p>
        </p:txBody>
      </p:sp>
      <p:sp>
        <p:nvSpPr>
          <p:cNvPr id="14" name="Freeform 10"/>
          <p:cNvSpPr>
            <a:spLocks noChangeAspect="1" noEditPoints="1"/>
          </p:cNvSpPr>
          <p:nvPr/>
        </p:nvSpPr>
        <p:spPr bwMode="auto">
          <a:xfrm>
            <a:off x="6417691" y="4693112"/>
            <a:ext cx="372836" cy="374400"/>
          </a:xfrm>
          <a:custGeom>
            <a:avLst/>
            <a:gdLst>
              <a:gd name="T0" fmla="*/ 245 w 490"/>
              <a:gd name="T1" fmla="*/ 0 h 490"/>
              <a:gd name="T2" fmla="*/ 490 w 490"/>
              <a:gd name="T3" fmla="*/ 245 h 490"/>
              <a:gd name="T4" fmla="*/ 245 w 490"/>
              <a:gd name="T5" fmla="*/ 490 h 490"/>
              <a:gd name="T6" fmla="*/ 0 w 490"/>
              <a:gd name="T7" fmla="*/ 245 h 490"/>
              <a:gd name="T8" fmla="*/ 245 w 490"/>
              <a:gd name="T9" fmla="*/ 0 h 490"/>
              <a:gd name="T10" fmla="*/ 436 w 490"/>
              <a:gd name="T11" fmla="*/ 250 h 490"/>
              <a:gd name="T12" fmla="*/ 427 w 490"/>
              <a:gd name="T13" fmla="*/ 256 h 490"/>
              <a:gd name="T14" fmla="*/ 394 w 490"/>
              <a:gd name="T15" fmla="*/ 256 h 490"/>
              <a:gd name="T16" fmla="*/ 386 w 490"/>
              <a:gd name="T17" fmla="*/ 253 h 490"/>
              <a:gd name="T18" fmla="*/ 245 w 490"/>
              <a:gd name="T19" fmla="*/ 105 h 490"/>
              <a:gd name="T20" fmla="*/ 104 w 490"/>
              <a:gd name="T21" fmla="*/ 253 h 490"/>
              <a:gd name="T22" fmla="*/ 96 w 490"/>
              <a:gd name="T23" fmla="*/ 256 h 490"/>
              <a:gd name="T24" fmla="*/ 63 w 490"/>
              <a:gd name="T25" fmla="*/ 256 h 490"/>
              <a:gd name="T26" fmla="*/ 54 w 490"/>
              <a:gd name="T27" fmla="*/ 250 h 490"/>
              <a:gd name="T28" fmla="*/ 56 w 490"/>
              <a:gd name="T29" fmla="*/ 239 h 490"/>
              <a:gd name="T30" fmla="*/ 236 w 490"/>
              <a:gd name="T31" fmla="*/ 52 h 490"/>
              <a:gd name="T32" fmla="*/ 245 w 490"/>
              <a:gd name="T33" fmla="*/ 48 h 490"/>
              <a:gd name="T34" fmla="*/ 254 w 490"/>
              <a:gd name="T35" fmla="*/ 52 h 490"/>
              <a:gd name="T36" fmla="*/ 434 w 490"/>
              <a:gd name="T37" fmla="*/ 239 h 490"/>
              <a:gd name="T38" fmla="*/ 436 w 490"/>
              <a:gd name="T39" fmla="*/ 250 h 490"/>
              <a:gd name="T40" fmla="*/ 113 w 490"/>
              <a:gd name="T41" fmla="*/ 267 h 490"/>
              <a:gd name="T42" fmla="*/ 113 w 490"/>
              <a:gd name="T43" fmla="*/ 267 h 490"/>
              <a:gd name="T44" fmla="*/ 113 w 490"/>
              <a:gd name="T45" fmla="*/ 379 h 490"/>
              <a:gd name="T46" fmla="*/ 129 w 490"/>
              <a:gd name="T47" fmla="*/ 398 h 490"/>
              <a:gd name="T48" fmla="*/ 202 w 490"/>
              <a:gd name="T49" fmla="*/ 398 h 490"/>
              <a:gd name="T50" fmla="*/ 202 w 490"/>
              <a:gd name="T51" fmla="*/ 276 h 490"/>
              <a:gd name="T52" fmla="*/ 221 w 490"/>
              <a:gd name="T53" fmla="*/ 257 h 490"/>
              <a:gd name="T54" fmla="*/ 269 w 490"/>
              <a:gd name="T55" fmla="*/ 257 h 490"/>
              <a:gd name="T56" fmla="*/ 288 w 490"/>
              <a:gd name="T57" fmla="*/ 276 h 490"/>
              <a:gd name="T58" fmla="*/ 288 w 490"/>
              <a:gd name="T59" fmla="*/ 398 h 490"/>
              <a:gd name="T60" fmla="*/ 361 w 490"/>
              <a:gd name="T61" fmla="*/ 398 h 490"/>
              <a:gd name="T62" fmla="*/ 377 w 490"/>
              <a:gd name="T63" fmla="*/ 379 h 490"/>
              <a:gd name="T64" fmla="*/ 377 w 490"/>
              <a:gd name="T65" fmla="*/ 268 h 490"/>
              <a:gd name="T66" fmla="*/ 245 w 490"/>
              <a:gd name="T67" fmla="*/ 130 h 490"/>
              <a:gd name="T68" fmla="*/ 113 w 490"/>
              <a:gd name="T69" fmla="*/ 267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0" h="490">
                <a:moveTo>
                  <a:pt x="245" y="0"/>
                </a:moveTo>
                <a:cubicBezTo>
                  <a:pt x="380" y="0"/>
                  <a:pt x="490" y="110"/>
                  <a:pt x="490" y="245"/>
                </a:cubicBezTo>
                <a:cubicBezTo>
                  <a:pt x="490" y="381"/>
                  <a:pt x="380" y="490"/>
                  <a:pt x="245" y="490"/>
                </a:cubicBezTo>
                <a:cubicBezTo>
                  <a:pt x="110" y="490"/>
                  <a:pt x="0" y="381"/>
                  <a:pt x="0" y="245"/>
                </a:cubicBezTo>
                <a:cubicBezTo>
                  <a:pt x="0" y="110"/>
                  <a:pt x="110" y="0"/>
                  <a:pt x="245" y="0"/>
                </a:cubicBezTo>
                <a:close/>
                <a:moveTo>
                  <a:pt x="436" y="250"/>
                </a:moveTo>
                <a:cubicBezTo>
                  <a:pt x="435" y="254"/>
                  <a:pt x="431" y="256"/>
                  <a:pt x="427" y="256"/>
                </a:cubicBezTo>
                <a:lnTo>
                  <a:pt x="394" y="256"/>
                </a:lnTo>
                <a:cubicBezTo>
                  <a:pt x="391" y="256"/>
                  <a:pt x="388" y="255"/>
                  <a:pt x="386" y="253"/>
                </a:cubicBezTo>
                <a:lnTo>
                  <a:pt x="245" y="105"/>
                </a:lnTo>
                <a:lnTo>
                  <a:pt x="104" y="253"/>
                </a:lnTo>
                <a:cubicBezTo>
                  <a:pt x="102" y="255"/>
                  <a:pt x="99" y="256"/>
                  <a:pt x="96" y="256"/>
                </a:cubicBezTo>
                <a:lnTo>
                  <a:pt x="63" y="256"/>
                </a:lnTo>
                <a:cubicBezTo>
                  <a:pt x="59" y="256"/>
                  <a:pt x="55" y="254"/>
                  <a:pt x="54" y="250"/>
                </a:cubicBezTo>
                <a:cubicBezTo>
                  <a:pt x="52" y="246"/>
                  <a:pt x="53" y="242"/>
                  <a:pt x="56" y="239"/>
                </a:cubicBezTo>
                <a:lnTo>
                  <a:pt x="236" y="52"/>
                </a:lnTo>
                <a:cubicBezTo>
                  <a:pt x="238" y="49"/>
                  <a:pt x="242" y="48"/>
                  <a:pt x="245" y="48"/>
                </a:cubicBezTo>
                <a:cubicBezTo>
                  <a:pt x="248" y="48"/>
                  <a:pt x="252" y="49"/>
                  <a:pt x="254" y="52"/>
                </a:cubicBezTo>
                <a:lnTo>
                  <a:pt x="434" y="239"/>
                </a:lnTo>
                <a:cubicBezTo>
                  <a:pt x="437" y="242"/>
                  <a:pt x="438" y="246"/>
                  <a:pt x="436" y="250"/>
                </a:cubicBezTo>
                <a:close/>
                <a:moveTo>
                  <a:pt x="113" y="267"/>
                </a:moveTo>
                <a:lnTo>
                  <a:pt x="113" y="267"/>
                </a:lnTo>
                <a:lnTo>
                  <a:pt x="113" y="379"/>
                </a:lnTo>
                <a:cubicBezTo>
                  <a:pt x="113" y="389"/>
                  <a:pt x="120" y="398"/>
                  <a:pt x="129" y="398"/>
                </a:cubicBezTo>
                <a:lnTo>
                  <a:pt x="202" y="398"/>
                </a:lnTo>
                <a:lnTo>
                  <a:pt x="202" y="276"/>
                </a:lnTo>
                <a:cubicBezTo>
                  <a:pt x="202" y="266"/>
                  <a:pt x="211" y="257"/>
                  <a:pt x="221" y="257"/>
                </a:cubicBezTo>
                <a:lnTo>
                  <a:pt x="269" y="257"/>
                </a:lnTo>
                <a:cubicBezTo>
                  <a:pt x="279" y="257"/>
                  <a:pt x="288" y="266"/>
                  <a:pt x="288" y="276"/>
                </a:cubicBezTo>
                <a:lnTo>
                  <a:pt x="288" y="398"/>
                </a:lnTo>
                <a:lnTo>
                  <a:pt x="361" y="398"/>
                </a:lnTo>
                <a:cubicBezTo>
                  <a:pt x="370" y="398"/>
                  <a:pt x="377" y="389"/>
                  <a:pt x="377" y="379"/>
                </a:cubicBezTo>
                <a:lnTo>
                  <a:pt x="377" y="268"/>
                </a:lnTo>
                <a:lnTo>
                  <a:pt x="245" y="130"/>
                </a:lnTo>
                <a:lnTo>
                  <a:pt x="113" y="267"/>
                </a:ln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grpSp>
        <p:nvGrpSpPr>
          <p:cNvPr id="15" name="组合 14"/>
          <p:cNvGrpSpPr/>
          <p:nvPr/>
        </p:nvGrpSpPr>
        <p:grpSpPr>
          <a:xfrm>
            <a:off x="262818" y="198604"/>
            <a:ext cx="473877" cy="484825"/>
            <a:chOff x="702608" y="-1899592"/>
            <a:chExt cx="1054013" cy="1078364"/>
          </a:xfrm>
        </p:grpSpPr>
        <p:sp>
          <p:nvSpPr>
            <p:cNvPr id="16" name="Oval 5"/>
            <p:cNvSpPr>
              <a:spLocks noChangeArrowheads="1"/>
            </p:cNvSpPr>
            <p:nvPr/>
          </p:nvSpPr>
          <p:spPr bwMode="auto">
            <a:xfrm>
              <a:off x="702608" y="-1899592"/>
              <a:ext cx="1054013" cy="1078364"/>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9"/>
            <p:cNvSpPr>
              <a:spLocks noEditPoints="1"/>
            </p:cNvSpPr>
            <p:nvPr/>
          </p:nvSpPr>
          <p:spPr bwMode="auto">
            <a:xfrm>
              <a:off x="904366" y="-1555211"/>
              <a:ext cx="650496" cy="445260"/>
            </a:xfrm>
            <a:custGeom>
              <a:avLst/>
              <a:gdLst>
                <a:gd name="T0" fmla="*/ 380 w 394"/>
                <a:gd name="T1" fmla="*/ 19 h 263"/>
                <a:gd name="T2" fmla="*/ 380 w 394"/>
                <a:gd name="T3" fmla="*/ 216 h 263"/>
                <a:gd name="T4" fmla="*/ 374 w 394"/>
                <a:gd name="T5" fmla="*/ 216 h 263"/>
                <a:gd name="T6" fmla="*/ 362 w 394"/>
                <a:gd name="T7" fmla="*/ 215 h 263"/>
                <a:gd name="T8" fmla="*/ 199 w 394"/>
                <a:gd name="T9" fmla="*/ 256 h 263"/>
                <a:gd name="T10" fmla="*/ 197 w 394"/>
                <a:gd name="T11" fmla="*/ 257 h 263"/>
                <a:gd name="T12" fmla="*/ 195 w 394"/>
                <a:gd name="T13" fmla="*/ 256 h 263"/>
                <a:gd name="T14" fmla="*/ 33 w 394"/>
                <a:gd name="T15" fmla="*/ 215 h 263"/>
                <a:gd name="T16" fmla="*/ 20 w 394"/>
                <a:gd name="T17" fmla="*/ 216 h 263"/>
                <a:gd name="T18" fmla="*/ 14 w 394"/>
                <a:gd name="T19" fmla="*/ 216 h 263"/>
                <a:gd name="T20" fmla="*/ 14 w 394"/>
                <a:gd name="T21" fmla="*/ 19 h 263"/>
                <a:gd name="T22" fmla="*/ 0 w 394"/>
                <a:gd name="T23" fmla="*/ 19 h 263"/>
                <a:gd name="T24" fmla="*/ 0 w 394"/>
                <a:gd name="T25" fmla="*/ 223 h 263"/>
                <a:gd name="T26" fmla="*/ 197 w 394"/>
                <a:gd name="T27" fmla="*/ 263 h 263"/>
                <a:gd name="T28" fmla="*/ 394 w 394"/>
                <a:gd name="T29" fmla="*/ 223 h 263"/>
                <a:gd name="T30" fmla="*/ 394 w 394"/>
                <a:gd name="T31" fmla="*/ 19 h 263"/>
                <a:gd name="T32" fmla="*/ 380 w 394"/>
                <a:gd name="T33" fmla="*/ 19 h 263"/>
                <a:gd name="T34" fmla="*/ 191 w 394"/>
                <a:gd name="T35" fmla="*/ 223 h 263"/>
                <a:gd name="T36" fmla="*/ 191 w 394"/>
                <a:gd name="T37" fmla="*/ 44 h 263"/>
                <a:gd name="T38" fmla="*/ 54 w 394"/>
                <a:gd name="T39" fmla="*/ 2 h 263"/>
                <a:gd name="T40" fmla="*/ 54 w 394"/>
                <a:gd name="T41" fmla="*/ 188 h 263"/>
                <a:gd name="T42" fmla="*/ 59 w 394"/>
                <a:gd name="T43" fmla="*/ 188 h 263"/>
                <a:gd name="T44" fmla="*/ 191 w 394"/>
                <a:gd name="T45" fmla="*/ 223 h 263"/>
                <a:gd name="T46" fmla="*/ 340 w 394"/>
                <a:gd name="T47" fmla="*/ 188 h 263"/>
                <a:gd name="T48" fmla="*/ 340 w 394"/>
                <a:gd name="T49" fmla="*/ 2 h 263"/>
                <a:gd name="T50" fmla="*/ 204 w 394"/>
                <a:gd name="T51" fmla="*/ 44 h 263"/>
                <a:gd name="T52" fmla="*/ 204 w 394"/>
                <a:gd name="T53" fmla="*/ 223 h 263"/>
                <a:gd name="T54" fmla="*/ 335 w 394"/>
                <a:gd name="T55" fmla="*/ 188 h 263"/>
                <a:gd name="T56" fmla="*/ 340 w 394"/>
                <a:gd name="T57" fmla="*/ 188 h 263"/>
                <a:gd name="T58" fmla="*/ 197 w 394"/>
                <a:gd name="T59" fmla="*/ 252 h 263"/>
                <a:gd name="T60" fmla="*/ 371 w 394"/>
                <a:gd name="T61" fmla="*/ 211 h 263"/>
                <a:gd name="T62" fmla="*/ 371 w 394"/>
                <a:gd name="T63" fmla="*/ 4 h 263"/>
                <a:gd name="T64" fmla="*/ 350 w 394"/>
                <a:gd name="T65" fmla="*/ 4 h 263"/>
                <a:gd name="T66" fmla="*/ 350 w 394"/>
                <a:gd name="T67" fmla="*/ 198 h 263"/>
                <a:gd name="T68" fmla="*/ 344 w 394"/>
                <a:gd name="T69" fmla="*/ 197 h 263"/>
                <a:gd name="T70" fmla="*/ 334 w 394"/>
                <a:gd name="T71" fmla="*/ 197 h 263"/>
                <a:gd name="T72" fmla="*/ 201 w 394"/>
                <a:gd name="T73" fmla="*/ 235 h 263"/>
                <a:gd name="T74" fmla="*/ 197 w 394"/>
                <a:gd name="T75" fmla="*/ 237 h 263"/>
                <a:gd name="T76" fmla="*/ 194 w 394"/>
                <a:gd name="T77" fmla="*/ 235 h 263"/>
                <a:gd name="T78" fmla="*/ 60 w 394"/>
                <a:gd name="T79" fmla="*/ 197 h 263"/>
                <a:gd name="T80" fmla="*/ 50 w 394"/>
                <a:gd name="T81" fmla="*/ 197 h 263"/>
                <a:gd name="T82" fmla="*/ 45 w 394"/>
                <a:gd name="T83" fmla="*/ 198 h 263"/>
                <a:gd name="T84" fmla="*/ 45 w 394"/>
                <a:gd name="T85" fmla="*/ 4 h 263"/>
                <a:gd name="T86" fmla="*/ 24 w 394"/>
                <a:gd name="T87" fmla="*/ 4 h 263"/>
                <a:gd name="T88" fmla="*/ 24 w 394"/>
                <a:gd name="T89" fmla="*/ 211 h 263"/>
                <a:gd name="T90" fmla="*/ 197 w 394"/>
                <a:gd name="T91" fmla="*/ 25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4" h="263">
                  <a:moveTo>
                    <a:pt x="380" y="19"/>
                  </a:moveTo>
                  <a:lnTo>
                    <a:pt x="380" y="216"/>
                  </a:lnTo>
                  <a:lnTo>
                    <a:pt x="374" y="216"/>
                  </a:lnTo>
                  <a:cubicBezTo>
                    <a:pt x="370" y="215"/>
                    <a:pt x="366" y="215"/>
                    <a:pt x="362" y="215"/>
                  </a:cubicBezTo>
                  <a:cubicBezTo>
                    <a:pt x="307" y="215"/>
                    <a:pt x="250" y="230"/>
                    <a:pt x="199" y="256"/>
                  </a:cubicBezTo>
                  <a:lnTo>
                    <a:pt x="197" y="257"/>
                  </a:lnTo>
                  <a:lnTo>
                    <a:pt x="195" y="256"/>
                  </a:lnTo>
                  <a:cubicBezTo>
                    <a:pt x="145" y="230"/>
                    <a:pt x="87" y="215"/>
                    <a:pt x="33" y="215"/>
                  </a:cubicBezTo>
                  <a:cubicBezTo>
                    <a:pt x="28" y="215"/>
                    <a:pt x="24" y="215"/>
                    <a:pt x="20" y="216"/>
                  </a:cubicBezTo>
                  <a:lnTo>
                    <a:pt x="14" y="216"/>
                  </a:lnTo>
                  <a:lnTo>
                    <a:pt x="14" y="19"/>
                  </a:lnTo>
                  <a:cubicBezTo>
                    <a:pt x="10" y="19"/>
                    <a:pt x="5" y="19"/>
                    <a:pt x="0" y="19"/>
                  </a:cubicBezTo>
                  <a:lnTo>
                    <a:pt x="0" y="223"/>
                  </a:lnTo>
                  <a:cubicBezTo>
                    <a:pt x="66" y="222"/>
                    <a:pt x="136" y="236"/>
                    <a:pt x="197" y="263"/>
                  </a:cubicBezTo>
                  <a:cubicBezTo>
                    <a:pt x="259" y="236"/>
                    <a:pt x="328" y="222"/>
                    <a:pt x="394" y="223"/>
                  </a:cubicBezTo>
                  <a:lnTo>
                    <a:pt x="394" y="19"/>
                  </a:lnTo>
                  <a:cubicBezTo>
                    <a:pt x="389" y="19"/>
                    <a:pt x="385" y="19"/>
                    <a:pt x="380" y="19"/>
                  </a:cubicBezTo>
                  <a:close/>
                  <a:moveTo>
                    <a:pt x="191" y="223"/>
                  </a:moveTo>
                  <a:lnTo>
                    <a:pt x="191" y="44"/>
                  </a:lnTo>
                  <a:cubicBezTo>
                    <a:pt x="148" y="16"/>
                    <a:pt x="100" y="0"/>
                    <a:pt x="54" y="2"/>
                  </a:cubicBezTo>
                  <a:lnTo>
                    <a:pt x="54" y="188"/>
                  </a:lnTo>
                  <a:cubicBezTo>
                    <a:pt x="56" y="188"/>
                    <a:pt x="58" y="188"/>
                    <a:pt x="59" y="188"/>
                  </a:cubicBezTo>
                  <a:cubicBezTo>
                    <a:pt x="103" y="188"/>
                    <a:pt x="150" y="200"/>
                    <a:pt x="191" y="223"/>
                  </a:cubicBezTo>
                  <a:close/>
                  <a:moveTo>
                    <a:pt x="340" y="188"/>
                  </a:moveTo>
                  <a:lnTo>
                    <a:pt x="340" y="2"/>
                  </a:lnTo>
                  <a:cubicBezTo>
                    <a:pt x="295" y="0"/>
                    <a:pt x="246" y="16"/>
                    <a:pt x="204" y="44"/>
                  </a:cubicBezTo>
                  <a:lnTo>
                    <a:pt x="204" y="223"/>
                  </a:lnTo>
                  <a:cubicBezTo>
                    <a:pt x="245" y="200"/>
                    <a:pt x="291" y="188"/>
                    <a:pt x="335" y="188"/>
                  </a:cubicBezTo>
                  <a:cubicBezTo>
                    <a:pt x="337" y="188"/>
                    <a:pt x="339" y="188"/>
                    <a:pt x="340" y="188"/>
                  </a:cubicBezTo>
                  <a:close/>
                  <a:moveTo>
                    <a:pt x="197" y="252"/>
                  </a:moveTo>
                  <a:cubicBezTo>
                    <a:pt x="253" y="222"/>
                    <a:pt x="315" y="209"/>
                    <a:pt x="371" y="211"/>
                  </a:cubicBezTo>
                  <a:lnTo>
                    <a:pt x="371" y="4"/>
                  </a:lnTo>
                  <a:cubicBezTo>
                    <a:pt x="364" y="4"/>
                    <a:pt x="357" y="4"/>
                    <a:pt x="350" y="4"/>
                  </a:cubicBezTo>
                  <a:lnTo>
                    <a:pt x="350" y="198"/>
                  </a:lnTo>
                  <a:lnTo>
                    <a:pt x="344" y="197"/>
                  </a:lnTo>
                  <a:cubicBezTo>
                    <a:pt x="341" y="197"/>
                    <a:pt x="337" y="197"/>
                    <a:pt x="334" y="197"/>
                  </a:cubicBezTo>
                  <a:cubicBezTo>
                    <a:pt x="289" y="197"/>
                    <a:pt x="242" y="211"/>
                    <a:pt x="201" y="235"/>
                  </a:cubicBezTo>
                  <a:lnTo>
                    <a:pt x="197" y="237"/>
                  </a:lnTo>
                  <a:lnTo>
                    <a:pt x="194" y="235"/>
                  </a:lnTo>
                  <a:cubicBezTo>
                    <a:pt x="153" y="211"/>
                    <a:pt x="105" y="197"/>
                    <a:pt x="60" y="197"/>
                  </a:cubicBezTo>
                  <a:cubicBezTo>
                    <a:pt x="57" y="197"/>
                    <a:pt x="54" y="197"/>
                    <a:pt x="50" y="197"/>
                  </a:cubicBezTo>
                  <a:lnTo>
                    <a:pt x="45" y="198"/>
                  </a:lnTo>
                  <a:lnTo>
                    <a:pt x="45" y="4"/>
                  </a:lnTo>
                  <a:cubicBezTo>
                    <a:pt x="38" y="4"/>
                    <a:pt x="31" y="4"/>
                    <a:pt x="24" y="4"/>
                  </a:cubicBezTo>
                  <a:lnTo>
                    <a:pt x="24" y="211"/>
                  </a:lnTo>
                  <a:cubicBezTo>
                    <a:pt x="79" y="209"/>
                    <a:pt x="142" y="222"/>
                    <a:pt x="197" y="25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8" name="组合 17"/>
          <p:cNvGrpSpPr/>
          <p:nvPr/>
        </p:nvGrpSpPr>
        <p:grpSpPr>
          <a:xfrm>
            <a:off x="868029" y="198604"/>
            <a:ext cx="472312" cy="484825"/>
            <a:chOff x="2014036" y="-1899592"/>
            <a:chExt cx="1050534" cy="1078364"/>
          </a:xfrm>
        </p:grpSpPr>
        <p:sp>
          <p:nvSpPr>
            <p:cNvPr id="19" name="Oval 6"/>
            <p:cNvSpPr>
              <a:spLocks noChangeArrowheads="1"/>
            </p:cNvSpPr>
            <p:nvPr/>
          </p:nvSpPr>
          <p:spPr bwMode="auto">
            <a:xfrm>
              <a:off x="2014036" y="-1899592"/>
              <a:ext cx="1050534" cy="1078364"/>
            </a:xfrm>
            <a:prstGeom prst="ellipse">
              <a:avLst/>
            </a:pr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10"/>
            <p:cNvSpPr>
              <a:spLocks noEditPoints="1"/>
            </p:cNvSpPr>
            <p:nvPr/>
          </p:nvSpPr>
          <p:spPr bwMode="auto">
            <a:xfrm>
              <a:off x="2313195" y="-1670005"/>
              <a:ext cx="553096" cy="640061"/>
            </a:xfrm>
            <a:custGeom>
              <a:avLst/>
              <a:gdLst>
                <a:gd name="T0" fmla="*/ 214 w 336"/>
                <a:gd name="T1" fmla="*/ 48 h 380"/>
                <a:gd name="T2" fmla="*/ 167 w 336"/>
                <a:gd name="T3" fmla="*/ 95 h 380"/>
                <a:gd name="T4" fmla="*/ 119 w 336"/>
                <a:gd name="T5" fmla="*/ 95 h 380"/>
                <a:gd name="T6" fmla="*/ 72 w 336"/>
                <a:gd name="T7" fmla="*/ 48 h 380"/>
                <a:gd name="T8" fmla="*/ 119 w 336"/>
                <a:gd name="T9" fmla="*/ 0 h 380"/>
                <a:gd name="T10" fmla="*/ 167 w 336"/>
                <a:gd name="T11" fmla="*/ 0 h 380"/>
                <a:gd name="T12" fmla="*/ 214 w 336"/>
                <a:gd name="T13" fmla="*/ 48 h 380"/>
                <a:gd name="T14" fmla="*/ 237 w 336"/>
                <a:gd name="T15" fmla="*/ 48 h 380"/>
                <a:gd name="T16" fmla="*/ 238 w 336"/>
                <a:gd name="T17" fmla="*/ 59 h 380"/>
                <a:gd name="T18" fmla="*/ 179 w 336"/>
                <a:gd name="T19" fmla="*/ 118 h 380"/>
                <a:gd name="T20" fmla="*/ 107 w 336"/>
                <a:gd name="T21" fmla="*/ 118 h 380"/>
                <a:gd name="T22" fmla="*/ 48 w 336"/>
                <a:gd name="T23" fmla="*/ 59 h 380"/>
                <a:gd name="T24" fmla="*/ 49 w 336"/>
                <a:gd name="T25" fmla="*/ 48 h 380"/>
                <a:gd name="T26" fmla="*/ 0 w 336"/>
                <a:gd name="T27" fmla="*/ 106 h 380"/>
                <a:gd name="T28" fmla="*/ 0 w 336"/>
                <a:gd name="T29" fmla="*/ 320 h 380"/>
                <a:gd name="T30" fmla="*/ 60 w 336"/>
                <a:gd name="T31" fmla="*/ 380 h 380"/>
                <a:gd name="T32" fmla="*/ 218 w 336"/>
                <a:gd name="T33" fmla="*/ 380 h 380"/>
                <a:gd name="T34" fmla="*/ 153 w 336"/>
                <a:gd name="T35" fmla="*/ 282 h 380"/>
                <a:gd name="T36" fmla="*/ 260 w 336"/>
                <a:gd name="T37" fmla="*/ 176 h 380"/>
                <a:gd name="T38" fmla="*/ 286 w 336"/>
                <a:gd name="T39" fmla="*/ 179 h 380"/>
                <a:gd name="T40" fmla="*/ 286 w 336"/>
                <a:gd name="T41" fmla="*/ 106 h 380"/>
                <a:gd name="T42" fmla="*/ 237 w 336"/>
                <a:gd name="T43" fmla="*/ 48 h 380"/>
                <a:gd name="T44" fmla="*/ 134 w 336"/>
                <a:gd name="T45" fmla="*/ 238 h 380"/>
                <a:gd name="T46" fmla="*/ 134 w 336"/>
                <a:gd name="T47" fmla="*/ 238 h 380"/>
                <a:gd name="T48" fmla="*/ 60 w 336"/>
                <a:gd name="T49" fmla="*/ 238 h 380"/>
                <a:gd name="T50" fmla="*/ 48 w 336"/>
                <a:gd name="T51" fmla="*/ 226 h 380"/>
                <a:gd name="T52" fmla="*/ 60 w 336"/>
                <a:gd name="T53" fmla="*/ 214 h 380"/>
                <a:gd name="T54" fmla="*/ 134 w 336"/>
                <a:gd name="T55" fmla="*/ 214 h 380"/>
                <a:gd name="T56" fmla="*/ 146 w 336"/>
                <a:gd name="T57" fmla="*/ 226 h 380"/>
                <a:gd name="T58" fmla="*/ 134 w 336"/>
                <a:gd name="T59" fmla="*/ 238 h 380"/>
                <a:gd name="T60" fmla="*/ 158 w 336"/>
                <a:gd name="T61" fmla="*/ 190 h 380"/>
                <a:gd name="T62" fmla="*/ 158 w 336"/>
                <a:gd name="T63" fmla="*/ 190 h 380"/>
                <a:gd name="T64" fmla="*/ 60 w 336"/>
                <a:gd name="T65" fmla="*/ 190 h 380"/>
                <a:gd name="T66" fmla="*/ 48 w 336"/>
                <a:gd name="T67" fmla="*/ 178 h 380"/>
                <a:gd name="T68" fmla="*/ 60 w 336"/>
                <a:gd name="T69" fmla="*/ 167 h 380"/>
                <a:gd name="T70" fmla="*/ 158 w 336"/>
                <a:gd name="T71" fmla="*/ 167 h 380"/>
                <a:gd name="T72" fmla="*/ 170 w 336"/>
                <a:gd name="T73" fmla="*/ 178 h 380"/>
                <a:gd name="T74" fmla="*/ 158 w 336"/>
                <a:gd name="T75" fmla="*/ 190 h 380"/>
                <a:gd name="T76" fmla="*/ 279 w 336"/>
                <a:gd name="T77" fmla="*/ 208 h 380"/>
                <a:gd name="T78" fmla="*/ 260 w 336"/>
                <a:gd name="T79" fmla="*/ 206 h 380"/>
                <a:gd name="T80" fmla="*/ 184 w 336"/>
                <a:gd name="T81" fmla="*/ 281 h 380"/>
                <a:gd name="T82" fmla="*/ 244 w 336"/>
                <a:gd name="T83" fmla="*/ 356 h 380"/>
                <a:gd name="T84" fmla="*/ 260 w 336"/>
                <a:gd name="T85" fmla="*/ 357 h 380"/>
                <a:gd name="T86" fmla="*/ 336 w 336"/>
                <a:gd name="T87" fmla="*/ 281 h 380"/>
                <a:gd name="T88" fmla="*/ 279 w 336"/>
                <a:gd name="T89" fmla="*/ 208 h 380"/>
                <a:gd name="T90" fmla="*/ 303 w 336"/>
                <a:gd name="T91" fmla="*/ 271 h 380"/>
                <a:gd name="T92" fmla="*/ 303 w 336"/>
                <a:gd name="T93" fmla="*/ 271 h 380"/>
                <a:gd name="T94" fmla="*/ 279 w 336"/>
                <a:gd name="T95" fmla="*/ 295 h 380"/>
                <a:gd name="T96" fmla="*/ 260 w 336"/>
                <a:gd name="T97" fmla="*/ 314 h 380"/>
                <a:gd name="T98" fmla="*/ 239 w 336"/>
                <a:gd name="T99" fmla="*/ 314 h 380"/>
                <a:gd name="T100" fmla="*/ 217 w 336"/>
                <a:gd name="T101" fmla="*/ 292 h 380"/>
                <a:gd name="T102" fmla="*/ 217 w 336"/>
                <a:gd name="T103" fmla="*/ 271 h 380"/>
                <a:gd name="T104" fmla="*/ 239 w 336"/>
                <a:gd name="T105" fmla="*/ 271 h 380"/>
                <a:gd name="T106" fmla="*/ 250 w 336"/>
                <a:gd name="T107" fmla="*/ 281 h 380"/>
                <a:gd name="T108" fmla="*/ 279 w 336"/>
                <a:gd name="T109" fmla="*/ 252 h 380"/>
                <a:gd name="T110" fmla="*/ 282 w 336"/>
                <a:gd name="T111" fmla="*/ 249 h 380"/>
                <a:gd name="T112" fmla="*/ 303 w 336"/>
                <a:gd name="T113" fmla="*/ 249 h 380"/>
                <a:gd name="T114" fmla="*/ 303 w 336"/>
                <a:gd name="T115" fmla="*/ 271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36" h="380">
                  <a:moveTo>
                    <a:pt x="214" y="48"/>
                  </a:moveTo>
                  <a:cubicBezTo>
                    <a:pt x="214" y="74"/>
                    <a:pt x="193" y="95"/>
                    <a:pt x="167" y="95"/>
                  </a:cubicBezTo>
                  <a:lnTo>
                    <a:pt x="119" y="95"/>
                  </a:lnTo>
                  <a:cubicBezTo>
                    <a:pt x="93" y="95"/>
                    <a:pt x="72" y="74"/>
                    <a:pt x="72" y="48"/>
                  </a:cubicBezTo>
                  <a:cubicBezTo>
                    <a:pt x="72" y="21"/>
                    <a:pt x="93" y="0"/>
                    <a:pt x="119" y="0"/>
                  </a:cubicBezTo>
                  <a:lnTo>
                    <a:pt x="167" y="0"/>
                  </a:lnTo>
                  <a:cubicBezTo>
                    <a:pt x="193" y="0"/>
                    <a:pt x="214" y="21"/>
                    <a:pt x="214" y="48"/>
                  </a:cubicBezTo>
                  <a:close/>
                  <a:moveTo>
                    <a:pt x="237" y="48"/>
                  </a:moveTo>
                  <a:cubicBezTo>
                    <a:pt x="238" y="51"/>
                    <a:pt x="238" y="55"/>
                    <a:pt x="238" y="59"/>
                  </a:cubicBezTo>
                  <a:cubicBezTo>
                    <a:pt x="238" y="91"/>
                    <a:pt x="211" y="118"/>
                    <a:pt x="179" y="118"/>
                  </a:cubicBezTo>
                  <a:lnTo>
                    <a:pt x="107" y="118"/>
                  </a:lnTo>
                  <a:cubicBezTo>
                    <a:pt x="74" y="118"/>
                    <a:pt x="48" y="91"/>
                    <a:pt x="48" y="59"/>
                  </a:cubicBezTo>
                  <a:cubicBezTo>
                    <a:pt x="48" y="55"/>
                    <a:pt x="48" y="51"/>
                    <a:pt x="49" y="48"/>
                  </a:cubicBezTo>
                  <a:cubicBezTo>
                    <a:pt x="21" y="53"/>
                    <a:pt x="0" y="77"/>
                    <a:pt x="0" y="106"/>
                  </a:cubicBezTo>
                  <a:lnTo>
                    <a:pt x="0" y="320"/>
                  </a:lnTo>
                  <a:cubicBezTo>
                    <a:pt x="0" y="353"/>
                    <a:pt x="27" y="380"/>
                    <a:pt x="60" y="380"/>
                  </a:cubicBezTo>
                  <a:lnTo>
                    <a:pt x="218" y="380"/>
                  </a:lnTo>
                  <a:cubicBezTo>
                    <a:pt x="180" y="363"/>
                    <a:pt x="153" y="326"/>
                    <a:pt x="153" y="282"/>
                  </a:cubicBezTo>
                  <a:cubicBezTo>
                    <a:pt x="153" y="223"/>
                    <a:pt x="201" y="176"/>
                    <a:pt x="260" y="176"/>
                  </a:cubicBezTo>
                  <a:cubicBezTo>
                    <a:pt x="269" y="176"/>
                    <a:pt x="277" y="177"/>
                    <a:pt x="286" y="179"/>
                  </a:cubicBezTo>
                  <a:lnTo>
                    <a:pt x="286" y="106"/>
                  </a:lnTo>
                  <a:cubicBezTo>
                    <a:pt x="286" y="77"/>
                    <a:pt x="265" y="53"/>
                    <a:pt x="237" y="48"/>
                  </a:cubicBezTo>
                  <a:close/>
                  <a:moveTo>
                    <a:pt x="134" y="238"/>
                  </a:moveTo>
                  <a:lnTo>
                    <a:pt x="134" y="238"/>
                  </a:lnTo>
                  <a:lnTo>
                    <a:pt x="60" y="238"/>
                  </a:lnTo>
                  <a:cubicBezTo>
                    <a:pt x="53" y="238"/>
                    <a:pt x="48" y="233"/>
                    <a:pt x="48" y="226"/>
                  </a:cubicBezTo>
                  <a:cubicBezTo>
                    <a:pt x="48" y="219"/>
                    <a:pt x="53" y="214"/>
                    <a:pt x="60" y="214"/>
                  </a:cubicBezTo>
                  <a:lnTo>
                    <a:pt x="134" y="214"/>
                  </a:lnTo>
                  <a:cubicBezTo>
                    <a:pt x="141" y="214"/>
                    <a:pt x="146" y="219"/>
                    <a:pt x="146" y="226"/>
                  </a:cubicBezTo>
                  <a:cubicBezTo>
                    <a:pt x="146" y="233"/>
                    <a:pt x="141" y="238"/>
                    <a:pt x="134" y="238"/>
                  </a:cubicBezTo>
                  <a:close/>
                  <a:moveTo>
                    <a:pt x="158" y="190"/>
                  </a:moveTo>
                  <a:lnTo>
                    <a:pt x="158" y="190"/>
                  </a:lnTo>
                  <a:lnTo>
                    <a:pt x="60" y="190"/>
                  </a:lnTo>
                  <a:cubicBezTo>
                    <a:pt x="53" y="190"/>
                    <a:pt x="48" y="185"/>
                    <a:pt x="48" y="178"/>
                  </a:cubicBezTo>
                  <a:cubicBezTo>
                    <a:pt x="48" y="172"/>
                    <a:pt x="53" y="167"/>
                    <a:pt x="60" y="167"/>
                  </a:cubicBezTo>
                  <a:lnTo>
                    <a:pt x="158" y="167"/>
                  </a:lnTo>
                  <a:cubicBezTo>
                    <a:pt x="164" y="167"/>
                    <a:pt x="170" y="172"/>
                    <a:pt x="170" y="178"/>
                  </a:cubicBezTo>
                  <a:cubicBezTo>
                    <a:pt x="170" y="185"/>
                    <a:pt x="164" y="190"/>
                    <a:pt x="158" y="190"/>
                  </a:cubicBezTo>
                  <a:close/>
                  <a:moveTo>
                    <a:pt x="279" y="208"/>
                  </a:moveTo>
                  <a:cubicBezTo>
                    <a:pt x="273" y="207"/>
                    <a:pt x="267" y="206"/>
                    <a:pt x="260" y="206"/>
                  </a:cubicBezTo>
                  <a:cubicBezTo>
                    <a:pt x="218" y="206"/>
                    <a:pt x="184" y="240"/>
                    <a:pt x="184" y="281"/>
                  </a:cubicBezTo>
                  <a:cubicBezTo>
                    <a:pt x="184" y="318"/>
                    <a:pt x="210" y="348"/>
                    <a:pt x="244" y="356"/>
                  </a:cubicBezTo>
                  <a:cubicBezTo>
                    <a:pt x="249" y="357"/>
                    <a:pt x="255" y="357"/>
                    <a:pt x="260" y="357"/>
                  </a:cubicBezTo>
                  <a:cubicBezTo>
                    <a:pt x="302" y="357"/>
                    <a:pt x="336" y="323"/>
                    <a:pt x="336" y="281"/>
                  </a:cubicBezTo>
                  <a:cubicBezTo>
                    <a:pt x="336" y="246"/>
                    <a:pt x="312" y="216"/>
                    <a:pt x="279" y="208"/>
                  </a:cubicBezTo>
                  <a:close/>
                  <a:moveTo>
                    <a:pt x="303" y="271"/>
                  </a:moveTo>
                  <a:lnTo>
                    <a:pt x="303" y="271"/>
                  </a:lnTo>
                  <a:lnTo>
                    <a:pt x="279" y="295"/>
                  </a:lnTo>
                  <a:lnTo>
                    <a:pt x="260" y="314"/>
                  </a:lnTo>
                  <a:cubicBezTo>
                    <a:pt x="254" y="320"/>
                    <a:pt x="245" y="320"/>
                    <a:pt x="239" y="314"/>
                  </a:cubicBezTo>
                  <a:lnTo>
                    <a:pt x="217" y="292"/>
                  </a:lnTo>
                  <a:cubicBezTo>
                    <a:pt x="211" y="286"/>
                    <a:pt x="211" y="277"/>
                    <a:pt x="217" y="271"/>
                  </a:cubicBezTo>
                  <a:cubicBezTo>
                    <a:pt x="223" y="265"/>
                    <a:pt x="233" y="265"/>
                    <a:pt x="239" y="271"/>
                  </a:cubicBezTo>
                  <a:lnTo>
                    <a:pt x="250" y="281"/>
                  </a:lnTo>
                  <a:lnTo>
                    <a:pt x="279" y="252"/>
                  </a:lnTo>
                  <a:lnTo>
                    <a:pt x="282" y="249"/>
                  </a:lnTo>
                  <a:cubicBezTo>
                    <a:pt x="288" y="243"/>
                    <a:pt x="297" y="243"/>
                    <a:pt x="303" y="249"/>
                  </a:cubicBezTo>
                  <a:cubicBezTo>
                    <a:pt x="309" y="255"/>
                    <a:pt x="309" y="265"/>
                    <a:pt x="303" y="27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1" name="组合 20"/>
          <p:cNvGrpSpPr/>
          <p:nvPr/>
        </p:nvGrpSpPr>
        <p:grpSpPr>
          <a:xfrm>
            <a:off x="1471677" y="198604"/>
            <a:ext cx="472312" cy="484825"/>
            <a:chOff x="3252414" y="-1899592"/>
            <a:chExt cx="1050534" cy="1078364"/>
          </a:xfrm>
        </p:grpSpPr>
        <p:sp>
          <p:nvSpPr>
            <p:cNvPr id="22" name="Oval 7"/>
            <p:cNvSpPr>
              <a:spLocks noChangeArrowheads="1"/>
            </p:cNvSpPr>
            <p:nvPr/>
          </p:nvSpPr>
          <p:spPr bwMode="auto">
            <a:xfrm>
              <a:off x="3252414" y="-1899592"/>
              <a:ext cx="1050534" cy="1078364"/>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11"/>
            <p:cNvSpPr>
              <a:spLocks noEditPoints="1"/>
            </p:cNvSpPr>
            <p:nvPr/>
          </p:nvSpPr>
          <p:spPr bwMode="auto">
            <a:xfrm>
              <a:off x="3450694" y="-1683919"/>
              <a:ext cx="594839" cy="647018"/>
            </a:xfrm>
            <a:custGeom>
              <a:avLst/>
              <a:gdLst>
                <a:gd name="T0" fmla="*/ 136 w 360"/>
                <a:gd name="T1" fmla="*/ 238 h 383"/>
                <a:gd name="T2" fmla="*/ 130 w 360"/>
                <a:gd name="T3" fmla="*/ 217 h 383"/>
                <a:gd name="T4" fmla="*/ 157 w 360"/>
                <a:gd name="T5" fmla="*/ 104 h 383"/>
                <a:gd name="T6" fmla="*/ 187 w 360"/>
                <a:gd name="T7" fmla="*/ 195 h 383"/>
                <a:gd name="T8" fmla="*/ 223 w 360"/>
                <a:gd name="T9" fmla="*/ 90 h 383"/>
                <a:gd name="T10" fmla="*/ 142 w 360"/>
                <a:gd name="T11" fmla="*/ 179 h 383"/>
                <a:gd name="T12" fmla="*/ 136 w 360"/>
                <a:gd name="T13" fmla="*/ 191 h 383"/>
                <a:gd name="T14" fmla="*/ 185 w 360"/>
                <a:gd name="T15" fmla="*/ 220 h 383"/>
                <a:gd name="T16" fmla="*/ 237 w 360"/>
                <a:gd name="T17" fmla="*/ 76 h 383"/>
                <a:gd name="T18" fmla="*/ 240 w 360"/>
                <a:gd name="T19" fmla="*/ 49 h 383"/>
                <a:gd name="T20" fmla="*/ 237 w 360"/>
                <a:gd name="T21" fmla="*/ 76 h 383"/>
                <a:gd name="T22" fmla="*/ 281 w 360"/>
                <a:gd name="T23" fmla="*/ 90 h 383"/>
                <a:gd name="T24" fmla="*/ 253 w 360"/>
                <a:gd name="T25" fmla="*/ 93 h 383"/>
                <a:gd name="T26" fmla="*/ 205 w 360"/>
                <a:gd name="T27" fmla="*/ 64 h 383"/>
                <a:gd name="T28" fmla="*/ 194 w 360"/>
                <a:gd name="T29" fmla="*/ 39 h 383"/>
                <a:gd name="T30" fmla="*/ 205 w 360"/>
                <a:gd name="T31" fmla="*/ 64 h 383"/>
                <a:gd name="T32" fmla="*/ 159 w 360"/>
                <a:gd name="T33" fmla="*/ 48 h 383"/>
                <a:gd name="T34" fmla="*/ 161 w 360"/>
                <a:gd name="T35" fmla="*/ 76 h 383"/>
                <a:gd name="T36" fmla="*/ 264 w 360"/>
                <a:gd name="T37" fmla="*/ 137 h 383"/>
                <a:gd name="T38" fmla="*/ 290 w 360"/>
                <a:gd name="T39" fmla="*/ 125 h 383"/>
                <a:gd name="T40" fmla="*/ 264 w 360"/>
                <a:gd name="T41" fmla="*/ 137 h 383"/>
                <a:gd name="T42" fmla="*/ 132 w 360"/>
                <a:gd name="T43" fmla="*/ 196 h 383"/>
                <a:gd name="T44" fmla="*/ 126 w 360"/>
                <a:gd name="T45" fmla="*/ 208 h 383"/>
                <a:gd name="T46" fmla="*/ 175 w 360"/>
                <a:gd name="T47" fmla="*/ 237 h 383"/>
                <a:gd name="T48" fmla="*/ 131 w 360"/>
                <a:gd name="T49" fmla="*/ 383 h 383"/>
                <a:gd name="T50" fmla="*/ 141 w 360"/>
                <a:gd name="T51" fmla="*/ 22 h 383"/>
                <a:gd name="T52" fmla="*/ 342 w 360"/>
                <a:gd name="T53" fmla="*/ 109 h 383"/>
                <a:gd name="T54" fmla="*/ 345 w 360"/>
                <a:gd name="T55" fmla="*/ 167 h 383"/>
                <a:gd name="T56" fmla="*/ 356 w 360"/>
                <a:gd name="T57" fmla="*/ 240 h 383"/>
                <a:gd name="T58" fmla="*/ 343 w 360"/>
                <a:gd name="T59" fmla="*/ 301 h 383"/>
                <a:gd name="T60" fmla="*/ 269 w 360"/>
                <a:gd name="T61" fmla="*/ 318 h 383"/>
                <a:gd name="T62" fmla="*/ 131 w 360"/>
                <a:gd name="T63" fmla="*/ 383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0" h="383">
                  <a:moveTo>
                    <a:pt x="130" y="217"/>
                  </a:moveTo>
                  <a:cubicBezTo>
                    <a:pt x="126" y="224"/>
                    <a:pt x="129" y="234"/>
                    <a:pt x="136" y="238"/>
                  </a:cubicBezTo>
                  <a:cubicBezTo>
                    <a:pt x="143" y="242"/>
                    <a:pt x="151" y="241"/>
                    <a:pt x="156" y="236"/>
                  </a:cubicBezTo>
                  <a:lnTo>
                    <a:pt x="130" y="217"/>
                  </a:lnTo>
                  <a:close/>
                  <a:moveTo>
                    <a:pt x="223" y="90"/>
                  </a:moveTo>
                  <a:cubicBezTo>
                    <a:pt x="199" y="76"/>
                    <a:pt x="170" y="83"/>
                    <a:pt x="157" y="104"/>
                  </a:cubicBezTo>
                  <a:cubicBezTo>
                    <a:pt x="144" y="127"/>
                    <a:pt x="161" y="151"/>
                    <a:pt x="149" y="174"/>
                  </a:cubicBezTo>
                  <a:lnTo>
                    <a:pt x="187" y="195"/>
                  </a:lnTo>
                  <a:cubicBezTo>
                    <a:pt x="201" y="174"/>
                    <a:pt x="231" y="176"/>
                    <a:pt x="243" y="154"/>
                  </a:cubicBezTo>
                  <a:cubicBezTo>
                    <a:pt x="256" y="132"/>
                    <a:pt x="247" y="104"/>
                    <a:pt x="223" y="90"/>
                  </a:cubicBezTo>
                  <a:close/>
                  <a:moveTo>
                    <a:pt x="183" y="209"/>
                  </a:moveTo>
                  <a:lnTo>
                    <a:pt x="142" y="179"/>
                  </a:lnTo>
                  <a:cubicBezTo>
                    <a:pt x="139" y="176"/>
                    <a:pt x="135" y="177"/>
                    <a:pt x="133" y="181"/>
                  </a:cubicBezTo>
                  <a:cubicBezTo>
                    <a:pt x="132" y="184"/>
                    <a:pt x="132" y="188"/>
                    <a:pt x="136" y="191"/>
                  </a:cubicBezTo>
                  <a:lnTo>
                    <a:pt x="176" y="221"/>
                  </a:lnTo>
                  <a:cubicBezTo>
                    <a:pt x="179" y="224"/>
                    <a:pt x="183" y="223"/>
                    <a:pt x="185" y="220"/>
                  </a:cubicBezTo>
                  <a:cubicBezTo>
                    <a:pt x="187" y="216"/>
                    <a:pt x="186" y="212"/>
                    <a:pt x="183" y="209"/>
                  </a:cubicBezTo>
                  <a:close/>
                  <a:moveTo>
                    <a:pt x="237" y="76"/>
                  </a:moveTo>
                  <a:lnTo>
                    <a:pt x="250" y="54"/>
                  </a:lnTo>
                  <a:lnTo>
                    <a:pt x="240" y="49"/>
                  </a:lnTo>
                  <a:lnTo>
                    <a:pt x="227" y="70"/>
                  </a:lnTo>
                  <a:lnTo>
                    <a:pt x="237" y="76"/>
                  </a:lnTo>
                  <a:close/>
                  <a:moveTo>
                    <a:pt x="259" y="103"/>
                  </a:moveTo>
                  <a:lnTo>
                    <a:pt x="281" y="90"/>
                  </a:lnTo>
                  <a:lnTo>
                    <a:pt x="275" y="80"/>
                  </a:lnTo>
                  <a:lnTo>
                    <a:pt x="253" y="93"/>
                  </a:lnTo>
                  <a:lnTo>
                    <a:pt x="259" y="103"/>
                  </a:lnTo>
                  <a:close/>
                  <a:moveTo>
                    <a:pt x="205" y="64"/>
                  </a:moveTo>
                  <a:lnTo>
                    <a:pt x="205" y="39"/>
                  </a:lnTo>
                  <a:lnTo>
                    <a:pt x="194" y="39"/>
                  </a:lnTo>
                  <a:lnTo>
                    <a:pt x="194" y="64"/>
                  </a:lnTo>
                  <a:lnTo>
                    <a:pt x="205" y="64"/>
                  </a:lnTo>
                  <a:close/>
                  <a:moveTo>
                    <a:pt x="172" y="70"/>
                  </a:moveTo>
                  <a:lnTo>
                    <a:pt x="159" y="48"/>
                  </a:lnTo>
                  <a:lnTo>
                    <a:pt x="149" y="54"/>
                  </a:lnTo>
                  <a:lnTo>
                    <a:pt x="161" y="76"/>
                  </a:lnTo>
                  <a:lnTo>
                    <a:pt x="172" y="70"/>
                  </a:lnTo>
                  <a:close/>
                  <a:moveTo>
                    <a:pt x="264" y="137"/>
                  </a:moveTo>
                  <a:lnTo>
                    <a:pt x="290" y="137"/>
                  </a:lnTo>
                  <a:lnTo>
                    <a:pt x="290" y="125"/>
                  </a:lnTo>
                  <a:lnTo>
                    <a:pt x="264" y="125"/>
                  </a:lnTo>
                  <a:lnTo>
                    <a:pt x="264" y="137"/>
                  </a:lnTo>
                  <a:close/>
                  <a:moveTo>
                    <a:pt x="173" y="227"/>
                  </a:moveTo>
                  <a:lnTo>
                    <a:pt x="132" y="196"/>
                  </a:lnTo>
                  <a:cubicBezTo>
                    <a:pt x="129" y="194"/>
                    <a:pt x="125" y="195"/>
                    <a:pt x="123" y="198"/>
                  </a:cubicBezTo>
                  <a:cubicBezTo>
                    <a:pt x="122" y="201"/>
                    <a:pt x="122" y="206"/>
                    <a:pt x="126" y="208"/>
                  </a:cubicBezTo>
                  <a:lnTo>
                    <a:pt x="166" y="239"/>
                  </a:lnTo>
                  <a:cubicBezTo>
                    <a:pt x="169" y="241"/>
                    <a:pt x="173" y="240"/>
                    <a:pt x="175" y="237"/>
                  </a:cubicBezTo>
                  <a:cubicBezTo>
                    <a:pt x="177" y="234"/>
                    <a:pt x="176" y="229"/>
                    <a:pt x="173" y="227"/>
                  </a:cubicBezTo>
                  <a:close/>
                  <a:moveTo>
                    <a:pt x="131" y="383"/>
                  </a:moveTo>
                  <a:cubicBezTo>
                    <a:pt x="136" y="353"/>
                    <a:pt x="136" y="321"/>
                    <a:pt x="127" y="293"/>
                  </a:cubicBezTo>
                  <a:cubicBezTo>
                    <a:pt x="0" y="221"/>
                    <a:pt x="34" y="56"/>
                    <a:pt x="141" y="22"/>
                  </a:cubicBezTo>
                  <a:cubicBezTo>
                    <a:pt x="197" y="0"/>
                    <a:pt x="274" y="13"/>
                    <a:pt x="323" y="63"/>
                  </a:cubicBezTo>
                  <a:cubicBezTo>
                    <a:pt x="360" y="99"/>
                    <a:pt x="342" y="109"/>
                    <a:pt x="342" y="109"/>
                  </a:cubicBezTo>
                  <a:lnTo>
                    <a:pt x="334" y="113"/>
                  </a:lnTo>
                  <a:cubicBezTo>
                    <a:pt x="339" y="131"/>
                    <a:pt x="346" y="162"/>
                    <a:pt x="345" y="167"/>
                  </a:cubicBezTo>
                  <a:cubicBezTo>
                    <a:pt x="344" y="173"/>
                    <a:pt x="337" y="179"/>
                    <a:pt x="337" y="179"/>
                  </a:cubicBezTo>
                  <a:lnTo>
                    <a:pt x="356" y="240"/>
                  </a:lnTo>
                  <a:lnTo>
                    <a:pt x="339" y="246"/>
                  </a:lnTo>
                  <a:cubicBezTo>
                    <a:pt x="343" y="266"/>
                    <a:pt x="345" y="282"/>
                    <a:pt x="343" y="301"/>
                  </a:cubicBezTo>
                  <a:cubicBezTo>
                    <a:pt x="343" y="305"/>
                    <a:pt x="332" y="314"/>
                    <a:pt x="323" y="315"/>
                  </a:cubicBezTo>
                  <a:lnTo>
                    <a:pt x="269" y="318"/>
                  </a:lnTo>
                  <a:lnTo>
                    <a:pt x="272" y="383"/>
                  </a:lnTo>
                  <a:lnTo>
                    <a:pt x="131" y="38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4" name="组合 23"/>
          <p:cNvGrpSpPr/>
          <p:nvPr/>
        </p:nvGrpSpPr>
        <p:grpSpPr>
          <a:xfrm>
            <a:off x="2075327" y="198604"/>
            <a:ext cx="473877" cy="484825"/>
            <a:chOff x="4553407" y="-1899592"/>
            <a:chExt cx="1054013" cy="1078364"/>
          </a:xfrm>
        </p:grpSpPr>
        <p:sp>
          <p:nvSpPr>
            <p:cNvPr id="25" name="Oval 8"/>
            <p:cNvSpPr>
              <a:spLocks noChangeArrowheads="1"/>
            </p:cNvSpPr>
            <p:nvPr/>
          </p:nvSpPr>
          <p:spPr bwMode="auto">
            <a:xfrm>
              <a:off x="4553407" y="-1899592"/>
              <a:ext cx="1054013" cy="1078364"/>
            </a:xfrm>
            <a:prstGeom prst="ellipse">
              <a:avLst/>
            </a:pr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12"/>
            <p:cNvSpPr>
              <a:spLocks noEditPoints="1"/>
            </p:cNvSpPr>
            <p:nvPr/>
          </p:nvSpPr>
          <p:spPr bwMode="auto">
            <a:xfrm>
              <a:off x="4824737" y="-1683919"/>
              <a:ext cx="594839" cy="650497"/>
            </a:xfrm>
            <a:custGeom>
              <a:avLst/>
              <a:gdLst>
                <a:gd name="T0" fmla="*/ 108 w 360"/>
                <a:gd name="T1" fmla="*/ 59 h 384"/>
                <a:gd name="T2" fmla="*/ 236 w 360"/>
                <a:gd name="T3" fmla="*/ 43 h 384"/>
                <a:gd name="T4" fmla="*/ 190 w 360"/>
                <a:gd name="T5" fmla="*/ 26 h 384"/>
                <a:gd name="T6" fmla="*/ 138 w 360"/>
                <a:gd name="T7" fmla="*/ 26 h 384"/>
                <a:gd name="T8" fmla="*/ 92 w 360"/>
                <a:gd name="T9" fmla="*/ 43 h 384"/>
                <a:gd name="T10" fmla="*/ 296 w 360"/>
                <a:gd name="T11" fmla="*/ 332 h 384"/>
                <a:gd name="T12" fmla="*/ 301 w 360"/>
                <a:gd name="T13" fmla="*/ 321 h 384"/>
                <a:gd name="T14" fmla="*/ 280 w 360"/>
                <a:gd name="T15" fmla="*/ 249 h 384"/>
                <a:gd name="T16" fmla="*/ 267 w 360"/>
                <a:gd name="T17" fmla="*/ 249 h 384"/>
                <a:gd name="T18" fmla="*/ 267 w 360"/>
                <a:gd name="T19" fmla="*/ 304 h 384"/>
                <a:gd name="T20" fmla="*/ 268 w 360"/>
                <a:gd name="T21" fmla="*/ 306 h 384"/>
                <a:gd name="T22" fmla="*/ 268 w 360"/>
                <a:gd name="T23" fmla="*/ 307 h 384"/>
                <a:gd name="T24" fmla="*/ 269 w 360"/>
                <a:gd name="T25" fmla="*/ 308 h 384"/>
                <a:gd name="T26" fmla="*/ 343 w 360"/>
                <a:gd name="T27" fmla="*/ 253 h 384"/>
                <a:gd name="T28" fmla="*/ 274 w 360"/>
                <a:gd name="T29" fmla="*/ 217 h 384"/>
                <a:gd name="T30" fmla="*/ 258 w 360"/>
                <a:gd name="T31" fmla="*/ 382 h 384"/>
                <a:gd name="T32" fmla="*/ 356 w 360"/>
                <a:gd name="T33" fmla="*/ 316 h 384"/>
                <a:gd name="T34" fmla="*/ 343 w 360"/>
                <a:gd name="T35" fmla="*/ 313 h 384"/>
                <a:gd name="T36" fmla="*/ 274 w 360"/>
                <a:gd name="T37" fmla="*/ 371 h 384"/>
                <a:gd name="T38" fmla="*/ 205 w 360"/>
                <a:gd name="T39" fmla="*/ 287 h 384"/>
                <a:gd name="T40" fmla="*/ 287 w 360"/>
                <a:gd name="T41" fmla="*/ 231 h 384"/>
                <a:gd name="T42" fmla="*/ 343 w 360"/>
                <a:gd name="T43" fmla="*/ 313 h 384"/>
                <a:gd name="T44" fmla="*/ 121 w 360"/>
                <a:gd name="T45" fmla="*/ 313 h 384"/>
                <a:gd name="T46" fmla="*/ 206 w 360"/>
                <a:gd name="T47" fmla="*/ 228 h 384"/>
                <a:gd name="T48" fmla="*/ 224 w 360"/>
                <a:gd name="T49" fmla="*/ 215 h 384"/>
                <a:gd name="T50" fmla="*/ 311 w 360"/>
                <a:gd name="T51" fmla="*/ 130 h 384"/>
                <a:gd name="T52" fmla="*/ 314 w 360"/>
                <a:gd name="T53" fmla="*/ 210 h 384"/>
                <a:gd name="T54" fmla="*/ 328 w 360"/>
                <a:gd name="T55" fmla="*/ 215 h 384"/>
                <a:gd name="T56" fmla="*/ 328 w 360"/>
                <a:gd name="T57" fmla="*/ 88 h 384"/>
                <a:gd name="T58" fmla="*/ 17 w 360"/>
                <a:gd name="T59" fmla="*/ 71 h 384"/>
                <a:gd name="T60" fmla="*/ 0 w 360"/>
                <a:gd name="T61" fmla="*/ 134 h 384"/>
                <a:gd name="T62" fmla="*/ 0 w 360"/>
                <a:gd name="T63" fmla="*/ 228 h 384"/>
                <a:gd name="T64" fmla="*/ 0 w 360"/>
                <a:gd name="T65" fmla="*/ 319 h 384"/>
                <a:gd name="T66" fmla="*/ 181 w 360"/>
                <a:gd name="T67" fmla="*/ 336 h 384"/>
                <a:gd name="T68" fmla="*/ 14 w 360"/>
                <a:gd name="T69" fmla="*/ 134 h 384"/>
                <a:gd name="T70" fmla="*/ 17 w 360"/>
                <a:gd name="T71" fmla="*/ 130 h 384"/>
                <a:gd name="T72" fmla="*/ 107 w 360"/>
                <a:gd name="T73" fmla="*/ 215 h 384"/>
                <a:gd name="T74" fmla="*/ 14 w 360"/>
                <a:gd name="T75" fmla="*/ 134 h 384"/>
                <a:gd name="T76" fmla="*/ 107 w 360"/>
                <a:gd name="T77" fmla="*/ 228 h 384"/>
                <a:gd name="T78" fmla="*/ 17 w 360"/>
                <a:gd name="T79" fmla="*/ 313 h 384"/>
                <a:gd name="T80" fmla="*/ 14 w 360"/>
                <a:gd name="T81" fmla="*/ 228 h 384"/>
                <a:gd name="T82" fmla="*/ 121 w 360"/>
                <a:gd name="T83" fmla="*/ 215 h 384"/>
                <a:gd name="T84" fmla="*/ 121 w 360"/>
                <a:gd name="T85" fmla="*/ 130 h 384"/>
                <a:gd name="T86" fmla="*/ 210 w 360"/>
                <a:gd name="T87" fmla="*/ 215 h 384"/>
                <a:gd name="T88" fmla="*/ 217 w 360"/>
                <a:gd name="T89" fmla="*/ 88 h 384"/>
                <a:gd name="T90" fmla="*/ 229 w 360"/>
                <a:gd name="T91" fmla="*/ 100 h 384"/>
                <a:gd name="T92" fmla="*/ 205 w 360"/>
                <a:gd name="T93" fmla="*/ 100 h 384"/>
                <a:gd name="T94" fmla="*/ 114 w 360"/>
                <a:gd name="T95" fmla="*/ 88 h 384"/>
                <a:gd name="T96" fmla="*/ 126 w 360"/>
                <a:gd name="T97" fmla="*/ 100 h 384"/>
                <a:gd name="T98" fmla="*/ 103 w 360"/>
                <a:gd name="T99" fmla="*/ 10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60" h="384">
                  <a:moveTo>
                    <a:pt x="92" y="43"/>
                  </a:moveTo>
                  <a:cubicBezTo>
                    <a:pt x="92" y="52"/>
                    <a:pt x="100" y="59"/>
                    <a:pt x="108" y="59"/>
                  </a:cubicBezTo>
                  <a:lnTo>
                    <a:pt x="220" y="59"/>
                  </a:lnTo>
                  <a:cubicBezTo>
                    <a:pt x="229" y="59"/>
                    <a:pt x="236" y="52"/>
                    <a:pt x="236" y="43"/>
                  </a:cubicBezTo>
                  <a:cubicBezTo>
                    <a:pt x="236" y="34"/>
                    <a:pt x="229" y="26"/>
                    <a:pt x="220" y="26"/>
                  </a:cubicBezTo>
                  <a:lnTo>
                    <a:pt x="190" y="26"/>
                  </a:lnTo>
                  <a:cubicBezTo>
                    <a:pt x="190" y="12"/>
                    <a:pt x="179" y="0"/>
                    <a:pt x="164" y="0"/>
                  </a:cubicBezTo>
                  <a:cubicBezTo>
                    <a:pt x="150" y="0"/>
                    <a:pt x="138" y="12"/>
                    <a:pt x="138" y="26"/>
                  </a:cubicBezTo>
                  <a:lnTo>
                    <a:pt x="108" y="26"/>
                  </a:lnTo>
                  <a:cubicBezTo>
                    <a:pt x="100" y="26"/>
                    <a:pt x="92" y="34"/>
                    <a:pt x="92" y="43"/>
                  </a:cubicBezTo>
                  <a:close/>
                  <a:moveTo>
                    <a:pt x="292" y="330"/>
                  </a:moveTo>
                  <a:cubicBezTo>
                    <a:pt x="293" y="332"/>
                    <a:pt x="295" y="332"/>
                    <a:pt x="296" y="332"/>
                  </a:cubicBezTo>
                  <a:cubicBezTo>
                    <a:pt x="298" y="332"/>
                    <a:pt x="300" y="332"/>
                    <a:pt x="301" y="330"/>
                  </a:cubicBezTo>
                  <a:cubicBezTo>
                    <a:pt x="304" y="328"/>
                    <a:pt x="304" y="323"/>
                    <a:pt x="301" y="321"/>
                  </a:cubicBezTo>
                  <a:lnTo>
                    <a:pt x="280" y="300"/>
                  </a:lnTo>
                  <a:lnTo>
                    <a:pt x="280" y="249"/>
                  </a:lnTo>
                  <a:cubicBezTo>
                    <a:pt x="280" y="245"/>
                    <a:pt x="278" y="242"/>
                    <a:pt x="274" y="242"/>
                  </a:cubicBezTo>
                  <a:cubicBezTo>
                    <a:pt x="270" y="242"/>
                    <a:pt x="267" y="245"/>
                    <a:pt x="267" y="249"/>
                  </a:cubicBezTo>
                  <a:lnTo>
                    <a:pt x="267" y="303"/>
                  </a:lnTo>
                  <a:cubicBezTo>
                    <a:pt x="267" y="303"/>
                    <a:pt x="267" y="304"/>
                    <a:pt x="267" y="304"/>
                  </a:cubicBezTo>
                  <a:cubicBezTo>
                    <a:pt x="267" y="305"/>
                    <a:pt x="267" y="305"/>
                    <a:pt x="267" y="305"/>
                  </a:cubicBezTo>
                  <a:cubicBezTo>
                    <a:pt x="267" y="305"/>
                    <a:pt x="268" y="305"/>
                    <a:pt x="268" y="306"/>
                  </a:cubicBezTo>
                  <a:cubicBezTo>
                    <a:pt x="268" y="306"/>
                    <a:pt x="268" y="306"/>
                    <a:pt x="268" y="306"/>
                  </a:cubicBezTo>
                  <a:cubicBezTo>
                    <a:pt x="268" y="306"/>
                    <a:pt x="268" y="307"/>
                    <a:pt x="268" y="307"/>
                  </a:cubicBezTo>
                  <a:cubicBezTo>
                    <a:pt x="268" y="307"/>
                    <a:pt x="269" y="307"/>
                    <a:pt x="269" y="308"/>
                  </a:cubicBezTo>
                  <a:cubicBezTo>
                    <a:pt x="269" y="308"/>
                    <a:pt x="269" y="308"/>
                    <a:pt x="269" y="308"/>
                  </a:cubicBezTo>
                  <a:lnTo>
                    <a:pt x="292" y="330"/>
                  </a:lnTo>
                  <a:close/>
                  <a:moveTo>
                    <a:pt x="343" y="253"/>
                  </a:moveTo>
                  <a:cubicBezTo>
                    <a:pt x="330" y="235"/>
                    <a:pt x="311" y="222"/>
                    <a:pt x="289" y="218"/>
                  </a:cubicBezTo>
                  <a:cubicBezTo>
                    <a:pt x="284" y="217"/>
                    <a:pt x="279" y="217"/>
                    <a:pt x="274" y="217"/>
                  </a:cubicBezTo>
                  <a:cubicBezTo>
                    <a:pt x="234" y="217"/>
                    <a:pt x="199" y="245"/>
                    <a:pt x="192" y="285"/>
                  </a:cubicBezTo>
                  <a:cubicBezTo>
                    <a:pt x="183" y="330"/>
                    <a:pt x="213" y="373"/>
                    <a:pt x="258" y="382"/>
                  </a:cubicBezTo>
                  <a:cubicBezTo>
                    <a:pt x="263" y="383"/>
                    <a:pt x="269" y="384"/>
                    <a:pt x="274" y="384"/>
                  </a:cubicBezTo>
                  <a:cubicBezTo>
                    <a:pt x="314" y="384"/>
                    <a:pt x="348" y="355"/>
                    <a:pt x="356" y="316"/>
                  </a:cubicBezTo>
                  <a:cubicBezTo>
                    <a:pt x="360" y="294"/>
                    <a:pt x="355" y="272"/>
                    <a:pt x="343" y="253"/>
                  </a:cubicBezTo>
                  <a:close/>
                  <a:moveTo>
                    <a:pt x="343" y="313"/>
                  </a:moveTo>
                  <a:lnTo>
                    <a:pt x="343" y="313"/>
                  </a:lnTo>
                  <a:cubicBezTo>
                    <a:pt x="337" y="347"/>
                    <a:pt x="308" y="371"/>
                    <a:pt x="274" y="371"/>
                  </a:cubicBezTo>
                  <a:cubicBezTo>
                    <a:pt x="269" y="371"/>
                    <a:pt x="265" y="370"/>
                    <a:pt x="261" y="369"/>
                  </a:cubicBezTo>
                  <a:cubicBezTo>
                    <a:pt x="222" y="362"/>
                    <a:pt x="197" y="325"/>
                    <a:pt x="205" y="287"/>
                  </a:cubicBezTo>
                  <a:cubicBezTo>
                    <a:pt x="211" y="254"/>
                    <a:pt x="240" y="230"/>
                    <a:pt x="274" y="230"/>
                  </a:cubicBezTo>
                  <a:cubicBezTo>
                    <a:pt x="278" y="230"/>
                    <a:pt x="283" y="230"/>
                    <a:pt x="287" y="231"/>
                  </a:cubicBezTo>
                  <a:cubicBezTo>
                    <a:pt x="306" y="234"/>
                    <a:pt x="322" y="245"/>
                    <a:pt x="332" y="261"/>
                  </a:cubicBezTo>
                  <a:cubicBezTo>
                    <a:pt x="343" y="276"/>
                    <a:pt x="347" y="295"/>
                    <a:pt x="343" y="313"/>
                  </a:cubicBezTo>
                  <a:close/>
                  <a:moveTo>
                    <a:pt x="176" y="313"/>
                  </a:moveTo>
                  <a:lnTo>
                    <a:pt x="121" y="313"/>
                  </a:lnTo>
                  <a:lnTo>
                    <a:pt x="121" y="228"/>
                  </a:lnTo>
                  <a:lnTo>
                    <a:pt x="206" y="228"/>
                  </a:lnTo>
                  <a:cubicBezTo>
                    <a:pt x="211" y="223"/>
                    <a:pt x="217" y="218"/>
                    <a:pt x="224" y="215"/>
                  </a:cubicBezTo>
                  <a:lnTo>
                    <a:pt x="224" y="215"/>
                  </a:lnTo>
                  <a:lnTo>
                    <a:pt x="224" y="130"/>
                  </a:lnTo>
                  <a:lnTo>
                    <a:pt x="311" y="130"/>
                  </a:lnTo>
                  <a:cubicBezTo>
                    <a:pt x="313" y="130"/>
                    <a:pt x="314" y="132"/>
                    <a:pt x="314" y="134"/>
                  </a:cubicBezTo>
                  <a:lnTo>
                    <a:pt x="314" y="210"/>
                  </a:lnTo>
                  <a:cubicBezTo>
                    <a:pt x="319" y="212"/>
                    <a:pt x="324" y="215"/>
                    <a:pt x="328" y="217"/>
                  </a:cubicBezTo>
                  <a:lnTo>
                    <a:pt x="328" y="215"/>
                  </a:lnTo>
                  <a:lnTo>
                    <a:pt x="328" y="134"/>
                  </a:lnTo>
                  <a:lnTo>
                    <a:pt x="328" y="88"/>
                  </a:lnTo>
                  <a:cubicBezTo>
                    <a:pt x="328" y="79"/>
                    <a:pt x="320" y="71"/>
                    <a:pt x="311" y="71"/>
                  </a:cubicBezTo>
                  <a:lnTo>
                    <a:pt x="17" y="71"/>
                  </a:lnTo>
                  <a:cubicBezTo>
                    <a:pt x="8" y="71"/>
                    <a:pt x="0" y="79"/>
                    <a:pt x="0" y="88"/>
                  </a:cubicBezTo>
                  <a:lnTo>
                    <a:pt x="0" y="134"/>
                  </a:lnTo>
                  <a:lnTo>
                    <a:pt x="0" y="215"/>
                  </a:lnTo>
                  <a:lnTo>
                    <a:pt x="0" y="228"/>
                  </a:lnTo>
                  <a:lnTo>
                    <a:pt x="0" y="309"/>
                  </a:lnTo>
                  <a:lnTo>
                    <a:pt x="0" y="319"/>
                  </a:lnTo>
                  <a:cubicBezTo>
                    <a:pt x="0" y="329"/>
                    <a:pt x="8" y="336"/>
                    <a:pt x="17" y="336"/>
                  </a:cubicBezTo>
                  <a:lnTo>
                    <a:pt x="181" y="336"/>
                  </a:lnTo>
                  <a:cubicBezTo>
                    <a:pt x="179" y="329"/>
                    <a:pt x="177" y="321"/>
                    <a:pt x="176" y="313"/>
                  </a:cubicBezTo>
                  <a:close/>
                  <a:moveTo>
                    <a:pt x="14" y="134"/>
                  </a:moveTo>
                  <a:lnTo>
                    <a:pt x="14" y="134"/>
                  </a:lnTo>
                  <a:cubicBezTo>
                    <a:pt x="14" y="132"/>
                    <a:pt x="15" y="130"/>
                    <a:pt x="17" y="130"/>
                  </a:cubicBezTo>
                  <a:lnTo>
                    <a:pt x="107" y="130"/>
                  </a:lnTo>
                  <a:lnTo>
                    <a:pt x="107" y="215"/>
                  </a:lnTo>
                  <a:lnTo>
                    <a:pt x="14" y="215"/>
                  </a:lnTo>
                  <a:lnTo>
                    <a:pt x="14" y="134"/>
                  </a:lnTo>
                  <a:close/>
                  <a:moveTo>
                    <a:pt x="107" y="228"/>
                  </a:moveTo>
                  <a:lnTo>
                    <a:pt x="107" y="228"/>
                  </a:lnTo>
                  <a:lnTo>
                    <a:pt x="107" y="313"/>
                  </a:lnTo>
                  <a:lnTo>
                    <a:pt x="17" y="313"/>
                  </a:lnTo>
                  <a:cubicBezTo>
                    <a:pt x="15" y="313"/>
                    <a:pt x="14" y="311"/>
                    <a:pt x="14" y="309"/>
                  </a:cubicBezTo>
                  <a:lnTo>
                    <a:pt x="14" y="228"/>
                  </a:lnTo>
                  <a:lnTo>
                    <a:pt x="107" y="228"/>
                  </a:lnTo>
                  <a:close/>
                  <a:moveTo>
                    <a:pt x="121" y="215"/>
                  </a:moveTo>
                  <a:lnTo>
                    <a:pt x="121" y="215"/>
                  </a:lnTo>
                  <a:lnTo>
                    <a:pt x="121" y="130"/>
                  </a:lnTo>
                  <a:lnTo>
                    <a:pt x="210" y="130"/>
                  </a:lnTo>
                  <a:lnTo>
                    <a:pt x="210" y="215"/>
                  </a:lnTo>
                  <a:lnTo>
                    <a:pt x="121" y="215"/>
                  </a:lnTo>
                  <a:close/>
                  <a:moveTo>
                    <a:pt x="217" y="88"/>
                  </a:moveTo>
                  <a:lnTo>
                    <a:pt x="217" y="88"/>
                  </a:lnTo>
                  <a:cubicBezTo>
                    <a:pt x="223" y="88"/>
                    <a:pt x="229" y="94"/>
                    <a:pt x="229" y="100"/>
                  </a:cubicBezTo>
                  <a:cubicBezTo>
                    <a:pt x="229" y="106"/>
                    <a:pt x="223" y="111"/>
                    <a:pt x="217" y="111"/>
                  </a:cubicBezTo>
                  <a:cubicBezTo>
                    <a:pt x="211" y="111"/>
                    <a:pt x="205" y="106"/>
                    <a:pt x="205" y="100"/>
                  </a:cubicBezTo>
                  <a:cubicBezTo>
                    <a:pt x="205" y="94"/>
                    <a:pt x="211" y="88"/>
                    <a:pt x="217" y="88"/>
                  </a:cubicBezTo>
                  <a:close/>
                  <a:moveTo>
                    <a:pt x="114" y="88"/>
                  </a:moveTo>
                  <a:lnTo>
                    <a:pt x="114" y="88"/>
                  </a:lnTo>
                  <a:cubicBezTo>
                    <a:pt x="120" y="88"/>
                    <a:pt x="126" y="94"/>
                    <a:pt x="126" y="100"/>
                  </a:cubicBezTo>
                  <a:cubicBezTo>
                    <a:pt x="126" y="106"/>
                    <a:pt x="120" y="111"/>
                    <a:pt x="114" y="111"/>
                  </a:cubicBezTo>
                  <a:cubicBezTo>
                    <a:pt x="108" y="111"/>
                    <a:pt x="103" y="106"/>
                    <a:pt x="103" y="100"/>
                  </a:cubicBezTo>
                  <a:cubicBezTo>
                    <a:pt x="103" y="94"/>
                    <a:pt x="108" y="88"/>
                    <a:pt x="114" y="8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7"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8" name="Rectangle 6"/>
          <p:cNvSpPr>
            <a:spLocks noChangeArrowheads="1"/>
          </p:cNvSpPr>
          <p:nvPr/>
        </p:nvSpPr>
        <p:spPr bwMode="auto">
          <a:xfrm>
            <a:off x="0" y="1109114"/>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29" name="Rectangle 7"/>
          <p:cNvSpPr>
            <a:spLocks noChangeArrowheads="1"/>
          </p:cNvSpPr>
          <p:nvPr/>
        </p:nvSpPr>
        <p:spPr bwMode="auto">
          <a:xfrm>
            <a:off x="1266714" y="1109114"/>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30" name="Rectangle 8"/>
          <p:cNvSpPr>
            <a:spLocks noChangeArrowheads="1"/>
          </p:cNvSpPr>
          <p:nvPr/>
        </p:nvSpPr>
        <p:spPr bwMode="auto">
          <a:xfrm>
            <a:off x="2531856" y="1109114"/>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31" name="Rectangle 9"/>
          <p:cNvSpPr>
            <a:spLocks noChangeArrowheads="1"/>
          </p:cNvSpPr>
          <p:nvPr/>
        </p:nvSpPr>
        <p:spPr bwMode="auto">
          <a:xfrm>
            <a:off x="3798567" y="1109114"/>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Tree>
    <p:extLst>
      <p:ext uri="{BB962C8B-B14F-4D97-AF65-F5344CB8AC3E}">
        <p14:creationId xmlns:p14="http://schemas.microsoft.com/office/powerpoint/2010/main" val="3546422696"/>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875773" y="246420"/>
            <a:ext cx="5974331" cy="633144"/>
          </a:xfrm>
          <a:prstGeom prst="rect">
            <a:avLst/>
          </a:prstGeom>
          <a:noFill/>
        </p:spPr>
        <p:txBody>
          <a:bodyPr wrap="square" lIns="91398" tIns="45699" rIns="91398" bIns="45699"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pPr>
              <a:lnSpc>
                <a:spcPct val="120000"/>
              </a:lnSpc>
            </a:pPr>
            <a:r>
              <a:rPr lang="zh-CN" altLang="en-US" b="1" dirty="0">
                <a:latin typeface="微软雅黑" panose="020B0503020204020204" pitchFamily="34" charset="-122"/>
                <a:ea typeface="微软雅黑" panose="020B0503020204020204" pitchFamily="34" charset="-122"/>
              </a:rPr>
              <a:t>流水线的基本概念</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pic>
        <p:nvPicPr>
          <p:cNvPr id="5122" name="Picture 2" descr="E:\我的文档\商务图片\19147185_150127007000_2.jp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1044426" y="3666022"/>
            <a:ext cx="5022365" cy="2821733"/>
          </a:xfrm>
          <a:prstGeom prst="rect">
            <a:avLst/>
          </a:prstGeom>
          <a:noFill/>
          <a:ln>
            <a:solidFill>
              <a:schemeClr val="accent1">
                <a:lumMod val="40000"/>
                <a:lumOff val="60000"/>
              </a:schemeClr>
            </a:solidFill>
          </a:ln>
          <a:extLst>
            <a:ext uri="{909E8E84-426E-40DD-AFC4-6F175D3DCCD1}">
              <a14:hiddenFill xmlns:a14="http://schemas.microsoft.com/office/drawing/2010/main">
                <a:solidFill>
                  <a:srgbClr val="FFFFFF"/>
                </a:solidFill>
              </a14:hiddenFill>
            </a:ext>
          </a:extLst>
        </p:spPr>
      </p:pic>
      <p:pic>
        <p:nvPicPr>
          <p:cNvPr id="5123" name="Picture 3" descr="E:\我的文档\商务图片\Nipic_1082507_20091207090526024812.jpg"/>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6228894" y="3661058"/>
            <a:ext cx="5110573" cy="2826697"/>
          </a:xfrm>
          <a:prstGeom prst="rect">
            <a:avLst/>
          </a:prstGeom>
          <a:noFill/>
          <a:ln>
            <a:solidFill>
              <a:schemeClr val="accent1">
                <a:lumMod val="40000"/>
                <a:lumOff val="60000"/>
              </a:schemeClr>
            </a:solidFill>
          </a:ln>
          <a:extLst>
            <a:ext uri="{909E8E84-426E-40DD-AFC4-6F175D3DCCD1}">
              <a14:hiddenFill xmlns:a14="http://schemas.microsoft.com/office/drawing/2010/main">
                <a:solidFill>
                  <a:srgbClr val="FFFFFF"/>
                </a:solidFill>
              </a14:hiddenFill>
            </a:ext>
          </a:extLst>
        </p:spPr>
      </p:pic>
      <p:sp>
        <p:nvSpPr>
          <p:cNvPr id="8" name="矩形 83"/>
          <p:cNvSpPr>
            <a:spLocks noChangeArrowheads="1"/>
          </p:cNvSpPr>
          <p:nvPr/>
        </p:nvSpPr>
        <p:spPr bwMode="auto">
          <a:xfrm>
            <a:off x="1045556" y="1289258"/>
            <a:ext cx="10222393" cy="2116756"/>
          </a:xfrm>
          <a:prstGeom prst="rect">
            <a:avLst/>
          </a:prstGeom>
          <a:solidFill>
            <a:srgbClr val="F2F2F2"/>
          </a:solidFill>
          <a:ln w="9525" cmpd="sng">
            <a:solidFill>
              <a:schemeClr val="accent1"/>
            </a:solidFill>
            <a:miter lim="800000"/>
            <a:headEnd/>
            <a:tailEnd/>
          </a:ln>
        </p:spPr>
        <p:txBody>
          <a:bodyPr lIns="91398" tIns="45699" rIns="91398" bIns="45699"/>
          <a:lstStyle/>
          <a:p>
            <a:endParaRPr lang="zh-CN" altLang="en-US" sz="1799"/>
          </a:p>
        </p:txBody>
      </p:sp>
      <p:sp>
        <p:nvSpPr>
          <p:cNvPr id="10" name="Freeform 12"/>
          <p:cNvSpPr>
            <a:spLocks/>
          </p:cNvSpPr>
          <p:nvPr/>
        </p:nvSpPr>
        <p:spPr bwMode="auto">
          <a:xfrm>
            <a:off x="970969" y="1143266"/>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4BEB0"/>
          </a:solidFill>
          <a:ln>
            <a:noFill/>
          </a:ln>
          <a:extLst/>
        </p:spPr>
        <p:txBody>
          <a:bodyPr lIns="91398" tIns="45699" rIns="91398" bIns="45699"/>
          <a:lstStyle/>
          <a:p>
            <a:endParaRPr lang="zh-CN" altLang="en-US" sz="1799"/>
          </a:p>
        </p:txBody>
      </p:sp>
      <p:sp>
        <p:nvSpPr>
          <p:cNvPr id="11" name="Freeform 12"/>
          <p:cNvSpPr>
            <a:spLocks/>
          </p:cNvSpPr>
          <p:nvPr/>
        </p:nvSpPr>
        <p:spPr bwMode="auto">
          <a:xfrm flipH="1" flipV="1">
            <a:off x="10811033" y="2944796"/>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91398" tIns="45699" rIns="91398" bIns="45699"/>
          <a:lstStyle/>
          <a:p>
            <a:endParaRPr lang="zh-CN" altLang="en-US" sz="1799"/>
          </a:p>
        </p:txBody>
      </p:sp>
      <p:sp>
        <p:nvSpPr>
          <p:cNvPr id="12"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 name="矩形 1"/>
          <p:cNvSpPr/>
          <p:nvPr/>
        </p:nvSpPr>
        <p:spPr>
          <a:xfrm>
            <a:off x="1080192" y="1172895"/>
            <a:ext cx="10297404" cy="2192203"/>
          </a:xfrm>
          <a:prstGeom prst="rect">
            <a:avLst/>
          </a:prstGeom>
        </p:spPr>
        <p:txBody>
          <a:bodyPr wrap="square">
            <a:spAutoFit/>
          </a:bodyPr>
          <a:lstStyle/>
          <a:p>
            <a:pPr>
              <a:lnSpc>
                <a:spcPct val="170000"/>
              </a:lnSpc>
            </a:pPr>
            <a:r>
              <a:rPr lang="zh-CN" altLang="en-US" sz="2800" b="1" dirty="0">
                <a:latin typeface="微软雅黑" panose="020B0503020204020204" pitchFamily="34" charset="-122"/>
                <a:ea typeface="微软雅黑" panose="020B0503020204020204" pitchFamily="34" charset="-122"/>
              </a:rPr>
              <a:t>计算机中的流水线技术是一种</a:t>
            </a:r>
            <a:r>
              <a:rPr lang="zh-CN" altLang="en-US" sz="2800" b="1" dirty="0" smtClean="0">
                <a:latin typeface="微软雅黑" panose="020B0503020204020204" pitchFamily="34" charset="-122"/>
                <a:ea typeface="微软雅黑" panose="020B0503020204020204" pitchFamily="34" charset="-122"/>
              </a:rPr>
              <a:t>利用</a:t>
            </a:r>
            <a:r>
              <a:rPr lang="zh-CN" altLang="en-US" sz="2800" b="1" dirty="0" smtClean="0">
                <a:solidFill>
                  <a:srgbClr val="FF0000"/>
                </a:solidFill>
                <a:latin typeface="微软雅黑" panose="020B0503020204020204" pitchFamily="34" charset="-122"/>
                <a:ea typeface="微软雅黑" panose="020B0503020204020204" pitchFamily="34" charset="-122"/>
              </a:rPr>
              <a:t>时间重叠</a:t>
            </a:r>
            <a:r>
              <a:rPr lang="zh-CN" altLang="en-US" sz="2800" b="1" dirty="0">
                <a:solidFill>
                  <a:srgbClr val="FF0000"/>
                </a:solidFill>
                <a:latin typeface="微软雅黑" panose="020B0503020204020204" pitchFamily="34" charset="-122"/>
                <a:ea typeface="微软雅黑" panose="020B0503020204020204" pitchFamily="34" charset="-122"/>
              </a:rPr>
              <a:t>技术</a:t>
            </a:r>
            <a:r>
              <a:rPr lang="zh-CN" altLang="en-US" sz="2800" b="1" dirty="0">
                <a:latin typeface="微软雅黑" panose="020B0503020204020204" pitchFamily="34" charset="-122"/>
                <a:ea typeface="微软雅黑" panose="020B0503020204020204" pitchFamily="34" charset="-122"/>
              </a:rPr>
              <a:t>提高机器性能的并行处理技术，它能在不增加机器硬部件的情况下，通过对某一部件功能进行合理的分解与设计，有效提高部件的处理速度。  </a:t>
            </a:r>
          </a:p>
        </p:txBody>
      </p:sp>
    </p:spTree>
    <p:extLst>
      <p:ext uri="{BB962C8B-B14F-4D97-AF65-F5344CB8AC3E}">
        <p14:creationId xmlns:p14="http://schemas.microsoft.com/office/powerpoint/2010/main" val="2838510139"/>
      </p:ext>
    </p:extLst>
  </p:cSld>
  <p:clrMapOvr>
    <a:masterClrMapping/>
  </p:clrMapOvr>
  <mc:AlternateContent xmlns:mc="http://schemas.openxmlformats.org/markup-compatibility/2006" xmlns:p14="http://schemas.microsoft.com/office/powerpoint/2010/main">
    <mc:Choice Requires="p14">
      <p:transition spd="slow" advTm="4107">
        <p14:prism/>
      </p:transition>
    </mc:Choice>
    <mc:Fallback xmlns="">
      <p:transition spd="slow" advTm="4107">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724687" y="304325"/>
            <a:ext cx="5974331" cy="609355"/>
          </a:xfrm>
          <a:prstGeom prst="rect">
            <a:avLst/>
          </a:prstGeom>
          <a:noFill/>
        </p:spPr>
        <p:txBody>
          <a:bodyPr wrap="square" lIns="91398" tIns="45699" rIns="91398" bIns="45699"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pPr>
              <a:lnSpc>
                <a:spcPct val="120000"/>
              </a:lnSpc>
            </a:pPr>
            <a:r>
              <a:rPr lang="zh-CN" altLang="en-US" sz="2800" b="1" dirty="0">
                <a:solidFill>
                  <a:schemeClr val="tx1"/>
                </a:solidFill>
                <a:latin typeface="微软雅黑" panose="020B0503020204020204" pitchFamily="34" charset="-122"/>
                <a:ea typeface="微软雅黑" panose="020B0503020204020204" pitchFamily="34" charset="-122"/>
              </a:rPr>
              <a:t>按照计算机处理的级别来分类</a:t>
            </a:r>
          </a:p>
        </p:txBody>
      </p:sp>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椭圆 8"/>
          <p:cNvSpPr/>
          <p:nvPr/>
        </p:nvSpPr>
        <p:spPr bwMode="auto">
          <a:xfrm>
            <a:off x="1417307" y="1395811"/>
            <a:ext cx="799664" cy="799664"/>
          </a:xfrm>
          <a:prstGeom prst="ellipse">
            <a:avLst/>
          </a:prstGeom>
          <a:solidFill>
            <a:srgbClr val="04B0BE"/>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10" name="TextBox 9"/>
          <p:cNvSpPr txBox="1"/>
          <p:nvPr/>
        </p:nvSpPr>
        <p:spPr>
          <a:xfrm>
            <a:off x="1471670" y="1503373"/>
            <a:ext cx="598156" cy="584605"/>
          </a:xfrm>
          <a:prstGeom prst="rect">
            <a:avLst/>
          </a:prstGeom>
          <a:noFill/>
        </p:spPr>
        <p:txBody>
          <a:bodyPr wrap="none" lIns="91398" tIns="45699" rIns="91398" bIns="45699" rtlCol="0">
            <a:spAutoFit/>
          </a:bodyPr>
          <a:lstStyle/>
          <a:p>
            <a:r>
              <a:rPr lang="en-US" altLang="zh-CN" sz="3199" b="1" dirty="0">
                <a:solidFill>
                  <a:schemeClr val="bg1"/>
                </a:solidFill>
                <a:latin typeface="+mj-ea"/>
                <a:ea typeface="+mj-ea"/>
              </a:rPr>
              <a:t>01</a:t>
            </a:r>
            <a:endParaRPr lang="zh-CN" altLang="en-US" sz="3199" b="1" dirty="0">
              <a:solidFill>
                <a:schemeClr val="bg1"/>
              </a:solidFill>
              <a:latin typeface="+mj-ea"/>
              <a:ea typeface="+mj-ea"/>
            </a:endParaRPr>
          </a:p>
        </p:txBody>
      </p:sp>
      <p:sp>
        <p:nvSpPr>
          <p:cNvPr id="11" name="椭圆 10"/>
          <p:cNvSpPr/>
          <p:nvPr/>
        </p:nvSpPr>
        <p:spPr bwMode="auto">
          <a:xfrm>
            <a:off x="1417307" y="3331383"/>
            <a:ext cx="799664" cy="799664"/>
          </a:xfrm>
          <a:prstGeom prst="ellipse">
            <a:avLst/>
          </a:prstGeom>
          <a:solidFill>
            <a:srgbClr val="92D05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12" name="TextBox 11"/>
          <p:cNvSpPr txBox="1"/>
          <p:nvPr/>
        </p:nvSpPr>
        <p:spPr>
          <a:xfrm>
            <a:off x="1471670" y="3438944"/>
            <a:ext cx="598156" cy="584605"/>
          </a:xfrm>
          <a:prstGeom prst="rect">
            <a:avLst/>
          </a:prstGeom>
          <a:noFill/>
        </p:spPr>
        <p:txBody>
          <a:bodyPr wrap="none" lIns="91398" tIns="45699" rIns="91398" bIns="45699" rtlCol="0">
            <a:spAutoFit/>
          </a:bodyPr>
          <a:lstStyle/>
          <a:p>
            <a:r>
              <a:rPr lang="en-US" altLang="zh-CN" sz="3199" b="1" dirty="0">
                <a:solidFill>
                  <a:schemeClr val="bg1"/>
                </a:solidFill>
                <a:latin typeface="+mj-ea"/>
                <a:ea typeface="+mj-ea"/>
              </a:rPr>
              <a:t>02</a:t>
            </a:r>
            <a:endParaRPr lang="zh-CN" altLang="en-US" sz="3199" b="1" dirty="0">
              <a:solidFill>
                <a:schemeClr val="bg1"/>
              </a:solidFill>
              <a:latin typeface="+mj-ea"/>
              <a:ea typeface="+mj-ea"/>
            </a:endParaRPr>
          </a:p>
        </p:txBody>
      </p:sp>
      <p:sp>
        <p:nvSpPr>
          <p:cNvPr id="13" name="椭圆 12"/>
          <p:cNvSpPr/>
          <p:nvPr/>
        </p:nvSpPr>
        <p:spPr bwMode="auto">
          <a:xfrm>
            <a:off x="1417307" y="5319892"/>
            <a:ext cx="799664" cy="799664"/>
          </a:xfrm>
          <a:prstGeom prst="ellipse">
            <a:avLst/>
          </a:prstGeom>
          <a:solidFill>
            <a:srgbClr val="FFC00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14" name="TextBox 13"/>
          <p:cNvSpPr txBox="1"/>
          <p:nvPr/>
        </p:nvSpPr>
        <p:spPr>
          <a:xfrm>
            <a:off x="1471670" y="5427455"/>
            <a:ext cx="598156" cy="584605"/>
          </a:xfrm>
          <a:prstGeom prst="rect">
            <a:avLst/>
          </a:prstGeom>
          <a:noFill/>
        </p:spPr>
        <p:txBody>
          <a:bodyPr wrap="none" lIns="91398" tIns="45699" rIns="91398" bIns="45699" rtlCol="0">
            <a:spAutoFit/>
          </a:bodyPr>
          <a:lstStyle/>
          <a:p>
            <a:r>
              <a:rPr lang="en-US" altLang="zh-CN" sz="3199" b="1" dirty="0">
                <a:solidFill>
                  <a:schemeClr val="bg1"/>
                </a:solidFill>
                <a:latin typeface="+mj-ea"/>
                <a:ea typeface="+mj-ea"/>
              </a:rPr>
              <a:t>03</a:t>
            </a:r>
            <a:endParaRPr lang="zh-CN" altLang="en-US" sz="3199" b="1" dirty="0">
              <a:solidFill>
                <a:schemeClr val="bg1"/>
              </a:solidFill>
              <a:latin typeface="+mj-ea"/>
              <a:ea typeface="+mj-ea"/>
            </a:endParaRPr>
          </a:p>
        </p:txBody>
      </p:sp>
      <p:cxnSp>
        <p:nvCxnSpPr>
          <p:cNvPr id="15" name="直接连接符 14"/>
          <p:cNvCxnSpPr/>
          <p:nvPr/>
        </p:nvCxnSpPr>
        <p:spPr bwMode="auto">
          <a:xfrm>
            <a:off x="1823604" y="4139187"/>
            <a:ext cx="0" cy="1143541"/>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直接连接符 18"/>
          <p:cNvCxnSpPr/>
          <p:nvPr/>
        </p:nvCxnSpPr>
        <p:spPr bwMode="auto">
          <a:xfrm>
            <a:off x="1823604" y="2200785"/>
            <a:ext cx="0" cy="1143541"/>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 name="矩形 1"/>
          <p:cNvSpPr/>
          <p:nvPr/>
        </p:nvSpPr>
        <p:spPr>
          <a:xfrm>
            <a:off x="2271334" y="1279114"/>
            <a:ext cx="8674170" cy="1126462"/>
          </a:xfrm>
          <a:prstGeom prst="rect">
            <a:avLst/>
          </a:prstGeom>
        </p:spPr>
        <p:txBody>
          <a:bodyPr wrap="square">
            <a:spAutoFit/>
          </a:bodyPr>
          <a:lstStyle/>
          <a:p>
            <a:pPr lvl="1" fontAlgn="base">
              <a:lnSpc>
                <a:spcPct val="120000"/>
              </a:lnSpc>
              <a:spcBef>
                <a:spcPct val="0"/>
              </a:spcBef>
              <a:spcAft>
                <a:spcPct val="0"/>
              </a:spcAft>
            </a:pPr>
            <a:r>
              <a:rPr lang="zh-CN" altLang="en-US" sz="2800" b="1" dirty="0">
                <a:solidFill>
                  <a:srgbClr val="FF0000"/>
                </a:solidFill>
                <a:latin typeface="微软雅黑" panose="020B0503020204020204" pitchFamily="34" charset="-122"/>
                <a:ea typeface="微软雅黑" panose="020B0503020204020204" pitchFamily="34" charset="-122"/>
              </a:rPr>
              <a:t>部件级</a:t>
            </a:r>
            <a:r>
              <a:rPr lang="zh-CN" altLang="en-US" sz="2800" b="1" dirty="0">
                <a:latin typeface="微软雅黑" panose="020B0503020204020204" pitchFamily="34" charset="-122"/>
                <a:ea typeface="微软雅黑" panose="020B0503020204020204" pitchFamily="34" charset="-122"/>
              </a:rPr>
              <a:t>流水指的是构成部件内的各个子部件间的流水，比如运算器内浮点加、减运算的流水。</a:t>
            </a:r>
          </a:p>
        </p:txBody>
      </p:sp>
      <p:sp>
        <p:nvSpPr>
          <p:cNvPr id="3" name="矩形 2"/>
          <p:cNvSpPr/>
          <p:nvPr/>
        </p:nvSpPr>
        <p:spPr>
          <a:xfrm>
            <a:off x="2476123" y="3167984"/>
            <a:ext cx="8193780" cy="1126462"/>
          </a:xfrm>
          <a:prstGeom prst="rect">
            <a:avLst/>
          </a:prstGeom>
        </p:spPr>
        <p:txBody>
          <a:bodyPr wrap="square">
            <a:spAutoFit/>
          </a:bodyPr>
          <a:lstStyle/>
          <a:p>
            <a:pPr lvl="1" fontAlgn="base">
              <a:lnSpc>
                <a:spcPct val="120000"/>
              </a:lnSpc>
              <a:spcBef>
                <a:spcPct val="0"/>
              </a:spcBef>
              <a:spcAft>
                <a:spcPct val="0"/>
              </a:spcAft>
            </a:pPr>
            <a:r>
              <a:rPr lang="zh-CN" altLang="en-US" sz="2800" b="1" dirty="0">
                <a:solidFill>
                  <a:srgbClr val="FF0000"/>
                </a:solidFill>
                <a:latin typeface="微软雅黑" panose="020B0503020204020204" pitchFamily="34" charset="-122"/>
                <a:ea typeface="微软雅黑" panose="020B0503020204020204" pitchFamily="34" charset="-122"/>
              </a:rPr>
              <a:t>指令级</a:t>
            </a:r>
            <a:r>
              <a:rPr lang="zh-CN" altLang="en-US" sz="2800" b="1" dirty="0">
                <a:latin typeface="微软雅黑" panose="020B0503020204020204" pitchFamily="34" charset="-122"/>
                <a:ea typeface="微软雅黑" panose="020B0503020204020204" pitchFamily="34" charset="-122"/>
              </a:rPr>
              <a:t>流水指的是构成计算机系统的多个处理机之间的流水，又称为宏流水。</a:t>
            </a:r>
          </a:p>
        </p:txBody>
      </p:sp>
      <p:sp>
        <p:nvSpPr>
          <p:cNvPr id="4" name="矩形 3"/>
          <p:cNvSpPr/>
          <p:nvPr/>
        </p:nvSpPr>
        <p:spPr>
          <a:xfrm>
            <a:off x="2417557" y="4897960"/>
            <a:ext cx="8391470" cy="1643527"/>
          </a:xfrm>
          <a:prstGeom prst="rect">
            <a:avLst/>
          </a:prstGeom>
        </p:spPr>
        <p:txBody>
          <a:bodyPr wrap="square">
            <a:spAutoFit/>
          </a:bodyPr>
          <a:lstStyle/>
          <a:p>
            <a:pPr lvl="1" fontAlgn="base">
              <a:lnSpc>
                <a:spcPct val="120000"/>
              </a:lnSpc>
              <a:spcBef>
                <a:spcPct val="0"/>
              </a:spcBef>
              <a:spcAft>
                <a:spcPct val="0"/>
              </a:spcAft>
            </a:pPr>
            <a:r>
              <a:rPr lang="zh-CN" altLang="en-US" sz="2800" b="1" dirty="0">
                <a:solidFill>
                  <a:srgbClr val="FF0000"/>
                </a:solidFill>
                <a:latin typeface="微软雅黑" panose="020B0503020204020204" pitchFamily="34" charset="-122"/>
                <a:ea typeface="微软雅黑" panose="020B0503020204020204" pitchFamily="34" charset="-122"/>
              </a:rPr>
              <a:t>处理机级</a:t>
            </a:r>
            <a:r>
              <a:rPr lang="zh-CN" altLang="en-US" sz="2800" b="1" dirty="0">
                <a:latin typeface="微软雅黑" panose="020B0503020204020204" pitchFamily="34" charset="-122"/>
                <a:ea typeface="微软雅黑" panose="020B0503020204020204" pitchFamily="34" charset="-122"/>
              </a:rPr>
              <a:t>流水指的是构成处理机的各部件之间的流水，比如一条指令分成“取指”、“分析”、“执行”后，这三者之间的流水。 </a:t>
            </a:r>
          </a:p>
        </p:txBody>
      </p:sp>
    </p:spTree>
    <p:extLst>
      <p:ext uri="{BB962C8B-B14F-4D97-AF65-F5344CB8AC3E}">
        <p14:creationId xmlns:p14="http://schemas.microsoft.com/office/powerpoint/2010/main" val="2219846685"/>
      </p:ext>
    </p:extLst>
  </p:cSld>
  <p:clrMapOvr>
    <a:masterClrMapping/>
  </p:clrMapOvr>
  <mc:AlternateContent xmlns:mc="http://schemas.openxmlformats.org/markup-compatibility/2006" xmlns:p14="http://schemas.microsoft.com/office/powerpoint/2010/main">
    <mc:Choice Requires="p14">
      <p:transition spd="slow" advTm="7144">
        <p14:prism/>
      </p:transition>
    </mc:Choice>
    <mc:Fallback xmlns="">
      <p:transition spd="slow" advTm="7144">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组合 23"/>
          <p:cNvGrpSpPr/>
          <p:nvPr/>
        </p:nvGrpSpPr>
        <p:grpSpPr>
          <a:xfrm>
            <a:off x="265635" y="269251"/>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8" name="Oval 5"/>
          <p:cNvSpPr>
            <a:spLocks noChangeArrowheads="1"/>
          </p:cNvSpPr>
          <p:nvPr/>
        </p:nvSpPr>
        <p:spPr bwMode="auto">
          <a:xfrm>
            <a:off x="1031534" y="1737099"/>
            <a:ext cx="1573899" cy="1563688"/>
          </a:xfrm>
          <a:prstGeom prst="ellipse">
            <a:avLst/>
          </a:prstGeom>
          <a:solidFill>
            <a:srgbClr val="04B0BE"/>
          </a:solidFill>
          <a:ln w="38100" cap="flat">
            <a:solidFill>
              <a:srgbClr val="04B0BE"/>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9" name="Oval 6"/>
          <p:cNvSpPr>
            <a:spLocks noChangeArrowheads="1"/>
          </p:cNvSpPr>
          <p:nvPr/>
        </p:nvSpPr>
        <p:spPr bwMode="auto">
          <a:xfrm>
            <a:off x="9128804" y="4351665"/>
            <a:ext cx="1573899" cy="1563688"/>
          </a:xfrm>
          <a:prstGeom prst="ellipse">
            <a:avLst/>
          </a:prstGeom>
          <a:solidFill>
            <a:srgbClr val="FFC000"/>
          </a:solidFill>
          <a:ln w="38100" cap="flat">
            <a:solidFill>
              <a:srgbClr val="FFC000"/>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11" name="Freeform 10"/>
          <p:cNvSpPr>
            <a:spLocks noEditPoints="1"/>
          </p:cNvSpPr>
          <p:nvPr/>
        </p:nvSpPr>
        <p:spPr bwMode="auto">
          <a:xfrm>
            <a:off x="2697164" y="2345605"/>
            <a:ext cx="365303" cy="362962"/>
          </a:xfrm>
          <a:custGeom>
            <a:avLst/>
            <a:gdLst>
              <a:gd name="T0" fmla="*/ 173 w 346"/>
              <a:gd name="T1" fmla="*/ 0 h 346"/>
              <a:gd name="T2" fmla="*/ 346 w 346"/>
              <a:gd name="T3" fmla="*/ 173 h 346"/>
              <a:gd name="T4" fmla="*/ 173 w 346"/>
              <a:gd name="T5" fmla="*/ 346 h 346"/>
              <a:gd name="T6" fmla="*/ 0 w 346"/>
              <a:gd name="T7" fmla="*/ 173 h 346"/>
              <a:gd name="T8" fmla="*/ 173 w 346"/>
              <a:gd name="T9" fmla="*/ 0 h 346"/>
              <a:gd name="T10" fmla="*/ 277 w 346"/>
              <a:gd name="T11" fmla="*/ 176 h 346"/>
              <a:gd name="T12" fmla="*/ 204 w 346"/>
              <a:gd name="T13" fmla="*/ 218 h 346"/>
              <a:gd name="T14" fmla="*/ 131 w 346"/>
              <a:gd name="T15" fmla="*/ 260 h 346"/>
              <a:gd name="T16" fmla="*/ 131 w 346"/>
              <a:gd name="T17" fmla="*/ 176 h 346"/>
              <a:gd name="T18" fmla="*/ 131 w 346"/>
              <a:gd name="T19" fmla="*/ 92 h 346"/>
              <a:gd name="T20" fmla="*/ 204 w 346"/>
              <a:gd name="T21" fmla="*/ 134 h 346"/>
              <a:gd name="T22" fmla="*/ 277 w 346"/>
              <a:gd name="T23" fmla="*/ 17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6" h="346">
                <a:moveTo>
                  <a:pt x="173" y="0"/>
                </a:moveTo>
                <a:cubicBezTo>
                  <a:pt x="268" y="0"/>
                  <a:pt x="346" y="77"/>
                  <a:pt x="346" y="173"/>
                </a:cubicBezTo>
                <a:cubicBezTo>
                  <a:pt x="346" y="268"/>
                  <a:pt x="268" y="346"/>
                  <a:pt x="173" y="346"/>
                </a:cubicBezTo>
                <a:cubicBezTo>
                  <a:pt x="77" y="346"/>
                  <a:pt x="0" y="268"/>
                  <a:pt x="0" y="173"/>
                </a:cubicBezTo>
                <a:cubicBezTo>
                  <a:pt x="0" y="77"/>
                  <a:pt x="77" y="0"/>
                  <a:pt x="173" y="0"/>
                </a:cubicBezTo>
                <a:close/>
                <a:moveTo>
                  <a:pt x="277" y="176"/>
                </a:moveTo>
                <a:lnTo>
                  <a:pt x="204" y="218"/>
                </a:lnTo>
                <a:lnTo>
                  <a:pt x="131" y="260"/>
                </a:lnTo>
                <a:lnTo>
                  <a:pt x="131" y="176"/>
                </a:lnTo>
                <a:lnTo>
                  <a:pt x="131" y="92"/>
                </a:lnTo>
                <a:lnTo>
                  <a:pt x="204" y="134"/>
                </a:lnTo>
                <a:lnTo>
                  <a:pt x="277" y="176"/>
                </a:lnTo>
                <a:close/>
              </a:path>
            </a:pathLst>
          </a:custGeom>
          <a:solidFill>
            <a:srgbClr val="04B0BE"/>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12" name="Freeform 11"/>
          <p:cNvSpPr>
            <a:spLocks noEditPoints="1"/>
          </p:cNvSpPr>
          <p:nvPr/>
        </p:nvSpPr>
        <p:spPr bwMode="auto">
          <a:xfrm>
            <a:off x="8684320" y="4929781"/>
            <a:ext cx="365303" cy="362962"/>
          </a:xfrm>
          <a:custGeom>
            <a:avLst/>
            <a:gdLst>
              <a:gd name="T0" fmla="*/ 173 w 346"/>
              <a:gd name="T1" fmla="*/ 0 h 346"/>
              <a:gd name="T2" fmla="*/ 0 w 346"/>
              <a:gd name="T3" fmla="*/ 173 h 346"/>
              <a:gd name="T4" fmla="*/ 173 w 346"/>
              <a:gd name="T5" fmla="*/ 346 h 346"/>
              <a:gd name="T6" fmla="*/ 346 w 346"/>
              <a:gd name="T7" fmla="*/ 173 h 346"/>
              <a:gd name="T8" fmla="*/ 173 w 346"/>
              <a:gd name="T9" fmla="*/ 0 h 346"/>
              <a:gd name="T10" fmla="*/ 69 w 346"/>
              <a:gd name="T11" fmla="*/ 177 h 346"/>
              <a:gd name="T12" fmla="*/ 142 w 346"/>
              <a:gd name="T13" fmla="*/ 219 h 346"/>
              <a:gd name="T14" fmla="*/ 215 w 346"/>
              <a:gd name="T15" fmla="*/ 261 h 346"/>
              <a:gd name="T16" fmla="*/ 215 w 346"/>
              <a:gd name="T17" fmla="*/ 177 h 346"/>
              <a:gd name="T18" fmla="*/ 215 w 346"/>
              <a:gd name="T19" fmla="*/ 93 h 346"/>
              <a:gd name="T20" fmla="*/ 142 w 346"/>
              <a:gd name="T21" fmla="*/ 135 h 346"/>
              <a:gd name="T22" fmla="*/ 69 w 346"/>
              <a:gd name="T23" fmla="*/ 177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6" h="346">
                <a:moveTo>
                  <a:pt x="173" y="0"/>
                </a:moveTo>
                <a:cubicBezTo>
                  <a:pt x="78" y="0"/>
                  <a:pt x="0" y="78"/>
                  <a:pt x="0" y="173"/>
                </a:cubicBezTo>
                <a:cubicBezTo>
                  <a:pt x="0" y="269"/>
                  <a:pt x="78" y="346"/>
                  <a:pt x="173" y="346"/>
                </a:cubicBezTo>
                <a:cubicBezTo>
                  <a:pt x="269" y="346"/>
                  <a:pt x="346" y="269"/>
                  <a:pt x="346" y="173"/>
                </a:cubicBezTo>
                <a:cubicBezTo>
                  <a:pt x="346" y="78"/>
                  <a:pt x="269" y="0"/>
                  <a:pt x="173" y="0"/>
                </a:cubicBezTo>
                <a:close/>
                <a:moveTo>
                  <a:pt x="69" y="177"/>
                </a:moveTo>
                <a:lnTo>
                  <a:pt x="142" y="219"/>
                </a:lnTo>
                <a:lnTo>
                  <a:pt x="215" y="261"/>
                </a:lnTo>
                <a:lnTo>
                  <a:pt x="215" y="177"/>
                </a:lnTo>
                <a:lnTo>
                  <a:pt x="215" y="93"/>
                </a:lnTo>
                <a:lnTo>
                  <a:pt x="142" y="135"/>
                </a:lnTo>
                <a:lnTo>
                  <a:pt x="69" y="177"/>
                </a:lnTo>
                <a:close/>
              </a:path>
            </a:pathLst>
          </a:custGeom>
          <a:solidFill>
            <a:srgbClr val="FFC00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14" name="TextBox 13"/>
          <p:cNvSpPr txBox="1"/>
          <p:nvPr/>
        </p:nvSpPr>
        <p:spPr>
          <a:xfrm flipH="1">
            <a:off x="1267971" y="2057459"/>
            <a:ext cx="1116324" cy="907578"/>
          </a:xfrm>
          <a:prstGeom prst="rect">
            <a:avLst/>
          </a:prstGeom>
          <a:noFill/>
        </p:spPr>
        <p:txBody>
          <a:bodyPr wrap="square" lIns="91398" tIns="45699" rIns="91398" bIns="45699" rtlCol="0">
            <a:spAutoFit/>
          </a:bodyPr>
          <a:lstStyle/>
          <a:p>
            <a:pPr algn="ctr"/>
            <a:r>
              <a:rPr lang="en-US" altLang="zh-CN" sz="5298" dirty="0">
                <a:solidFill>
                  <a:schemeClr val="bg1"/>
                </a:solidFill>
                <a:latin typeface="+mn-ea"/>
              </a:rPr>
              <a:t>01</a:t>
            </a:r>
          </a:p>
        </p:txBody>
      </p:sp>
      <p:sp>
        <p:nvSpPr>
          <p:cNvPr id="15" name="TextBox 14"/>
          <p:cNvSpPr txBox="1"/>
          <p:nvPr/>
        </p:nvSpPr>
        <p:spPr>
          <a:xfrm flipH="1">
            <a:off x="9373692" y="4672025"/>
            <a:ext cx="1116324" cy="907578"/>
          </a:xfrm>
          <a:prstGeom prst="rect">
            <a:avLst/>
          </a:prstGeom>
          <a:noFill/>
        </p:spPr>
        <p:txBody>
          <a:bodyPr wrap="square" lIns="91398" tIns="45699" rIns="91398" bIns="45699" rtlCol="0">
            <a:spAutoFit/>
          </a:bodyPr>
          <a:lstStyle/>
          <a:p>
            <a:pPr algn="ctr"/>
            <a:r>
              <a:rPr lang="en-US" altLang="zh-CN" sz="5298" dirty="0">
                <a:solidFill>
                  <a:schemeClr val="bg1"/>
                </a:solidFill>
                <a:latin typeface="+mn-ea"/>
              </a:rPr>
              <a:t>02</a:t>
            </a:r>
          </a:p>
        </p:txBody>
      </p:sp>
      <p:sp>
        <p:nvSpPr>
          <p:cNvPr id="23"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 name="矩形 1"/>
          <p:cNvSpPr/>
          <p:nvPr/>
        </p:nvSpPr>
        <p:spPr>
          <a:xfrm>
            <a:off x="901779" y="318640"/>
            <a:ext cx="6723315" cy="565604"/>
          </a:xfrm>
          <a:prstGeom prst="rect">
            <a:avLst/>
          </a:prstGeom>
        </p:spPr>
        <p:txBody>
          <a:bodyPr wrap="non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按照流水线可以完成的动作的数量来分类</a:t>
            </a:r>
            <a:r>
              <a:rPr lang="zh-CN" altLang="en-US" sz="2000" dirty="0">
                <a:latin typeface="微软雅黑" panose="020B0503020204020204" pitchFamily="34" charset="-122"/>
                <a:ea typeface="微软雅黑" panose="020B0503020204020204" pitchFamily="34" charset="-122"/>
              </a:rPr>
              <a:t> </a:t>
            </a:r>
          </a:p>
        </p:txBody>
      </p:sp>
      <p:sp>
        <p:nvSpPr>
          <p:cNvPr id="3" name="矩形 2"/>
          <p:cNvSpPr/>
          <p:nvPr/>
        </p:nvSpPr>
        <p:spPr>
          <a:xfrm>
            <a:off x="2697164" y="1628271"/>
            <a:ext cx="8319428" cy="2160591"/>
          </a:xfrm>
          <a:prstGeom prst="rect">
            <a:avLst/>
          </a:prstGeom>
        </p:spPr>
        <p:txBody>
          <a:bodyPr wrap="square">
            <a:spAutoFit/>
          </a:bodyPr>
          <a:lstStyle/>
          <a:p>
            <a:pPr lvl="1" fontAlgn="base">
              <a:lnSpc>
                <a:spcPct val="120000"/>
              </a:lnSpc>
              <a:spcBef>
                <a:spcPct val="0"/>
              </a:spcBef>
              <a:spcAft>
                <a:spcPct val="0"/>
              </a:spcAft>
            </a:pPr>
            <a:r>
              <a:rPr lang="zh-CN" altLang="en-US" sz="2800" b="1" dirty="0">
                <a:solidFill>
                  <a:srgbClr val="FF0000"/>
                </a:solidFill>
                <a:latin typeface="微软雅黑" panose="020B0503020204020204" pitchFamily="34" charset="-122"/>
                <a:ea typeface="微软雅黑" panose="020B0503020204020204" pitchFamily="34" charset="-122"/>
              </a:rPr>
              <a:t>单功能流水线</a:t>
            </a:r>
            <a:r>
              <a:rPr lang="zh-CN" altLang="en-US" sz="2800" b="1" dirty="0">
                <a:latin typeface="微软雅黑" panose="020B0503020204020204" pitchFamily="34" charset="-122"/>
                <a:ea typeface="微软雅黑" panose="020B0503020204020204" pitchFamily="34" charset="-122"/>
              </a:rPr>
              <a:t>指的是只能实现单一功能的流水，比如只能实现浮点加减而不能实现浮点乘除的流水线。当然，如果要完成多种功能的流水可以将多个单功能的流水线组合起来实现。</a:t>
            </a:r>
          </a:p>
        </p:txBody>
      </p:sp>
      <p:sp>
        <p:nvSpPr>
          <p:cNvPr id="4" name="矩形 3"/>
          <p:cNvSpPr/>
          <p:nvPr/>
        </p:nvSpPr>
        <p:spPr>
          <a:xfrm>
            <a:off x="757981" y="4351665"/>
            <a:ext cx="7713652" cy="1643527"/>
          </a:xfrm>
          <a:prstGeom prst="rect">
            <a:avLst/>
          </a:prstGeom>
        </p:spPr>
        <p:txBody>
          <a:bodyPr wrap="square">
            <a:spAutoFit/>
          </a:bodyPr>
          <a:lstStyle/>
          <a:p>
            <a:pPr lvl="1" fontAlgn="base">
              <a:lnSpc>
                <a:spcPct val="120000"/>
              </a:lnSpc>
              <a:spcBef>
                <a:spcPct val="0"/>
              </a:spcBef>
              <a:spcAft>
                <a:spcPct val="0"/>
              </a:spcAft>
            </a:pPr>
            <a:r>
              <a:rPr lang="zh-CN" altLang="en-US" sz="2800" b="1" dirty="0">
                <a:solidFill>
                  <a:srgbClr val="FF0000"/>
                </a:solidFill>
                <a:latin typeface="微软雅黑" panose="020B0503020204020204" pitchFamily="34" charset="-122"/>
                <a:ea typeface="微软雅黑" panose="020B0503020204020204" pitchFamily="34" charset="-122"/>
              </a:rPr>
              <a:t>多功能流水线</a:t>
            </a:r>
            <a:r>
              <a:rPr lang="zh-CN" altLang="en-US" sz="2800" b="1" dirty="0">
                <a:latin typeface="微软雅黑" panose="020B0503020204020204" pitchFamily="34" charset="-122"/>
                <a:ea typeface="微软雅黑" panose="020B0503020204020204" pitchFamily="34" charset="-122"/>
              </a:rPr>
              <a:t>指的是在同一流水线的各个段之间可以有多种不同的连接方式以实现多种不同的功能或运算。</a:t>
            </a:r>
            <a:r>
              <a:rPr lang="zh-CN" altLang="en-US" sz="2800" dirty="0">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3242277994"/>
      </p:ext>
    </p:extLst>
  </p:cSld>
  <p:clrMapOvr>
    <a:masterClrMapping/>
  </p:clrMapOvr>
  <mc:AlternateContent xmlns:mc="http://schemas.openxmlformats.org/markup-compatibility/2006" xmlns:p14="http://schemas.microsoft.com/office/powerpoint/2010/main">
    <mc:Choice Requires="p14">
      <p:transition spd="slow" advTm="8899">
        <p14:prism/>
      </p:transition>
    </mc:Choice>
    <mc:Fallback xmlns="">
      <p:transition spd="slow" advTm="8899">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930566" y="-38111"/>
            <a:ext cx="10515600" cy="1325563"/>
          </a:xfrm>
        </p:spPr>
        <p:txBody>
          <a:bodyPr>
            <a:normAutofit/>
          </a:bodyPr>
          <a:lstStyle/>
          <a:p>
            <a:pPr algn="l"/>
            <a:r>
              <a:rPr lang="zh-CN" altLang="en-US" sz="2800" b="1" dirty="0">
                <a:latin typeface="微软雅黑" panose="020B0503020204020204" pitchFamily="34" charset="-122"/>
                <a:ea typeface="微软雅黑" panose="020B0503020204020204" pitchFamily="34" charset="-122"/>
              </a:rPr>
              <a:t>多功能流水线的实现 </a:t>
            </a:r>
          </a:p>
        </p:txBody>
      </p:sp>
      <p:sp>
        <p:nvSpPr>
          <p:cNvPr id="76809" name="Rectangle 9"/>
          <p:cNvSpPr>
            <a:spLocks noChangeArrowheads="1"/>
          </p:cNvSpPr>
          <p:nvPr/>
        </p:nvSpPr>
        <p:spPr bwMode="auto">
          <a:xfrm>
            <a:off x="6003635" y="17393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0"/>
              </a:spcBef>
              <a:spcAft>
                <a:spcPct val="0"/>
              </a:spcAft>
            </a:pPr>
            <a:endParaRPr lang="zh-CN" altLang="en-US">
              <a:solidFill>
                <a:srgbClr val="FFFFFF"/>
              </a:solidFill>
              <a:ea typeface="宋体" panose="02010600030101010101" pitchFamily="2" charset="-122"/>
            </a:endParaRPr>
          </a:p>
        </p:txBody>
      </p:sp>
      <p:pic>
        <p:nvPicPr>
          <p:cNvPr id="3" name="图片 2"/>
          <p:cNvPicPr>
            <a:picLocks noChangeAspect="1"/>
          </p:cNvPicPr>
          <p:nvPr/>
        </p:nvPicPr>
        <p:blipFill>
          <a:blip r:embed="rId2"/>
          <a:stretch>
            <a:fillRect/>
          </a:stretch>
        </p:blipFill>
        <p:spPr>
          <a:xfrm>
            <a:off x="1712291" y="2171459"/>
            <a:ext cx="8952149" cy="4422776"/>
          </a:xfrm>
          <a:prstGeom prst="rect">
            <a:avLst/>
          </a:prstGeom>
        </p:spPr>
      </p:pic>
      <p:grpSp>
        <p:nvGrpSpPr>
          <p:cNvPr id="7" name="组合 6"/>
          <p:cNvGrpSpPr/>
          <p:nvPr/>
        </p:nvGrpSpPr>
        <p:grpSpPr>
          <a:xfrm>
            <a:off x="265635" y="269251"/>
            <a:ext cx="438352" cy="621987"/>
            <a:chOff x="265635" y="269251"/>
            <a:chExt cx="438352" cy="621987"/>
          </a:xfrm>
        </p:grpSpPr>
        <p:sp>
          <p:nvSpPr>
            <p:cNvPr id="8"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0"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4" name="矩形 3"/>
          <p:cNvSpPr/>
          <p:nvPr/>
        </p:nvSpPr>
        <p:spPr>
          <a:xfrm>
            <a:off x="-162739" y="903888"/>
            <a:ext cx="10495722" cy="523220"/>
          </a:xfrm>
          <a:prstGeom prst="rect">
            <a:avLst/>
          </a:prstGeom>
        </p:spPr>
        <p:txBody>
          <a:bodyPr wrap="square">
            <a:spAutoFit/>
          </a:bodyPr>
          <a:lstStyle/>
          <a:p>
            <a:pPr algn="ctr" eaLnBrk="0" fontAlgn="base" hangingPunct="0">
              <a:spcBef>
                <a:spcPct val="0"/>
              </a:spcBef>
              <a:spcAft>
                <a:spcPct val="0"/>
              </a:spcAft>
            </a:pPr>
            <a:r>
              <a:rPr lang="zh-CN" altLang="en-US" sz="2800" b="1" dirty="0">
                <a:latin typeface="微软雅黑" panose="020B0503020204020204" pitchFamily="34" charset="-122"/>
                <a:ea typeface="微软雅黑" panose="020B0503020204020204" pitchFamily="34" charset="-122"/>
              </a:rPr>
              <a:t>同一个流水线在不同连接下可以分别实现浮点加、减</a:t>
            </a:r>
            <a:endParaRPr lang="en-US" altLang="zh-CN" sz="2800" b="1" dirty="0">
              <a:latin typeface="微软雅黑" panose="020B0503020204020204" pitchFamily="34" charset="-122"/>
              <a:ea typeface="微软雅黑" panose="020B0503020204020204" pitchFamily="34" charset="-122"/>
            </a:endParaRPr>
          </a:p>
        </p:txBody>
      </p:sp>
      <p:sp>
        <p:nvSpPr>
          <p:cNvPr id="5" name="矩形 4"/>
          <p:cNvSpPr/>
          <p:nvPr/>
        </p:nvSpPr>
        <p:spPr>
          <a:xfrm>
            <a:off x="864306" y="1449827"/>
            <a:ext cx="7007046" cy="523220"/>
          </a:xfrm>
          <a:prstGeom prst="rect">
            <a:avLst/>
          </a:prstGeom>
        </p:spPr>
        <p:txBody>
          <a:bodyPr wrap="none">
            <a:spAutoFit/>
          </a:bodyPr>
          <a:lstStyle/>
          <a:p>
            <a:pPr algn="ctr" eaLnBrk="0" fontAlgn="base" hangingPunct="0">
              <a:spcBef>
                <a:spcPct val="0"/>
              </a:spcBef>
              <a:spcAft>
                <a:spcPct val="0"/>
              </a:spcAft>
            </a:pPr>
            <a:r>
              <a:rPr lang="zh-CN" altLang="en-US" sz="2800" b="1" dirty="0">
                <a:latin typeface="微软雅黑" panose="020B0503020204020204" pitchFamily="34" charset="-122"/>
                <a:ea typeface="微软雅黑" panose="020B0503020204020204" pitchFamily="34" charset="-122"/>
              </a:rPr>
              <a:t>运算时的连接和定点乘、除法运算时的连接</a:t>
            </a:r>
          </a:p>
        </p:txBody>
      </p:sp>
      <p:sp>
        <p:nvSpPr>
          <p:cNvPr id="2" name="矩形 1"/>
          <p:cNvSpPr/>
          <p:nvPr/>
        </p:nvSpPr>
        <p:spPr>
          <a:xfrm>
            <a:off x="5608320" y="4559808"/>
            <a:ext cx="1877568" cy="804672"/>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703747" y="2600776"/>
            <a:ext cx="1877568" cy="1804970"/>
          </a:xfrm>
          <a:prstGeom prst="rect">
            <a:avLst/>
          </a:prstGeom>
          <a:noFill/>
          <a:ln w="1905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06693235"/>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p:cTn id="15" dur="1000" fill="hold"/>
                                        <p:tgtEl>
                                          <p:spTgt spid="12"/>
                                        </p:tgtEl>
                                        <p:attrNameLst>
                                          <p:attrName>ppt_w</p:attrName>
                                        </p:attrNameLst>
                                      </p:cBhvr>
                                      <p:tavLst>
                                        <p:tav tm="0">
                                          <p:val>
                                            <p:fltVal val="0"/>
                                          </p:val>
                                        </p:tav>
                                        <p:tav tm="100000">
                                          <p:val>
                                            <p:strVal val="#ppt_w"/>
                                          </p:val>
                                        </p:tav>
                                      </p:tavLst>
                                    </p:anim>
                                    <p:anim calcmode="lin" valueType="num">
                                      <p:cBhvr>
                                        <p:cTn id="16" dur="1000" fill="hold"/>
                                        <p:tgtEl>
                                          <p:spTgt spid="12"/>
                                        </p:tgtEl>
                                        <p:attrNameLst>
                                          <p:attrName>ppt_h</p:attrName>
                                        </p:attrNameLst>
                                      </p:cBhvr>
                                      <p:tavLst>
                                        <p:tav tm="0">
                                          <p:val>
                                            <p:fltVal val="0"/>
                                          </p:val>
                                        </p:tav>
                                        <p:tav tm="100000">
                                          <p:val>
                                            <p:strVal val="#ppt_h"/>
                                          </p:val>
                                        </p:tav>
                                      </p:tavLst>
                                    </p:anim>
                                    <p:anim calcmode="lin" valueType="num">
                                      <p:cBhvr>
                                        <p:cTn id="17" dur="1000" fill="hold"/>
                                        <p:tgtEl>
                                          <p:spTgt spid="12"/>
                                        </p:tgtEl>
                                        <p:attrNameLst>
                                          <p:attrName>style.rotation</p:attrName>
                                        </p:attrNameLst>
                                      </p:cBhvr>
                                      <p:tavLst>
                                        <p:tav tm="0">
                                          <p:val>
                                            <p:fltVal val="90"/>
                                          </p:val>
                                        </p:tav>
                                        <p:tav tm="100000">
                                          <p:val>
                                            <p:fltVal val="0"/>
                                          </p:val>
                                        </p:tav>
                                      </p:tavLst>
                                    </p:anim>
                                    <p:animEffect transition="in" filter="fade">
                                      <p:cBhvr>
                                        <p:cTn id="18"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31" name="Text Box 7"/>
          <p:cNvSpPr txBox="1">
            <a:spLocks noChangeArrowheads="1"/>
          </p:cNvSpPr>
          <p:nvPr/>
        </p:nvSpPr>
        <p:spPr bwMode="auto">
          <a:xfrm>
            <a:off x="2646790" y="3943833"/>
            <a:ext cx="6419574" cy="522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fontAlgn="base">
              <a:spcBef>
                <a:spcPct val="0"/>
              </a:spcBef>
              <a:spcAft>
                <a:spcPct val="0"/>
              </a:spcAft>
              <a:buFontTx/>
              <a:buChar char="•"/>
            </a:pPr>
            <a:endParaRPr lang="zh-CN" altLang="en-US" sz="2800" dirty="0">
              <a:solidFill>
                <a:srgbClr val="FFFFFF"/>
              </a:solidFill>
              <a:ea typeface="宋体" panose="02010600030101010101" pitchFamily="2" charset="-122"/>
            </a:endParaRPr>
          </a:p>
        </p:txBody>
      </p:sp>
      <p:sp>
        <p:nvSpPr>
          <p:cNvPr id="8" name="Rectangle 2"/>
          <p:cNvSpPr txBox="1">
            <a:spLocks noChangeArrowheads="1"/>
          </p:cNvSpPr>
          <p:nvPr/>
        </p:nvSpPr>
        <p:spPr bwMode="auto">
          <a:xfrm>
            <a:off x="3505200" y="381000"/>
            <a:ext cx="8432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8900000" algn="ctr" rotWithShape="0">
                    <a:srgbClr val="000000">
                      <a:alpha val="50000"/>
                    </a:srgbClr>
                  </a:outerShdw>
                </a:effectLst>
              </a14:hiddenEffects>
            </a:ext>
          </a:extLst>
        </p:spPr>
        <p:txBody>
          <a:bodyPr vert="horz" wrap="square" lIns="91440" tIns="45720" rIns="91440" bIns="45720" numCol="1" anchor="ctr" anchorCtr="0" compatLnSpc="1">
            <a:prstTxWarp prst="textNoShape">
              <a:avLst/>
            </a:prstTxWarp>
          </a:bodyPr>
          <a:lstStyle>
            <a:lvl1pPr algn="r" rtl="0" fontAlgn="base">
              <a:spcBef>
                <a:spcPct val="0"/>
              </a:spcBef>
              <a:spcAft>
                <a:spcPct val="0"/>
              </a:spcAft>
              <a:defRPr sz="4000" kern="1200">
                <a:solidFill>
                  <a:schemeClr val="bg1"/>
                </a:solidFill>
                <a:latin typeface="+mj-lt"/>
                <a:ea typeface="+mj-ea"/>
                <a:cs typeface="+mj-cs"/>
              </a:defRPr>
            </a:lvl1pPr>
            <a:lvl2pPr algn="r" rtl="0" fontAlgn="base">
              <a:spcBef>
                <a:spcPct val="0"/>
              </a:spcBef>
              <a:spcAft>
                <a:spcPct val="0"/>
              </a:spcAft>
              <a:defRPr sz="4000">
                <a:solidFill>
                  <a:schemeClr val="bg1"/>
                </a:solidFill>
                <a:latin typeface="Arial" panose="020B0604020202020204" pitchFamily="34" charset="0"/>
              </a:defRPr>
            </a:lvl2pPr>
            <a:lvl3pPr algn="r" rtl="0" fontAlgn="base">
              <a:spcBef>
                <a:spcPct val="0"/>
              </a:spcBef>
              <a:spcAft>
                <a:spcPct val="0"/>
              </a:spcAft>
              <a:defRPr sz="4000">
                <a:solidFill>
                  <a:schemeClr val="bg1"/>
                </a:solidFill>
                <a:latin typeface="Arial" panose="020B0604020202020204" pitchFamily="34" charset="0"/>
              </a:defRPr>
            </a:lvl3pPr>
            <a:lvl4pPr algn="r" rtl="0" fontAlgn="base">
              <a:spcBef>
                <a:spcPct val="0"/>
              </a:spcBef>
              <a:spcAft>
                <a:spcPct val="0"/>
              </a:spcAft>
              <a:defRPr sz="4000">
                <a:solidFill>
                  <a:schemeClr val="bg1"/>
                </a:solidFill>
                <a:latin typeface="Arial" panose="020B0604020202020204" pitchFamily="34" charset="0"/>
              </a:defRPr>
            </a:lvl4pPr>
            <a:lvl5pPr algn="r" rtl="0" fontAlgn="base">
              <a:spcBef>
                <a:spcPct val="0"/>
              </a:spcBef>
              <a:spcAft>
                <a:spcPct val="0"/>
              </a:spcAft>
              <a:defRPr sz="4000">
                <a:solidFill>
                  <a:schemeClr val="bg1"/>
                </a:solidFill>
                <a:latin typeface="Arial" panose="020B0604020202020204" pitchFamily="34" charset="0"/>
              </a:defRPr>
            </a:lvl5pPr>
            <a:lvl6pPr marL="457200" algn="r" rtl="0" fontAlgn="base">
              <a:spcBef>
                <a:spcPct val="0"/>
              </a:spcBef>
              <a:spcAft>
                <a:spcPct val="0"/>
              </a:spcAft>
              <a:defRPr sz="4000">
                <a:solidFill>
                  <a:schemeClr val="bg1"/>
                </a:solidFill>
                <a:latin typeface="Arial" panose="020B0604020202020204" pitchFamily="34" charset="0"/>
              </a:defRPr>
            </a:lvl6pPr>
            <a:lvl7pPr marL="914400" algn="r" rtl="0" fontAlgn="base">
              <a:spcBef>
                <a:spcPct val="0"/>
              </a:spcBef>
              <a:spcAft>
                <a:spcPct val="0"/>
              </a:spcAft>
              <a:defRPr sz="4000">
                <a:solidFill>
                  <a:schemeClr val="bg1"/>
                </a:solidFill>
                <a:latin typeface="Arial" panose="020B0604020202020204" pitchFamily="34" charset="0"/>
              </a:defRPr>
            </a:lvl7pPr>
            <a:lvl8pPr marL="1371600" algn="r" rtl="0" fontAlgn="base">
              <a:spcBef>
                <a:spcPct val="0"/>
              </a:spcBef>
              <a:spcAft>
                <a:spcPct val="0"/>
              </a:spcAft>
              <a:defRPr sz="4000">
                <a:solidFill>
                  <a:schemeClr val="bg1"/>
                </a:solidFill>
                <a:latin typeface="Arial" panose="020B0604020202020204" pitchFamily="34" charset="0"/>
              </a:defRPr>
            </a:lvl8pPr>
            <a:lvl9pPr marL="1828800" algn="r" rtl="0" fontAlgn="base">
              <a:spcBef>
                <a:spcPct val="0"/>
              </a:spcBef>
              <a:spcAft>
                <a:spcPct val="0"/>
              </a:spcAft>
              <a:defRPr sz="4000">
                <a:solidFill>
                  <a:schemeClr val="bg1"/>
                </a:solidFill>
                <a:latin typeface="Arial" panose="020B0604020202020204" pitchFamily="34" charset="0"/>
              </a:defRPr>
            </a:lvl9pPr>
          </a:lstStyle>
          <a:p>
            <a:pPr algn="l"/>
            <a:r>
              <a:rPr lang="en-US" altLang="zh-CN" b="1" dirty="0">
                <a:ea typeface="宋体" panose="02010600030101010101" pitchFamily="2" charset="-122"/>
              </a:rPr>
              <a:t>8.2.2 </a:t>
            </a:r>
            <a:r>
              <a:rPr lang="zh-CN" altLang="en-US" b="1" dirty="0">
                <a:ea typeface="宋体" panose="02010600030101010101" pitchFamily="2" charset="-122"/>
              </a:rPr>
              <a:t>流水线的分类</a:t>
            </a:r>
            <a:r>
              <a:rPr lang="zh-CN" altLang="en-US" dirty="0">
                <a:ea typeface="宋体" panose="02010600030101010101" pitchFamily="2" charset="-122"/>
              </a:rPr>
              <a:t> </a:t>
            </a:r>
          </a:p>
        </p:txBody>
      </p:sp>
      <p:grpSp>
        <p:nvGrpSpPr>
          <p:cNvPr id="7" name="组合 6"/>
          <p:cNvGrpSpPr/>
          <p:nvPr/>
        </p:nvGrpSpPr>
        <p:grpSpPr>
          <a:xfrm>
            <a:off x="469613" y="1974789"/>
            <a:ext cx="1041970" cy="1219434"/>
            <a:chOff x="1446900" y="2132856"/>
            <a:chExt cx="1304925" cy="1527175"/>
          </a:xfrm>
        </p:grpSpPr>
        <p:sp>
          <p:nvSpPr>
            <p:cNvPr id="9" name="Freeform 5"/>
            <p:cNvSpPr>
              <a:spLocks/>
            </p:cNvSpPr>
            <p:nvPr/>
          </p:nvSpPr>
          <p:spPr bwMode="auto">
            <a:xfrm>
              <a:off x="1446900" y="2132856"/>
              <a:ext cx="1304925" cy="1527175"/>
            </a:xfrm>
            <a:custGeom>
              <a:avLst/>
              <a:gdLst>
                <a:gd name="T0" fmla="*/ 827 w 1654"/>
                <a:gd name="T1" fmla="*/ 0 h 1918"/>
                <a:gd name="T2" fmla="*/ 1654 w 1654"/>
                <a:gd name="T3" fmla="*/ 827 h 1918"/>
                <a:gd name="T4" fmla="*/ 1116 w 1654"/>
                <a:gd name="T5" fmla="*/ 1602 h 1918"/>
                <a:gd name="T6" fmla="*/ 995 w 1654"/>
                <a:gd name="T7" fmla="*/ 1741 h 1918"/>
                <a:gd name="T8" fmla="*/ 870 w 1654"/>
                <a:gd name="T9" fmla="*/ 1884 h 1918"/>
                <a:gd name="T10" fmla="*/ 789 w 1654"/>
                <a:gd name="T11" fmla="*/ 1889 h 1918"/>
                <a:gd name="T12" fmla="*/ 660 w 1654"/>
                <a:gd name="T13" fmla="*/ 1741 h 1918"/>
                <a:gd name="T14" fmla="*/ 540 w 1654"/>
                <a:gd name="T15" fmla="*/ 1603 h 1918"/>
                <a:gd name="T16" fmla="*/ 0 w 1654"/>
                <a:gd name="T17" fmla="*/ 827 h 1918"/>
                <a:gd name="T18" fmla="*/ 827 w 1654"/>
                <a:gd name="T19" fmla="*/ 0 h 1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54" h="1918">
                  <a:moveTo>
                    <a:pt x="827" y="0"/>
                  </a:moveTo>
                  <a:cubicBezTo>
                    <a:pt x="1283" y="0"/>
                    <a:pt x="1654" y="370"/>
                    <a:pt x="1654" y="827"/>
                  </a:cubicBezTo>
                  <a:cubicBezTo>
                    <a:pt x="1654" y="1182"/>
                    <a:pt x="1430" y="1485"/>
                    <a:pt x="1116" y="1602"/>
                  </a:cubicBezTo>
                  <a:lnTo>
                    <a:pt x="995" y="1741"/>
                  </a:lnTo>
                  <a:cubicBezTo>
                    <a:pt x="953" y="1788"/>
                    <a:pt x="912" y="1836"/>
                    <a:pt x="870" y="1884"/>
                  </a:cubicBezTo>
                  <a:cubicBezTo>
                    <a:pt x="845" y="1916"/>
                    <a:pt x="818" y="1918"/>
                    <a:pt x="789" y="1889"/>
                  </a:cubicBezTo>
                  <a:cubicBezTo>
                    <a:pt x="746" y="1840"/>
                    <a:pt x="703" y="1790"/>
                    <a:pt x="660" y="1741"/>
                  </a:cubicBezTo>
                  <a:lnTo>
                    <a:pt x="540" y="1603"/>
                  </a:lnTo>
                  <a:cubicBezTo>
                    <a:pt x="225" y="1486"/>
                    <a:pt x="0" y="1183"/>
                    <a:pt x="0" y="827"/>
                  </a:cubicBezTo>
                  <a:cubicBezTo>
                    <a:pt x="0" y="370"/>
                    <a:pt x="370" y="0"/>
                    <a:pt x="827" y="0"/>
                  </a:cubicBezTo>
                  <a:close/>
                </a:path>
              </a:pathLst>
            </a:custGeom>
            <a:solidFill>
              <a:srgbClr val="92D050"/>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10" name="Freeform 16"/>
            <p:cNvSpPr>
              <a:spLocks noEditPoints="1"/>
            </p:cNvSpPr>
            <p:nvPr/>
          </p:nvSpPr>
          <p:spPr bwMode="auto">
            <a:xfrm>
              <a:off x="1668969" y="2542449"/>
              <a:ext cx="860788" cy="500028"/>
            </a:xfrm>
            <a:custGeom>
              <a:avLst/>
              <a:gdLst>
                <a:gd name="T0" fmla="*/ 712 w 739"/>
                <a:gd name="T1" fmla="*/ 36 h 492"/>
                <a:gd name="T2" fmla="*/ 712 w 739"/>
                <a:gd name="T3" fmla="*/ 404 h 492"/>
                <a:gd name="T4" fmla="*/ 702 w 739"/>
                <a:gd name="T5" fmla="*/ 404 h 492"/>
                <a:gd name="T6" fmla="*/ 678 w 739"/>
                <a:gd name="T7" fmla="*/ 403 h 492"/>
                <a:gd name="T8" fmla="*/ 373 w 739"/>
                <a:gd name="T9" fmla="*/ 480 h 492"/>
                <a:gd name="T10" fmla="*/ 369 w 739"/>
                <a:gd name="T11" fmla="*/ 482 h 492"/>
                <a:gd name="T12" fmla="*/ 365 w 739"/>
                <a:gd name="T13" fmla="*/ 480 h 492"/>
                <a:gd name="T14" fmla="*/ 60 w 739"/>
                <a:gd name="T15" fmla="*/ 403 h 492"/>
                <a:gd name="T16" fmla="*/ 37 w 739"/>
                <a:gd name="T17" fmla="*/ 404 h 492"/>
                <a:gd name="T18" fmla="*/ 26 w 739"/>
                <a:gd name="T19" fmla="*/ 404 h 492"/>
                <a:gd name="T20" fmla="*/ 26 w 739"/>
                <a:gd name="T21" fmla="*/ 36 h 492"/>
                <a:gd name="T22" fmla="*/ 0 w 739"/>
                <a:gd name="T23" fmla="*/ 36 h 492"/>
                <a:gd name="T24" fmla="*/ 0 w 739"/>
                <a:gd name="T25" fmla="*/ 418 h 492"/>
                <a:gd name="T26" fmla="*/ 369 w 739"/>
                <a:gd name="T27" fmla="*/ 492 h 492"/>
                <a:gd name="T28" fmla="*/ 739 w 739"/>
                <a:gd name="T29" fmla="*/ 418 h 492"/>
                <a:gd name="T30" fmla="*/ 739 w 739"/>
                <a:gd name="T31" fmla="*/ 36 h 492"/>
                <a:gd name="T32" fmla="*/ 712 w 739"/>
                <a:gd name="T33" fmla="*/ 36 h 492"/>
                <a:gd name="T34" fmla="*/ 357 w 739"/>
                <a:gd name="T35" fmla="*/ 418 h 492"/>
                <a:gd name="T36" fmla="*/ 357 w 739"/>
                <a:gd name="T37" fmla="*/ 82 h 492"/>
                <a:gd name="T38" fmla="*/ 101 w 739"/>
                <a:gd name="T39" fmla="*/ 2 h 492"/>
                <a:gd name="T40" fmla="*/ 101 w 739"/>
                <a:gd name="T41" fmla="*/ 352 h 492"/>
                <a:gd name="T42" fmla="*/ 111 w 739"/>
                <a:gd name="T43" fmla="*/ 352 h 492"/>
                <a:gd name="T44" fmla="*/ 357 w 739"/>
                <a:gd name="T45" fmla="*/ 418 h 492"/>
                <a:gd name="T46" fmla="*/ 638 w 739"/>
                <a:gd name="T47" fmla="*/ 352 h 492"/>
                <a:gd name="T48" fmla="*/ 638 w 739"/>
                <a:gd name="T49" fmla="*/ 2 h 492"/>
                <a:gd name="T50" fmla="*/ 382 w 739"/>
                <a:gd name="T51" fmla="*/ 82 h 492"/>
                <a:gd name="T52" fmla="*/ 382 w 739"/>
                <a:gd name="T53" fmla="*/ 418 h 492"/>
                <a:gd name="T54" fmla="*/ 628 w 739"/>
                <a:gd name="T55" fmla="*/ 352 h 492"/>
                <a:gd name="T56" fmla="*/ 638 w 739"/>
                <a:gd name="T57" fmla="*/ 352 h 492"/>
                <a:gd name="T58" fmla="*/ 369 w 739"/>
                <a:gd name="T59" fmla="*/ 473 h 492"/>
                <a:gd name="T60" fmla="*/ 695 w 739"/>
                <a:gd name="T61" fmla="*/ 395 h 492"/>
                <a:gd name="T62" fmla="*/ 695 w 739"/>
                <a:gd name="T63" fmla="*/ 7 h 492"/>
                <a:gd name="T64" fmla="*/ 655 w 739"/>
                <a:gd name="T65" fmla="*/ 7 h 492"/>
                <a:gd name="T66" fmla="*/ 655 w 739"/>
                <a:gd name="T67" fmla="*/ 370 h 492"/>
                <a:gd name="T68" fmla="*/ 645 w 739"/>
                <a:gd name="T69" fmla="*/ 370 h 492"/>
                <a:gd name="T70" fmla="*/ 626 w 739"/>
                <a:gd name="T71" fmla="*/ 369 h 492"/>
                <a:gd name="T72" fmla="*/ 376 w 739"/>
                <a:gd name="T73" fmla="*/ 441 h 492"/>
                <a:gd name="T74" fmla="*/ 369 w 739"/>
                <a:gd name="T75" fmla="*/ 445 h 492"/>
                <a:gd name="T76" fmla="*/ 363 w 739"/>
                <a:gd name="T77" fmla="*/ 441 h 492"/>
                <a:gd name="T78" fmla="*/ 113 w 739"/>
                <a:gd name="T79" fmla="*/ 369 h 492"/>
                <a:gd name="T80" fmla="*/ 93 w 739"/>
                <a:gd name="T81" fmla="*/ 370 h 492"/>
                <a:gd name="T82" fmla="*/ 83 w 739"/>
                <a:gd name="T83" fmla="*/ 370 h 492"/>
                <a:gd name="T84" fmla="*/ 83 w 739"/>
                <a:gd name="T85" fmla="*/ 7 h 492"/>
                <a:gd name="T86" fmla="*/ 44 w 739"/>
                <a:gd name="T87" fmla="*/ 7 h 492"/>
                <a:gd name="T88" fmla="*/ 44 w 739"/>
                <a:gd name="T89" fmla="*/ 395 h 492"/>
                <a:gd name="T90" fmla="*/ 369 w 739"/>
                <a:gd name="T91" fmla="*/ 473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39" h="492">
                  <a:moveTo>
                    <a:pt x="712" y="36"/>
                  </a:moveTo>
                  <a:lnTo>
                    <a:pt x="712" y="404"/>
                  </a:lnTo>
                  <a:lnTo>
                    <a:pt x="702" y="404"/>
                  </a:lnTo>
                  <a:cubicBezTo>
                    <a:pt x="694" y="404"/>
                    <a:pt x="686" y="403"/>
                    <a:pt x="678" y="403"/>
                  </a:cubicBezTo>
                  <a:cubicBezTo>
                    <a:pt x="576" y="403"/>
                    <a:pt x="467" y="430"/>
                    <a:pt x="373" y="480"/>
                  </a:cubicBezTo>
                  <a:lnTo>
                    <a:pt x="369" y="482"/>
                  </a:lnTo>
                  <a:lnTo>
                    <a:pt x="365" y="480"/>
                  </a:lnTo>
                  <a:cubicBezTo>
                    <a:pt x="271" y="430"/>
                    <a:pt x="163" y="403"/>
                    <a:pt x="60" y="403"/>
                  </a:cubicBezTo>
                  <a:cubicBezTo>
                    <a:pt x="52" y="403"/>
                    <a:pt x="45" y="404"/>
                    <a:pt x="37" y="404"/>
                  </a:cubicBezTo>
                  <a:lnTo>
                    <a:pt x="26" y="404"/>
                  </a:lnTo>
                  <a:lnTo>
                    <a:pt x="26" y="36"/>
                  </a:lnTo>
                  <a:cubicBezTo>
                    <a:pt x="17" y="36"/>
                    <a:pt x="9" y="36"/>
                    <a:pt x="0" y="36"/>
                  </a:cubicBezTo>
                  <a:lnTo>
                    <a:pt x="0" y="418"/>
                  </a:lnTo>
                  <a:cubicBezTo>
                    <a:pt x="123" y="415"/>
                    <a:pt x="254" y="442"/>
                    <a:pt x="369" y="492"/>
                  </a:cubicBezTo>
                  <a:cubicBezTo>
                    <a:pt x="484" y="442"/>
                    <a:pt x="616" y="415"/>
                    <a:pt x="739" y="418"/>
                  </a:cubicBezTo>
                  <a:lnTo>
                    <a:pt x="739" y="36"/>
                  </a:lnTo>
                  <a:cubicBezTo>
                    <a:pt x="730" y="36"/>
                    <a:pt x="721" y="36"/>
                    <a:pt x="712" y="36"/>
                  </a:cubicBezTo>
                  <a:close/>
                  <a:moveTo>
                    <a:pt x="357" y="418"/>
                  </a:moveTo>
                  <a:lnTo>
                    <a:pt x="357" y="82"/>
                  </a:lnTo>
                  <a:cubicBezTo>
                    <a:pt x="277" y="28"/>
                    <a:pt x="186" y="0"/>
                    <a:pt x="101" y="2"/>
                  </a:cubicBezTo>
                  <a:lnTo>
                    <a:pt x="101" y="352"/>
                  </a:lnTo>
                  <a:cubicBezTo>
                    <a:pt x="104" y="352"/>
                    <a:pt x="107" y="352"/>
                    <a:pt x="111" y="352"/>
                  </a:cubicBezTo>
                  <a:cubicBezTo>
                    <a:pt x="193" y="352"/>
                    <a:pt x="280" y="375"/>
                    <a:pt x="357" y="418"/>
                  </a:cubicBezTo>
                  <a:close/>
                  <a:moveTo>
                    <a:pt x="638" y="352"/>
                  </a:moveTo>
                  <a:lnTo>
                    <a:pt x="638" y="2"/>
                  </a:lnTo>
                  <a:cubicBezTo>
                    <a:pt x="552" y="0"/>
                    <a:pt x="461" y="28"/>
                    <a:pt x="382" y="82"/>
                  </a:cubicBezTo>
                  <a:lnTo>
                    <a:pt x="382" y="418"/>
                  </a:lnTo>
                  <a:cubicBezTo>
                    <a:pt x="459" y="375"/>
                    <a:pt x="545" y="352"/>
                    <a:pt x="628" y="352"/>
                  </a:cubicBezTo>
                  <a:cubicBezTo>
                    <a:pt x="631" y="352"/>
                    <a:pt x="635" y="352"/>
                    <a:pt x="638" y="352"/>
                  </a:cubicBezTo>
                  <a:close/>
                  <a:moveTo>
                    <a:pt x="369" y="473"/>
                  </a:moveTo>
                  <a:cubicBezTo>
                    <a:pt x="473" y="417"/>
                    <a:pt x="590" y="391"/>
                    <a:pt x="695" y="395"/>
                  </a:cubicBezTo>
                  <a:lnTo>
                    <a:pt x="695" y="7"/>
                  </a:lnTo>
                  <a:cubicBezTo>
                    <a:pt x="682" y="6"/>
                    <a:pt x="669" y="6"/>
                    <a:pt x="655" y="7"/>
                  </a:cubicBezTo>
                  <a:lnTo>
                    <a:pt x="655" y="370"/>
                  </a:lnTo>
                  <a:lnTo>
                    <a:pt x="645" y="370"/>
                  </a:lnTo>
                  <a:cubicBezTo>
                    <a:pt x="639" y="369"/>
                    <a:pt x="632" y="369"/>
                    <a:pt x="626" y="369"/>
                  </a:cubicBezTo>
                  <a:cubicBezTo>
                    <a:pt x="542" y="369"/>
                    <a:pt x="453" y="395"/>
                    <a:pt x="376" y="441"/>
                  </a:cubicBezTo>
                  <a:lnTo>
                    <a:pt x="369" y="445"/>
                  </a:lnTo>
                  <a:lnTo>
                    <a:pt x="363" y="441"/>
                  </a:lnTo>
                  <a:cubicBezTo>
                    <a:pt x="286" y="395"/>
                    <a:pt x="197" y="369"/>
                    <a:pt x="113" y="369"/>
                  </a:cubicBezTo>
                  <a:cubicBezTo>
                    <a:pt x="106" y="369"/>
                    <a:pt x="100" y="369"/>
                    <a:pt x="93" y="370"/>
                  </a:cubicBezTo>
                  <a:lnTo>
                    <a:pt x="83" y="370"/>
                  </a:lnTo>
                  <a:lnTo>
                    <a:pt x="83" y="7"/>
                  </a:lnTo>
                  <a:cubicBezTo>
                    <a:pt x="70" y="6"/>
                    <a:pt x="57" y="6"/>
                    <a:pt x="44" y="7"/>
                  </a:cubicBezTo>
                  <a:lnTo>
                    <a:pt x="44" y="395"/>
                  </a:lnTo>
                  <a:cubicBezTo>
                    <a:pt x="148" y="391"/>
                    <a:pt x="265" y="417"/>
                    <a:pt x="369" y="47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grpSp>
      <p:grpSp>
        <p:nvGrpSpPr>
          <p:cNvPr id="11" name="组合 10"/>
          <p:cNvGrpSpPr/>
          <p:nvPr/>
        </p:nvGrpSpPr>
        <p:grpSpPr>
          <a:xfrm>
            <a:off x="469613" y="4205297"/>
            <a:ext cx="1041970" cy="1219434"/>
            <a:chOff x="4022275" y="2132856"/>
            <a:chExt cx="1304925" cy="1527175"/>
          </a:xfrm>
        </p:grpSpPr>
        <p:sp>
          <p:nvSpPr>
            <p:cNvPr id="12" name="Freeform 6"/>
            <p:cNvSpPr>
              <a:spLocks/>
            </p:cNvSpPr>
            <p:nvPr/>
          </p:nvSpPr>
          <p:spPr bwMode="auto">
            <a:xfrm>
              <a:off x="4022275" y="2132856"/>
              <a:ext cx="1304925" cy="1527175"/>
            </a:xfrm>
            <a:custGeom>
              <a:avLst/>
              <a:gdLst>
                <a:gd name="T0" fmla="*/ 827 w 1654"/>
                <a:gd name="T1" fmla="*/ 0 h 1918"/>
                <a:gd name="T2" fmla="*/ 1654 w 1654"/>
                <a:gd name="T3" fmla="*/ 827 h 1918"/>
                <a:gd name="T4" fmla="*/ 1116 w 1654"/>
                <a:gd name="T5" fmla="*/ 1602 h 1918"/>
                <a:gd name="T6" fmla="*/ 995 w 1654"/>
                <a:gd name="T7" fmla="*/ 1741 h 1918"/>
                <a:gd name="T8" fmla="*/ 870 w 1654"/>
                <a:gd name="T9" fmla="*/ 1884 h 1918"/>
                <a:gd name="T10" fmla="*/ 790 w 1654"/>
                <a:gd name="T11" fmla="*/ 1889 h 1918"/>
                <a:gd name="T12" fmla="*/ 660 w 1654"/>
                <a:gd name="T13" fmla="*/ 1741 h 1918"/>
                <a:gd name="T14" fmla="*/ 540 w 1654"/>
                <a:gd name="T15" fmla="*/ 1603 h 1918"/>
                <a:gd name="T16" fmla="*/ 0 w 1654"/>
                <a:gd name="T17" fmla="*/ 827 h 1918"/>
                <a:gd name="T18" fmla="*/ 827 w 1654"/>
                <a:gd name="T19" fmla="*/ 0 h 1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54" h="1918">
                  <a:moveTo>
                    <a:pt x="827" y="0"/>
                  </a:moveTo>
                  <a:cubicBezTo>
                    <a:pt x="1284" y="0"/>
                    <a:pt x="1654" y="370"/>
                    <a:pt x="1654" y="827"/>
                  </a:cubicBezTo>
                  <a:cubicBezTo>
                    <a:pt x="1654" y="1182"/>
                    <a:pt x="1430" y="1485"/>
                    <a:pt x="1116" y="1602"/>
                  </a:cubicBezTo>
                  <a:lnTo>
                    <a:pt x="995" y="1741"/>
                  </a:lnTo>
                  <a:cubicBezTo>
                    <a:pt x="954" y="1788"/>
                    <a:pt x="912" y="1836"/>
                    <a:pt x="870" y="1884"/>
                  </a:cubicBezTo>
                  <a:cubicBezTo>
                    <a:pt x="845" y="1916"/>
                    <a:pt x="818" y="1918"/>
                    <a:pt x="790" y="1889"/>
                  </a:cubicBezTo>
                  <a:cubicBezTo>
                    <a:pt x="747" y="1840"/>
                    <a:pt x="703" y="1790"/>
                    <a:pt x="660" y="1741"/>
                  </a:cubicBezTo>
                  <a:lnTo>
                    <a:pt x="540" y="1603"/>
                  </a:lnTo>
                  <a:cubicBezTo>
                    <a:pt x="225" y="1486"/>
                    <a:pt x="0" y="1183"/>
                    <a:pt x="0" y="827"/>
                  </a:cubicBezTo>
                  <a:cubicBezTo>
                    <a:pt x="0" y="370"/>
                    <a:pt x="371" y="0"/>
                    <a:pt x="827" y="0"/>
                  </a:cubicBezTo>
                  <a:close/>
                </a:path>
              </a:pathLst>
            </a:custGeom>
            <a:solidFill>
              <a:schemeClr val="accent4"/>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13" name="Freeform 9"/>
            <p:cNvSpPr>
              <a:spLocks noEditPoints="1"/>
            </p:cNvSpPr>
            <p:nvPr/>
          </p:nvSpPr>
          <p:spPr bwMode="auto">
            <a:xfrm>
              <a:off x="4399628" y="2380272"/>
              <a:ext cx="650316" cy="737858"/>
            </a:xfrm>
            <a:custGeom>
              <a:avLst/>
              <a:gdLst>
                <a:gd name="T0" fmla="*/ 402 w 630"/>
                <a:gd name="T1" fmla="*/ 89 h 711"/>
                <a:gd name="T2" fmla="*/ 313 w 630"/>
                <a:gd name="T3" fmla="*/ 178 h 711"/>
                <a:gd name="T4" fmla="*/ 223 w 630"/>
                <a:gd name="T5" fmla="*/ 178 h 711"/>
                <a:gd name="T6" fmla="*/ 134 w 630"/>
                <a:gd name="T7" fmla="*/ 89 h 711"/>
                <a:gd name="T8" fmla="*/ 223 w 630"/>
                <a:gd name="T9" fmla="*/ 0 h 711"/>
                <a:gd name="T10" fmla="*/ 313 w 630"/>
                <a:gd name="T11" fmla="*/ 0 h 711"/>
                <a:gd name="T12" fmla="*/ 402 w 630"/>
                <a:gd name="T13" fmla="*/ 89 h 711"/>
                <a:gd name="T14" fmla="*/ 445 w 630"/>
                <a:gd name="T15" fmla="*/ 89 h 711"/>
                <a:gd name="T16" fmla="*/ 446 w 630"/>
                <a:gd name="T17" fmla="*/ 109 h 711"/>
                <a:gd name="T18" fmla="*/ 335 w 630"/>
                <a:gd name="T19" fmla="*/ 221 h 711"/>
                <a:gd name="T20" fmla="*/ 201 w 630"/>
                <a:gd name="T21" fmla="*/ 221 h 711"/>
                <a:gd name="T22" fmla="*/ 90 w 630"/>
                <a:gd name="T23" fmla="*/ 109 h 711"/>
                <a:gd name="T24" fmla="*/ 92 w 630"/>
                <a:gd name="T25" fmla="*/ 89 h 711"/>
                <a:gd name="T26" fmla="*/ 0 w 630"/>
                <a:gd name="T27" fmla="*/ 198 h 711"/>
                <a:gd name="T28" fmla="*/ 0 w 630"/>
                <a:gd name="T29" fmla="*/ 600 h 711"/>
                <a:gd name="T30" fmla="*/ 112 w 630"/>
                <a:gd name="T31" fmla="*/ 711 h 711"/>
                <a:gd name="T32" fmla="*/ 409 w 630"/>
                <a:gd name="T33" fmla="*/ 711 h 711"/>
                <a:gd name="T34" fmla="*/ 288 w 630"/>
                <a:gd name="T35" fmla="*/ 528 h 711"/>
                <a:gd name="T36" fmla="*/ 487 w 630"/>
                <a:gd name="T37" fmla="*/ 328 h 711"/>
                <a:gd name="T38" fmla="*/ 536 w 630"/>
                <a:gd name="T39" fmla="*/ 335 h 711"/>
                <a:gd name="T40" fmla="*/ 536 w 630"/>
                <a:gd name="T41" fmla="*/ 198 h 711"/>
                <a:gd name="T42" fmla="*/ 445 w 630"/>
                <a:gd name="T43" fmla="*/ 89 h 711"/>
                <a:gd name="T44" fmla="*/ 251 w 630"/>
                <a:gd name="T45" fmla="*/ 446 h 711"/>
                <a:gd name="T46" fmla="*/ 251 w 630"/>
                <a:gd name="T47" fmla="*/ 446 h 711"/>
                <a:gd name="T48" fmla="*/ 112 w 630"/>
                <a:gd name="T49" fmla="*/ 446 h 711"/>
                <a:gd name="T50" fmla="*/ 90 w 630"/>
                <a:gd name="T51" fmla="*/ 423 h 711"/>
                <a:gd name="T52" fmla="*/ 112 w 630"/>
                <a:gd name="T53" fmla="*/ 401 h 711"/>
                <a:gd name="T54" fmla="*/ 251 w 630"/>
                <a:gd name="T55" fmla="*/ 401 h 711"/>
                <a:gd name="T56" fmla="*/ 274 w 630"/>
                <a:gd name="T57" fmla="*/ 423 h 711"/>
                <a:gd name="T58" fmla="*/ 251 w 630"/>
                <a:gd name="T59" fmla="*/ 446 h 711"/>
                <a:gd name="T60" fmla="*/ 296 w 630"/>
                <a:gd name="T61" fmla="*/ 356 h 711"/>
                <a:gd name="T62" fmla="*/ 296 w 630"/>
                <a:gd name="T63" fmla="*/ 356 h 711"/>
                <a:gd name="T64" fmla="*/ 112 w 630"/>
                <a:gd name="T65" fmla="*/ 356 h 711"/>
                <a:gd name="T66" fmla="*/ 90 w 630"/>
                <a:gd name="T67" fmla="*/ 334 h 711"/>
                <a:gd name="T68" fmla="*/ 112 w 630"/>
                <a:gd name="T69" fmla="*/ 312 h 711"/>
                <a:gd name="T70" fmla="*/ 296 w 630"/>
                <a:gd name="T71" fmla="*/ 312 h 711"/>
                <a:gd name="T72" fmla="*/ 318 w 630"/>
                <a:gd name="T73" fmla="*/ 334 h 711"/>
                <a:gd name="T74" fmla="*/ 296 w 630"/>
                <a:gd name="T75" fmla="*/ 356 h 711"/>
                <a:gd name="T76" fmla="*/ 524 w 630"/>
                <a:gd name="T77" fmla="*/ 390 h 711"/>
                <a:gd name="T78" fmla="*/ 488 w 630"/>
                <a:gd name="T79" fmla="*/ 385 h 711"/>
                <a:gd name="T80" fmla="*/ 346 w 630"/>
                <a:gd name="T81" fmla="*/ 527 h 711"/>
                <a:gd name="T82" fmla="*/ 458 w 630"/>
                <a:gd name="T83" fmla="*/ 666 h 711"/>
                <a:gd name="T84" fmla="*/ 488 w 630"/>
                <a:gd name="T85" fmla="*/ 669 h 711"/>
                <a:gd name="T86" fmla="*/ 630 w 630"/>
                <a:gd name="T87" fmla="*/ 527 h 711"/>
                <a:gd name="T88" fmla="*/ 524 w 630"/>
                <a:gd name="T89" fmla="*/ 390 h 711"/>
                <a:gd name="T90" fmla="*/ 569 w 630"/>
                <a:gd name="T91" fmla="*/ 507 h 711"/>
                <a:gd name="T92" fmla="*/ 569 w 630"/>
                <a:gd name="T93" fmla="*/ 507 h 711"/>
                <a:gd name="T94" fmla="*/ 524 w 630"/>
                <a:gd name="T95" fmla="*/ 552 h 711"/>
                <a:gd name="T96" fmla="*/ 488 w 630"/>
                <a:gd name="T97" fmla="*/ 588 h 711"/>
                <a:gd name="T98" fmla="*/ 448 w 630"/>
                <a:gd name="T99" fmla="*/ 588 h 711"/>
                <a:gd name="T100" fmla="*/ 408 w 630"/>
                <a:gd name="T101" fmla="*/ 547 h 711"/>
                <a:gd name="T102" fmla="*/ 408 w 630"/>
                <a:gd name="T103" fmla="*/ 507 h 711"/>
                <a:gd name="T104" fmla="*/ 448 w 630"/>
                <a:gd name="T105" fmla="*/ 507 h 711"/>
                <a:gd name="T106" fmla="*/ 468 w 630"/>
                <a:gd name="T107" fmla="*/ 527 h 711"/>
                <a:gd name="T108" fmla="*/ 524 w 630"/>
                <a:gd name="T109" fmla="*/ 472 h 711"/>
                <a:gd name="T110" fmla="*/ 528 w 630"/>
                <a:gd name="T111" fmla="*/ 467 h 711"/>
                <a:gd name="T112" fmla="*/ 569 w 630"/>
                <a:gd name="T113" fmla="*/ 467 h 711"/>
                <a:gd name="T114" fmla="*/ 569 w 630"/>
                <a:gd name="T115" fmla="*/ 507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30" h="711">
                  <a:moveTo>
                    <a:pt x="402" y="89"/>
                  </a:moveTo>
                  <a:cubicBezTo>
                    <a:pt x="402" y="138"/>
                    <a:pt x="362" y="178"/>
                    <a:pt x="313" y="178"/>
                  </a:cubicBezTo>
                  <a:lnTo>
                    <a:pt x="223" y="178"/>
                  </a:lnTo>
                  <a:cubicBezTo>
                    <a:pt x="174" y="178"/>
                    <a:pt x="134" y="138"/>
                    <a:pt x="134" y="89"/>
                  </a:cubicBezTo>
                  <a:cubicBezTo>
                    <a:pt x="134" y="39"/>
                    <a:pt x="174" y="0"/>
                    <a:pt x="223" y="0"/>
                  </a:cubicBezTo>
                  <a:lnTo>
                    <a:pt x="313" y="0"/>
                  </a:lnTo>
                  <a:cubicBezTo>
                    <a:pt x="362" y="0"/>
                    <a:pt x="402" y="39"/>
                    <a:pt x="402" y="89"/>
                  </a:cubicBezTo>
                  <a:close/>
                  <a:moveTo>
                    <a:pt x="445" y="89"/>
                  </a:moveTo>
                  <a:cubicBezTo>
                    <a:pt x="446" y="95"/>
                    <a:pt x="446" y="102"/>
                    <a:pt x="446" y="109"/>
                  </a:cubicBezTo>
                  <a:cubicBezTo>
                    <a:pt x="446" y="171"/>
                    <a:pt x="397" y="221"/>
                    <a:pt x="335" y="221"/>
                  </a:cubicBezTo>
                  <a:lnTo>
                    <a:pt x="201" y="221"/>
                  </a:lnTo>
                  <a:cubicBezTo>
                    <a:pt x="140" y="221"/>
                    <a:pt x="90" y="171"/>
                    <a:pt x="90" y="109"/>
                  </a:cubicBezTo>
                  <a:cubicBezTo>
                    <a:pt x="90" y="102"/>
                    <a:pt x="90" y="95"/>
                    <a:pt x="92" y="89"/>
                  </a:cubicBezTo>
                  <a:cubicBezTo>
                    <a:pt x="40" y="98"/>
                    <a:pt x="0" y="144"/>
                    <a:pt x="0" y="198"/>
                  </a:cubicBezTo>
                  <a:lnTo>
                    <a:pt x="0" y="600"/>
                  </a:lnTo>
                  <a:cubicBezTo>
                    <a:pt x="0" y="661"/>
                    <a:pt x="50" y="711"/>
                    <a:pt x="112" y="711"/>
                  </a:cubicBezTo>
                  <a:lnTo>
                    <a:pt x="409" y="711"/>
                  </a:lnTo>
                  <a:cubicBezTo>
                    <a:pt x="338" y="681"/>
                    <a:pt x="288" y="610"/>
                    <a:pt x="288" y="528"/>
                  </a:cubicBezTo>
                  <a:cubicBezTo>
                    <a:pt x="288" y="418"/>
                    <a:pt x="377" y="328"/>
                    <a:pt x="487" y="328"/>
                  </a:cubicBezTo>
                  <a:cubicBezTo>
                    <a:pt x="504" y="328"/>
                    <a:pt x="520" y="331"/>
                    <a:pt x="536" y="335"/>
                  </a:cubicBezTo>
                  <a:lnTo>
                    <a:pt x="536" y="198"/>
                  </a:lnTo>
                  <a:cubicBezTo>
                    <a:pt x="536" y="144"/>
                    <a:pt x="496" y="98"/>
                    <a:pt x="445" y="89"/>
                  </a:cubicBezTo>
                  <a:close/>
                  <a:moveTo>
                    <a:pt x="251" y="446"/>
                  </a:moveTo>
                  <a:lnTo>
                    <a:pt x="251" y="446"/>
                  </a:lnTo>
                  <a:lnTo>
                    <a:pt x="112" y="446"/>
                  </a:lnTo>
                  <a:cubicBezTo>
                    <a:pt x="100" y="446"/>
                    <a:pt x="90" y="436"/>
                    <a:pt x="90" y="423"/>
                  </a:cubicBezTo>
                  <a:cubicBezTo>
                    <a:pt x="90" y="411"/>
                    <a:pt x="100" y="401"/>
                    <a:pt x="112" y="401"/>
                  </a:cubicBezTo>
                  <a:lnTo>
                    <a:pt x="251" y="401"/>
                  </a:lnTo>
                  <a:cubicBezTo>
                    <a:pt x="264" y="401"/>
                    <a:pt x="274" y="411"/>
                    <a:pt x="274" y="423"/>
                  </a:cubicBezTo>
                  <a:cubicBezTo>
                    <a:pt x="274" y="436"/>
                    <a:pt x="264" y="446"/>
                    <a:pt x="251" y="446"/>
                  </a:cubicBezTo>
                  <a:close/>
                  <a:moveTo>
                    <a:pt x="296" y="356"/>
                  </a:moveTo>
                  <a:lnTo>
                    <a:pt x="296" y="356"/>
                  </a:lnTo>
                  <a:lnTo>
                    <a:pt x="112" y="356"/>
                  </a:lnTo>
                  <a:cubicBezTo>
                    <a:pt x="100" y="356"/>
                    <a:pt x="90" y="346"/>
                    <a:pt x="90" y="334"/>
                  </a:cubicBezTo>
                  <a:cubicBezTo>
                    <a:pt x="90" y="322"/>
                    <a:pt x="100" y="312"/>
                    <a:pt x="112" y="312"/>
                  </a:cubicBezTo>
                  <a:lnTo>
                    <a:pt x="296" y="312"/>
                  </a:lnTo>
                  <a:cubicBezTo>
                    <a:pt x="308" y="312"/>
                    <a:pt x="318" y="322"/>
                    <a:pt x="318" y="334"/>
                  </a:cubicBezTo>
                  <a:cubicBezTo>
                    <a:pt x="318" y="346"/>
                    <a:pt x="308" y="356"/>
                    <a:pt x="296" y="356"/>
                  </a:cubicBezTo>
                  <a:close/>
                  <a:moveTo>
                    <a:pt x="524" y="390"/>
                  </a:moveTo>
                  <a:cubicBezTo>
                    <a:pt x="512" y="387"/>
                    <a:pt x="501" y="385"/>
                    <a:pt x="488" y="385"/>
                  </a:cubicBezTo>
                  <a:cubicBezTo>
                    <a:pt x="410" y="385"/>
                    <a:pt x="346" y="449"/>
                    <a:pt x="346" y="527"/>
                  </a:cubicBezTo>
                  <a:cubicBezTo>
                    <a:pt x="346" y="596"/>
                    <a:pt x="394" y="652"/>
                    <a:pt x="458" y="666"/>
                  </a:cubicBezTo>
                  <a:cubicBezTo>
                    <a:pt x="468" y="668"/>
                    <a:pt x="478" y="669"/>
                    <a:pt x="488" y="669"/>
                  </a:cubicBezTo>
                  <a:cubicBezTo>
                    <a:pt x="567" y="669"/>
                    <a:pt x="630" y="606"/>
                    <a:pt x="630" y="527"/>
                  </a:cubicBezTo>
                  <a:cubicBezTo>
                    <a:pt x="630" y="461"/>
                    <a:pt x="585" y="405"/>
                    <a:pt x="524" y="390"/>
                  </a:cubicBezTo>
                  <a:close/>
                  <a:moveTo>
                    <a:pt x="569" y="507"/>
                  </a:moveTo>
                  <a:lnTo>
                    <a:pt x="569" y="507"/>
                  </a:lnTo>
                  <a:lnTo>
                    <a:pt x="524" y="552"/>
                  </a:lnTo>
                  <a:lnTo>
                    <a:pt x="488" y="588"/>
                  </a:lnTo>
                  <a:cubicBezTo>
                    <a:pt x="477" y="599"/>
                    <a:pt x="459" y="599"/>
                    <a:pt x="448" y="588"/>
                  </a:cubicBezTo>
                  <a:lnTo>
                    <a:pt x="408" y="547"/>
                  </a:lnTo>
                  <a:cubicBezTo>
                    <a:pt x="397" y="536"/>
                    <a:pt x="397" y="518"/>
                    <a:pt x="408" y="507"/>
                  </a:cubicBezTo>
                  <a:cubicBezTo>
                    <a:pt x="419" y="496"/>
                    <a:pt x="437" y="496"/>
                    <a:pt x="448" y="507"/>
                  </a:cubicBezTo>
                  <a:lnTo>
                    <a:pt x="468" y="527"/>
                  </a:lnTo>
                  <a:lnTo>
                    <a:pt x="524" y="472"/>
                  </a:lnTo>
                  <a:lnTo>
                    <a:pt x="528" y="467"/>
                  </a:lnTo>
                  <a:cubicBezTo>
                    <a:pt x="540" y="456"/>
                    <a:pt x="558" y="456"/>
                    <a:pt x="569" y="467"/>
                  </a:cubicBezTo>
                  <a:cubicBezTo>
                    <a:pt x="580" y="478"/>
                    <a:pt x="580" y="496"/>
                    <a:pt x="569" y="50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grpSp>
      <p:grpSp>
        <p:nvGrpSpPr>
          <p:cNvPr id="14" name="组合 13"/>
          <p:cNvGrpSpPr/>
          <p:nvPr/>
        </p:nvGrpSpPr>
        <p:grpSpPr>
          <a:xfrm>
            <a:off x="469613" y="517274"/>
            <a:ext cx="438352" cy="621987"/>
            <a:chOff x="265635" y="269251"/>
            <a:chExt cx="438352" cy="621987"/>
          </a:xfrm>
        </p:grpSpPr>
        <p:sp>
          <p:nvSpPr>
            <p:cNvPr id="1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3" name="矩形 2"/>
          <p:cNvSpPr/>
          <p:nvPr/>
        </p:nvSpPr>
        <p:spPr>
          <a:xfrm>
            <a:off x="1127637" y="265037"/>
            <a:ext cx="9810071" cy="1126462"/>
          </a:xfrm>
          <a:prstGeom prst="rect">
            <a:avLst/>
          </a:prstGeom>
        </p:spPr>
        <p:txBody>
          <a:bodyPr wrap="squar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按照多功能流水线的各个段是否允许同时进行多种不同功能的连接流水来分类</a:t>
            </a:r>
          </a:p>
        </p:txBody>
      </p:sp>
      <p:sp>
        <p:nvSpPr>
          <p:cNvPr id="4" name="矩形 3"/>
          <p:cNvSpPr/>
          <p:nvPr/>
        </p:nvSpPr>
        <p:spPr>
          <a:xfrm>
            <a:off x="1420609" y="1750741"/>
            <a:ext cx="9843608" cy="1643527"/>
          </a:xfrm>
          <a:prstGeom prst="rect">
            <a:avLst/>
          </a:prstGeom>
        </p:spPr>
        <p:txBody>
          <a:bodyPr wrap="square">
            <a:spAutoFit/>
          </a:bodyPr>
          <a:lstStyle/>
          <a:p>
            <a:pPr lvl="1" fontAlgn="base">
              <a:lnSpc>
                <a:spcPct val="120000"/>
              </a:lnSpc>
              <a:spcBef>
                <a:spcPct val="0"/>
              </a:spcBef>
              <a:spcAft>
                <a:spcPct val="0"/>
              </a:spcAft>
            </a:pPr>
            <a:r>
              <a:rPr lang="zh-CN" altLang="en-US" sz="2800" b="1" dirty="0">
                <a:solidFill>
                  <a:srgbClr val="0000FF"/>
                </a:solidFill>
                <a:latin typeface="微软雅黑" panose="020B0503020204020204" pitchFamily="34" charset="-122"/>
                <a:ea typeface="微软雅黑" panose="020B0503020204020204" pitchFamily="34" charset="-122"/>
              </a:rPr>
              <a:t>静态流水线</a:t>
            </a:r>
            <a:r>
              <a:rPr lang="zh-CN" altLang="en-US" sz="2800" b="1" dirty="0">
                <a:latin typeface="微软雅黑" panose="020B0503020204020204" pitchFamily="34" charset="-122"/>
                <a:ea typeface="微软雅黑" panose="020B0503020204020204" pitchFamily="34" charset="-122"/>
              </a:rPr>
              <a:t>指的是在某一段时间内各功能段只能按照一种功能连接形成流水线，只能等待该流水线上全部任务流空后，才能切换成另一种功能连接进行流水。</a:t>
            </a:r>
          </a:p>
        </p:txBody>
      </p:sp>
      <p:sp>
        <p:nvSpPr>
          <p:cNvPr id="5" name="矩形 4"/>
          <p:cNvSpPr/>
          <p:nvPr/>
        </p:nvSpPr>
        <p:spPr>
          <a:xfrm>
            <a:off x="1511583" y="4298269"/>
            <a:ext cx="9610636" cy="1126462"/>
          </a:xfrm>
          <a:prstGeom prst="rect">
            <a:avLst/>
          </a:prstGeom>
        </p:spPr>
        <p:txBody>
          <a:bodyPr wrap="square">
            <a:spAutoFit/>
          </a:bodyPr>
          <a:lstStyle/>
          <a:p>
            <a:pPr lvl="1" fontAlgn="base">
              <a:lnSpc>
                <a:spcPct val="120000"/>
              </a:lnSpc>
              <a:spcBef>
                <a:spcPct val="0"/>
              </a:spcBef>
              <a:spcAft>
                <a:spcPct val="0"/>
              </a:spcAft>
            </a:pPr>
            <a:r>
              <a:rPr lang="zh-CN" altLang="en-US" sz="2800" b="1" dirty="0">
                <a:solidFill>
                  <a:srgbClr val="0000FF"/>
                </a:solidFill>
                <a:latin typeface="微软雅黑" panose="020B0503020204020204" pitchFamily="34" charset="-122"/>
                <a:ea typeface="微软雅黑" panose="020B0503020204020204" pitchFamily="34" charset="-122"/>
              </a:rPr>
              <a:t>动态流水线</a:t>
            </a:r>
            <a:r>
              <a:rPr lang="zh-CN" altLang="en-US" sz="2800" b="1" dirty="0">
                <a:latin typeface="微软雅黑" panose="020B0503020204020204" pitchFamily="34" charset="-122"/>
                <a:ea typeface="微软雅黑" panose="020B0503020204020204" pitchFamily="34" charset="-122"/>
              </a:rPr>
              <a:t>是指在同一时间内，当某些段正在实现某种运算时，另一些段却可以实现另一种运算。 </a:t>
            </a:r>
          </a:p>
        </p:txBody>
      </p:sp>
    </p:spTree>
    <p:extLst>
      <p:ext uri="{BB962C8B-B14F-4D97-AF65-F5344CB8AC3E}">
        <p14:creationId xmlns:p14="http://schemas.microsoft.com/office/powerpoint/2010/main" val="3755099229"/>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838200" y="-67205"/>
            <a:ext cx="10515600" cy="1325563"/>
          </a:xfrm>
        </p:spPr>
        <p:txBody>
          <a:bodyPr>
            <a:normAutofit/>
          </a:bodyPr>
          <a:lstStyle/>
          <a:p>
            <a:pPr algn="l">
              <a:lnSpc>
                <a:spcPct val="120000"/>
              </a:lnSpc>
            </a:pPr>
            <a:r>
              <a:rPr lang="zh-CN" altLang="en-US" sz="2800" b="1" dirty="0">
                <a:latin typeface="微软雅黑" panose="020B0503020204020204" pitchFamily="34" charset="-122"/>
                <a:ea typeface="微软雅黑" panose="020B0503020204020204" pitchFamily="34" charset="-122"/>
              </a:rPr>
              <a:t>静态流水线时空图</a:t>
            </a:r>
            <a:endParaRPr lang="en-US" altLang="zh-CN" sz="2800" b="1" dirty="0">
              <a:latin typeface="微软雅黑" panose="020B0503020204020204" pitchFamily="34" charset="-122"/>
              <a:ea typeface="微软雅黑" panose="020B0503020204020204" pitchFamily="34" charset="-122"/>
            </a:endParaRPr>
          </a:p>
        </p:txBody>
      </p:sp>
      <p:graphicFrame>
        <p:nvGraphicFramePr>
          <p:cNvPr id="78856" name="Object 8"/>
          <p:cNvGraphicFramePr>
            <a:graphicFrameLocks noChangeAspect="1"/>
          </p:cNvGraphicFramePr>
          <p:nvPr>
            <p:extLst>
              <p:ext uri="{D42A27DB-BD31-4B8C-83A1-F6EECF244321}">
                <p14:modId xmlns:p14="http://schemas.microsoft.com/office/powerpoint/2010/main" val="1285644204"/>
              </p:ext>
            </p:extLst>
          </p:nvPr>
        </p:nvGraphicFramePr>
        <p:xfrm>
          <a:off x="1416184" y="2453355"/>
          <a:ext cx="9232723" cy="3930217"/>
        </p:xfrm>
        <a:graphic>
          <a:graphicData uri="http://schemas.openxmlformats.org/presentationml/2006/ole">
            <mc:AlternateContent xmlns:mc="http://schemas.openxmlformats.org/markup-compatibility/2006">
              <mc:Choice xmlns:v="urn:schemas-microsoft-com:vml" Requires="v">
                <p:oleObj spid="_x0000_s1036" r:id="rId3" imgW="4676851" imgH="1992782" progId="Visio.Drawing.11">
                  <p:embed/>
                </p:oleObj>
              </mc:Choice>
              <mc:Fallback>
                <p:oleObj r:id="rId3" imgW="4676851" imgH="1992782" progId="Visio.Drawing.11">
                  <p:embed/>
                  <p:pic>
                    <p:nvPicPr>
                      <p:cNvPr id="78856"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6184" y="2453355"/>
                        <a:ext cx="9232723" cy="3930217"/>
                      </a:xfrm>
                      <a:prstGeom prst="rect">
                        <a:avLst/>
                      </a:prstGeom>
                      <a:noFill/>
                      <a:extLst/>
                    </p:spPr>
                  </p:pic>
                </p:oleObj>
              </mc:Fallback>
            </mc:AlternateContent>
          </a:graphicData>
        </a:graphic>
      </p:graphicFrame>
      <p:sp>
        <p:nvSpPr>
          <p:cNvPr id="78857" name="Rectangle 9"/>
          <p:cNvSpPr>
            <a:spLocks noChangeArrowheads="1"/>
          </p:cNvSpPr>
          <p:nvPr/>
        </p:nvSpPr>
        <p:spPr bwMode="auto">
          <a:xfrm>
            <a:off x="5950627" y="2084023"/>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0"/>
              </a:spcBef>
              <a:spcAft>
                <a:spcPct val="0"/>
              </a:spcAft>
            </a:pPr>
            <a:endParaRPr lang="zh-CN" altLang="en-US">
              <a:solidFill>
                <a:srgbClr val="FFFFFF"/>
              </a:solidFill>
              <a:ea typeface="宋体" panose="02010600030101010101" pitchFamily="2" charset="-122"/>
            </a:endParaRPr>
          </a:p>
        </p:txBody>
      </p:sp>
      <p:sp>
        <p:nvSpPr>
          <p:cNvPr id="3" name="文本框 2"/>
          <p:cNvSpPr txBox="1"/>
          <p:nvPr/>
        </p:nvSpPr>
        <p:spPr>
          <a:xfrm>
            <a:off x="1520204" y="3814769"/>
            <a:ext cx="692007" cy="369332"/>
          </a:xfrm>
          <a:prstGeom prst="rect">
            <a:avLst/>
          </a:prstGeom>
          <a:noFill/>
        </p:spPr>
        <p:txBody>
          <a:bodyPr wrap="square" rtlCol="0">
            <a:spAutoFit/>
          </a:bodyPr>
          <a:lstStyle/>
          <a:p>
            <a:r>
              <a:rPr lang="zh-CN" altLang="en-US" b="1" dirty="0">
                <a:solidFill>
                  <a:srgbClr val="0000FF"/>
                </a:solidFill>
                <a:latin typeface="微软雅黑" panose="020B0503020204020204" pitchFamily="34" charset="-122"/>
                <a:ea typeface="微软雅黑" panose="020B0503020204020204" pitchFamily="34" charset="-122"/>
              </a:rPr>
              <a:t>相乘</a:t>
            </a:r>
          </a:p>
        </p:txBody>
      </p:sp>
      <p:sp>
        <p:nvSpPr>
          <p:cNvPr id="8" name="文本框 7"/>
          <p:cNvSpPr txBox="1"/>
          <p:nvPr/>
        </p:nvSpPr>
        <p:spPr>
          <a:xfrm>
            <a:off x="1520204" y="3445437"/>
            <a:ext cx="692007" cy="369332"/>
          </a:xfrm>
          <a:prstGeom prst="rect">
            <a:avLst/>
          </a:prstGeom>
          <a:noFill/>
        </p:spPr>
        <p:txBody>
          <a:bodyPr wrap="square" rtlCol="0">
            <a:spAutoFit/>
          </a:bodyPr>
          <a:lstStyle/>
          <a:p>
            <a:r>
              <a:rPr lang="zh-CN" altLang="en-US" b="1" dirty="0">
                <a:solidFill>
                  <a:srgbClr val="0000FF"/>
                </a:solidFill>
                <a:latin typeface="微软雅黑" panose="020B0503020204020204" pitchFamily="34" charset="-122"/>
                <a:ea typeface="微软雅黑" panose="020B0503020204020204" pitchFamily="34" charset="-122"/>
              </a:rPr>
              <a:t>累加</a:t>
            </a:r>
          </a:p>
        </p:txBody>
      </p:sp>
      <p:sp>
        <p:nvSpPr>
          <p:cNvPr id="9" name="文本框 8"/>
          <p:cNvSpPr txBox="1"/>
          <p:nvPr/>
        </p:nvSpPr>
        <p:spPr>
          <a:xfrm>
            <a:off x="1551376" y="4513999"/>
            <a:ext cx="692007" cy="369332"/>
          </a:xfrm>
          <a:prstGeom prst="rect">
            <a:avLst/>
          </a:prstGeom>
          <a:noFill/>
        </p:spPr>
        <p:txBody>
          <a:bodyPr wrap="square" rtlCol="0">
            <a:spAutoFit/>
          </a:bodyPr>
          <a:lstStyle/>
          <a:p>
            <a:r>
              <a:rPr lang="zh-CN" altLang="en-US" b="1" dirty="0">
                <a:solidFill>
                  <a:srgbClr val="0000FF"/>
                </a:solidFill>
                <a:latin typeface="微软雅黑" panose="020B0503020204020204" pitchFamily="34" charset="-122"/>
                <a:ea typeface="微软雅黑" panose="020B0503020204020204" pitchFamily="34" charset="-122"/>
              </a:rPr>
              <a:t>相加</a:t>
            </a:r>
          </a:p>
        </p:txBody>
      </p:sp>
      <p:sp>
        <p:nvSpPr>
          <p:cNvPr id="4" name="矩形 3"/>
          <p:cNvSpPr/>
          <p:nvPr/>
        </p:nvSpPr>
        <p:spPr bwMode="auto">
          <a:xfrm>
            <a:off x="6659519" y="3152173"/>
            <a:ext cx="2849162" cy="2802225"/>
          </a:xfrm>
          <a:prstGeom prst="rect">
            <a:avLst/>
          </a:prstGeom>
          <a:noFill/>
          <a:ln w="38100" cap="flat" cmpd="sng" algn="ctr">
            <a:solidFill>
              <a:srgbClr val="0000FF"/>
            </a:solidFill>
            <a:prstDash val="dash"/>
            <a:round/>
            <a:headEnd type="none" w="med" len="med"/>
            <a:tailEnd type="none" w="med" len="med"/>
          </a:ln>
          <a:effectLst>
            <a:outerShdw dist="109250" dir="3267739" algn="ctr" rotWithShape="0">
              <a:schemeClr val="bg1">
                <a:alpha val="50000"/>
              </a:schemeClr>
            </a:outerShdw>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bg1"/>
              </a:solidFill>
              <a:effectLst/>
              <a:latin typeface="Arial" panose="020B0604020202020204" pitchFamily="34" charset="0"/>
              <a:ea typeface="宋体" panose="02010600030101010101" pitchFamily="2" charset="-122"/>
            </a:endParaRPr>
          </a:p>
        </p:txBody>
      </p:sp>
      <p:grpSp>
        <p:nvGrpSpPr>
          <p:cNvPr id="10" name="组合 9"/>
          <p:cNvGrpSpPr/>
          <p:nvPr/>
        </p:nvGrpSpPr>
        <p:grpSpPr>
          <a:xfrm>
            <a:off x="268695" y="335574"/>
            <a:ext cx="438352" cy="621987"/>
            <a:chOff x="265635" y="269251"/>
            <a:chExt cx="438352" cy="621987"/>
          </a:xfrm>
        </p:grpSpPr>
        <p:sp>
          <p:nvSpPr>
            <p:cNvPr id="11"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2"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3"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2" name="矩形 1"/>
          <p:cNvSpPr/>
          <p:nvPr/>
        </p:nvSpPr>
        <p:spPr>
          <a:xfrm>
            <a:off x="838200" y="957561"/>
            <a:ext cx="11774310" cy="1126462"/>
          </a:xfrm>
          <a:prstGeom prst="rect">
            <a:avLst/>
          </a:prstGeom>
        </p:spPr>
        <p:txBody>
          <a:bodyPr wrap="square">
            <a:spAutoFit/>
          </a:bodyPr>
          <a:lstStyle/>
          <a:p>
            <a:pPr eaLnBrk="0" fontAlgn="base" hangingPunct="0">
              <a:lnSpc>
                <a:spcPct val="120000"/>
              </a:lnSpc>
              <a:spcBef>
                <a:spcPct val="0"/>
              </a:spcBef>
              <a:spcAft>
                <a:spcPct val="0"/>
              </a:spcAft>
            </a:pPr>
            <a:r>
              <a:rPr lang="zh-CN" altLang="en-US" sz="2800" b="1" dirty="0">
                <a:latin typeface="微软雅黑" panose="020B0503020204020204" pitchFamily="34" charset="-122"/>
                <a:ea typeface="微软雅黑" panose="020B0503020204020204" pitchFamily="34" charset="-122"/>
              </a:rPr>
              <a:t>假设先后有二批任务要完成，第一批是</a:t>
            </a:r>
            <a:r>
              <a:rPr lang="en-US" altLang="zh-CN" sz="2800" b="1" dirty="0">
                <a:latin typeface="微软雅黑" panose="020B0503020204020204" pitchFamily="34" charset="-122"/>
                <a:ea typeface="微软雅黑" panose="020B0503020204020204" pitchFamily="34" charset="-122"/>
              </a:rPr>
              <a:t>n</a:t>
            </a:r>
            <a:r>
              <a:rPr lang="zh-CN" altLang="en-US" sz="2800" b="1" dirty="0">
                <a:latin typeface="微软雅黑" panose="020B0503020204020204" pitchFamily="34" charset="-122"/>
                <a:ea typeface="微软雅黑" panose="020B0503020204020204" pitchFamily="34" charset="-122"/>
              </a:rPr>
              <a:t>个任务的浮点加、减运算；</a:t>
            </a:r>
          </a:p>
          <a:p>
            <a:pPr eaLnBrk="0" fontAlgn="base" hangingPunct="0">
              <a:lnSpc>
                <a:spcPct val="120000"/>
              </a:lnSpc>
              <a:spcBef>
                <a:spcPct val="0"/>
              </a:spcBef>
              <a:spcAft>
                <a:spcPct val="0"/>
              </a:spcAft>
            </a:pPr>
            <a:r>
              <a:rPr lang="zh-CN" altLang="en-US" sz="2800" b="1" dirty="0">
                <a:latin typeface="微软雅黑" panose="020B0503020204020204" pitchFamily="34" charset="-122"/>
                <a:ea typeface="微软雅黑" panose="020B0503020204020204" pitchFamily="34" charset="-122"/>
              </a:rPr>
              <a:t>第二批任务是</a:t>
            </a:r>
            <a:r>
              <a:rPr lang="en-US" altLang="zh-CN" sz="2800" b="1" dirty="0">
                <a:latin typeface="微软雅黑" panose="020B0503020204020204" pitchFamily="34" charset="-122"/>
                <a:ea typeface="微软雅黑" panose="020B0503020204020204" pitchFamily="34" charset="-122"/>
              </a:rPr>
              <a:t>A</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E</a:t>
            </a:r>
            <a:r>
              <a:rPr lang="zh-CN" altLang="en-US" sz="2800" b="1" dirty="0">
                <a:latin typeface="微软雅黑" panose="020B0503020204020204" pitchFamily="34" charset="-122"/>
                <a:ea typeface="微软雅黑" panose="020B0503020204020204" pitchFamily="34" charset="-122"/>
              </a:rPr>
              <a:t>共</a:t>
            </a:r>
            <a:r>
              <a:rPr lang="en-US" altLang="zh-CN" sz="2800" b="1" dirty="0">
                <a:latin typeface="微软雅黑" panose="020B0503020204020204" pitchFamily="34" charset="-122"/>
                <a:ea typeface="微软雅黑" panose="020B0503020204020204" pitchFamily="34" charset="-122"/>
              </a:rPr>
              <a:t>5</a:t>
            </a:r>
            <a:r>
              <a:rPr lang="zh-CN" altLang="en-US" sz="2800" b="1" dirty="0">
                <a:latin typeface="微软雅黑" panose="020B0503020204020204" pitchFamily="34" charset="-122"/>
                <a:ea typeface="微软雅黑" panose="020B0503020204020204" pitchFamily="34" charset="-122"/>
              </a:rPr>
              <a:t>个任务的定点乘法运算</a:t>
            </a:r>
          </a:p>
        </p:txBody>
      </p:sp>
    </p:spTree>
    <p:extLst>
      <p:ext uri="{BB962C8B-B14F-4D97-AF65-F5344CB8AC3E}">
        <p14:creationId xmlns:p14="http://schemas.microsoft.com/office/powerpoint/2010/main" val="2493859435"/>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83"/>
          <p:cNvSpPr>
            <a:spLocks noChangeArrowheads="1"/>
          </p:cNvSpPr>
          <p:nvPr/>
        </p:nvSpPr>
        <p:spPr bwMode="auto">
          <a:xfrm>
            <a:off x="1050456" y="1017394"/>
            <a:ext cx="9193474" cy="1290604"/>
          </a:xfrm>
          <a:prstGeom prst="rect">
            <a:avLst/>
          </a:prstGeom>
          <a:solidFill>
            <a:srgbClr val="F2F2F2"/>
          </a:solidFill>
          <a:ln w="9525" cmpd="sng">
            <a:solidFill>
              <a:schemeClr val="accent1"/>
            </a:solidFill>
            <a:miter lim="800000"/>
            <a:headEnd/>
            <a:tailEnd/>
          </a:ln>
        </p:spPr>
        <p:txBody>
          <a:bodyPr lIns="91398" tIns="45699" rIns="91398" bIns="45699"/>
          <a:lstStyle/>
          <a:p>
            <a:endParaRPr lang="zh-CN" altLang="en-US" sz="1799"/>
          </a:p>
        </p:txBody>
      </p:sp>
      <p:sp>
        <p:nvSpPr>
          <p:cNvPr id="17" name="Freeform 12"/>
          <p:cNvSpPr>
            <a:spLocks/>
          </p:cNvSpPr>
          <p:nvPr/>
        </p:nvSpPr>
        <p:spPr bwMode="auto">
          <a:xfrm>
            <a:off x="945898" y="919202"/>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4BEB0"/>
          </a:solidFill>
          <a:ln>
            <a:noFill/>
          </a:ln>
          <a:extLst/>
        </p:spPr>
        <p:txBody>
          <a:bodyPr lIns="91398" tIns="45699" rIns="91398" bIns="45699"/>
          <a:lstStyle/>
          <a:p>
            <a:endParaRPr lang="zh-CN" altLang="en-US" sz="1799" dirty="0"/>
          </a:p>
        </p:txBody>
      </p:sp>
      <p:sp>
        <p:nvSpPr>
          <p:cNvPr id="18" name="Freeform 12"/>
          <p:cNvSpPr>
            <a:spLocks/>
          </p:cNvSpPr>
          <p:nvPr/>
        </p:nvSpPr>
        <p:spPr bwMode="auto">
          <a:xfrm flipH="1" flipV="1">
            <a:off x="9790615" y="1849176"/>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91398" tIns="45699" rIns="91398" bIns="45699"/>
          <a:lstStyle/>
          <a:p>
            <a:endParaRPr lang="zh-CN" altLang="en-US" sz="1799"/>
          </a:p>
        </p:txBody>
      </p:sp>
      <p:pic>
        <p:nvPicPr>
          <p:cNvPr id="2" name="图片 1"/>
          <p:cNvPicPr>
            <a:picLocks noChangeAspect="1"/>
          </p:cNvPicPr>
          <p:nvPr/>
        </p:nvPicPr>
        <p:blipFill>
          <a:blip r:embed="rId3"/>
          <a:stretch>
            <a:fillRect/>
          </a:stretch>
        </p:blipFill>
        <p:spPr>
          <a:xfrm>
            <a:off x="1772458" y="2537517"/>
            <a:ext cx="9335193" cy="4328899"/>
          </a:xfrm>
          <a:prstGeom prst="rect">
            <a:avLst/>
          </a:prstGeom>
        </p:spPr>
      </p:pic>
      <p:sp>
        <p:nvSpPr>
          <p:cNvPr id="79874" name="Rectangle 2"/>
          <p:cNvSpPr>
            <a:spLocks noGrp="1" noChangeArrowheads="1"/>
          </p:cNvSpPr>
          <p:nvPr>
            <p:ph type="title"/>
          </p:nvPr>
        </p:nvSpPr>
        <p:spPr>
          <a:xfrm>
            <a:off x="878833" y="395650"/>
            <a:ext cx="6499225" cy="533400"/>
          </a:xfrm>
        </p:spPr>
        <p:txBody>
          <a:bodyPr>
            <a:normAutofit fontScale="90000"/>
          </a:bodyPr>
          <a:lstStyle/>
          <a:p>
            <a:pPr algn="l">
              <a:lnSpc>
                <a:spcPct val="150000"/>
              </a:lnSpc>
            </a:pPr>
            <a:r>
              <a:rPr lang="zh-CN" altLang="en-US" sz="2800" b="1" dirty="0">
                <a:latin typeface="微软雅黑" panose="020B0503020204020204" pitchFamily="34" charset="-122"/>
                <a:ea typeface="微软雅黑" panose="020B0503020204020204" pitchFamily="34" charset="-122"/>
              </a:rPr>
              <a:t>动态流水线时空图</a:t>
            </a:r>
          </a:p>
        </p:txBody>
      </p:sp>
      <p:sp>
        <p:nvSpPr>
          <p:cNvPr id="79878" name="Rectangle 6"/>
          <p:cNvSpPr>
            <a:spLocks noChangeArrowheads="1"/>
          </p:cNvSpPr>
          <p:nvPr/>
        </p:nvSpPr>
        <p:spPr bwMode="auto">
          <a:xfrm>
            <a:off x="6003635" y="22584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0"/>
              </a:spcBef>
              <a:spcAft>
                <a:spcPct val="0"/>
              </a:spcAft>
            </a:pPr>
            <a:endParaRPr lang="zh-CN" altLang="en-US">
              <a:solidFill>
                <a:srgbClr val="FFFFFF"/>
              </a:solidFill>
              <a:ea typeface="宋体" panose="02010600030101010101" pitchFamily="2" charset="-122"/>
            </a:endParaRPr>
          </a:p>
        </p:txBody>
      </p:sp>
      <p:sp>
        <p:nvSpPr>
          <p:cNvPr id="6" name="文本框 5"/>
          <p:cNvSpPr txBox="1"/>
          <p:nvPr/>
        </p:nvSpPr>
        <p:spPr>
          <a:xfrm>
            <a:off x="1482900" y="3832961"/>
            <a:ext cx="692007" cy="369332"/>
          </a:xfrm>
          <a:prstGeom prst="rect">
            <a:avLst/>
          </a:prstGeom>
          <a:noFill/>
        </p:spPr>
        <p:txBody>
          <a:bodyPr wrap="square" rtlCol="0">
            <a:spAutoFit/>
          </a:bodyPr>
          <a:lstStyle/>
          <a:p>
            <a:r>
              <a:rPr lang="zh-CN" altLang="en-US" b="1" dirty="0">
                <a:solidFill>
                  <a:srgbClr val="0000FF"/>
                </a:solidFill>
                <a:latin typeface="微软雅黑" panose="020B0503020204020204" pitchFamily="34" charset="-122"/>
                <a:ea typeface="微软雅黑" panose="020B0503020204020204" pitchFamily="34" charset="-122"/>
              </a:rPr>
              <a:t>相乘</a:t>
            </a:r>
          </a:p>
        </p:txBody>
      </p:sp>
      <p:sp>
        <p:nvSpPr>
          <p:cNvPr id="7" name="文本框 6"/>
          <p:cNvSpPr txBox="1"/>
          <p:nvPr/>
        </p:nvSpPr>
        <p:spPr>
          <a:xfrm>
            <a:off x="1494189" y="3386564"/>
            <a:ext cx="692007" cy="369332"/>
          </a:xfrm>
          <a:prstGeom prst="rect">
            <a:avLst/>
          </a:prstGeom>
          <a:noFill/>
        </p:spPr>
        <p:txBody>
          <a:bodyPr wrap="square" rtlCol="0">
            <a:spAutoFit/>
          </a:bodyPr>
          <a:lstStyle/>
          <a:p>
            <a:r>
              <a:rPr lang="zh-CN" altLang="en-US" b="1" dirty="0">
                <a:solidFill>
                  <a:srgbClr val="0000FF"/>
                </a:solidFill>
                <a:latin typeface="微软雅黑" panose="020B0503020204020204" pitchFamily="34" charset="-122"/>
                <a:ea typeface="微软雅黑" panose="020B0503020204020204" pitchFamily="34" charset="-122"/>
              </a:rPr>
              <a:t>累加</a:t>
            </a:r>
          </a:p>
        </p:txBody>
      </p:sp>
      <p:sp>
        <p:nvSpPr>
          <p:cNvPr id="8" name="文本框 7"/>
          <p:cNvSpPr txBox="1"/>
          <p:nvPr/>
        </p:nvSpPr>
        <p:spPr>
          <a:xfrm>
            <a:off x="1502783" y="4667659"/>
            <a:ext cx="692007" cy="369332"/>
          </a:xfrm>
          <a:prstGeom prst="rect">
            <a:avLst/>
          </a:prstGeom>
          <a:noFill/>
        </p:spPr>
        <p:txBody>
          <a:bodyPr wrap="square" rtlCol="0">
            <a:spAutoFit/>
          </a:bodyPr>
          <a:lstStyle/>
          <a:p>
            <a:r>
              <a:rPr lang="zh-CN" altLang="en-US" b="1" dirty="0">
                <a:solidFill>
                  <a:srgbClr val="0000FF"/>
                </a:solidFill>
                <a:latin typeface="微软雅黑" panose="020B0503020204020204" pitchFamily="34" charset="-122"/>
                <a:ea typeface="微软雅黑" panose="020B0503020204020204" pitchFamily="34" charset="-122"/>
              </a:rPr>
              <a:t>相加</a:t>
            </a:r>
          </a:p>
        </p:txBody>
      </p:sp>
      <p:sp>
        <p:nvSpPr>
          <p:cNvPr id="9" name="矩形 8"/>
          <p:cNvSpPr/>
          <p:nvPr/>
        </p:nvSpPr>
        <p:spPr bwMode="auto">
          <a:xfrm>
            <a:off x="6073421" y="2923821"/>
            <a:ext cx="3341511" cy="3490979"/>
          </a:xfrm>
          <a:prstGeom prst="rect">
            <a:avLst/>
          </a:prstGeom>
          <a:noFill/>
          <a:ln w="38100" cap="flat" cmpd="sng" algn="ctr">
            <a:solidFill>
              <a:srgbClr val="0000FF"/>
            </a:solidFill>
            <a:prstDash val="dash"/>
            <a:round/>
            <a:headEnd type="none" w="med" len="med"/>
            <a:tailEnd type="none" w="med" len="med"/>
          </a:ln>
          <a:effectLst>
            <a:outerShdw dist="109250" dir="3267739" algn="ctr" rotWithShape="0">
              <a:schemeClr val="bg1">
                <a:alpha val="50000"/>
              </a:schemeClr>
            </a:outerShdw>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bg1"/>
              </a:solidFill>
              <a:effectLst/>
              <a:latin typeface="Arial" panose="020B0604020202020204" pitchFamily="34" charset="0"/>
              <a:ea typeface="宋体" panose="02010600030101010101" pitchFamily="2" charset="-122"/>
            </a:endParaRPr>
          </a:p>
        </p:txBody>
      </p:sp>
      <p:sp>
        <p:nvSpPr>
          <p:cNvPr id="3" name="文本框 2"/>
          <p:cNvSpPr txBox="1"/>
          <p:nvPr/>
        </p:nvSpPr>
        <p:spPr>
          <a:xfrm>
            <a:off x="9695281" y="2724844"/>
            <a:ext cx="1682045" cy="1323439"/>
          </a:xfrm>
          <a:prstGeom prst="rect">
            <a:avLst/>
          </a:prstGeom>
          <a:noFill/>
        </p:spPr>
        <p:txBody>
          <a:bodyPr wrap="square" rtlCol="0">
            <a:spAutoFit/>
          </a:bodyPr>
          <a:lstStyle/>
          <a:p>
            <a:r>
              <a:rPr lang="en-US" altLang="zh-CN" sz="2000" b="1" dirty="0">
                <a:solidFill>
                  <a:srgbClr val="FF0000"/>
                </a:solidFill>
                <a:latin typeface="微软雅黑" panose="020B0503020204020204" pitchFamily="34" charset="-122"/>
                <a:ea typeface="微软雅黑" panose="020B0503020204020204" pitchFamily="34" charset="-122"/>
              </a:rPr>
              <a:t>Q&amp;A</a:t>
            </a:r>
            <a:r>
              <a:rPr lang="zh-CN" altLang="en-US" sz="2000" b="1" dirty="0">
                <a:solidFill>
                  <a:srgbClr val="FF0000"/>
                </a:solidFill>
                <a:latin typeface="微软雅黑" panose="020B0503020204020204" pitchFamily="34" charset="-122"/>
                <a:ea typeface="微软雅黑" panose="020B0503020204020204" pitchFamily="34" charset="-122"/>
              </a:rPr>
              <a:t>：</a:t>
            </a:r>
            <a:endParaRPr lang="en-US" altLang="zh-CN" sz="2000" b="1" dirty="0">
              <a:solidFill>
                <a:srgbClr val="FF0000"/>
              </a:solidFill>
              <a:latin typeface="微软雅黑" panose="020B0503020204020204" pitchFamily="34" charset="-122"/>
              <a:ea typeface="微软雅黑" panose="020B0503020204020204" pitchFamily="34" charset="-122"/>
            </a:endParaRPr>
          </a:p>
          <a:p>
            <a:r>
              <a:rPr lang="zh-CN" altLang="en-US" sz="2000" b="1" dirty="0">
                <a:solidFill>
                  <a:schemeClr val="tx2"/>
                </a:solidFill>
                <a:latin typeface="微软雅黑" panose="020B0503020204020204" pitchFamily="34" charset="-122"/>
                <a:ea typeface="微软雅黑" panose="020B0503020204020204" pitchFamily="34" charset="-122"/>
              </a:rPr>
              <a:t>什么时候，</a:t>
            </a:r>
            <a:r>
              <a:rPr lang="en-US" altLang="zh-CN" sz="2000" b="1" dirty="0">
                <a:solidFill>
                  <a:schemeClr val="tx2"/>
                </a:solidFill>
                <a:latin typeface="微软雅黑" panose="020B0503020204020204" pitchFamily="34" charset="-122"/>
                <a:ea typeface="微软雅黑" panose="020B0503020204020204" pitchFamily="34" charset="-122"/>
              </a:rPr>
              <a:t>A</a:t>
            </a:r>
            <a:r>
              <a:rPr lang="zh-CN" altLang="en-US" sz="2000" b="1" dirty="0">
                <a:solidFill>
                  <a:schemeClr val="tx2"/>
                </a:solidFill>
                <a:latin typeface="微软雅黑" panose="020B0503020204020204" pitchFamily="34" charset="-122"/>
                <a:ea typeface="微软雅黑" panose="020B0503020204020204" pitchFamily="34" charset="-122"/>
              </a:rPr>
              <a:t>任务进入流水线？</a:t>
            </a:r>
          </a:p>
        </p:txBody>
      </p:sp>
      <p:grpSp>
        <p:nvGrpSpPr>
          <p:cNvPr id="11" name="组合 10"/>
          <p:cNvGrpSpPr/>
          <p:nvPr/>
        </p:nvGrpSpPr>
        <p:grpSpPr>
          <a:xfrm>
            <a:off x="268695" y="335574"/>
            <a:ext cx="438352" cy="621987"/>
            <a:chOff x="265635" y="269251"/>
            <a:chExt cx="438352" cy="621987"/>
          </a:xfrm>
        </p:grpSpPr>
        <p:sp>
          <p:nvSpPr>
            <p:cNvPr id="12"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3"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4"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4" name="矩形 3"/>
          <p:cNvSpPr/>
          <p:nvPr/>
        </p:nvSpPr>
        <p:spPr>
          <a:xfrm>
            <a:off x="1050456" y="1006844"/>
            <a:ext cx="9600341" cy="1135054"/>
          </a:xfrm>
          <a:prstGeom prst="rect">
            <a:avLst/>
          </a:prstGeom>
        </p:spPr>
        <p:txBody>
          <a:bodyPr wrap="square">
            <a:spAutoFit/>
          </a:bodyPr>
          <a:lstStyle/>
          <a:p>
            <a:pPr eaLnBrk="0" fontAlgn="base" hangingPunct="0">
              <a:lnSpc>
                <a:spcPct val="150000"/>
              </a:lnSpc>
              <a:spcBef>
                <a:spcPct val="0"/>
              </a:spcBef>
              <a:spcAft>
                <a:spcPct val="0"/>
              </a:spcAft>
            </a:pPr>
            <a:r>
              <a:rPr lang="zh-CN" altLang="en-US" sz="2400" b="1" dirty="0">
                <a:latin typeface="微软雅黑" panose="020B0503020204020204" pitchFamily="34" charset="-122"/>
                <a:ea typeface="微软雅黑" panose="020B0503020204020204" pitchFamily="34" charset="-122"/>
              </a:rPr>
              <a:t>假设先后有二批任务要完成，第一批是</a:t>
            </a:r>
            <a:r>
              <a:rPr lang="en-US" altLang="zh-CN" sz="2400" b="1" dirty="0">
                <a:latin typeface="微软雅黑" panose="020B0503020204020204" pitchFamily="34" charset="-122"/>
                <a:ea typeface="微软雅黑" panose="020B0503020204020204" pitchFamily="34" charset="-122"/>
              </a:rPr>
              <a:t>n</a:t>
            </a:r>
            <a:r>
              <a:rPr lang="zh-CN" altLang="en-US" sz="2400" b="1" dirty="0">
                <a:latin typeface="微软雅黑" panose="020B0503020204020204" pitchFamily="34" charset="-122"/>
                <a:ea typeface="微软雅黑" panose="020B0503020204020204" pitchFamily="34" charset="-122"/>
              </a:rPr>
              <a:t>个任务的浮点加、减运算；</a:t>
            </a:r>
          </a:p>
          <a:p>
            <a:pPr eaLnBrk="0" fontAlgn="base" hangingPunct="0">
              <a:lnSpc>
                <a:spcPct val="150000"/>
              </a:lnSpc>
              <a:spcBef>
                <a:spcPct val="0"/>
              </a:spcBef>
              <a:spcAft>
                <a:spcPct val="0"/>
              </a:spcAft>
            </a:pPr>
            <a:r>
              <a:rPr lang="zh-CN" altLang="en-US" sz="2400" b="1" dirty="0">
                <a:latin typeface="微软雅黑" panose="020B0503020204020204" pitchFamily="34" charset="-122"/>
                <a:ea typeface="微软雅黑" panose="020B0503020204020204" pitchFamily="34" charset="-122"/>
              </a:rPr>
              <a:t>第二批任务是</a:t>
            </a:r>
            <a:r>
              <a:rPr lang="en-US" altLang="zh-CN" sz="2400" b="1" dirty="0">
                <a:latin typeface="微软雅黑" panose="020B0503020204020204" pitchFamily="34" charset="-122"/>
                <a:ea typeface="微软雅黑" panose="020B0503020204020204" pitchFamily="34" charset="-122"/>
              </a:rPr>
              <a:t>A</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E</a:t>
            </a:r>
            <a:r>
              <a:rPr lang="zh-CN" altLang="en-US" sz="2400" b="1" dirty="0">
                <a:latin typeface="微软雅黑" panose="020B0503020204020204" pitchFamily="34" charset="-122"/>
                <a:ea typeface="微软雅黑" panose="020B0503020204020204" pitchFamily="34" charset="-122"/>
              </a:rPr>
              <a:t>共</a:t>
            </a:r>
            <a:r>
              <a:rPr lang="en-US" altLang="zh-CN" sz="2400" b="1" dirty="0">
                <a:latin typeface="微软雅黑" panose="020B0503020204020204" pitchFamily="34" charset="-122"/>
                <a:ea typeface="微软雅黑" panose="020B0503020204020204" pitchFamily="34" charset="-122"/>
              </a:rPr>
              <a:t>5</a:t>
            </a:r>
            <a:r>
              <a:rPr lang="zh-CN" altLang="en-US" sz="2400" b="1" dirty="0">
                <a:latin typeface="微软雅黑" panose="020B0503020204020204" pitchFamily="34" charset="-122"/>
                <a:ea typeface="微软雅黑" panose="020B0503020204020204" pitchFamily="34" charset="-122"/>
              </a:rPr>
              <a:t>个任务的定点乘法运算</a:t>
            </a:r>
          </a:p>
        </p:txBody>
      </p:sp>
    </p:spTree>
    <p:extLst>
      <p:ext uri="{BB962C8B-B14F-4D97-AF65-F5344CB8AC3E}">
        <p14:creationId xmlns:p14="http://schemas.microsoft.com/office/powerpoint/2010/main" val="4169216415"/>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style.rotation</p:attrName>
                                        </p:attrNameLst>
                                      </p:cBhvr>
                                      <p:tavLst>
                                        <p:tav tm="0">
                                          <p:val>
                                            <p:fltVal val="90"/>
                                          </p:val>
                                        </p:tav>
                                        <p:tav tm="100000">
                                          <p:val>
                                            <p:fltVal val="0"/>
                                          </p:val>
                                        </p:tav>
                                      </p:tavLst>
                                    </p:anim>
                                    <p:animEffect transition="in" filter="fade">
                                      <p:cBhvr>
                                        <p:cTn id="10" dur="10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wd">
                                    <p:tmAbs val="500"/>
                                  </p:iterate>
                                  <p:childTnLst>
                                    <p:set>
                                      <p:cBhvr>
                                        <p:cTn id="14" dur="1" fill="hold">
                                          <p:stCondLst>
                                            <p:cond delay="0"/>
                                          </p:stCondLst>
                                        </p:cTn>
                                        <p:tgtEl>
                                          <p:spTgt spid="3"/>
                                        </p:tgtEl>
                                        <p:attrNameLst>
                                          <p:attrName>style.visibility</p:attrName>
                                        </p:attrNameLst>
                                      </p:cBhvr>
                                      <p:to>
                                        <p:strVal val="visible"/>
                                      </p:to>
                                    </p:set>
                                  </p:childTnLst>
                                  <p:subTnLst>
                                    <p:audio>
                                      <p:cMediaNode>
                                        <p:cTn display="0" masterRel="sameClick">
                                          <p:stCondLst>
                                            <p:cond evt="begin" delay="0">
                                              <p:tn val="13"/>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4" name="Text Box 8"/>
          <p:cNvSpPr txBox="1">
            <a:spLocks noChangeArrowheads="1"/>
          </p:cNvSpPr>
          <p:nvPr/>
        </p:nvSpPr>
        <p:spPr bwMode="auto">
          <a:xfrm>
            <a:off x="3021435" y="2186763"/>
            <a:ext cx="6605509" cy="461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fontAlgn="base">
              <a:spcBef>
                <a:spcPct val="0"/>
              </a:spcBef>
              <a:spcAft>
                <a:spcPct val="0"/>
              </a:spcAft>
              <a:buFontTx/>
              <a:buChar char="•"/>
            </a:pPr>
            <a:endParaRPr lang="zh-CN" altLang="en-US" sz="2400" dirty="0">
              <a:solidFill>
                <a:srgbClr val="FFFFFF"/>
              </a:solidFill>
              <a:ea typeface="宋体" panose="02010600030101010101" pitchFamily="2" charset="-122"/>
            </a:endParaRPr>
          </a:p>
        </p:txBody>
      </p:sp>
      <p:sp>
        <p:nvSpPr>
          <p:cNvPr id="80906" name="Rectangle 10"/>
          <p:cNvSpPr>
            <a:spLocks noChangeArrowheads="1"/>
          </p:cNvSpPr>
          <p:nvPr/>
        </p:nvSpPr>
        <p:spPr bwMode="auto">
          <a:xfrm>
            <a:off x="6321687" y="278754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0"/>
              </a:spcBef>
              <a:spcAft>
                <a:spcPct val="0"/>
              </a:spcAft>
            </a:pPr>
            <a:endParaRPr lang="zh-CN" altLang="en-US">
              <a:solidFill>
                <a:srgbClr val="FFFFFF"/>
              </a:solidFill>
              <a:ea typeface="宋体" panose="02010600030101010101" pitchFamily="2" charset="-122"/>
            </a:endParaRPr>
          </a:p>
        </p:txBody>
      </p:sp>
      <p:sp>
        <p:nvSpPr>
          <p:cNvPr id="80907" name="Text Box 11"/>
          <p:cNvSpPr txBox="1">
            <a:spLocks noChangeArrowheads="1"/>
          </p:cNvSpPr>
          <p:nvPr/>
        </p:nvSpPr>
        <p:spPr bwMode="auto">
          <a:xfrm>
            <a:off x="4829727" y="6207730"/>
            <a:ext cx="31686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zh-CN" altLang="en-US" sz="2400" b="1" dirty="0">
                <a:latin typeface="微软雅黑" panose="020B0503020204020204" pitchFamily="34" charset="-122"/>
                <a:ea typeface="微软雅黑" panose="020B0503020204020204" pitchFamily="34" charset="-122"/>
              </a:rPr>
              <a:t>非线性流水线举例 </a:t>
            </a:r>
          </a:p>
        </p:txBody>
      </p:sp>
      <p:pic>
        <p:nvPicPr>
          <p:cNvPr id="2" name="图片 1"/>
          <p:cNvPicPr>
            <a:picLocks noChangeAspect="1"/>
          </p:cNvPicPr>
          <p:nvPr/>
        </p:nvPicPr>
        <p:blipFill>
          <a:blip r:embed="rId2"/>
          <a:stretch>
            <a:fillRect/>
          </a:stretch>
        </p:blipFill>
        <p:spPr>
          <a:xfrm>
            <a:off x="2139344" y="5061769"/>
            <a:ext cx="8364685" cy="1137566"/>
          </a:xfrm>
          <a:prstGeom prst="rect">
            <a:avLst/>
          </a:prstGeom>
        </p:spPr>
      </p:pic>
      <p:grpSp>
        <p:nvGrpSpPr>
          <p:cNvPr id="10" name="组合 9"/>
          <p:cNvGrpSpPr/>
          <p:nvPr/>
        </p:nvGrpSpPr>
        <p:grpSpPr>
          <a:xfrm>
            <a:off x="786992" y="3494213"/>
            <a:ext cx="788694" cy="921900"/>
            <a:chOff x="7793038" y="2205038"/>
            <a:chExt cx="1306513" cy="1527175"/>
          </a:xfrm>
        </p:grpSpPr>
        <p:sp>
          <p:nvSpPr>
            <p:cNvPr id="12" name="Freeform 8"/>
            <p:cNvSpPr>
              <a:spLocks/>
            </p:cNvSpPr>
            <p:nvPr/>
          </p:nvSpPr>
          <p:spPr bwMode="auto">
            <a:xfrm>
              <a:off x="7793038" y="2205038"/>
              <a:ext cx="1306513" cy="1527175"/>
            </a:xfrm>
            <a:custGeom>
              <a:avLst/>
              <a:gdLst>
                <a:gd name="T0" fmla="*/ 827 w 1654"/>
                <a:gd name="T1" fmla="*/ 0 h 1918"/>
                <a:gd name="T2" fmla="*/ 1654 w 1654"/>
                <a:gd name="T3" fmla="*/ 827 h 1918"/>
                <a:gd name="T4" fmla="*/ 1116 w 1654"/>
                <a:gd name="T5" fmla="*/ 1602 h 1918"/>
                <a:gd name="T6" fmla="*/ 995 w 1654"/>
                <a:gd name="T7" fmla="*/ 1741 h 1918"/>
                <a:gd name="T8" fmla="*/ 870 w 1654"/>
                <a:gd name="T9" fmla="*/ 1884 h 1918"/>
                <a:gd name="T10" fmla="*/ 790 w 1654"/>
                <a:gd name="T11" fmla="*/ 1889 h 1918"/>
                <a:gd name="T12" fmla="*/ 660 w 1654"/>
                <a:gd name="T13" fmla="*/ 1741 h 1918"/>
                <a:gd name="T14" fmla="*/ 540 w 1654"/>
                <a:gd name="T15" fmla="*/ 1603 h 1918"/>
                <a:gd name="T16" fmla="*/ 0 w 1654"/>
                <a:gd name="T17" fmla="*/ 827 h 1918"/>
                <a:gd name="T18" fmla="*/ 827 w 1654"/>
                <a:gd name="T19" fmla="*/ 0 h 1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54" h="1918">
                  <a:moveTo>
                    <a:pt x="827" y="0"/>
                  </a:moveTo>
                  <a:cubicBezTo>
                    <a:pt x="1284" y="0"/>
                    <a:pt x="1654" y="370"/>
                    <a:pt x="1654" y="827"/>
                  </a:cubicBezTo>
                  <a:cubicBezTo>
                    <a:pt x="1654" y="1182"/>
                    <a:pt x="1430" y="1485"/>
                    <a:pt x="1116" y="1602"/>
                  </a:cubicBezTo>
                  <a:lnTo>
                    <a:pt x="995" y="1741"/>
                  </a:lnTo>
                  <a:cubicBezTo>
                    <a:pt x="954" y="1788"/>
                    <a:pt x="912" y="1836"/>
                    <a:pt x="870" y="1884"/>
                  </a:cubicBezTo>
                  <a:cubicBezTo>
                    <a:pt x="845" y="1916"/>
                    <a:pt x="818" y="1918"/>
                    <a:pt x="790" y="1889"/>
                  </a:cubicBezTo>
                  <a:cubicBezTo>
                    <a:pt x="747" y="1840"/>
                    <a:pt x="703" y="1790"/>
                    <a:pt x="660" y="1741"/>
                  </a:cubicBezTo>
                  <a:lnTo>
                    <a:pt x="540" y="1603"/>
                  </a:lnTo>
                  <a:cubicBezTo>
                    <a:pt x="225" y="1486"/>
                    <a:pt x="0" y="1183"/>
                    <a:pt x="0" y="827"/>
                  </a:cubicBezTo>
                  <a:cubicBezTo>
                    <a:pt x="0" y="370"/>
                    <a:pt x="370" y="0"/>
                    <a:pt x="827" y="0"/>
                  </a:cubicBezTo>
                  <a:close/>
                </a:path>
              </a:pathLst>
            </a:custGeom>
            <a:solidFill>
              <a:schemeClr val="accent6">
                <a:lumMod val="75000"/>
              </a:schemeClr>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13" name="Freeform 13"/>
            <p:cNvSpPr>
              <a:spLocks noEditPoints="1"/>
            </p:cNvSpPr>
            <p:nvPr/>
          </p:nvSpPr>
          <p:spPr bwMode="auto">
            <a:xfrm>
              <a:off x="8065047" y="2423672"/>
              <a:ext cx="819646" cy="881946"/>
            </a:xfrm>
            <a:custGeom>
              <a:avLst/>
              <a:gdLst>
                <a:gd name="T0" fmla="*/ 255 w 847"/>
                <a:gd name="T1" fmla="*/ 138 h 903"/>
                <a:gd name="T2" fmla="*/ 555 w 847"/>
                <a:gd name="T3" fmla="*/ 100 h 903"/>
                <a:gd name="T4" fmla="*/ 448 w 847"/>
                <a:gd name="T5" fmla="*/ 61 h 903"/>
                <a:gd name="T6" fmla="*/ 324 w 847"/>
                <a:gd name="T7" fmla="*/ 61 h 903"/>
                <a:gd name="T8" fmla="*/ 217 w 847"/>
                <a:gd name="T9" fmla="*/ 100 h 903"/>
                <a:gd name="T10" fmla="*/ 697 w 847"/>
                <a:gd name="T11" fmla="*/ 782 h 903"/>
                <a:gd name="T12" fmla="*/ 709 w 847"/>
                <a:gd name="T13" fmla="*/ 755 h 903"/>
                <a:gd name="T14" fmla="*/ 660 w 847"/>
                <a:gd name="T15" fmla="*/ 586 h 903"/>
                <a:gd name="T16" fmla="*/ 629 w 847"/>
                <a:gd name="T17" fmla="*/ 586 h 903"/>
                <a:gd name="T18" fmla="*/ 629 w 847"/>
                <a:gd name="T19" fmla="*/ 716 h 903"/>
                <a:gd name="T20" fmla="*/ 630 w 847"/>
                <a:gd name="T21" fmla="*/ 719 h 903"/>
                <a:gd name="T22" fmla="*/ 631 w 847"/>
                <a:gd name="T23" fmla="*/ 722 h 903"/>
                <a:gd name="T24" fmla="*/ 633 w 847"/>
                <a:gd name="T25" fmla="*/ 724 h 903"/>
                <a:gd name="T26" fmla="*/ 807 w 847"/>
                <a:gd name="T27" fmla="*/ 596 h 903"/>
                <a:gd name="T28" fmla="*/ 644 w 847"/>
                <a:gd name="T29" fmla="*/ 510 h 903"/>
                <a:gd name="T30" fmla="*/ 607 w 847"/>
                <a:gd name="T31" fmla="*/ 899 h 903"/>
                <a:gd name="T32" fmla="*/ 837 w 847"/>
                <a:gd name="T33" fmla="*/ 743 h 903"/>
                <a:gd name="T34" fmla="*/ 808 w 847"/>
                <a:gd name="T35" fmla="*/ 737 h 903"/>
                <a:gd name="T36" fmla="*/ 645 w 847"/>
                <a:gd name="T37" fmla="*/ 872 h 903"/>
                <a:gd name="T38" fmla="*/ 481 w 847"/>
                <a:gd name="T39" fmla="*/ 675 h 903"/>
                <a:gd name="T40" fmla="*/ 676 w 847"/>
                <a:gd name="T41" fmla="*/ 543 h 903"/>
                <a:gd name="T42" fmla="*/ 808 w 847"/>
                <a:gd name="T43" fmla="*/ 737 h 903"/>
                <a:gd name="T44" fmla="*/ 284 w 847"/>
                <a:gd name="T45" fmla="*/ 736 h 903"/>
                <a:gd name="T46" fmla="*/ 485 w 847"/>
                <a:gd name="T47" fmla="*/ 536 h 903"/>
                <a:gd name="T48" fmla="*/ 526 w 847"/>
                <a:gd name="T49" fmla="*/ 505 h 903"/>
                <a:gd name="T50" fmla="*/ 732 w 847"/>
                <a:gd name="T51" fmla="*/ 306 h 903"/>
                <a:gd name="T52" fmla="*/ 740 w 847"/>
                <a:gd name="T53" fmla="*/ 494 h 903"/>
                <a:gd name="T54" fmla="*/ 772 w 847"/>
                <a:gd name="T55" fmla="*/ 505 h 903"/>
                <a:gd name="T56" fmla="*/ 772 w 847"/>
                <a:gd name="T57" fmla="*/ 208 h 903"/>
                <a:gd name="T58" fmla="*/ 40 w 847"/>
                <a:gd name="T59" fmla="*/ 167 h 903"/>
                <a:gd name="T60" fmla="*/ 0 w 847"/>
                <a:gd name="T61" fmla="*/ 314 h 903"/>
                <a:gd name="T62" fmla="*/ 0 w 847"/>
                <a:gd name="T63" fmla="*/ 536 h 903"/>
                <a:gd name="T64" fmla="*/ 0 w 847"/>
                <a:gd name="T65" fmla="*/ 751 h 903"/>
                <a:gd name="T66" fmla="*/ 427 w 847"/>
                <a:gd name="T67" fmla="*/ 791 h 903"/>
                <a:gd name="T68" fmla="*/ 32 w 847"/>
                <a:gd name="T69" fmla="*/ 314 h 903"/>
                <a:gd name="T70" fmla="*/ 40 w 847"/>
                <a:gd name="T71" fmla="*/ 306 h 903"/>
                <a:gd name="T72" fmla="*/ 252 w 847"/>
                <a:gd name="T73" fmla="*/ 505 h 903"/>
                <a:gd name="T74" fmla="*/ 32 w 847"/>
                <a:gd name="T75" fmla="*/ 314 h 903"/>
                <a:gd name="T76" fmla="*/ 252 w 847"/>
                <a:gd name="T77" fmla="*/ 536 h 903"/>
                <a:gd name="T78" fmla="*/ 40 w 847"/>
                <a:gd name="T79" fmla="*/ 736 h 903"/>
                <a:gd name="T80" fmla="*/ 32 w 847"/>
                <a:gd name="T81" fmla="*/ 536 h 903"/>
                <a:gd name="T82" fmla="*/ 284 w 847"/>
                <a:gd name="T83" fmla="*/ 505 h 903"/>
                <a:gd name="T84" fmla="*/ 284 w 847"/>
                <a:gd name="T85" fmla="*/ 306 h 903"/>
                <a:gd name="T86" fmla="*/ 495 w 847"/>
                <a:gd name="T87" fmla="*/ 505 h 903"/>
                <a:gd name="T88" fmla="*/ 511 w 847"/>
                <a:gd name="T89" fmla="*/ 207 h 903"/>
                <a:gd name="T90" fmla="*/ 538 w 847"/>
                <a:gd name="T91" fmla="*/ 235 h 903"/>
                <a:gd name="T92" fmla="*/ 483 w 847"/>
                <a:gd name="T93" fmla="*/ 235 h 903"/>
                <a:gd name="T94" fmla="*/ 268 w 847"/>
                <a:gd name="T95" fmla="*/ 207 h 903"/>
                <a:gd name="T96" fmla="*/ 295 w 847"/>
                <a:gd name="T97" fmla="*/ 235 h 903"/>
                <a:gd name="T98" fmla="*/ 241 w 847"/>
                <a:gd name="T99" fmla="*/ 23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47" h="903">
                  <a:moveTo>
                    <a:pt x="217" y="100"/>
                  </a:moveTo>
                  <a:cubicBezTo>
                    <a:pt x="217" y="121"/>
                    <a:pt x="234" y="138"/>
                    <a:pt x="255" y="138"/>
                  </a:cubicBezTo>
                  <a:lnTo>
                    <a:pt x="517" y="138"/>
                  </a:lnTo>
                  <a:cubicBezTo>
                    <a:pt x="538" y="138"/>
                    <a:pt x="555" y="121"/>
                    <a:pt x="555" y="100"/>
                  </a:cubicBezTo>
                  <a:cubicBezTo>
                    <a:pt x="555" y="79"/>
                    <a:pt x="538" y="61"/>
                    <a:pt x="517" y="61"/>
                  </a:cubicBezTo>
                  <a:lnTo>
                    <a:pt x="448" y="61"/>
                  </a:lnTo>
                  <a:cubicBezTo>
                    <a:pt x="448" y="27"/>
                    <a:pt x="420" y="0"/>
                    <a:pt x="386" y="0"/>
                  </a:cubicBezTo>
                  <a:cubicBezTo>
                    <a:pt x="352" y="0"/>
                    <a:pt x="324" y="27"/>
                    <a:pt x="324" y="61"/>
                  </a:cubicBezTo>
                  <a:lnTo>
                    <a:pt x="255" y="61"/>
                  </a:lnTo>
                  <a:cubicBezTo>
                    <a:pt x="234" y="61"/>
                    <a:pt x="217" y="79"/>
                    <a:pt x="217" y="100"/>
                  </a:cubicBezTo>
                  <a:close/>
                  <a:moveTo>
                    <a:pt x="686" y="777"/>
                  </a:moveTo>
                  <a:cubicBezTo>
                    <a:pt x="689" y="780"/>
                    <a:pt x="693" y="782"/>
                    <a:pt x="697" y="782"/>
                  </a:cubicBezTo>
                  <a:cubicBezTo>
                    <a:pt x="702" y="782"/>
                    <a:pt x="706" y="780"/>
                    <a:pt x="709" y="777"/>
                  </a:cubicBezTo>
                  <a:cubicBezTo>
                    <a:pt x="715" y="771"/>
                    <a:pt x="715" y="761"/>
                    <a:pt x="709" y="755"/>
                  </a:cubicBezTo>
                  <a:lnTo>
                    <a:pt x="660" y="706"/>
                  </a:lnTo>
                  <a:lnTo>
                    <a:pt x="660" y="586"/>
                  </a:lnTo>
                  <a:cubicBezTo>
                    <a:pt x="660" y="577"/>
                    <a:pt x="653" y="570"/>
                    <a:pt x="644" y="570"/>
                  </a:cubicBezTo>
                  <a:cubicBezTo>
                    <a:pt x="636" y="570"/>
                    <a:pt x="629" y="577"/>
                    <a:pt x="629" y="586"/>
                  </a:cubicBezTo>
                  <a:lnTo>
                    <a:pt x="629" y="713"/>
                  </a:lnTo>
                  <a:cubicBezTo>
                    <a:pt x="629" y="714"/>
                    <a:pt x="629" y="715"/>
                    <a:pt x="629" y="716"/>
                  </a:cubicBezTo>
                  <a:cubicBezTo>
                    <a:pt x="629" y="716"/>
                    <a:pt x="629" y="717"/>
                    <a:pt x="629" y="717"/>
                  </a:cubicBezTo>
                  <a:cubicBezTo>
                    <a:pt x="629" y="718"/>
                    <a:pt x="630" y="718"/>
                    <a:pt x="630" y="719"/>
                  </a:cubicBezTo>
                  <a:cubicBezTo>
                    <a:pt x="630" y="719"/>
                    <a:pt x="630" y="720"/>
                    <a:pt x="631" y="720"/>
                  </a:cubicBezTo>
                  <a:cubicBezTo>
                    <a:pt x="631" y="721"/>
                    <a:pt x="631" y="721"/>
                    <a:pt x="631" y="722"/>
                  </a:cubicBezTo>
                  <a:cubicBezTo>
                    <a:pt x="632" y="722"/>
                    <a:pt x="632" y="723"/>
                    <a:pt x="633" y="724"/>
                  </a:cubicBezTo>
                  <a:cubicBezTo>
                    <a:pt x="633" y="724"/>
                    <a:pt x="633" y="724"/>
                    <a:pt x="633" y="724"/>
                  </a:cubicBezTo>
                  <a:lnTo>
                    <a:pt x="686" y="777"/>
                  </a:lnTo>
                  <a:close/>
                  <a:moveTo>
                    <a:pt x="807" y="596"/>
                  </a:moveTo>
                  <a:cubicBezTo>
                    <a:pt x="777" y="552"/>
                    <a:pt x="733" y="523"/>
                    <a:pt x="681" y="513"/>
                  </a:cubicBezTo>
                  <a:cubicBezTo>
                    <a:pt x="669" y="511"/>
                    <a:pt x="657" y="510"/>
                    <a:pt x="644" y="510"/>
                  </a:cubicBezTo>
                  <a:cubicBezTo>
                    <a:pt x="550" y="510"/>
                    <a:pt x="469" y="577"/>
                    <a:pt x="451" y="669"/>
                  </a:cubicBezTo>
                  <a:cubicBezTo>
                    <a:pt x="431" y="776"/>
                    <a:pt x="501" y="879"/>
                    <a:pt x="607" y="899"/>
                  </a:cubicBezTo>
                  <a:cubicBezTo>
                    <a:pt x="620" y="902"/>
                    <a:pt x="632" y="903"/>
                    <a:pt x="645" y="903"/>
                  </a:cubicBezTo>
                  <a:cubicBezTo>
                    <a:pt x="739" y="903"/>
                    <a:pt x="820" y="836"/>
                    <a:pt x="837" y="743"/>
                  </a:cubicBezTo>
                  <a:cubicBezTo>
                    <a:pt x="847" y="692"/>
                    <a:pt x="836" y="639"/>
                    <a:pt x="807" y="596"/>
                  </a:cubicBezTo>
                  <a:close/>
                  <a:moveTo>
                    <a:pt x="808" y="737"/>
                  </a:moveTo>
                  <a:lnTo>
                    <a:pt x="808" y="737"/>
                  </a:lnTo>
                  <a:cubicBezTo>
                    <a:pt x="793" y="816"/>
                    <a:pt x="724" y="872"/>
                    <a:pt x="645" y="872"/>
                  </a:cubicBezTo>
                  <a:cubicBezTo>
                    <a:pt x="634" y="872"/>
                    <a:pt x="624" y="871"/>
                    <a:pt x="613" y="869"/>
                  </a:cubicBezTo>
                  <a:cubicBezTo>
                    <a:pt x="523" y="852"/>
                    <a:pt x="464" y="765"/>
                    <a:pt x="481" y="675"/>
                  </a:cubicBezTo>
                  <a:cubicBezTo>
                    <a:pt x="496" y="597"/>
                    <a:pt x="565" y="540"/>
                    <a:pt x="644" y="540"/>
                  </a:cubicBezTo>
                  <a:cubicBezTo>
                    <a:pt x="655" y="540"/>
                    <a:pt x="665" y="541"/>
                    <a:pt x="676" y="543"/>
                  </a:cubicBezTo>
                  <a:cubicBezTo>
                    <a:pt x="719" y="551"/>
                    <a:pt x="757" y="576"/>
                    <a:pt x="782" y="613"/>
                  </a:cubicBezTo>
                  <a:cubicBezTo>
                    <a:pt x="807" y="650"/>
                    <a:pt x="816" y="694"/>
                    <a:pt x="808" y="737"/>
                  </a:cubicBezTo>
                  <a:close/>
                  <a:moveTo>
                    <a:pt x="413" y="736"/>
                  </a:moveTo>
                  <a:lnTo>
                    <a:pt x="284" y="736"/>
                  </a:lnTo>
                  <a:lnTo>
                    <a:pt x="284" y="536"/>
                  </a:lnTo>
                  <a:lnTo>
                    <a:pt x="485" y="536"/>
                  </a:lnTo>
                  <a:cubicBezTo>
                    <a:pt x="497" y="524"/>
                    <a:pt x="512" y="514"/>
                    <a:pt x="527" y="505"/>
                  </a:cubicBezTo>
                  <a:lnTo>
                    <a:pt x="526" y="505"/>
                  </a:lnTo>
                  <a:lnTo>
                    <a:pt x="526" y="306"/>
                  </a:lnTo>
                  <a:lnTo>
                    <a:pt x="732" y="306"/>
                  </a:lnTo>
                  <a:cubicBezTo>
                    <a:pt x="736" y="306"/>
                    <a:pt x="740" y="309"/>
                    <a:pt x="740" y="314"/>
                  </a:cubicBezTo>
                  <a:lnTo>
                    <a:pt x="740" y="494"/>
                  </a:lnTo>
                  <a:cubicBezTo>
                    <a:pt x="751" y="499"/>
                    <a:pt x="762" y="505"/>
                    <a:pt x="772" y="511"/>
                  </a:cubicBezTo>
                  <a:lnTo>
                    <a:pt x="772" y="505"/>
                  </a:lnTo>
                  <a:lnTo>
                    <a:pt x="772" y="314"/>
                  </a:lnTo>
                  <a:lnTo>
                    <a:pt x="772" y="208"/>
                  </a:lnTo>
                  <a:cubicBezTo>
                    <a:pt x="772" y="185"/>
                    <a:pt x="754" y="167"/>
                    <a:pt x="732" y="167"/>
                  </a:cubicBezTo>
                  <a:lnTo>
                    <a:pt x="40" y="167"/>
                  </a:lnTo>
                  <a:cubicBezTo>
                    <a:pt x="18" y="167"/>
                    <a:pt x="0" y="185"/>
                    <a:pt x="0" y="208"/>
                  </a:cubicBezTo>
                  <a:lnTo>
                    <a:pt x="0" y="314"/>
                  </a:lnTo>
                  <a:lnTo>
                    <a:pt x="0" y="505"/>
                  </a:lnTo>
                  <a:lnTo>
                    <a:pt x="0" y="536"/>
                  </a:lnTo>
                  <a:lnTo>
                    <a:pt x="0" y="727"/>
                  </a:lnTo>
                  <a:lnTo>
                    <a:pt x="0" y="751"/>
                  </a:lnTo>
                  <a:cubicBezTo>
                    <a:pt x="0" y="773"/>
                    <a:pt x="18" y="791"/>
                    <a:pt x="40" y="791"/>
                  </a:cubicBezTo>
                  <a:lnTo>
                    <a:pt x="427" y="791"/>
                  </a:lnTo>
                  <a:cubicBezTo>
                    <a:pt x="420" y="773"/>
                    <a:pt x="415" y="755"/>
                    <a:pt x="413" y="736"/>
                  </a:cubicBezTo>
                  <a:close/>
                  <a:moveTo>
                    <a:pt x="32" y="314"/>
                  </a:moveTo>
                  <a:lnTo>
                    <a:pt x="32" y="314"/>
                  </a:lnTo>
                  <a:cubicBezTo>
                    <a:pt x="32" y="309"/>
                    <a:pt x="36" y="306"/>
                    <a:pt x="40" y="306"/>
                  </a:cubicBezTo>
                  <a:lnTo>
                    <a:pt x="252" y="306"/>
                  </a:lnTo>
                  <a:lnTo>
                    <a:pt x="252" y="505"/>
                  </a:lnTo>
                  <a:lnTo>
                    <a:pt x="32" y="505"/>
                  </a:lnTo>
                  <a:lnTo>
                    <a:pt x="32" y="314"/>
                  </a:lnTo>
                  <a:close/>
                  <a:moveTo>
                    <a:pt x="252" y="536"/>
                  </a:moveTo>
                  <a:lnTo>
                    <a:pt x="252" y="536"/>
                  </a:lnTo>
                  <a:lnTo>
                    <a:pt x="252" y="736"/>
                  </a:lnTo>
                  <a:lnTo>
                    <a:pt x="40" y="736"/>
                  </a:lnTo>
                  <a:cubicBezTo>
                    <a:pt x="36" y="736"/>
                    <a:pt x="32" y="732"/>
                    <a:pt x="32" y="727"/>
                  </a:cubicBezTo>
                  <a:lnTo>
                    <a:pt x="32" y="536"/>
                  </a:lnTo>
                  <a:lnTo>
                    <a:pt x="252" y="536"/>
                  </a:lnTo>
                  <a:close/>
                  <a:moveTo>
                    <a:pt x="284" y="505"/>
                  </a:moveTo>
                  <a:lnTo>
                    <a:pt x="284" y="505"/>
                  </a:lnTo>
                  <a:lnTo>
                    <a:pt x="284" y="306"/>
                  </a:lnTo>
                  <a:lnTo>
                    <a:pt x="495" y="306"/>
                  </a:lnTo>
                  <a:lnTo>
                    <a:pt x="495" y="505"/>
                  </a:lnTo>
                  <a:lnTo>
                    <a:pt x="284" y="505"/>
                  </a:lnTo>
                  <a:close/>
                  <a:moveTo>
                    <a:pt x="511" y="207"/>
                  </a:moveTo>
                  <a:lnTo>
                    <a:pt x="511" y="207"/>
                  </a:lnTo>
                  <a:cubicBezTo>
                    <a:pt x="526" y="207"/>
                    <a:pt x="538" y="219"/>
                    <a:pt x="538" y="235"/>
                  </a:cubicBezTo>
                  <a:cubicBezTo>
                    <a:pt x="538" y="250"/>
                    <a:pt x="526" y="262"/>
                    <a:pt x="511" y="262"/>
                  </a:cubicBezTo>
                  <a:cubicBezTo>
                    <a:pt x="496" y="262"/>
                    <a:pt x="483" y="250"/>
                    <a:pt x="483" y="235"/>
                  </a:cubicBezTo>
                  <a:cubicBezTo>
                    <a:pt x="483" y="219"/>
                    <a:pt x="496" y="207"/>
                    <a:pt x="511" y="207"/>
                  </a:cubicBezTo>
                  <a:close/>
                  <a:moveTo>
                    <a:pt x="268" y="207"/>
                  </a:moveTo>
                  <a:lnTo>
                    <a:pt x="268" y="207"/>
                  </a:lnTo>
                  <a:cubicBezTo>
                    <a:pt x="283" y="207"/>
                    <a:pt x="295" y="219"/>
                    <a:pt x="295" y="235"/>
                  </a:cubicBezTo>
                  <a:cubicBezTo>
                    <a:pt x="295" y="250"/>
                    <a:pt x="283" y="262"/>
                    <a:pt x="268" y="262"/>
                  </a:cubicBezTo>
                  <a:cubicBezTo>
                    <a:pt x="253" y="262"/>
                    <a:pt x="241" y="250"/>
                    <a:pt x="241" y="235"/>
                  </a:cubicBezTo>
                  <a:cubicBezTo>
                    <a:pt x="241" y="219"/>
                    <a:pt x="253" y="207"/>
                    <a:pt x="268" y="20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grpSp>
      <p:grpSp>
        <p:nvGrpSpPr>
          <p:cNvPr id="14" name="组合 13"/>
          <p:cNvGrpSpPr/>
          <p:nvPr/>
        </p:nvGrpSpPr>
        <p:grpSpPr>
          <a:xfrm>
            <a:off x="779588" y="1702410"/>
            <a:ext cx="788694" cy="921900"/>
            <a:chOff x="6560095" y="2132856"/>
            <a:chExt cx="1306513" cy="1527175"/>
          </a:xfrm>
        </p:grpSpPr>
        <p:sp>
          <p:nvSpPr>
            <p:cNvPr id="15" name="Freeform 7"/>
            <p:cNvSpPr>
              <a:spLocks/>
            </p:cNvSpPr>
            <p:nvPr/>
          </p:nvSpPr>
          <p:spPr bwMode="auto">
            <a:xfrm>
              <a:off x="6560095" y="2132856"/>
              <a:ext cx="1306513" cy="1527175"/>
            </a:xfrm>
            <a:custGeom>
              <a:avLst/>
              <a:gdLst>
                <a:gd name="T0" fmla="*/ 827 w 1654"/>
                <a:gd name="T1" fmla="*/ 0 h 1918"/>
                <a:gd name="T2" fmla="*/ 1654 w 1654"/>
                <a:gd name="T3" fmla="*/ 827 h 1918"/>
                <a:gd name="T4" fmla="*/ 1116 w 1654"/>
                <a:gd name="T5" fmla="*/ 1602 h 1918"/>
                <a:gd name="T6" fmla="*/ 995 w 1654"/>
                <a:gd name="T7" fmla="*/ 1741 h 1918"/>
                <a:gd name="T8" fmla="*/ 870 w 1654"/>
                <a:gd name="T9" fmla="*/ 1884 h 1918"/>
                <a:gd name="T10" fmla="*/ 789 w 1654"/>
                <a:gd name="T11" fmla="*/ 1889 h 1918"/>
                <a:gd name="T12" fmla="*/ 660 w 1654"/>
                <a:gd name="T13" fmla="*/ 1741 h 1918"/>
                <a:gd name="T14" fmla="*/ 540 w 1654"/>
                <a:gd name="T15" fmla="*/ 1603 h 1918"/>
                <a:gd name="T16" fmla="*/ 0 w 1654"/>
                <a:gd name="T17" fmla="*/ 827 h 1918"/>
                <a:gd name="T18" fmla="*/ 827 w 1654"/>
                <a:gd name="T19" fmla="*/ 0 h 1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54" h="1918">
                  <a:moveTo>
                    <a:pt x="827" y="0"/>
                  </a:moveTo>
                  <a:cubicBezTo>
                    <a:pt x="1283" y="0"/>
                    <a:pt x="1654" y="370"/>
                    <a:pt x="1654" y="827"/>
                  </a:cubicBezTo>
                  <a:cubicBezTo>
                    <a:pt x="1654" y="1182"/>
                    <a:pt x="1430" y="1485"/>
                    <a:pt x="1116" y="1602"/>
                  </a:cubicBezTo>
                  <a:lnTo>
                    <a:pt x="995" y="1741"/>
                  </a:lnTo>
                  <a:cubicBezTo>
                    <a:pt x="953" y="1788"/>
                    <a:pt x="912" y="1836"/>
                    <a:pt x="870" y="1884"/>
                  </a:cubicBezTo>
                  <a:cubicBezTo>
                    <a:pt x="845" y="1916"/>
                    <a:pt x="818" y="1918"/>
                    <a:pt x="789" y="1889"/>
                  </a:cubicBezTo>
                  <a:cubicBezTo>
                    <a:pt x="746" y="1840"/>
                    <a:pt x="703" y="1790"/>
                    <a:pt x="660" y="1741"/>
                  </a:cubicBezTo>
                  <a:lnTo>
                    <a:pt x="540" y="1603"/>
                  </a:lnTo>
                  <a:cubicBezTo>
                    <a:pt x="225" y="1486"/>
                    <a:pt x="0" y="1183"/>
                    <a:pt x="0" y="827"/>
                  </a:cubicBezTo>
                  <a:cubicBezTo>
                    <a:pt x="0" y="370"/>
                    <a:pt x="370" y="0"/>
                    <a:pt x="827" y="0"/>
                  </a:cubicBezTo>
                  <a:close/>
                </a:path>
              </a:pathLst>
            </a:custGeom>
            <a:solidFill>
              <a:srgbClr val="02B9E7"/>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16" name="Freeform 10"/>
            <p:cNvSpPr>
              <a:spLocks noEditPoints="1"/>
            </p:cNvSpPr>
            <p:nvPr/>
          </p:nvSpPr>
          <p:spPr bwMode="auto">
            <a:xfrm>
              <a:off x="6850001" y="2403005"/>
              <a:ext cx="726700" cy="778916"/>
            </a:xfrm>
            <a:custGeom>
              <a:avLst/>
              <a:gdLst>
                <a:gd name="T0" fmla="*/ 255 w 674"/>
                <a:gd name="T1" fmla="*/ 448 h 720"/>
                <a:gd name="T2" fmla="*/ 243 w 674"/>
                <a:gd name="T3" fmla="*/ 407 h 720"/>
                <a:gd name="T4" fmla="*/ 295 w 674"/>
                <a:gd name="T5" fmla="*/ 196 h 720"/>
                <a:gd name="T6" fmla="*/ 350 w 674"/>
                <a:gd name="T7" fmla="*/ 367 h 720"/>
                <a:gd name="T8" fmla="*/ 418 w 674"/>
                <a:gd name="T9" fmla="*/ 169 h 720"/>
                <a:gd name="T10" fmla="*/ 267 w 674"/>
                <a:gd name="T11" fmla="*/ 336 h 720"/>
                <a:gd name="T12" fmla="*/ 254 w 674"/>
                <a:gd name="T13" fmla="*/ 358 h 720"/>
                <a:gd name="T14" fmla="*/ 346 w 674"/>
                <a:gd name="T15" fmla="*/ 412 h 720"/>
                <a:gd name="T16" fmla="*/ 445 w 674"/>
                <a:gd name="T17" fmla="*/ 144 h 720"/>
                <a:gd name="T18" fmla="*/ 449 w 674"/>
                <a:gd name="T19" fmla="*/ 91 h 720"/>
                <a:gd name="T20" fmla="*/ 445 w 674"/>
                <a:gd name="T21" fmla="*/ 144 h 720"/>
                <a:gd name="T22" fmla="*/ 526 w 674"/>
                <a:gd name="T23" fmla="*/ 170 h 720"/>
                <a:gd name="T24" fmla="*/ 474 w 674"/>
                <a:gd name="T25" fmla="*/ 174 h 720"/>
                <a:gd name="T26" fmla="*/ 385 w 674"/>
                <a:gd name="T27" fmla="*/ 121 h 720"/>
                <a:gd name="T28" fmla="*/ 363 w 674"/>
                <a:gd name="T29" fmla="*/ 73 h 720"/>
                <a:gd name="T30" fmla="*/ 385 w 674"/>
                <a:gd name="T31" fmla="*/ 121 h 720"/>
                <a:gd name="T32" fmla="*/ 298 w 674"/>
                <a:gd name="T33" fmla="*/ 90 h 720"/>
                <a:gd name="T34" fmla="*/ 302 w 674"/>
                <a:gd name="T35" fmla="*/ 142 h 720"/>
                <a:gd name="T36" fmla="*/ 496 w 674"/>
                <a:gd name="T37" fmla="*/ 257 h 720"/>
                <a:gd name="T38" fmla="*/ 543 w 674"/>
                <a:gd name="T39" fmla="*/ 235 h 720"/>
                <a:gd name="T40" fmla="*/ 496 w 674"/>
                <a:gd name="T41" fmla="*/ 257 h 720"/>
                <a:gd name="T42" fmla="*/ 248 w 674"/>
                <a:gd name="T43" fmla="*/ 368 h 720"/>
                <a:gd name="T44" fmla="*/ 235 w 674"/>
                <a:gd name="T45" fmla="*/ 391 h 720"/>
                <a:gd name="T46" fmla="*/ 328 w 674"/>
                <a:gd name="T47" fmla="*/ 445 h 720"/>
                <a:gd name="T48" fmla="*/ 246 w 674"/>
                <a:gd name="T49" fmla="*/ 720 h 720"/>
                <a:gd name="T50" fmla="*/ 263 w 674"/>
                <a:gd name="T51" fmla="*/ 42 h 720"/>
                <a:gd name="T52" fmla="*/ 642 w 674"/>
                <a:gd name="T53" fmla="*/ 204 h 720"/>
                <a:gd name="T54" fmla="*/ 648 w 674"/>
                <a:gd name="T55" fmla="*/ 313 h 720"/>
                <a:gd name="T56" fmla="*/ 667 w 674"/>
                <a:gd name="T57" fmla="*/ 450 h 720"/>
                <a:gd name="T58" fmla="*/ 643 w 674"/>
                <a:gd name="T59" fmla="*/ 566 h 720"/>
                <a:gd name="T60" fmla="*/ 504 w 674"/>
                <a:gd name="T61" fmla="*/ 598 h 720"/>
                <a:gd name="T62" fmla="*/ 246 w 674"/>
                <a:gd name="T63" fmla="*/ 720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74" h="720">
                  <a:moveTo>
                    <a:pt x="243" y="407"/>
                  </a:moveTo>
                  <a:cubicBezTo>
                    <a:pt x="236" y="421"/>
                    <a:pt x="241" y="439"/>
                    <a:pt x="255" y="448"/>
                  </a:cubicBezTo>
                  <a:cubicBezTo>
                    <a:pt x="267" y="455"/>
                    <a:pt x="282" y="453"/>
                    <a:pt x="292" y="444"/>
                  </a:cubicBezTo>
                  <a:lnTo>
                    <a:pt x="243" y="407"/>
                  </a:lnTo>
                  <a:close/>
                  <a:moveTo>
                    <a:pt x="418" y="169"/>
                  </a:moveTo>
                  <a:cubicBezTo>
                    <a:pt x="373" y="143"/>
                    <a:pt x="318" y="155"/>
                    <a:pt x="295" y="196"/>
                  </a:cubicBezTo>
                  <a:cubicBezTo>
                    <a:pt x="270" y="238"/>
                    <a:pt x="302" y="284"/>
                    <a:pt x="280" y="327"/>
                  </a:cubicBezTo>
                  <a:lnTo>
                    <a:pt x="350" y="367"/>
                  </a:lnTo>
                  <a:cubicBezTo>
                    <a:pt x="376" y="327"/>
                    <a:pt x="432" y="331"/>
                    <a:pt x="456" y="289"/>
                  </a:cubicBezTo>
                  <a:cubicBezTo>
                    <a:pt x="480" y="249"/>
                    <a:pt x="462" y="195"/>
                    <a:pt x="418" y="169"/>
                  </a:cubicBezTo>
                  <a:close/>
                  <a:moveTo>
                    <a:pt x="342" y="393"/>
                  </a:moveTo>
                  <a:lnTo>
                    <a:pt x="267" y="336"/>
                  </a:lnTo>
                  <a:cubicBezTo>
                    <a:pt x="261" y="331"/>
                    <a:pt x="253" y="333"/>
                    <a:pt x="250" y="339"/>
                  </a:cubicBezTo>
                  <a:cubicBezTo>
                    <a:pt x="246" y="345"/>
                    <a:pt x="248" y="354"/>
                    <a:pt x="254" y="358"/>
                  </a:cubicBezTo>
                  <a:lnTo>
                    <a:pt x="329" y="416"/>
                  </a:lnTo>
                  <a:cubicBezTo>
                    <a:pt x="335" y="420"/>
                    <a:pt x="343" y="418"/>
                    <a:pt x="346" y="412"/>
                  </a:cubicBezTo>
                  <a:cubicBezTo>
                    <a:pt x="350" y="406"/>
                    <a:pt x="348" y="397"/>
                    <a:pt x="342" y="393"/>
                  </a:cubicBezTo>
                  <a:close/>
                  <a:moveTo>
                    <a:pt x="445" y="144"/>
                  </a:moveTo>
                  <a:lnTo>
                    <a:pt x="468" y="102"/>
                  </a:lnTo>
                  <a:lnTo>
                    <a:pt x="449" y="91"/>
                  </a:lnTo>
                  <a:lnTo>
                    <a:pt x="426" y="133"/>
                  </a:lnTo>
                  <a:lnTo>
                    <a:pt x="445" y="144"/>
                  </a:lnTo>
                  <a:close/>
                  <a:moveTo>
                    <a:pt x="485" y="193"/>
                  </a:moveTo>
                  <a:lnTo>
                    <a:pt x="526" y="170"/>
                  </a:lnTo>
                  <a:lnTo>
                    <a:pt x="515" y="150"/>
                  </a:lnTo>
                  <a:lnTo>
                    <a:pt x="474" y="174"/>
                  </a:lnTo>
                  <a:lnTo>
                    <a:pt x="485" y="193"/>
                  </a:lnTo>
                  <a:close/>
                  <a:moveTo>
                    <a:pt x="385" y="121"/>
                  </a:moveTo>
                  <a:lnTo>
                    <a:pt x="385" y="73"/>
                  </a:lnTo>
                  <a:lnTo>
                    <a:pt x="363" y="73"/>
                  </a:lnTo>
                  <a:lnTo>
                    <a:pt x="363" y="121"/>
                  </a:lnTo>
                  <a:lnTo>
                    <a:pt x="385" y="121"/>
                  </a:lnTo>
                  <a:close/>
                  <a:moveTo>
                    <a:pt x="321" y="131"/>
                  </a:moveTo>
                  <a:lnTo>
                    <a:pt x="298" y="90"/>
                  </a:lnTo>
                  <a:lnTo>
                    <a:pt x="278" y="101"/>
                  </a:lnTo>
                  <a:lnTo>
                    <a:pt x="302" y="142"/>
                  </a:lnTo>
                  <a:lnTo>
                    <a:pt x="321" y="131"/>
                  </a:lnTo>
                  <a:close/>
                  <a:moveTo>
                    <a:pt x="496" y="257"/>
                  </a:moveTo>
                  <a:lnTo>
                    <a:pt x="543" y="257"/>
                  </a:lnTo>
                  <a:lnTo>
                    <a:pt x="543" y="235"/>
                  </a:lnTo>
                  <a:lnTo>
                    <a:pt x="496" y="235"/>
                  </a:lnTo>
                  <a:lnTo>
                    <a:pt x="496" y="257"/>
                  </a:lnTo>
                  <a:close/>
                  <a:moveTo>
                    <a:pt x="324" y="426"/>
                  </a:moveTo>
                  <a:lnTo>
                    <a:pt x="248" y="368"/>
                  </a:lnTo>
                  <a:cubicBezTo>
                    <a:pt x="242" y="364"/>
                    <a:pt x="235" y="365"/>
                    <a:pt x="231" y="372"/>
                  </a:cubicBezTo>
                  <a:cubicBezTo>
                    <a:pt x="227" y="378"/>
                    <a:pt x="229" y="386"/>
                    <a:pt x="235" y="391"/>
                  </a:cubicBezTo>
                  <a:lnTo>
                    <a:pt x="311" y="448"/>
                  </a:lnTo>
                  <a:cubicBezTo>
                    <a:pt x="316" y="453"/>
                    <a:pt x="324" y="451"/>
                    <a:pt x="328" y="445"/>
                  </a:cubicBezTo>
                  <a:cubicBezTo>
                    <a:pt x="331" y="439"/>
                    <a:pt x="329" y="430"/>
                    <a:pt x="324" y="426"/>
                  </a:cubicBezTo>
                  <a:close/>
                  <a:moveTo>
                    <a:pt x="246" y="720"/>
                  </a:moveTo>
                  <a:cubicBezTo>
                    <a:pt x="254" y="663"/>
                    <a:pt x="254" y="603"/>
                    <a:pt x="239" y="550"/>
                  </a:cubicBezTo>
                  <a:cubicBezTo>
                    <a:pt x="0" y="415"/>
                    <a:pt x="62" y="105"/>
                    <a:pt x="263" y="42"/>
                  </a:cubicBezTo>
                  <a:cubicBezTo>
                    <a:pt x="369" y="0"/>
                    <a:pt x="513" y="25"/>
                    <a:pt x="606" y="119"/>
                  </a:cubicBezTo>
                  <a:cubicBezTo>
                    <a:pt x="674" y="187"/>
                    <a:pt x="642" y="204"/>
                    <a:pt x="642" y="204"/>
                  </a:cubicBezTo>
                  <a:lnTo>
                    <a:pt x="627" y="213"/>
                  </a:lnTo>
                  <a:cubicBezTo>
                    <a:pt x="635" y="245"/>
                    <a:pt x="650" y="305"/>
                    <a:pt x="648" y="313"/>
                  </a:cubicBezTo>
                  <a:cubicBezTo>
                    <a:pt x="645" y="324"/>
                    <a:pt x="633" y="336"/>
                    <a:pt x="633" y="336"/>
                  </a:cubicBezTo>
                  <a:lnTo>
                    <a:pt x="667" y="450"/>
                  </a:lnTo>
                  <a:lnTo>
                    <a:pt x="636" y="462"/>
                  </a:lnTo>
                  <a:cubicBezTo>
                    <a:pt x="643" y="499"/>
                    <a:pt x="647" y="530"/>
                    <a:pt x="643" y="566"/>
                  </a:cubicBezTo>
                  <a:cubicBezTo>
                    <a:pt x="643" y="572"/>
                    <a:pt x="622" y="590"/>
                    <a:pt x="606" y="591"/>
                  </a:cubicBezTo>
                  <a:lnTo>
                    <a:pt x="504" y="598"/>
                  </a:lnTo>
                  <a:lnTo>
                    <a:pt x="510" y="720"/>
                  </a:lnTo>
                  <a:lnTo>
                    <a:pt x="246" y="72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grpSp>
      <p:grpSp>
        <p:nvGrpSpPr>
          <p:cNvPr id="17" name="组合 16"/>
          <p:cNvGrpSpPr/>
          <p:nvPr/>
        </p:nvGrpSpPr>
        <p:grpSpPr>
          <a:xfrm>
            <a:off x="786992" y="415848"/>
            <a:ext cx="438352" cy="621987"/>
            <a:chOff x="265635" y="269251"/>
            <a:chExt cx="438352" cy="621987"/>
          </a:xfrm>
        </p:grpSpPr>
        <p:sp>
          <p:nvSpPr>
            <p:cNvPr id="18"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9"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20"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3" name="矩形 2"/>
          <p:cNvSpPr/>
          <p:nvPr/>
        </p:nvSpPr>
        <p:spPr>
          <a:xfrm>
            <a:off x="1393277" y="228161"/>
            <a:ext cx="8373576" cy="1126462"/>
          </a:xfrm>
          <a:prstGeom prst="rect">
            <a:avLst/>
          </a:prstGeom>
        </p:spPr>
        <p:txBody>
          <a:bodyPr wrap="squar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按照流水线内部的功能部件的连接方式（如各功能段之间是否有反馈回路）来分类</a:t>
            </a:r>
          </a:p>
        </p:txBody>
      </p:sp>
      <p:sp>
        <p:nvSpPr>
          <p:cNvPr id="4" name="矩形 3"/>
          <p:cNvSpPr/>
          <p:nvPr/>
        </p:nvSpPr>
        <p:spPr>
          <a:xfrm>
            <a:off x="1655977" y="1662779"/>
            <a:ext cx="8459285" cy="1126462"/>
          </a:xfrm>
          <a:prstGeom prst="rect">
            <a:avLst/>
          </a:prstGeom>
        </p:spPr>
        <p:txBody>
          <a:bodyPr wrap="square">
            <a:spAutoFit/>
          </a:bodyPr>
          <a:lstStyle/>
          <a:p>
            <a:pPr lvl="1" fontAlgn="base">
              <a:lnSpc>
                <a:spcPct val="120000"/>
              </a:lnSpc>
              <a:spcBef>
                <a:spcPct val="0"/>
              </a:spcBef>
              <a:spcAft>
                <a:spcPct val="0"/>
              </a:spcAft>
            </a:pPr>
            <a:r>
              <a:rPr lang="zh-CN" altLang="en-US" sz="2800" b="1" dirty="0">
                <a:solidFill>
                  <a:srgbClr val="0000FF"/>
                </a:solidFill>
                <a:latin typeface="微软雅黑" panose="020B0503020204020204" pitchFamily="34" charset="-122"/>
                <a:ea typeface="微软雅黑" panose="020B0503020204020204" pitchFamily="34" charset="-122"/>
              </a:rPr>
              <a:t>线性流水线</a:t>
            </a:r>
            <a:r>
              <a:rPr lang="zh-CN" altLang="en-US" sz="2800" b="1" dirty="0">
                <a:latin typeface="微软雅黑" panose="020B0503020204020204" pitchFamily="34" charset="-122"/>
                <a:ea typeface="微软雅黑" panose="020B0503020204020204" pitchFamily="34" charset="-122"/>
              </a:rPr>
              <a:t>：流水线各段之间串行连接，各段只经过一次，且各功能段之间没有反馈回路的。</a:t>
            </a:r>
          </a:p>
        </p:txBody>
      </p:sp>
      <p:sp>
        <p:nvSpPr>
          <p:cNvPr id="5" name="矩形 4"/>
          <p:cNvSpPr/>
          <p:nvPr/>
        </p:nvSpPr>
        <p:spPr>
          <a:xfrm>
            <a:off x="1739888" y="3234886"/>
            <a:ext cx="8375374" cy="1643527"/>
          </a:xfrm>
          <a:prstGeom prst="rect">
            <a:avLst/>
          </a:prstGeom>
        </p:spPr>
        <p:txBody>
          <a:bodyPr wrap="square">
            <a:spAutoFit/>
          </a:bodyPr>
          <a:lstStyle/>
          <a:p>
            <a:pPr lvl="1" fontAlgn="base">
              <a:lnSpc>
                <a:spcPct val="120000"/>
              </a:lnSpc>
              <a:spcBef>
                <a:spcPct val="0"/>
              </a:spcBef>
              <a:spcAft>
                <a:spcPct val="0"/>
              </a:spcAft>
            </a:pPr>
            <a:r>
              <a:rPr lang="zh-CN" altLang="en-US" sz="2800" b="1" dirty="0">
                <a:solidFill>
                  <a:srgbClr val="0000FF"/>
                </a:solidFill>
                <a:latin typeface="微软雅黑" panose="020B0503020204020204" pitchFamily="34" charset="-122"/>
                <a:ea typeface="微软雅黑" panose="020B0503020204020204" pitchFamily="34" charset="-122"/>
              </a:rPr>
              <a:t>非线性流水线</a:t>
            </a:r>
            <a:r>
              <a:rPr lang="zh-CN" altLang="en-US" sz="2800" b="1" dirty="0">
                <a:latin typeface="微软雅黑" panose="020B0503020204020204" pitchFamily="34" charset="-122"/>
                <a:ea typeface="微软雅黑" panose="020B0503020204020204" pitchFamily="34" charset="-122"/>
              </a:rPr>
              <a:t>：如果流水线除了有串行连接的通路，还有反馈回路，并且往往使得任务流经流水线时需多次经过某个段或越过某些段的。 </a:t>
            </a:r>
          </a:p>
        </p:txBody>
      </p:sp>
    </p:spTree>
    <p:extLst>
      <p:ext uri="{BB962C8B-B14F-4D97-AF65-F5344CB8AC3E}">
        <p14:creationId xmlns:p14="http://schemas.microsoft.com/office/powerpoint/2010/main" val="1935207577"/>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9" name="Text Box 9"/>
          <p:cNvSpPr txBox="1">
            <a:spLocks noChangeArrowheads="1"/>
          </p:cNvSpPr>
          <p:nvPr/>
        </p:nvSpPr>
        <p:spPr bwMode="auto">
          <a:xfrm>
            <a:off x="2118026" y="2594748"/>
            <a:ext cx="7935165" cy="4614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fontAlgn="base">
              <a:spcBef>
                <a:spcPct val="0"/>
              </a:spcBef>
              <a:spcAft>
                <a:spcPct val="0"/>
              </a:spcAft>
              <a:buFont typeface="Wingdings" panose="05000000000000000000" pitchFamily="2" charset="2"/>
              <a:buChar char="l"/>
            </a:pPr>
            <a:endParaRPr lang="zh-CN" altLang="en-US" sz="2400" dirty="0">
              <a:solidFill>
                <a:srgbClr val="FFFFFF"/>
              </a:solidFill>
              <a:ea typeface="宋体" panose="02010600030101010101" pitchFamily="2" charset="-122"/>
            </a:endParaRPr>
          </a:p>
        </p:txBody>
      </p:sp>
      <p:sp>
        <p:nvSpPr>
          <p:cNvPr id="7" name="Oval 7"/>
          <p:cNvSpPr>
            <a:spLocks noChangeArrowheads="1"/>
          </p:cNvSpPr>
          <p:nvPr/>
        </p:nvSpPr>
        <p:spPr bwMode="auto">
          <a:xfrm>
            <a:off x="508136" y="4707351"/>
            <a:ext cx="831525" cy="829939"/>
          </a:xfrm>
          <a:prstGeom prst="ellipse">
            <a:avLst/>
          </a:prstGeom>
          <a:solidFill>
            <a:srgbClr val="92D05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Oval 6"/>
          <p:cNvSpPr>
            <a:spLocks noChangeArrowheads="1"/>
          </p:cNvSpPr>
          <p:nvPr/>
        </p:nvSpPr>
        <p:spPr bwMode="auto">
          <a:xfrm>
            <a:off x="496699" y="2203358"/>
            <a:ext cx="831525" cy="831526"/>
          </a:xfrm>
          <a:prstGeom prst="ellipse">
            <a:avLst/>
          </a:prstGeom>
          <a:solidFill>
            <a:srgbClr val="FFC00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0" name="TextBox 36"/>
          <p:cNvSpPr txBox="1"/>
          <p:nvPr/>
        </p:nvSpPr>
        <p:spPr>
          <a:xfrm>
            <a:off x="592628" y="2326849"/>
            <a:ext cx="691130" cy="584605"/>
          </a:xfrm>
          <a:prstGeom prst="rect">
            <a:avLst/>
          </a:prstGeom>
          <a:noFill/>
        </p:spPr>
        <p:txBody>
          <a:bodyPr wrap="none" lIns="91398" tIns="45699" rIns="91398" bIns="45699" rtlCol="0">
            <a:spAutoFit/>
          </a:bodyPr>
          <a:lstStyle/>
          <a:p>
            <a:r>
              <a:rPr lang="en-US" altLang="zh-CN" sz="3199" b="1" dirty="0">
                <a:solidFill>
                  <a:schemeClr val="bg1"/>
                </a:solidFill>
                <a:latin typeface="微软雅黑" pitchFamily="34" charset="-122"/>
                <a:ea typeface="微软雅黑" pitchFamily="34" charset="-122"/>
              </a:rPr>
              <a:t>01</a:t>
            </a:r>
            <a:endParaRPr lang="zh-CN" altLang="en-US" sz="3199" b="1" dirty="0">
              <a:solidFill>
                <a:schemeClr val="bg1"/>
              </a:solidFill>
              <a:latin typeface="微软雅黑" pitchFamily="34" charset="-122"/>
              <a:ea typeface="微软雅黑" pitchFamily="34" charset="-122"/>
            </a:endParaRPr>
          </a:p>
        </p:txBody>
      </p:sp>
      <p:sp>
        <p:nvSpPr>
          <p:cNvPr id="11" name="TextBox 38"/>
          <p:cNvSpPr txBox="1"/>
          <p:nvPr/>
        </p:nvSpPr>
        <p:spPr>
          <a:xfrm>
            <a:off x="592628" y="4835217"/>
            <a:ext cx="691130" cy="584605"/>
          </a:xfrm>
          <a:prstGeom prst="rect">
            <a:avLst/>
          </a:prstGeom>
          <a:noFill/>
        </p:spPr>
        <p:txBody>
          <a:bodyPr wrap="none" lIns="91398" tIns="45699" rIns="91398" bIns="45699" rtlCol="0">
            <a:spAutoFit/>
          </a:bodyPr>
          <a:lstStyle/>
          <a:p>
            <a:r>
              <a:rPr lang="en-US" altLang="zh-CN" sz="3199" b="1" dirty="0">
                <a:solidFill>
                  <a:schemeClr val="bg1"/>
                </a:solidFill>
                <a:latin typeface="微软雅黑" pitchFamily="34" charset="-122"/>
                <a:ea typeface="微软雅黑" pitchFamily="34" charset="-122"/>
              </a:rPr>
              <a:t>02</a:t>
            </a:r>
            <a:endParaRPr lang="zh-CN" altLang="en-US" sz="3199" b="1" dirty="0">
              <a:solidFill>
                <a:schemeClr val="bg1"/>
              </a:solidFill>
              <a:latin typeface="微软雅黑" pitchFamily="34" charset="-122"/>
              <a:ea typeface="微软雅黑" pitchFamily="34" charset="-122"/>
            </a:endParaRPr>
          </a:p>
        </p:txBody>
      </p:sp>
      <p:grpSp>
        <p:nvGrpSpPr>
          <p:cNvPr id="12" name="组合 11"/>
          <p:cNvGrpSpPr/>
          <p:nvPr/>
        </p:nvGrpSpPr>
        <p:grpSpPr>
          <a:xfrm>
            <a:off x="268695" y="335574"/>
            <a:ext cx="438352" cy="621987"/>
            <a:chOff x="265635" y="269251"/>
            <a:chExt cx="438352" cy="621987"/>
          </a:xfrm>
        </p:grpSpPr>
        <p:sp>
          <p:nvSpPr>
            <p:cNvPr id="13"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4"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5"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2" name="矩形 1"/>
          <p:cNvSpPr/>
          <p:nvPr/>
        </p:nvSpPr>
        <p:spPr>
          <a:xfrm>
            <a:off x="856342" y="357228"/>
            <a:ext cx="5641288" cy="584775"/>
          </a:xfrm>
          <a:prstGeom prst="rect">
            <a:avLst/>
          </a:prstGeom>
        </p:spPr>
        <p:txBody>
          <a:bodyPr wrap="none">
            <a:spAutoFit/>
          </a:bodyPr>
          <a:lstStyle/>
          <a:p>
            <a:r>
              <a:rPr lang="zh-CN" altLang="en-US" sz="3200" b="1" dirty="0">
                <a:latin typeface="微软雅黑" panose="020B0503020204020204" pitchFamily="34" charset="-122"/>
                <a:ea typeface="微软雅黑" panose="020B0503020204020204" pitchFamily="34" charset="-122"/>
              </a:rPr>
              <a:t>按照机器可处理的对象来分类 </a:t>
            </a:r>
          </a:p>
        </p:txBody>
      </p:sp>
      <p:sp>
        <p:nvSpPr>
          <p:cNvPr id="3" name="矩形 2"/>
          <p:cNvSpPr/>
          <p:nvPr/>
        </p:nvSpPr>
        <p:spPr>
          <a:xfrm>
            <a:off x="1290746" y="1255920"/>
            <a:ext cx="10198889" cy="2677656"/>
          </a:xfrm>
          <a:prstGeom prst="rect">
            <a:avLst/>
          </a:prstGeom>
        </p:spPr>
        <p:txBody>
          <a:bodyPr wrap="square">
            <a:spAutoFit/>
          </a:bodyPr>
          <a:lstStyle/>
          <a:p>
            <a:pPr lvl="1" fontAlgn="base">
              <a:lnSpc>
                <a:spcPct val="120000"/>
              </a:lnSpc>
              <a:spcBef>
                <a:spcPct val="0"/>
              </a:spcBef>
              <a:spcAft>
                <a:spcPct val="0"/>
              </a:spcAft>
            </a:pPr>
            <a:r>
              <a:rPr lang="zh-CN" altLang="en-US" sz="2800" b="1" dirty="0">
                <a:solidFill>
                  <a:srgbClr val="FF0000"/>
                </a:solidFill>
                <a:latin typeface="微软雅黑" panose="020B0503020204020204" pitchFamily="34" charset="-122"/>
                <a:ea typeface="微软雅黑" panose="020B0503020204020204" pitchFamily="34" charset="-122"/>
              </a:rPr>
              <a:t>标量流水线</a:t>
            </a:r>
            <a:r>
              <a:rPr lang="zh-CN" altLang="en-US" sz="2800" b="1" dirty="0">
                <a:latin typeface="微软雅黑" panose="020B0503020204020204" pitchFamily="34" charset="-122"/>
                <a:ea typeface="微软雅黑" panose="020B0503020204020204" pitchFamily="34" charset="-122"/>
              </a:rPr>
              <a:t>：按照机器可处理的对象来分类实质就是从机器所具有的数据表示来分类，此时一般也意味着针对该机器所具有的这些数据表示会获得相应的硬件支持。所以标量流水机意味着该机器没有向量数据表示，只能用标量循环方式来处理向量和数组。</a:t>
            </a:r>
          </a:p>
        </p:txBody>
      </p:sp>
      <p:sp>
        <p:nvSpPr>
          <p:cNvPr id="4" name="矩形 3"/>
          <p:cNvSpPr/>
          <p:nvPr/>
        </p:nvSpPr>
        <p:spPr>
          <a:xfrm>
            <a:off x="1343900" y="4157037"/>
            <a:ext cx="9922263" cy="2160591"/>
          </a:xfrm>
          <a:prstGeom prst="rect">
            <a:avLst/>
          </a:prstGeom>
        </p:spPr>
        <p:txBody>
          <a:bodyPr wrap="square">
            <a:spAutoFit/>
          </a:bodyPr>
          <a:lstStyle/>
          <a:p>
            <a:pPr lvl="1" fontAlgn="base">
              <a:lnSpc>
                <a:spcPct val="120000"/>
              </a:lnSpc>
              <a:spcBef>
                <a:spcPct val="0"/>
              </a:spcBef>
              <a:spcAft>
                <a:spcPct val="0"/>
              </a:spcAft>
            </a:pPr>
            <a:r>
              <a:rPr lang="zh-CN" altLang="en-US" sz="2800" b="1" dirty="0">
                <a:solidFill>
                  <a:srgbClr val="FF0000"/>
                </a:solidFill>
                <a:latin typeface="微软雅黑" panose="020B0503020204020204" pitchFamily="34" charset="-122"/>
                <a:ea typeface="微软雅黑" panose="020B0503020204020204" pitchFamily="34" charset="-122"/>
              </a:rPr>
              <a:t>向量流水线</a:t>
            </a:r>
            <a:r>
              <a:rPr lang="zh-CN" altLang="en-US" sz="2800" b="1" dirty="0">
                <a:latin typeface="微软雅黑" panose="020B0503020204020204" pitchFamily="34" charset="-122"/>
                <a:ea typeface="微软雅黑" panose="020B0503020204020204" pitchFamily="34" charset="-122"/>
              </a:rPr>
              <a:t>：则意味着该机器有向量数据表示，并且硬件上有相应的部件的支持，比如机器上一般都会设置有向量指令和向量运算硬件，能流水地处理向量和数组中的各个元素。显然，向量流水机是向量数据表示和流水技术相结合的产物。</a:t>
            </a:r>
          </a:p>
        </p:txBody>
      </p:sp>
    </p:spTree>
    <p:extLst>
      <p:ext uri="{BB962C8B-B14F-4D97-AF65-F5344CB8AC3E}">
        <p14:creationId xmlns:p14="http://schemas.microsoft.com/office/powerpoint/2010/main" val="1441755635"/>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47757" y="2340487"/>
            <a:ext cx="6598050" cy="1698614"/>
          </a:xfrm>
          <a:prstGeom prst="rect">
            <a:avLst/>
          </a:prstGeom>
          <a:solidFill>
            <a:srgbClr val="02B9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Rectangle 3"/>
          <p:cNvSpPr txBox="1">
            <a:spLocks noChangeArrowheads="1"/>
          </p:cNvSpPr>
          <p:nvPr/>
        </p:nvSpPr>
        <p:spPr bwMode="auto">
          <a:xfrm>
            <a:off x="4483441" y="2541722"/>
            <a:ext cx="3868499" cy="1296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ctr" anchorCtr="0" compatLnSpc="1">
            <a:prstTxWarp prst="textNoShape">
              <a:avLst/>
            </a:prstTxWarp>
          </a:bodyPr>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itchFamily="34" charset="0"/>
                <a:ea typeface="微软雅黑" pitchFamily="34" charset="-122"/>
              </a:defRPr>
            </a:lvl2pPr>
            <a:lvl3pPr algn="l" rtl="0" fontAlgn="base">
              <a:spcBef>
                <a:spcPct val="0"/>
              </a:spcBef>
              <a:spcAft>
                <a:spcPct val="0"/>
              </a:spcAft>
              <a:defRPr sz="2400">
                <a:solidFill>
                  <a:schemeClr val="tx2"/>
                </a:solidFill>
                <a:latin typeface="Arial" pitchFamily="34" charset="0"/>
                <a:ea typeface="微软雅黑" pitchFamily="34" charset="-122"/>
              </a:defRPr>
            </a:lvl3pPr>
            <a:lvl4pPr algn="l" rtl="0" fontAlgn="base">
              <a:spcBef>
                <a:spcPct val="0"/>
              </a:spcBef>
              <a:spcAft>
                <a:spcPct val="0"/>
              </a:spcAft>
              <a:defRPr sz="2400">
                <a:solidFill>
                  <a:schemeClr val="tx2"/>
                </a:solidFill>
                <a:latin typeface="Arial" pitchFamily="34" charset="0"/>
                <a:ea typeface="微软雅黑" pitchFamily="34" charset="-122"/>
              </a:defRPr>
            </a:lvl4pPr>
            <a:lvl5pPr algn="l" rtl="0" fontAlgn="base">
              <a:spcBef>
                <a:spcPct val="0"/>
              </a:spcBef>
              <a:spcAft>
                <a:spcPct val="0"/>
              </a:spcAft>
              <a:defRPr sz="2400">
                <a:solidFill>
                  <a:schemeClr val="tx2"/>
                </a:solidFill>
                <a:latin typeface="Arial" pitchFamily="34" charset="0"/>
                <a:ea typeface="微软雅黑" pitchFamily="34" charset="-122"/>
              </a:defRPr>
            </a:lvl5pPr>
            <a:lvl6pPr marL="457200" algn="l" rtl="0" fontAlgn="base">
              <a:spcBef>
                <a:spcPct val="0"/>
              </a:spcBef>
              <a:spcAft>
                <a:spcPct val="0"/>
              </a:spcAft>
              <a:defRPr sz="2400">
                <a:solidFill>
                  <a:schemeClr val="tx2"/>
                </a:solidFill>
                <a:latin typeface="Arial" pitchFamily="34" charset="0"/>
                <a:ea typeface="微软雅黑" pitchFamily="34" charset="-122"/>
              </a:defRPr>
            </a:lvl6pPr>
            <a:lvl7pPr marL="914400" algn="l" rtl="0" fontAlgn="base">
              <a:spcBef>
                <a:spcPct val="0"/>
              </a:spcBef>
              <a:spcAft>
                <a:spcPct val="0"/>
              </a:spcAft>
              <a:defRPr sz="2400">
                <a:solidFill>
                  <a:schemeClr val="tx2"/>
                </a:solidFill>
                <a:latin typeface="Arial" pitchFamily="34" charset="0"/>
                <a:ea typeface="微软雅黑" pitchFamily="34" charset="-122"/>
              </a:defRPr>
            </a:lvl7pPr>
            <a:lvl8pPr marL="1371600" algn="l" rtl="0" fontAlgn="base">
              <a:spcBef>
                <a:spcPct val="0"/>
              </a:spcBef>
              <a:spcAft>
                <a:spcPct val="0"/>
              </a:spcAft>
              <a:defRPr sz="2400">
                <a:solidFill>
                  <a:schemeClr val="tx2"/>
                </a:solidFill>
                <a:latin typeface="Arial" pitchFamily="34" charset="0"/>
                <a:ea typeface="微软雅黑" pitchFamily="34" charset="-122"/>
              </a:defRPr>
            </a:lvl8pPr>
            <a:lvl9pPr marL="1828800" algn="l" rtl="0" fontAlgn="base">
              <a:spcBef>
                <a:spcPct val="0"/>
              </a:spcBef>
              <a:spcAft>
                <a:spcPct val="0"/>
              </a:spcAft>
              <a:defRPr sz="2400">
                <a:solidFill>
                  <a:schemeClr val="tx2"/>
                </a:solidFill>
                <a:latin typeface="Arial" pitchFamily="34" charset="0"/>
                <a:ea typeface="微软雅黑" pitchFamily="34" charset="-122"/>
              </a:defRPr>
            </a:lvl9pPr>
          </a:lstStyle>
          <a:p>
            <a:pPr algn="dist"/>
            <a:r>
              <a:rPr lang="zh-CN" altLang="en-US" sz="6600" b="1" dirty="0">
                <a:solidFill>
                  <a:schemeClr val="bg1"/>
                </a:solidFill>
                <a:latin typeface="微软雅黑" panose="020B0503020204020204" pitchFamily="34" charset="-122"/>
                <a:ea typeface="微软雅黑" panose="020B0503020204020204" pitchFamily="34" charset="-122"/>
              </a:rPr>
              <a:t>谢谢！</a:t>
            </a:r>
            <a:endParaRPr lang="en-US" altLang="zh-CN" sz="6600" b="1" dirty="0">
              <a:solidFill>
                <a:schemeClr val="bg1"/>
              </a:solidFill>
              <a:latin typeface="微软雅黑" panose="020B0503020204020204" pitchFamily="34" charset="-122"/>
              <a:ea typeface="微软雅黑" panose="020B0503020204020204" pitchFamily="34" charset="-122"/>
            </a:endParaRPr>
          </a:p>
        </p:txBody>
      </p:sp>
      <p:sp>
        <p:nvSpPr>
          <p:cNvPr id="7" name="Rectangle 6"/>
          <p:cNvSpPr>
            <a:spLocks noChangeArrowheads="1"/>
          </p:cNvSpPr>
          <p:nvPr/>
        </p:nvSpPr>
        <p:spPr bwMode="auto">
          <a:xfrm>
            <a:off x="6353950" y="5153618"/>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8" name="Rectangle 7"/>
          <p:cNvSpPr>
            <a:spLocks noChangeArrowheads="1"/>
          </p:cNvSpPr>
          <p:nvPr/>
        </p:nvSpPr>
        <p:spPr bwMode="auto">
          <a:xfrm>
            <a:off x="7620664" y="5153618"/>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9" name="Rectangle 8"/>
          <p:cNvSpPr>
            <a:spLocks noChangeArrowheads="1"/>
          </p:cNvSpPr>
          <p:nvPr/>
        </p:nvSpPr>
        <p:spPr bwMode="auto">
          <a:xfrm>
            <a:off x="8885806" y="5153618"/>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0" name="Rectangle 9"/>
          <p:cNvSpPr>
            <a:spLocks noChangeArrowheads="1"/>
          </p:cNvSpPr>
          <p:nvPr/>
        </p:nvSpPr>
        <p:spPr bwMode="auto">
          <a:xfrm>
            <a:off x="10152517" y="5153618"/>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2" name="Freeform 9"/>
          <p:cNvSpPr>
            <a:spLocks noEditPoints="1"/>
          </p:cNvSpPr>
          <p:nvPr/>
        </p:nvSpPr>
        <p:spPr bwMode="auto">
          <a:xfrm>
            <a:off x="10057335" y="4692974"/>
            <a:ext cx="373115" cy="374683"/>
          </a:xfrm>
          <a:custGeom>
            <a:avLst/>
            <a:gdLst>
              <a:gd name="T0" fmla="*/ 358 w 490"/>
              <a:gd name="T1" fmla="*/ 250 h 490"/>
              <a:gd name="T2" fmla="*/ 358 w 490"/>
              <a:gd name="T3" fmla="*/ 183 h 490"/>
              <a:gd name="T4" fmla="*/ 328 w 490"/>
              <a:gd name="T5" fmla="*/ 183 h 490"/>
              <a:gd name="T6" fmla="*/ 328 w 490"/>
              <a:gd name="T7" fmla="*/ 250 h 490"/>
              <a:gd name="T8" fmla="*/ 247 w 490"/>
              <a:gd name="T9" fmla="*/ 330 h 490"/>
              <a:gd name="T10" fmla="*/ 246 w 490"/>
              <a:gd name="T11" fmla="*/ 330 h 490"/>
              <a:gd name="T12" fmla="*/ 245 w 490"/>
              <a:gd name="T13" fmla="*/ 330 h 490"/>
              <a:gd name="T14" fmla="*/ 245 w 490"/>
              <a:gd name="T15" fmla="*/ 330 h 490"/>
              <a:gd name="T16" fmla="*/ 243 w 490"/>
              <a:gd name="T17" fmla="*/ 330 h 490"/>
              <a:gd name="T18" fmla="*/ 162 w 490"/>
              <a:gd name="T19" fmla="*/ 250 h 490"/>
              <a:gd name="T20" fmla="*/ 162 w 490"/>
              <a:gd name="T21" fmla="*/ 183 h 490"/>
              <a:gd name="T22" fmla="*/ 132 w 490"/>
              <a:gd name="T23" fmla="*/ 183 h 490"/>
              <a:gd name="T24" fmla="*/ 132 w 490"/>
              <a:gd name="T25" fmla="*/ 250 h 490"/>
              <a:gd name="T26" fmla="*/ 227 w 490"/>
              <a:gd name="T27" fmla="*/ 359 h 490"/>
              <a:gd name="T28" fmla="*/ 227 w 490"/>
              <a:gd name="T29" fmla="*/ 407 h 490"/>
              <a:gd name="T30" fmla="*/ 160 w 490"/>
              <a:gd name="T31" fmla="*/ 426 h 490"/>
              <a:gd name="T32" fmla="*/ 331 w 490"/>
              <a:gd name="T33" fmla="*/ 426 h 490"/>
              <a:gd name="T34" fmla="*/ 263 w 490"/>
              <a:gd name="T35" fmla="*/ 407 h 490"/>
              <a:gd name="T36" fmla="*/ 263 w 490"/>
              <a:gd name="T37" fmla="*/ 360 h 490"/>
              <a:gd name="T38" fmla="*/ 358 w 490"/>
              <a:gd name="T39" fmla="*/ 250 h 490"/>
              <a:gd name="T40" fmla="*/ 244 w 490"/>
              <a:gd name="T41" fmla="*/ 302 h 490"/>
              <a:gd name="T42" fmla="*/ 245 w 490"/>
              <a:gd name="T43" fmla="*/ 302 h 490"/>
              <a:gd name="T44" fmla="*/ 246 w 490"/>
              <a:gd name="T45" fmla="*/ 302 h 490"/>
              <a:gd name="T46" fmla="*/ 300 w 490"/>
              <a:gd name="T47" fmla="*/ 248 h 490"/>
              <a:gd name="T48" fmla="*/ 300 w 490"/>
              <a:gd name="T49" fmla="*/ 118 h 490"/>
              <a:gd name="T50" fmla="*/ 246 w 490"/>
              <a:gd name="T51" fmla="*/ 64 h 490"/>
              <a:gd name="T52" fmla="*/ 245 w 490"/>
              <a:gd name="T53" fmla="*/ 64 h 490"/>
              <a:gd name="T54" fmla="*/ 244 w 490"/>
              <a:gd name="T55" fmla="*/ 64 h 490"/>
              <a:gd name="T56" fmla="*/ 190 w 490"/>
              <a:gd name="T57" fmla="*/ 118 h 490"/>
              <a:gd name="T58" fmla="*/ 190 w 490"/>
              <a:gd name="T59" fmla="*/ 248 h 490"/>
              <a:gd name="T60" fmla="*/ 244 w 490"/>
              <a:gd name="T61" fmla="*/ 302 h 490"/>
              <a:gd name="T62" fmla="*/ 245 w 490"/>
              <a:gd name="T63" fmla="*/ 0 h 490"/>
              <a:gd name="T64" fmla="*/ 490 w 490"/>
              <a:gd name="T65" fmla="*/ 245 h 490"/>
              <a:gd name="T66" fmla="*/ 245 w 490"/>
              <a:gd name="T67" fmla="*/ 490 h 490"/>
              <a:gd name="T68" fmla="*/ 0 w 490"/>
              <a:gd name="T69" fmla="*/ 245 h 490"/>
              <a:gd name="T70" fmla="*/ 245 w 490"/>
              <a:gd name="T71" fmla="*/ 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90" h="490">
                <a:moveTo>
                  <a:pt x="358" y="250"/>
                </a:moveTo>
                <a:lnTo>
                  <a:pt x="358" y="183"/>
                </a:lnTo>
                <a:cubicBezTo>
                  <a:pt x="358" y="165"/>
                  <a:pt x="328" y="164"/>
                  <a:pt x="328" y="183"/>
                </a:cubicBezTo>
                <a:lnTo>
                  <a:pt x="328" y="250"/>
                </a:lnTo>
                <a:cubicBezTo>
                  <a:pt x="328" y="294"/>
                  <a:pt x="292" y="330"/>
                  <a:pt x="247" y="330"/>
                </a:cubicBezTo>
                <a:cubicBezTo>
                  <a:pt x="247" y="330"/>
                  <a:pt x="246" y="330"/>
                  <a:pt x="246" y="330"/>
                </a:cubicBezTo>
                <a:lnTo>
                  <a:pt x="245" y="330"/>
                </a:lnTo>
                <a:lnTo>
                  <a:pt x="245" y="330"/>
                </a:lnTo>
                <a:cubicBezTo>
                  <a:pt x="244" y="330"/>
                  <a:pt x="244" y="330"/>
                  <a:pt x="243" y="330"/>
                </a:cubicBezTo>
                <a:cubicBezTo>
                  <a:pt x="198" y="330"/>
                  <a:pt x="162" y="294"/>
                  <a:pt x="162" y="250"/>
                </a:cubicBezTo>
                <a:lnTo>
                  <a:pt x="162" y="183"/>
                </a:lnTo>
                <a:cubicBezTo>
                  <a:pt x="162" y="165"/>
                  <a:pt x="132" y="164"/>
                  <a:pt x="132" y="183"/>
                </a:cubicBezTo>
                <a:cubicBezTo>
                  <a:pt x="132" y="192"/>
                  <a:pt x="132" y="250"/>
                  <a:pt x="132" y="250"/>
                </a:cubicBezTo>
                <a:cubicBezTo>
                  <a:pt x="132" y="306"/>
                  <a:pt x="173" y="352"/>
                  <a:pt x="227" y="359"/>
                </a:cubicBezTo>
                <a:lnTo>
                  <a:pt x="227" y="407"/>
                </a:lnTo>
                <a:lnTo>
                  <a:pt x="160" y="426"/>
                </a:lnTo>
                <a:lnTo>
                  <a:pt x="331" y="426"/>
                </a:lnTo>
                <a:lnTo>
                  <a:pt x="263" y="407"/>
                </a:lnTo>
                <a:lnTo>
                  <a:pt x="263" y="360"/>
                </a:lnTo>
                <a:cubicBezTo>
                  <a:pt x="317" y="352"/>
                  <a:pt x="358" y="306"/>
                  <a:pt x="358" y="250"/>
                </a:cubicBezTo>
                <a:close/>
                <a:moveTo>
                  <a:pt x="244" y="302"/>
                </a:moveTo>
                <a:cubicBezTo>
                  <a:pt x="244" y="302"/>
                  <a:pt x="245" y="302"/>
                  <a:pt x="245" y="302"/>
                </a:cubicBezTo>
                <a:cubicBezTo>
                  <a:pt x="245" y="302"/>
                  <a:pt x="246" y="302"/>
                  <a:pt x="246" y="302"/>
                </a:cubicBezTo>
                <a:cubicBezTo>
                  <a:pt x="276" y="302"/>
                  <a:pt x="300" y="278"/>
                  <a:pt x="300" y="248"/>
                </a:cubicBezTo>
                <a:lnTo>
                  <a:pt x="300" y="118"/>
                </a:lnTo>
                <a:cubicBezTo>
                  <a:pt x="300" y="88"/>
                  <a:pt x="276" y="64"/>
                  <a:pt x="246" y="64"/>
                </a:cubicBezTo>
                <a:cubicBezTo>
                  <a:pt x="246" y="64"/>
                  <a:pt x="245" y="64"/>
                  <a:pt x="245" y="64"/>
                </a:cubicBezTo>
                <a:cubicBezTo>
                  <a:pt x="245" y="64"/>
                  <a:pt x="244" y="64"/>
                  <a:pt x="244" y="64"/>
                </a:cubicBezTo>
                <a:cubicBezTo>
                  <a:pt x="214" y="64"/>
                  <a:pt x="190" y="88"/>
                  <a:pt x="190" y="118"/>
                </a:cubicBezTo>
                <a:lnTo>
                  <a:pt x="190" y="248"/>
                </a:lnTo>
                <a:cubicBezTo>
                  <a:pt x="190" y="278"/>
                  <a:pt x="214" y="302"/>
                  <a:pt x="244" y="302"/>
                </a:cubicBezTo>
                <a:close/>
                <a:moveTo>
                  <a:pt x="245" y="0"/>
                </a:moveTo>
                <a:cubicBezTo>
                  <a:pt x="381" y="0"/>
                  <a:pt x="490" y="110"/>
                  <a:pt x="490" y="245"/>
                </a:cubicBezTo>
                <a:cubicBezTo>
                  <a:pt x="490" y="381"/>
                  <a:pt x="381" y="490"/>
                  <a:pt x="245" y="490"/>
                </a:cubicBezTo>
                <a:cubicBezTo>
                  <a:pt x="110" y="490"/>
                  <a:pt x="0" y="381"/>
                  <a:pt x="0" y="245"/>
                </a:cubicBezTo>
                <a:cubicBezTo>
                  <a:pt x="0" y="110"/>
                  <a:pt x="110" y="0"/>
                  <a:pt x="245" y="0"/>
                </a:cubicBez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484849"/>
              </a:solidFill>
            </a:endParaRPr>
          </a:p>
        </p:txBody>
      </p:sp>
      <p:sp>
        <p:nvSpPr>
          <p:cNvPr id="13" name="Rectangle 4"/>
          <p:cNvSpPr txBox="1">
            <a:spLocks noChangeArrowheads="1"/>
          </p:cNvSpPr>
          <p:nvPr/>
        </p:nvSpPr>
        <p:spPr bwMode="auto">
          <a:xfrm>
            <a:off x="10466453" y="4703232"/>
            <a:ext cx="1899476" cy="3539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4" tIns="45717" rIns="91434" bIns="45717" rtlCol="0">
            <a:spAutoFit/>
          </a:bodyPr>
          <a:lstStyle>
            <a:defPPr>
              <a:defRPr lang="zh-CN"/>
            </a:defPPr>
            <a:lvl1pPr>
              <a:defRPr sz="2400" b="1">
                <a:latin typeface="+mj-ea"/>
                <a:ea typeface="+mj-ea"/>
              </a:defRPr>
            </a:lvl1pPr>
          </a:lstStyle>
          <a:p>
            <a:r>
              <a:rPr lang="zh-CN" altLang="en-US" sz="1700" dirty="0">
                <a:solidFill>
                  <a:schemeClr val="bg1"/>
                </a:solidFill>
              </a:rPr>
              <a:t>汇报人：代用名</a:t>
            </a:r>
          </a:p>
        </p:txBody>
      </p:sp>
      <p:sp>
        <p:nvSpPr>
          <p:cNvPr id="14" name="Freeform 10"/>
          <p:cNvSpPr>
            <a:spLocks noChangeAspect="1" noEditPoints="1"/>
          </p:cNvSpPr>
          <p:nvPr/>
        </p:nvSpPr>
        <p:spPr bwMode="auto">
          <a:xfrm>
            <a:off x="6417691" y="4693112"/>
            <a:ext cx="372836" cy="374400"/>
          </a:xfrm>
          <a:custGeom>
            <a:avLst/>
            <a:gdLst>
              <a:gd name="T0" fmla="*/ 245 w 490"/>
              <a:gd name="T1" fmla="*/ 0 h 490"/>
              <a:gd name="T2" fmla="*/ 490 w 490"/>
              <a:gd name="T3" fmla="*/ 245 h 490"/>
              <a:gd name="T4" fmla="*/ 245 w 490"/>
              <a:gd name="T5" fmla="*/ 490 h 490"/>
              <a:gd name="T6" fmla="*/ 0 w 490"/>
              <a:gd name="T7" fmla="*/ 245 h 490"/>
              <a:gd name="T8" fmla="*/ 245 w 490"/>
              <a:gd name="T9" fmla="*/ 0 h 490"/>
              <a:gd name="T10" fmla="*/ 436 w 490"/>
              <a:gd name="T11" fmla="*/ 250 h 490"/>
              <a:gd name="T12" fmla="*/ 427 w 490"/>
              <a:gd name="T13" fmla="*/ 256 h 490"/>
              <a:gd name="T14" fmla="*/ 394 w 490"/>
              <a:gd name="T15" fmla="*/ 256 h 490"/>
              <a:gd name="T16" fmla="*/ 386 w 490"/>
              <a:gd name="T17" fmla="*/ 253 h 490"/>
              <a:gd name="T18" fmla="*/ 245 w 490"/>
              <a:gd name="T19" fmla="*/ 105 h 490"/>
              <a:gd name="T20" fmla="*/ 104 w 490"/>
              <a:gd name="T21" fmla="*/ 253 h 490"/>
              <a:gd name="T22" fmla="*/ 96 w 490"/>
              <a:gd name="T23" fmla="*/ 256 h 490"/>
              <a:gd name="T24" fmla="*/ 63 w 490"/>
              <a:gd name="T25" fmla="*/ 256 h 490"/>
              <a:gd name="T26" fmla="*/ 54 w 490"/>
              <a:gd name="T27" fmla="*/ 250 h 490"/>
              <a:gd name="T28" fmla="*/ 56 w 490"/>
              <a:gd name="T29" fmla="*/ 239 h 490"/>
              <a:gd name="T30" fmla="*/ 236 w 490"/>
              <a:gd name="T31" fmla="*/ 52 h 490"/>
              <a:gd name="T32" fmla="*/ 245 w 490"/>
              <a:gd name="T33" fmla="*/ 48 h 490"/>
              <a:gd name="T34" fmla="*/ 254 w 490"/>
              <a:gd name="T35" fmla="*/ 52 h 490"/>
              <a:gd name="T36" fmla="*/ 434 w 490"/>
              <a:gd name="T37" fmla="*/ 239 h 490"/>
              <a:gd name="T38" fmla="*/ 436 w 490"/>
              <a:gd name="T39" fmla="*/ 250 h 490"/>
              <a:gd name="T40" fmla="*/ 113 w 490"/>
              <a:gd name="T41" fmla="*/ 267 h 490"/>
              <a:gd name="T42" fmla="*/ 113 w 490"/>
              <a:gd name="T43" fmla="*/ 267 h 490"/>
              <a:gd name="T44" fmla="*/ 113 w 490"/>
              <a:gd name="T45" fmla="*/ 379 h 490"/>
              <a:gd name="T46" fmla="*/ 129 w 490"/>
              <a:gd name="T47" fmla="*/ 398 h 490"/>
              <a:gd name="T48" fmla="*/ 202 w 490"/>
              <a:gd name="T49" fmla="*/ 398 h 490"/>
              <a:gd name="T50" fmla="*/ 202 w 490"/>
              <a:gd name="T51" fmla="*/ 276 h 490"/>
              <a:gd name="T52" fmla="*/ 221 w 490"/>
              <a:gd name="T53" fmla="*/ 257 h 490"/>
              <a:gd name="T54" fmla="*/ 269 w 490"/>
              <a:gd name="T55" fmla="*/ 257 h 490"/>
              <a:gd name="T56" fmla="*/ 288 w 490"/>
              <a:gd name="T57" fmla="*/ 276 h 490"/>
              <a:gd name="T58" fmla="*/ 288 w 490"/>
              <a:gd name="T59" fmla="*/ 398 h 490"/>
              <a:gd name="T60" fmla="*/ 361 w 490"/>
              <a:gd name="T61" fmla="*/ 398 h 490"/>
              <a:gd name="T62" fmla="*/ 377 w 490"/>
              <a:gd name="T63" fmla="*/ 379 h 490"/>
              <a:gd name="T64" fmla="*/ 377 w 490"/>
              <a:gd name="T65" fmla="*/ 268 h 490"/>
              <a:gd name="T66" fmla="*/ 245 w 490"/>
              <a:gd name="T67" fmla="*/ 130 h 490"/>
              <a:gd name="T68" fmla="*/ 113 w 490"/>
              <a:gd name="T69" fmla="*/ 267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0" h="490">
                <a:moveTo>
                  <a:pt x="245" y="0"/>
                </a:moveTo>
                <a:cubicBezTo>
                  <a:pt x="380" y="0"/>
                  <a:pt x="490" y="110"/>
                  <a:pt x="490" y="245"/>
                </a:cubicBezTo>
                <a:cubicBezTo>
                  <a:pt x="490" y="381"/>
                  <a:pt x="380" y="490"/>
                  <a:pt x="245" y="490"/>
                </a:cubicBezTo>
                <a:cubicBezTo>
                  <a:pt x="110" y="490"/>
                  <a:pt x="0" y="381"/>
                  <a:pt x="0" y="245"/>
                </a:cubicBezTo>
                <a:cubicBezTo>
                  <a:pt x="0" y="110"/>
                  <a:pt x="110" y="0"/>
                  <a:pt x="245" y="0"/>
                </a:cubicBezTo>
                <a:close/>
                <a:moveTo>
                  <a:pt x="436" y="250"/>
                </a:moveTo>
                <a:cubicBezTo>
                  <a:pt x="435" y="254"/>
                  <a:pt x="431" y="256"/>
                  <a:pt x="427" y="256"/>
                </a:cubicBezTo>
                <a:lnTo>
                  <a:pt x="394" y="256"/>
                </a:lnTo>
                <a:cubicBezTo>
                  <a:pt x="391" y="256"/>
                  <a:pt x="388" y="255"/>
                  <a:pt x="386" y="253"/>
                </a:cubicBezTo>
                <a:lnTo>
                  <a:pt x="245" y="105"/>
                </a:lnTo>
                <a:lnTo>
                  <a:pt x="104" y="253"/>
                </a:lnTo>
                <a:cubicBezTo>
                  <a:pt x="102" y="255"/>
                  <a:pt x="99" y="256"/>
                  <a:pt x="96" y="256"/>
                </a:cubicBezTo>
                <a:lnTo>
                  <a:pt x="63" y="256"/>
                </a:lnTo>
                <a:cubicBezTo>
                  <a:pt x="59" y="256"/>
                  <a:pt x="55" y="254"/>
                  <a:pt x="54" y="250"/>
                </a:cubicBezTo>
                <a:cubicBezTo>
                  <a:pt x="52" y="246"/>
                  <a:pt x="53" y="242"/>
                  <a:pt x="56" y="239"/>
                </a:cubicBezTo>
                <a:lnTo>
                  <a:pt x="236" y="52"/>
                </a:lnTo>
                <a:cubicBezTo>
                  <a:pt x="238" y="49"/>
                  <a:pt x="242" y="48"/>
                  <a:pt x="245" y="48"/>
                </a:cubicBezTo>
                <a:cubicBezTo>
                  <a:pt x="248" y="48"/>
                  <a:pt x="252" y="49"/>
                  <a:pt x="254" y="52"/>
                </a:cubicBezTo>
                <a:lnTo>
                  <a:pt x="434" y="239"/>
                </a:lnTo>
                <a:cubicBezTo>
                  <a:pt x="437" y="242"/>
                  <a:pt x="438" y="246"/>
                  <a:pt x="436" y="250"/>
                </a:cubicBezTo>
                <a:close/>
                <a:moveTo>
                  <a:pt x="113" y="267"/>
                </a:moveTo>
                <a:lnTo>
                  <a:pt x="113" y="267"/>
                </a:lnTo>
                <a:lnTo>
                  <a:pt x="113" y="379"/>
                </a:lnTo>
                <a:cubicBezTo>
                  <a:pt x="113" y="389"/>
                  <a:pt x="120" y="398"/>
                  <a:pt x="129" y="398"/>
                </a:cubicBezTo>
                <a:lnTo>
                  <a:pt x="202" y="398"/>
                </a:lnTo>
                <a:lnTo>
                  <a:pt x="202" y="276"/>
                </a:lnTo>
                <a:cubicBezTo>
                  <a:pt x="202" y="266"/>
                  <a:pt x="211" y="257"/>
                  <a:pt x="221" y="257"/>
                </a:cubicBezTo>
                <a:lnTo>
                  <a:pt x="269" y="257"/>
                </a:lnTo>
                <a:cubicBezTo>
                  <a:pt x="279" y="257"/>
                  <a:pt x="288" y="266"/>
                  <a:pt x="288" y="276"/>
                </a:cubicBezTo>
                <a:lnTo>
                  <a:pt x="288" y="398"/>
                </a:lnTo>
                <a:lnTo>
                  <a:pt x="361" y="398"/>
                </a:lnTo>
                <a:cubicBezTo>
                  <a:pt x="370" y="398"/>
                  <a:pt x="377" y="389"/>
                  <a:pt x="377" y="379"/>
                </a:cubicBezTo>
                <a:lnTo>
                  <a:pt x="377" y="268"/>
                </a:lnTo>
                <a:lnTo>
                  <a:pt x="245" y="130"/>
                </a:lnTo>
                <a:lnTo>
                  <a:pt x="113" y="267"/>
                </a:ln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27"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8" name="Rectangle 6"/>
          <p:cNvSpPr>
            <a:spLocks noChangeArrowheads="1"/>
          </p:cNvSpPr>
          <p:nvPr/>
        </p:nvSpPr>
        <p:spPr bwMode="auto">
          <a:xfrm>
            <a:off x="0" y="1109114"/>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29" name="Rectangle 7"/>
          <p:cNvSpPr>
            <a:spLocks noChangeArrowheads="1"/>
          </p:cNvSpPr>
          <p:nvPr/>
        </p:nvSpPr>
        <p:spPr bwMode="auto">
          <a:xfrm>
            <a:off x="1266714" y="1109114"/>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30" name="Rectangle 8"/>
          <p:cNvSpPr>
            <a:spLocks noChangeArrowheads="1"/>
          </p:cNvSpPr>
          <p:nvPr/>
        </p:nvSpPr>
        <p:spPr bwMode="auto">
          <a:xfrm>
            <a:off x="2531856" y="1109114"/>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31" name="Rectangle 9"/>
          <p:cNvSpPr>
            <a:spLocks noChangeArrowheads="1"/>
          </p:cNvSpPr>
          <p:nvPr/>
        </p:nvSpPr>
        <p:spPr bwMode="auto">
          <a:xfrm>
            <a:off x="3798567" y="1109114"/>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Tree>
    <p:extLst>
      <p:ext uri="{BB962C8B-B14F-4D97-AF65-F5344CB8AC3E}">
        <p14:creationId xmlns:p14="http://schemas.microsoft.com/office/powerpoint/2010/main" val="1255176408"/>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418</TotalTime>
  <Words>702</Words>
  <Application>Microsoft Office PowerPoint</Application>
  <PresentationFormat>宽屏</PresentationFormat>
  <Paragraphs>58</Paragraphs>
  <Slides>11</Slides>
  <Notes>5</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11</vt:i4>
      </vt:variant>
    </vt:vector>
  </HeadingPairs>
  <TitlesOfParts>
    <vt:vector size="19" baseType="lpstr">
      <vt:lpstr>宋体</vt:lpstr>
      <vt:lpstr>微软雅黑</vt:lpstr>
      <vt:lpstr>Arial</vt:lpstr>
      <vt:lpstr>Calibri</vt:lpstr>
      <vt:lpstr>Calibri Light</vt:lpstr>
      <vt:lpstr>Wingdings</vt:lpstr>
      <vt:lpstr>第一PPT，www.1ppt.com</vt:lpstr>
      <vt:lpstr>Visio.Drawing.11</vt:lpstr>
      <vt:lpstr>PowerPoint 演示文稿</vt:lpstr>
      <vt:lpstr>PowerPoint 演示文稿</vt:lpstr>
      <vt:lpstr>PowerPoint 演示文稿</vt:lpstr>
      <vt:lpstr>PowerPoint 演示文稿</vt:lpstr>
      <vt:lpstr>多功能流水线的实现 </vt:lpstr>
      <vt:lpstr>PowerPoint 演示文稿</vt:lpstr>
      <vt:lpstr>静态流水线时空图</vt:lpstr>
      <vt:lpstr>动态流水线时空图</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07述职报告</dc:title>
  <dc:creator>user</dc:creator>
  <cp:lastModifiedBy>Admin</cp:lastModifiedBy>
  <cp:revision>34</cp:revision>
  <dcterms:created xsi:type="dcterms:W3CDTF">2016-06-01T05:10:04Z</dcterms:created>
  <dcterms:modified xsi:type="dcterms:W3CDTF">2017-06-05T01:55:08Z</dcterms:modified>
</cp:coreProperties>
</file>