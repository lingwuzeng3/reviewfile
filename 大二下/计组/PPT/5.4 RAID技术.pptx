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89" r:id="rId2"/>
    <p:sldId id="313" r:id="rId3"/>
    <p:sldId id="314" r:id="rId4"/>
    <p:sldId id="315" r:id="rId5"/>
    <p:sldId id="316" r:id="rId6"/>
    <p:sldId id="296" r:id="rId7"/>
    <p:sldId id="317" r:id="rId8"/>
    <p:sldId id="298" r:id="rId9"/>
    <p:sldId id="299" r:id="rId10"/>
    <p:sldId id="318" r:id="rId11"/>
    <p:sldId id="301" r:id="rId12"/>
    <p:sldId id="302" r:id="rId13"/>
    <p:sldId id="304" r:id="rId14"/>
    <p:sldId id="305" r:id="rId15"/>
    <p:sldId id="306" r:id="rId16"/>
    <p:sldId id="307" r:id="rId17"/>
    <p:sldId id="308" r:id="rId18"/>
    <p:sldId id="309" r:id="rId19"/>
    <p:sldId id="319" r:id="rId20"/>
    <p:sldId id="311" r:id="rId21"/>
    <p:sldId id="320" r:id="rId22"/>
    <p:sldId id="321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B0BE"/>
    <a:srgbClr val="01C0B0"/>
    <a:srgbClr val="92D050"/>
    <a:srgbClr val="02B9E7"/>
    <a:srgbClr val="04BE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77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7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2808" y="3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E8A95-114D-4BB9-A729-058920B2735F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8029B-87F6-42DD-8185-B8A2A8D30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89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029B-87F6-42DD-8185-B8A2A8D3072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666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1F41D1-EB0D-4857-8E93-8C1C831E61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472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408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806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576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740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2128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41274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372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35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4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86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858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6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27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88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394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04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07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75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2800" y="228600"/>
            <a:ext cx="8432800" cy="533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295400"/>
            <a:ext cx="5384800" cy="50260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95400"/>
            <a:ext cx="5384800" cy="50260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C54A76-D9C4-40CE-BC5D-E9419339ACF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0471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AD024-C6D2-498C-B6F9-0F94E70CC562}" type="datetimeFigureOut">
              <a:rPr lang="zh-CN" altLang="en-US" smtClean="0"/>
              <a:t>2017/5/26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53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8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757" y="2340487"/>
            <a:ext cx="6598050" cy="1698614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10799813" y="5496958"/>
            <a:ext cx="1079283" cy="1080463"/>
          </a:xfrm>
          <a:custGeom>
            <a:avLst/>
            <a:gdLst>
              <a:gd name="T0" fmla="*/ 2199 w 2504"/>
              <a:gd name="T1" fmla="*/ 0 h 2504"/>
              <a:gd name="T2" fmla="*/ 2504 w 2504"/>
              <a:gd name="T3" fmla="*/ 0 h 2504"/>
              <a:gd name="T4" fmla="*/ 2504 w 2504"/>
              <a:gd name="T5" fmla="*/ 2504 h 2504"/>
              <a:gd name="T6" fmla="*/ 0 w 2504"/>
              <a:gd name="T7" fmla="*/ 2504 h 2504"/>
              <a:gd name="T8" fmla="*/ 0 w 2504"/>
              <a:gd name="T9" fmla="*/ 2199 h 2504"/>
              <a:gd name="T10" fmla="*/ 1970 w 2504"/>
              <a:gd name="T11" fmla="*/ 2199 h 2504"/>
              <a:gd name="T12" fmla="*/ 87 w 2504"/>
              <a:gd name="T13" fmla="*/ 315 h 2504"/>
              <a:gd name="T14" fmla="*/ 303 w 2504"/>
              <a:gd name="T15" fmla="*/ 99 h 2504"/>
              <a:gd name="T16" fmla="*/ 2199 w 2504"/>
              <a:gd name="T17" fmla="*/ 1996 h 2504"/>
              <a:gd name="T18" fmla="*/ 2199 w 2504"/>
              <a:gd name="T19" fmla="*/ 0 h 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504" h="2504">
                <a:moveTo>
                  <a:pt x="2199" y="0"/>
                </a:moveTo>
                <a:lnTo>
                  <a:pt x="2504" y="0"/>
                </a:lnTo>
                <a:lnTo>
                  <a:pt x="2504" y="2504"/>
                </a:lnTo>
                <a:lnTo>
                  <a:pt x="0" y="2504"/>
                </a:lnTo>
                <a:lnTo>
                  <a:pt x="0" y="2199"/>
                </a:lnTo>
                <a:lnTo>
                  <a:pt x="1970" y="2199"/>
                </a:lnTo>
                <a:lnTo>
                  <a:pt x="87" y="315"/>
                </a:lnTo>
                <a:lnTo>
                  <a:pt x="303" y="99"/>
                </a:lnTo>
                <a:lnTo>
                  <a:pt x="2199" y="1996"/>
                </a:lnTo>
                <a:lnTo>
                  <a:pt x="2199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53950" y="5153618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620664" y="5153618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885806" y="5153618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152517" y="5153618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2" name="Freeform 9"/>
          <p:cNvSpPr>
            <a:spLocks noEditPoints="1"/>
          </p:cNvSpPr>
          <p:nvPr/>
        </p:nvSpPr>
        <p:spPr bwMode="auto">
          <a:xfrm>
            <a:off x="10057335" y="4692974"/>
            <a:ext cx="373115" cy="374683"/>
          </a:xfrm>
          <a:custGeom>
            <a:avLst/>
            <a:gdLst>
              <a:gd name="T0" fmla="*/ 358 w 490"/>
              <a:gd name="T1" fmla="*/ 250 h 490"/>
              <a:gd name="T2" fmla="*/ 358 w 490"/>
              <a:gd name="T3" fmla="*/ 183 h 490"/>
              <a:gd name="T4" fmla="*/ 328 w 490"/>
              <a:gd name="T5" fmla="*/ 183 h 490"/>
              <a:gd name="T6" fmla="*/ 328 w 490"/>
              <a:gd name="T7" fmla="*/ 250 h 490"/>
              <a:gd name="T8" fmla="*/ 247 w 490"/>
              <a:gd name="T9" fmla="*/ 330 h 490"/>
              <a:gd name="T10" fmla="*/ 246 w 490"/>
              <a:gd name="T11" fmla="*/ 330 h 490"/>
              <a:gd name="T12" fmla="*/ 245 w 490"/>
              <a:gd name="T13" fmla="*/ 330 h 490"/>
              <a:gd name="T14" fmla="*/ 245 w 490"/>
              <a:gd name="T15" fmla="*/ 330 h 490"/>
              <a:gd name="T16" fmla="*/ 243 w 490"/>
              <a:gd name="T17" fmla="*/ 330 h 490"/>
              <a:gd name="T18" fmla="*/ 162 w 490"/>
              <a:gd name="T19" fmla="*/ 250 h 490"/>
              <a:gd name="T20" fmla="*/ 162 w 490"/>
              <a:gd name="T21" fmla="*/ 183 h 490"/>
              <a:gd name="T22" fmla="*/ 132 w 490"/>
              <a:gd name="T23" fmla="*/ 183 h 490"/>
              <a:gd name="T24" fmla="*/ 132 w 490"/>
              <a:gd name="T25" fmla="*/ 250 h 490"/>
              <a:gd name="T26" fmla="*/ 227 w 490"/>
              <a:gd name="T27" fmla="*/ 359 h 490"/>
              <a:gd name="T28" fmla="*/ 227 w 490"/>
              <a:gd name="T29" fmla="*/ 407 h 490"/>
              <a:gd name="T30" fmla="*/ 160 w 490"/>
              <a:gd name="T31" fmla="*/ 426 h 490"/>
              <a:gd name="T32" fmla="*/ 331 w 490"/>
              <a:gd name="T33" fmla="*/ 426 h 490"/>
              <a:gd name="T34" fmla="*/ 263 w 490"/>
              <a:gd name="T35" fmla="*/ 407 h 490"/>
              <a:gd name="T36" fmla="*/ 263 w 490"/>
              <a:gd name="T37" fmla="*/ 360 h 490"/>
              <a:gd name="T38" fmla="*/ 358 w 490"/>
              <a:gd name="T39" fmla="*/ 250 h 490"/>
              <a:gd name="T40" fmla="*/ 244 w 490"/>
              <a:gd name="T41" fmla="*/ 302 h 490"/>
              <a:gd name="T42" fmla="*/ 245 w 490"/>
              <a:gd name="T43" fmla="*/ 302 h 490"/>
              <a:gd name="T44" fmla="*/ 246 w 490"/>
              <a:gd name="T45" fmla="*/ 302 h 490"/>
              <a:gd name="T46" fmla="*/ 300 w 490"/>
              <a:gd name="T47" fmla="*/ 248 h 490"/>
              <a:gd name="T48" fmla="*/ 300 w 490"/>
              <a:gd name="T49" fmla="*/ 118 h 490"/>
              <a:gd name="T50" fmla="*/ 246 w 490"/>
              <a:gd name="T51" fmla="*/ 64 h 490"/>
              <a:gd name="T52" fmla="*/ 245 w 490"/>
              <a:gd name="T53" fmla="*/ 64 h 490"/>
              <a:gd name="T54" fmla="*/ 244 w 490"/>
              <a:gd name="T55" fmla="*/ 64 h 490"/>
              <a:gd name="T56" fmla="*/ 190 w 490"/>
              <a:gd name="T57" fmla="*/ 118 h 490"/>
              <a:gd name="T58" fmla="*/ 190 w 490"/>
              <a:gd name="T59" fmla="*/ 248 h 490"/>
              <a:gd name="T60" fmla="*/ 244 w 490"/>
              <a:gd name="T61" fmla="*/ 302 h 490"/>
              <a:gd name="T62" fmla="*/ 245 w 490"/>
              <a:gd name="T63" fmla="*/ 0 h 490"/>
              <a:gd name="T64" fmla="*/ 490 w 490"/>
              <a:gd name="T65" fmla="*/ 245 h 490"/>
              <a:gd name="T66" fmla="*/ 245 w 490"/>
              <a:gd name="T67" fmla="*/ 490 h 490"/>
              <a:gd name="T68" fmla="*/ 0 w 490"/>
              <a:gd name="T69" fmla="*/ 245 h 490"/>
              <a:gd name="T70" fmla="*/ 245 w 490"/>
              <a:gd name="T71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0" h="490">
                <a:moveTo>
                  <a:pt x="358" y="250"/>
                </a:moveTo>
                <a:lnTo>
                  <a:pt x="358" y="183"/>
                </a:lnTo>
                <a:cubicBezTo>
                  <a:pt x="358" y="165"/>
                  <a:pt x="328" y="164"/>
                  <a:pt x="328" y="183"/>
                </a:cubicBezTo>
                <a:lnTo>
                  <a:pt x="328" y="250"/>
                </a:lnTo>
                <a:cubicBezTo>
                  <a:pt x="328" y="294"/>
                  <a:pt x="292" y="330"/>
                  <a:pt x="247" y="330"/>
                </a:cubicBezTo>
                <a:cubicBezTo>
                  <a:pt x="247" y="330"/>
                  <a:pt x="246" y="330"/>
                  <a:pt x="246" y="330"/>
                </a:cubicBezTo>
                <a:lnTo>
                  <a:pt x="245" y="330"/>
                </a:lnTo>
                <a:lnTo>
                  <a:pt x="245" y="330"/>
                </a:lnTo>
                <a:cubicBezTo>
                  <a:pt x="244" y="330"/>
                  <a:pt x="244" y="330"/>
                  <a:pt x="243" y="330"/>
                </a:cubicBezTo>
                <a:cubicBezTo>
                  <a:pt x="198" y="330"/>
                  <a:pt x="162" y="294"/>
                  <a:pt x="162" y="250"/>
                </a:cubicBezTo>
                <a:lnTo>
                  <a:pt x="162" y="183"/>
                </a:lnTo>
                <a:cubicBezTo>
                  <a:pt x="162" y="165"/>
                  <a:pt x="132" y="164"/>
                  <a:pt x="132" y="183"/>
                </a:cubicBezTo>
                <a:cubicBezTo>
                  <a:pt x="132" y="192"/>
                  <a:pt x="132" y="250"/>
                  <a:pt x="132" y="250"/>
                </a:cubicBezTo>
                <a:cubicBezTo>
                  <a:pt x="132" y="306"/>
                  <a:pt x="173" y="352"/>
                  <a:pt x="227" y="359"/>
                </a:cubicBezTo>
                <a:lnTo>
                  <a:pt x="227" y="407"/>
                </a:lnTo>
                <a:lnTo>
                  <a:pt x="160" y="426"/>
                </a:lnTo>
                <a:lnTo>
                  <a:pt x="331" y="426"/>
                </a:lnTo>
                <a:lnTo>
                  <a:pt x="263" y="407"/>
                </a:lnTo>
                <a:lnTo>
                  <a:pt x="263" y="360"/>
                </a:lnTo>
                <a:cubicBezTo>
                  <a:pt x="317" y="352"/>
                  <a:pt x="358" y="306"/>
                  <a:pt x="358" y="250"/>
                </a:cubicBezTo>
                <a:close/>
                <a:moveTo>
                  <a:pt x="244" y="302"/>
                </a:moveTo>
                <a:cubicBezTo>
                  <a:pt x="244" y="302"/>
                  <a:pt x="245" y="302"/>
                  <a:pt x="245" y="302"/>
                </a:cubicBezTo>
                <a:cubicBezTo>
                  <a:pt x="245" y="302"/>
                  <a:pt x="246" y="302"/>
                  <a:pt x="246" y="302"/>
                </a:cubicBezTo>
                <a:cubicBezTo>
                  <a:pt x="276" y="302"/>
                  <a:pt x="300" y="278"/>
                  <a:pt x="300" y="248"/>
                </a:cubicBezTo>
                <a:lnTo>
                  <a:pt x="300" y="118"/>
                </a:lnTo>
                <a:cubicBezTo>
                  <a:pt x="300" y="88"/>
                  <a:pt x="276" y="64"/>
                  <a:pt x="246" y="64"/>
                </a:cubicBezTo>
                <a:cubicBezTo>
                  <a:pt x="246" y="64"/>
                  <a:pt x="245" y="64"/>
                  <a:pt x="245" y="64"/>
                </a:cubicBezTo>
                <a:cubicBezTo>
                  <a:pt x="245" y="64"/>
                  <a:pt x="244" y="64"/>
                  <a:pt x="244" y="64"/>
                </a:cubicBezTo>
                <a:cubicBezTo>
                  <a:pt x="214" y="64"/>
                  <a:pt x="190" y="88"/>
                  <a:pt x="190" y="118"/>
                </a:cubicBezTo>
                <a:lnTo>
                  <a:pt x="190" y="248"/>
                </a:lnTo>
                <a:cubicBezTo>
                  <a:pt x="190" y="278"/>
                  <a:pt x="214" y="302"/>
                  <a:pt x="244" y="302"/>
                </a:cubicBezTo>
                <a:close/>
                <a:moveTo>
                  <a:pt x="245" y="0"/>
                </a:moveTo>
                <a:cubicBezTo>
                  <a:pt x="381" y="0"/>
                  <a:pt x="490" y="110"/>
                  <a:pt x="490" y="245"/>
                </a:cubicBezTo>
                <a:cubicBezTo>
                  <a:pt x="490" y="381"/>
                  <a:pt x="381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84849"/>
              </a:solidFill>
            </a:endParaRP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10466453" y="4703232"/>
            <a:ext cx="1899476" cy="35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sz="1700" dirty="0">
                <a:solidFill>
                  <a:schemeClr val="bg1"/>
                </a:solidFill>
              </a:rPr>
              <a:t>汇报人：代用名</a:t>
            </a:r>
          </a:p>
        </p:txBody>
      </p:sp>
      <p:sp>
        <p:nvSpPr>
          <p:cNvPr id="14" name="Freeform 10"/>
          <p:cNvSpPr>
            <a:spLocks noChangeAspect="1" noEditPoints="1"/>
          </p:cNvSpPr>
          <p:nvPr/>
        </p:nvSpPr>
        <p:spPr bwMode="auto">
          <a:xfrm>
            <a:off x="6417691" y="4693112"/>
            <a:ext cx="372836" cy="374400"/>
          </a:xfrm>
          <a:custGeom>
            <a:avLst/>
            <a:gdLst>
              <a:gd name="T0" fmla="*/ 245 w 490"/>
              <a:gd name="T1" fmla="*/ 0 h 490"/>
              <a:gd name="T2" fmla="*/ 490 w 490"/>
              <a:gd name="T3" fmla="*/ 245 h 490"/>
              <a:gd name="T4" fmla="*/ 245 w 490"/>
              <a:gd name="T5" fmla="*/ 490 h 490"/>
              <a:gd name="T6" fmla="*/ 0 w 490"/>
              <a:gd name="T7" fmla="*/ 245 h 490"/>
              <a:gd name="T8" fmla="*/ 245 w 490"/>
              <a:gd name="T9" fmla="*/ 0 h 490"/>
              <a:gd name="T10" fmla="*/ 436 w 490"/>
              <a:gd name="T11" fmla="*/ 250 h 490"/>
              <a:gd name="T12" fmla="*/ 427 w 490"/>
              <a:gd name="T13" fmla="*/ 256 h 490"/>
              <a:gd name="T14" fmla="*/ 394 w 490"/>
              <a:gd name="T15" fmla="*/ 256 h 490"/>
              <a:gd name="T16" fmla="*/ 386 w 490"/>
              <a:gd name="T17" fmla="*/ 253 h 490"/>
              <a:gd name="T18" fmla="*/ 245 w 490"/>
              <a:gd name="T19" fmla="*/ 105 h 490"/>
              <a:gd name="T20" fmla="*/ 104 w 490"/>
              <a:gd name="T21" fmla="*/ 253 h 490"/>
              <a:gd name="T22" fmla="*/ 96 w 490"/>
              <a:gd name="T23" fmla="*/ 256 h 490"/>
              <a:gd name="T24" fmla="*/ 63 w 490"/>
              <a:gd name="T25" fmla="*/ 256 h 490"/>
              <a:gd name="T26" fmla="*/ 54 w 490"/>
              <a:gd name="T27" fmla="*/ 250 h 490"/>
              <a:gd name="T28" fmla="*/ 56 w 490"/>
              <a:gd name="T29" fmla="*/ 239 h 490"/>
              <a:gd name="T30" fmla="*/ 236 w 490"/>
              <a:gd name="T31" fmla="*/ 52 h 490"/>
              <a:gd name="T32" fmla="*/ 245 w 490"/>
              <a:gd name="T33" fmla="*/ 48 h 490"/>
              <a:gd name="T34" fmla="*/ 254 w 490"/>
              <a:gd name="T35" fmla="*/ 52 h 490"/>
              <a:gd name="T36" fmla="*/ 434 w 490"/>
              <a:gd name="T37" fmla="*/ 239 h 490"/>
              <a:gd name="T38" fmla="*/ 436 w 490"/>
              <a:gd name="T39" fmla="*/ 250 h 490"/>
              <a:gd name="T40" fmla="*/ 113 w 490"/>
              <a:gd name="T41" fmla="*/ 267 h 490"/>
              <a:gd name="T42" fmla="*/ 113 w 490"/>
              <a:gd name="T43" fmla="*/ 267 h 490"/>
              <a:gd name="T44" fmla="*/ 113 w 490"/>
              <a:gd name="T45" fmla="*/ 379 h 490"/>
              <a:gd name="T46" fmla="*/ 129 w 490"/>
              <a:gd name="T47" fmla="*/ 398 h 490"/>
              <a:gd name="T48" fmla="*/ 202 w 490"/>
              <a:gd name="T49" fmla="*/ 398 h 490"/>
              <a:gd name="T50" fmla="*/ 202 w 490"/>
              <a:gd name="T51" fmla="*/ 276 h 490"/>
              <a:gd name="T52" fmla="*/ 221 w 490"/>
              <a:gd name="T53" fmla="*/ 257 h 490"/>
              <a:gd name="T54" fmla="*/ 269 w 490"/>
              <a:gd name="T55" fmla="*/ 257 h 490"/>
              <a:gd name="T56" fmla="*/ 288 w 490"/>
              <a:gd name="T57" fmla="*/ 276 h 490"/>
              <a:gd name="T58" fmla="*/ 288 w 490"/>
              <a:gd name="T59" fmla="*/ 398 h 490"/>
              <a:gd name="T60" fmla="*/ 361 w 490"/>
              <a:gd name="T61" fmla="*/ 398 h 490"/>
              <a:gd name="T62" fmla="*/ 377 w 490"/>
              <a:gd name="T63" fmla="*/ 379 h 490"/>
              <a:gd name="T64" fmla="*/ 377 w 490"/>
              <a:gd name="T65" fmla="*/ 268 h 490"/>
              <a:gd name="T66" fmla="*/ 245 w 490"/>
              <a:gd name="T67" fmla="*/ 130 h 490"/>
              <a:gd name="T68" fmla="*/ 113 w 490"/>
              <a:gd name="T69" fmla="*/ 267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0" h="490">
                <a:moveTo>
                  <a:pt x="245" y="0"/>
                </a:moveTo>
                <a:cubicBezTo>
                  <a:pt x="380" y="0"/>
                  <a:pt x="490" y="110"/>
                  <a:pt x="490" y="245"/>
                </a:cubicBezTo>
                <a:cubicBezTo>
                  <a:pt x="490" y="381"/>
                  <a:pt x="380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  <a:moveTo>
                  <a:pt x="436" y="250"/>
                </a:moveTo>
                <a:cubicBezTo>
                  <a:pt x="435" y="254"/>
                  <a:pt x="431" y="256"/>
                  <a:pt x="427" y="256"/>
                </a:cubicBezTo>
                <a:lnTo>
                  <a:pt x="394" y="256"/>
                </a:lnTo>
                <a:cubicBezTo>
                  <a:pt x="391" y="256"/>
                  <a:pt x="388" y="255"/>
                  <a:pt x="386" y="253"/>
                </a:cubicBezTo>
                <a:lnTo>
                  <a:pt x="245" y="105"/>
                </a:lnTo>
                <a:lnTo>
                  <a:pt x="104" y="253"/>
                </a:lnTo>
                <a:cubicBezTo>
                  <a:pt x="102" y="255"/>
                  <a:pt x="99" y="256"/>
                  <a:pt x="96" y="256"/>
                </a:cubicBezTo>
                <a:lnTo>
                  <a:pt x="63" y="256"/>
                </a:lnTo>
                <a:cubicBezTo>
                  <a:pt x="59" y="256"/>
                  <a:pt x="55" y="254"/>
                  <a:pt x="54" y="250"/>
                </a:cubicBezTo>
                <a:cubicBezTo>
                  <a:pt x="52" y="246"/>
                  <a:pt x="53" y="242"/>
                  <a:pt x="56" y="239"/>
                </a:cubicBezTo>
                <a:lnTo>
                  <a:pt x="236" y="52"/>
                </a:lnTo>
                <a:cubicBezTo>
                  <a:pt x="238" y="49"/>
                  <a:pt x="242" y="48"/>
                  <a:pt x="245" y="48"/>
                </a:cubicBezTo>
                <a:cubicBezTo>
                  <a:pt x="248" y="48"/>
                  <a:pt x="252" y="49"/>
                  <a:pt x="254" y="52"/>
                </a:cubicBezTo>
                <a:lnTo>
                  <a:pt x="434" y="239"/>
                </a:lnTo>
                <a:cubicBezTo>
                  <a:pt x="437" y="242"/>
                  <a:pt x="438" y="246"/>
                  <a:pt x="436" y="250"/>
                </a:cubicBezTo>
                <a:close/>
                <a:moveTo>
                  <a:pt x="113" y="267"/>
                </a:moveTo>
                <a:lnTo>
                  <a:pt x="113" y="267"/>
                </a:lnTo>
                <a:lnTo>
                  <a:pt x="113" y="379"/>
                </a:lnTo>
                <a:cubicBezTo>
                  <a:pt x="113" y="389"/>
                  <a:pt x="120" y="398"/>
                  <a:pt x="129" y="398"/>
                </a:cubicBezTo>
                <a:lnTo>
                  <a:pt x="202" y="398"/>
                </a:lnTo>
                <a:lnTo>
                  <a:pt x="202" y="276"/>
                </a:lnTo>
                <a:cubicBezTo>
                  <a:pt x="202" y="266"/>
                  <a:pt x="211" y="257"/>
                  <a:pt x="221" y="257"/>
                </a:cubicBezTo>
                <a:lnTo>
                  <a:pt x="269" y="257"/>
                </a:lnTo>
                <a:cubicBezTo>
                  <a:pt x="279" y="257"/>
                  <a:pt x="288" y="266"/>
                  <a:pt x="288" y="276"/>
                </a:cubicBezTo>
                <a:lnTo>
                  <a:pt x="288" y="398"/>
                </a:lnTo>
                <a:lnTo>
                  <a:pt x="361" y="398"/>
                </a:lnTo>
                <a:cubicBezTo>
                  <a:pt x="370" y="398"/>
                  <a:pt x="377" y="389"/>
                  <a:pt x="377" y="379"/>
                </a:cubicBezTo>
                <a:lnTo>
                  <a:pt x="377" y="268"/>
                </a:lnTo>
                <a:lnTo>
                  <a:pt x="245" y="130"/>
                </a:lnTo>
                <a:lnTo>
                  <a:pt x="113" y="2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62818" y="198604"/>
            <a:ext cx="473877" cy="484825"/>
            <a:chOff x="702608" y="-1899592"/>
            <a:chExt cx="1054013" cy="1078364"/>
          </a:xfrm>
        </p:grpSpPr>
        <p:sp>
          <p:nvSpPr>
            <p:cNvPr id="16" name="Oval 5"/>
            <p:cNvSpPr>
              <a:spLocks noChangeArrowheads="1"/>
            </p:cNvSpPr>
            <p:nvPr/>
          </p:nvSpPr>
          <p:spPr bwMode="auto">
            <a:xfrm>
              <a:off x="702608" y="-1899592"/>
              <a:ext cx="1054013" cy="107836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904366" y="-1555211"/>
              <a:ext cx="650496" cy="445260"/>
            </a:xfrm>
            <a:custGeom>
              <a:avLst/>
              <a:gdLst>
                <a:gd name="T0" fmla="*/ 380 w 394"/>
                <a:gd name="T1" fmla="*/ 19 h 263"/>
                <a:gd name="T2" fmla="*/ 380 w 394"/>
                <a:gd name="T3" fmla="*/ 216 h 263"/>
                <a:gd name="T4" fmla="*/ 374 w 394"/>
                <a:gd name="T5" fmla="*/ 216 h 263"/>
                <a:gd name="T6" fmla="*/ 362 w 394"/>
                <a:gd name="T7" fmla="*/ 215 h 263"/>
                <a:gd name="T8" fmla="*/ 199 w 394"/>
                <a:gd name="T9" fmla="*/ 256 h 263"/>
                <a:gd name="T10" fmla="*/ 197 w 394"/>
                <a:gd name="T11" fmla="*/ 257 h 263"/>
                <a:gd name="T12" fmla="*/ 195 w 394"/>
                <a:gd name="T13" fmla="*/ 256 h 263"/>
                <a:gd name="T14" fmla="*/ 33 w 394"/>
                <a:gd name="T15" fmla="*/ 215 h 263"/>
                <a:gd name="T16" fmla="*/ 20 w 394"/>
                <a:gd name="T17" fmla="*/ 216 h 263"/>
                <a:gd name="T18" fmla="*/ 14 w 394"/>
                <a:gd name="T19" fmla="*/ 216 h 263"/>
                <a:gd name="T20" fmla="*/ 14 w 394"/>
                <a:gd name="T21" fmla="*/ 19 h 263"/>
                <a:gd name="T22" fmla="*/ 0 w 394"/>
                <a:gd name="T23" fmla="*/ 19 h 263"/>
                <a:gd name="T24" fmla="*/ 0 w 394"/>
                <a:gd name="T25" fmla="*/ 223 h 263"/>
                <a:gd name="T26" fmla="*/ 197 w 394"/>
                <a:gd name="T27" fmla="*/ 263 h 263"/>
                <a:gd name="T28" fmla="*/ 394 w 394"/>
                <a:gd name="T29" fmla="*/ 223 h 263"/>
                <a:gd name="T30" fmla="*/ 394 w 394"/>
                <a:gd name="T31" fmla="*/ 19 h 263"/>
                <a:gd name="T32" fmla="*/ 380 w 394"/>
                <a:gd name="T33" fmla="*/ 19 h 263"/>
                <a:gd name="T34" fmla="*/ 191 w 394"/>
                <a:gd name="T35" fmla="*/ 223 h 263"/>
                <a:gd name="T36" fmla="*/ 191 w 394"/>
                <a:gd name="T37" fmla="*/ 44 h 263"/>
                <a:gd name="T38" fmla="*/ 54 w 394"/>
                <a:gd name="T39" fmla="*/ 2 h 263"/>
                <a:gd name="T40" fmla="*/ 54 w 394"/>
                <a:gd name="T41" fmla="*/ 188 h 263"/>
                <a:gd name="T42" fmla="*/ 59 w 394"/>
                <a:gd name="T43" fmla="*/ 188 h 263"/>
                <a:gd name="T44" fmla="*/ 191 w 394"/>
                <a:gd name="T45" fmla="*/ 223 h 263"/>
                <a:gd name="T46" fmla="*/ 340 w 394"/>
                <a:gd name="T47" fmla="*/ 188 h 263"/>
                <a:gd name="T48" fmla="*/ 340 w 394"/>
                <a:gd name="T49" fmla="*/ 2 h 263"/>
                <a:gd name="T50" fmla="*/ 204 w 394"/>
                <a:gd name="T51" fmla="*/ 44 h 263"/>
                <a:gd name="T52" fmla="*/ 204 w 394"/>
                <a:gd name="T53" fmla="*/ 223 h 263"/>
                <a:gd name="T54" fmla="*/ 335 w 394"/>
                <a:gd name="T55" fmla="*/ 188 h 263"/>
                <a:gd name="T56" fmla="*/ 340 w 394"/>
                <a:gd name="T57" fmla="*/ 188 h 263"/>
                <a:gd name="T58" fmla="*/ 197 w 394"/>
                <a:gd name="T59" fmla="*/ 252 h 263"/>
                <a:gd name="T60" fmla="*/ 371 w 394"/>
                <a:gd name="T61" fmla="*/ 211 h 263"/>
                <a:gd name="T62" fmla="*/ 371 w 394"/>
                <a:gd name="T63" fmla="*/ 4 h 263"/>
                <a:gd name="T64" fmla="*/ 350 w 394"/>
                <a:gd name="T65" fmla="*/ 4 h 263"/>
                <a:gd name="T66" fmla="*/ 350 w 394"/>
                <a:gd name="T67" fmla="*/ 198 h 263"/>
                <a:gd name="T68" fmla="*/ 344 w 394"/>
                <a:gd name="T69" fmla="*/ 197 h 263"/>
                <a:gd name="T70" fmla="*/ 334 w 394"/>
                <a:gd name="T71" fmla="*/ 197 h 263"/>
                <a:gd name="T72" fmla="*/ 201 w 394"/>
                <a:gd name="T73" fmla="*/ 235 h 263"/>
                <a:gd name="T74" fmla="*/ 197 w 394"/>
                <a:gd name="T75" fmla="*/ 237 h 263"/>
                <a:gd name="T76" fmla="*/ 194 w 394"/>
                <a:gd name="T77" fmla="*/ 235 h 263"/>
                <a:gd name="T78" fmla="*/ 60 w 394"/>
                <a:gd name="T79" fmla="*/ 197 h 263"/>
                <a:gd name="T80" fmla="*/ 50 w 394"/>
                <a:gd name="T81" fmla="*/ 197 h 263"/>
                <a:gd name="T82" fmla="*/ 45 w 394"/>
                <a:gd name="T83" fmla="*/ 198 h 263"/>
                <a:gd name="T84" fmla="*/ 45 w 394"/>
                <a:gd name="T85" fmla="*/ 4 h 263"/>
                <a:gd name="T86" fmla="*/ 24 w 394"/>
                <a:gd name="T87" fmla="*/ 4 h 263"/>
                <a:gd name="T88" fmla="*/ 24 w 394"/>
                <a:gd name="T89" fmla="*/ 211 h 263"/>
                <a:gd name="T90" fmla="*/ 197 w 394"/>
                <a:gd name="T91" fmla="*/ 252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94" h="263">
                  <a:moveTo>
                    <a:pt x="380" y="19"/>
                  </a:moveTo>
                  <a:lnTo>
                    <a:pt x="380" y="216"/>
                  </a:lnTo>
                  <a:lnTo>
                    <a:pt x="374" y="216"/>
                  </a:lnTo>
                  <a:cubicBezTo>
                    <a:pt x="370" y="215"/>
                    <a:pt x="366" y="215"/>
                    <a:pt x="362" y="215"/>
                  </a:cubicBezTo>
                  <a:cubicBezTo>
                    <a:pt x="307" y="215"/>
                    <a:pt x="250" y="230"/>
                    <a:pt x="199" y="256"/>
                  </a:cubicBezTo>
                  <a:lnTo>
                    <a:pt x="197" y="257"/>
                  </a:lnTo>
                  <a:lnTo>
                    <a:pt x="195" y="256"/>
                  </a:lnTo>
                  <a:cubicBezTo>
                    <a:pt x="145" y="230"/>
                    <a:pt x="87" y="215"/>
                    <a:pt x="33" y="215"/>
                  </a:cubicBezTo>
                  <a:cubicBezTo>
                    <a:pt x="28" y="215"/>
                    <a:pt x="24" y="215"/>
                    <a:pt x="20" y="216"/>
                  </a:cubicBezTo>
                  <a:lnTo>
                    <a:pt x="14" y="216"/>
                  </a:lnTo>
                  <a:lnTo>
                    <a:pt x="14" y="19"/>
                  </a:lnTo>
                  <a:cubicBezTo>
                    <a:pt x="10" y="19"/>
                    <a:pt x="5" y="19"/>
                    <a:pt x="0" y="19"/>
                  </a:cubicBezTo>
                  <a:lnTo>
                    <a:pt x="0" y="223"/>
                  </a:lnTo>
                  <a:cubicBezTo>
                    <a:pt x="66" y="222"/>
                    <a:pt x="136" y="236"/>
                    <a:pt x="197" y="263"/>
                  </a:cubicBezTo>
                  <a:cubicBezTo>
                    <a:pt x="259" y="236"/>
                    <a:pt x="328" y="222"/>
                    <a:pt x="394" y="223"/>
                  </a:cubicBezTo>
                  <a:lnTo>
                    <a:pt x="394" y="19"/>
                  </a:lnTo>
                  <a:cubicBezTo>
                    <a:pt x="389" y="19"/>
                    <a:pt x="385" y="19"/>
                    <a:pt x="380" y="19"/>
                  </a:cubicBezTo>
                  <a:close/>
                  <a:moveTo>
                    <a:pt x="191" y="223"/>
                  </a:moveTo>
                  <a:lnTo>
                    <a:pt x="191" y="44"/>
                  </a:lnTo>
                  <a:cubicBezTo>
                    <a:pt x="148" y="16"/>
                    <a:pt x="100" y="0"/>
                    <a:pt x="54" y="2"/>
                  </a:cubicBezTo>
                  <a:lnTo>
                    <a:pt x="54" y="188"/>
                  </a:lnTo>
                  <a:cubicBezTo>
                    <a:pt x="56" y="188"/>
                    <a:pt x="58" y="188"/>
                    <a:pt x="59" y="188"/>
                  </a:cubicBezTo>
                  <a:cubicBezTo>
                    <a:pt x="103" y="188"/>
                    <a:pt x="150" y="200"/>
                    <a:pt x="191" y="223"/>
                  </a:cubicBezTo>
                  <a:close/>
                  <a:moveTo>
                    <a:pt x="340" y="188"/>
                  </a:moveTo>
                  <a:lnTo>
                    <a:pt x="340" y="2"/>
                  </a:lnTo>
                  <a:cubicBezTo>
                    <a:pt x="295" y="0"/>
                    <a:pt x="246" y="16"/>
                    <a:pt x="204" y="44"/>
                  </a:cubicBezTo>
                  <a:lnTo>
                    <a:pt x="204" y="223"/>
                  </a:lnTo>
                  <a:cubicBezTo>
                    <a:pt x="245" y="200"/>
                    <a:pt x="291" y="188"/>
                    <a:pt x="335" y="188"/>
                  </a:cubicBezTo>
                  <a:cubicBezTo>
                    <a:pt x="337" y="188"/>
                    <a:pt x="339" y="188"/>
                    <a:pt x="340" y="188"/>
                  </a:cubicBezTo>
                  <a:close/>
                  <a:moveTo>
                    <a:pt x="197" y="252"/>
                  </a:moveTo>
                  <a:cubicBezTo>
                    <a:pt x="253" y="222"/>
                    <a:pt x="315" y="209"/>
                    <a:pt x="371" y="211"/>
                  </a:cubicBezTo>
                  <a:lnTo>
                    <a:pt x="371" y="4"/>
                  </a:lnTo>
                  <a:cubicBezTo>
                    <a:pt x="364" y="4"/>
                    <a:pt x="357" y="4"/>
                    <a:pt x="350" y="4"/>
                  </a:cubicBezTo>
                  <a:lnTo>
                    <a:pt x="350" y="198"/>
                  </a:lnTo>
                  <a:lnTo>
                    <a:pt x="344" y="197"/>
                  </a:lnTo>
                  <a:cubicBezTo>
                    <a:pt x="341" y="197"/>
                    <a:pt x="337" y="197"/>
                    <a:pt x="334" y="197"/>
                  </a:cubicBezTo>
                  <a:cubicBezTo>
                    <a:pt x="289" y="197"/>
                    <a:pt x="242" y="211"/>
                    <a:pt x="201" y="235"/>
                  </a:cubicBezTo>
                  <a:lnTo>
                    <a:pt x="197" y="237"/>
                  </a:lnTo>
                  <a:lnTo>
                    <a:pt x="194" y="235"/>
                  </a:lnTo>
                  <a:cubicBezTo>
                    <a:pt x="153" y="211"/>
                    <a:pt x="105" y="197"/>
                    <a:pt x="60" y="197"/>
                  </a:cubicBezTo>
                  <a:cubicBezTo>
                    <a:pt x="57" y="197"/>
                    <a:pt x="54" y="197"/>
                    <a:pt x="50" y="197"/>
                  </a:cubicBezTo>
                  <a:lnTo>
                    <a:pt x="45" y="198"/>
                  </a:lnTo>
                  <a:lnTo>
                    <a:pt x="45" y="4"/>
                  </a:lnTo>
                  <a:cubicBezTo>
                    <a:pt x="38" y="4"/>
                    <a:pt x="31" y="4"/>
                    <a:pt x="24" y="4"/>
                  </a:cubicBezTo>
                  <a:lnTo>
                    <a:pt x="24" y="211"/>
                  </a:lnTo>
                  <a:cubicBezTo>
                    <a:pt x="79" y="209"/>
                    <a:pt x="142" y="222"/>
                    <a:pt x="197" y="2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68029" y="198604"/>
            <a:ext cx="472312" cy="484825"/>
            <a:chOff x="2014036" y="-1899592"/>
            <a:chExt cx="1050534" cy="1078364"/>
          </a:xfrm>
        </p:grpSpPr>
        <p:sp>
          <p:nvSpPr>
            <p:cNvPr id="19" name="Oval 6"/>
            <p:cNvSpPr>
              <a:spLocks noChangeArrowheads="1"/>
            </p:cNvSpPr>
            <p:nvPr/>
          </p:nvSpPr>
          <p:spPr bwMode="auto">
            <a:xfrm>
              <a:off x="2014036" y="-1899592"/>
              <a:ext cx="1050534" cy="1078364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auto">
            <a:xfrm>
              <a:off x="2313195" y="-1670005"/>
              <a:ext cx="553096" cy="640061"/>
            </a:xfrm>
            <a:custGeom>
              <a:avLst/>
              <a:gdLst>
                <a:gd name="T0" fmla="*/ 214 w 336"/>
                <a:gd name="T1" fmla="*/ 48 h 380"/>
                <a:gd name="T2" fmla="*/ 167 w 336"/>
                <a:gd name="T3" fmla="*/ 95 h 380"/>
                <a:gd name="T4" fmla="*/ 119 w 336"/>
                <a:gd name="T5" fmla="*/ 95 h 380"/>
                <a:gd name="T6" fmla="*/ 72 w 336"/>
                <a:gd name="T7" fmla="*/ 48 h 380"/>
                <a:gd name="T8" fmla="*/ 119 w 336"/>
                <a:gd name="T9" fmla="*/ 0 h 380"/>
                <a:gd name="T10" fmla="*/ 167 w 336"/>
                <a:gd name="T11" fmla="*/ 0 h 380"/>
                <a:gd name="T12" fmla="*/ 214 w 336"/>
                <a:gd name="T13" fmla="*/ 48 h 380"/>
                <a:gd name="T14" fmla="*/ 237 w 336"/>
                <a:gd name="T15" fmla="*/ 48 h 380"/>
                <a:gd name="T16" fmla="*/ 238 w 336"/>
                <a:gd name="T17" fmla="*/ 59 h 380"/>
                <a:gd name="T18" fmla="*/ 179 w 336"/>
                <a:gd name="T19" fmla="*/ 118 h 380"/>
                <a:gd name="T20" fmla="*/ 107 w 336"/>
                <a:gd name="T21" fmla="*/ 118 h 380"/>
                <a:gd name="T22" fmla="*/ 48 w 336"/>
                <a:gd name="T23" fmla="*/ 59 h 380"/>
                <a:gd name="T24" fmla="*/ 49 w 336"/>
                <a:gd name="T25" fmla="*/ 48 h 380"/>
                <a:gd name="T26" fmla="*/ 0 w 336"/>
                <a:gd name="T27" fmla="*/ 106 h 380"/>
                <a:gd name="T28" fmla="*/ 0 w 336"/>
                <a:gd name="T29" fmla="*/ 320 h 380"/>
                <a:gd name="T30" fmla="*/ 60 w 336"/>
                <a:gd name="T31" fmla="*/ 380 h 380"/>
                <a:gd name="T32" fmla="*/ 218 w 336"/>
                <a:gd name="T33" fmla="*/ 380 h 380"/>
                <a:gd name="T34" fmla="*/ 153 w 336"/>
                <a:gd name="T35" fmla="*/ 282 h 380"/>
                <a:gd name="T36" fmla="*/ 260 w 336"/>
                <a:gd name="T37" fmla="*/ 176 h 380"/>
                <a:gd name="T38" fmla="*/ 286 w 336"/>
                <a:gd name="T39" fmla="*/ 179 h 380"/>
                <a:gd name="T40" fmla="*/ 286 w 336"/>
                <a:gd name="T41" fmla="*/ 106 h 380"/>
                <a:gd name="T42" fmla="*/ 237 w 336"/>
                <a:gd name="T43" fmla="*/ 48 h 380"/>
                <a:gd name="T44" fmla="*/ 134 w 336"/>
                <a:gd name="T45" fmla="*/ 238 h 380"/>
                <a:gd name="T46" fmla="*/ 134 w 336"/>
                <a:gd name="T47" fmla="*/ 238 h 380"/>
                <a:gd name="T48" fmla="*/ 60 w 336"/>
                <a:gd name="T49" fmla="*/ 238 h 380"/>
                <a:gd name="T50" fmla="*/ 48 w 336"/>
                <a:gd name="T51" fmla="*/ 226 h 380"/>
                <a:gd name="T52" fmla="*/ 60 w 336"/>
                <a:gd name="T53" fmla="*/ 214 h 380"/>
                <a:gd name="T54" fmla="*/ 134 w 336"/>
                <a:gd name="T55" fmla="*/ 214 h 380"/>
                <a:gd name="T56" fmla="*/ 146 w 336"/>
                <a:gd name="T57" fmla="*/ 226 h 380"/>
                <a:gd name="T58" fmla="*/ 134 w 336"/>
                <a:gd name="T59" fmla="*/ 238 h 380"/>
                <a:gd name="T60" fmla="*/ 158 w 336"/>
                <a:gd name="T61" fmla="*/ 190 h 380"/>
                <a:gd name="T62" fmla="*/ 158 w 336"/>
                <a:gd name="T63" fmla="*/ 190 h 380"/>
                <a:gd name="T64" fmla="*/ 60 w 336"/>
                <a:gd name="T65" fmla="*/ 190 h 380"/>
                <a:gd name="T66" fmla="*/ 48 w 336"/>
                <a:gd name="T67" fmla="*/ 178 h 380"/>
                <a:gd name="T68" fmla="*/ 60 w 336"/>
                <a:gd name="T69" fmla="*/ 167 h 380"/>
                <a:gd name="T70" fmla="*/ 158 w 336"/>
                <a:gd name="T71" fmla="*/ 167 h 380"/>
                <a:gd name="T72" fmla="*/ 170 w 336"/>
                <a:gd name="T73" fmla="*/ 178 h 380"/>
                <a:gd name="T74" fmla="*/ 158 w 336"/>
                <a:gd name="T75" fmla="*/ 190 h 380"/>
                <a:gd name="T76" fmla="*/ 279 w 336"/>
                <a:gd name="T77" fmla="*/ 208 h 380"/>
                <a:gd name="T78" fmla="*/ 260 w 336"/>
                <a:gd name="T79" fmla="*/ 206 h 380"/>
                <a:gd name="T80" fmla="*/ 184 w 336"/>
                <a:gd name="T81" fmla="*/ 281 h 380"/>
                <a:gd name="T82" fmla="*/ 244 w 336"/>
                <a:gd name="T83" fmla="*/ 356 h 380"/>
                <a:gd name="T84" fmla="*/ 260 w 336"/>
                <a:gd name="T85" fmla="*/ 357 h 380"/>
                <a:gd name="T86" fmla="*/ 336 w 336"/>
                <a:gd name="T87" fmla="*/ 281 h 380"/>
                <a:gd name="T88" fmla="*/ 279 w 336"/>
                <a:gd name="T89" fmla="*/ 208 h 380"/>
                <a:gd name="T90" fmla="*/ 303 w 336"/>
                <a:gd name="T91" fmla="*/ 271 h 380"/>
                <a:gd name="T92" fmla="*/ 303 w 336"/>
                <a:gd name="T93" fmla="*/ 271 h 380"/>
                <a:gd name="T94" fmla="*/ 279 w 336"/>
                <a:gd name="T95" fmla="*/ 295 h 380"/>
                <a:gd name="T96" fmla="*/ 260 w 336"/>
                <a:gd name="T97" fmla="*/ 314 h 380"/>
                <a:gd name="T98" fmla="*/ 239 w 336"/>
                <a:gd name="T99" fmla="*/ 314 h 380"/>
                <a:gd name="T100" fmla="*/ 217 w 336"/>
                <a:gd name="T101" fmla="*/ 292 h 380"/>
                <a:gd name="T102" fmla="*/ 217 w 336"/>
                <a:gd name="T103" fmla="*/ 271 h 380"/>
                <a:gd name="T104" fmla="*/ 239 w 336"/>
                <a:gd name="T105" fmla="*/ 271 h 380"/>
                <a:gd name="T106" fmla="*/ 250 w 336"/>
                <a:gd name="T107" fmla="*/ 281 h 380"/>
                <a:gd name="T108" fmla="*/ 279 w 336"/>
                <a:gd name="T109" fmla="*/ 252 h 380"/>
                <a:gd name="T110" fmla="*/ 282 w 336"/>
                <a:gd name="T111" fmla="*/ 249 h 380"/>
                <a:gd name="T112" fmla="*/ 303 w 336"/>
                <a:gd name="T113" fmla="*/ 249 h 380"/>
                <a:gd name="T114" fmla="*/ 303 w 336"/>
                <a:gd name="T115" fmla="*/ 271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36" h="380">
                  <a:moveTo>
                    <a:pt x="214" y="48"/>
                  </a:moveTo>
                  <a:cubicBezTo>
                    <a:pt x="214" y="74"/>
                    <a:pt x="193" y="95"/>
                    <a:pt x="167" y="95"/>
                  </a:cubicBezTo>
                  <a:lnTo>
                    <a:pt x="119" y="95"/>
                  </a:lnTo>
                  <a:cubicBezTo>
                    <a:pt x="93" y="95"/>
                    <a:pt x="72" y="74"/>
                    <a:pt x="72" y="48"/>
                  </a:cubicBezTo>
                  <a:cubicBezTo>
                    <a:pt x="72" y="21"/>
                    <a:pt x="93" y="0"/>
                    <a:pt x="119" y="0"/>
                  </a:cubicBezTo>
                  <a:lnTo>
                    <a:pt x="167" y="0"/>
                  </a:lnTo>
                  <a:cubicBezTo>
                    <a:pt x="193" y="0"/>
                    <a:pt x="214" y="21"/>
                    <a:pt x="214" y="48"/>
                  </a:cubicBezTo>
                  <a:close/>
                  <a:moveTo>
                    <a:pt x="237" y="48"/>
                  </a:moveTo>
                  <a:cubicBezTo>
                    <a:pt x="238" y="51"/>
                    <a:pt x="238" y="55"/>
                    <a:pt x="238" y="59"/>
                  </a:cubicBezTo>
                  <a:cubicBezTo>
                    <a:pt x="238" y="91"/>
                    <a:pt x="211" y="118"/>
                    <a:pt x="179" y="118"/>
                  </a:cubicBezTo>
                  <a:lnTo>
                    <a:pt x="107" y="118"/>
                  </a:lnTo>
                  <a:cubicBezTo>
                    <a:pt x="74" y="118"/>
                    <a:pt x="48" y="91"/>
                    <a:pt x="48" y="59"/>
                  </a:cubicBezTo>
                  <a:cubicBezTo>
                    <a:pt x="48" y="55"/>
                    <a:pt x="48" y="51"/>
                    <a:pt x="49" y="48"/>
                  </a:cubicBezTo>
                  <a:cubicBezTo>
                    <a:pt x="21" y="53"/>
                    <a:pt x="0" y="77"/>
                    <a:pt x="0" y="106"/>
                  </a:cubicBezTo>
                  <a:lnTo>
                    <a:pt x="0" y="320"/>
                  </a:lnTo>
                  <a:cubicBezTo>
                    <a:pt x="0" y="353"/>
                    <a:pt x="27" y="380"/>
                    <a:pt x="60" y="380"/>
                  </a:cubicBezTo>
                  <a:lnTo>
                    <a:pt x="218" y="380"/>
                  </a:lnTo>
                  <a:cubicBezTo>
                    <a:pt x="180" y="363"/>
                    <a:pt x="153" y="326"/>
                    <a:pt x="153" y="282"/>
                  </a:cubicBezTo>
                  <a:cubicBezTo>
                    <a:pt x="153" y="223"/>
                    <a:pt x="201" y="176"/>
                    <a:pt x="260" y="176"/>
                  </a:cubicBezTo>
                  <a:cubicBezTo>
                    <a:pt x="269" y="176"/>
                    <a:pt x="277" y="177"/>
                    <a:pt x="286" y="179"/>
                  </a:cubicBezTo>
                  <a:lnTo>
                    <a:pt x="286" y="106"/>
                  </a:lnTo>
                  <a:cubicBezTo>
                    <a:pt x="286" y="77"/>
                    <a:pt x="265" y="53"/>
                    <a:pt x="237" y="48"/>
                  </a:cubicBezTo>
                  <a:close/>
                  <a:moveTo>
                    <a:pt x="134" y="238"/>
                  </a:moveTo>
                  <a:lnTo>
                    <a:pt x="134" y="238"/>
                  </a:lnTo>
                  <a:lnTo>
                    <a:pt x="60" y="238"/>
                  </a:lnTo>
                  <a:cubicBezTo>
                    <a:pt x="53" y="238"/>
                    <a:pt x="48" y="233"/>
                    <a:pt x="48" y="226"/>
                  </a:cubicBezTo>
                  <a:cubicBezTo>
                    <a:pt x="48" y="219"/>
                    <a:pt x="53" y="214"/>
                    <a:pt x="60" y="214"/>
                  </a:cubicBezTo>
                  <a:lnTo>
                    <a:pt x="134" y="214"/>
                  </a:lnTo>
                  <a:cubicBezTo>
                    <a:pt x="141" y="214"/>
                    <a:pt x="146" y="219"/>
                    <a:pt x="146" y="226"/>
                  </a:cubicBezTo>
                  <a:cubicBezTo>
                    <a:pt x="146" y="233"/>
                    <a:pt x="141" y="238"/>
                    <a:pt x="134" y="238"/>
                  </a:cubicBezTo>
                  <a:close/>
                  <a:moveTo>
                    <a:pt x="158" y="190"/>
                  </a:moveTo>
                  <a:lnTo>
                    <a:pt x="158" y="190"/>
                  </a:lnTo>
                  <a:lnTo>
                    <a:pt x="60" y="190"/>
                  </a:lnTo>
                  <a:cubicBezTo>
                    <a:pt x="53" y="190"/>
                    <a:pt x="48" y="185"/>
                    <a:pt x="48" y="178"/>
                  </a:cubicBezTo>
                  <a:cubicBezTo>
                    <a:pt x="48" y="172"/>
                    <a:pt x="53" y="167"/>
                    <a:pt x="60" y="167"/>
                  </a:cubicBezTo>
                  <a:lnTo>
                    <a:pt x="158" y="167"/>
                  </a:lnTo>
                  <a:cubicBezTo>
                    <a:pt x="164" y="167"/>
                    <a:pt x="170" y="172"/>
                    <a:pt x="170" y="178"/>
                  </a:cubicBezTo>
                  <a:cubicBezTo>
                    <a:pt x="170" y="185"/>
                    <a:pt x="164" y="190"/>
                    <a:pt x="158" y="190"/>
                  </a:cubicBezTo>
                  <a:close/>
                  <a:moveTo>
                    <a:pt x="279" y="208"/>
                  </a:moveTo>
                  <a:cubicBezTo>
                    <a:pt x="273" y="207"/>
                    <a:pt x="267" y="206"/>
                    <a:pt x="260" y="206"/>
                  </a:cubicBezTo>
                  <a:cubicBezTo>
                    <a:pt x="218" y="206"/>
                    <a:pt x="184" y="240"/>
                    <a:pt x="184" y="281"/>
                  </a:cubicBezTo>
                  <a:cubicBezTo>
                    <a:pt x="184" y="318"/>
                    <a:pt x="210" y="348"/>
                    <a:pt x="244" y="356"/>
                  </a:cubicBezTo>
                  <a:cubicBezTo>
                    <a:pt x="249" y="357"/>
                    <a:pt x="255" y="357"/>
                    <a:pt x="260" y="357"/>
                  </a:cubicBezTo>
                  <a:cubicBezTo>
                    <a:pt x="302" y="357"/>
                    <a:pt x="336" y="323"/>
                    <a:pt x="336" y="281"/>
                  </a:cubicBezTo>
                  <a:cubicBezTo>
                    <a:pt x="336" y="246"/>
                    <a:pt x="312" y="216"/>
                    <a:pt x="279" y="208"/>
                  </a:cubicBezTo>
                  <a:close/>
                  <a:moveTo>
                    <a:pt x="303" y="271"/>
                  </a:moveTo>
                  <a:lnTo>
                    <a:pt x="303" y="271"/>
                  </a:lnTo>
                  <a:lnTo>
                    <a:pt x="279" y="295"/>
                  </a:lnTo>
                  <a:lnTo>
                    <a:pt x="260" y="314"/>
                  </a:lnTo>
                  <a:cubicBezTo>
                    <a:pt x="254" y="320"/>
                    <a:pt x="245" y="320"/>
                    <a:pt x="239" y="314"/>
                  </a:cubicBezTo>
                  <a:lnTo>
                    <a:pt x="217" y="292"/>
                  </a:lnTo>
                  <a:cubicBezTo>
                    <a:pt x="211" y="286"/>
                    <a:pt x="211" y="277"/>
                    <a:pt x="217" y="271"/>
                  </a:cubicBezTo>
                  <a:cubicBezTo>
                    <a:pt x="223" y="265"/>
                    <a:pt x="233" y="265"/>
                    <a:pt x="239" y="271"/>
                  </a:cubicBezTo>
                  <a:lnTo>
                    <a:pt x="250" y="281"/>
                  </a:lnTo>
                  <a:lnTo>
                    <a:pt x="279" y="252"/>
                  </a:lnTo>
                  <a:lnTo>
                    <a:pt x="282" y="249"/>
                  </a:lnTo>
                  <a:cubicBezTo>
                    <a:pt x="288" y="243"/>
                    <a:pt x="297" y="243"/>
                    <a:pt x="303" y="249"/>
                  </a:cubicBezTo>
                  <a:cubicBezTo>
                    <a:pt x="309" y="255"/>
                    <a:pt x="309" y="265"/>
                    <a:pt x="303" y="2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471677" y="198604"/>
            <a:ext cx="472312" cy="484825"/>
            <a:chOff x="3252414" y="-1899592"/>
            <a:chExt cx="1050534" cy="1078364"/>
          </a:xfrm>
        </p:grpSpPr>
        <p:sp>
          <p:nvSpPr>
            <p:cNvPr id="22" name="Oval 7"/>
            <p:cNvSpPr>
              <a:spLocks noChangeArrowheads="1"/>
            </p:cNvSpPr>
            <p:nvPr/>
          </p:nvSpPr>
          <p:spPr bwMode="auto">
            <a:xfrm>
              <a:off x="3252414" y="-1899592"/>
              <a:ext cx="1050534" cy="107836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1"/>
            <p:cNvSpPr>
              <a:spLocks noEditPoints="1"/>
            </p:cNvSpPr>
            <p:nvPr/>
          </p:nvSpPr>
          <p:spPr bwMode="auto">
            <a:xfrm>
              <a:off x="3450694" y="-1683919"/>
              <a:ext cx="594839" cy="647018"/>
            </a:xfrm>
            <a:custGeom>
              <a:avLst/>
              <a:gdLst>
                <a:gd name="T0" fmla="*/ 136 w 360"/>
                <a:gd name="T1" fmla="*/ 238 h 383"/>
                <a:gd name="T2" fmla="*/ 130 w 360"/>
                <a:gd name="T3" fmla="*/ 217 h 383"/>
                <a:gd name="T4" fmla="*/ 157 w 360"/>
                <a:gd name="T5" fmla="*/ 104 h 383"/>
                <a:gd name="T6" fmla="*/ 187 w 360"/>
                <a:gd name="T7" fmla="*/ 195 h 383"/>
                <a:gd name="T8" fmla="*/ 223 w 360"/>
                <a:gd name="T9" fmla="*/ 90 h 383"/>
                <a:gd name="T10" fmla="*/ 142 w 360"/>
                <a:gd name="T11" fmla="*/ 179 h 383"/>
                <a:gd name="T12" fmla="*/ 136 w 360"/>
                <a:gd name="T13" fmla="*/ 191 h 383"/>
                <a:gd name="T14" fmla="*/ 185 w 360"/>
                <a:gd name="T15" fmla="*/ 220 h 383"/>
                <a:gd name="T16" fmla="*/ 237 w 360"/>
                <a:gd name="T17" fmla="*/ 76 h 383"/>
                <a:gd name="T18" fmla="*/ 240 w 360"/>
                <a:gd name="T19" fmla="*/ 49 h 383"/>
                <a:gd name="T20" fmla="*/ 237 w 360"/>
                <a:gd name="T21" fmla="*/ 76 h 383"/>
                <a:gd name="T22" fmla="*/ 281 w 360"/>
                <a:gd name="T23" fmla="*/ 90 h 383"/>
                <a:gd name="T24" fmla="*/ 253 w 360"/>
                <a:gd name="T25" fmla="*/ 93 h 383"/>
                <a:gd name="T26" fmla="*/ 205 w 360"/>
                <a:gd name="T27" fmla="*/ 64 h 383"/>
                <a:gd name="T28" fmla="*/ 194 w 360"/>
                <a:gd name="T29" fmla="*/ 39 h 383"/>
                <a:gd name="T30" fmla="*/ 205 w 360"/>
                <a:gd name="T31" fmla="*/ 64 h 383"/>
                <a:gd name="T32" fmla="*/ 159 w 360"/>
                <a:gd name="T33" fmla="*/ 48 h 383"/>
                <a:gd name="T34" fmla="*/ 161 w 360"/>
                <a:gd name="T35" fmla="*/ 76 h 383"/>
                <a:gd name="T36" fmla="*/ 264 w 360"/>
                <a:gd name="T37" fmla="*/ 137 h 383"/>
                <a:gd name="T38" fmla="*/ 290 w 360"/>
                <a:gd name="T39" fmla="*/ 125 h 383"/>
                <a:gd name="T40" fmla="*/ 264 w 360"/>
                <a:gd name="T41" fmla="*/ 137 h 383"/>
                <a:gd name="T42" fmla="*/ 132 w 360"/>
                <a:gd name="T43" fmla="*/ 196 h 383"/>
                <a:gd name="T44" fmla="*/ 126 w 360"/>
                <a:gd name="T45" fmla="*/ 208 h 383"/>
                <a:gd name="T46" fmla="*/ 175 w 360"/>
                <a:gd name="T47" fmla="*/ 237 h 383"/>
                <a:gd name="T48" fmla="*/ 131 w 360"/>
                <a:gd name="T49" fmla="*/ 383 h 383"/>
                <a:gd name="T50" fmla="*/ 141 w 360"/>
                <a:gd name="T51" fmla="*/ 22 h 383"/>
                <a:gd name="T52" fmla="*/ 342 w 360"/>
                <a:gd name="T53" fmla="*/ 109 h 383"/>
                <a:gd name="T54" fmla="*/ 345 w 360"/>
                <a:gd name="T55" fmla="*/ 167 h 383"/>
                <a:gd name="T56" fmla="*/ 356 w 360"/>
                <a:gd name="T57" fmla="*/ 240 h 383"/>
                <a:gd name="T58" fmla="*/ 343 w 360"/>
                <a:gd name="T59" fmla="*/ 301 h 383"/>
                <a:gd name="T60" fmla="*/ 269 w 360"/>
                <a:gd name="T61" fmla="*/ 318 h 383"/>
                <a:gd name="T62" fmla="*/ 131 w 360"/>
                <a:gd name="T63" fmla="*/ 383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60" h="383">
                  <a:moveTo>
                    <a:pt x="130" y="217"/>
                  </a:moveTo>
                  <a:cubicBezTo>
                    <a:pt x="126" y="224"/>
                    <a:pt x="129" y="234"/>
                    <a:pt x="136" y="238"/>
                  </a:cubicBezTo>
                  <a:cubicBezTo>
                    <a:pt x="143" y="242"/>
                    <a:pt x="151" y="241"/>
                    <a:pt x="156" y="236"/>
                  </a:cubicBezTo>
                  <a:lnTo>
                    <a:pt x="130" y="217"/>
                  </a:lnTo>
                  <a:close/>
                  <a:moveTo>
                    <a:pt x="223" y="90"/>
                  </a:moveTo>
                  <a:cubicBezTo>
                    <a:pt x="199" y="76"/>
                    <a:pt x="170" y="83"/>
                    <a:pt x="157" y="104"/>
                  </a:cubicBezTo>
                  <a:cubicBezTo>
                    <a:pt x="144" y="127"/>
                    <a:pt x="161" y="151"/>
                    <a:pt x="149" y="174"/>
                  </a:cubicBezTo>
                  <a:lnTo>
                    <a:pt x="187" y="195"/>
                  </a:lnTo>
                  <a:cubicBezTo>
                    <a:pt x="201" y="174"/>
                    <a:pt x="231" y="176"/>
                    <a:pt x="243" y="154"/>
                  </a:cubicBezTo>
                  <a:cubicBezTo>
                    <a:pt x="256" y="132"/>
                    <a:pt x="247" y="104"/>
                    <a:pt x="223" y="90"/>
                  </a:cubicBezTo>
                  <a:close/>
                  <a:moveTo>
                    <a:pt x="183" y="209"/>
                  </a:moveTo>
                  <a:lnTo>
                    <a:pt x="142" y="179"/>
                  </a:lnTo>
                  <a:cubicBezTo>
                    <a:pt x="139" y="176"/>
                    <a:pt x="135" y="177"/>
                    <a:pt x="133" y="181"/>
                  </a:cubicBezTo>
                  <a:cubicBezTo>
                    <a:pt x="132" y="184"/>
                    <a:pt x="132" y="188"/>
                    <a:pt x="136" y="191"/>
                  </a:cubicBezTo>
                  <a:lnTo>
                    <a:pt x="176" y="221"/>
                  </a:lnTo>
                  <a:cubicBezTo>
                    <a:pt x="179" y="224"/>
                    <a:pt x="183" y="223"/>
                    <a:pt x="185" y="220"/>
                  </a:cubicBezTo>
                  <a:cubicBezTo>
                    <a:pt x="187" y="216"/>
                    <a:pt x="186" y="212"/>
                    <a:pt x="183" y="209"/>
                  </a:cubicBezTo>
                  <a:close/>
                  <a:moveTo>
                    <a:pt x="237" y="76"/>
                  </a:moveTo>
                  <a:lnTo>
                    <a:pt x="250" y="54"/>
                  </a:lnTo>
                  <a:lnTo>
                    <a:pt x="240" y="49"/>
                  </a:lnTo>
                  <a:lnTo>
                    <a:pt x="227" y="70"/>
                  </a:lnTo>
                  <a:lnTo>
                    <a:pt x="237" y="76"/>
                  </a:lnTo>
                  <a:close/>
                  <a:moveTo>
                    <a:pt x="259" y="103"/>
                  </a:moveTo>
                  <a:lnTo>
                    <a:pt x="281" y="90"/>
                  </a:lnTo>
                  <a:lnTo>
                    <a:pt x="275" y="80"/>
                  </a:lnTo>
                  <a:lnTo>
                    <a:pt x="253" y="93"/>
                  </a:lnTo>
                  <a:lnTo>
                    <a:pt x="259" y="103"/>
                  </a:lnTo>
                  <a:close/>
                  <a:moveTo>
                    <a:pt x="205" y="64"/>
                  </a:moveTo>
                  <a:lnTo>
                    <a:pt x="205" y="39"/>
                  </a:lnTo>
                  <a:lnTo>
                    <a:pt x="194" y="39"/>
                  </a:lnTo>
                  <a:lnTo>
                    <a:pt x="194" y="64"/>
                  </a:lnTo>
                  <a:lnTo>
                    <a:pt x="205" y="64"/>
                  </a:lnTo>
                  <a:close/>
                  <a:moveTo>
                    <a:pt x="172" y="70"/>
                  </a:moveTo>
                  <a:lnTo>
                    <a:pt x="159" y="48"/>
                  </a:lnTo>
                  <a:lnTo>
                    <a:pt x="149" y="54"/>
                  </a:lnTo>
                  <a:lnTo>
                    <a:pt x="161" y="76"/>
                  </a:lnTo>
                  <a:lnTo>
                    <a:pt x="172" y="70"/>
                  </a:lnTo>
                  <a:close/>
                  <a:moveTo>
                    <a:pt x="264" y="137"/>
                  </a:moveTo>
                  <a:lnTo>
                    <a:pt x="290" y="137"/>
                  </a:lnTo>
                  <a:lnTo>
                    <a:pt x="290" y="125"/>
                  </a:lnTo>
                  <a:lnTo>
                    <a:pt x="264" y="125"/>
                  </a:lnTo>
                  <a:lnTo>
                    <a:pt x="264" y="137"/>
                  </a:lnTo>
                  <a:close/>
                  <a:moveTo>
                    <a:pt x="173" y="227"/>
                  </a:moveTo>
                  <a:lnTo>
                    <a:pt x="132" y="196"/>
                  </a:lnTo>
                  <a:cubicBezTo>
                    <a:pt x="129" y="194"/>
                    <a:pt x="125" y="195"/>
                    <a:pt x="123" y="198"/>
                  </a:cubicBezTo>
                  <a:cubicBezTo>
                    <a:pt x="122" y="201"/>
                    <a:pt x="122" y="206"/>
                    <a:pt x="126" y="208"/>
                  </a:cubicBezTo>
                  <a:lnTo>
                    <a:pt x="166" y="239"/>
                  </a:lnTo>
                  <a:cubicBezTo>
                    <a:pt x="169" y="241"/>
                    <a:pt x="173" y="240"/>
                    <a:pt x="175" y="237"/>
                  </a:cubicBezTo>
                  <a:cubicBezTo>
                    <a:pt x="177" y="234"/>
                    <a:pt x="176" y="229"/>
                    <a:pt x="173" y="227"/>
                  </a:cubicBezTo>
                  <a:close/>
                  <a:moveTo>
                    <a:pt x="131" y="383"/>
                  </a:moveTo>
                  <a:cubicBezTo>
                    <a:pt x="136" y="353"/>
                    <a:pt x="136" y="321"/>
                    <a:pt x="127" y="293"/>
                  </a:cubicBezTo>
                  <a:cubicBezTo>
                    <a:pt x="0" y="221"/>
                    <a:pt x="34" y="56"/>
                    <a:pt x="141" y="22"/>
                  </a:cubicBezTo>
                  <a:cubicBezTo>
                    <a:pt x="197" y="0"/>
                    <a:pt x="274" y="13"/>
                    <a:pt x="323" y="63"/>
                  </a:cubicBezTo>
                  <a:cubicBezTo>
                    <a:pt x="360" y="99"/>
                    <a:pt x="342" y="109"/>
                    <a:pt x="342" y="109"/>
                  </a:cubicBezTo>
                  <a:lnTo>
                    <a:pt x="334" y="113"/>
                  </a:lnTo>
                  <a:cubicBezTo>
                    <a:pt x="339" y="131"/>
                    <a:pt x="346" y="162"/>
                    <a:pt x="345" y="167"/>
                  </a:cubicBezTo>
                  <a:cubicBezTo>
                    <a:pt x="344" y="173"/>
                    <a:pt x="337" y="179"/>
                    <a:pt x="337" y="179"/>
                  </a:cubicBezTo>
                  <a:lnTo>
                    <a:pt x="356" y="240"/>
                  </a:lnTo>
                  <a:lnTo>
                    <a:pt x="339" y="246"/>
                  </a:lnTo>
                  <a:cubicBezTo>
                    <a:pt x="343" y="266"/>
                    <a:pt x="345" y="282"/>
                    <a:pt x="343" y="301"/>
                  </a:cubicBezTo>
                  <a:cubicBezTo>
                    <a:pt x="343" y="305"/>
                    <a:pt x="332" y="314"/>
                    <a:pt x="323" y="315"/>
                  </a:cubicBezTo>
                  <a:lnTo>
                    <a:pt x="269" y="318"/>
                  </a:lnTo>
                  <a:lnTo>
                    <a:pt x="272" y="383"/>
                  </a:lnTo>
                  <a:lnTo>
                    <a:pt x="131" y="3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075327" y="198604"/>
            <a:ext cx="473877" cy="484825"/>
            <a:chOff x="4553407" y="-1899592"/>
            <a:chExt cx="1054013" cy="1078364"/>
          </a:xfrm>
        </p:grpSpPr>
        <p:sp>
          <p:nvSpPr>
            <p:cNvPr id="25" name="Oval 8"/>
            <p:cNvSpPr>
              <a:spLocks noChangeArrowheads="1"/>
            </p:cNvSpPr>
            <p:nvPr/>
          </p:nvSpPr>
          <p:spPr bwMode="auto">
            <a:xfrm>
              <a:off x="4553407" y="-1899592"/>
              <a:ext cx="1054013" cy="107836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12"/>
            <p:cNvSpPr>
              <a:spLocks noEditPoints="1"/>
            </p:cNvSpPr>
            <p:nvPr/>
          </p:nvSpPr>
          <p:spPr bwMode="auto">
            <a:xfrm>
              <a:off x="4824737" y="-1683919"/>
              <a:ext cx="594839" cy="650497"/>
            </a:xfrm>
            <a:custGeom>
              <a:avLst/>
              <a:gdLst>
                <a:gd name="T0" fmla="*/ 108 w 360"/>
                <a:gd name="T1" fmla="*/ 59 h 384"/>
                <a:gd name="T2" fmla="*/ 236 w 360"/>
                <a:gd name="T3" fmla="*/ 43 h 384"/>
                <a:gd name="T4" fmla="*/ 190 w 360"/>
                <a:gd name="T5" fmla="*/ 26 h 384"/>
                <a:gd name="T6" fmla="*/ 138 w 360"/>
                <a:gd name="T7" fmla="*/ 26 h 384"/>
                <a:gd name="T8" fmla="*/ 92 w 360"/>
                <a:gd name="T9" fmla="*/ 43 h 384"/>
                <a:gd name="T10" fmla="*/ 296 w 360"/>
                <a:gd name="T11" fmla="*/ 332 h 384"/>
                <a:gd name="T12" fmla="*/ 301 w 360"/>
                <a:gd name="T13" fmla="*/ 321 h 384"/>
                <a:gd name="T14" fmla="*/ 280 w 360"/>
                <a:gd name="T15" fmla="*/ 249 h 384"/>
                <a:gd name="T16" fmla="*/ 267 w 360"/>
                <a:gd name="T17" fmla="*/ 249 h 384"/>
                <a:gd name="T18" fmla="*/ 267 w 360"/>
                <a:gd name="T19" fmla="*/ 304 h 384"/>
                <a:gd name="T20" fmla="*/ 268 w 360"/>
                <a:gd name="T21" fmla="*/ 306 h 384"/>
                <a:gd name="T22" fmla="*/ 268 w 360"/>
                <a:gd name="T23" fmla="*/ 307 h 384"/>
                <a:gd name="T24" fmla="*/ 269 w 360"/>
                <a:gd name="T25" fmla="*/ 308 h 384"/>
                <a:gd name="T26" fmla="*/ 343 w 360"/>
                <a:gd name="T27" fmla="*/ 253 h 384"/>
                <a:gd name="T28" fmla="*/ 274 w 360"/>
                <a:gd name="T29" fmla="*/ 217 h 384"/>
                <a:gd name="T30" fmla="*/ 258 w 360"/>
                <a:gd name="T31" fmla="*/ 382 h 384"/>
                <a:gd name="T32" fmla="*/ 356 w 360"/>
                <a:gd name="T33" fmla="*/ 316 h 384"/>
                <a:gd name="T34" fmla="*/ 343 w 360"/>
                <a:gd name="T35" fmla="*/ 313 h 384"/>
                <a:gd name="T36" fmla="*/ 274 w 360"/>
                <a:gd name="T37" fmla="*/ 371 h 384"/>
                <a:gd name="T38" fmla="*/ 205 w 360"/>
                <a:gd name="T39" fmla="*/ 287 h 384"/>
                <a:gd name="T40" fmla="*/ 287 w 360"/>
                <a:gd name="T41" fmla="*/ 231 h 384"/>
                <a:gd name="T42" fmla="*/ 343 w 360"/>
                <a:gd name="T43" fmla="*/ 313 h 384"/>
                <a:gd name="T44" fmla="*/ 121 w 360"/>
                <a:gd name="T45" fmla="*/ 313 h 384"/>
                <a:gd name="T46" fmla="*/ 206 w 360"/>
                <a:gd name="T47" fmla="*/ 228 h 384"/>
                <a:gd name="T48" fmla="*/ 224 w 360"/>
                <a:gd name="T49" fmla="*/ 215 h 384"/>
                <a:gd name="T50" fmla="*/ 311 w 360"/>
                <a:gd name="T51" fmla="*/ 130 h 384"/>
                <a:gd name="T52" fmla="*/ 314 w 360"/>
                <a:gd name="T53" fmla="*/ 210 h 384"/>
                <a:gd name="T54" fmla="*/ 328 w 360"/>
                <a:gd name="T55" fmla="*/ 215 h 384"/>
                <a:gd name="T56" fmla="*/ 328 w 360"/>
                <a:gd name="T57" fmla="*/ 88 h 384"/>
                <a:gd name="T58" fmla="*/ 17 w 360"/>
                <a:gd name="T59" fmla="*/ 71 h 384"/>
                <a:gd name="T60" fmla="*/ 0 w 360"/>
                <a:gd name="T61" fmla="*/ 134 h 384"/>
                <a:gd name="T62" fmla="*/ 0 w 360"/>
                <a:gd name="T63" fmla="*/ 228 h 384"/>
                <a:gd name="T64" fmla="*/ 0 w 360"/>
                <a:gd name="T65" fmla="*/ 319 h 384"/>
                <a:gd name="T66" fmla="*/ 181 w 360"/>
                <a:gd name="T67" fmla="*/ 336 h 384"/>
                <a:gd name="T68" fmla="*/ 14 w 360"/>
                <a:gd name="T69" fmla="*/ 134 h 384"/>
                <a:gd name="T70" fmla="*/ 17 w 360"/>
                <a:gd name="T71" fmla="*/ 130 h 384"/>
                <a:gd name="T72" fmla="*/ 107 w 360"/>
                <a:gd name="T73" fmla="*/ 215 h 384"/>
                <a:gd name="T74" fmla="*/ 14 w 360"/>
                <a:gd name="T75" fmla="*/ 134 h 384"/>
                <a:gd name="T76" fmla="*/ 107 w 360"/>
                <a:gd name="T77" fmla="*/ 228 h 384"/>
                <a:gd name="T78" fmla="*/ 17 w 360"/>
                <a:gd name="T79" fmla="*/ 313 h 384"/>
                <a:gd name="T80" fmla="*/ 14 w 360"/>
                <a:gd name="T81" fmla="*/ 228 h 384"/>
                <a:gd name="T82" fmla="*/ 121 w 360"/>
                <a:gd name="T83" fmla="*/ 215 h 384"/>
                <a:gd name="T84" fmla="*/ 121 w 360"/>
                <a:gd name="T85" fmla="*/ 130 h 384"/>
                <a:gd name="T86" fmla="*/ 210 w 360"/>
                <a:gd name="T87" fmla="*/ 215 h 384"/>
                <a:gd name="T88" fmla="*/ 217 w 360"/>
                <a:gd name="T89" fmla="*/ 88 h 384"/>
                <a:gd name="T90" fmla="*/ 229 w 360"/>
                <a:gd name="T91" fmla="*/ 100 h 384"/>
                <a:gd name="T92" fmla="*/ 205 w 360"/>
                <a:gd name="T93" fmla="*/ 100 h 384"/>
                <a:gd name="T94" fmla="*/ 114 w 360"/>
                <a:gd name="T95" fmla="*/ 88 h 384"/>
                <a:gd name="T96" fmla="*/ 126 w 360"/>
                <a:gd name="T97" fmla="*/ 100 h 384"/>
                <a:gd name="T98" fmla="*/ 103 w 360"/>
                <a:gd name="T99" fmla="*/ 10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0" h="384">
                  <a:moveTo>
                    <a:pt x="92" y="43"/>
                  </a:moveTo>
                  <a:cubicBezTo>
                    <a:pt x="92" y="52"/>
                    <a:pt x="100" y="59"/>
                    <a:pt x="108" y="59"/>
                  </a:cubicBezTo>
                  <a:lnTo>
                    <a:pt x="220" y="59"/>
                  </a:lnTo>
                  <a:cubicBezTo>
                    <a:pt x="229" y="59"/>
                    <a:pt x="236" y="52"/>
                    <a:pt x="236" y="43"/>
                  </a:cubicBezTo>
                  <a:cubicBezTo>
                    <a:pt x="236" y="34"/>
                    <a:pt x="229" y="26"/>
                    <a:pt x="220" y="26"/>
                  </a:cubicBezTo>
                  <a:lnTo>
                    <a:pt x="190" y="26"/>
                  </a:lnTo>
                  <a:cubicBezTo>
                    <a:pt x="190" y="12"/>
                    <a:pt x="179" y="0"/>
                    <a:pt x="164" y="0"/>
                  </a:cubicBezTo>
                  <a:cubicBezTo>
                    <a:pt x="150" y="0"/>
                    <a:pt x="138" y="12"/>
                    <a:pt x="138" y="26"/>
                  </a:cubicBezTo>
                  <a:lnTo>
                    <a:pt x="108" y="26"/>
                  </a:lnTo>
                  <a:cubicBezTo>
                    <a:pt x="100" y="26"/>
                    <a:pt x="92" y="34"/>
                    <a:pt x="92" y="43"/>
                  </a:cubicBezTo>
                  <a:close/>
                  <a:moveTo>
                    <a:pt x="292" y="330"/>
                  </a:moveTo>
                  <a:cubicBezTo>
                    <a:pt x="293" y="332"/>
                    <a:pt x="295" y="332"/>
                    <a:pt x="296" y="332"/>
                  </a:cubicBezTo>
                  <a:cubicBezTo>
                    <a:pt x="298" y="332"/>
                    <a:pt x="300" y="332"/>
                    <a:pt x="301" y="330"/>
                  </a:cubicBezTo>
                  <a:cubicBezTo>
                    <a:pt x="304" y="328"/>
                    <a:pt x="304" y="323"/>
                    <a:pt x="301" y="321"/>
                  </a:cubicBezTo>
                  <a:lnTo>
                    <a:pt x="280" y="300"/>
                  </a:lnTo>
                  <a:lnTo>
                    <a:pt x="280" y="249"/>
                  </a:lnTo>
                  <a:cubicBezTo>
                    <a:pt x="280" y="245"/>
                    <a:pt x="278" y="242"/>
                    <a:pt x="274" y="242"/>
                  </a:cubicBezTo>
                  <a:cubicBezTo>
                    <a:pt x="270" y="242"/>
                    <a:pt x="267" y="245"/>
                    <a:pt x="267" y="249"/>
                  </a:cubicBezTo>
                  <a:lnTo>
                    <a:pt x="267" y="303"/>
                  </a:lnTo>
                  <a:cubicBezTo>
                    <a:pt x="267" y="303"/>
                    <a:pt x="267" y="304"/>
                    <a:pt x="267" y="304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8" y="305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7"/>
                    <a:pt x="268" y="307"/>
                  </a:cubicBezTo>
                  <a:cubicBezTo>
                    <a:pt x="268" y="307"/>
                    <a:pt x="269" y="307"/>
                    <a:pt x="269" y="308"/>
                  </a:cubicBezTo>
                  <a:cubicBezTo>
                    <a:pt x="269" y="308"/>
                    <a:pt x="269" y="308"/>
                    <a:pt x="269" y="308"/>
                  </a:cubicBezTo>
                  <a:lnTo>
                    <a:pt x="292" y="330"/>
                  </a:lnTo>
                  <a:close/>
                  <a:moveTo>
                    <a:pt x="343" y="253"/>
                  </a:moveTo>
                  <a:cubicBezTo>
                    <a:pt x="330" y="235"/>
                    <a:pt x="311" y="222"/>
                    <a:pt x="289" y="218"/>
                  </a:cubicBezTo>
                  <a:cubicBezTo>
                    <a:pt x="284" y="217"/>
                    <a:pt x="279" y="217"/>
                    <a:pt x="274" y="217"/>
                  </a:cubicBezTo>
                  <a:cubicBezTo>
                    <a:pt x="234" y="217"/>
                    <a:pt x="199" y="245"/>
                    <a:pt x="192" y="285"/>
                  </a:cubicBezTo>
                  <a:cubicBezTo>
                    <a:pt x="183" y="330"/>
                    <a:pt x="213" y="373"/>
                    <a:pt x="258" y="382"/>
                  </a:cubicBezTo>
                  <a:cubicBezTo>
                    <a:pt x="263" y="383"/>
                    <a:pt x="269" y="384"/>
                    <a:pt x="274" y="384"/>
                  </a:cubicBezTo>
                  <a:cubicBezTo>
                    <a:pt x="314" y="384"/>
                    <a:pt x="348" y="355"/>
                    <a:pt x="356" y="316"/>
                  </a:cubicBezTo>
                  <a:cubicBezTo>
                    <a:pt x="360" y="294"/>
                    <a:pt x="355" y="272"/>
                    <a:pt x="343" y="253"/>
                  </a:cubicBezTo>
                  <a:close/>
                  <a:moveTo>
                    <a:pt x="343" y="313"/>
                  </a:moveTo>
                  <a:lnTo>
                    <a:pt x="343" y="313"/>
                  </a:lnTo>
                  <a:cubicBezTo>
                    <a:pt x="337" y="347"/>
                    <a:pt x="308" y="371"/>
                    <a:pt x="274" y="371"/>
                  </a:cubicBezTo>
                  <a:cubicBezTo>
                    <a:pt x="269" y="371"/>
                    <a:pt x="265" y="370"/>
                    <a:pt x="261" y="369"/>
                  </a:cubicBezTo>
                  <a:cubicBezTo>
                    <a:pt x="222" y="362"/>
                    <a:pt x="197" y="325"/>
                    <a:pt x="205" y="287"/>
                  </a:cubicBezTo>
                  <a:cubicBezTo>
                    <a:pt x="211" y="254"/>
                    <a:pt x="240" y="230"/>
                    <a:pt x="274" y="230"/>
                  </a:cubicBezTo>
                  <a:cubicBezTo>
                    <a:pt x="278" y="230"/>
                    <a:pt x="283" y="230"/>
                    <a:pt x="287" y="231"/>
                  </a:cubicBezTo>
                  <a:cubicBezTo>
                    <a:pt x="306" y="234"/>
                    <a:pt x="322" y="245"/>
                    <a:pt x="332" y="261"/>
                  </a:cubicBezTo>
                  <a:cubicBezTo>
                    <a:pt x="343" y="276"/>
                    <a:pt x="347" y="295"/>
                    <a:pt x="343" y="313"/>
                  </a:cubicBezTo>
                  <a:close/>
                  <a:moveTo>
                    <a:pt x="176" y="313"/>
                  </a:moveTo>
                  <a:lnTo>
                    <a:pt x="121" y="313"/>
                  </a:lnTo>
                  <a:lnTo>
                    <a:pt x="121" y="228"/>
                  </a:lnTo>
                  <a:lnTo>
                    <a:pt x="206" y="228"/>
                  </a:lnTo>
                  <a:cubicBezTo>
                    <a:pt x="211" y="223"/>
                    <a:pt x="217" y="218"/>
                    <a:pt x="224" y="215"/>
                  </a:cubicBezTo>
                  <a:lnTo>
                    <a:pt x="224" y="215"/>
                  </a:lnTo>
                  <a:lnTo>
                    <a:pt x="224" y="130"/>
                  </a:lnTo>
                  <a:lnTo>
                    <a:pt x="311" y="130"/>
                  </a:lnTo>
                  <a:cubicBezTo>
                    <a:pt x="313" y="130"/>
                    <a:pt x="314" y="132"/>
                    <a:pt x="314" y="134"/>
                  </a:cubicBezTo>
                  <a:lnTo>
                    <a:pt x="314" y="210"/>
                  </a:lnTo>
                  <a:cubicBezTo>
                    <a:pt x="319" y="212"/>
                    <a:pt x="324" y="215"/>
                    <a:pt x="328" y="217"/>
                  </a:cubicBezTo>
                  <a:lnTo>
                    <a:pt x="328" y="215"/>
                  </a:lnTo>
                  <a:lnTo>
                    <a:pt x="328" y="134"/>
                  </a:lnTo>
                  <a:lnTo>
                    <a:pt x="328" y="88"/>
                  </a:lnTo>
                  <a:cubicBezTo>
                    <a:pt x="328" y="79"/>
                    <a:pt x="320" y="71"/>
                    <a:pt x="311" y="71"/>
                  </a:cubicBezTo>
                  <a:lnTo>
                    <a:pt x="17" y="71"/>
                  </a:lnTo>
                  <a:cubicBezTo>
                    <a:pt x="8" y="71"/>
                    <a:pt x="0" y="79"/>
                    <a:pt x="0" y="88"/>
                  </a:cubicBezTo>
                  <a:lnTo>
                    <a:pt x="0" y="134"/>
                  </a:lnTo>
                  <a:lnTo>
                    <a:pt x="0" y="215"/>
                  </a:lnTo>
                  <a:lnTo>
                    <a:pt x="0" y="228"/>
                  </a:lnTo>
                  <a:lnTo>
                    <a:pt x="0" y="309"/>
                  </a:lnTo>
                  <a:lnTo>
                    <a:pt x="0" y="319"/>
                  </a:lnTo>
                  <a:cubicBezTo>
                    <a:pt x="0" y="329"/>
                    <a:pt x="8" y="336"/>
                    <a:pt x="17" y="336"/>
                  </a:cubicBezTo>
                  <a:lnTo>
                    <a:pt x="181" y="336"/>
                  </a:lnTo>
                  <a:cubicBezTo>
                    <a:pt x="179" y="329"/>
                    <a:pt x="177" y="321"/>
                    <a:pt x="176" y="313"/>
                  </a:cubicBezTo>
                  <a:close/>
                  <a:moveTo>
                    <a:pt x="14" y="134"/>
                  </a:moveTo>
                  <a:lnTo>
                    <a:pt x="14" y="134"/>
                  </a:lnTo>
                  <a:cubicBezTo>
                    <a:pt x="14" y="132"/>
                    <a:pt x="15" y="130"/>
                    <a:pt x="17" y="130"/>
                  </a:cubicBezTo>
                  <a:lnTo>
                    <a:pt x="107" y="130"/>
                  </a:lnTo>
                  <a:lnTo>
                    <a:pt x="107" y="215"/>
                  </a:lnTo>
                  <a:lnTo>
                    <a:pt x="14" y="215"/>
                  </a:lnTo>
                  <a:lnTo>
                    <a:pt x="14" y="134"/>
                  </a:lnTo>
                  <a:close/>
                  <a:moveTo>
                    <a:pt x="107" y="228"/>
                  </a:moveTo>
                  <a:lnTo>
                    <a:pt x="107" y="228"/>
                  </a:lnTo>
                  <a:lnTo>
                    <a:pt x="107" y="313"/>
                  </a:lnTo>
                  <a:lnTo>
                    <a:pt x="17" y="313"/>
                  </a:lnTo>
                  <a:cubicBezTo>
                    <a:pt x="15" y="313"/>
                    <a:pt x="14" y="311"/>
                    <a:pt x="14" y="309"/>
                  </a:cubicBezTo>
                  <a:lnTo>
                    <a:pt x="14" y="228"/>
                  </a:lnTo>
                  <a:lnTo>
                    <a:pt x="107" y="228"/>
                  </a:lnTo>
                  <a:close/>
                  <a:moveTo>
                    <a:pt x="121" y="215"/>
                  </a:moveTo>
                  <a:lnTo>
                    <a:pt x="121" y="215"/>
                  </a:lnTo>
                  <a:lnTo>
                    <a:pt x="121" y="130"/>
                  </a:lnTo>
                  <a:lnTo>
                    <a:pt x="210" y="130"/>
                  </a:lnTo>
                  <a:lnTo>
                    <a:pt x="210" y="215"/>
                  </a:lnTo>
                  <a:lnTo>
                    <a:pt x="121" y="215"/>
                  </a:lnTo>
                  <a:close/>
                  <a:moveTo>
                    <a:pt x="217" y="88"/>
                  </a:moveTo>
                  <a:lnTo>
                    <a:pt x="217" y="88"/>
                  </a:lnTo>
                  <a:cubicBezTo>
                    <a:pt x="223" y="88"/>
                    <a:pt x="229" y="94"/>
                    <a:pt x="229" y="100"/>
                  </a:cubicBezTo>
                  <a:cubicBezTo>
                    <a:pt x="229" y="106"/>
                    <a:pt x="223" y="111"/>
                    <a:pt x="217" y="111"/>
                  </a:cubicBezTo>
                  <a:cubicBezTo>
                    <a:pt x="211" y="111"/>
                    <a:pt x="205" y="106"/>
                    <a:pt x="205" y="100"/>
                  </a:cubicBezTo>
                  <a:cubicBezTo>
                    <a:pt x="205" y="94"/>
                    <a:pt x="211" y="88"/>
                    <a:pt x="217" y="88"/>
                  </a:cubicBezTo>
                  <a:close/>
                  <a:moveTo>
                    <a:pt x="114" y="88"/>
                  </a:moveTo>
                  <a:lnTo>
                    <a:pt x="114" y="88"/>
                  </a:lnTo>
                  <a:cubicBezTo>
                    <a:pt x="120" y="88"/>
                    <a:pt x="126" y="94"/>
                    <a:pt x="126" y="100"/>
                  </a:cubicBezTo>
                  <a:cubicBezTo>
                    <a:pt x="126" y="106"/>
                    <a:pt x="120" y="111"/>
                    <a:pt x="114" y="111"/>
                  </a:cubicBezTo>
                  <a:cubicBezTo>
                    <a:pt x="108" y="111"/>
                    <a:pt x="103" y="106"/>
                    <a:pt x="103" y="100"/>
                  </a:cubicBezTo>
                  <a:cubicBezTo>
                    <a:pt x="103" y="94"/>
                    <a:pt x="108" y="88"/>
                    <a:pt x="114" y="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0" y="1109114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1266714" y="1109114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2531856" y="1109114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3798567" y="1109114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 bwMode="auto">
          <a:xfrm>
            <a:off x="3482312" y="2652144"/>
            <a:ext cx="5478163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dist"/>
            <a:r>
              <a:rPr lang="en-US" altLang="zh-CN" sz="7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r>
              <a:rPr lang="zh-CN" altLang="en-US" sz="7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</a:p>
        </p:txBody>
      </p:sp>
    </p:spTree>
    <p:extLst>
      <p:ext uri="{BB962C8B-B14F-4D97-AF65-F5344CB8AC3E}">
        <p14:creationId xmlns:p14="http://schemas.microsoft.com/office/powerpoint/2010/main" val="3546422696"/>
      </p:ext>
    </p:extLst>
  </p:cSld>
  <p:clrMapOvr>
    <a:masterClrMapping/>
  </p:clrMapOvr>
  <p:transition spd="slow" advTm="0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896645" y="1605491"/>
            <a:ext cx="10315852" cy="368458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0089D2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60734" y="1605491"/>
            <a:ext cx="10315852" cy="3684587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TextBox 18"/>
          <p:cNvSpPr>
            <a:spLocks noChangeArrowheads="1"/>
          </p:cNvSpPr>
          <p:nvPr/>
        </p:nvSpPr>
        <p:spPr bwMode="auto">
          <a:xfrm>
            <a:off x="830911" y="642483"/>
            <a:ext cx="1066902" cy="615523"/>
          </a:xfrm>
          <a:prstGeom prst="rect">
            <a:avLst/>
          </a:prstGeom>
          <a:noFill/>
          <a:ln w="9525">
            <a:noFill/>
            <a:bevel/>
            <a:headEnd/>
            <a:tailEnd/>
          </a:ln>
        </p:spPr>
        <p:txBody>
          <a:bodyPr wrap="none" lIns="121892" tIns="60945" rIns="121892" bIns="60945">
            <a:spAutoFit/>
          </a:bodyPr>
          <a:lstStyle/>
          <a:p>
            <a:pPr defTabSz="1218804">
              <a:defRPr/>
            </a:pPr>
            <a:r>
              <a:rPr lang="zh-CN" altLang="en-US" sz="3200" b="1" dirty="0">
                <a:solidFill>
                  <a:srgbClr val="04B0B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起源</a:t>
            </a:r>
            <a:endParaRPr lang="zh-CN" altLang="en-US" sz="1200" b="1" kern="0" dirty="0">
              <a:solidFill>
                <a:srgbClr val="04B0B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5"/>
          <p:cNvSpPr>
            <a:spLocks noChangeArrowheads="1"/>
          </p:cNvSpPr>
          <p:nvPr/>
        </p:nvSpPr>
        <p:spPr bwMode="auto">
          <a:xfrm>
            <a:off x="830911" y="1580091"/>
            <a:ext cx="10381586" cy="3684587"/>
          </a:xfrm>
          <a:prstGeom prst="rect">
            <a:avLst/>
          </a:prstGeom>
          <a:noFill/>
          <a:ln w="19050">
            <a:solidFill>
              <a:srgbClr val="0089D2"/>
            </a:solidFill>
            <a:bevel/>
            <a:headEnd/>
            <a:tailEnd/>
          </a:ln>
        </p:spPr>
        <p:txBody>
          <a:bodyPr lIns="91424" tIns="45713" rIns="91424" bIns="45713" anchor="ctr"/>
          <a:lstStyle/>
          <a:p>
            <a:pPr algn="ctr"/>
            <a:endParaRPr lang="zh-CN" altLang="zh-CN" sz="24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 rot="854817">
            <a:off x="8974774" y="5014449"/>
            <a:ext cx="1658468" cy="1050719"/>
          </a:xfrm>
          <a:prstGeom prst="rect">
            <a:avLst/>
          </a:prstGeom>
          <a:solidFill>
            <a:srgbClr val="FFFFFF">
              <a:shade val="85000"/>
            </a:srgbClr>
          </a:solidFill>
          <a:ln w="1143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/>
        </p:spPr>
      </p:pic>
      <p:pic>
        <p:nvPicPr>
          <p:cNvPr id="23" name="Picture 172"/>
          <p:cNvPicPr>
            <a:picLocks noChangeAspect="1" noChangeArrowheads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29707" y="127871"/>
            <a:ext cx="2206912" cy="919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矩形 23"/>
          <p:cNvSpPr/>
          <p:nvPr/>
        </p:nvSpPr>
        <p:spPr>
          <a:xfrm>
            <a:off x="0" y="6748043"/>
            <a:ext cx="12192000" cy="134292"/>
          </a:xfrm>
          <a:prstGeom prst="rect">
            <a:avLst/>
          </a:prstGeom>
          <a:solidFill>
            <a:srgbClr val="04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3425202" y="790575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延迟符</a:t>
            </a:r>
          </a:p>
        </p:txBody>
      </p:sp>
      <p:sp>
        <p:nvSpPr>
          <p:cNvPr id="2" name="矩形 1"/>
          <p:cNvSpPr/>
          <p:nvPr/>
        </p:nvSpPr>
        <p:spPr>
          <a:xfrm>
            <a:off x="896645" y="1653918"/>
            <a:ext cx="1027994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1988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年，美国加州大学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Berkeley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分校的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David Patterson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Garth Gibson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Randy Katz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三人发表了一篇题为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《A Case of 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edundant </a:t>
            </a:r>
            <a:r>
              <a:rPr lang="en-US" altLang="zh-CN" sz="2800" b="1" dirty="0">
                <a:solidFill>
                  <a:srgbClr val="01C0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rray of 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nexpensive 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isks》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（廉价磁盘冗余阵列方案）的论文，首次提出了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的一词。 </a:t>
            </a:r>
          </a:p>
        </p:txBody>
      </p:sp>
    </p:spTree>
    <p:extLst>
      <p:ext uri="{BB962C8B-B14F-4D97-AF65-F5344CB8AC3E}">
        <p14:creationId xmlns:p14="http://schemas.microsoft.com/office/powerpoint/2010/main" val="4249114450"/>
      </p:ext>
    </p:extLst>
  </p:cSld>
  <p:clrMapOvr>
    <a:masterClrMapping/>
  </p:clrMapOvr>
  <p:transition spd="slow" advTm="0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/>
          <p:cNvSpPr>
            <a:spLocks/>
          </p:cNvSpPr>
          <p:nvPr/>
        </p:nvSpPr>
        <p:spPr bwMode="auto">
          <a:xfrm>
            <a:off x="1009568" y="1331679"/>
            <a:ext cx="304681" cy="4308380"/>
          </a:xfrm>
          <a:custGeom>
            <a:avLst/>
            <a:gdLst>
              <a:gd name="T0" fmla="*/ 175 w 351"/>
              <a:gd name="T1" fmla="*/ 0 h 4948"/>
              <a:gd name="T2" fmla="*/ 175 w 351"/>
              <a:gd name="T3" fmla="*/ 0 h 4948"/>
              <a:gd name="T4" fmla="*/ 351 w 351"/>
              <a:gd name="T5" fmla="*/ 176 h 4948"/>
              <a:gd name="T6" fmla="*/ 351 w 351"/>
              <a:gd name="T7" fmla="*/ 4772 h 4948"/>
              <a:gd name="T8" fmla="*/ 175 w 351"/>
              <a:gd name="T9" fmla="*/ 4948 h 4948"/>
              <a:gd name="T10" fmla="*/ 175 w 351"/>
              <a:gd name="T11" fmla="*/ 4948 h 4948"/>
              <a:gd name="T12" fmla="*/ 0 w 351"/>
              <a:gd name="T13" fmla="*/ 4772 h 4948"/>
              <a:gd name="T14" fmla="*/ 0 w 351"/>
              <a:gd name="T15" fmla="*/ 176 h 4948"/>
              <a:gd name="T16" fmla="*/ 175 w 351"/>
              <a:gd name="T17" fmla="*/ 0 h 4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4948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79"/>
                  <a:pt x="351" y="176"/>
                </a:cubicBezTo>
                <a:lnTo>
                  <a:pt x="351" y="4772"/>
                </a:lnTo>
                <a:cubicBezTo>
                  <a:pt x="351" y="4869"/>
                  <a:pt x="272" y="4948"/>
                  <a:pt x="175" y="4948"/>
                </a:cubicBezTo>
                <a:lnTo>
                  <a:pt x="175" y="4948"/>
                </a:lnTo>
                <a:cubicBezTo>
                  <a:pt x="79" y="4948"/>
                  <a:pt x="0" y="4869"/>
                  <a:pt x="0" y="4772"/>
                </a:cubicBezTo>
                <a:lnTo>
                  <a:pt x="0" y="176"/>
                </a:lnTo>
                <a:cubicBezTo>
                  <a:pt x="0" y="79"/>
                  <a:pt x="79" y="0"/>
                  <a:pt x="175" y="0"/>
                </a:cubicBezTo>
                <a:close/>
              </a:path>
            </a:pathLst>
          </a:custGeom>
          <a:solidFill>
            <a:srgbClr val="C1C0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9" name="Freeform 6"/>
          <p:cNvSpPr>
            <a:spLocks/>
          </p:cNvSpPr>
          <p:nvPr/>
        </p:nvSpPr>
        <p:spPr bwMode="auto">
          <a:xfrm>
            <a:off x="1009568" y="1810918"/>
            <a:ext cx="304681" cy="3829143"/>
          </a:xfrm>
          <a:custGeom>
            <a:avLst/>
            <a:gdLst>
              <a:gd name="T0" fmla="*/ 175 w 351"/>
              <a:gd name="T1" fmla="*/ 0 h 4397"/>
              <a:gd name="T2" fmla="*/ 175 w 351"/>
              <a:gd name="T3" fmla="*/ 0 h 4397"/>
              <a:gd name="T4" fmla="*/ 351 w 351"/>
              <a:gd name="T5" fmla="*/ 143 h 4397"/>
              <a:gd name="T6" fmla="*/ 351 w 351"/>
              <a:gd name="T7" fmla="*/ 4254 h 4397"/>
              <a:gd name="T8" fmla="*/ 175 w 351"/>
              <a:gd name="T9" fmla="*/ 4397 h 4397"/>
              <a:gd name="T10" fmla="*/ 175 w 351"/>
              <a:gd name="T11" fmla="*/ 4397 h 4397"/>
              <a:gd name="T12" fmla="*/ 0 w 351"/>
              <a:gd name="T13" fmla="*/ 4254 h 4397"/>
              <a:gd name="T14" fmla="*/ 0 w 351"/>
              <a:gd name="T15" fmla="*/ 143 h 4397"/>
              <a:gd name="T16" fmla="*/ 175 w 351"/>
              <a:gd name="T17" fmla="*/ 0 h 43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4397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64"/>
                  <a:pt x="351" y="143"/>
                </a:cubicBezTo>
                <a:lnTo>
                  <a:pt x="351" y="4254"/>
                </a:lnTo>
                <a:cubicBezTo>
                  <a:pt x="351" y="4332"/>
                  <a:pt x="272" y="4397"/>
                  <a:pt x="175" y="4397"/>
                </a:cubicBezTo>
                <a:lnTo>
                  <a:pt x="175" y="4397"/>
                </a:lnTo>
                <a:cubicBezTo>
                  <a:pt x="79" y="4397"/>
                  <a:pt x="0" y="4332"/>
                  <a:pt x="0" y="4254"/>
                </a:cubicBezTo>
                <a:lnTo>
                  <a:pt x="0" y="143"/>
                </a:lnTo>
                <a:cubicBezTo>
                  <a:pt x="0" y="64"/>
                  <a:pt x="79" y="0"/>
                  <a:pt x="175" y="0"/>
                </a:cubicBezTo>
                <a:close/>
              </a:path>
            </a:pathLst>
          </a:custGeom>
          <a:solidFill>
            <a:srgbClr val="00A3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0" name="Oval 7"/>
          <p:cNvSpPr>
            <a:spLocks noChangeArrowheads="1"/>
          </p:cNvSpPr>
          <p:nvPr/>
        </p:nvSpPr>
        <p:spPr bwMode="auto">
          <a:xfrm>
            <a:off x="879444" y="5271902"/>
            <a:ext cx="585559" cy="585559"/>
          </a:xfrm>
          <a:prstGeom prst="ellipse">
            <a:avLst/>
          </a:prstGeom>
          <a:solidFill>
            <a:srgbClr val="00A3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1" name="Freeform 8"/>
          <p:cNvSpPr>
            <a:spLocks/>
          </p:cNvSpPr>
          <p:nvPr/>
        </p:nvSpPr>
        <p:spPr bwMode="auto">
          <a:xfrm>
            <a:off x="2184032" y="1331679"/>
            <a:ext cx="306268" cy="4308380"/>
          </a:xfrm>
          <a:custGeom>
            <a:avLst/>
            <a:gdLst>
              <a:gd name="T0" fmla="*/ 175 w 351"/>
              <a:gd name="T1" fmla="*/ 0 h 4948"/>
              <a:gd name="T2" fmla="*/ 175 w 351"/>
              <a:gd name="T3" fmla="*/ 0 h 4948"/>
              <a:gd name="T4" fmla="*/ 351 w 351"/>
              <a:gd name="T5" fmla="*/ 176 h 4948"/>
              <a:gd name="T6" fmla="*/ 351 w 351"/>
              <a:gd name="T7" fmla="*/ 4772 h 4948"/>
              <a:gd name="T8" fmla="*/ 175 w 351"/>
              <a:gd name="T9" fmla="*/ 4948 h 4948"/>
              <a:gd name="T10" fmla="*/ 175 w 351"/>
              <a:gd name="T11" fmla="*/ 4948 h 4948"/>
              <a:gd name="T12" fmla="*/ 0 w 351"/>
              <a:gd name="T13" fmla="*/ 4772 h 4948"/>
              <a:gd name="T14" fmla="*/ 0 w 351"/>
              <a:gd name="T15" fmla="*/ 176 h 4948"/>
              <a:gd name="T16" fmla="*/ 175 w 351"/>
              <a:gd name="T17" fmla="*/ 0 h 4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4948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79"/>
                  <a:pt x="351" y="176"/>
                </a:cubicBezTo>
                <a:lnTo>
                  <a:pt x="351" y="4772"/>
                </a:lnTo>
                <a:cubicBezTo>
                  <a:pt x="351" y="4869"/>
                  <a:pt x="272" y="4948"/>
                  <a:pt x="175" y="4948"/>
                </a:cubicBezTo>
                <a:lnTo>
                  <a:pt x="175" y="4948"/>
                </a:lnTo>
                <a:cubicBezTo>
                  <a:pt x="79" y="4948"/>
                  <a:pt x="0" y="4869"/>
                  <a:pt x="0" y="4772"/>
                </a:cubicBezTo>
                <a:lnTo>
                  <a:pt x="0" y="176"/>
                </a:lnTo>
                <a:cubicBezTo>
                  <a:pt x="0" y="79"/>
                  <a:pt x="79" y="0"/>
                  <a:pt x="175" y="0"/>
                </a:cubicBezTo>
                <a:close/>
              </a:path>
            </a:pathLst>
          </a:custGeom>
          <a:solidFill>
            <a:srgbClr val="C1C0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2" name="Freeform 9"/>
          <p:cNvSpPr>
            <a:spLocks/>
          </p:cNvSpPr>
          <p:nvPr/>
        </p:nvSpPr>
        <p:spPr bwMode="auto">
          <a:xfrm>
            <a:off x="2184032" y="2307612"/>
            <a:ext cx="306268" cy="3332449"/>
          </a:xfrm>
          <a:custGeom>
            <a:avLst/>
            <a:gdLst>
              <a:gd name="T0" fmla="*/ 175 w 351"/>
              <a:gd name="T1" fmla="*/ 0 h 3828"/>
              <a:gd name="T2" fmla="*/ 175 w 351"/>
              <a:gd name="T3" fmla="*/ 0 h 3828"/>
              <a:gd name="T4" fmla="*/ 351 w 351"/>
              <a:gd name="T5" fmla="*/ 124 h 3828"/>
              <a:gd name="T6" fmla="*/ 351 w 351"/>
              <a:gd name="T7" fmla="*/ 3703 h 3828"/>
              <a:gd name="T8" fmla="*/ 175 w 351"/>
              <a:gd name="T9" fmla="*/ 3828 h 3828"/>
              <a:gd name="T10" fmla="*/ 175 w 351"/>
              <a:gd name="T11" fmla="*/ 3828 h 3828"/>
              <a:gd name="T12" fmla="*/ 0 w 351"/>
              <a:gd name="T13" fmla="*/ 3703 h 3828"/>
              <a:gd name="T14" fmla="*/ 0 w 351"/>
              <a:gd name="T15" fmla="*/ 124 h 3828"/>
              <a:gd name="T16" fmla="*/ 175 w 351"/>
              <a:gd name="T17" fmla="*/ 0 h 38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3828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56"/>
                  <a:pt x="351" y="124"/>
                </a:cubicBezTo>
                <a:lnTo>
                  <a:pt x="351" y="3703"/>
                </a:lnTo>
                <a:cubicBezTo>
                  <a:pt x="351" y="3772"/>
                  <a:pt x="272" y="3828"/>
                  <a:pt x="175" y="3828"/>
                </a:cubicBezTo>
                <a:lnTo>
                  <a:pt x="175" y="3828"/>
                </a:lnTo>
                <a:cubicBezTo>
                  <a:pt x="79" y="3828"/>
                  <a:pt x="0" y="3772"/>
                  <a:pt x="0" y="3703"/>
                </a:cubicBezTo>
                <a:lnTo>
                  <a:pt x="0" y="124"/>
                </a:lnTo>
                <a:cubicBezTo>
                  <a:pt x="0" y="56"/>
                  <a:pt x="79" y="0"/>
                  <a:pt x="175" y="0"/>
                </a:cubicBezTo>
                <a:close/>
              </a:path>
            </a:pathLst>
          </a:custGeom>
          <a:solidFill>
            <a:srgbClr val="93CA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3" name="Oval 10"/>
          <p:cNvSpPr>
            <a:spLocks noChangeArrowheads="1"/>
          </p:cNvSpPr>
          <p:nvPr/>
        </p:nvSpPr>
        <p:spPr bwMode="auto">
          <a:xfrm>
            <a:off x="2053908" y="5271902"/>
            <a:ext cx="585559" cy="585559"/>
          </a:xfrm>
          <a:prstGeom prst="ellipse">
            <a:avLst/>
          </a:prstGeom>
          <a:solidFill>
            <a:srgbClr val="93CA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4" name="Freeform 11"/>
          <p:cNvSpPr>
            <a:spLocks/>
          </p:cNvSpPr>
          <p:nvPr/>
        </p:nvSpPr>
        <p:spPr bwMode="auto">
          <a:xfrm>
            <a:off x="3284310" y="1331679"/>
            <a:ext cx="306268" cy="4308380"/>
          </a:xfrm>
          <a:custGeom>
            <a:avLst/>
            <a:gdLst>
              <a:gd name="T0" fmla="*/ 175 w 351"/>
              <a:gd name="T1" fmla="*/ 0 h 4948"/>
              <a:gd name="T2" fmla="*/ 175 w 351"/>
              <a:gd name="T3" fmla="*/ 0 h 4948"/>
              <a:gd name="T4" fmla="*/ 351 w 351"/>
              <a:gd name="T5" fmla="*/ 176 h 4948"/>
              <a:gd name="T6" fmla="*/ 351 w 351"/>
              <a:gd name="T7" fmla="*/ 4772 h 4948"/>
              <a:gd name="T8" fmla="*/ 175 w 351"/>
              <a:gd name="T9" fmla="*/ 4948 h 4948"/>
              <a:gd name="T10" fmla="*/ 175 w 351"/>
              <a:gd name="T11" fmla="*/ 4948 h 4948"/>
              <a:gd name="T12" fmla="*/ 0 w 351"/>
              <a:gd name="T13" fmla="*/ 4772 h 4948"/>
              <a:gd name="T14" fmla="*/ 0 w 351"/>
              <a:gd name="T15" fmla="*/ 176 h 4948"/>
              <a:gd name="T16" fmla="*/ 175 w 351"/>
              <a:gd name="T17" fmla="*/ 0 h 4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4948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79"/>
                  <a:pt x="351" y="176"/>
                </a:cubicBezTo>
                <a:lnTo>
                  <a:pt x="351" y="4772"/>
                </a:lnTo>
                <a:cubicBezTo>
                  <a:pt x="351" y="4869"/>
                  <a:pt x="272" y="4948"/>
                  <a:pt x="175" y="4948"/>
                </a:cubicBezTo>
                <a:lnTo>
                  <a:pt x="175" y="4948"/>
                </a:lnTo>
                <a:cubicBezTo>
                  <a:pt x="79" y="4948"/>
                  <a:pt x="0" y="4869"/>
                  <a:pt x="0" y="4772"/>
                </a:cubicBezTo>
                <a:lnTo>
                  <a:pt x="0" y="176"/>
                </a:lnTo>
                <a:cubicBezTo>
                  <a:pt x="0" y="79"/>
                  <a:pt x="79" y="0"/>
                  <a:pt x="175" y="0"/>
                </a:cubicBezTo>
                <a:close/>
              </a:path>
            </a:pathLst>
          </a:custGeom>
          <a:solidFill>
            <a:srgbClr val="C1C0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5" name="Freeform 12"/>
          <p:cNvSpPr>
            <a:spLocks/>
          </p:cNvSpPr>
          <p:nvPr/>
        </p:nvSpPr>
        <p:spPr bwMode="auto">
          <a:xfrm>
            <a:off x="3284310" y="1509408"/>
            <a:ext cx="306268" cy="4130649"/>
          </a:xfrm>
          <a:custGeom>
            <a:avLst/>
            <a:gdLst>
              <a:gd name="T0" fmla="*/ 175 w 351"/>
              <a:gd name="T1" fmla="*/ 0 h 4744"/>
              <a:gd name="T2" fmla="*/ 175 w 351"/>
              <a:gd name="T3" fmla="*/ 0 h 4744"/>
              <a:gd name="T4" fmla="*/ 351 w 351"/>
              <a:gd name="T5" fmla="*/ 154 h 4744"/>
              <a:gd name="T6" fmla="*/ 351 w 351"/>
              <a:gd name="T7" fmla="*/ 4589 h 4744"/>
              <a:gd name="T8" fmla="*/ 175 w 351"/>
              <a:gd name="T9" fmla="*/ 4744 h 4744"/>
              <a:gd name="T10" fmla="*/ 175 w 351"/>
              <a:gd name="T11" fmla="*/ 4744 h 4744"/>
              <a:gd name="T12" fmla="*/ 0 w 351"/>
              <a:gd name="T13" fmla="*/ 4589 h 4744"/>
              <a:gd name="T14" fmla="*/ 0 w 351"/>
              <a:gd name="T15" fmla="*/ 154 h 4744"/>
              <a:gd name="T16" fmla="*/ 175 w 351"/>
              <a:gd name="T17" fmla="*/ 0 h 4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4744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69"/>
                  <a:pt x="351" y="154"/>
                </a:cubicBezTo>
                <a:lnTo>
                  <a:pt x="351" y="4589"/>
                </a:lnTo>
                <a:cubicBezTo>
                  <a:pt x="351" y="4674"/>
                  <a:pt x="272" y="4744"/>
                  <a:pt x="175" y="4744"/>
                </a:cubicBezTo>
                <a:lnTo>
                  <a:pt x="175" y="4744"/>
                </a:lnTo>
                <a:cubicBezTo>
                  <a:pt x="79" y="4744"/>
                  <a:pt x="0" y="4674"/>
                  <a:pt x="0" y="4589"/>
                </a:cubicBezTo>
                <a:lnTo>
                  <a:pt x="0" y="154"/>
                </a:lnTo>
                <a:cubicBezTo>
                  <a:pt x="0" y="69"/>
                  <a:pt x="79" y="0"/>
                  <a:pt x="175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6" name="Oval 13"/>
          <p:cNvSpPr>
            <a:spLocks noChangeArrowheads="1"/>
          </p:cNvSpPr>
          <p:nvPr/>
        </p:nvSpPr>
        <p:spPr bwMode="auto">
          <a:xfrm>
            <a:off x="3154186" y="5271902"/>
            <a:ext cx="585559" cy="585559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7" name="Freeform 14"/>
          <p:cNvSpPr>
            <a:spLocks/>
          </p:cNvSpPr>
          <p:nvPr/>
        </p:nvSpPr>
        <p:spPr bwMode="auto">
          <a:xfrm>
            <a:off x="4525820" y="1331679"/>
            <a:ext cx="306268" cy="4308380"/>
          </a:xfrm>
          <a:custGeom>
            <a:avLst/>
            <a:gdLst>
              <a:gd name="T0" fmla="*/ 176 w 352"/>
              <a:gd name="T1" fmla="*/ 0 h 4948"/>
              <a:gd name="T2" fmla="*/ 176 w 352"/>
              <a:gd name="T3" fmla="*/ 0 h 4948"/>
              <a:gd name="T4" fmla="*/ 352 w 352"/>
              <a:gd name="T5" fmla="*/ 176 h 4948"/>
              <a:gd name="T6" fmla="*/ 352 w 352"/>
              <a:gd name="T7" fmla="*/ 4772 h 4948"/>
              <a:gd name="T8" fmla="*/ 176 w 352"/>
              <a:gd name="T9" fmla="*/ 4948 h 4948"/>
              <a:gd name="T10" fmla="*/ 176 w 352"/>
              <a:gd name="T11" fmla="*/ 4948 h 4948"/>
              <a:gd name="T12" fmla="*/ 0 w 352"/>
              <a:gd name="T13" fmla="*/ 4772 h 4948"/>
              <a:gd name="T14" fmla="*/ 0 w 352"/>
              <a:gd name="T15" fmla="*/ 176 h 4948"/>
              <a:gd name="T16" fmla="*/ 176 w 352"/>
              <a:gd name="T17" fmla="*/ 0 h 4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2" h="4948">
                <a:moveTo>
                  <a:pt x="176" y="0"/>
                </a:moveTo>
                <a:lnTo>
                  <a:pt x="176" y="0"/>
                </a:lnTo>
                <a:cubicBezTo>
                  <a:pt x="273" y="0"/>
                  <a:pt x="352" y="79"/>
                  <a:pt x="352" y="176"/>
                </a:cubicBezTo>
                <a:lnTo>
                  <a:pt x="352" y="4772"/>
                </a:lnTo>
                <a:cubicBezTo>
                  <a:pt x="352" y="4869"/>
                  <a:pt x="273" y="4948"/>
                  <a:pt x="176" y="4948"/>
                </a:cubicBezTo>
                <a:lnTo>
                  <a:pt x="176" y="4948"/>
                </a:lnTo>
                <a:cubicBezTo>
                  <a:pt x="79" y="4948"/>
                  <a:pt x="0" y="4869"/>
                  <a:pt x="0" y="4772"/>
                </a:cubicBezTo>
                <a:lnTo>
                  <a:pt x="0" y="176"/>
                </a:lnTo>
                <a:cubicBezTo>
                  <a:pt x="0" y="79"/>
                  <a:pt x="79" y="0"/>
                  <a:pt x="176" y="0"/>
                </a:cubicBezTo>
                <a:close/>
              </a:path>
            </a:pathLst>
          </a:custGeom>
          <a:solidFill>
            <a:srgbClr val="C1C0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8" name="Freeform 15"/>
          <p:cNvSpPr>
            <a:spLocks/>
          </p:cNvSpPr>
          <p:nvPr/>
        </p:nvSpPr>
        <p:spPr bwMode="auto">
          <a:xfrm>
            <a:off x="4525820" y="1979500"/>
            <a:ext cx="306268" cy="3660561"/>
          </a:xfrm>
          <a:custGeom>
            <a:avLst/>
            <a:gdLst>
              <a:gd name="T0" fmla="*/ 176 w 352"/>
              <a:gd name="T1" fmla="*/ 0 h 4581"/>
              <a:gd name="T2" fmla="*/ 176 w 352"/>
              <a:gd name="T3" fmla="*/ 0 h 4581"/>
              <a:gd name="T4" fmla="*/ 352 w 352"/>
              <a:gd name="T5" fmla="*/ 149 h 4581"/>
              <a:gd name="T6" fmla="*/ 352 w 352"/>
              <a:gd name="T7" fmla="*/ 4432 h 4581"/>
              <a:gd name="T8" fmla="*/ 176 w 352"/>
              <a:gd name="T9" fmla="*/ 4581 h 4581"/>
              <a:gd name="T10" fmla="*/ 176 w 352"/>
              <a:gd name="T11" fmla="*/ 4581 h 4581"/>
              <a:gd name="T12" fmla="*/ 0 w 352"/>
              <a:gd name="T13" fmla="*/ 4432 h 4581"/>
              <a:gd name="T14" fmla="*/ 0 w 352"/>
              <a:gd name="T15" fmla="*/ 149 h 4581"/>
              <a:gd name="T16" fmla="*/ 176 w 352"/>
              <a:gd name="T17" fmla="*/ 0 h 4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2" h="4581">
                <a:moveTo>
                  <a:pt x="176" y="0"/>
                </a:moveTo>
                <a:lnTo>
                  <a:pt x="176" y="0"/>
                </a:lnTo>
                <a:cubicBezTo>
                  <a:pt x="273" y="0"/>
                  <a:pt x="352" y="67"/>
                  <a:pt x="352" y="149"/>
                </a:cubicBezTo>
                <a:lnTo>
                  <a:pt x="352" y="4432"/>
                </a:lnTo>
                <a:cubicBezTo>
                  <a:pt x="352" y="4514"/>
                  <a:pt x="273" y="4581"/>
                  <a:pt x="176" y="4581"/>
                </a:cubicBezTo>
                <a:lnTo>
                  <a:pt x="176" y="4581"/>
                </a:lnTo>
                <a:cubicBezTo>
                  <a:pt x="79" y="4581"/>
                  <a:pt x="0" y="4514"/>
                  <a:pt x="0" y="4432"/>
                </a:cubicBezTo>
                <a:lnTo>
                  <a:pt x="0" y="149"/>
                </a:lnTo>
                <a:cubicBezTo>
                  <a:pt x="0" y="67"/>
                  <a:pt x="79" y="0"/>
                  <a:pt x="176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9" name="Oval 16"/>
          <p:cNvSpPr>
            <a:spLocks noChangeArrowheads="1"/>
          </p:cNvSpPr>
          <p:nvPr/>
        </p:nvSpPr>
        <p:spPr bwMode="auto">
          <a:xfrm>
            <a:off x="4397285" y="5271902"/>
            <a:ext cx="585559" cy="585559"/>
          </a:xfrm>
          <a:prstGeom prst="ellipse">
            <a:avLst/>
          </a:prstGeom>
          <a:solidFill>
            <a:srgbClr val="FFC00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25" name="矩形 83"/>
          <p:cNvSpPr>
            <a:spLocks noChangeArrowheads="1"/>
          </p:cNvSpPr>
          <p:nvPr/>
        </p:nvSpPr>
        <p:spPr bwMode="auto">
          <a:xfrm>
            <a:off x="6040572" y="1154075"/>
            <a:ext cx="5107491" cy="4981870"/>
          </a:xfrm>
          <a:prstGeom prst="rect">
            <a:avLst/>
          </a:prstGeom>
          <a:solidFill>
            <a:srgbClr val="F2F2F2"/>
          </a:solidFill>
          <a:ln w="9525" cmpd="sng">
            <a:solidFill>
              <a:schemeClr val="accent1"/>
            </a:solidFill>
            <a:miter lim="800000"/>
            <a:headEnd/>
            <a:tailEnd/>
          </a:ln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27" name="Freeform 12"/>
          <p:cNvSpPr>
            <a:spLocks/>
          </p:cNvSpPr>
          <p:nvPr/>
        </p:nvSpPr>
        <p:spPr bwMode="auto">
          <a:xfrm>
            <a:off x="5965986" y="1008084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04BEB0"/>
          </a:solidFill>
          <a:ln>
            <a:noFill/>
          </a:ln>
          <a:extLst/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28" name="Freeform 12"/>
          <p:cNvSpPr>
            <a:spLocks/>
          </p:cNvSpPr>
          <p:nvPr/>
        </p:nvSpPr>
        <p:spPr bwMode="auto">
          <a:xfrm flipH="1" flipV="1">
            <a:off x="10727395" y="5720883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04BEB0"/>
          </a:solidFill>
          <a:ln>
            <a:noFill/>
          </a:ln>
          <a:extLst/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33" name="TextBox 26"/>
          <p:cNvSpPr txBox="1"/>
          <p:nvPr/>
        </p:nvSpPr>
        <p:spPr>
          <a:xfrm>
            <a:off x="13969232" y="8428234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3" name="矩形 2"/>
          <p:cNvSpPr/>
          <p:nvPr/>
        </p:nvSpPr>
        <p:spPr>
          <a:xfrm>
            <a:off x="6279186" y="919365"/>
            <a:ext cx="4630262" cy="5133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在论文中他们提出将多个小容量、价格低廉的磁盘进行有机组合，来替代通常在大型计算机中使用的昂贵的大容量磁盘系统，并使其具有更好的性能和更高的可靠性。</a:t>
            </a:r>
          </a:p>
        </p:txBody>
      </p:sp>
    </p:spTree>
    <p:extLst>
      <p:ext uri="{BB962C8B-B14F-4D97-AF65-F5344CB8AC3E}">
        <p14:creationId xmlns:p14="http://schemas.microsoft.com/office/powerpoint/2010/main" val="2688049366"/>
      </p:ext>
    </p:extLst>
  </p:cSld>
  <p:clrMapOvr>
    <a:masterClrMapping/>
  </p:clrMapOvr>
  <p:transition spd="slow" advTm="0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4092457" y="861720"/>
            <a:ext cx="1573899" cy="1563688"/>
          </a:xfrm>
          <a:prstGeom prst="ellipse">
            <a:avLst/>
          </a:prstGeom>
          <a:solidFill>
            <a:srgbClr val="04B0BE"/>
          </a:solidFill>
          <a:ln w="38100" cap="flat">
            <a:solidFill>
              <a:srgbClr val="04B0BE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9" name="Oval 6"/>
          <p:cNvSpPr>
            <a:spLocks noChangeArrowheads="1"/>
          </p:cNvSpPr>
          <p:nvPr/>
        </p:nvSpPr>
        <p:spPr bwMode="auto">
          <a:xfrm>
            <a:off x="5015357" y="2745768"/>
            <a:ext cx="1573899" cy="1563688"/>
          </a:xfrm>
          <a:prstGeom prst="ellipse">
            <a:avLst/>
          </a:prstGeom>
          <a:solidFill>
            <a:srgbClr val="FFC000"/>
          </a:solidFill>
          <a:ln w="38100" cap="flat">
            <a:solidFill>
              <a:srgbClr val="FFC000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 dirty="0"/>
          </a:p>
        </p:txBody>
      </p:sp>
      <p:sp>
        <p:nvSpPr>
          <p:cNvPr id="10" name="Oval 7"/>
          <p:cNvSpPr>
            <a:spLocks noChangeArrowheads="1"/>
          </p:cNvSpPr>
          <p:nvPr/>
        </p:nvSpPr>
        <p:spPr bwMode="auto">
          <a:xfrm>
            <a:off x="4092457" y="4521367"/>
            <a:ext cx="1573899" cy="1563688"/>
          </a:xfrm>
          <a:prstGeom prst="ellipse">
            <a:avLst/>
          </a:prstGeom>
          <a:solidFill>
            <a:srgbClr val="92D050"/>
          </a:solidFill>
          <a:ln w="38100" cap="flat">
            <a:solidFill>
              <a:srgbClr val="92D050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1" name="Freeform 10"/>
          <p:cNvSpPr>
            <a:spLocks noEditPoints="1"/>
          </p:cNvSpPr>
          <p:nvPr/>
        </p:nvSpPr>
        <p:spPr bwMode="auto">
          <a:xfrm>
            <a:off x="5758087" y="1470226"/>
            <a:ext cx="365303" cy="362962"/>
          </a:xfrm>
          <a:custGeom>
            <a:avLst/>
            <a:gdLst>
              <a:gd name="T0" fmla="*/ 173 w 346"/>
              <a:gd name="T1" fmla="*/ 0 h 346"/>
              <a:gd name="T2" fmla="*/ 346 w 346"/>
              <a:gd name="T3" fmla="*/ 173 h 346"/>
              <a:gd name="T4" fmla="*/ 173 w 346"/>
              <a:gd name="T5" fmla="*/ 346 h 346"/>
              <a:gd name="T6" fmla="*/ 0 w 346"/>
              <a:gd name="T7" fmla="*/ 173 h 346"/>
              <a:gd name="T8" fmla="*/ 173 w 346"/>
              <a:gd name="T9" fmla="*/ 0 h 346"/>
              <a:gd name="T10" fmla="*/ 277 w 346"/>
              <a:gd name="T11" fmla="*/ 176 h 346"/>
              <a:gd name="T12" fmla="*/ 204 w 346"/>
              <a:gd name="T13" fmla="*/ 218 h 346"/>
              <a:gd name="T14" fmla="*/ 131 w 346"/>
              <a:gd name="T15" fmla="*/ 260 h 346"/>
              <a:gd name="T16" fmla="*/ 131 w 346"/>
              <a:gd name="T17" fmla="*/ 176 h 346"/>
              <a:gd name="T18" fmla="*/ 131 w 346"/>
              <a:gd name="T19" fmla="*/ 92 h 346"/>
              <a:gd name="T20" fmla="*/ 204 w 346"/>
              <a:gd name="T21" fmla="*/ 134 h 346"/>
              <a:gd name="T22" fmla="*/ 277 w 346"/>
              <a:gd name="T23" fmla="*/ 176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346">
                <a:moveTo>
                  <a:pt x="173" y="0"/>
                </a:moveTo>
                <a:cubicBezTo>
                  <a:pt x="268" y="0"/>
                  <a:pt x="346" y="77"/>
                  <a:pt x="346" y="173"/>
                </a:cubicBezTo>
                <a:cubicBezTo>
                  <a:pt x="346" y="268"/>
                  <a:pt x="268" y="346"/>
                  <a:pt x="173" y="346"/>
                </a:cubicBezTo>
                <a:cubicBezTo>
                  <a:pt x="77" y="346"/>
                  <a:pt x="0" y="268"/>
                  <a:pt x="0" y="173"/>
                </a:cubicBezTo>
                <a:cubicBezTo>
                  <a:pt x="0" y="77"/>
                  <a:pt x="77" y="0"/>
                  <a:pt x="173" y="0"/>
                </a:cubicBezTo>
                <a:close/>
                <a:moveTo>
                  <a:pt x="277" y="176"/>
                </a:moveTo>
                <a:lnTo>
                  <a:pt x="204" y="218"/>
                </a:lnTo>
                <a:lnTo>
                  <a:pt x="131" y="260"/>
                </a:lnTo>
                <a:lnTo>
                  <a:pt x="131" y="176"/>
                </a:lnTo>
                <a:lnTo>
                  <a:pt x="131" y="92"/>
                </a:lnTo>
                <a:lnTo>
                  <a:pt x="204" y="134"/>
                </a:lnTo>
                <a:lnTo>
                  <a:pt x="277" y="176"/>
                </a:lnTo>
                <a:close/>
              </a:path>
            </a:pathLst>
          </a:custGeom>
          <a:solidFill>
            <a:srgbClr val="04B0BE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2" name="Freeform 11"/>
          <p:cNvSpPr>
            <a:spLocks noEditPoints="1"/>
          </p:cNvSpPr>
          <p:nvPr/>
        </p:nvSpPr>
        <p:spPr bwMode="auto">
          <a:xfrm>
            <a:off x="4570873" y="3323884"/>
            <a:ext cx="365303" cy="362962"/>
          </a:xfrm>
          <a:custGeom>
            <a:avLst/>
            <a:gdLst>
              <a:gd name="T0" fmla="*/ 173 w 346"/>
              <a:gd name="T1" fmla="*/ 0 h 346"/>
              <a:gd name="T2" fmla="*/ 0 w 346"/>
              <a:gd name="T3" fmla="*/ 173 h 346"/>
              <a:gd name="T4" fmla="*/ 173 w 346"/>
              <a:gd name="T5" fmla="*/ 346 h 346"/>
              <a:gd name="T6" fmla="*/ 346 w 346"/>
              <a:gd name="T7" fmla="*/ 173 h 346"/>
              <a:gd name="T8" fmla="*/ 173 w 346"/>
              <a:gd name="T9" fmla="*/ 0 h 346"/>
              <a:gd name="T10" fmla="*/ 69 w 346"/>
              <a:gd name="T11" fmla="*/ 177 h 346"/>
              <a:gd name="T12" fmla="*/ 142 w 346"/>
              <a:gd name="T13" fmla="*/ 219 h 346"/>
              <a:gd name="T14" fmla="*/ 215 w 346"/>
              <a:gd name="T15" fmla="*/ 261 h 346"/>
              <a:gd name="T16" fmla="*/ 215 w 346"/>
              <a:gd name="T17" fmla="*/ 177 h 346"/>
              <a:gd name="T18" fmla="*/ 215 w 346"/>
              <a:gd name="T19" fmla="*/ 93 h 346"/>
              <a:gd name="T20" fmla="*/ 142 w 346"/>
              <a:gd name="T21" fmla="*/ 135 h 346"/>
              <a:gd name="T22" fmla="*/ 69 w 346"/>
              <a:gd name="T23" fmla="*/ 177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346">
                <a:moveTo>
                  <a:pt x="173" y="0"/>
                </a:moveTo>
                <a:cubicBezTo>
                  <a:pt x="78" y="0"/>
                  <a:pt x="0" y="78"/>
                  <a:pt x="0" y="173"/>
                </a:cubicBezTo>
                <a:cubicBezTo>
                  <a:pt x="0" y="269"/>
                  <a:pt x="78" y="346"/>
                  <a:pt x="173" y="346"/>
                </a:cubicBezTo>
                <a:cubicBezTo>
                  <a:pt x="269" y="346"/>
                  <a:pt x="346" y="269"/>
                  <a:pt x="346" y="173"/>
                </a:cubicBezTo>
                <a:cubicBezTo>
                  <a:pt x="346" y="78"/>
                  <a:pt x="269" y="0"/>
                  <a:pt x="173" y="0"/>
                </a:cubicBezTo>
                <a:close/>
                <a:moveTo>
                  <a:pt x="69" y="177"/>
                </a:moveTo>
                <a:lnTo>
                  <a:pt x="142" y="219"/>
                </a:lnTo>
                <a:lnTo>
                  <a:pt x="215" y="261"/>
                </a:lnTo>
                <a:lnTo>
                  <a:pt x="215" y="177"/>
                </a:lnTo>
                <a:lnTo>
                  <a:pt x="215" y="93"/>
                </a:lnTo>
                <a:lnTo>
                  <a:pt x="142" y="135"/>
                </a:lnTo>
                <a:lnTo>
                  <a:pt x="69" y="177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3" name="Freeform 12"/>
          <p:cNvSpPr>
            <a:spLocks noEditPoints="1"/>
          </p:cNvSpPr>
          <p:nvPr/>
        </p:nvSpPr>
        <p:spPr bwMode="auto">
          <a:xfrm>
            <a:off x="5758087" y="5139293"/>
            <a:ext cx="365303" cy="362962"/>
          </a:xfrm>
          <a:custGeom>
            <a:avLst/>
            <a:gdLst>
              <a:gd name="T0" fmla="*/ 173 w 346"/>
              <a:gd name="T1" fmla="*/ 0 h 346"/>
              <a:gd name="T2" fmla="*/ 346 w 346"/>
              <a:gd name="T3" fmla="*/ 173 h 346"/>
              <a:gd name="T4" fmla="*/ 173 w 346"/>
              <a:gd name="T5" fmla="*/ 346 h 346"/>
              <a:gd name="T6" fmla="*/ 0 w 346"/>
              <a:gd name="T7" fmla="*/ 173 h 346"/>
              <a:gd name="T8" fmla="*/ 173 w 346"/>
              <a:gd name="T9" fmla="*/ 0 h 346"/>
              <a:gd name="T10" fmla="*/ 277 w 346"/>
              <a:gd name="T11" fmla="*/ 176 h 346"/>
              <a:gd name="T12" fmla="*/ 204 w 346"/>
              <a:gd name="T13" fmla="*/ 218 h 346"/>
              <a:gd name="T14" fmla="*/ 131 w 346"/>
              <a:gd name="T15" fmla="*/ 260 h 346"/>
              <a:gd name="T16" fmla="*/ 131 w 346"/>
              <a:gd name="T17" fmla="*/ 176 h 346"/>
              <a:gd name="T18" fmla="*/ 131 w 346"/>
              <a:gd name="T19" fmla="*/ 92 h 346"/>
              <a:gd name="T20" fmla="*/ 204 w 346"/>
              <a:gd name="T21" fmla="*/ 134 h 346"/>
              <a:gd name="T22" fmla="*/ 277 w 346"/>
              <a:gd name="T23" fmla="*/ 176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346">
                <a:moveTo>
                  <a:pt x="173" y="0"/>
                </a:moveTo>
                <a:cubicBezTo>
                  <a:pt x="268" y="0"/>
                  <a:pt x="346" y="77"/>
                  <a:pt x="346" y="173"/>
                </a:cubicBezTo>
                <a:cubicBezTo>
                  <a:pt x="346" y="268"/>
                  <a:pt x="268" y="346"/>
                  <a:pt x="173" y="346"/>
                </a:cubicBezTo>
                <a:cubicBezTo>
                  <a:pt x="77" y="346"/>
                  <a:pt x="0" y="268"/>
                  <a:pt x="0" y="173"/>
                </a:cubicBezTo>
                <a:cubicBezTo>
                  <a:pt x="0" y="77"/>
                  <a:pt x="77" y="0"/>
                  <a:pt x="173" y="0"/>
                </a:cubicBezTo>
                <a:close/>
                <a:moveTo>
                  <a:pt x="277" y="176"/>
                </a:moveTo>
                <a:lnTo>
                  <a:pt x="204" y="218"/>
                </a:lnTo>
                <a:lnTo>
                  <a:pt x="131" y="260"/>
                </a:lnTo>
                <a:lnTo>
                  <a:pt x="131" y="176"/>
                </a:lnTo>
                <a:lnTo>
                  <a:pt x="131" y="92"/>
                </a:lnTo>
                <a:lnTo>
                  <a:pt x="204" y="134"/>
                </a:lnTo>
                <a:lnTo>
                  <a:pt x="277" y="176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4" name="TextBox 13"/>
          <p:cNvSpPr txBox="1"/>
          <p:nvPr/>
        </p:nvSpPr>
        <p:spPr>
          <a:xfrm flipH="1">
            <a:off x="4328894" y="1182080"/>
            <a:ext cx="1116324" cy="907578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/>
            <a:r>
              <a:rPr lang="en-US" altLang="zh-CN" sz="5298" dirty="0">
                <a:solidFill>
                  <a:schemeClr val="bg1"/>
                </a:solidFill>
                <a:latin typeface="+mn-ea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 flipH="1">
            <a:off x="5260245" y="3066128"/>
            <a:ext cx="1116324" cy="907578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/>
            <a:r>
              <a:rPr lang="en-US" altLang="zh-CN" sz="5298" dirty="0">
                <a:solidFill>
                  <a:schemeClr val="bg1"/>
                </a:solidFill>
                <a:latin typeface="+mn-e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 flipH="1">
            <a:off x="4341374" y="4859290"/>
            <a:ext cx="1116324" cy="907578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/>
            <a:r>
              <a:rPr lang="en-US" altLang="zh-CN" sz="5298" dirty="0">
                <a:solidFill>
                  <a:schemeClr val="bg1"/>
                </a:solidFill>
                <a:latin typeface="+mn-ea"/>
              </a:rPr>
              <a:t>03</a:t>
            </a:r>
          </a:p>
        </p:txBody>
      </p:sp>
      <p:sp>
        <p:nvSpPr>
          <p:cNvPr id="23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3" name="矩形 2"/>
          <p:cNvSpPr/>
          <p:nvPr/>
        </p:nvSpPr>
        <p:spPr>
          <a:xfrm>
            <a:off x="6352819" y="391261"/>
            <a:ext cx="487417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Patterson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Gibson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Katz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还定义了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种类型的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（称为级，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level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），每一级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都具有不同的性能和可靠性。</a:t>
            </a:r>
          </a:p>
        </p:txBody>
      </p:sp>
      <p:sp>
        <p:nvSpPr>
          <p:cNvPr id="4" name="矩形 3"/>
          <p:cNvSpPr/>
          <p:nvPr/>
        </p:nvSpPr>
        <p:spPr>
          <a:xfrm>
            <a:off x="498131" y="2359306"/>
            <a:ext cx="403315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原先这些级的编号是从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，后来人们又定义了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的第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级和第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级。</a:t>
            </a:r>
          </a:p>
        </p:txBody>
      </p:sp>
      <p:sp>
        <p:nvSpPr>
          <p:cNvPr id="24" name="矩形 23"/>
          <p:cNvSpPr/>
          <p:nvPr/>
        </p:nvSpPr>
        <p:spPr>
          <a:xfrm>
            <a:off x="6352819" y="4610713"/>
            <a:ext cx="494310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后来一些研究机构和公司还定义了其它的一些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 。</a:t>
            </a:r>
          </a:p>
        </p:txBody>
      </p:sp>
    </p:spTree>
    <p:extLst>
      <p:ext uri="{BB962C8B-B14F-4D97-AF65-F5344CB8AC3E}">
        <p14:creationId xmlns:p14="http://schemas.microsoft.com/office/powerpoint/2010/main" val="2642694001"/>
      </p:ext>
    </p:extLst>
  </p:cSld>
  <p:clrMapOvr>
    <a:masterClrMapping/>
  </p:clrMapOvr>
  <p:transition spd="slow" advTm="0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1C0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1C0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1C0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69" name="Line 5"/>
          <p:cNvSpPr>
            <a:spLocks noChangeShapeType="1"/>
          </p:cNvSpPr>
          <p:nvPr/>
        </p:nvSpPr>
        <p:spPr bwMode="auto">
          <a:xfrm>
            <a:off x="1470728" y="1637731"/>
            <a:ext cx="0" cy="4673023"/>
          </a:xfrm>
          <a:prstGeom prst="line">
            <a:avLst/>
          </a:prstGeom>
          <a:noFill/>
          <a:ln w="12700" cap="flat">
            <a:solidFill>
              <a:srgbClr val="2E2C2C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2" name="Freeform 9"/>
          <p:cNvSpPr>
            <a:spLocks/>
          </p:cNvSpPr>
          <p:nvPr/>
        </p:nvSpPr>
        <p:spPr bwMode="auto">
          <a:xfrm>
            <a:off x="1804435" y="2040074"/>
            <a:ext cx="165036" cy="207882"/>
          </a:xfrm>
          <a:custGeom>
            <a:avLst/>
            <a:gdLst>
              <a:gd name="T0" fmla="*/ 184 w 205"/>
              <a:gd name="T1" fmla="*/ 109 h 262"/>
              <a:gd name="T2" fmla="*/ 109 w 205"/>
              <a:gd name="T3" fmla="*/ 61 h 262"/>
              <a:gd name="T4" fmla="*/ 32 w 205"/>
              <a:gd name="T5" fmla="*/ 11 h 262"/>
              <a:gd name="T6" fmla="*/ 0 w 205"/>
              <a:gd name="T7" fmla="*/ 34 h 262"/>
              <a:gd name="T8" fmla="*/ 0 w 205"/>
              <a:gd name="T9" fmla="*/ 131 h 262"/>
              <a:gd name="T10" fmla="*/ 0 w 205"/>
              <a:gd name="T11" fmla="*/ 230 h 262"/>
              <a:gd name="T12" fmla="*/ 34 w 205"/>
              <a:gd name="T13" fmla="*/ 250 h 262"/>
              <a:gd name="T14" fmla="*/ 109 w 205"/>
              <a:gd name="T15" fmla="*/ 202 h 262"/>
              <a:gd name="T16" fmla="*/ 186 w 205"/>
              <a:gd name="T17" fmla="*/ 152 h 262"/>
              <a:gd name="T18" fmla="*/ 184 w 205"/>
              <a:gd name="T19" fmla="*/ 109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5" h="262">
                <a:moveTo>
                  <a:pt x="184" y="109"/>
                </a:moveTo>
                <a:lnTo>
                  <a:pt x="109" y="61"/>
                </a:lnTo>
                <a:cubicBezTo>
                  <a:pt x="83" y="44"/>
                  <a:pt x="58" y="28"/>
                  <a:pt x="32" y="11"/>
                </a:cubicBezTo>
                <a:cubicBezTo>
                  <a:pt x="11" y="0"/>
                  <a:pt x="0" y="9"/>
                  <a:pt x="0" y="34"/>
                </a:cubicBezTo>
                <a:lnTo>
                  <a:pt x="0" y="131"/>
                </a:lnTo>
                <a:cubicBezTo>
                  <a:pt x="0" y="164"/>
                  <a:pt x="0" y="197"/>
                  <a:pt x="0" y="230"/>
                </a:cubicBezTo>
                <a:cubicBezTo>
                  <a:pt x="2" y="256"/>
                  <a:pt x="14" y="262"/>
                  <a:pt x="34" y="250"/>
                </a:cubicBezTo>
                <a:lnTo>
                  <a:pt x="109" y="202"/>
                </a:lnTo>
                <a:cubicBezTo>
                  <a:pt x="135" y="185"/>
                  <a:pt x="160" y="169"/>
                  <a:pt x="186" y="152"/>
                </a:cubicBezTo>
                <a:cubicBezTo>
                  <a:pt x="205" y="137"/>
                  <a:pt x="203" y="122"/>
                  <a:pt x="184" y="109"/>
                </a:cubicBezTo>
                <a:close/>
              </a:path>
            </a:pathLst>
          </a:custGeom>
          <a:solidFill>
            <a:srgbClr val="01C0B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3" name="Freeform 11"/>
          <p:cNvSpPr>
            <a:spLocks/>
          </p:cNvSpPr>
          <p:nvPr/>
        </p:nvSpPr>
        <p:spPr bwMode="auto">
          <a:xfrm>
            <a:off x="1804435" y="4089489"/>
            <a:ext cx="165036" cy="206294"/>
          </a:xfrm>
          <a:custGeom>
            <a:avLst/>
            <a:gdLst>
              <a:gd name="T0" fmla="*/ 184 w 205"/>
              <a:gd name="T1" fmla="*/ 108 h 261"/>
              <a:gd name="T2" fmla="*/ 109 w 205"/>
              <a:gd name="T3" fmla="*/ 60 h 261"/>
              <a:gd name="T4" fmla="*/ 32 w 205"/>
              <a:gd name="T5" fmla="*/ 10 h 261"/>
              <a:gd name="T6" fmla="*/ 0 w 205"/>
              <a:gd name="T7" fmla="*/ 33 h 261"/>
              <a:gd name="T8" fmla="*/ 0 w 205"/>
              <a:gd name="T9" fmla="*/ 130 h 261"/>
              <a:gd name="T10" fmla="*/ 0 w 205"/>
              <a:gd name="T11" fmla="*/ 229 h 261"/>
              <a:gd name="T12" fmla="*/ 34 w 205"/>
              <a:gd name="T13" fmla="*/ 249 h 261"/>
              <a:gd name="T14" fmla="*/ 109 w 205"/>
              <a:gd name="T15" fmla="*/ 201 h 261"/>
              <a:gd name="T16" fmla="*/ 186 w 205"/>
              <a:gd name="T17" fmla="*/ 151 h 261"/>
              <a:gd name="T18" fmla="*/ 184 w 205"/>
              <a:gd name="T19" fmla="*/ 108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5" h="261">
                <a:moveTo>
                  <a:pt x="184" y="108"/>
                </a:moveTo>
                <a:lnTo>
                  <a:pt x="109" y="60"/>
                </a:lnTo>
                <a:cubicBezTo>
                  <a:pt x="83" y="43"/>
                  <a:pt x="58" y="27"/>
                  <a:pt x="32" y="10"/>
                </a:cubicBezTo>
                <a:cubicBezTo>
                  <a:pt x="11" y="0"/>
                  <a:pt x="0" y="8"/>
                  <a:pt x="0" y="33"/>
                </a:cubicBezTo>
                <a:lnTo>
                  <a:pt x="0" y="130"/>
                </a:lnTo>
                <a:cubicBezTo>
                  <a:pt x="0" y="163"/>
                  <a:pt x="0" y="196"/>
                  <a:pt x="0" y="229"/>
                </a:cubicBezTo>
                <a:cubicBezTo>
                  <a:pt x="2" y="255"/>
                  <a:pt x="14" y="261"/>
                  <a:pt x="34" y="249"/>
                </a:cubicBezTo>
                <a:lnTo>
                  <a:pt x="109" y="201"/>
                </a:lnTo>
                <a:cubicBezTo>
                  <a:pt x="135" y="184"/>
                  <a:pt x="160" y="168"/>
                  <a:pt x="186" y="151"/>
                </a:cubicBezTo>
                <a:cubicBezTo>
                  <a:pt x="205" y="136"/>
                  <a:pt x="203" y="122"/>
                  <a:pt x="184" y="108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grpSp>
        <p:nvGrpSpPr>
          <p:cNvPr id="74" name="组合 73"/>
          <p:cNvGrpSpPr/>
          <p:nvPr/>
        </p:nvGrpSpPr>
        <p:grpSpPr>
          <a:xfrm>
            <a:off x="1087113" y="1868225"/>
            <a:ext cx="717324" cy="523092"/>
            <a:chOff x="912759" y="1007596"/>
            <a:chExt cx="717604" cy="523296"/>
          </a:xfrm>
        </p:grpSpPr>
        <p:sp>
          <p:nvSpPr>
            <p:cNvPr id="75" name="Freeform 8"/>
            <p:cNvSpPr>
              <a:spLocks/>
            </p:cNvSpPr>
            <p:nvPr/>
          </p:nvSpPr>
          <p:spPr bwMode="auto">
            <a:xfrm>
              <a:off x="985838" y="1052513"/>
              <a:ext cx="615950" cy="433387"/>
            </a:xfrm>
            <a:custGeom>
              <a:avLst/>
              <a:gdLst>
                <a:gd name="T0" fmla="*/ 43 w 764"/>
                <a:gd name="T1" fmla="*/ 0 h 549"/>
                <a:gd name="T2" fmla="*/ 721 w 764"/>
                <a:gd name="T3" fmla="*/ 0 h 549"/>
                <a:gd name="T4" fmla="*/ 764 w 764"/>
                <a:gd name="T5" fmla="*/ 43 h 549"/>
                <a:gd name="T6" fmla="*/ 764 w 764"/>
                <a:gd name="T7" fmla="*/ 506 h 549"/>
                <a:gd name="T8" fmla="*/ 721 w 764"/>
                <a:gd name="T9" fmla="*/ 549 h 549"/>
                <a:gd name="T10" fmla="*/ 43 w 764"/>
                <a:gd name="T11" fmla="*/ 549 h 549"/>
                <a:gd name="T12" fmla="*/ 0 w 764"/>
                <a:gd name="T13" fmla="*/ 506 h 549"/>
                <a:gd name="T14" fmla="*/ 0 w 764"/>
                <a:gd name="T15" fmla="*/ 43 h 549"/>
                <a:gd name="T16" fmla="*/ 43 w 764"/>
                <a:gd name="T17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4" h="549">
                  <a:moveTo>
                    <a:pt x="43" y="0"/>
                  </a:moveTo>
                  <a:lnTo>
                    <a:pt x="721" y="0"/>
                  </a:lnTo>
                  <a:cubicBezTo>
                    <a:pt x="744" y="0"/>
                    <a:pt x="764" y="20"/>
                    <a:pt x="764" y="43"/>
                  </a:cubicBezTo>
                  <a:lnTo>
                    <a:pt x="764" y="506"/>
                  </a:lnTo>
                  <a:cubicBezTo>
                    <a:pt x="764" y="530"/>
                    <a:pt x="744" y="549"/>
                    <a:pt x="721" y="549"/>
                  </a:cubicBezTo>
                  <a:lnTo>
                    <a:pt x="43" y="549"/>
                  </a:lnTo>
                  <a:cubicBezTo>
                    <a:pt x="20" y="549"/>
                    <a:pt x="0" y="530"/>
                    <a:pt x="0" y="506"/>
                  </a:cubicBezTo>
                  <a:lnTo>
                    <a:pt x="0" y="43"/>
                  </a:lnTo>
                  <a:cubicBezTo>
                    <a:pt x="0" y="20"/>
                    <a:pt x="20" y="0"/>
                    <a:pt x="43" y="0"/>
                  </a:cubicBezTo>
                  <a:close/>
                </a:path>
              </a:pathLst>
            </a:custGeom>
            <a:solidFill>
              <a:srgbClr val="E855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912759" y="1007596"/>
              <a:ext cx="717604" cy="523296"/>
            </a:xfrm>
            <a:prstGeom prst="rect">
              <a:avLst/>
            </a:prstGeom>
            <a:solidFill>
              <a:srgbClr val="01C0B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799" dirty="0">
                  <a:solidFill>
                    <a:schemeClr val="bg1"/>
                  </a:solidFill>
                  <a:latin typeface="+mn-ea"/>
                </a:rPr>
                <a:t>01</a:t>
              </a:r>
              <a:endParaRPr lang="zh-CN" altLang="en-US" sz="2799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1087113" y="3926991"/>
            <a:ext cx="717324" cy="523092"/>
            <a:chOff x="912759" y="1884191"/>
            <a:chExt cx="717604" cy="523296"/>
          </a:xfrm>
        </p:grpSpPr>
        <p:sp>
          <p:nvSpPr>
            <p:cNvPr id="80" name="Freeform 10"/>
            <p:cNvSpPr>
              <a:spLocks/>
            </p:cNvSpPr>
            <p:nvPr/>
          </p:nvSpPr>
          <p:spPr bwMode="auto">
            <a:xfrm>
              <a:off x="985838" y="1918165"/>
              <a:ext cx="615950" cy="433387"/>
            </a:xfrm>
            <a:custGeom>
              <a:avLst/>
              <a:gdLst>
                <a:gd name="T0" fmla="*/ 43 w 764"/>
                <a:gd name="T1" fmla="*/ 0 h 549"/>
                <a:gd name="T2" fmla="*/ 721 w 764"/>
                <a:gd name="T3" fmla="*/ 0 h 549"/>
                <a:gd name="T4" fmla="*/ 764 w 764"/>
                <a:gd name="T5" fmla="*/ 44 h 549"/>
                <a:gd name="T6" fmla="*/ 764 w 764"/>
                <a:gd name="T7" fmla="*/ 506 h 549"/>
                <a:gd name="T8" fmla="*/ 721 w 764"/>
                <a:gd name="T9" fmla="*/ 549 h 549"/>
                <a:gd name="T10" fmla="*/ 43 w 764"/>
                <a:gd name="T11" fmla="*/ 549 h 549"/>
                <a:gd name="T12" fmla="*/ 0 w 764"/>
                <a:gd name="T13" fmla="*/ 506 h 549"/>
                <a:gd name="T14" fmla="*/ 0 w 764"/>
                <a:gd name="T15" fmla="*/ 44 h 549"/>
                <a:gd name="T16" fmla="*/ 43 w 764"/>
                <a:gd name="T17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4" h="549">
                  <a:moveTo>
                    <a:pt x="43" y="0"/>
                  </a:moveTo>
                  <a:lnTo>
                    <a:pt x="721" y="0"/>
                  </a:lnTo>
                  <a:cubicBezTo>
                    <a:pt x="744" y="0"/>
                    <a:pt x="764" y="20"/>
                    <a:pt x="764" y="44"/>
                  </a:cubicBezTo>
                  <a:lnTo>
                    <a:pt x="764" y="506"/>
                  </a:lnTo>
                  <a:cubicBezTo>
                    <a:pt x="764" y="530"/>
                    <a:pt x="744" y="549"/>
                    <a:pt x="721" y="549"/>
                  </a:cubicBezTo>
                  <a:lnTo>
                    <a:pt x="43" y="549"/>
                  </a:lnTo>
                  <a:cubicBezTo>
                    <a:pt x="20" y="549"/>
                    <a:pt x="0" y="530"/>
                    <a:pt x="0" y="506"/>
                  </a:cubicBezTo>
                  <a:lnTo>
                    <a:pt x="0" y="44"/>
                  </a:lnTo>
                  <a:cubicBezTo>
                    <a:pt x="0" y="20"/>
                    <a:pt x="20" y="0"/>
                    <a:pt x="43" y="0"/>
                  </a:cubicBezTo>
                  <a:close/>
                </a:path>
              </a:pathLst>
            </a:custGeom>
            <a:solidFill>
              <a:srgbClr val="E855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12759" y="1884191"/>
              <a:ext cx="717604" cy="523296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799" dirty="0">
                  <a:solidFill>
                    <a:schemeClr val="bg1"/>
                  </a:solidFill>
                  <a:latin typeface="+mn-ea"/>
                </a:rPr>
                <a:t>02</a:t>
              </a:r>
              <a:endParaRPr lang="zh-CN" altLang="en-US" sz="2799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4296778" y="8796724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3" name="矩形 2"/>
          <p:cNvSpPr/>
          <p:nvPr/>
        </p:nvSpPr>
        <p:spPr>
          <a:xfrm>
            <a:off x="896119" y="422503"/>
            <a:ext cx="32960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的设计思想</a:t>
            </a:r>
          </a:p>
        </p:txBody>
      </p:sp>
      <p:sp>
        <p:nvSpPr>
          <p:cNvPr id="4" name="矩形 3"/>
          <p:cNvSpPr/>
          <p:nvPr/>
        </p:nvSpPr>
        <p:spPr>
          <a:xfrm>
            <a:off x="2059143" y="1421923"/>
            <a:ext cx="862083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一方面通过在多个硬盘上（又称为磁盘阵列）同时存取数据来大幅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提高磁盘存储系统的数据吞吐率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059143" y="2974588"/>
            <a:ext cx="862083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另一方面在一些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模式中通过较为完备的相互校验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恢复的措施，甚至是直接相互的镜像备份，来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RAID 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系统的容错度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，从而提高了磁盘存储系统的安全性和可靠性。 </a:t>
            </a:r>
          </a:p>
        </p:txBody>
      </p:sp>
    </p:spTree>
    <p:extLst>
      <p:ext uri="{BB962C8B-B14F-4D97-AF65-F5344CB8AC3E}">
        <p14:creationId xmlns:p14="http://schemas.microsoft.com/office/powerpoint/2010/main" val="1276739434"/>
      </p:ext>
    </p:extLst>
  </p:cSld>
  <p:clrMapOvr>
    <a:masterClrMapping/>
  </p:clrMapOvr>
  <p:transition spd="slow" advTm="0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2836" name="Group 27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82257189"/>
              </p:ext>
            </p:extLst>
          </p:nvPr>
        </p:nvGraphicFramePr>
        <p:xfrm>
          <a:off x="968995" y="1444486"/>
          <a:ext cx="9831526" cy="3999185"/>
        </p:xfrm>
        <a:graphic>
          <a:graphicData uri="http://schemas.openxmlformats.org/drawingml/2006/table">
            <a:tbl>
              <a:tblPr/>
              <a:tblGrid>
                <a:gridCol w="1131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70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52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969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RAID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级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marT="144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描述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marT="144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磁盘数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marT="144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容错性能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marT="144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并行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I/O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marT="144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4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无容错的条带磁盘阵列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N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无容错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有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4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磁盘镜像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2N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容错性最好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有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14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专用海明校验盘位分布磁盘系统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N+m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允许一个磁盘失效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无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11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专用奇偶校验盘位分布磁盘系统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N+1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允许一个磁盘失效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无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0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专用奇偶校验盘分块独立存取磁盘系统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N+1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允许一个磁盘失效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有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564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分散校验分块独立存取磁盘系统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N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允许一个磁盘失效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有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56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6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分散双校验分块独立存取磁盘系统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N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允许两个磁盘失效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有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1C0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1C0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1C0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2" name="矩形 1"/>
          <p:cNvSpPr/>
          <p:nvPr/>
        </p:nvSpPr>
        <p:spPr>
          <a:xfrm>
            <a:off x="875773" y="351152"/>
            <a:ext cx="21868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分级 </a:t>
            </a:r>
          </a:p>
        </p:txBody>
      </p:sp>
    </p:spTree>
    <p:extLst>
      <p:ext uri="{BB962C8B-B14F-4D97-AF65-F5344CB8AC3E}">
        <p14:creationId xmlns:p14="http://schemas.microsoft.com/office/powerpoint/2010/main" val="1015670022"/>
      </p:ext>
    </p:extLst>
  </p:cSld>
  <p:clrMapOvr>
    <a:masterClrMapping/>
  </p:clrMapOvr>
  <p:transition spd="slow" advTm="0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864938" y="357886"/>
            <a:ext cx="5974331" cy="584733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RAID0 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16" name="矩形 15"/>
          <p:cNvSpPr/>
          <p:nvPr/>
        </p:nvSpPr>
        <p:spPr bwMode="auto">
          <a:xfrm>
            <a:off x="1203816" y="1528914"/>
            <a:ext cx="9367479" cy="1437767"/>
          </a:xfrm>
          <a:prstGeom prst="rect">
            <a:avLst/>
          </a:prstGeom>
          <a:solidFill>
            <a:srgbClr val="04BEB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09787" y="4608475"/>
            <a:ext cx="2174888" cy="369182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/>
            <a:r>
              <a:rPr lang="zh-CN" altLang="en-US" sz="1799" b="1" dirty="0">
                <a:solidFill>
                  <a:schemeClr val="bg1"/>
                </a:solidFill>
                <a:latin typeface="+mn-ea"/>
              </a:rPr>
              <a:t>这里是标题</a:t>
            </a:r>
            <a:endParaRPr lang="en-US" altLang="zh-CN" sz="179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71181" y="4608475"/>
            <a:ext cx="2174888" cy="369182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/>
            <a:r>
              <a:rPr lang="zh-CN" altLang="en-US" sz="1799" b="1" dirty="0">
                <a:solidFill>
                  <a:schemeClr val="bg1"/>
                </a:solidFill>
                <a:latin typeface="+mn-ea"/>
              </a:rPr>
              <a:t>这里是标题</a:t>
            </a:r>
            <a:endParaRPr lang="en-US" altLang="zh-CN" sz="179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96407" y="4608475"/>
            <a:ext cx="2174888" cy="369182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/>
            <a:r>
              <a:rPr lang="zh-CN" altLang="en-US" sz="1799" b="1" dirty="0">
                <a:solidFill>
                  <a:schemeClr val="bg1"/>
                </a:solidFill>
                <a:latin typeface="+mn-ea"/>
              </a:rPr>
              <a:t>这里是标题</a:t>
            </a:r>
            <a:endParaRPr lang="en-US" altLang="zh-CN" sz="179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3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3" name="矩形 2"/>
          <p:cNvSpPr/>
          <p:nvPr/>
        </p:nvSpPr>
        <p:spPr>
          <a:xfrm>
            <a:off x="1203816" y="1538753"/>
            <a:ext cx="916848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RAID0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全称是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Striped disk array without fault tolerance(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无容错的条带磁盘阵列）。其构架如图所示。</a:t>
            </a:r>
          </a:p>
        </p:txBody>
      </p:sp>
      <p:graphicFrame>
        <p:nvGraphicFramePr>
          <p:cNvPr id="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936557"/>
              </p:ext>
            </p:extLst>
          </p:nvPr>
        </p:nvGraphicFramePr>
        <p:xfrm>
          <a:off x="982204" y="3552977"/>
          <a:ext cx="9998591" cy="235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" name="Visio" r:id="rId4" imgW="4006901" imgH="947014" progId="Visio.Drawing.11">
                  <p:embed/>
                </p:oleObj>
              </mc:Choice>
              <mc:Fallback>
                <p:oleObj name="Visio" r:id="rId4" imgW="4006901" imgH="947014" progId="Visio.Drawing.11">
                  <p:embed/>
                  <p:pic>
                    <p:nvPicPr>
                      <p:cNvPr id="922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204" y="3552977"/>
                        <a:ext cx="9998591" cy="235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3951592"/>
      </p:ext>
    </p:extLst>
  </p:cSld>
  <p:clrMapOvr>
    <a:masterClrMapping/>
  </p:clrMapOvr>
  <p:transition spd="slow" advTm="0"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6072448" y="1410930"/>
            <a:ext cx="4678692" cy="453949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5" name="矩形 4"/>
          <p:cNvSpPr/>
          <p:nvPr/>
        </p:nvSpPr>
        <p:spPr bwMode="auto">
          <a:xfrm>
            <a:off x="1064526" y="1410930"/>
            <a:ext cx="4339988" cy="453949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 dirty="0"/>
          </a:p>
        </p:txBody>
      </p:sp>
      <p:grpSp>
        <p:nvGrpSpPr>
          <p:cNvPr id="6" name="组合 5"/>
          <p:cNvGrpSpPr/>
          <p:nvPr/>
        </p:nvGrpSpPr>
        <p:grpSpPr>
          <a:xfrm>
            <a:off x="2704845" y="905508"/>
            <a:ext cx="1010843" cy="1010844"/>
            <a:chOff x="1230014" y="1296938"/>
            <a:chExt cx="1011238" cy="1011238"/>
          </a:xfrm>
        </p:grpSpPr>
        <p:sp>
          <p:nvSpPr>
            <p:cNvPr id="7" name="Oval 13"/>
            <p:cNvSpPr>
              <a:spLocks noChangeArrowheads="1"/>
            </p:cNvSpPr>
            <p:nvPr/>
          </p:nvSpPr>
          <p:spPr bwMode="auto">
            <a:xfrm>
              <a:off x="1230014" y="1296938"/>
              <a:ext cx="1011238" cy="1011238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" name="TextBox 14"/>
            <p:cNvSpPr txBox="1"/>
            <p:nvPr/>
          </p:nvSpPr>
          <p:spPr>
            <a:xfrm>
              <a:off x="1282081" y="1429117"/>
              <a:ext cx="868522" cy="707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998" dirty="0">
                  <a:solidFill>
                    <a:schemeClr val="bg1"/>
                  </a:solidFill>
                  <a:latin typeface="+mn-ea"/>
                </a:rPr>
                <a:t>01</a:t>
              </a:r>
              <a:endParaRPr lang="zh-CN" altLang="en-US" sz="3998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7712969" y="905508"/>
            <a:ext cx="1010843" cy="1010844"/>
            <a:chOff x="6470754" y="1296938"/>
            <a:chExt cx="1011238" cy="1011238"/>
          </a:xfrm>
        </p:grpSpPr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6470754" y="1296938"/>
              <a:ext cx="1011238" cy="101123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1" name="TextBox 19"/>
            <p:cNvSpPr txBox="1"/>
            <p:nvPr/>
          </p:nvSpPr>
          <p:spPr>
            <a:xfrm>
              <a:off x="6522821" y="1429117"/>
              <a:ext cx="868522" cy="707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998" dirty="0">
                  <a:solidFill>
                    <a:schemeClr val="bg1"/>
                  </a:solidFill>
                  <a:latin typeface="+mn-ea"/>
                </a:rPr>
                <a:t>02</a:t>
              </a:r>
              <a:endParaRPr lang="zh-CN" altLang="en-US" sz="3998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74475" y="1972380"/>
            <a:ext cx="4576665" cy="4351338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所有的磁盘组成一个逻辑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磁盘，用户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数据被看成是存储在这个逻辑磁盘上，逻辑磁盘上的一个个条带数据以轮转方式映射到连续的阵列磁盘中。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44214" y="1848323"/>
            <a:ext cx="390797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每个磁盘以条带（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strip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）为基本单位存储信息，每个条带是一些物理的块或扇区。</a:t>
            </a:r>
          </a:p>
        </p:txBody>
      </p:sp>
    </p:spTree>
    <p:extLst>
      <p:ext uri="{BB962C8B-B14F-4D97-AF65-F5344CB8AC3E}">
        <p14:creationId xmlns:p14="http://schemas.microsoft.com/office/powerpoint/2010/main" val="293576113"/>
      </p:ext>
    </p:extLst>
  </p:cSld>
  <p:clrMapOvr>
    <a:masterClrMapping/>
  </p:clrMapOvr>
  <p:transition spd="slow" advTm="9222"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44923" y="1857554"/>
            <a:ext cx="8223913" cy="4351338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例如，在一个由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个磁盘组成的阵列中，逻辑磁盘的第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个条带数据按顺序依次分布在第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个磁盘的第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个条带上，第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个条带数据按顺序依次分布在第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个磁盘的第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个条带上，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，依此类推。 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2" y="2164754"/>
            <a:ext cx="2784925" cy="2528499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5" name="Oval 9"/>
          <p:cNvSpPr>
            <a:spLocks noChangeArrowheads="1"/>
          </p:cNvSpPr>
          <p:nvPr/>
        </p:nvSpPr>
        <p:spPr bwMode="auto">
          <a:xfrm>
            <a:off x="820933" y="2925141"/>
            <a:ext cx="1100235" cy="1108082"/>
          </a:xfrm>
          <a:prstGeom prst="ellipse">
            <a:avLst/>
          </a:prstGeom>
          <a:solidFill>
            <a:srgbClr val="FFFFFF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6" name="Freeform 9"/>
          <p:cNvSpPr>
            <a:spLocks noEditPoints="1"/>
          </p:cNvSpPr>
          <p:nvPr/>
        </p:nvSpPr>
        <p:spPr bwMode="auto">
          <a:xfrm>
            <a:off x="1099075" y="3092886"/>
            <a:ext cx="680933" cy="772597"/>
          </a:xfrm>
          <a:custGeom>
            <a:avLst/>
            <a:gdLst>
              <a:gd name="T0" fmla="*/ 402 w 630"/>
              <a:gd name="T1" fmla="*/ 89 h 711"/>
              <a:gd name="T2" fmla="*/ 313 w 630"/>
              <a:gd name="T3" fmla="*/ 178 h 711"/>
              <a:gd name="T4" fmla="*/ 223 w 630"/>
              <a:gd name="T5" fmla="*/ 178 h 711"/>
              <a:gd name="T6" fmla="*/ 134 w 630"/>
              <a:gd name="T7" fmla="*/ 89 h 711"/>
              <a:gd name="T8" fmla="*/ 223 w 630"/>
              <a:gd name="T9" fmla="*/ 0 h 711"/>
              <a:gd name="T10" fmla="*/ 313 w 630"/>
              <a:gd name="T11" fmla="*/ 0 h 711"/>
              <a:gd name="T12" fmla="*/ 402 w 630"/>
              <a:gd name="T13" fmla="*/ 89 h 711"/>
              <a:gd name="T14" fmla="*/ 445 w 630"/>
              <a:gd name="T15" fmla="*/ 89 h 711"/>
              <a:gd name="T16" fmla="*/ 446 w 630"/>
              <a:gd name="T17" fmla="*/ 109 h 711"/>
              <a:gd name="T18" fmla="*/ 335 w 630"/>
              <a:gd name="T19" fmla="*/ 221 h 711"/>
              <a:gd name="T20" fmla="*/ 201 w 630"/>
              <a:gd name="T21" fmla="*/ 221 h 711"/>
              <a:gd name="T22" fmla="*/ 90 w 630"/>
              <a:gd name="T23" fmla="*/ 109 h 711"/>
              <a:gd name="T24" fmla="*/ 92 w 630"/>
              <a:gd name="T25" fmla="*/ 89 h 711"/>
              <a:gd name="T26" fmla="*/ 0 w 630"/>
              <a:gd name="T27" fmla="*/ 198 h 711"/>
              <a:gd name="T28" fmla="*/ 0 w 630"/>
              <a:gd name="T29" fmla="*/ 600 h 711"/>
              <a:gd name="T30" fmla="*/ 112 w 630"/>
              <a:gd name="T31" fmla="*/ 711 h 711"/>
              <a:gd name="T32" fmla="*/ 409 w 630"/>
              <a:gd name="T33" fmla="*/ 711 h 711"/>
              <a:gd name="T34" fmla="*/ 288 w 630"/>
              <a:gd name="T35" fmla="*/ 528 h 711"/>
              <a:gd name="T36" fmla="*/ 487 w 630"/>
              <a:gd name="T37" fmla="*/ 328 h 711"/>
              <a:gd name="T38" fmla="*/ 536 w 630"/>
              <a:gd name="T39" fmla="*/ 335 h 711"/>
              <a:gd name="T40" fmla="*/ 536 w 630"/>
              <a:gd name="T41" fmla="*/ 198 h 711"/>
              <a:gd name="T42" fmla="*/ 445 w 630"/>
              <a:gd name="T43" fmla="*/ 89 h 711"/>
              <a:gd name="T44" fmla="*/ 251 w 630"/>
              <a:gd name="T45" fmla="*/ 446 h 711"/>
              <a:gd name="T46" fmla="*/ 251 w 630"/>
              <a:gd name="T47" fmla="*/ 446 h 711"/>
              <a:gd name="T48" fmla="*/ 112 w 630"/>
              <a:gd name="T49" fmla="*/ 446 h 711"/>
              <a:gd name="T50" fmla="*/ 90 w 630"/>
              <a:gd name="T51" fmla="*/ 423 h 711"/>
              <a:gd name="T52" fmla="*/ 112 w 630"/>
              <a:gd name="T53" fmla="*/ 401 h 711"/>
              <a:gd name="T54" fmla="*/ 251 w 630"/>
              <a:gd name="T55" fmla="*/ 401 h 711"/>
              <a:gd name="T56" fmla="*/ 274 w 630"/>
              <a:gd name="T57" fmla="*/ 423 h 711"/>
              <a:gd name="T58" fmla="*/ 251 w 630"/>
              <a:gd name="T59" fmla="*/ 446 h 711"/>
              <a:gd name="T60" fmla="*/ 296 w 630"/>
              <a:gd name="T61" fmla="*/ 356 h 711"/>
              <a:gd name="T62" fmla="*/ 296 w 630"/>
              <a:gd name="T63" fmla="*/ 356 h 711"/>
              <a:gd name="T64" fmla="*/ 112 w 630"/>
              <a:gd name="T65" fmla="*/ 356 h 711"/>
              <a:gd name="T66" fmla="*/ 90 w 630"/>
              <a:gd name="T67" fmla="*/ 334 h 711"/>
              <a:gd name="T68" fmla="*/ 112 w 630"/>
              <a:gd name="T69" fmla="*/ 312 h 711"/>
              <a:gd name="T70" fmla="*/ 296 w 630"/>
              <a:gd name="T71" fmla="*/ 312 h 711"/>
              <a:gd name="T72" fmla="*/ 318 w 630"/>
              <a:gd name="T73" fmla="*/ 334 h 711"/>
              <a:gd name="T74" fmla="*/ 296 w 630"/>
              <a:gd name="T75" fmla="*/ 356 h 711"/>
              <a:gd name="T76" fmla="*/ 524 w 630"/>
              <a:gd name="T77" fmla="*/ 390 h 711"/>
              <a:gd name="T78" fmla="*/ 488 w 630"/>
              <a:gd name="T79" fmla="*/ 385 h 711"/>
              <a:gd name="T80" fmla="*/ 346 w 630"/>
              <a:gd name="T81" fmla="*/ 527 h 711"/>
              <a:gd name="T82" fmla="*/ 458 w 630"/>
              <a:gd name="T83" fmla="*/ 666 h 711"/>
              <a:gd name="T84" fmla="*/ 488 w 630"/>
              <a:gd name="T85" fmla="*/ 669 h 711"/>
              <a:gd name="T86" fmla="*/ 630 w 630"/>
              <a:gd name="T87" fmla="*/ 527 h 711"/>
              <a:gd name="T88" fmla="*/ 524 w 630"/>
              <a:gd name="T89" fmla="*/ 390 h 711"/>
              <a:gd name="T90" fmla="*/ 569 w 630"/>
              <a:gd name="T91" fmla="*/ 507 h 711"/>
              <a:gd name="T92" fmla="*/ 569 w 630"/>
              <a:gd name="T93" fmla="*/ 507 h 711"/>
              <a:gd name="T94" fmla="*/ 524 w 630"/>
              <a:gd name="T95" fmla="*/ 552 h 711"/>
              <a:gd name="T96" fmla="*/ 488 w 630"/>
              <a:gd name="T97" fmla="*/ 588 h 711"/>
              <a:gd name="T98" fmla="*/ 448 w 630"/>
              <a:gd name="T99" fmla="*/ 588 h 711"/>
              <a:gd name="T100" fmla="*/ 408 w 630"/>
              <a:gd name="T101" fmla="*/ 547 h 711"/>
              <a:gd name="T102" fmla="*/ 408 w 630"/>
              <a:gd name="T103" fmla="*/ 507 h 711"/>
              <a:gd name="T104" fmla="*/ 448 w 630"/>
              <a:gd name="T105" fmla="*/ 507 h 711"/>
              <a:gd name="T106" fmla="*/ 468 w 630"/>
              <a:gd name="T107" fmla="*/ 527 h 711"/>
              <a:gd name="T108" fmla="*/ 524 w 630"/>
              <a:gd name="T109" fmla="*/ 472 h 711"/>
              <a:gd name="T110" fmla="*/ 528 w 630"/>
              <a:gd name="T111" fmla="*/ 467 h 711"/>
              <a:gd name="T112" fmla="*/ 569 w 630"/>
              <a:gd name="T113" fmla="*/ 467 h 711"/>
              <a:gd name="T114" fmla="*/ 569 w 630"/>
              <a:gd name="T115" fmla="*/ 507 h 7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630" h="711">
                <a:moveTo>
                  <a:pt x="402" y="89"/>
                </a:moveTo>
                <a:cubicBezTo>
                  <a:pt x="402" y="138"/>
                  <a:pt x="362" y="178"/>
                  <a:pt x="313" y="178"/>
                </a:cubicBezTo>
                <a:lnTo>
                  <a:pt x="223" y="178"/>
                </a:lnTo>
                <a:cubicBezTo>
                  <a:pt x="174" y="178"/>
                  <a:pt x="134" y="138"/>
                  <a:pt x="134" y="89"/>
                </a:cubicBezTo>
                <a:cubicBezTo>
                  <a:pt x="134" y="39"/>
                  <a:pt x="174" y="0"/>
                  <a:pt x="223" y="0"/>
                </a:cubicBezTo>
                <a:lnTo>
                  <a:pt x="313" y="0"/>
                </a:lnTo>
                <a:cubicBezTo>
                  <a:pt x="362" y="0"/>
                  <a:pt x="402" y="39"/>
                  <a:pt x="402" y="89"/>
                </a:cubicBezTo>
                <a:close/>
                <a:moveTo>
                  <a:pt x="445" y="89"/>
                </a:moveTo>
                <a:cubicBezTo>
                  <a:pt x="446" y="95"/>
                  <a:pt x="446" y="102"/>
                  <a:pt x="446" y="109"/>
                </a:cubicBezTo>
                <a:cubicBezTo>
                  <a:pt x="446" y="171"/>
                  <a:pt x="397" y="221"/>
                  <a:pt x="335" y="221"/>
                </a:cubicBezTo>
                <a:lnTo>
                  <a:pt x="201" y="221"/>
                </a:lnTo>
                <a:cubicBezTo>
                  <a:pt x="140" y="221"/>
                  <a:pt x="90" y="171"/>
                  <a:pt x="90" y="109"/>
                </a:cubicBezTo>
                <a:cubicBezTo>
                  <a:pt x="90" y="102"/>
                  <a:pt x="90" y="95"/>
                  <a:pt x="92" y="89"/>
                </a:cubicBezTo>
                <a:cubicBezTo>
                  <a:pt x="40" y="98"/>
                  <a:pt x="0" y="144"/>
                  <a:pt x="0" y="198"/>
                </a:cubicBezTo>
                <a:lnTo>
                  <a:pt x="0" y="600"/>
                </a:lnTo>
                <a:cubicBezTo>
                  <a:pt x="0" y="661"/>
                  <a:pt x="50" y="711"/>
                  <a:pt x="112" y="711"/>
                </a:cubicBezTo>
                <a:lnTo>
                  <a:pt x="409" y="711"/>
                </a:lnTo>
                <a:cubicBezTo>
                  <a:pt x="338" y="681"/>
                  <a:pt x="288" y="610"/>
                  <a:pt x="288" y="528"/>
                </a:cubicBezTo>
                <a:cubicBezTo>
                  <a:pt x="288" y="418"/>
                  <a:pt x="377" y="328"/>
                  <a:pt x="487" y="328"/>
                </a:cubicBezTo>
                <a:cubicBezTo>
                  <a:pt x="504" y="328"/>
                  <a:pt x="520" y="331"/>
                  <a:pt x="536" y="335"/>
                </a:cubicBezTo>
                <a:lnTo>
                  <a:pt x="536" y="198"/>
                </a:lnTo>
                <a:cubicBezTo>
                  <a:pt x="536" y="144"/>
                  <a:pt x="496" y="98"/>
                  <a:pt x="445" y="89"/>
                </a:cubicBezTo>
                <a:close/>
                <a:moveTo>
                  <a:pt x="251" y="446"/>
                </a:moveTo>
                <a:lnTo>
                  <a:pt x="251" y="446"/>
                </a:lnTo>
                <a:lnTo>
                  <a:pt x="112" y="446"/>
                </a:lnTo>
                <a:cubicBezTo>
                  <a:pt x="100" y="446"/>
                  <a:pt x="90" y="436"/>
                  <a:pt x="90" y="423"/>
                </a:cubicBezTo>
                <a:cubicBezTo>
                  <a:pt x="90" y="411"/>
                  <a:pt x="100" y="401"/>
                  <a:pt x="112" y="401"/>
                </a:cubicBezTo>
                <a:lnTo>
                  <a:pt x="251" y="401"/>
                </a:lnTo>
                <a:cubicBezTo>
                  <a:pt x="264" y="401"/>
                  <a:pt x="274" y="411"/>
                  <a:pt x="274" y="423"/>
                </a:cubicBezTo>
                <a:cubicBezTo>
                  <a:pt x="274" y="436"/>
                  <a:pt x="264" y="446"/>
                  <a:pt x="251" y="446"/>
                </a:cubicBezTo>
                <a:close/>
                <a:moveTo>
                  <a:pt x="296" y="356"/>
                </a:moveTo>
                <a:lnTo>
                  <a:pt x="296" y="356"/>
                </a:lnTo>
                <a:lnTo>
                  <a:pt x="112" y="356"/>
                </a:lnTo>
                <a:cubicBezTo>
                  <a:pt x="100" y="356"/>
                  <a:pt x="90" y="346"/>
                  <a:pt x="90" y="334"/>
                </a:cubicBezTo>
                <a:cubicBezTo>
                  <a:pt x="90" y="322"/>
                  <a:pt x="100" y="312"/>
                  <a:pt x="112" y="312"/>
                </a:cubicBezTo>
                <a:lnTo>
                  <a:pt x="296" y="312"/>
                </a:lnTo>
                <a:cubicBezTo>
                  <a:pt x="308" y="312"/>
                  <a:pt x="318" y="322"/>
                  <a:pt x="318" y="334"/>
                </a:cubicBezTo>
                <a:cubicBezTo>
                  <a:pt x="318" y="346"/>
                  <a:pt x="308" y="356"/>
                  <a:pt x="296" y="356"/>
                </a:cubicBezTo>
                <a:close/>
                <a:moveTo>
                  <a:pt x="524" y="390"/>
                </a:moveTo>
                <a:cubicBezTo>
                  <a:pt x="512" y="387"/>
                  <a:pt x="501" y="385"/>
                  <a:pt x="488" y="385"/>
                </a:cubicBezTo>
                <a:cubicBezTo>
                  <a:pt x="410" y="385"/>
                  <a:pt x="346" y="449"/>
                  <a:pt x="346" y="527"/>
                </a:cubicBezTo>
                <a:cubicBezTo>
                  <a:pt x="346" y="596"/>
                  <a:pt x="394" y="652"/>
                  <a:pt x="458" y="666"/>
                </a:cubicBezTo>
                <a:cubicBezTo>
                  <a:pt x="468" y="668"/>
                  <a:pt x="478" y="669"/>
                  <a:pt x="488" y="669"/>
                </a:cubicBezTo>
                <a:cubicBezTo>
                  <a:pt x="567" y="669"/>
                  <a:pt x="630" y="606"/>
                  <a:pt x="630" y="527"/>
                </a:cubicBezTo>
                <a:cubicBezTo>
                  <a:pt x="630" y="461"/>
                  <a:pt x="585" y="405"/>
                  <a:pt x="524" y="390"/>
                </a:cubicBezTo>
                <a:close/>
                <a:moveTo>
                  <a:pt x="569" y="507"/>
                </a:moveTo>
                <a:lnTo>
                  <a:pt x="569" y="507"/>
                </a:lnTo>
                <a:lnTo>
                  <a:pt x="524" y="552"/>
                </a:lnTo>
                <a:lnTo>
                  <a:pt x="488" y="588"/>
                </a:lnTo>
                <a:cubicBezTo>
                  <a:pt x="477" y="599"/>
                  <a:pt x="459" y="599"/>
                  <a:pt x="448" y="588"/>
                </a:cubicBezTo>
                <a:lnTo>
                  <a:pt x="408" y="547"/>
                </a:lnTo>
                <a:cubicBezTo>
                  <a:pt x="397" y="536"/>
                  <a:pt x="397" y="518"/>
                  <a:pt x="408" y="507"/>
                </a:cubicBezTo>
                <a:cubicBezTo>
                  <a:pt x="419" y="496"/>
                  <a:pt x="437" y="496"/>
                  <a:pt x="448" y="507"/>
                </a:cubicBezTo>
                <a:lnTo>
                  <a:pt x="468" y="527"/>
                </a:lnTo>
                <a:lnTo>
                  <a:pt x="524" y="472"/>
                </a:lnTo>
                <a:lnTo>
                  <a:pt x="528" y="467"/>
                </a:lnTo>
                <a:cubicBezTo>
                  <a:pt x="540" y="456"/>
                  <a:pt x="558" y="456"/>
                  <a:pt x="569" y="467"/>
                </a:cubicBezTo>
                <a:cubicBezTo>
                  <a:pt x="580" y="478"/>
                  <a:pt x="580" y="496"/>
                  <a:pt x="569" y="507"/>
                </a:cubicBezTo>
                <a:close/>
              </a:path>
            </a:pathLst>
          </a:custGeom>
          <a:solidFill>
            <a:srgbClr val="02B9E7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</p:spTree>
    <p:extLst>
      <p:ext uri="{BB962C8B-B14F-4D97-AF65-F5344CB8AC3E}">
        <p14:creationId xmlns:p14="http://schemas.microsoft.com/office/powerpoint/2010/main" val="1014954750"/>
      </p:ext>
    </p:extLst>
  </p:cSld>
  <p:clrMapOvr>
    <a:masterClrMapping/>
  </p:clrMapOvr>
  <p:transition spd="slow" advTm="9222"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E:\我的文档\商务图片\19147185_150127007000_2.jpg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45558" y="3285239"/>
            <a:ext cx="5022365" cy="3101913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E:\我的文档\商务图片\Nipic_1082507_20091207090526024812.jpg"/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228894" y="3280275"/>
            <a:ext cx="5110573" cy="310687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83"/>
          <p:cNvSpPr>
            <a:spLocks noChangeArrowheads="1"/>
          </p:cNvSpPr>
          <p:nvPr/>
        </p:nvSpPr>
        <p:spPr bwMode="auto">
          <a:xfrm>
            <a:off x="1045558" y="852530"/>
            <a:ext cx="10222393" cy="2116756"/>
          </a:xfrm>
          <a:prstGeom prst="rect">
            <a:avLst/>
          </a:prstGeom>
          <a:solidFill>
            <a:srgbClr val="F2F2F2"/>
          </a:solidFill>
          <a:ln w="9525" cmpd="sng">
            <a:solidFill>
              <a:schemeClr val="accent1"/>
            </a:solidFill>
            <a:miter lim="800000"/>
            <a:headEnd/>
            <a:tailEnd/>
          </a:ln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9" name="TextBox 84"/>
          <p:cNvSpPr txBox="1">
            <a:spLocks noChangeArrowheads="1"/>
          </p:cNvSpPr>
          <p:nvPr/>
        </p:nvSpPr>
        <p:spPr bwMode="auto">
          <a:xfrm>
            <a:off x="1267763" y="971547"/>
            <a:ext cx="9777981" cy="2031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398" tIns="45699" rIns="91398" bIns="4569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这种布局的优点是，如果某个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请求由多个相邻的条带组成，那么对这多个条带的请求可以并行处理，这样可以大大提高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的数据传输率。 </a:t>
            </a:r>
          </a:p>
        </p:txBody>
      </p:sp>
      <p:sp>
        <p:nvSpPr>
          <p:cNvPr id="10" name="Freeform 12"/>
          <p:cNvSpPr>
            <a:spLocks/>
          </p:cNvSpPr>
          <p:nvPr/>
        </p:nvSpPr>
        <p:spPr bwMode="auto">
          <a:xfrm>
            <a:off x="970971" y="706538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04BEB0"/>
          </a:solidFill>
          <a:ln>
            <a:noFill/>
          </a:ln>
          <a:extLst/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11" name="Freeform 12"/>
          <p:cNvSpPr>
            <a:spLocks/>
          </p:cNvSpPr>
          <p:nvPr/>
        </p:nvSpPr>
        <p:spPr bwMode="auto">
          <a:xfrm flipH="1" flipV="1">
            <a:off x="10811035" y="2508068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12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2159431104"/>
      </p:ext>
    </p:extLst>
  </p:cSld>
  <p:clrMapOvr>
    <a:masterClrMapping/>
  </p:clrMapOvr>
  <p:transition spd="slow" advTm="0">
    <p:blinds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8517" y="1822999"/>
            <a:ext cx="8601098" cy="4351338"/>
          </a:xfrm>
        </p:spPr>
        <p:txBody>
          <a:bodyPr/>
          <a:lstStyle/>
          <a:p>
            <a:pPr marL="0" indent="0" eaLnBrk="1" hangingPunct="1">
              <a:lnSpc>
                <a:spcPct val="200000"/>
              </a:lnSpc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家族中的真正成员，因为它没有数据冗余能力。由于没有采用备份或校验恢复技术，在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阵列中任何一个磁盘损坏就会导致整个磁盘阵列数据的损坏 。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9479055" y="2390041"/>
            <a:ext cx="2712945" cy="2528499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5" name="Oval 9"/>
          <p:cNvSpPr>
            <a:spLocks noChangeArrowheads="1"/>
          </p:cNvSpPr>
          <p:nvPr/>
        </p:nvSpPr>
        <p:spPr bwMode="auto">
          <a:xfrm>
            <a:off x="10299984" y="3078449"/>
            <a:ext cx="1100235" cy="1108082"/>
          </a:xfrm>
          <a:prstGeom prst="ellipse">
            <a:avLst/>
          </a:prstGeom>
          <a:solidFill>
            <a:srgbClr val="FFFFFF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 dirty="0"/>
          </a:p>
        </p:txBody>
      </p:sp>
      <p:sp>
        <p:nvSpPr>
          <p:cNvPr id="6" name="Freeform 11"/>
          <p:cNvSpPr>
            <a:spLocks noEditPoints="1"/>
          </p:cNvSpPr>
          <p:nvPr/>
        </p:nvSpPr>
        <p:spPr bwMode="auto">
          <a:xfrm>
            <a:off x="10509424" y="3266315"/>
            <a:ext cx="681355" cy="732353"/>
          </a:xfrm>
          <a:custGeom>
            <a:avLst/>
            <a:gdLst>
              <a:gd name="T0" fmla="*/ 203 w 675"/>
              <a:gd name="T1" fmla="*/ 110 h 720"/>
              <a:gd name="T2" fmla="*/ 442 w 675"/>
              <a:gd name="T3" fmla="*/ 80 h 720"/>
              <a:gd name="T4" fmla="*/ 356 w 675"/>
              <a:gd name="T5" fmla="*/ 50 h 720"/>
              <a:gd name="T6" fmla="*/ 258 w 675"/>
              <a:gd name="T7" fmla="*/ 50 h 720"/>
              <a:gd name="T8" fmla="*/ 172 w 675"/>
              <a:gd name="T9" fmla="*/ 80 h 720"/>
              <a:gd name="T10" fmla="*/ 555 w 675"/>
              <a:gd name="T11" fmla="*/ 624 h 720"/>
              <a:gd name="T12" fmla="*/ 564 w 675"/>
              <a:gd name="T13" fmla="*/ 602 h 720"/>
              <a:gd name="T14" fmla="*/ 526 w 675"/>
              <a:gd name="T15" fmla="*/ 467 h 720"/>
              <a:gd name="T16" fmla="*/ 500 w 675"/>
              <a:gd name="T17" fmla="*/ 467 h 720"/>
              <a:gd name="T18" fmla="*/ 501 w 675"/>
              <a:gd name="T19" fmla="*/ 571 h 720"/>
              <a:gd name="T20" fmla="*/ 501 w 675"/>
              <a:gd name="T21" fmla="*/ 573 h 720"/>
              <a:gd name="T22" fmla="*/ 502 w 675"/>
              <a:gd name="T23" fmla="*/ 576 h 720"/>
              <a:gd name="T24" fmla="*/ 504 w 675"/>
              <a:gd name="T25" fmla="*/ 578 h 720"/>
              <a:gd name="T26" fmla="*/ 642 w 675"/>
              <a:gd name="T27" fmla="*/ 475 h 720"/>
              <a:gd name="T28" fmla="*/ 513 w 675"/>
              <a:gd name="T29" fmla="*/ 407 h 720"/>
              <a:gd name="T30" fmla="*/ 484 w 675"/>
              <a:gd name="T31" fmla="*/ 717 h 720"/>
              <a:gd name="T32" fmla="*/ 667 w 675"/>
              <a:gd name="T33" fmla="*/ 593 h 720"/>
              <a:gd name="T34" fmla="*/ 643 w 675"/>
              <a:gd name="T35" fmla="*/ 588 h 720"/>
              <a:gd name="T36" fmla="*/ 513 w 675"/>
              <a:gd name="T37" fmla="*/ 696 h 720"/>
              <a:gd name="T38" fmla="*/ 383 w 675"/>
              <a:gd name="T39" fmla="*/ 538 h 720"/>
              <a:gd name="T40" fmla="*/ 538 w 675"/>
              <a:gd name="T41" fmla="*/ 433 h 720"/>
              <a:gd name="T42" fmla="*/ 643 w 675"/>
              <a:gd name="T43" fmla="*/ 588 h 720"/>
              <a:gd name="T44" fmla="*/ 226 w 675"/>
              <a:gd name="T45" fmla="*/ 587 h 720"/>
              <a:gd name="T46" fmla="*/ 386 w 675"/>
              <a:gd name="T47" fmla="*/ 428 h 720"/>
              <a:gd name="T48" fmla="*/ 419 w 675"/>
              <a:gd name="T49" fmla="*/ 403 h 720"/>
              <a:gd name="T50" fmla="*/ 582 w 675"/>
              <a:gd name="T51" fmla="*/ 244 h 720"/>
              <a:gd name="T52" fmla="*/ 589 w 675"/>
              <a:gd name="T53" fmla="*/ 394 h 720"/>
              <a:gd name="T54" fmla="*/ 614 w 675"/>
              <a:gd name="T55" fmla="*/ 403 h 720"/>
              <a:gd name="T56" fmla="*/ 614 w 675"/>
              <a:gd name="T57" fmla="*/ 166 h 720"/>
              <a:gd name="T58" fmla="*/ 32 w 675"/>
              <a:gd name="T59" fmla="*/ 134 h 720"/>
              <a:gd name="T60" fmla="*/ 0 w 675"/>
              <a:gd name="T61" fmla="*/ 251 h 720"/>
              <a:gd name="T62" fmla="*/ 0 w 675"/>
              <a:gd name="T63" fmla="*/ 428 h 720"/>
              <a:gd name="T64" fmla="*/ 0 w 675"/>
              <a:gd name="T65" fmla="*/ 599 h 720"/>
              <a:gd name="T66" fmla="*/ 340 w 675"/>
              <a:gd name="T67" fmla="*/ 631 h 720"/>
              <a:gd name="T68" fmla="*/ 25 w 675"/>
              <a:gd name="T69" fmla="*/ 251 h 720"/>
              <a:gd name="T70" fmla="*/ 32 w 675"/>
              <a:gd name="T71" fmla="*/ 244 h 720"/>
              <a:gd name="T72" fmla="*/ 201 w 675"/>
              <a:gd name="T73" fmla="*/ 403 h 720"/>
              <a:gd name="T74" fmla="*/ 25 w 675"/>
              <a:gd name="T75" fmla="*/ 251 h 720"/>
              <a:gd name="T76" fmla="*/ 201 w 675"/>
              <a:gd name="T77" fmla="*/ 428 h 720"/>
              <a:gd name="T78" fmla="*/ 32 w 675"/>
              <a:gd name="T79" fmla="*/ 587 h 720"/>
              <a:gd name="T80" fmla="*/ 25 w 675"/>
              <a:gd name="T81" fmla="*/ 428 h 720"/>
              <a:gd name="T82" fmla="*/ 226 w 675"/>
              <a:gd name="T83" fmla="*/ 403 h 720"/>
              <a:gd name="T84" fmla="*/ 226 w 675"/>
              <a:gd name="T85" fmla="*/ 244 h 720"/>
              <a:gd name="T86" fmla="*/ 394 w 675"/>
              <a:gd name="T87" fmla="*/ 403 h 720"/>
              <a:gd name="T88" fmla="*/ 406 w 675"/>
              <a:gd name="T89" fmla="*/ 166 h 720"/>
              <a:gd name="T90" fmla="*/ 428 w 675"/>
              <a:gd name="T91" fmla="*/ 188 h 720"/>
              <a:gd name="T92" fmla="*/ 385 w 675"/>
              <a:gd name="T93" fmla="*/ 188 h 720"/>
              <a:gd name="T94" fmla="*/ 213 w 675"/>
              <a:gd name="T95" fmla="*/ 166 h 720"/>
              <a:gd name="T96" fmla="*/ 235 w 675"/>
              <a:gd name="T97" fmla="*/ 188 h 720"/>
              <a:gd name="T98" fmla="*/ 192 w 675"/>
              <a:gd name="T99" fmla="*/ 188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675" h="720">
                <a:moveTo>
                  <a:pt x="172" y="80"/>
                </a:moveTo>
                <a:cubicBezTo>
                  <a:pt x="172" y="97"/>
                  <a:pt x="186" y="110"/>
                  <a:pt x="203" y="110"/>
                </a:cubicBezTo>
                <a:lnTo>
                  <a:pt x="411" y="110"/>
                </a:lnTo>
                <a:cubicBezTo>
                  <a:pt x="428" y="110"/>
                  <a:pt x="442" y="97"/>
                  <a:pt x="442" y="80"/>
                </a:cubicBezTo>
                <a:cubicBezTo>
                  <a:pt x="442" y="63"/>
                  <a:pt x="428" y="50"/>
                  <a:pt x="411" y="50"/>
                </a:cubicBezTo>
                <a:lnTo>
                  <a:pt x="356" y="50"/>
                </a:lnTo>
                <a:cubicBezTo>
                  <a:pt x="356" y="22"/>
                  <a:pt x="334" y="0"/>
                  <a:pt x="307" y="0"/>
                </a:cubicBezTo>
                <a:cubicBezTo>
                  <a:pt x="280" y="0"/>
                  <a:pt x="258" y="22"/>
                  <a:pt x="258" y="50"/>
                </a:cubicBezTo>
                <a:lnTo>
                  <a:pt x="203" y="50"/>
                </a:lnTo>
                <a:cubicBezTo>
                  <a:pt x="186" y="50"/>
                  <a:pt x="172" y="63"/>
                  <a:pt x="172" y="80"/>
                </a:cubicBezTo>
                <a:close/>
                <a:moveTo>
                  <a:pt x="546" y="620"/>
                </a:moveTo>
                <a:cubicBezTo>
                  <a:pt x="549" y="622"/>
                  <a:pt x="552" y="624"/>
                  <a:pt x="555" y="624"/>
                </a:cubicBezTo>
                <a:cubicBezTo>
                  <a:pt x="558" y="624"/>
                  <a:pt x="562" y="622"/>
                  <a:pt x="564" y="620"/>
                </a:cubicBezTo>
                <a:cubicBezTo>
                  <a:pt x="569" y="615"/>
                  <a:pt x="569" y="607"/>
                  <a:pt x="564" y="602"/>
                </a:cubicBezTo>
                <a:lnTo>
                  <a:pt x="526" y="563"/>
                </a:lnTo>
                <a:lnTo>
                  <a:pt x="526" y="467"/>
                </a:lnTo>
                <a:cubicBezTo>
                  <a:pt x="526" y="460"/>
                  <a:pt x="520" y="455"/>
                  <a:pt x="513" y="455"/>
                </a:cubicBezTo>
                <a:cubicBezTo>
                  <a:pt x="506" y="455"/>
                  <a:pt x="500" y="460"/>
                  <a:pt x="500" y="467"/>
                </a:cubicBezTo>
                <a:lnTo>
                  <a:pt x="500" y="569"/>
                </a:lnTo>
                <a:cubicBezTo>
                  <a:pt x="500" y="570"/>
                  <a:pt x="500" y="570"/>
                  <a:pt x="501" y="571"/>
                </a:cubicBezTo>
                <a:cubicBezTo>
                  <a:pt x="501" y="572"/>
                  <a:pt x="501" y="572"/>
                  <a:pt x="501" y="572"/>
                </a:cubicBezTo>
                <a:cubicBezTo>
                  <a:pt x="501" y="573"/>
                  <a:pt x="501" y="573"/>
                  <a:pt x="501" y="573"/>
                </a:cubicBezTo>
                <a:cubicBezTo>
                  <a:pt x="502" y="574"/>
                  <a:pt x="502" y="574"/>
                  <a:pt x="502" y="575"/>
                </a:cubicBezTo>
                <a:cubicBezTo>
                  <a:pt x="502" y="575"/>
                  <a:pt x="502" y="575"/>
                  <a:pt x="502" y="576"/>
                </a:cubicBezTo>
                <a:cubicBezTo>
                  <a:pt x="503" y="576"/>
                  <a:pt x="503" y="577"/>
                  <a:pt x="504" y="577"/>
                </a:cubicBezTo>
                <a:cubicBezTo>
                  <a:pt x="504" y="577"/>
                  <a:pt x="504" y="578"/>
                  <a:pt x="504" y="578"/>
                </a:cubicBezTo>
                <a:lnTo>
                  <a:pt x="546" y="620"/>
                </a:lnTo>
                <a:close/>
                <a:moveTo>
                  <a:pt x="642" y="475"/>
                </a:moveTo>
                <a:cubicBezTo>
                  <a:pt x="619" y="441"/>
                  <a:pt x="583" y="417"/>
                  <a:pt x="542" y="410"/>
                </a:cubicBezTo>
                <a:cubicBezTo>
                  <a:pt x="533" y="408"/>
                  <a:pt x="523" y="407"/>
                  <a:pt x="513" y="407"/>
                </a:cubicBezTo>
                <a:cubicBezTo>
                  <a:pt x="438" y="407"/>
                  <a:pt x="373" y="460"/>
                  <a:pt x="359" y="534"/>
                </a:cubicBezTo>
                <a:cubicBezTo>
                  <a:pt x="343" y="619"/>
                  <a:pt x="399" y="701"/>
                  <a:pt x="484" y="717"/>
                </a:cubicBezTo>
                <a:cubicBezTo>
                  <a:pt x="493" y="719"/>
                  <a:pt x="503" y="720"/>
                  <a:pt x="513" y="720"/>
                </a:cubicBezTo>
                <a:cubicBezTo>
                  <a:pt x="588" y="720"/>
                  <a:pt x="653" y="666"/>
                  <a:pt x="667" y="593"/>
                </a:cubicBezTo>
                <a:cubicBezTo>
                  <a:pt x="675" y="552"/>
                  <a:pt x="666" y="510"/>
                  <a:pt x="642" y="475"/>
                </a:cubicBezTo>
                <a:close/>
                <a:moveTo>
                  <a:pt x="643" y="588"/>
                </a:moveTo>
                <a:lnTo>
                  <a:pt x="643" y="588"/>
                </a:lnTo>
                <a:cubicBezTo>
                  <a:pt x="631" y="650"/>
                  <a:pt x="576" y="696"/>
                  <a:pt x="513" y="696"/>
                </a:cubicBezTo>
                <a:cubicBezTo>
                  <a:pt x="505" y="696"/>
                  <a:pt x="496" y="695"/>
                  <a:pt x="488" y="693"/>
                </a:cubicBezTo>
                <a:cubicBezTo>
                  <a:pt x="416" y="680"/>
                  <a:pt x="369" y="610"/>
                  <a:pt x="383" y="538"/>
                </a:cubicBezTo>
                <a:cubicBezTo>
                  <a:pt x="395" y="476"/>
                  <a:pt x="449" y="431"/>
                  <a:pt x="513" y="431"/>
                </a:cubicBezTo>
                <a:cubicBezTo>
                  <a:pt x="521" y="431"/>
                  <a:pt x="529" y="432"/>
                  <a:pt x="538" y="433"/>
                </a:cubicBezTo>
                <a:cubicBezTo>
                  <a:pt x="573" y="440"/>
                  <a:pt x="603" y="460"/>
                  <a:pt x="622" y="489"/>
                </a:cubicBezTo>
                <a:cubicBezTo>
                  <a:pt x="642" y="518"/>
                  <a:pt x="650" y="553"/>
                  <a:pt x="643" y="588"/>
                </a:cubicBezTo>
                <a:close/>
                <a:moveTo>
                  <a:pt x="329" y="587"/>
                </a:moveTo>
                <a:lnTo>
                  <a:pt x="226" y="587"/>
                </a:lnTo>
                <a:lnTo>
                  <a:pt x="226" y="428"/>
                </a:lnTo>
                <a:lnTo>
                  <a:pt x="386" y="428"/>
                </a:lnTo>
                <a:cubicBezTo>
                  <a:pt x="396" y="418"/>
                  <a:pt x="407" y="410"/>
                  <a:pt x="419" y="403"/>
                </a:cubicBezTo>
                <a:lnTo>
                  <a:pt x="419" y="403"/>
                </a:lnTo>
                <a:lnTo>
                  <a:pt x="419" y="244"/>
                </a:lnTo>
                <a:lnTo>
                  <a:pt x="582" y="244"/>
                </a:lnTo>
                <a:cubicBezTo>
                  <a:pt x="586" y="244"/>
                  <a:pt x="589" y="247"/>
                  <a:pt x="589" y="251"/>
                </a:cubicBezTo>
                <a:lnTo>
                  <a:pt x="589" y="394"/>
                </a:lnTo>
                <a:cubicBezTo>
                  <a:pt x="598" y="398"/>
                  <a:pt x="606" y="403"/>
                  <a:pt x="614" y="408"/>
                </a:cubicBezTo>
                <a:lnTo>
                  <a:pt x="614" y="403"/>
                </a:lnTo>
                <a:lnTo>
                  <a:pt x="614" y="251"/>
                </a:lnTo>
                <a:lnTo>
                  <a:pt x="614" y="166"/>
                </a:lnTo>
                <a:cubicBezTo>
                  <a:pt x="614" y="148"/>
                  <a:pt x="600" y="134"/>
                  <a:pt x="582" y="134"/>
                </a:cubicBezTo>
                <a:lnTo>
                  <a:pt x="32" y="134"/>
                </a:lnTo>
                <a:cubicBezTo>
                  <a:pt x="14" y="134"/>
                  <a:pt x="0" y="148"/>
                  <a:pt x="0" y="166"/>
                </a:cubicBezTo>
                <a:lnTo>
                  <a:pt x="0" y="251"/>
                </a:lnTo>
                <a:lnTo>
                  <a:pt x="0" y="403"/>
                </a:lnTo>
                <a:lnTo>
                  <a:pt x="0" y="428"/>
                </a:lnTo>
                <a:lnTo>
                  <a:pt x="0" y="580"/>
                </a:lnTo>
                <a:lnTo>
                  <a:pt x="0" y="599"/>
                </a:lnTo>
                <a:cubicBezTo>
                  <a:pt x="0" y="617"/>
                  <a:pt x="14" y="631"/>
                  <a:pt x="32" y="631"/>
                </a:cubicBezTo>
                <a:lnTo>
                  <a:pt x="340" y="631"/>
                </a:lnTo>
                <a:cubicBezTo>
                  <a:pt x="334" y="617"/>
                  <a:pt x="330" y="602"/>
                  <a:pt x="329" y="587"/>
                </a:cubicBezTo>
                <a:close/>
                <a:moveTo>
                  <a:pt x="25" y="251"/>
                </a:moveTo>
                <a:lnTo>
                  <a:pt x="25" y="251"/>
                </a:lnTo>
                <a:cubicBezTo>
                  <a:pt x="25" y="247"/>
                  <a:pt x="28" y="244"/>
                  <a:pt x="32" y="244"/>
                </a:cubicBezTo>
                <a:lnTo>
                  <a:pt x="201" y="244"/>
                </a:lnTo>
                <a:lnTo>
                  <a:pt x="201" y="403"/>
                </a:lnTo>
                <a:lnTo>
                  <a:pt x="25" y="403"/>
                </a:lnTo>
                <a:lnTo>
                  <a:pt x="25" y="251"/>
                </a:lnTo>
                <a:close/>
                <a:moveTo>
                  <a:pt x="201" y="428"/>
                </a:moveTo>
                <a:lnTo>
                  <a:pt x="201" y="428"/>
                </a:lnTo>
                <a:lnTo>
                  <a:pt x="201" y="587"/>
                </a:lnTo>
                <a:lnTo>
                  <a:pt x="32" y="587"/>
                </a:lnTo>
                <a:cubicBezTo>
                  <a:pt x="28" y="587"/>
                  <a:pt x="25" y="584"/>
                  <a:pt x="25" y="580"/>
                </a:cubicBezTo>
                <a:lnTo>
                  <a:pt x="25" y="428"/>
                </a:lnTo>
                <a:lnTo>
                  <a:pt x="201" y="428"/>
                </a:lnTo>
                <a:close/>
                <a:moveTo>
                  <a:pt x="226" y="403"/>
                </a:moveTo>
                <a:lnTo>
                  <a:pt x="226" y="403"/>
                </a:lnTo>
                <a:lnTo>
                  <a:pt x="226" y="244"/>
                </a:lnTo>
                <a:lnTo>
                  <a:pt x="394" y="244"/>
                </a:lnTo>
                <a:lnTo>
                  <a:pt x="394" y="403"/>
                </a:lnTo>
                <a:lnTo>
                  <a:pt x="226" y="403"/>
                </a:lnTo>
                <a:close/>
                <a:moveTo>
                  <a:pt x="406" y="166"/>
                </a:moveTo>
                <a:lnTo>
                  <a:pt x="406" y="166"/>
                </a:lnTo>
                <a:cubicBezTo>
                  <a:pt x="418" y="166"/>
                  <a:pt x="428" y="176"/>
                  <a:pt x="428" y="188"/>
                </a:cubicBezTo>
                <a:cubicBezTo>
                  <a:pt x="428" y="200"/>
                  <a:pt x="418" y="209"/>
                  <a:pt x="406" y="209"/>
                </a:cubicBezTo>
                <a:cubicBezTo>
                  <a:pt x="394" y="209"/>
                  <a:pt x="385" y="200"/>
                  <a:pt x="385" y="188"/>
                </a:cubicBezTo>
                <a:cubicBezTo>
                  <a:pt x="385" y="176"/>
                  <a:pt x="394" y="166"/>
                  <a:pt x="406" y="166"/>
                </a:cubicBezTo>
                <a:close/>
                <a:moveTo>
                  <a:pt x="213" y="166"/>
                </a:moveTo>
                <a:lnTo>
                  <a:pt x="213" y="166"/>
                </a:lnTo>
                <a:cubicBezTo>
                  <a:pt x="225" y="166"/>
                  <a:pt x="235" y="176"/>
                  <a:pt x="235" y="188"/>
                </a:cubicBezTo>
                <a:cubicBezTo>
                  <a:pt x="235" y="200"/>
                  <a:pt x="225" y="209"/>
                  <a:pt x="213" y="209"/>
                </a:cubicBezTo>
                <a:cubicBezTo>
                  <a:pt x="201" y="209"/>
                  <a:pt x="192" y="200"/>
                  <a:pt x="192" y="188"/>
                </a:cubicBezTo>
                <a:cubicBezTo>
                  <a:pt x="192" y="176"/>
                  <a:pt x="201" y="166"/>
                  <a:pt x="213" y="166"/>
                </a:cubicBezTo>
                <a:close/>
              </a:path>
            </a:pathLst>
          </a:custGeom>
          <a:solidFill>
            <a:srgbClr val="01C0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</p:spTree>
    <p:extLst>
      <p:ext uri="{BB962C8B-B14F-4D97-AF65-F5344CB8AC3E}">
        <p14:creationId xmlns:p14="http://schemas.microsoft.com/office/powerpoint/2010/main" val="696144756"/>
      </p:ext>
    </p:extLst>
  </p:cSld>
  <p:clrMapOvr>
    <a:masterClrMapping/>
  </p:clrMapOvr>
  <p:transition spd="slow" advTm="9222">
    <p:blinds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24001" y="1240060"/>
            <a:ext cx="9107605" cy="213178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64844" y="0"/>
            <a:ext cx="10515600" cy="1325563"/>
          </a:xfrm>
        </p:spPr>
        <p:txBody>
          <a:bodyPr/>
          <a:lstStyle/>
          <a:p>
            <a:pPr algn="l" eaLnBrk="1" hangingPunct="1"/>
            <a:r>
              <a:rPr lang="zh-CN" altLang="en-US" sz="3600" dirty="0"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RAID1 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63690" y="1240059"/>
            <a:ext cx="8991599" cy="2255171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RAID1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又称为磁盘镜像，是所有的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级中具有最佳失效保护的一种方案。它使用两组互为镜像的磁盘进行简单的完全数据备份，从而实现数据存储的安全性。 </a:t>
            </a:r>
          </a:p>
        </p:txBody>
      </p:sp>
      <p:sp>
        <p:nvSpPr>
          <p:cNvPr id="14340" name="Rectangle 5"/>
          <p:cNvSpPr>
            <a:spLocks noChangeArrowheads="1"/>
          </p:cNvSpPr>
          <p:nvPr/>
        </p:nvSpPr>
        <p:spPr bwMode="auto">
          <a:xfrm>
            <a:off x="1524001" y="264425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50000"/>
              <a:buFont typeface="Wingdings 2" panose="05020102010507070707" pitchFamily="18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60000"/>
              <a:buFont typeface="Wingdings 2" panose="05020102010507070707" pitchFamily="18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143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0179890"/>
              </p:ext>
            </p:extLst>
          </p:nvPr>
        </p:nvGraphicFramePr>
        <p:xfrm>
          <a:off x="1563690" y="3902510"/>
          <a:ext cx="8757350" cy="2621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6" name="Visio" r:id="rId3" imgW="4007025" imgH="1200386" progId="Visio.Drawing.11">
                  <p:embed/>
                </p:oleObj>
              </mc:Choice>
              <mc:Fallback>
                <p:oleObj name="Visio" r:id="rId3" imgW="4007025" imgH="1200386" progId="Visio.Drawing.11">
                  <p:embed/>
                  <p:pic>
                    <p:nvPicPr>
                      <p:cNvPr id="1434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3690" y="3902510"/>
                        <a:ext cx="8757350" cy="2621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1358401182"/>
      </p:ext>
    </p:extLst>
  </p:cSld>
  <p:clrMapOvr>
    <a:masterClrMapping/>
  </p:clrMapOvr>
  <p:transition spd="slow" advTm="9222">
    <p:blinds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05858" y="2041924"/>
            <a:ext cx="8022035" cy="5026025"/>
          </a:xfrm>
        </p:spPr>
        <p:txBody>
          <a:bodyPr/>
          <a:lstStyle/>
          <a:p>
            <a:pPr marL="0" indent="0" eaLnBrk="1" hangingPunct="1">
              <a:lnSpc>
                <a:spcPct val="200000"/>
              </a:lnSpc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也采用与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相同的条带数据划分，即在每组内，所有磁盘以条带方式进行数据组织，以保持与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同样的高性能。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" y="2164754"/>
            <a:ext cx="2784925" cy="252849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6" name="Oval 9"/>
          <p:cNvSpPr>
            <a:spLocks noChangeArrowheads="1"/>
          </p:cNvSpPr>
          <p:nvPr/>
        </p:nvSpPr>
        <p:spPr bwMode="auto">
          <a:xfrm>
            <a:off x="820933" y="2925141"/>
            <a:ext cx="1100235" cy="1108082"/>
          </a:xfrm>
          <a:prstGeom prst="ellipse">
            <a:avLst/>
          </a:prstGeom>
          <a:solidFill>
            <a:srgbClr val="FFFFFF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" name="Freeform 9"/>
          <p:cNvSpPr>
            <a:spLocks noEditPoints="1"/>
          </p:cNvSpPr>
          <p:nvPr/>
        </p:nvSpPr>
        <p:spPr bwMode="auto">
          <a:xfrm>
            <a:off x="1099075" y="3092886"/>
            <a:ext cx="680933" cy="772597"/>
          </a:xfrm>
          <a:custGeom>
            <a:avLst/>
            <a:gdLst>
              <a:gd name="T0" fmla="*/ 402 w 630"/>
              <a:gd name="T1" fmla="*/ 89 h 711"/>
              <a:gd name="T2" fmla="*/ 313 w 630"/>
              <a:gd name="T3" fmla="*/ 178 h 711"/>
              <a:gd name="T4" fmla="*/ 223 w 630"/>
              <a:gd name="T5" fmla="*/ 178 h 711"/>
              <a:gd name="T6" fmla="*/ 134 w 630"/>
              <a:gd name="T7" fmla="*/ 89 h 711"/>
              <a:gd name="T8" fmla="*/ 223 w 630"/>
              <a:gd name="T9" fmla="*/ 0 h 711"/>
              <a:gd name="T10" fmla="*/ 313 w 630"/>
              <a:gd name="T11" fmla="*/ 0 h 711"/>
              <a:gd name="T12" fmla="*/ 402 w 630"/>
              <a:gd name="T13" fmla="*/ 89 h 711"/>
              <a:gd name="T14" fmla="*/ 445 w 630"/>
              <a:gd name="T15" fmla="*/ 89 h 711"/>
              <a:gd name="T16" fmla="*/ 446 w 630"/>
              <a:gd name="T17" fmla="*/ 109 h 711"/>
              <a:gd name="T18" fmla="*/ 335 w 630"/>
              <a:gd name="T19" fmla="*/ 221 h 711"/>
              <a:gd name="T20" fmla="*/ 201 w 630"/>
              <a:gd name="T21" fmla="*/ 221 h 711"/>
              <a:gd name="T22" fmla="*/ 90 w 630"/>
              <a:gd name="T23" fmla="*/ 109 h 711"/>
              <a:gd name="T24" fmla="*/ 92 w 630"/>
              <a:gd name="T25" fmla="*/ 89 h 711"/>
              <a:gd name="T26" fmla="*/ 0 w 630"/>
              <a:gd name="T27" fmla="*/ 198 h 711"/>
              <a:gd name="T28" fmla="*/ 0 w 630"/>
              <a:gd name="T29" fmla="*/ 600 h 711"/>
              <a:gd name="T30" fmla="*/ 112 w 630"/>
              <a:gd name="T31" fmla="*/ 711 h 711"/>
              <a:gd name="T32" fmla="*/ 409 w 630"/>
              <a:gd name="T33" fmla="*/ 711 h 711"/>
              <a:gd name="T34" fmla="*/ 288 w 630"/>
              <a:gd name="T35" fmla="*/ 528 h 711"/>
              <a:gd name="T36" fmla="*/ 487 w 630"/>
              <a:gd name="T37" fmla="*/ 328 h 711"/>
              <a:gd name="T38" fmla="*/ 536 w 630"/>
              <a:gd name="T39" fmla="*/ 335 h 711"/>
              <a:gd name="T40" fmla="*/ 536 w 630"/>
              <a:gd name="T41" fmla="*/ 198 h 711"/>
              <a:gd name="T42" fmla="*/ 445 w 630"/>
              <a:gd name="T43" fmla="*/ 89 h 711"/>
              <a:gd name="T44" fmla="*/ 251 w 630"/>
              <a:gd name="T45" fmla="*/ 446 h 711"/>
              <a:gd name="T46" fmla="*/ 251 w 630"/>
              <a:gd name="T47" fmla="*/ 446 h 711"/>
              <a:gd name="T48" fmla="*/ 112 w 630"/>
              <a:gd name="T49" fmla="*/ 446 h 711"/>
              <a:gd name="T50" fmla="*/ 90 w 630"/>
              <a:gd name="T51" fmla="*/ 423 h 711"/>
              <a:gd name="T52" fmla="*/ 112 w 630"/>
              <a:gd name="T53" fmla="*/ 401 h 711"/>
              <a:gd name="T54" fmla="*/ 251 w 630"/>
              <a:gd name="T55" fmla="*/ 401 h 711"/>
              <a:gd name="T56" fmla="*/ 274 w 630"/>
              <a:gd name="T57" fmla="*/ 423 h 711"/>
              <a:gd name="T58" fmla="*/ 251 w 630"/>
              <a:gd name="T59" fmla="*/ 446 h 711"/>
              <a:gd name="T60" fmla="*/ 296 w 630"/>
              <a:gd name="T61" fmla="*/ 356 h 711"/>
              <a:gd name="T62" fmla="*/ 296 w 630"/>
              <a:gd name="T63" fmla="*/ 356 h 711"/>
              <a:gd name="T64" fmla="*/ 112 w 630"/>
              <a:gd name="T65" fmla="*/ 356 h 711"/>
              <a:gd name="T66" fmla="*/ 90 w 630"/>
              <a:gd name="T67" fmla="*/ 334 h 711"/>
              <a:gd name="T68" fmla="*/ 112 w 630"/>
              <a:gd name="T69" fmla="*/ 312 h 711"/>
              <a:gd name="T70" fmla="*/ 296 w 630"/>
              <a:gd name="T71" fmla="*/ 312 h 711"/>
              <a:gd name="T72" fmla="*/ 318 w 630"/>
              <a:gd name="T73" fmla="*/ 334 h 711"/>
              <a:gd name="T74" fmla="*/ 296 w 630"/>
              <a:gd name="T75" fmla="*/ 356 h 711"/>
              <a:gd name="T76" fmla="*/ 524 w 630"/>
              <a:gd name="T77" fmla="*/ 390 h 711"/>
              <a:gd name="T78" fmla="*/ 488 w 630"/>
              <a:gd name="T79" fmla="*/ 385 h 711"/>
              <a:gd name="T80" fmla="*/ 346 w 630"/>
              <a:gd name="T81" fmla="*/ 527 h 711"/>
              <a:gd name="T82" fmla="*/ 458 w 630"/>
              <a:gd name="T83" fmla="*/ 666 h 711"/>
              <a:gd name="T84" fmla="*/ 488 w 630"/>
              <a:gd name="T85" fmla="*/ 669 h 711"/>
              <a:gd name="T86" fmla="*/ 630 w 630"/>
              <a:gd name="T87" fmla="*/ 527 h 711"/>
              <a:gd name="T88" fmla="*/ 524 w 630"/>
              <a:gd name="T89" fmla="*/ 390 h 711"/>
              <a:gd name="T90" fmla="*/ 569 w 630"/>
              <a:gd name="T91" fmla="*/ 507 h 711"/>
              <a:gd name="T92" fmla="*/ 569 w 630"/>
              <a:gd name="T93" fmla="*/ 507 h 711"/>
              <a:gd name="T94" fmla="*/ 524 w 630"/>
              <a:gd name="T95" fmla="*/ 552 h 711"/>
              <a:gd name="T96" fmla="*/ 488 w 630"/>
              <a:gd name="T97" fmla="*/ 588 h 711"/>
              <a:gd name="T98" fmla="*/ 448 w 630"/>
              <a:gd name="T99" fmla="*/ 588 h 711"/>
              <a:gd name="T100" fmla="*/ 408 w 630"/>
              <a:gd name="T101" fmla="*/ 547 h 711"/>
              <a:gd name="T102" fmla="*/ 408 w 630"/>
              <a:gd name="T103" fmla="*/ 507 h 711"/>
              <a:gd name="T104" fmla="*/ 448 w 630"/>
              <a:gd name="T105" fmla="*/ 507 h 711"/>
              <a:gd name="T106" fmla="*/ 468 w 630"/>
              <a:gd name="T107" fmla="*/ 527 h 711"/>
              <a:gd name="T108" fmla="*/ 524 w 630"/>
              <a:gd name="T109" fmla="*/ 472 h 711"/>
              <a:gd name="T110" fmla="*/ 528 w 630"/>
              <a:gd name="T111" fmla="*/ 467 h 711"/>
              <a:gd name="T112" fmla="*/ 569 w 630"/>
              <a:gd name="T113" fmla="*/ 467 h 711"/>
              <a:gd name="T114" fmla="*/ 569 w 630"/>
              <a:gd name="T115" fmla="*/ 507 h 7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630" h="711">
                <a:moveTo>
                  <a:pt x="402" y="89"/>
                </a:moveTo>
                <a:cubicBezTo>
                  <a:pt x="402" y="138"/>
                  <a:pt x="362" y="178"/>
                  <a:pt x="313" y="178"/>
                </a:cubicBezTo>
                <a:lnTo>
                  <a:pt x="223" y="178"/>
                </a:lnTo>
                <a:cubicBezTo>
                  <a:pt x="174" y="178"/>
                  <a:pt x="134" y="138"/>
                  <a:pt x="134" y="89"/>
                </a:cubicBezTo>
                <a:cubicBezTo>
                  <a:pt x="134" y="39"/>
                  <a:pt x="174" y="0"/>
                  <a:pt x="223" y="0"/>
                </a:cubicBezTo>
                <a:lnTo>
                  <a:pt x="313" y="0"/>
                </a:lnTo>
                <a:cubicBezTo>
                  <a:pt x="362" y="0"/>
                  <a:pt x="402" y="39"/>
                  <a:pt x="402" y="89"/>
                </a:cubicBezTo>
                <a:close/>
                <a:moveTo>
                  <a:pt x="445" y="89"/>
                </a:moveTo>
                <a:cubicBezTo>
                  <a:pt x="446" y="95"/>
                  <a:pt x="446" y="102"/>
                  <a:pt x="446" y="109"/>
                </a:cubicBezTo>
                <a:cubicBezTo>
                  <a:pt x="446" y="171"/>
                  <a:pt x="397" y="221"/>
                  <a:pt x="335" y="221"/>
                </a:cubicBezTo>
                <a:lnTo>
                  <a:pt x="201" y="221"/>
                </a:lnTo>
                <a:cubicBezTo>
                  <a:pt x="140" y="221"/>
                  <a:pt x="90" y="171"/>
                  <a:pt x="90" y="109"/>
                </a:cubicBezTo>
                <a:cubicBezTo>
                  <a:pt x="90" y="102"/>
                  <a:pt x="90" y="95"/>
                  <a:pt x="92" y="89"/>
                </a:cubicBezTo>
                <a:cubicBezTo>
                  <a:pt x="40" y="98"/>
                  <a:pt x="0" y="144"/>
                  <a:pt x="0" y="198"/>
                </a:cubicBezTo>
                <a:lnTo>
                  <a:pt x="0" y="600"/>
                </a:lnTo>
                <a:cubicBezTo>
                  <a:pt x="0" y="661"/>
                  <a:pt x="50" y="711"/>
                  <a:pt x="112" y="711"/>
                </a:cubicBezTo>
                <a:lnTo>
                  <a:pt x="409" y="711"/>
                </a:lnTo>
                <a:cubicBezTo>
                  <a:pt x="338" y="681"/>
                  <a:pt x="288" y="610"/>
                  <a:pt x="288" y="528"/>
                </a:cubicBezTo>
                <a:cubicBezTo>
                  <a:pt x="288" y="418"/>
                  <a:pt x="377" y="328"/>
                  <a:pt x="487" y="328"/>
                </a:cubicBezTo>
                <a:cubicBezTo>
                  <a:pt x="504" y="328"/>
                  <a:pt x="520" y="331"/>
                  <a:pt x="536" y="335"/>
                </a:cubicBezTo>
                <a:lnTo>
                  <a:pt x="536" y="198"/>
                </a:lnTo>
                <a:cubicBezTo>
                  <a:pt x="536" y="144"/>
                  <a:pt x="496" y="98"/>
                  <a:pt x="445" y="89"/>
                </a:cubicBezTo>
                <a:close/>
                <a:moveTo>
                  <a:pt x="251" y="446"/>
                </a:moveTo>
                <a:lnTo>
                  <a:pt x="251" y="446"/>
                </a:lnTo>
                <a:lnTo>
                  <a:pt x="112" y="446"/>
                </a:lnTo>
                <a:cubicBezTo>
                  <a:pt x="100" y="446"/>
                  <a:pt x="90" y="436"/>
                  <a:pt x="90" y="423"/>
                </a:cubicBezTo>
                <a:cubicBezTo>
                  <a:pt x="90" y="411"/>
                  <a:pt x="100" y="401"/>
                  <a:pt x="112" y="401"/>
                </a:cubicBezTo>
                <a:lnTo>
                  <a:pt x="251" y="401"/>
                </a:lnTo>
                <a:cubicBezTo>
                  <a:pt x="264" y="401"/>
                  <a:pt x="274" y="411"/>
                  <a:pt x="274" y="423"/>
                </a:cubicBezTo>
                <a:cubicBezTo>
                  <a:pt x="274" y="436"/>
                  <a:pt x="264" y="446"/>
                  <a:pt x="251" y="446"/>
                </a:cubicBezTo>
                <a:close/>
                <a:moveTo>
                  <a:pt x="296" y="356"/>
                </a:moveTo>
                <a:lnTo>
                  <a:pt x="296" y="356"/>
                </a:lnTo>
                <a:lnTo>
                  <a:pt x="112" y="356"/>
                </a:lnTo>
                <a:cubicBezTo>
                  <a:pt x="100" y="356"/>
                  <a:pt x="90" y="346"/>
                  <a:pt x="90" y="334"/>
                </a:cubicBezTo>
                <a:cubicBezTo>
                  <a:pt x="90" y="322"/>
                  <a:pt x="100" y="312"/>
                  <a:pt x="112" y="312"/>
                </a:cubicBezTo>
                <a:lnTo>
                  <a:pt x="296" y="312"/>
                </a:lnTo>
                <a:cubicBezTo>
                  <a:pt x="308" y="312"/>
                  <a:pt x="318" y="322"/>
                  <a:pt x="318" y="334"/>
                </a:cubicBezTo>
                <a:cubicBezTo>
                  <a:pt x="318" y="346"/>
                  <a:pt x="308" y="356"/>
                  <a:pt x="296" y="356"/>
                </a:cubicBezTo>
                <a:close/>
                <a:moveTo>
                  <a:pt x="524" y="390"/>
                </a:moveTo>
                <a:cubicBezTo>
                  <a:pt x="512" y="387"/>
                  <a:pt x="501" y="385"/>
                  <a:pt x="488" y="385"/>
                </a:cubicBezTo>
                <a:cubicBezTo>
                  <a:pt x="410" y="385"/>
                  <a:pt x="346" y="449"/>
                  <a:pt x="346" y="527"/>
                </a:cubicBezTo>
                <a:cubicBezTo>
                  <a:pt x="346" y="596"/>
                  <a:pt x="394" y="652"/>
                  <a:pt x="458" y="666"/>
                </a:cubicBezTo>
                <a:cubicBezTo>
                  <a:pt x="468" y="668"/>
                  <a:pt x="478" y="669"/>
                  <a:pt x="488" y="669"/>
                </a:cubicBezTo>
                <a:cubicBezTo>
                  <a:pt x="567" y="669"/>
                  <a:pt x="630" y="606"/>
                  <a:pt x="630" y="527"/>
                </a:cubicBezTo>
                <a:cubicBezTo>
                  <a:pt x="630" y="461"/>
                  <a:pt x="585" y="405"/>
                  <a:pt x="524" y="390"/>
                </a:cubicBezTo>
                <a:close/>
                <a:moveTo>
                  <a:pt x="569" y="507"/>
                </a:moveTo>
                <a:lnTo>
                  <a:pt x="569" y="507"/>
                </a:lnTo>
                <a:lnTo>
                  <a:pt x="524" y="552"/>
                </a:lnTo>
                <a:lnTo>
                  <a:pt x="488" y="588"/>
                </a:lnTo>
                <a:cubicBezTo>
                  <a:pt x="477" y="599"/>
                  <a:pt x="459" y="599"/>
                  <a:pt x="448" y="588"/>
                </a:cubicBezTo>
                <a:lnTo>
                  <a:pt x="408" y="547"/>
                </a:lnTo>
                <a:cubicBezTo>
                  <a:pt x="397" y="536"/>
                  <a:pt x="397" y="518"/>
                  <a:pt x="408" y="507"/>
                </a:cubicBezTo>
                <a:cubicBezTo>
                  <a:pt x="419" y="496"/>
                  <a:pt x="437" y="496"/>
                  <a:pt x="448" y="507"/>
                </a:cubicBezTo>
                <a:lnTo>
                  <a:pt x="468" y="527"/>
                </a:lnTo>
                <a:lnTo>
                  <a:pt x="524" y="472"/>
                </a:lnTo>
                <a:lnTo>
                  <a:pt x="528" y="467"/>
                </a:lnTo>
                <a:cubicBezTo>
                  <a:pt x="540" y="456"/>
                  <a:pt x="558" y="456"/>
                  <a:pt x="569" y="467"/>
                </a:cubicBezTo>
                <a:cubicBezTo>
                  <a:pt x="580" y="478"/>
                  <a:pt x="580" y="496"/>
                  <a:pt x="569" y="507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</p:spTree>
    <p:extLst>
      <p:ext uri="{BB962C8B-B14F-4D97-AF65-F5344CB8AC3E}">
        <p14:creationId xmlns:p14="http://schemas.microsoft.com/office/powerpoint/2010/main" val="4083716627"/>
      </p:ext>
    </p:extLst>
  </p:cSld>
  <p:clrMapOvr>
    <a:masterClrMapping/>
  </p:clrMapOvr>
  <p:transition spd="slow" advTm="9222">
    <p:blinds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827350" y="-11186"/>
            <a:ext cx="10515600" cy="1325563"/>
          </a:xfrm>
        </p:spPr>
        <p:txBody>
          <a:bodyPr/>
          <a:lstStyle/>
          <a:p>
            <a:pPr algn="l" eaLnBrk="1" hangingPunct="1"/>
            <a:r>
              <a:rPr lang="zh-CN" altLang="en-US" sz="3600" dirty="0"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RAID2 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Freeform 14"/>
          <p:cNvSpPr>
            <a:spLocks/>
          </p:cNvSpPr>
          <p:nvPr/>
        </p:nvSpPr>
        <p:spPr bwMode="auto">
          <a:xfrm rot="5751145">
            <a:off x="949338" y="1797967"/>
            <a:ext cx="858431" cy="857869"/>
          </a:xfrm>
          <a:custGeom>
            <a:avLst/>
            <a:gdLst>
              <a:gd name="T0" fmla="*/ 3227 w 3227"/>
              <a:gd name="T1" fmla="*/ 1634 h 3227"/>
              <a:gd name="T2" fmla="*/ 1614 w 3227"/>
              <a:gd name="T3" fmla="*/ 3227 h 3227"/>
              <a:gd name="T4" fmla="*/ 0 w 3227"/>
              <a:gd name="T5" fmla="*/ 1613 h 3227"/>
              <a:gd name="T6" fmla="*/ 1593 w 3227"/>
              <a:gd name="T7" fmla="*/ 0 h 3227"/>
              <a:gd name="T8" fmla="*/ 1593 w 3227"/>
              <a:gd name="T9" fmla="*/ 0 h 3227"/>
              <a:gd name="T10" fmla="*/ 1614 w 3227"/>
              <a:gd name="T11" fmla="*/ 0 h 3227"/>
              <a:gd name="T12" fmla="*/ 3227 w 3227"/>
              <a:gd name="T13" fmla="*/ 0 h 3227"/>
              <a:gd name="T14" fmla="*/ 3227 w 3227"/>
              <a:gd name="T15" fmla="*/ 1613 h 3227"/>
              <a:gd name="T16" fmla="*/ 3227 w 3227"/>
              <a:gd name="T17" fmla="*/ 1634 h 3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27" h="3227">
                <a:moveTo>
                  <a:pt x="3227" y="1634"/>
                </a:moveTo>
                <a:cubicBezTo>
                  <a:pt x="3216" y="2515"/>
                  <a:pt x="2498" y="3227"/>
                  <a:pt x="1614" y="3227"/>
                </a:cubicBezTo>
                <a:cubicBezTo>
                  <a:pt x="723" y="3227"/>
                  <a:pt x="0" y="2504"/>
                  <a:pt x="0" y="1613"/>
                </a:cubicBezTo>
                <a:cubicBezTo>
                  <a:pt x="0" y="729"/>
                  <a:pt x="712" y="11"/>
                  <a:pt x="1593" y="0"/>
                </a:cubicBezTo>
                <a:lnTo>
                  <a:pt x="1593" y="0"/>
                </a:lnTo>
                <a:lnTo>
                  <a:pt x="1614" y="0"/>
                </a:lnTo>
                <a:lnTo>
                  <a:pt x="3227" y="0"/>
                </a:lnTo>
                <a:lnTo>
                  <a:pt x="3227" y="1613"/>
                </a:lnTo>
                <a:lnTo>
                  <a:pt x="3227" y="1634"/>
                </a:lnTo>
                <a:close/>
              </a:path>
            </a:pathLst>
          </a:custGeom>
          <a:solidFill>
            <a:srgbClr val="04B0BE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>
              <a:solidFill>
                <a:schemeClr val="accent1"/>
              </a:solidFill>
            </a:endParaRPr>
          </a:p>
        </p:txBody>
      </p:sp>
      <p:sp>
        <p:nvSpPr>
          <p:cNvPr id="5" name="Freeform 14"/>
          <p:cNvSpPr>
            <a:spLocks/>
          </p:cNvSpPr>
          <p:nvPr/>
        </p:nvSpPr>
        <p:spPr bwMode="auto">
          <a:xfrm rot="5751145">
            <a:off x="876533" y="3833148"/>
            <a:ext cx="858431" cy="857869"/>
          </a:xfrm>
          <a:custGeom>
            <a:avLst/>
            <a:gdLst>
              <a:gd name="T0" fmla="*/ 3227 w 3227"/>
              <a:gd name="T1" fmla="*/ 1634 h 3227"/>
              <a:gd name="T2" fmla="*/ 1614 w 3227"/>
              <a:gd name="T3" fmla="*/ 3227 h 3227"/>
              <a:gd name="T4" fmla="*/ 0 w 3227"/>
              <a:gd name="T5" fmla="*/ 1613 h 3227"/>
              <a:gd name="T6" fmla="*/ 1593 w 3227"/>
              <a:gd name="T7" fmla="*/ 0 h 3227"/>
              <a:gd name="T8" fmla="*/ 1593 w 3227"/>
              <a:gd name="T9" fmla="*/ 0 h 3227"/>
              <a:gd name="T10" fmla="*/ 1614 w 3227"/>
              <a:gd name="T11" fmla="*/ 0 h 3227"/>
              <a:gd name="T12" fmla="*/ 3227 w 3227"/>
              <a:gd name="T13" fmla="*/ 0 h 3227"/>
              <a:gd name="T14" fmla="*/ 3227 w 3227"/>
              <a:gd name="T15" fmla="*/ 1613 h 3227"/>
              <a:gd name="T16" fmla="*/ 3227 w 3227"/>
              <a:gd name="T17" fmla="*/ 1634 h 3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27" h="3227">
                <a:moveTo>
                  <a:pt x="3227" y="1634"/>
                </a:moveTo>
                <a:cubicBezTo>
                  <a:pt x="3216" y="2515"/>
                  <a:pt x="2498" y="3227"/>
                  <a:pt x="1614" y="3227"/>
                </a:cubicBezTo>
                <a:cubicBezTo>
                  <a:pt x="723" y="3227"/>
                  <a:pt x="0" y="2504"/>
                  <a:pt x="0" y="1613"/>
                </a:cubicBezTo>
                <a:cubicBezTo>
                  <a:pt x="0" y="729"/>
                  <a:pt x="712" y="11"/>
                  <a:pt x="1593" y="0"/>
                </a:cubicBezTo>
                <a:lnTo>
                  <a:pt x="1593" y="0"/>
                </a:lnTo>
                <a:lnTo>
                  <a:pt x="1614" y="0"/>
                </a:lnTo>
                <a:lnTo>
                  <a:pt x="3227" y="0"/>
                </a:lnTo>
                <a:lnTo>
                  <a:pt x="3227" y="1613"/>
                </a:lnTo>
                <a:lnTo>
                  <a:pt x="3227" y="1634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>
              <a:solidFill>
                <a:schemeClr val="accent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9213" y="1942132"/>
            <a:ext cx="3843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76407" y="3950809"/>
            <a:ext cx="3843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24726" y="1177176"/>
            <a:ext cx="878513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RAID1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虽然同时具有高可靠性和高性能，但它的主要问题是成本太大，需要整整两倍于实际所需的磁盘数量才能达到数据的冗余。</a:t>
            </a:r>
          </a:p>
        </p:txBody>
      </p:sp>
      <p:sp>
        <p:nvSpPr>
          <p:cNvPr id="6" name="矩形 5"/>
          <p:cNvSpPr/>
          <p:nvPr/>
        </p:nvSpPr>
        <p:spPr>
          <a:xfrm>
            <a:off x="2224726" y="3650310"/>
            <a:ext cx="8642688" cy="1308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更好的方式是只使用一个或几个磁盘用于数据冗余或数据校验之用。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11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2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926841208"/>
      </p:ext>
    </p:extLst>
  </p:cSld>
  <p:clrMapOvr>
    <a:masterClrMapping/>
  </p:clrMapOvr>
  <p:transition spd="slow" advTm="9222">
    <p:blinds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59835" y="1510747"/>
            <a:ext cx="8849139" cy="4096371"/>
          </a:xfrm>
          <a:ln w="28575">
            <a:solidFill>
              <a:srgbClr val="01C0B0"/>
            </a:solidFill>
          </a:ln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称为海明码校验位分布磁盘系统，它是条带磁盘阵列的一个极端：每个条带是一位二进制位。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这样的话，如果以字节为单位进行数据组织，则一个磁盘阵列中至少需要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个磁盘用于存储数据信息。 </a:t>
            </a:r>
          </a:p>
        </p:txBody>
      </p:sp>
    </p:spTree>
    <p:extLst>
      <p:ext uri="{BB962C8B-B14F-4D97-AF65-F5344CB8AC3E}">
        <p14:creationId xmlns:p14="http://schemas.microsoft.com/office/powerpoint/2010/main" val="654519206"/>
      </p:ext>
    </p:extLst>
  </p:cSld>
  <p:clrMapOvr>
    <a:masterClrMapping/>
  </p:clrMapOvr>
  <p:transition spd="slow" advTm="9222">
    <p:blinds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14104" y="136486"/>
            <a:ext cx="9830973" cy="2434193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200000"/>
              </a:lnSpc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采用了海明纠错码进行数据校验。与数据磁盘相对应，磁盘阵列中还需要一组磁盘用于存储纠错码信息。 </a:t>
            </a:r>
          </a:p>
        </p:txBody>
      </p:sp>
      <p:sp>
        <p:nvSpPr>
          <p:cNvPr id="19460" name="Rectangle 5"/>
          <p:cNvSpPr>
            <a:spLocks noChangeArrowheads="1"/>
          </p:cNvSpPr>
          <p:nvPr/>
        </p:nvSpPr>
        <p:spPr bwMode="auto">
          <a:xfrm>
            <a:off x="1524001" y="22013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50000"/>
              <a:buFont typeface="Wingdings 2" panose="05020102010507070707" pitchFamily="18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60000"/>
              <a:buFont typeface="Wingdings 2" panose="05020102010507070707" pitchFamily="18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1946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3337938"/>
              </p:ext>
            </p:extLst>
          </p:nvPr>
        </p:nvGraphicFramePr>
        <p:xfrm>
          <a:off x="1708150" y="2570163"/>
          <a:ext cx="8434388" cy="357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Visio" r:id="rId3" imgW="4006901" imgH="2081784" progId="Visio.Drawing.11">
                  <p:embed/>
                </p:oleObj>
              </mc:Choice>
              <mc:Fallback>
                <p:oleObj name="Visio" r:id="rId3" imgW="4006901" imgH="2081784" progId="Visio.Drawing.11">
                  <p:embed/>
                  <p:pic>
                    <p:nvPicPr>
                      <p:cNvPr id="1946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2570163"/>
                        <a:ext cx="8434388" cy="357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464417" y="731595"/>
            <a:ext cx="438352" cy="621987"/>
            <a:chOff x="265635" y="269251"/>
            <a:chExt cx="438352" cy="621987"/>
          </a:xfrm>
        </p:grpSpPr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525538134"/>
      </p:ext>
    </p:extLst>
  </p:cSld>
  <p:clrMapOvr>
    <a:masterClrMapping/>
  </p:clrMapOvr>
  <p:transition spd="slow" advTm="9222">
    <p:blinds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103920"/>
            <a:ext cx="7705116" cy="4351338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纠错码所需的磁盘数量取决于所采用的海明纠错码所需的校验位数。无论是数据盘还是校验盘，只要有一个磁盘损坏，其中的数据都可以通过海明码来重建恢复。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 flipH="1">
            <a:off x="9407075" y="2328527"/>
            <a:ext cx="2784925" cy="25284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5" name="Oval 9"/>
          <p:cNvSpPr>
            <a:spLocks noChangeArrowheads="1"/>
          </p:cNvSpPr>
          <p:nvPr/>
        </p:nvSpPr>
        <p:spPr bwMode="auto">
          <a:xfrm>
            <a:off x="10228006" y="3016935"/>
            <a:ext cx="1100235" cy="1108082"/>
          </a:xfrm>
          <a:prstGeom prst="ellipse">
            <a:avLst/>
          </a:prstGeom>
          <a:solidFill>
            <a:srgbClr val="FFFFFF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6" name="Freeform 10"/>
          <p:cNvSpPr>
            <a:spLocks noEditPoints="1"/>
          </p:cNvSpPr>
          <p:nvPr/>
        </p:nvSpPr>
        <p:spPr bwMode="auto">
          <a:xfrm flipH="1">
            <a:off x="10443397" y="3160836"/>
            <a:ext cx="765288" cy="820279"/>
          </a:xfrm>
          <a:custGeom>
            <a:avLst/>
            <a:gdLst>
              <a:gd name="T0" fmla="*/ 255 w 674"/>
              <a:gd name="T1" fmla="*/ 448 h 720"/>
              <a:gd name="T2" fmla="*/ 243 w 674"/>
              <a:gd name="T3" fmla="*/ 407 h 720"/>
              <a:gd name="T4" fmla="*/ 295 w 674"/>
              <a:gd name="T5" fmla="*/ 196 h 720"/>
              <a:gd name="T6" fmla="*/ 350 w 674"/>
              <a:gd name="T7" fmla="*/ 367 h 720"/>
              <a:gd name="T8" fmla="*/ 418 w 674"/>
              <a:gd name="T9" fmla="*/ 169 h 720"/>
              <a:gd name="T10" fmla="*/ 267 w 674"/>
              <a:gd name="T11" fmla="*/ 336 h 720"/>
              <a:gd name="T12" fmla="*/ 254 w 674"/>
              <a:gd name="T13" fmla="*/ 358 h 720"/>
              <a:gd name="T14" fmla="*/ 346 w 674"/>
              <a:gd name="T15" fmla="*/ 412 h 720"/>
              <a:gd name="T16" fmla="*/ 445 w 674"/>
              <a:gd name="T17" fmla="*/ 144 h 720"/>
              <a:gd name="T18" fmla="*/ 449 w 674"/>
              <a:gd name="T19" fmla="*/ 91 h 720"/>
              <a:gd name="T20" fmla="*/ 445 w 674"/>
              <a:gd name="T21" fmla="*/ 144 h 720"/>
              <a:gd name="T22" fmla="*/ 526 w 674"/>
              <a:gd name="T23" fmla="*/ 170 h 720"/>
              <a:gd name="T24" fmla="*/ 474 w 674"/>
              <a:gd name="T25" fmla="*/ 174 h 720"/>
              <a:gd name="T26" fmla="*/ 385 w 674"/>
              <a:gd name="T27" fmla="*/ 121 h 720"/>
              <a:gd name="T28" fmla="*/ 363 w 674"/>
              <a:gd name="T29" fmla="*/ 73 h 720"/>
              <a:gd name="T30" fmla="*/ 385 w 674"/>
              <a:gd name="T31" fmla="*/ 121 h 720"/>
              <a:gd name="T32" fmla="*/ 298 w 674"/>
              <a:gd name="T33" fmla="*/ 90 h 720"/>
              <a:gd name="T34" fmla="*/ 302 w 674"/>
              <a:gd name="T35" fmla="*/ 142 h 720"/>
              <a:gd name="T36" fmla="*/ 496 w 674"/>
              <a:gd name="T37" fmla="*/ 257 h 720"/>
              <a:gd name="T38" fmla="*/ 543 w 674"/>
              <a:gd name="T39" fmla="*/ 235 h 720"/>
              <a:gd name="T40" fmla="*/ 496 w 674"/>
              <a:gd name="T41" fmla="*/ 257 h 720"/>
              <a:gd name="T42" fmla="*/ 248 w 674"/>
              <a:gd name="T43" fmla="*/ 368 h 720"/>
              <a:gd name="T44" fmla="*/ 235 w 674"/>
              <a:gd name="T45" fmla="*/ 391 h 720"/>
              <a:gd name="T46" fmla="*/ 328 w 674"/>
              <a:gd name="T47" fmla="*/ 445 h 720"/>
              <a:gd name="T48" fmla="*/ 246 w 674"/>
              <a:gd name="T49" fmla="*/ 720 h 720"/>
              <a:gd name="T50" fmla="*/ 263 w 674"/>
              <a:gd name="T51" fmla="*/ 42 h 720"/>
              <a:gd name="T52" fmla="*/ 642 w 674"/>
              <a:gd name="T53" fmla="*/ 204 h 720"/>
              <a:gd name="T54" fmla="*/ 648 w 674"/>
              <a:gd name="T55" fmla="*/ 313 h 720"/>
              <a:gd name="T56" fmla="*/ 667 w 674"/>
              <a:gd name="T57" fmla="*/ 450 h 720"/>
              <a:gd name="T58" fmla="*/ 643 w 674"/>
              <a:gd name="T59" fmla="*/ 566 h 720"/>
              <a:gd name="T60" fmla="*/ 504 w 674"/>
              <a:gd name="T61" fmla="*/ 598 h 720"/>
              <a:gd name="T62" fmla="*/ 246 w 674"/>
              <a:gd name="T63" fmla="*/ 72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674" h="720">
                <a:moveTo>
                  <a:pt x="243" y="407"/>
                </a:moveTo>
                <a:cubicBezTo>
                  <a:pt x="236" y="421"/>
                  <a:pt x="241" y="439"/>
                  <a:pt x="255" y="448"/>
                </a:cubicBezTo>
                <a:cubicBezTo>
                  <a:pt x="267" y="455"/>
                  <a:pt x="282" y="453"/>
                  <a:pt x="292" y="444"/>
                </a:cubicBezTo>
                <a:lnTo>
                  <a:pt x="243" y="407"/>
                </a:lnTo>
                <a:close/>
                <a:moveTo>
                  <a:pt x="418" y="169"/>
                </a:moveTo>
                <a:cubicBezTo>
                  <a:pt x="373" y="143"/>
                  <a:pt x="318" y="155"/>
                  <a:pt x="295" y="196"/>
                </a:cubicBezTo>
                <a:cubicBezTo>
                  <a:pt x="270" y="238"/>
                  <a:pt x="302" y="284"/>
                  <a:pt x="280" y="327"/>
                </a:cubicBezTo>
                <a:lnTo>
                  <a:pt x="350" y="367"/>
                </a:lnTo>
                <a:cubicBezTo>
                  <a:pt x="376" y="327"/>
                  <a:pt x="432" y="331"/>
                  <a:pt x="456" y="289"/>
                </a:cubicBezTo>
                <a:cubicBezTo>
                  <a:pt x="480" y="249"/>
                  <a:pt x="462" y="195"/>
                  <a:pt x="418" y="169"/>
                </a:cubicBezTo>
                <a:close/>
                <a:moveTo>
                  <a:pt x="342" y="393"/>
                </a:moveTo>
                <a:lnTo>
                  <a:pt x="267" y="336"/>
                </a:lnTo>
                <a:cubicBezTo>
                  <a:pt x="261" y="331"/>
                  <a:pt x="253" y="333"/>
                  <a:pt x="250" y="339"/>
                </a:cubicBezTo>
                <a:cubicBezTo>
                  <a:pt x="246" y="345"/>
                  <a:pt x="248" y="354"/>
                  <a:pt x="254" y="358"/>
                </a:cubicBezTo>
                <a:lnTo>
                  <a:pt x="329" y="416"/>
                </a:lnTo>
                <a:cubicBezTo>
                  <a:pt x="335" y="420"/>
                  <a:pt x="343" y="418"/>
                  <a:pt x="346" y="412"/>
                </a:cubicBezTo>
                <a:cubicBezTo>
                  <a:pt x="350" y="406"/>
                  <a:pt x="348" y="397"/>
                  <a:pt x="342" y="393"/>
                </a:cubicBezTo>
                <a:close/>
                <a:moveTo>
                  <a:pt x="445" y="144"/>
                </a:moveTo>
                <a:lnTo>
                  <a:pt x="468" y="102"/>
                </a:lnTo>
                <a:lnTo>
                  <a:pt x="449" y="91"/>
                </a:lnTo>
                <a:lnTo>
                  <a:pt x="426" y="133"/>
                </a:lnTo>
                <a:lnTo>
                  <a:pt x="445" y="144"/>
                </a:lnTo>
                <a:close/>
                <a:moveTo>
                  <a:pt x="485" y="193"/>
                </a:moveTo>
                <a:lnTo>
                  <a:pt x="526" y="170"/>
                </a:lnTo>
                <a:lnTo>
                  <a:pt x="515" y="150"/>
                </a:lnTo>
                <a:lnTo>
                  <a:pt x="474" y="174"/>
                </a:lnTo>
                <a:lnTo>
                  <a:pt x="485" y="193"/>
                </a:lnTo>
                <a:close/>
                <a:moveTo>
                  <a:pt x="385" y="121"/>
                </a:moveTo>
                <a:lnTo>
                  <a:pt x="385" y="73"/>
                </a:lnTo>
                <a:lnTo>
                  <a:pt x="363" y="73"/>
                </a:lnTo>
                <a:lnTo>
                  <a:pt x="363" y="121"/>
                </a:lnTo>
                <a:lnTo>
                  <a:pt x="385" y="121"/>
                </a:lnTo>
                <a:close/>
                <a:moveTo>
                  <a:pt x="321" y="131"/>
                </a:moveTo>
                <a:lnTo>
                  <a:pt x="298" y="90"/>
                </a:lnTo>
                <a:lnTo>
                  <a:pt x="278" y="101"/>
                </a:lnTo>
                <a:lnTo>
                  <a:pt x="302" y="142"/>
                </a:lnTo>
                <a:lnTo>
                  <a:pt x="321" y="131"/>
                </a:lnTo>
                <a:close/>
                <a:moveTo>
                  <a:pt x="496" y="257"/>
                </a:moveTo>
                <a:lnTo>
                  <a:pt x="543" y="257"/>
                </a:lnTo>
                <a:lnTo>
                  <a:pt x="543" y="235"/>
                </a:lnTo>
                <a:lnTo>
                  <a:pt x="496" y="235"/>
                </a:lnTo>
                <a:lnTo>
                  <a:pt x="496" y="257"/>
                </a:lnTo>
                <a:close/>
                <a:moveTo>
                  <a:pt x="324" y="426"/>
                </a:moveTo>
                <a:lnTo>
                  <a:pt x="248" y="368"/>
                </a:lnTo>
                <a:cubicBezTo>
                  <a:pt x="242" y="364"/>
                  <a:pt x="235" y="365"/>
                  <a:pt x="231" y="372"/>
                </a:cubicBezTo>
                <a:cubicBezTo>
                  <a:pt x="227" y="378"/>
                  <a:pt x="229" y="386"/>
                  <a:pt x="235" y="391"/>
                </a:cubicBezTo>
                <a:lnTo>
                  <a:pt x="311" y="448"/>
                </a:lnTo>
                <a:cubicBezTo>
                  <a:pt x="316" y="453"/>
                  <a:pt x="324" y="451"/>
                  <a:pt x="328" y="445"/>
                </a:cubicBezTo>
                <a:cubicBezTo>
                  <a:pt x="331" y="439"/>
                  <a:pt x="329" y="430"/>
                  <a:pt x="324" y="426"/>
                </a:cubicBezTo>
                <a:close/>
                <a:moveTo>
                  <a:pt x="246" y="720"/>
                </a:moveTo>
                <a:cubicBezTo>
                  <a:pt x="254" y="663"/>
                  <a:pt x="254" y="603"/>
                  <a:pt x="239" y="550"/>
                </a:cubicBezTo>
                <a:cubicBezTo>
                  <a:pt x="0" y="415"/>
                  <a:pt x="62" y="105"/>
                  <a:pt x="263" y="42"/>
                </a:cubicBezTo>
                <a:cubicBezTo>
                  <a:pt x="369" y="0"/>
                  <a:pt x="513" y="25"/>
                  <a:pt x="606" y="119"/>
                </a:cubicBezTo>
                <a:cubicBezTo>
                  <a:pt x="674" y="187"/>
                  <a:pt x="642" y="204"/>
                  <a:pt x="642" y="204"/>
                </a:cubicBezTo>
                <a:lnTo>
                  <a:pt x="627" y="213"/>
                </a:lnTo>
                <a:cubicBezTo>
                  <a:pt x="635" y="245"/>
                  <a:pt x="650" y="305"/>
                  <a:pt x="648" y="313"/>
                </a:cubicBezTo>
                <a:cubicBezTo>
                  <a:pt x="645" y="324"/>
                  <a:pt x="633" y="336"/>
                  <a:pt x="633" y="336"/>
                </a:cubicBezTo>
                <a:lnTo>
                  <a:pt x="667" y="450"/>
                </a:lnTo>
                <a:lnTo>
                  <a:pt x="636" y="462"/>
                </a:lnTo>
                <a:cubicBezTo>
                  <a:pt x="643" y="499"/>
                  <a:pt x="647" y="530"/>
                  <a:pt x="643" y="566"/>
                </a:cubicBezTo>
                <a:cubicBezTo>
                  <a:pt x="643" y="572"/>
                  <a:pt x="622" y="590"/>
                  <a:pt x="606" y="591"/>
                </a:cubicBezTo>
                <a:lnTo>
                  <a:pt x="504" y="598"/>
                </a:lnTo>
                <a:lnTo>
                  <a:pt x="510" y="720"/>
                </a:lnTo>
                <a:lnTo>
                  <a:pt x="246" y="72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</p:spTree>
    <p:extLst>
      <p:ext uri="{BB962C8B-B14F-4D97-AF65-F5344CB8AC3E}">
        <p14:creationId xmlns:p14="http://schemas.microsoft.com/office/powerpoint/2010/main" val="303031697"/>
      </p:ext>
    </p:extLst>
  </p:cSld>
  <p:clrMapOvr>
    <a:masterClrMapping/>
  </p:clrMapOvr>
  <p:transition spd="slow" advTm="9222">
    <p:blinds dir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1129609" y="1648204"/>
            <a:ext cx="10116146" cy="367442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5071" y="1648204"/>
            <a:ext cx="9805222" cy="4351338"/>
          </a:xfrm>
        </p:spPr>
        <p:txBody>
          <a:bodyPr/>
          <a:lstStyle/>
          <a:p>
            <a:pPr marL="0" indent="0" eaLnBrk="1" hangingPunct="1">
              <a:lnSpc>
                <a:spcPct val="20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由于生成海明码较为耗时，所以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对大多数商业应用来说速度太慢。事实上，今天大多数磁盘驱动器都有内置的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CRC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纠错功能。对于单个磁盘和驱动器具有高可靠性的情况下，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就没有太大的应用意义了。 </a:t>
            </a:r>
          </a:p>
        </p:txBody>
      </p:sp>
      <p:grpSp>
        <p:nvGrpSpPr>
          <p:cNvPr id="5" name="组合 4"/>
          <p:cNvGrpSpPr/>
          <p:nvPr/>
        </p:nvGrpSpPr>
        <p:grpSpPr>
          <a:xfrm rot="13643016">
            <a:off x="988164" y="1337211"/>
            <a:ext cx="438352" cy="621987"/>
            <a:chOff x="265635" y="269251"/>
            <a:chExt cx="438352" cy="621987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grpSp>
        <p:nvGrpSpPr>
          <p:cNvPr id="9" name="组合 8"/>
          <p:cNvGrpSpPr/>
          <p:nvPr/>
        </p:nvGrpSpPr>
        <p:grpSpPr>
          <a:xfrm rot="2599959">
            <a:off x="10948849" y="4973475"/>
            <a:ext cx="438352" cy="621987"/>
            <a:chOff x="265635" y="269251"/>
            <a:chExt cx="438352" cy="621987"/>
          </a:xfrm>
        </p:grpSpPr>
        <p:sp>
          <p:nvSpPr>
            <p:cNvPr id="10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4124687335"/>
      </p:ext>
    </p:extLst>
  </p:cSld>
  <p:clrMapOvr>
    <a:masterClrMapping/>
  </p:clrMapOvr>
  <p:transition spd="slow" advTm="9222">
    <p:blinds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9" name="椭圆 8"/>
          <p:cNvSpPr/>
          <p:nvPr/>
        </p:nvSpPr>
        <p:spPr bwMode="auto">
          <a:xfrm>
            <a:off x="874623" y="1382831"/>
            <a:ext cx="799664" cy="799664"/>
          </a:xfrm>
          <a:prstGeom prst="ellipse">
            <a:avLst/>
          </a:prstGeom>
          <a:solidFill>
            <a:srgbClr val="04B0B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0" name="TextBox 9"/>
          <p:cNvSpPr txBox="1"/>
          <p:nvPr/>
        </p:nvSpPr>
        <p:spPr>
          <a:xfrm>
            <a:off x="928986" y="1490393"/>
            <a:ext cx="598156" cy="584605"/>
          </a:xfrm>
          <a:prstGeom prst="rect">
            <a:avLst/>
          </a:prstGeom>
          <a:noFill/>
        </p:spPr>
        <p:txBody>
          <a:bodyPr wrap="none" lIns="91398" tIns="45699" rIns="91398" bIns="45699" rtlCol="0">
            <a:spAutoFit/>
          </a:bodyPr>
          <a:lstStyle/>
          <a:p>
            <a:r>
              <a:rPr lang="en-US" altLang="zh-CN" sz="3199" b="1" dirty="0">
                <a:solidFill>
                  <a:schemeClr val="bg1"/>
                </a:solidFill>
                <a:latin typeface="+mj-ea"/>
                <a:ea typeface="+mj-ea"/>
              </a:rPr>
              <a:t>01</a:t>
            </a:r>
            <a:endParaRPr lang="zh-CN" altLang="en-US" sz="3199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874623" y="3060951"/>
            <a:ext cx="799664" cy="799664"/>
          </a:xfrm>
          <a:prstGeom prst="ellipse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2" name="TextBox 11"/>
          <p:cNvSpPr txBox="1"/>
          <p:nvPr/>
        </p:nvSpPr>
        <p:spPr>
          <a:xfrm>
            <a:off x="928986" y="3168512"/>
            <a:ext cx="598156" cy="584605"/>
          </a:xfrm>
          <a:prstGeom prst="rect">
            <a:avLst/>
          </a:prstGeom>
          <a:noFill/>
        </p:spPr>
        <p:txBody>
          <a:bodyPr wrap="none" lIns="91398" tIns="45699" rIns="91398" bIns="45699" rtlCol="0">
            <a:spAutoFit/>
          </a:bodyPr>
          <a:lstStyle/>
          <a:p>
            <a:r>
              <a:rPr lang="en-US" altLang="zh-CN" sz="3199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3199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874623" y="4739071"/>
            <a:ext cx="799664" cy="799664"/>
          </a:xfrm>
          <a:prstGeom prst="ellipse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4" name="TextBox 13"/>
          <p:cNvSpPr txBox="1"/>
          <p:nvPr/>
        </p:nvSpPr>
        <p:spPr>
          <a:xfrm>
            <a:off x="928986" y="4846634"/>
            <a:ext cx="598156" cy="584605"/>
          </a:xfrm>
          <a:prstGeom prst="rect">
            <a:avLst/>
          </a:prstGeom>
          <a:noFill/>
        </p:spPr>
        <p:txBody>
          <a:bodyPr wrap="none" lIns="91398" tIns="45699" rIns="91398" bIns="45699" rtlCol="0">
            <a:spAutoFit/>
          </a:bodyPr>
          <a:lstStyle/>
          <a:p>
            <a:r>
              <a:rPr lang="en-US" altLang="zh-CN" sz="3199" b="1" dirty="0">
                <a:solidFill>
                  <a:schemeClr val="bg1"/>
                </a:solidFill>
                <a:latin typeface="+mj-ea"/>
                <a:ea typeface="+mj-ea"/>
              </a:rPr>
              <a:t>03</a:t>
            </a:r>
            <a:endParaRPr lang="zh-CN" altLang="en-US" sz="3199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26"/>
          <p:cNvSpPr txBox="1"/>
          <p:nvPr/>
        </p:nvSpPr>
        <p:spPr>
          <a:xfrm>
            <a:off x="13603969" y="849714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5" name="Rectangle 2"/>
          <p:cNvSpPr>
            <a:spLocks noGrp="1" noChangeArrowheads="1"/>
          </p:cNvSpPr>
          <p:nvPr>
            <p:ph type="title"/>
          </p:nvPr>
        </p:nvSpPr>
        <p:spPr>
          <a:xfrm>
            <a:off x="782413" y="-63197"/>
            <a:ext cx="10515600" cy="1325563"/>
          </a:xfrm>
        </p:spPr>
        <p:txBody>
          <a:bodyPr/>
          <a:lstStyle/>
          <a:p>
            <a:pPr algn="l" eaLnBrk="1" hangingPunct="1"/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RAID3 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74119" y="1155834"/>
            <a:ext cx="908753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RAID3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称为带校验的并行传输（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Parallel transfer with parity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</p:txBody>
      </p:sp>
      <p:sp>
        <p:nvSpPr>
          <p:cNvPr id="4" name="矩形 3"/>
          <p:cNvSpPr/>
          <p:nvPr/>
        </p:nvSpPr>
        <p:spPr>
          <a:xfrm>
            <a:off x="2074119" y="2653043"/>
            <a:ext cx="933898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像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RAID2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一样，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RAID3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是按照每次一位的方式将数据交错分配到各个数据盘的条带上。</a:t>
            </a:r>
          </a:p>
        </p:txBody>
      </p:sp>
      <p:sp>
        <p:nvSpPr>
          <p:cNvPr id="8" name="矩形 7"/>
          <p:cNvSpPr/>
          <p:nvPr/>
        </p:nvSpPr>
        <p:spPr>
          <a:xfrm>
            <a:off x="2074119" y="4184717"/>
            <a:ext cx="929579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但是，与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RAID2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所不同的是，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RAID3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只使用一个磁盘来存储一个简单的奇偶校验位，奇偶校验位的生成比海明码的生成快得多。</a:t>
            </a:r>
          </a:p>
        </p:txBody>
      </p:sp>
      <p:cxnSp>
        <p:nvCxnSpPr>
          <p:cNvPr id="21" name="直接连接符 20"/>
          <p:cNvCxnSpPr>
            <a:stCxn id="9" idx="4"/>
            <a:endCxn id="11" idx="0"/>
          </p:cNvCxnSpPr>
          <p:nvPr/>
        </p:nvCxnSpPr>
        <p:spPr>
          <a:xfrm>
            <a:off x="1274455" y="2182495"/>
            <a:ext cx="0" cy="8784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274455" y="3860615"/>
            <a:ext cx="0" cy="8784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4832573"/>
      </p:ext>
    </p:extLst>
  </p:cSld>
  <p:clrMapOvr>
    <a:masterClrMapping/>
  </p:clrMapOvr>
  <p:transition spd="slow" advTm="0">
    <p:blinds dir="ver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5773" y="364188"/>
            <a:ext cx="8229600" cy="1054100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RAID3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的组成</a:t>
            </a:r>
          </a:p>
        </p:txBody>
      </p:sp>
      <p:sp>
        <p:nvSpPr>
          <p:cNvPr id="23556" name="Rectangle 5"/>
          <p:cNvSpPr>
            <a:spLocks noChangeArrowheads="1"/>
          </p:cNvSpPr>
          <p:nvPr/>
        </p:nvSpPr>
        <p:spPr bwMode="auto">
          <a:xfrm>
            <a:off x="1524001" y="27061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50000"/>
              <a:buFont typeface="Wingdings 2" panose="05020102010507070707" pitchFamily="18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60000"/>
              <a:buFont typeface="Wingdings 2" panose="05020102010507070707" pitchFamily="18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2355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3699931"/>
              </p:ext>
            </p:extLst>
          </p:nvPr>
        </p:nvGraphicFramePr>
        <p:xfrm>
          <a:off x="875773" y="1953877"/>
          <a:ext cx="10083775" cy="2729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Visio" r:id="rId3" imgW="5098694" imgH="1073506" progId="Visio.Drawing.11">
                  <p:embed/>
                </p:oleObj>
              </mc:Choice>
              <mc:Fallback>
                <p:oleObj name="Visio" r:id="rId3" imgW="5098694" imgH="1073506" progId="Visio.Drawing.11">
                  <p:embed/>
                  <p:pic>
                    <p:nvPicPr>
                      <p:cNvPr id="2355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773" y="1953877"/>
                        <a:ext cx="10083775" cy="27292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1261393771"/>
      </p:ext>
    </p:extLst>
  </p:cSld>
  <p:clrMapOvr>
    <a:masterClrMapping/>
  </p:clrMapOvr>
  <p:transition spd="slow" advTm="9222">
    <p:blinds dir="ver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1511673" y="1399321"/>
            <a:ext cx="0" cy="4005620"/>
          </a:xfrm>
          <a:prstGeom prst="line">
            <a:avLst/>
          </a:prstGeom>
          <a:noFill/>
          <a:ln w="12700" cap="flat">
            <a:solidFill>
              <a:srgbClr val="2E2C2C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1" name="Freeform 9"/>
          <p:cNvSpPr>
            <a:spLocks/>
          </p:cNvSpPr>
          <p:nvPr/>
        </p:nvSpPr>
        <p:spPr bwMode="auto">
          <a:xfrm>
            <a:off x="1855719" y="2178946"/>
            <a:ext cx="165036" cy="207882"/>
          </a:xfrm>
          <a:custGeom>
            <a:avLst/>
            <a:gdLst>
              <a:gd name="T0" fmla="*/ 184 w 205"/>
              <a:gd name="T1" fmla="*/ 109 h 262"/>
              <a:gd name="T2" fmla="*/ 109 w 205"/>
              <a:gd name="T3" fmla="*/ 61 h 262"/>
              <a:gd name="T4" fmla="*/ 32 w 205"/>
              <a:gd name="T5" fmla="*/ 11 h 262"/>
              <a:gd name="T6" fmla="*/ 0 w 205"/>
              <a:gd name="T7" fmla="*/ 34 h 262"/>
              <a:gd name="T8" fmla="*/ 0 w 205"/>
              <a:gd name="T9" fmla="*/ 131 h 262"/>
              <a:gd name="T10" fmla="*/ 0 w 205"/>
              <a:gd name="T11" fmla="*/ 230 h 262"/>
              <a:gd name="T12" fmla="*/ 34 w 205"/>
              <a:gd name="T13" fmla="*/ 250 h 262"/>
              <a:gd name="T14" fmla="*/ 109 w 205"/>
              <a:gd name="T15" fmla="*/ 202 h 262"/>
              <a:gd name="T16" fmla="*/ 186 w 205"/>
              <a:gd name="T17" fmla="*/ 152 h 262"/>
              <a:gd name="T18" fmla="*/ 184 w 205"/>
              <a:gd name="T19" fmla="*/ 109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5" h="262">
                <a:moveTo>
                  <a:pt x="184" y="109"/>
                </a:moveTo>
                <a:lnTo>
                  <a:pt x="109" y="61"/>
                </a:lnTo>
                <a:cubicBezTo>
                  <a:pt x="83" y="44"/>
                  <a:pt x="58" y="28"/>
                  <a:pt x="32" y="11"/>
                </a:cubicBezTo>
                <a:cubicBezTo>
                  <a:pt x="11" y="0"/>
                  <a:pt x="0" y="9"/>
                  <a:pt x="0" y="34"/>
                </a:cubicBezTo>
                <a:lnTo>
                  <a:pt x="0" y="131"/>
                </a:lnTo>
                <a:cubicBezTo>
                  <a:pt x="0" y="164"/>
                  <a:pt x="0" y="197"/>
                  <a:pt x="0" y="230"/>
                </a:cubicBezTo>
                <a:cubicBezTo>
                  <a:pt x="2" y="256"/>
                  <a:pt x="14" y="262"/>
                  <a:pt x="34" y="250"/>
                </a:cubicBezTo>
                <a:lnTo>
                  <a:pt x="109" y="202"/>
                </a:lnTo>
                <a:cubicBezTo>
                  <a:pt x="135" y="185"/>
                  <a:pt x="160" y="169"/>
                  <a:pt x="186" y="152"/>
                </a:cubicBezTo>
                <a:cubicBezTo>
                  <a:pt x="205" y="137"/>
                  <a:pt x="203" y="122"/>
                  <a:pt x="184" y="109"/>
                </a:cubicBezTo>
                <a:close/>
              </a:path>
            </a:pathLst>
          </a:custGeom>
          <a:solidFill>
            <a:srgbClr val="01C0B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1782669" y="4191766"/>
            <a:ext cx="165036" cy="206294"/>
          </a:xfrm>
          <a:custGeom>
            <a:avLst/>
            <a:gdLst>
              <a:gd name="T0" fmla="*/ 184 w 205"/>
              <a:gd name="T1" fmla="*/ 108 h 261"/>
              <a:gd name="T2" fmla="*/ 109 w 205"/>
              <a:gd name="T3" fmla="*/ 60 h 261"/>
              <a:gd name="T4" fmla="*/ 32 w 205"/>
              <a:gd name="T5" fmla="*/ 10 h 261"/>
              <a:gd name="T6" fmla="*/ 0 w 205"/>
              <a:gd name="T7" fmla="*/ 33 h 261"/>
              <a:gd name="T8" fmla="*/ 0 w 205"/>
              <a:gd name="T9" fmla="*/ 130 h 261"/>
              <a:gd name="T10" fmla="*/ 0 w 205"/>
              <a:gd name="T11" fmla="*/ 229 h 261"/>
              <a:gd name="T12" fmla="*/ 34 w 205"/>
              <a:gd name="T13" fmla="*/ 249 h 261"/>
              <a:gd name="T14" fmla="*/ 109 w 205"/>
              <a:gd name="T15" fmla="*/ 201 h 261"/>
              <a:gd name="T16" fmla="*/ 186 w 205"/>
              <a:gd name="T17" fmla="*/ 151 h 261"/>
              <a:gd name="T18" fmla="*/ 184 w 205"/>
              <a:gd name="T19" fmla="*/ 108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5" h="261">
                <a:moveTo>
                  <a:pt x="184" y="108"/>
                </a:moveTo>
                <a:lnTo>
                  <a:pt x="109" y="60"/>
                </a:lnTo>
                <a:cubicBezTo>
                  <a:pt x="83" y="43"/>
                  <a:pt x="58" y="27"/>
                  <a:pt x="32" y="10"/>
                </a:cubicBezTo>
                <a:cubicBezTo>
                  <a:pt x="11" y="0"/>
                  <a:pt x="0" y="8"/>
                  <a:pt x="0" y="33"/>
                </a:cubicBezTo>
                <a:lnTo>
                  <a:pt x="0" y="130"/>
                </a:lnTo>
                <a:cubicBezTo>
                  <a:pt x="0" y="163"/>
                  <a:pt x="0" y="196"/>
                  <a:pt x="0" y="229"/>
                </a:cubicBezTo>
                <a:cubicBezTo>
                  <a:pt x="2" y="255"/>
                  <a:pt x="14" y="261"/>
                  <a:pt x="34" y="249"/>
                </a:cubicBezTo>
                <a:lnTo>
                  <a:pt x="109" y="201"/>
                </a:lnTo>
                <a:cubicBezTo>
                  <a:pt x="135" y="184"/>
                  <a:pt x="160" y="168"/>
                  <a:pt x="186" y="151"/>
                </a:cubicBezTo>
                <a:cubicBezTo>
                  <a:pt x="205" y="136"/>
                  <a:pt x="203" y="122"/>
                  <a:pt x="184" y="108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grpSp>
        <p:nvGrpSpPr>
          <p:cNvPr id="13" name="组合 12"/>
          <p:cNvGrpSpPr/>
          <p:nvPr/>
        </p:nvGrpSpPr>
        <p:grpSpPr>
          <a:xfrm>
            <a:off x="1138397" y="2007097"/>
            <a:ext cx="717324" cy="523092"/>
            <a:chOff x="912759" y="1007596"/>
            <a:chExt cx="717604" cy="523296"/>
          </a:xfrm>
        </p:grpSpPr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985838" y="1052513"/>
              <a:ext cx="615950" cy="433387"/>
            </a:xfrm>
            <a:custGeom>
              <a:avLst/>
              <a:gdLst>
                <a:gd name="T0" fmla="*/ 43 w 764"/>
                <a:gd name="T1" fmla="*/ 0 h 549"/>
                <a:gd name="T2" fmla="*/ 721 w 764"/>
                <a:gd name="T3" fmla="*/ 0 h 549"/>
                <a:gd name="T4" fmla="*/ 764 w 764"/>
                <a:gd name="T5" fmla="*/ 43 h 549"/>
                <a:gd name="T6" fmla="*/ 764 w 764"/>
                <a:gd name="T7" fmla="*/ 506 h 549"/>
                <a:gd name="T8" fmla="*/ 721 w 764"/>
                <a:gd name="T9" fmla="*/ 549 h 549"/>
                <a:gd name="T10" fmla="*/ 43 w 764"/>
                <a:gd name="T11" fmla="*/ 549 h 549"/>
                <a:gd name="T12" fmla="*/ 0 w 764"/>
                <a:gd name="T13" fmla="*/ 506 h 549"/>
                <a:gd name="T14" fmla="*/ 0 w 764"/>
                <a:gd name="T15" fmla="*/ 43 h 549"/>
                <a:gd name="T16" fmla="*/ 43 w 764"/>
                <a:gd name="T17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4" h="549">
                  <a:moveTo>
                    <a:pt x="43" y="0"/>
                  </a:moveTo>
                  <a:lnTo>
                    <a:pt x="721" y="0"/>
                  </a:lnTo>
                  <a:cubicBezTo>
                    <a:pt x="744" y="0"/>
                    <a:pt x="764" y="20"/>
                    <a:pt x="764" y="43"/>
                  </a:cubicBezTo>
                  <a:lnTo>
                    <a:pt x="764" y="506"/>
                  </a:lnTo>
                  <a:cubicBezTo>
                    <a:pt x="764" y="530"/>
                    <a:pt x="744" y="549"/>
                    <a:pt x="721" y="549"/>
                  </a:cubicBezTo>
                  <a:lnTo>
                    <a:pt x="43" y="549"/>
                  </a:lnTo>
                  <a:cubicBezTo>
                    <a:pt x="20" y="549"/>
                    <a:pt x="0" y="530"/>
                    <a:pt x="0" y="506"/>
                  </a:cubicBezTo>
                  <a:lnTo>
                    <a:pt x="0" y="43"/>
                  </a:lnTo>
                  <a:cubicBezTo>
                    <a:pt x="0" y="20"/>
                    <a:pt x="20" y="0"/>
                    <a:pt x="43" y="0"/>
                  </a:cubicBezTo>
                  <a:close/>
                </a:path>
              </a:pathLst>
            </a:custGeom>
            <a:solidFill>
              <a:srgbClr val="E855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12759" y="1007596"/>
              <a:ext cx="717604" cy="523296"/>
            </a:xfrm>
            <a:prstGeom prst="rect">
              <a:avLst/>
            </a:prstGeom>
            <a:solidFill>
              <a:srgbClr val="01C0B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799" dirty="0">
                  <a:solidFill>
                    <a:schemeClr val="bg1"/>
                  </a:solidFill>
                  <a:latin typeface="+mn-ea"/>
                </a:rPr>
                <a:t>01</a:t>
              </a:r>
              <a:endParaRPr lang="zh-CN" altLang="en-US" sz="2799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065347" y="4029270"/>
            <a:ext cx="717324" cy="523092"/>
            <a:chOff x="912759" y="1884191"/>
            <a:chExt cx="717604" cy="523296"/>
          </a:xfrm>
        </p:grpSpPr>
        <p:sp>
          <p:nvSpPr>
            <p:cNvPr id="19" name="Freeform 10"/>
            <p:cNvSpPr>
              <a:spLocks/>
            </p:cNvSpPr>
            <p:nvPr/>
          </p:nvSpPr>
          <p:spPr bwMode="auto">
            <a:xfrm>
              <a:off x="985838" y="1918165"/>
              <a:ext cx="615950" cy="433387"/>
            </a:xfrm>
            <a:custGeom>
              <a:avLst/>
              <a:gdLst>
                <a:gd name="T0" fmla="*/ 43 w 764"/>
                <a:gd name="T1" fmla="*/ 0 h 549"/>
                <a:gd name="T2" fmla="*/ 721 w 764"/>
                <a:gd name="T3" fmla="*/ 0 h 549"/>
                <a:gd name="T4" fmla="*/ 764 w 764"/>
                <a:gd name="T5" fmla="*/ 44 h 549"/>
                <a:gd name="T6" fmla="*/ 764 w 764"/>
                <a:gd name="T7" fmla="*/ 506 h 549"/>
                <a:gd name="T8" fmla="*/ 721 w 764"/>
                <a:gd name="T9" fmla="*/ 549 h 549"/>
                <a:gd name="T10" fmla="*/ 43 w 764"/>
                <a:gd name="T11" fmla="*/ 549 h 549"/>
                <a:gd name="T12" fmla="*/ 0 w 764"/>
                <a:gd name="T13" fmla="*/ 506 h 549"/>
                <a:gd name="T14" fmla="*/ 0 w 764"/>
                <a:gd name="T15" fmla="*/ 44 h 549"/>
                <a:gd name="T16" fmla="*/ 43 w 764"/>
                <a:gd name="T17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4" h="549">
                  <a:moveTo>
                    <a:pt x="43" y="0"/>
                  </a:moveTo>
                  <a:lnTo>
                    <a:pt x="721" y="0"/>
                  </a:lnTo>
                  <a:cubicBezTo>
                    <a:pt x="744" y="0"/>
                    <a:pt x="764" y="20"/>
                    <a:pt x="764" y="44"/>
                  </a:cubicBezTo>
                  <a:lnTo>
                    <a:pt x="764" y="506"/>
                  </a:lnTo>
                  <a:cubicBezTo>
                    <a:pt x="764" y="530"/>
                    <a:pt x="744" y="549"/>
                    <a:pt x="721" y="549"/>
                  </a:cubicBezTo>
                  <a:lnTo>
                    <a:pt x="43" y="549"/>
                  </a:lnTo>
                  <a:cubicBezTo>
                    <a:pt x="20" y="549"/>
                    <a:pt x="0" y="530"/>
                    <a:pt x="0" y="506"/>
                  </a:cubicBezTo>
                  <a:lnTo>
                    <a:pt x="0" y="44"/>
                  </a:lnTo>
                  <a:cubicBezTo>
                    <a:pt x="0" y="20"/>
                    <a:pt x="20" y="0"/>
                    <a:pt x="43" y="0"/>
                  </a:cubicBezTo>
                  <a:close/>
                </a:path>
              </a:pathLst>
            </a:custGeom>
            <a:solidFill>
              <a:srgbClr val="E855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12759" y="1884191"/>
              <a:ext cx="717604" cy="523296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799">
                  <a:solidFill>
                    <a:schemeClr val="bg1"/>
                  </a:solidFill>
                  <a:latin typeface="+mn-ea"/>
                </a:rPr>
                <a:t>02</a:t>
              </a:r>
              <a:endParaRPr lang="zh-CN" altLang="en-US" sz="2799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23" name="TextBox 26"/>
          <p:cNvSpPr txBox="1"/>
          <p:nvPr/>
        </p:nvSpPr>
        <p:spPr>
          <a:xfrm>
            <a:off x="14365018" y="8701189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3" name="矩形 2"/>
          <p:cNvSpPr/>
          <p:nvPr/>
        </p:nvSpPr>
        <p:spPr>
          <a:xfrm>
            <a:off x="3075295" y="1792716"/>
            <a:ext cx="802033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后续几种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就不一一介绍了，大家可以自行阅读教材中有关内容。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75295" y="3705562"/>
            <a:ext cx="817046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有关这些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级的优缺点级应用可以参考教材中的表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5-9.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4335754"/>
      </p:ext>
    </p:extLst>
  </p:cSld>
  <p:clrMapOvr>
    <a:masterClrMapping/>
  </p:clrMapOvr>
  <p:transition spd="slow" advTm="0">
    <p:blinds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757" y="2340487"/>
            <a:ext cx="6598050" cy="1698614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098285" y="2541722"/>
            <a:ext cx="4678532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ctr"/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谢！</a:t>
            </a:r>
            <a:endParaRPr lang="en-US" altLang="zh-CN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353950" y="5153618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7620664" y="5153618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8885806" y="5153618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0152517" y="5153618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0" name="Freeform 9"/>
          <p:cNvSpPr>
            <a:spLocks noEditPoints="1"/>
          </p:cNvSpPr>
          <p:nvPr/>
        </p:nvSpPr>
        <p:spPr bwMode="auto">
          <a:xfrm>
            <a:off x="10057335" y="4692974"/>
            <a:ext cx="373115" cy="374683"/>
          </a:xfrm>
          <a:custGeom>
            <a:avLst/>
            <a:gdLst>
              <a:gd name="T0" fmla="*/ 358 w 490"/>
              <a:gd name="T1" fmla="*/ 250 h 490"/>
              <a:gd name="T2" fmla="*/ 358 w 490"/>
              <a:gd name="T3" fmla="*/ 183 h 490"/>
              <a:gd name="T4" fmla="*/ 328 w 490"/>
              <a:gd name="T5" fmla="*/ 183 h 490"/>
              <a:gd name="T6" fmla="*/ 328 w 490"/>
              <a:gd name="T7" fmla="*/ 250 h 490"/>
              <a:gd name="T8" fmla="*/ 247 w 490"/>
              <a:gd name="T9" fmla="*/ 330 h 490"/>
              <a:gd name="T10" fmla="*/ 246 w 490"/>
              <a:gd name="T11" fmla="*/ 330 h 490"/>
              <a:gd name="T12" fmla="*/ 245 w 490"/>
              <a:gd name="T13" fmla="*/ 330 h 490"/>
              <a:gd name="T14" fmla="*/ 245 w 490"/>
              <a:gd name="T15" fmla="*/ 330 h 490"/>
              <a:gd name="T16" fmla="*/ 243 w 490"/>
              <a:gd name="T17" fmla="*/ 330 h 490"/>
              <a:gd name="T18" fmla="*/ 162 w 490"/>
              <a:gd name="T19" fmla="*/ 250 h 490"/>
              <a:gd name="T20" fmla="*/ 162 w 490"/>
              <a:gd name="T21" fmla="*/ 183 h 490"/>
              <a:gd name="T22" fmla="*/ 132 w 490"/>
              <a:gd name="T23" fmla="*/ 183 h 490"/>
              <a:gd name="T24" fmla="*/ 132 w 490"/>
              <a:gd name="T25" fmla="*/ 250 h 490"/>
              <a:gd name="T26" fmla="*/ 227 w 490"/>
              <a:gd name="T27" fmla="*/ 359 h 490"/>
              <a:gd name="T28" fmla="*/ 227 w 490"/>
              <a:gd name="T29" fmla="*/ 407 h 490"/>
              <a:gd name="T30" fmla="*/ 160 w 490"/>
              <a:gd name="T31" fmla="*/ 426 h 490"/>
              <a:gd name="T32" fmla="*/ 331 w 490"/>
              <a:gd name="T33" fmla="*/ 426 h 490"/>
              <a:gd name="T34" fmla="*/ 263 w 490"/>
              <a:gd name="T35" fmla="*/ 407 h 490"/>
              <a:gd name="T36" fmla="*/ 263 w 490"/>
              <a:gd name="T37" fmla="*/ 360 h 490"/>
              <a:gd name="T38" fmla="*/ 358 w 490"/>
              <a:gd name="T39" fmla="*/ 250 h 490"/>
              <a:gd name="T40" fmla="*/ 244 w 490"/>
              <a:gd name="T41" fmla="*/ 302 h 490"/>
              <a:gd name="T42" fmla="*/ 245 w 490"/>
              <a:gd name="T43" fmla="*/ 302 h 490"/>
              <a:gd name="T44" fmla="*/ 246 w 490"/>
              <a:gd name="T45" fmla="*/ 302 h 490"/>
              <a:gd name="T46" fmla="*/ 300 w 490"/>
              <a:gd name="T47" fmla="*/ 248 h 490"/>
              <a:gd name="T48" fmla="*/ 300 w 490"/>
              <a:gd name="T49" fmla="*/ 118 h 490"/>
              <a:gd name="T50" fmla="*/ 246 w 490"/>
              <a:gd name="T51" fmla="*/ 64 h 490"/>
              <a:gd name="T52" fmla="*/ 245 w 490"/>
              <a:gd name="T53" fmla="*/ 64 h 490"/>
              <a:gd name="T54" fmla="*/ 244 w 490"/>
              <a:gd name="T55" fmla="*/ 64 h 490"/>
              <a:gd name="T56" fmla="*/ 190 w 490"/>
              <a:gd name="T57" fmla="*/ 118 h 490"/>
              <a:gd name="T58" fmla="*/ 190 w 490"/>
              <a:gd name="T59" fmla="*/ 248 h 490"/>
              <a:gd name="T60" fmla="*/ 244 w 490"/>
              <a:gd name="T61" fmla="*/ 302 h 490"/>
              <a:gd name="T62" fmla="*/ 245 w 490"/>
              <a:gd name="T63" fmla="*/ 0 h 490"/>
              <a:gd name="T64" fmla="*/ 490 w 490"/>
              <a:gd name="T65" fmla="*/ 245 h 490"/>
              <a:gd name="T66" fmla="*/ 245 w 490"/>
              <a:gd name="T67" fmla="*/ 490 h 490"/>
              <a:gd name="T68" fmla="*/ 0 w 490"/>
              <a:gd name="T69" fmla="*/ 245 h 490"/>
              <a:gd name="T70" fmla="*/ 245 w 490"/>
              <a:gd name="T71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0" h="490">
                <a:moveTo>
                  <a:pt x="358" y="250"/>
                </a:moveTo>
                <a:lnTo>
                  <a:pt x="358" y="183"/>
                </a:lnTo>
                <a:cubicBezTo>
                  <a:pt x="358" y="165"/>
                  <a:pt x="328" y="164"/>
                  <a:pt x="328" y="183"/>
                </a:cubicBezTo>
                <a:lnTo>
                  <a:pt x="328" y="250"/>
                </a:lnTo>
                <a:cubicBezTo>
                  <a:pt x="328" y="294"/>
                  <a:pt x="292" y="330"/>
                  <a:pt x="247" y="330"/>
                </a:cubicBezTo>
                <a:cubicBezTo>
                  <a:pt x="247" y="330"/>
                  <a:pt x="246" y="330"/>
                  <a:pt x="246" y="330"/>
                </a:cubicBezTo>
                <a:lnTo>
                  <a:pt x="245" y="330"/>
                </a:lnTo>
                <a:lnTo>
                  <a:pt x="245" y="330"/>
                </a:lnTo>
                <a:cubicBezTo>
                  <a:pt x="244" y="330"/>
                  <a:pt x="244" y="330"/>
                  <a:pt x="243" y="330"/>
                </a:cubicBezTo>
                <a:cubicBezTo>
                  <a:pt x="198" y="330"/>
                  <a:pt x="162" y="294"/>
                  <a:pt x="162" y="250"/>
                </a:cubicBezTo>
                <a:lnTo>
                  <a:pt x="162" y="183"/>
                </a:lnTo>
                <a:cubicBezTo>
                  <a:pt x="162" y="165"/>
                  <a:pt x="132" y="164"/>
                  <a:pt x="132" y="183"/>
                </a:cubicBezTo>
                <a:cubicBezTo>
                  <a:pt x="132" y="192"/>
                  <a:pt x="132" y="250"/>
                  <a:pt x="132" y="250"/>
                </a:cubicBezTo>
                <a:cubicBezTo>
                  <a:pt x="132" y="306"/>
                  <a:pt x="173" y="352"/>
                  <a:pt x="227" y="359"/>
                </a:cubicBezTo>
                <a:lnTo>
                  <a:pt x="227" y="407"/>
                </a:lnTo>
                <a:lnTo>
                  <a:pt x="160" y="426"/>
                </a:lnTo>
                <a:lnTo>
                  <a:pt x="331" y="426"/>
                </a:lnTo>
                <a:lnTo>
                  <a:pt x="263" y="407"/>
                </a:lnTo>
                <a:lnTo>
                  <a:pt x="263" y="360"/>
                </a:lnTo>
                <a:cubicBezTo>
                  <a:pt x="317" y="352"/>
                  <a:pt x="358" y="306"/>
                  <a:pt x="358" y="250"/>
                </a:cubicBezTo>
                <a:close/>
                <a:moveTo>
                  <a:pt x="244" y="302"/>
                </a:moveTo>
                <a:cubicBezTo>
                  <a:pt x="244" y="302"/>
                  <a:pt x="245" y="302"/>
                  <a:pt x="245" y="302"/>
                </a:cubicBezTo>
                <a:cubicBezTo>
                  <a:pt x="245" y="302"/>
                  <a:pt x="246" y="302"/>
                  <a:pt x="246" y="302"/>
                </a:cubicBezTo>
                <a:cubicBezTo>
                  <a:pt x="276" y="302"/>
                  <a:pt x="300" y="278"/>
                  <a:pt x="300" y="248"/>
                </a:cubicBezTo>
                <a:lnTo>
                  <a:pt x="300" y="118"/>
                </a:lnTo>
                <a:cubicBezTo>
                  <a:pt x="300" y="88"/>
                  <a:pt x="276" y="64"/>
                  <a:pt x="246" y="64"/>
                </a:cubicBezTo>
                <a:cubicBezTo>
                  <a:pt x="246" y="64"/>
                  <a:pt x="245" y="64"/>
                  <a:pt x="245" y="64"/>
                </a:cubicBezTo>
                <a:cubicBezTo>
                  <a:pt x="245" y="64"/>
                  <a:pt x="244" y="64"/>
                  <a:pt x="244" y="64"/>
                </a:cubicBezTo>
                <a:cubicBezTo>
                  <a:pt x="214" y="64"/>
                  <a:pt x="190" y="88"/>
                  <a:pt x="190" y="118"/>
                </a:cubicBezTo>
                <a:lnTo>
                  <a:pt x="190" y="248"/>
                </a:lnTo>
                <a:cubicBezTo>
                  <a:pt x="190" y="278"/>
                  <a:pt x="214" y="302"/>
                  <a:pt x="244" y="302"/>
                </a:cubicBezTo>
                <a:close/>
                <a:moveTo>
                  <a:pt x="245" y="0"/>
                </a:moveTo>
                <a:cubicBezTo>
                  <a:pt x="381" y="0"/>
                  <a:pt x="490" y="110"/>
                  <a:pt x="490" y="245"/>
                </a:cubicBezTo>
                <a:cubicBezTo>
                  <a:pt x="490" y="381"/>
                  <a:pt x="381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84849"/>
              </a:solidFill>
            </a:endParaRP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 bwMode="auto">
          <a:xfrm>
            <a:off x="10466453" y="4703232"/>
            <a:ext cx="1899476" cy="35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sz="1700" dirty="0">
                <a:solidFill>
                  <a:schemeClr val="bg1"/>
                </a:solidFill>
              </a:rPr>
              <a:t>汇报人：代用名</a:t>
            </a:r>
          </a:p>
        </p:txBody>
      </p:sp>
      <p:sp>
        <p:nvSpPr>
          <p:cNvPr id="12" name="Freeform 10"/>
          <p:cNvSpPr>
            <a:spLocks noChangeAspect="1" noEditPoints="1"/>
          </p:cNvSpPr>
          <p:nvPr/>
        </p:nvSpPr>
        <p:spPr bwMode="auto">
          <a:xfrm>
            <a:off x="6417691" y="4693112"/>
            <a:ext cx="372836" cy="374400"/>
          </a:xfrm>
          <a:custGeom>
            <a:avLst/>
            <a:gdLst>
              <a:gd name="T0" fmla="*/ 245 w 490"/>
              <a:gd name="T1" fmla="*/ 0 h 490"/>
              <a:gd name="T2" fmla="*/ 490 w 490"/>
              <a:gd name="T3" fmla="*/ 245 h 490"/>
              <a:gd name="T4" fmla="*/ 245 w 490"/>
              <a:gd name="T5" fmla="*/ 490 h 490"/>
              <a:gd name="T6" fmla="*/ 0 w 490"/>
              <a:gd name="T7" fmla="*/ 245 h 490"/>
              <a:gd name="T8" fmla="*/ 245 w 490"/>
              <a:gd name="T9" fmla="*/ 0 h 490"/>
              <a:gd name="T10" fmla="*/ 436 w 490"/>
              <a:gd name="T11" fmla="*/ 250 h 490"/>
              <a:gd name="T12" fmla="*/ 427 w 490"/>
              <a:gd name="T13" fmla="*/ 256 h 490"/>
              <a:gd name="T14" fmla="*/ 394 w 490"/>
              <a:gd name="T15" fmla="*/ 256 h 490"/>
              <a:gd name="T16" fmla="*/ 386 w 490"/>
              <a:gd name="T17" fmla="*/ 253 h 490"/>
              <a:gd name="T18" fmla="*/ 245 w 490"/>
              <a:gd name="T19" fmla="*/ 105 h 490"/>
              <a:gd name="T20" fmla="*/ 104 w 490"/>
              <a:gd name="T21" fmla="*/ 253 h 490"/>
              <a:gd name="T22" fmla="*/ 96 w 490"/>
              <a:gd name="T23" fmla="*/ 256 h 490"/>
              <a:gd name="T24" fmla="*/ 63 w 490"/>
              <a:gd name="T25" fmla="*/ 256 h 490"/>
              <a:gd name="T26" fmla="*/ 54 w 490"/>
              <a:gd name="T27" fmla="*/ 250 h 490"/>
              <a:gd name="T28" fmla="*/ 56 w 490"/>
              <a:gd name="T29" fmla="*/ 239 h 490"/>
              <a:gd name="T30" fmla="*/ 236 w 490"/>
              <a:gd name="T31" fmla="*/ 52 h 490"/>
              <a:gd name="T32" fmla="*/ 245 w 490"/>
              <a:gd name="T33" fmla="*/ 48 h 490"/>
              <a:gd name="T34" fmla="*/ 254 w 490"/>
              <a:gd name="T35" fmla="*/ 52 h 490"/>
              <a:gd name="T36" fmla="*/ 434 w 490"/>
              <a:gd name="T37" fmla="*/ 239 h 490"/>
              <a:gd name="T38" fmla="*/ 436 w 490"/>
              <a:gd name="T39" fmla="*/ 250 h 490"/>
              <a:gd name="T40" fmla="*/ 113 w 490"/>
              <a:gd name="T41" fmla="*/ 267 h 490"/>
              <a:gd name="T42" fmla="*/ 113 w 490"/>
              <a:gd name="T43" fmla="*/ 267 h 490"/>
              <a:gd name="T44" fmla="*/ 113 w 490"/>
              <a:gd name="T45" fmla="*/ 379 h 490"/>
              <a:gd name="T46" fmla="*/ 129 w 490"/>
              <a:gd name="T47" fmla="*/ 398 h 490"/>
              <a:gd name="T48" fmla="*/ 202 w 490"/>
              <a:gd name="T49" fmla="*/ 398 h 490"/>
              <a:gd name="T50" fmla="*/ 202 w 490"/>
              <a:gd name="T51" fmla="*/ 276 h 490"/>
              <a:gd name="T52" fmla="*/ 221 w 490"/>
              <a:gd name="T53" fmla="*/ 257 h 490"/>
              <a:gd name="T54" fmla="*/ 269 w 490"/>
              <a:gd name="T55" fmla="*/ 257 h 490"/>
              <a:gd name="T56" fmla="*/ 288 w 490"/>
              <a:gd name="T57" fmla="*/ 276 h 490"/>
              <a:gd name="T58" fmla="*/ 288 w 490"/>
              <a:gd name="T59" fmla="*/ 398 h 490"/>
              <a:gd name="T60" fmla="*/ 361 w 490"/>
              <a:gd name="T61" fmla="*/ 398 h 490"/>
              <a:gd name="T62" fmla="*/ 377 w 490"/>
              <a:gd name="T63" fmla="*/ 379 h 490"/>
              <a:gd name="T64" fmla="*/ 377 w 490"/>
              <a:gd name="T65" fmla="*/ 268 h 490"/>
              <a:gd name="T66" fmla="*/ 245 w 490"/>
              <a:gd name="T67" fmla="*/ 130 h 490"/>
              <a:gd name="T68" fmla="*/ 113 w 490"/>
              <a:gd name="T69" fmla="*/ 267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0" h="490">
                <a:moveTo>
                  <a:pt x="245" y="0"/>
                </a:moveTo>
                <a:cubicBezTo>
                  <a:pt x="380" y="0"/>
                  <a:pt x="490" y="110"/>
                  <a:pt x="490" y="245"/>
                </a:cubicBezTo>
                <a:cubicBezTo>
                  <a:pt x="490" y="381"/>
                  <a:pt x="380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  <a:moveTo>
                  <a:pt x="436" y="250"/>
                </a:moveTo>
                <a:cubicBezTo>
                  <a:pt x="435" y="254"/>
                  <a:pt x="431" y="256"/>
                  <a:pt x="427" y="256"/>
                </a:cubicBezTo>
                <a:lnTo>
                  <a:pt x="394" y="256"/>
                </a:lnTo>
                <a:cubicBezTo>
                  <a:pt x="391" y="256"/>
                  <a:pt x="388" y="255"/>
                  <a:pt x="386" y="253"/>
                </a:cubicBezTo>
                <a:lnTo>
                  <a:pt x="245" y="105"/>
                </a:lnTo>
                <a:lnTo>
                  <a:pt x="104" y="253"/>
                </a:lnTo>
                <a:cubicBezTo>
                  <a:pt x="102" y="255"/>
                  <a:pt x="99" y="256"/>
                  <a:pt x="96" y="256"/>
                </a:cubicBezTo>
                <a:lnTo>
                  <a:pt x="63" y="256"/>
                </a:lnTo>
                <a:cubicBezTo>
                  <a:pt x="59" y="256"/>
                  <a:pt x="55" y="254"/>
                  <a:pt x="54" y="250"/>
                </a:cubicBezTo>
                <a:cubicBezTo>
                  <a:pt x="52" y="246"/>
                  <a:pt x="53" y="242"/>
                  <a:pt x="56" y="239"/>
                </a:cubicBezTo>
                <a:lnTo>
                  <a:pt x="236" y="52"/>
                </a:lnTo>
                <a:cubicBezTo>
                  <a:pt x="238" y="49"/>
                  <a:pt x="242" y="48"/>
                  <a:pt x="245" y="48"/>
                </a:cubicBezTo>
                <a:cubicBezTo>
                  <a:pt x="248" y="48"/>
                  <a:pt x="252" y="49"/>
                  <a:pt x="254" y="52"/>
                </a:cubicBezTo>
                <a:lnTo>
                  <a:pt x="434" y="239"/>
                </a:lnTo>
                <a:cubicBezTo>
                  <a:pt x="437" y="242"/>
                  <a:pt x="438" y="246"/>
                  <a:pt x="436" y="250"/>
                </a:cubicBezTo>
                <a:close/>
                <a:moveTo>
                  <a:pt x="113" y="267"/>
                </a:moveTo>
                <a:lnTo>
                  <a:pt x="113" y="267"/>
                </a:lnTo>
                <a:lnTo>
                  <a:pt x="113" y="379"/>
                </a:lnTo>
                <a:cubicBezTo>
                  <a:pt x="113" y="389"/>
                  <a:pt x="120" y="398"/>
                  <a:pt x="129" y="398"/>
                </a:cubicBezTo>
                <a:lnTo>
                  <a:pt x="202" y="398"/>
                </a:lnTo>
                <a:lnTo>
                  <a:pt x="202" y="276"/>
                </a:lnTo>
                <a:cubicBezTo>
                  <a:pt x="202" y="266"/>
                  <a:pt x="211" y="257"/>
                  <a:pt x="221" y="257"/>
                </a:cubicBezTo>
                <a:lnTo>
                  <a:pt x="269" y="257"/>
                </a:lnTo>
                <a:cubicBezTo>
                  <a:pt x="279" y="257"/>
                  <a:pt x="288" y="266"/>
                  <a:pt x="288" y="276"/>
                </a:cubicBezTo>
                <a:lnTo>
                  <a:pt x="288" y="398"/>
                </a:lnTo>
                <a:lnTo>
                  <a:pt x="361" y="398"/>
                </a:lnTo>
                <a:cubicBezTo>
                  <a:pt x="370" y="398"/>
                  <a:pt x="377" y="389"/>
                  <a:pt x="377" y="379"/>
                </a:cubicBezTo>
                <a:lnTo>
                  <a:pt x="377" y="268"/>
                </a:lnTo>
                <a:lnTo>
                  <a:pt x="245" y="130"/>
                </a:lnTo>
                <a:lnTo>
                  <a:pt x="113" y="2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3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1109114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1266714" y="1109114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2531856" y="1109114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3798567" y="1109114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752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 advTm="9222">
        <p:push dir="u"/>
      </p:transition>
    </mc:Choice>
    <mc:Fallback xmlns="">
      <p:transition spd="slow" advTm="9222">
        <p:push dir="u"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</TotalTime>
  <Words>1111</Words>
  <Application>Microsoft Office PowerPoint</Application>
  <PresentationFormat>宽屏</PresentationFormat>
  <Paragraphs>115</Paragraphs>
  <Slides>22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宋体</vt:lpstr>
      <vt:lpstr>微软雅黑</vt:lpstr>
      <vt:lpstr>Arial</vt:lpstr>
      <vt:lpstr>Calibri</vt:lpstr>
      <vt:lpstr>Calibri Light</vt:lpstr>
      <vt:lpstr>Times New Roman</vt:lpstr>
      <vt:lpstr>第一PPT，www.1ppt.com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RAID1 </vt:lpstr>
      <vt:lpstr>PowerPoint 演示文稿</vt:lpstr>
      <vt:lpstr> RAID2 </vt:lpstr>
      <vt:lpstr>PowerPoint 演示文稿</vt:lpstr>
      <vt:lpstr>PowerPoint 演示文稿</vt:lpstr>
      <vt:lpstr>PowerPoint 演示文稿</vt:lpstr>
      <vt:lpstr>PowerPoint 演示文稿</vt:lpstr>
      <vt:lpstr>RAID3 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07述职报告</dc:title>
  <dc:creator>user</dc:creator>
  <cp:lastModifiedBy>文光</cp:lastModifiedBy>
  <cp:revision>49</cp:revision>
  <dcterms:created xsi:type="dcterms:W3CDTF">2016-06-01T05:10:04Z</dcterms:created>
  <dcterms:modified xsi:type="dcterms:W3CDTF">2017-05-26T05:45:36Z</dcterms:modified>
</cp:coreProperties>
</file>