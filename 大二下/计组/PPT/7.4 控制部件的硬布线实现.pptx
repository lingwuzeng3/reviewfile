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x-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89" r:id="rId2"/>
    <p:sldId id="291" r:id="rId3"/>
    <p:sldId id="292" r:id="rId4"/>
    <p:sldId id="293" r:id="rId5"/>
    <p:sldId id="294" r:id="rId6"/>
    <p:sldId id="295" r:id="rId7"/>
    <p:sldId id="297" r:id="rId8"/>
    <p:sldId id="296" r:id="rId9"/>
    <p:sldId id="290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hw" initials="y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1C0B0"/>
    <a:srgbClr val="02B9E7"/>
    <a:srgbClr val="04B0BE"/>
    <a:srgbClr val="04BE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1932" autoAdjust="0"/>
    <p:restoredTop sz="94660"/>
  </p:normalViewPr>
  <p:slideViewPr>
    <p:cSldViewPr snapToGrid="0" showGuides="1">
      <p:cViewPr varScale="1">
        <p:scale>
          <a:sx n="81" d="100"/>
          <a:sy n="81" d="100"/>
        </p:scale>
        <p:origin x="84" y="3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 showGuides="1">
      <p:cViewPr varScale="1">
        <p:scale>
          <a:sx n="57" d="100"/>
          <a:sy n="57" d="100"/>
        </p:scale>
        <p:origin x="2808" y="3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0E8A95-114D-4BB9-A729-058920B2735F}" type="datetimeFigureOut">
              <a:rPr lang="zh-CN" altLang="en-US" smtClean="0"/>
              <a:t>2017/6/2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D8029B-87F6-42DD-8185-B8A2A8D307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389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D8029B-87F6-42DD-8185-B8A2A8D3072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42554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ea typeface="+mn-ea"/>
              </a:rPr>
              <a:t>组合逻辑设计法：将操作控制信号产生器用</a:t>
            </a:r>
            <a:r>
              <a:rPr lang="zh-CN" altLang="en-US" sz="1200" b="1" dirty="0">
                <a:ea typeface="+mn-ea"/>
              </a:rPr>
              <a:t>组合逻辑网络</a:t>
            </a:r>
            <a:r>
              <a:rPr lang="zh-CN" altLang="en-US" sz="1200" dirty="0">
                <a:ea typeface="+mn-ea"/>
              </a:rPr>
              <a:t>设计实现，它根据指令译码的结果，在一定的时序控制下由组合逻辑电路</a:t>
            </a:r>
            <a:r>
              <a:rPr lang="zh-CN" altLang="en-US" sz="1200" b="1" dirty="0">
                <a:solidFill>
                  <a:srgbClr val="FF0000"/>
                </a:solidFill>
                <a:ea typeface="+mn-ea"/>
              </a:rPr>
              <a:t>产生所有指令执行时所需的全部控制信号</a:t>
            </a:r>
            <a:r>
              <a:rPr lang="zh-CN" altLang="en-US" sz="1200" dirty="0">
                <a:ea typeface="+mn-ea"/>
              </a:rPr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FCEF0D-E429-4C18-B0BF-7F89DF8A698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72243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D8029B-87F6-42DD-8185-B8A2A8D3072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09714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2017/6/2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3354890"/>
      </p:ext>
    </p:extLst>
  </p:cSld>
  <p:clrMapOvr>
    <a:masterClrMapping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2017/6/2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343571"/>
      </p:ext>
    </p:extLst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2017/6/2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8862345"/>
      </p:ext>
    </p:extLst>
  </p:cSld>
  <p:clrMapOvr>
    <a:masterClrMapping/>
  </p:clrMapOvr>
  <p:transition spd="slow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2017/6/2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6858996"/>
      </p:ext>
    </p:extLst>
  </p:cSld>
  <p:clrMapOvr>
    <a:masterClrMapping/>
  </p:clrMapOvr>
  <p:transition spd="slow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2017/6/2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365401"/>
      </p:ext>
    </p:extLst>
  </p:cSld>
  <p:clrMapOvr>
    <a:masterClrMapping/>
  </p:clrMapOvr>
  <p:transition spd="slow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2017/6/2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278484"/>
      </p:ext>
    </p:extLst>
  </p:cSld>
  <p:clrMapOvr>
    <a:masterClrMapping/>
  </p:clrMapOvr>
  <p:transition spd="slow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2017/6/2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3886793"/>
      </p:ext>
    </p:extLst>
  </p:cSld>
  <p:clrMapOvr>
    <a:masterClrMapping/>
  </p:clrMapOvr>
  <p:transition spd="slow"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2017/6/2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3394598"/>
      </p:ext>
    </p:extLst>
  </p:cSld>
  <p:clrMapOvr>
    <a:masterClrMapping/>
  </p:clrMapOvr>
  <p:transition spd="slow"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2017/6/2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7041094"/>
      </p:ext>
    </p:extLst>
  </p:cSld>
  <p:clrMapOvr>
    <a:masterClrMapping/>
  </p:clrMapOvr>
  <p:transition spd="slow"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2017/6/2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3071220"/>
      </p:ext>
    </p:extLst>
  </p:cSld>
  <p:clrMapOvr>
    <a:masterClrMapping/>
  </p:clrMapOvr>
  <p:transition spd="slow"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2017/6/2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4753532"/>
      </p:ext>
    </p:extLst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AAD024-C6D2-498C-B6F9-0F94E70CC562}" type="datetimeFigureOut">
              <a:rPr lang="zh-CN" altLang="en-US" smtClean="0"/>
              <a:t>2017/6/2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0530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cover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image" Target="../media/image2.emf"/><Relationship Id="rId7" Type="http://schemas.openxmlformats.org/officeDocument/2006/relationships/image" Target="../media/image6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emf"/><Relationship Id="rId5" Type="http://schemas.openxmlformats.org/officeDocument/2006/relationships/image" Target="../media/image10.emf"/><Relationship Id="rId4" Type="http://schemas.openxmlformats.org/officeDocument/2006/relationships/image" Target="../media/image9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738173" y="2340487"/>
            <a:ext cx="7095638" cy="1698614"/>
          </a:xfrm>
          <a:prstGeom prst="rect">
            <a:avLst/>
          </a:prstGeom>
          <a:solidFill>
            <a:srgbClr val="02B9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Freeform 7"/>
          <p:cNvSpPr>
            <a:spLocks/>
          </p:cNvSpPr>
          <p:nvPr/>
        </p:nvSpPr>
        <p:spPr bwMode="auto">
          <a:xfrm>
            <a:off x="10799813" y="5496958"/>
            <a:ext cx="1079283" cy="1080463"/>
          </a:xfrm>
          <a:custGeom>
            <a:avLst/>
            <a:gdLst>
              <a:gd name="T0" fmla="*/ 2199 w 2504"/>
              <a:gd name="T1" fmla="*/ 0 h 2504"/>
              <a:gd name="T2" fmla="*/ 2504 w 2504"/>
              <a:gd name="T3" fmla="*/ 0 h 2504"/>
              <a:gd name="T4" fmla="*/ 2504 w 2504"/>
              <a:gd name="T5" fmla="*/ 2504 h 2504"/>
              <a:gd name="T6" fmla="*/ 0 w 2504"/>
              <a:gd name="T7" fmla="*/ 2504 h 2504"/>
              <a:gd name="T8" fmla="*/ 0 w 2504"/>
              <a:gd name="T9" fmla="*/ 2199 h 2504"/>
              <a:gd name="T10" fmla="*/ 1970 w 2504"/>
              <a:gd name="T11" fmla="*/ 2199 h 2504"/>
              <a:gd name="T12" fmla="*/ 87 w 2504"/>
              <a:gd name="T13" fmla="*/ 315 h 2504"/>
              <a:gd name="T14" fmla="*/ 303 w 2504"/>
              <a:gd name="T15" fmla="*/ 99 h 2504"/>
              <a:gd name="T16" fmla="*/ 2199 w 2504"/>
              <a:gd name="T17" fmla="*/ 1996 h 2504"/>
              <a:gd name="T18" fmla="*/ 2199 w 2504"/>
              <a:gd name="T19" fmla="*/ 0 h 25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504" h="2504">
                <a:moveTo>
                  <a:pt x="2199" y="0"/>
                </a:moveTo>
                <a:lnTo>
                  <a:pt x="2504" y="0"/>
                </a:lnTo>
                <a:lnTo>
                  <a:pt x="2504" y="2504"/>
                </a:lnTo>
                <a:lnTo>
                  <a:pt x="0" y="2504"/>
                </a:lnTo>
                <a:lnTo>
                  <a:pt x="0" y="2199"/>
                </a:lnTo>
                <a:lnTo>
                  <a:pt x="1970" y="2199"/>
                </a:lnTo>
                <a:lnTo>
                  <a:pt x="87" y="315"/>
                </a:lnTo>
                <a:lnTo>
                  <a:pt x="303" y="99"/>
                </a:lnTo>
                <a:lnTo>
                  <a:pt x="2199" y="1996"/>
                </a:lnTo>
                <a:lnTo>
                  <a:pt x="2199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570668" y="2541722"/>
            <a:ext cx="7566564" cy="1296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7" rIns="91434" bIns="45717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9pPr>
          </a:lstStyle>
          <a:p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控制部件的硬布线方式</a:t>
            </a:r>
            <a:endParaRPr lang="en-US" altLang="zh-CN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353950" y="5153618"/>
            <a:ext cx="2835079" cy="81520"/>
          </a:xfrm>
          <a:prstGeom prst="rect">
            <a:avLst/>
          </a:prstGeom>
          <a:solidFill>
            <a:srgbClr val="01C0B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7620664" y="5153618"/>
            <a:ext cx="2831571" cy="815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8885806" y="5153618"/>
            <a:ext cx="2835079" cy="8152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0152517" y="5153618"/>
            <a:ext cx="2039483" cy="8152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12" name="Freeform 9"/>
          <p:cNvSpPr>
            <a:spLocks noEditPoints="1"/>
          </p:cNvSpPr>
          <p:nvPr/>
        </p:nvSpPr>
        <p:spPr bwMode="auto">
          <a:xfrm>
            <a:off x="10057335" y="4692974"/>
            <a:ext cx="373115" cy="374683"/>
          </a:xfrm>
          <a:custGeom>
            <a:avLst/>
            <a:gdLst>
              <a:gd name="T0" fmla="*/ 358 w 490"/>
              <a:gd name="T1" fmla="*/ 250 h 490"/>
              <a:gd name="T2" fmla="*/ 358 w 490"/>
              <a:gd name="T3" fmla="*/ 183 h 490"/>
              <a:gd name="T4" fmla="*/ 328 w 490"/>
              <a:gd name="T5" fmla="*/ 183 h 490"/>
              <a:gd name="T6" fmla="*/ 328 w 490"/>
              <a:gd name="T7" fmla="*/ 250 h 490"/>
              <a:gd name="T8" fmla="*/ 247 w 490"/>
              <a:gd name="T9" fmla="*/ 330 h 490"/>
              <a:gd name="T10" fmla="*/ 246 w 490"/>
              <a:gd name="T11" fmla="*/ 330 h 490"/>
              <a:gd name="T12" fmla="*/ 245 w 490"/>
              <a:gd name="T13" fmla="*/ 330 h 490"/>
              <a:gd name="T14" fmla="*/ 245 w 490"/>
              <a:gd name="T15" fmla="*/ 330 h 490"/>
              <a:gd name="T16" fmla="*/ 243 w 490"/>
              <a:gd name="T17" fmla="*/ 330 h 490"/>
              <a:gd name="T18" fmla="*/ 162 w 490"/>
              <a:gd name="T19" fmla="*/ 250 h 490"/>
              <a:gd name="T20" fmla="*/ 162 w 490"/>
              <a:gd name="T21" fmla="*/ 183 h 490"/>
              <a:gd name="T22" fmla="*/ 132 w 490"/>
              <a:gd name="T23" fmla="*/ 183 h 490"/>
              <a:gd name="T24" fmla="*/ 132 w 490"/>
              <a:gd name="T25" fmla="*/ 250 h 490"/>
              <a:gd name="T26" fmla="*/ 227 w 490"/>
              <a:gd name="T27" fmla="*/ 359 h 490"/>
              <a:gd name="T28" fmla="*/ 227 w 490"/>
              <a:gd name="T29" fmla="*/ 407 h 490"/>
              <a:gd name="T30" fmla="*/ 160 w 490"/>
              <a:gd name="T31" fmla="*/ 426 h 490"/>
              <a:gd name="T32" fmla="*/ 331 w 490"/>
              <a:gd name="T33" fmla="*/ 426 h 490"/>
              <a:gd name="T34" fmla="*/ 263 w 490"/>
              <a:gd name="T35" fmla="*/ 407 h 490"/>
              <a:gd name="T36" fmla="*/ 263 w 490"/>
              <a:gd name="T37" fmla="*/ 360 h 490"/>
              <a:gd name="T38" fmla="*/ 358 w 490"/>
              <a:gd name="T39" fmla="*/ 250 h 490"/>
              <a:gd name="T40" fmla="*/ 244 w 490"/>
              <a:gd name="T41" fmla="*/ 302 h 490"/>
              <a:gd name="T42" fmla="*/ 245 w 490"/>
              <a:gd name="T43" fmla="*/ 302 h 490"/>
              <a:gd name="T44" fmla="*/ 246 w 490"/>
              <a:gd name="T45" fmla="*/ 302 h 490"/>
              <a:gd name="T46" fmla="*/ 300 w 490"/>
              <a:gd name="T47" fmla="*/ 248 h 490"/>
              <a:gd name="T48" fmla="*/ 300 w 490"/>
              <a:gd name="T49" fmla="*/ 118 h 490"/>
              <a:gd name="T50" fmla="*/ 246 w 490"/>
              <a:gd name="T51" fmla="*/ 64 h 490"/>
              <a:gd name="T52" fmla="*/ 245 w 490"/>
              <a:gd name="T53" fmla="*/ 64 h 490"/>
              <a:gd name="T54" fmla="*/ 244 w 490"/>
              <a:gd name="T55" fmla="*/ 64 h 490"/>
              <a:gd name="T56" fmla="*/ 190 w 490"/>
              <a:gd name="T57" fmla="*/ 118 h 490"/>
              <a:gd name="T58" fmla="*/ 190 w 490"/>
              <a:gd name="T59" fmla="*/ 248 h 490"/>
              <a:gd name="T60" fmla="*/ 244 w 490"/>
              <a:gd name="T61" fmla="*/ 302 h 490"/>
              <a:gd name="T62" fmla="*/ 245 w 490"/>
              <a:gd name="T63" fmla="*/ 0 h 490"/>
              <a:gd name="T64" fmla="*/ 490 w 490"/>
              <a:gd name="T65" fmla="*/ 245 h 490"/>
              <a:gd name="T66" fmla="*/ 245 w 490"/>
              <a:gd name="T67" fmla="*/ 490 h 490"/>
              <a:gd name="T68" fmla="*/ 0 w 490"/>
              <a:gd name="T69" fmla="*/ 245 h 490"/>
              <a:gd name="T70" fmla="*/ 245 w 490"/>
              <a:gd name="T71" fmla="*/ 0 h 4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490" h="490">
                <a:moveTo>
                  <a:pt x="358" y="250"/>
                </a:moveTo>
                <a:lnTo>
                  <a:pt x="358" y="183"/>
                </a:lnTo>
                <a:cubicBezTo>
                  <a:pt x="358" y="165"/>
                  <a:pt x="328" y="164"/>
                  <a:pt x="328" y="183"/>
                </a:cubicBezTo>
                <a:lnTo>
                  <a:pt x="328" y="250"/>
                </a:lnTo>
                <a:cubicBezTo>
                  <a:pt x="328" y="294"/>
                  <a:pt x="292" y="330"/>
                  <a:pt x="247" y="330"/>
                </a:cubicBezTo>
                <a:cubicBezTo>
                  <a:pt x="247" y="330"/>
                  <a:pt x="246" y="330"/>
                  <a:pt x="246" y="330"/>
                </a:cubicBezTo>
                <a:lnTo>
                  <a:pt x="245" y="330"/>
                </a:lnTo>
                <a:lnTo>
                  <a:pt x="245" y="330"/>
                </a:lnTo>
                <a:cubicBezTo>
                  <a:pt x="244" y="330"/>
                  <a:pt x="244" y="330"/>
                  <a:pt x="243" y="330"/>
                </a:cubicBezTo>
                <a:cubicBezTo>
                  <a:pt x="198" y="330"/>
                  <a:pt x="162" y="294"/>
                  <a:pt x="162" y="250"/>
                </a:cubicBezTo>
                <a:lnTo>
                  <a:pt x="162" y="183"/>
                </a:lnTo>
                <a:cubicBezTo>
                  <a:pt x="162" y="165"/>
                  <a:pt x="132" y="164"/>
                  <a:pt x="132" y="183"/>
                </a:cubicBezTo>
                <a:cubicBezTo>
                  <a:pt x="132" y="192"/>
                  <a:pt x="132" y="250"/>
                  <a:pt x="132" y="250"/>
                </a:cubicBezTo>
                <a:cubicBezTo>
                  <a:pt x="132" y="306"/>
                  <a:pt x="173" y="352"/>
                  <a:pt x="227" y="359"/>
                </a:cubicBezTo>
                <a:lnTo>
                  <a:pt x="227" y="407"/>
                </a:lnTo>
                <a:lnTo>
                  <a:pt x="160" y="426"/>
                </a:lnTo>
                <a:lnTo>
                  <a:pt x="331" y="426"/>
                </a:lnTo>
                <a:lnTo>
                  <a:pt x="263" y="407"/>
                </a:lnTo>
                <a:lnTo>
                  <a:pt x="263" y="360"/>
                </a:lnTo>
                <a:cubicBezTo>
                  <a:pt x="317" y="352"/>
                  <a:pt x="358" y="306"/>
                  <a:pt x="358" y="250"/>
                </a:cubicBezTo>
                <a:close/>
                <a:moveTo>
                  <a:pt x="244" y="302"/>
                </a:moveTo>
                <a:cubicBezTo>
                  <a:pt x="244" y="302"/>
                  <a:pt x="245" y="302"/>
                  <a:pt x="245" y="302"/>
                </a:cubicBezTo>
                <a:cubicBezTo>
                  <a:pt x="245" y="302"/>
                  <a:pt x="246" y="302"/>
                  <a:pt x="246" y="302"/>
                </a:cubicBezTo>
                <a:cubicBezTo>
                  <a:pt x="276" y="302"/>
                  <a:pt x="300" y="278"/>
                  <a:pt x="300" y="248"/>
                </a:cubicBezTo>
                <a:lnTo>
                  <a:pt x="300" y="118"/>
                </a:lnTo>
                <a:cubicBezTo>
                  <a:pt x="300" y="88"/>
                  <a:pt x="276" y="64"/>
                  <a:pt x="246" y="64"/>
                </a:cubicBezTo>
                <a:cubicBezTo>
                  <a:pt x="246" y="64"/>
                  <a:pt x="245" y="64"/>
                  <a:pt x="245" y="64"/>
                </a:cubicBezTo>
                <a:cubicBezTo>
                  <a:pt x="245" y="64"/>
                  <a:pt x="244" y="64"/>
                  <a:pt x="244" y="64"/>
                </a:cubicBezTo>
                <a:cubicBezTo>
                  <a:pt x="214" y="64"/>
                  <a:pt x="190" y="88"/>
                  <a:pt x="190" y="118"/>
                </a:cubicBezTo>
                <a:lnTo>
                  <a:pt x="190" y="248"/>
                </a:lnTo>
                <a:cubicBezTo>
                  <a:pt x="190" y="278"/>
                  <a:pt x="214" y="302"/>
                  <a:pt x="244" y="302"/>
                </a:cubicBezTo>
                <a:close/>
                <a:moveTo>
                  <a:pt x="245" y="0"/>
                </a:moveTo>
                <a:cubicBezTo>
                  <a:pt x="381" y="0"/>
                  <a:pt x="490" y="110"/>
                  <a:pt x="490" y="245"/>
                </a:cubicBezTo>
                <a:cubicBezTo>
                  <a:pt x="490" y="381"/>
                  <a:pt x="381" y="490"/>
                  <a:pt x="245" y="490"/>
                </a:cubicBezTo>
                <a:cubicBezTo>
                  <a:pt x="110" y="490"/>
                  <a:pt x="0" y="381"/>
                  <a:pt x="0" y="245"/>
                </a:cubicBezTo>
                <a:cubicBezTo>
                  <a:pt x="0" y="110"/>
                  <a:pt x="110" y="0"/>
                  <a:pt x="24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484849"/>
              </a:solidFill>
            </a:endParaRPr>
          </a:p>
        </p:txBody>
      </p:sp>
      <p:sp>
        <p:nvSpPr>
          <p:cNvPr id="13" name="Rectangle 4"/>
          <p:cNvSpPr txBox="1">
            <a:spLocks noChangeArrowheads="1"/>
          </p:cNvSpPr>
          <p:nvPr/>
        </p:nvSpPr>
        <p:spPr bwMode="auto">
          <a:xfrm>
            <a:off x="10466453" y="4703232"/>
            <a:ext cx="1899476" cy="353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2400" b="1">
                <a:latin typeface="+mj-ea"/>
                <a:ea typeface="+mj-ea"/>
              </a:defRPr>
            </a:lvl1pPr>
          </a:lstStyle>
          <a:p>
            <a:r>
              <a:rPr lang="zh-CN" altLang="en-US" sz="1700" dirty="0">
                <a:solidFill>
                  <a:schemeClr val="bg1"/>
                </a:solidFill>
              </a:rPr>
              <a:t>汇报人：代用名</a:t>
            </a:r>
          </a:p>
        </p:txBody>
      </p:sp>
      <p:sp>
        <p:nvSpPr>
          <p:cNvPr id="14" name="Freeform 10"/>
          <p:cNvSpPr>
            <a:spLocks noChangeAspect="1" noEditPoints="1"/>
          </p:cNvSpPr>
          <p:nvPr/>
        </p:nvSpPr>
        <p:spPr bwMode="auto">
          <a:xfrm>
            <a:off x="6417691" y="4693112"/>
            <a:ext cx="372836" cy="374400"/>
          </a:xfrm>
          <a:custGeom>
            <a:avLst/>
            <a:gdLst>
              <a:gd name="T0" fmla="*/ 245 w 490"/>
              <a:gd name="T1" fmla="*/ 0 h 490"/>
              <a:gd name="T2" fmla="*/ 490 w 490"/>
              <a:gd name="T3" fmla="*/ 245 h 490"/>
              <a:gd name="T4" fmla="*/ 245 w 490"/>
              <a:gd name="T5" fmla="*/ 490 h 490"/>
              <a:gd name="T6" fmla="*/ 0 w 490"/>
              <a:gd name="T7" fmla="*/ 245 h 490"/>
              <a:gd name="T8" fmla="*/ 245 w 490"/>
              <a:gd name="T9" fmla="*/ 0 h 490"/>
              <a:gd name="T10" fmla="*/ 436 w 490"/>
              <a:gd name="T11" fmla="*/ 250 h 490"/>
              <a:gd name="T12" fmla="*/ 427 w 490"/>
              <a:gd name="T13" fmla="*/ 256 h 490"/>
              <a:gd name="T14" fmla="*/ 394 w 490"/>
              <a:gd name="T15" fmla="*/ 256 h 490"/>
              <a:gd name="T16" fmla="*/ 386 w 490"/>
              <a:gd name="T17" fmla="*/ 253 h 490"/>
              <a:gd name="T18" fmla="*/ 245 w 490"/>
              <a:gd name="T19" fmla="*/ 105 h 490"/>
              <a:gd name="T20" fmla="*/ 104 w 490"/>
              <a:gd name="T21" fmla="*/ 253 h 490"/>
              <a:gd name="T22" fmla="*/ 96 w 490"/>
              <a:gd name="T23" fmla="*/ 256 h 490"/>
              <a:gd name="T24" fmla="*/ 63 w 490"/>
              <a:gd name="T25" fmla="*/ 256 h 490"/>
              <a:gd name="T26" fmla="*/ 54 w 490"/>
              <a:gd name="T27" fmla="*/ 250 h 490"/>
              <a:gd name="T28" fmla="*/ 56 w 490"/>
              <a:gd name="T29" fmla="*/ 239 h 490"/>
              <a:gd name="T30" fmla="*/ 236 w 490"/>
              <a:gd name="T31" fmla="*/ 52 h 490"/>
              <a:gd name="T32" fmla="*/ 245 w 490"/>
              <a:gd name="T33" fmla="*/ 48 h 490"/>
              <a:gd name="T34" fmla="*/ 254 w 490"/>
              <a:gd name="T35" fmla="*/ 52 h 490"/>
              <a:gd name="T36" fmla="*/ 434 w 490"/>
              <a:gd name="T37" fmla="*/ 239 h 490"/>
              <a:gd name="T38" fmla="*/ 436 w 490"/>
              <a:gd name="T39" fmla="*/ 250 h 490"/>
              <a:gd name="T40" fmla="*/ 113 w 490"/>
              <a:gd name="T41" fmla="*/ 267 h 490"/>
              <a:gd name="T42" fmla="*/ 113 w 490"/>
              <a:gd name="T43" fmla="*/ 267 h 490"/>
              <a:gd name="T44" fmla="*/ 113 w 490"/>
              <a:gd name="T45" fmla="*/ 379 h 490"/>
              <a:gd name="T46" fmla="*/ 129 w 490"/>
              <a:gd name="T47" fmla="*/ 398 h 490"/>
              <a:gd name="T48" fmla="*/ 202 w 490"/>
              <a:gd name="T49" fmla="*/ 398 h 490"/>
              <a:gd name="T50" fmla="*/ 202 w 490"/>
              <a:gd name="T51" fmla="*/ 276 h 490"/>
              <a:gd name="T52" fmla="*/ 221 w 490"/>
              <a:gd name="T53" fmla="*/ 257 h 490"/>
              <a:gd name="T54" fmla="*/ 269 w 490"/>
              <a:gd name="T55" fmla="*/ 257 h 490"/>
              <a:gd name="T56" fmla="*/ 288 w 490"/>
              <a:gd name="T57" fmla="*/ 276 h 490"/>
              <a:gd name="T58" fmla="*/ 288 w 490"/>
              <a:gd name="T59" fmla="*/ 398 h 490"/>
              <a:gd name="T60" fmla="*/ 361 w 490"/>
              <a:gd name="T61" fmla="*/ 398 h 490"/>
              <a:gd name="T62" fmla="*/ 377 w 490"/>
              <a:gd name="T63" fmla="*/ 379 h 490"/>
              <a:gd name="T64" fmla="*/ 377 w 490"/>
              <a:gd name="T65" fmla="*/ 268 h 490"/>
              <a:gd name="T66" fmla="*/ 245 w 490"/>
              <a:gd name="T67" fmla="*/ 130 h 490"/>
              <a:gd name="T68" fmla="*/ 113 w 490"/>
              <a:gd name="T69" fmla="*/ 267 h 4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490" h="490">
                <a:moveTo>
                  <a:pt x="245" y="0"/>
                </a:moveTo>
                <a:cubicBezTo>
                  <a:pt x="380" y="0"/>
                  <a:pt x="490" y="110"/>
                  <a:pt x="490" y="245"/>
                </a:cubicBezTo>
                <a:cubicBezTo>
                  <a:pt x="490" y="381"/>
                  <a:pt x="380" y="490"/>
                  <a:pt x="245" y="490"/>
                </a:cubicBezTo>
                <a:cubicBezTo>
                  <a:pt x="110" y="490"/>
                  <a:pt x="0" y="381"/>
                  <a:pt x="0" y="245"/>
                </a:cubicBezTo>
                <a:cubicBezTo>
                  <a:pt x="0" y="110"/>
                  <a:pt x="110" y="0"/>
                  <a:pt x="245" y="0"/>
                </a:cubicBezTo>
                <a:close/>
                <a:moveTo>
                  <a:pt x="436" y="250"/>
                </a:moveTo>
                <a:cubicBezTo>
                  <a:pt x="435" y="254"/>
                  <a:pt x="431" y="256"/>
                  <a:pt x="427" y="256"/>
                </a:cubicBezTo>
                <a:lnTo>
                  <a:pt x="394" y="256"/>
                </a:lnTo>
                <a:cubicBezTo>
                  <a:pt x="391" y="256"/>
                  <a:pt x="388" y="255"/>
                  <a:pt x="386" y="253"/>
                </a:cubicBezTo>
                <a:lnTo>
                  <a:pt x="245" y="105"/>
                </a:lnTo>
                <a:lnTo>
                  <a:pt x="104" y="253"/>
                </a:lnTo>
                <a:cubicBezTo>
                  <a:pt x="102" y="255"/>
                  <a:pt x="99" y="256"/>
                  <a:pt x="96" y="256"/>
                </a:cubicBezTo>
                <a:lnTo>
                  <a:pt x="63" y="256"/>
                </a:lnTo>
                <a:cubicBezTo>
                  <a:pt x="59" y="256"/>
                  <a:pt x="55" y="254"/>
                  <a:pt x="54" y="250"/>
                </a:cubicBezTo>
                <a:cubicBezTo>
                  <a:pt x="52" y="246"/>
                  <a:pt x="53" y="242"/>
                  <a:pt x="56" y="239"/>
                </a:cubicBezTo>
                <a:lnTo>
                  <a:pt x="236" y="52"/>
                </a:lnTo>
                <a:cubicBezTo>
                  <a:pt x="238" y="49"/>
                  <a:pt x="242" y="48"/>
                  <a:pt x="245" y="48"/>
                </a:cubicBezTo>
                <a:cubicBezTo>
                  <a:pt x="248" y="48"/>
                  <a:pt x="252" y="49"/>
                  <a:pt x="254" y="52"/>
                </a:cubicBezTo>
                <a:lnTo>
                  <a:pt x="434" y="239"/>
                </a:lnTo>
                <a:cubicBezTo>
                  <a:pt x="437" y="242"/>
                  <a:pt x="438" y="246"/>
                  <a:pt x="436" y="250"/>
                </a:cubicBezTo>
                <a:close/>
                <a:moveTo>
                  <a:pt x="113" y="267"/>
                </a:moveTo>
                <a:lnTo>
                  <a:pt x="113" y="267"/>
                </a:lnTo>
                <a:lnTo>
                  <a:pt x="113" y="379"/>
                </a:lnTo>
                <a:cubicBezTo>
                  <a:pt x="113" y="389"/>
                  <a:pt x="120" y="398"/>
                  <a:pt x="129" y="398"/>
                </a:cubicBezTo>
                <a:lnTo>
                  <a:pt x="202" y="398"/>
                </a:lnTo>
                <a:lnTo>
                  <a:pt x="202" y="276"/>
                </a:lnTo>
                <a:cubicBezTo>
                  <a:pt x="202" y="266"/>
                  <a:pt x="211" y="257"/>
                  <a:pt x="221" y="257"/>
                </a:cubicBezTo>
                <a:lnTo>
                  <a:pt x="269" y="257"/>
                </a:lnTo>
                <a:cubicBezTo>
                  <a:pt x="279" y="257"/>
                  <a:pt x="288" y="266"/>
                  <a:pt x="288" y="276"/>
                </a:cubicBezTo>
                <a:lnTo>
                  <a:pt x="288" y="398"/>
                </a:lnTo>
                <a:lnTo>
                  <a:pt x="361" y="398"/>
                </a:lnTo>
                <a:cubicBezTo>
                  <a:pt x="370" y="398"/>
                  <a:pt x="377" y="389"/>
                  <a:pt x="377" y="379"/>
                </a:cubicBezTo>
                <a:lnTo>
                  <a:pt x="377" y="268"/>
                </a:lnTo>
                <a:lnTo>
                  <a:pt x="245" y="130"/>
                </a:lnTo>
                <a:lnTo>
                  <a:pt x="113" y="26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262818" y="198604"/>
            <a:ext cx="473877" cy="484825"/>
            <a:chOff x="702608" y="-1899592"/>
            <a:chExt cx="1054013" cy="1078364"/>
          </a:xfrm>
        </p:grpSpPr>
        <p:sp>
          <p:nvSpPr>
            <p:cNvPr id="16" name="Oval 5"/>
            <p:cNvSpPr>
              <a:spLocks noChangeArrowheads="1"/>
            </p:cNvSpPr>
            <p:nvPr/>
          </p:nvSpPr>
          <p:spPr bwMode="auto">
            <a:xfrm>
              <a:off x="702608" y="-1899592"/>
              <a:ext cx="1054013" cy="107836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Freeform 9"/>
            <p:cNvSpPr>
              <a:spLocks noEditPoints="1"/>
            </p:cNvSpPr>
            <p:nvPr/>
          </p:nvSpPr>
          <p:spPr bwMode="auto">
            <a:xfrm>
              <a:off x="904366" y="-1555211"/>
              <a:ext cx="650496" cy="445260"/>
            </a:xfrm>
            <a:custGeom>
              <a:avLst/>
              <a:gdLst>
                <a:gd name="T0" fmla="*/ 380 w 394"/>
                <a:gd name="T1" fmla="*/ 19 h 263"/>
                <a:gd name="T2" fmla="*/ 380 w 394"/>
                <a:gd name="T3" fmla="*/ 216 h 263"/>
                <a:gd name="T4" fmla="*/ 374 w 394"/>
                <a:gd name="T5" fmla="*/ 216 h 263"/>
                <a:gd name="T6" fmla="*/ 362 w 394"/>
                <a:gd name="T7" fmla="*/ 215 h 263"/>
                <a:gd name="T8" fmla="*/ 199 w 394"/>
                <a:gd name="T9" fmla="*/ 256 h 263"/>
                <a:gd name="T10" fmla="*/ 197 w 394"/>
                <a:gd name="T11" fmla="*/ 257 h 263"/>
                <a:gd name="T12" fmla="*/ 195 w 394"/>
                <a:gd name="T13" fmla="*/ 256 h 263"/>
                <a:gd name="T14" fmla="*/ 33 w 394"/>
                <a:gd name="T15" fmla="*/ 215 h 263"/>
                <a:gd name="T16" fmla="*/ 20 w 394"/>
                <a:gd name="T17" fmla="*/ 216 h 263"/>
                <a:gd name="T18" fmla="*/ 14 w 394"/>
                <a:gd name="T19" fmla="*/ 216 h 263"/>
                <a:gd name="T20" fmla="*/ 14 w 394"/>
                <a:gd name="T21" fmla="*/ 19 h 263"/>
                <a:gd name="T22" fmla="*/ 0 w 394"/>
                <a:gd name="T23" fmla="*/ 19 h 263"/>
                <a:gd name="T24" fmla="*/ 0 w 394"/>
                <a:gd name="T25" fmla="*/ 223 h 263"/>
                <a:gd name="T26" fmla="*/ 197 w 394"/>
                <a:gd name="T27" fmla="*/ 263 h 263"/>
                <a:gd name="T28" fmla="*/ 394 w 394"/>
                <a:gd name="T29" fmla="*/ 223 h 263"/>
                <a:gd name="T30" fmla="*/ 394 w 394"/>
                <a:gd name="T31" fmla="*/ 19 h 263"/>
                <a:gd name="T32" fmla="*/ 380 w 394"/>
                <a:gd name="T33" fmla="*/ 19 h 263"/>
                <a:gd name="T34" fmla="*/ 191 w 394"/>
                <a:gd name="T35" fmla="*/ 223 h 263"/>
                <a:gd name="T36" fmla="*/ 191 w 394"/>
                <a:gd name="T37" fmla="*/ 44 h 263"/>
                <a:gd name="T38" fmla="*/ 54 w 394"/>
                <a:gd name="T39" fmla="*/ 2 h 263"/>
                <a:gd name="T40" fmla="*/ 54 w 394"/>
                <a:gd name="T41" fmla="*/ 188 h 263"/>
                <a:gd name="T42" fmla="*/ 59 w 394"/>
                <a:gd name="T43" fmla="*/ 188 h 263"/>
                <a:gd name="T44" fmla="*/ 191 w 394"/>
                <a:gd name="T45" fmla="*/ 223 h 263"/>
                <a:gd name="T46" fmla="*/ 340 w 394"/>
                <a:gd name="T47" fmla="*/ 188 h 263"/>
                <a:gd name="T48" fmla="*/ 340 w 394"/>
                <a:gd name="T49" fmla="*/ 2 h 263"/>
                <a:gd name="T50" fmla="*/ 204 w 394"/>
                <a:gd name="T51" fmla="*/ 44 h 263"/>
                <a:gd name="T52" fmla="*/ 204 w 394"/>
                <a:gd name="T53" fmla="*/ 223 h 263"/>
                <a:gd name="T54" fmla="*/ 335 w 394"/>
                <a:gd name="T55" fmla="*/ 188 h 263"/>
                <a:gd name="T56" fmla="*/ 340 w 394"/>
                <a:gd name="T57" fmla="*/ 188 h 263"/>
                <a:gd name="T58" fmla="*/ 197 w 394"/>
                <a:gd name="T59" fmla="*/ 252 h 263"/>
                <a:gd name="T60" fmla="*/ 371 w 394"/>
                <a:gd name="T61" fmla="*/ 211 h 263"/>
                <a:gd name="T62" fmla="*/ 371 w 394"/>
                <a:gd name="T63" fmla="*/ 4 h 263"/>
                <a:gd name="T64" fmla="*/ 350 w 394"/>
                <a:gd name="T65" fmla="*/ 4 h 263"/>
                <a:gd name="T66" fmla="*/ 350 w 394"/>
                <a:gd name="T67" fmla="*/ 198 h 263"/>
                <a:gd name="T68" fmla="*/ 344 w 394"/>
                <a:gd name="T69" fmla="*/ 197 h 263"/>
                <a:gd name="T70" fmla="*/ 334 w 394"/>
                <a:gd name="T71" fmla="*/ 197 h 263"/>
                <a:gd name="T72" fmla="*/ 201 w 394"/>
                <a:gd name="T73" fmla="*/ 235 h 263"/>
                <a:gd name="T74" fmla="*/ 197 w 394"/>
                <a:gd name="T75" fmla="*/ 237 h 263"/>
                <a:gd name="T76" fmla="*/ 194 w 394"/>
                <a:gd name="T77" fmla="*/ 235 h 263"/>
                <a:gd name="T78" fmla="*/ 60 w 394"/>
                <a:gd name="T79" fmla="*/ 197 h 263"/>
                <a:gd name="T80" fmla="*/ 50 w 394"/>
                <a:gd name="T81" fmla="*/ 197 h 263"/>
                <a:gd name="T82" fmla="*/ 45 w 394"/>
                <a:gd name="T83" fmla="*/ 198 h 263"/>
                <a:gd name="T84" fmla="*/ 45 w 394"/>
                <a:gd name="T85" fmla="*/ 4 h 263"/>
                <a:gd name="T86" fmla="*/ 24 w 394"/>
                <a:gd name="T87" fmla="*/ 4 h 263"/>
                <a:gd name="T88" fmla="*/ 24 w 394"/>
                <a:gd name="T89" fmla="*/ 211 h 263"/>
                <a:gd name="T90" fmla="*/ 197 w 394"/>
                <a:gd name="T91" fmla="*/ 252 h 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94" h="263">
                  <a:moveTo>
                    <a:pt x="380" y="19"/>
                  </a:moveTo>
                  <a:lnTo>
                    <a:pt x="380" y="216"/>
                  </a:lnTo>
                  <a:lnTo>
                    <a:pt x="374" y="216"/>
                  </a:lnTo>
                  <a:cubicBezTo>
                    <a:pt x="370" y="215"/>
                    <a:pt x="366" y="215"/>
                    <a:pt x="362" y="215"/>
                  </a:cubicBezTo>
                  <a:cubicBezTo>
                    <a:pt x="307" y="215"/>
                    <a:pt x="250" y="230"/>
                    <a:pt x="199" y="256"/>
                  </a:cubicBezTo>
                  <a:lnTo>
                    <a:pt x="197" y="257"/>
                  </a:lnTo>
                  <a:lnTo>
                    <a:pt x="195" y="256"/>
                  </a:lnTo>
                  <a:cubicBezTo>
                    <a:pt x="145" y="230"/>
                    <a:pt x="87" y="215"/>
                    <a:pt x="33" y="215"/>
                  </a:cubicBezTo>
                  <a:cubicBezTo>
                    <a:pt x="28" y="215"/>
                    <a:pt x="24" y="215"/>
                    <a:pt x="20" y="216"/>
                  </a:cubicBezTo>
                  <a:lnTo>
                    <a:pt x="14" y="216"/>
                  </a:lnTo>
                  <a:lnTo>
                    <a:pt x="14" y="19"/>
                  </a:lnTo>
                  <a:cubicBezTo>
                    <a:pt x="10" y="19"/>
                    <a:pt x="5" y="19"/>
                    <a:pt x="0" y="19"/>
                  </a:cubicBezTo>
                  <a:lnTo>
                    <a:pt x="0" y="223"/>
                  </a:lnTo>
                  <a:cubicBezTo>
                    <a:pt x="66" y="222"/>
                    <a:pt x="136" y="236"/>
                    <a:pt x="197" y="263"/>
                  </a:cubicBezTo>
                  <a:cubicBezTo>
                    <a:pt x="259" y="236"/>
                    <a:pt x="328" y="222"/>
                    <a:pt x="394" y="223"/>
                  </a:cubicBezTo>
                  <a:lnTo>
                    <a:pt x="394" y="19"/>
                  </a:lnTo>
                  <a:cubicBezTo>
                    <a:pt x="389" y="19"/>
                    <a:pt x="385" y="19"/>
                    <a:pt x="380" y="19"/>
                  </a:cubicBezTo>
                  <a:close/>
                  <a:moveTo>
                    <a:pt x="191" y="223"/>
                  </a:moveTo>
                  <a:lnTo>
                    <a:pt x="191" y="44"/>
                  </a:lnTo>
                  <a:cubicBezTo>
                    <a:pt x="148" y="16"/>
                    <a:pt x="100" y="0"/>
                    <a:pt x="54" y="2"/>
                  </a:cubicBezTo>
                  <a:lnTo>
                    <a:pt x="54" y="188"/>
                  </a:lnTo>
                  <a:cubicBezTo>
                    <a:pt x="56" y="188"/>
                    <a:pt x="58" y="188"/>
                    <a:pt x="59" y="188"/>
                  </a:cubicBezTo>
                  <a:cubicBezTo>
                    <a:pt x="103" y="188"/>
                    <a:pt x="150" y="200"/>
                    <a:pt x="191" y="223"/>
                  </a:cubicBezTo>
                  <a:close/>
                  <a:moveTo>
                    <a:pt x="340" y="188"/>
                  </a:moveTo>
                  <a:lnTo>
                    <a:pt x="340" y="2"/>
                  </a:lnTo>
                  <a:cubicBezTo>
                    <a:pt x="295" y="0"/>
                    <a:pt x="246" y="16"/>
                    <a:pt x="204" y="44"/>
                  </a:cubicBezTo>
                  <a:lnTo>
                    <a:pt x="204" y="223"/>
                  </a:lnTo>
                  <a:cubicBezTo>
                    <a:pt x="245" y="200"/>
                    <a:pt x="291" y="188"/>
                    <a:pt x="335" y="188"/>
                  </a:cubicBezTo>
                  <a:cubicBezTo>
                    <a:pt x="337" y="188"/>
                    <a:pt x="339" y="188"/>
                    <a:pt x="340" y="188"/>
                  </a:cubicBezTo>
                  <a:close/>
                  <a:moveTo>
                    <a:pt x="197" y="252"/>
                  </a:moveTo>
                  <a:cubicBezTo>
                    <a:pt x="253" y="222"/>
                    <a:pt x="315" y="209"/>
                    <a:pt x="371" y="211"/>
                  </a:cubicBezTo>
                  <a:lnTo>
                    <a:pt x="371" y="4"/>
                  </a:lnTo>
                  <a:cubicBezTo>
                    <a:pt x="364" y="4"/>
                    <a:pt x="357" y="4"/>
                    <a:pt x="350" y="4"/>
                  </a:cubicBezTo>
                  <a:lnTo>
                    <a:pt x="350" y="198"/>
                  </a:lnTo>
                  <a:lnTo>
                    <a:pt x="344" y="197"/>
                  </a:lnTo>
                  <a:cubicBezTo>
                    <a:pt x="341" y="197"/>
                    <a:pt x="337" y="197"/>
                    <a:pt x="334" y="197"/>
                  </a:cubicBezTo>
                  <a:cubicBezTo>
                    <a:pt x="289" y="197"/>
                    <a:pt x="242" y="211"/>
                    <a:pt x="201" y="235"/>
                  </a:cubicBezTo>
                  <a:lnTo>
                    <a:pt x="197" y="237"/>
                  </a:lnTo>
                  <a:lnTo>
                    <a:pt x="194" y="235"/>
                  </a:lnTo>
                  <a:cubicBezTo>
                    <a:pt x="153" y="211"/>
                    <a:pt x="105" y="197"/>
                    <a:pt x="60" y="197"/>
                  </a:cubicBezTo>
                  <a:cubicBezTo>
                    <a:pt x="57" y="197"/>
                    <a:pt x="54" y="197"/>
                    <a:pt x="50" y="197"/>
                  </a:cubicBezTo>
                  <a:lnTo>
                    <a:pt x="45" y="198"/>
                  </a:lnTo>
                  <a:lnTo>
                    <a:pt x="45" y="4"/>
                  </a:lnTo>
                  <a:cubicBezTo>
                    <a:pt x="38" y="4"/>
                    <a:pt x="31" y="4"/>
                    <a:pt x="24" y="4"/>
                  </a:cubicBezTo>
                  <a:lnTo>
                    <a:pt x="24" y="211"/>
                  </a:lnTo>
                  <a:cubicBezTo>
                    <a:pt x="79" y="209"/>
                    <a:pt x="142" y="222"/>
                    <a:pt x="197" y="25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868029" y="198604"/>
            <a:ext cx="472312" cy="484825"/>
            <a:chOff x="2014036" y="-1899592"/>
            <a:chExt cx="1050534" cy="1078364"/>
          </a:xfrm>
        </p:grpSpPr>
        <p:sp>
          <p:nvSpPr>
            <p:cNvPr id="19" name="Oval 6"/>
            <p:cNvSpPr>
              <a:spLocks noChangeArrowheads="1"/>
            </p:cNvSpPr>
            <p:nvPr/>
          </p:nvSpPr>
          <p:spPr bwMode="auto">
            <a:xfrm>
              <a:off x="2014036" y="-1899592"/>
              <a:ext cx="1050534" cy="1078364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Freeform 10"/>
            <p:cNvSpPr>
              <a:spLocks noEditPoints="1"/>
            </p:cNvSpPr>
            <p:nvPr/>
          </p:nvSpPr>
          <p:spPr bwMode="auto">
            <a:xfrm>
              <a:off x="2313195" y="-1670005"/>
              <a:ext cx="553096" cy="640061"/>
            </a:xfrm>
            <a:custGeom>
              <a:avLst/>
              <a:gdLst>
                <a:gd name="T0" fmla="*/ 214 w 336"/>
                <a:gd name="T1" fmla="*/ 48 h 380"/>
                <a:gd name="T2" fmla="*/ 167 w 336"/>
                <a:gd name="T3" fmla="*/ 95 h 380"/>
                <a:gd name="T4" fmla="*/ 119 w 336"/>
                <a:gd name="T5" fmla="*/ 95 h 380"/>
                <a:gd name="T6" fmla="*/ 72 w 336"/>
                <a:gd name="T7" fmla="*/ 48 h 380"/>
                <a:gd name="T8" fmla="*/ 119 w 336"/>
                <a:gd name="T9" fmla="*/ 0 h 380"/>
                <a:gd name="T10" fmla="*/ 167 w 336"/>
                <a:gd name="T11" fmla="*/ 0 h 380"/>
                <a:gd name="T12" fmla="*/ 214 w 336"/>
                <a:gd name="T13" fmla="*/ 48 h 380"/>
                <a:gd name="T14" fmla="*/ 237 w 336"/>
                <a:gd name="T15" fmla="*/ 48 h 380"/>
                <a:gd name="T16" fmla="*/ 238 w 336"/>
                <a:gd name="T17" fmla="*/ 59 h 380"/>
                <a:gd name="T18" fmla="*/ 179 w 336"/>
                <a:gd name="T19" fmla="*/ 118 h 380"/>
                <a:gd name="T20" fmla="*/ 107 w 336"/>
                <a:gd name="T21" fmla="*/ 118 h 380"/>
                <a:gd name="T22" fmla="*/ 48 w 336"/>
                <a:gd name="T23" fmla="*/ 59 h 380"/>
                <a:gd name="T24" fmla="*/ 49 w 336"/>
                <a:gd name="T25" fmla="*/ 48 h 380"/>
                <a:gd name="T26" fmla="*/ 0 w 336"/>
                <a:gd name="T27" fmla="*/ 106 h 380"/>
                <a:gd name="T28" fmla="*/ 0 w 336"/>
                <a:gd name="T29" fmla="*/ 320 h 380"/>
                <a:gd name="T30" fmla="*/ 60 w 336"/>
                <a:gd name="T31" fmla="*/ 380 h 380"/>
                <a:gd name="T32" fmla="*/ 218 w 336"/>
                <a:gd name="T33" fmla="*/ 380 h 380"/>
                <a:gd name="T34" fmla="*/ 153 w 336"/>
                <a:gd name="T35" fmla="*/ 282 h 380"/>
                <a:gd name="T36" fmla="*/ 260 w 336"/>
                <a:gd name="T37" fmla="*/ 176 h 380"/>
                <a:gd name="T38" fmla="*/ 286 w 336"/>
                <a:gd name="T39" fmla="*/ 179 h 380"/>
                <a:gd name="T40" fmla="*/ 286 w 336"/>
                <a:gd name="T41" fmla="*/ 106 h 380"/>
                <a:gd name="T42" fmla="*/ 237 w 336"/>
                <a:gd name="T43" fmla="*/ 48 h 380"/>
                <a:gd name="T44" fmla="*/ 134 w 336"/>
                <a:gd name="T45" fmla="*/ 238 h 380"/>
                <a:gd name="T46" fmla="*/ 134 w 336"/>
                <a:gd name="T47" fmla="*/ 238 h 380"/>
                <a:gd name="T48" fmla="*/ 60 w 336"/>
                <a:gd name="T49" fmla="*/ 238 h 380"/>
                <a:gd name="T50" fmla="*/ 48 w 336"/>
                <a:gd name="T51" fmla="*/ 226 h 380"/>
                <a:gd name="T52" fmla="*/ 60 w 336"/>
                <a:gd name="T53" fmla="*/ 214 h 380"/>
                <a:gd name="T54" fmla="*/ 134 w 336"/>
                <a:gd name="T55" fmla="*/ 214 h 380"/>
                <a:gd name="T56" fmla="*/ 146 w 336"/>
                <a:gd name="T57" fmla="*/ 226 h 380"/>
                <a:gd name="T58" fmla="*/ 134 w 336"/>
                <a:gd name="T59" fmla="*/ 238 h 380"/>
                <a:gd name="T60" fmla="*/ 158 w 336"/>
                <a:gd name="T61" fmla="*/ 190 h 380"/>
                <a:gd name="T62" fmla="*/ 158 w 336"/>
                <a:gd name="T63" fmla="*/ 190 h 380"/>
                <a:gd name="T64" fmla="*/ 60 w 336"/>
                <a:gd name="T65" fmla="*/ 190 h 380"/>
                <a:gd name="T66" fmla="*/ 48 w 336"/>
                <a:gd name="T67" fmla="*/ 178 h 380"/>
                <a:gd name="T68" fmla="*/ 60 w 336"/>
                <a:gd name="T69" fmla="*/ 167 h 380"/>
                <a:gd name="T70" fmla="*/ 158 w 336"/>
                <a:gd name="T71" fmla="*/ 167 h 380"/>
                <a:gd name="T72" fmla="*/ 170 w 336"/>
                <a:gd name="T73" fmla="*/ 178 h 380"/>
                <a:gd name="T74" fmla="*/ 158 w 336"/>
                <a:gd name="T75" fmla="*/ 190 h 380"/>
                <a:gd name="T76" fmla="*/ 279 w 336"/>
                <a:gd name="T77" fmla="*/ 208 h 380"/>
                <a:gd name="T78" fmla="*/ 260 w 336"/>
                <a:gd name="T79" fmla="*/ 206 h 380"/>
                <a:gd name="T80" fmla="*/ 184 w 336"/>
                <a:gd name="T81" fmla="*/ 281 h 380"/>
                <a:gd name="T82" fmla="*/ 244 w 336"/>
                <a:gd name="T83" fmla="*/ 356 h 380"/>
                <a:gd name="T84" fmla="*/ 260 w 336"/>
                <a:gd name="T85" fmla="*/ 357 h 380"/>
                <a:gd name="T86" fmla="*/ 336 w 336"/>
                <a:gd name="T87" fmla="*/ 281 h 380"/>
                <a:gd name="T88" fmla="*/ 279 w 336"/>
                <a:gd name="T89" fmla="*/ 208 h 380"/>
                <a:gd name="T90" fmla="*/ 303 w 336"/>
                <a:gd name="T91" fmla="*/ 271 h 380"/>
                <a:gd name="T92" fmla="*/ 303 w 336"/>
                <a:gd name="T93" fmla="*/ 271 h 380"/>
                <a:gd name="T94" fmla="*/ 279 w 336"/>
                <a:gd name="T95" fmla="*/ 295 h 380"/>
                <a:gd name="T96" fmla="*/ 260 w 336"/>
                <a:gd name="T97" fmla="*/ 314 h 380"/>
                <a:gd name="T98" fmla="*/ 239 w 336"/>
                <a:gd name="T99" fmla="*/ 314 h 380"/>
                <a:gd name="T100" fmla="*/ 217 w 336"/>
                <a:gd name="T101" fmla="*/ 292 h 380"/>
                <a:gd name="T102" fmla="*/ 217 w 336"/>
                <a:gd name="T103" fmla="*/ 271 h 380"/>
                <a:gd name="T104" fmla="*/ 239 w 336"/>
                <a:gd name="T105" fmla="*/ 271 h 380"/>
                <a:gd name="T106" fmla="*/ 250 w 336"/>
                <a:gd name="T107" fmla="*/ 281 h 380"/>
                <a:gd name="T108" fmla="*/ 279 w 336"/>
                <a:gd name="T109" fmla="*/ 252 h 380"/>
                <a:gd name="T110" fmla="*/ 282 w 336"/>
                <a:gd name="T111" fmla="*/ 249 h 380"/>
                <a:gd name="T112" fmla="*/ 303 w 336"/>
                <a:gd name="T113" fmla="*/ 249 h 380"/>
                <a:gd name="T114" fmla="*/ 303 w 336"/>
                <a:gd name="T115" fmla="*/ 271 h 3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36" h="380">
                  <a:moveTo>
                    <a:pt x="214" y="48"/>
                  </a:moveTo>
                  <a:cubicBezTo>
                    <a:pt x="214" y="74"/>
                    <a:pt x="193" y="95"/>
                    <a:pt x="167" y="95"/>
                  </a:cubicBezTo>
                  <a:lnTo>
                    <a:pt x="119" y="95"/>
                  </a:lnTo>
                  <a:cubicBezTo>
                    <a:pt x="93" y="95"/>
                    <a:pt x="72" y="74"/>
                    <a:pt x="72" y="48"/>
                  </a:cubicBezTo>
                  <a:cubicBezTo>
                    <a:pt x="72" y="21"/>
                    <a:pt x="93" y="0"/>
                    <a:pt x="119" y="0"/>
                  </a:cubicBezTo>
                  <a:lnTo>
                    <a:pt x="167" y="0"/>
                  </a:lnTo>
                  <a:cubicBezTo>
                    <a:pt x="193" y="0"/>
                    <a:pt x="214" y="21"/>
                    <a:pt x="214" y="48"/>
                  </a:cubicBezTo>
                  <a:close/>
                  <a:moveTo>
                    <a:pt x="237" y="48"/>
                  </a:moveTo>
                  <a:cubicBezTo>
                    <a:pt x="238" y="51"/>
                    <a:pt x="238" y="55"/>
                    <a:pt x="238" y="59"/>
                  </a:cubicBezTo>
                  <a:cubicBezTo>
                    <a:pt x="238" y="91"/>
                    <a:pt x="211" y="118"/>
                    <a:pt x="179" y="118"/>
                  </a:cubicBezTo>
                  <a:lnTo>
                    <a:pt x="107" y="118"/>
                  </a:lnTo>
                  <a:cubicBezTo>
                    <a:pt x="74" y="118"/>
                    <a:pt x="48" y="91"/>
                    <a:pt x="48" y="59"/>
                  </a:cubicBezTo>
                  <a:cubicBezTo>
                    <a:pt x="48" y="55"/>
                    <a:pt x="48" y="51"/>
                    <a:pt x="49" y="48"/>
                  </a:cubicBezTo>
                  <a:cubicBezTo>
                    <a:pt x="21" y="53"/>
                    <a:pt x="0" y="77"/>
                    <a:pt x="0" y="106"/>
                  </a:cubicBezTo>
                  <a:lnTo>
                    <a:pt x="0" y="320"/>
                  </a:lnTo>
                  <a:cubicBezTo>
                    <a:pt x="0" y="353"/>
                    <a:pt x="27" y="380"/>
                    <a:pt x="60" y="380"/>
                  </a:cubicBezTo>
                  <a:lnTo>
                    <a:pt x="218" y="380"/>
                  </a:lnTo>
                  <a:cubicBezTo>
                    <a:pt x="180" y="363"/>
                    <a:pt x="153" y="326"/>
                    <a:pt x="153" y="282"/>
                  </a:cubicBezTo>
                  <a:cubicBezTo>
                    <a:pt x="153" y="223"/>
                    <a:pt x="201" y="176"/>
                    <a:pt x="260" y="176"/>
                  </a:cubicBezTo>
                  <a:cubicBezTo>
                    <a:pt x="269" y="176"/>
                    <a:pt x="277" y="177"/>
                    <a:pt x="286" y="179"/>
                  </a:cubicBezTo>
                  <a:lnTo>
                    <a:pt x="286" y="106"/>
                  </a:lnTo>
                  <a:cubicBezTo>
                    <a:pt x="286" y="77"/>
                    <a:pt x="265" y="53"/>
                    <a:pt x="237" y="48"/>
                  </a:cubicBezTo>
                  <a:close/>
                  <a:moveTo>
                    <a:pt x="134" y="238"/>
                  </a:moveTo>
                  <a:lnTo>
                    <a:pt x="134" y="238"/>
                  </a:lnTo>
                  <a:lnTo>
                    <a:pt x="60" y="238"/>
                  </a:lnTo>
                  <a:cubicBezTo>
                    <a:pt x="53" y="238"/>
                    <a:pt x="48" y="233"/>
                    <a:pt x="48" y="226"/>
                  </a:cubicBezTo>
                  <a:cubicBezTo>
                    <a:pt x="48" y="219"/>
                    <a:pt x="53" y="214"/>
                    <a:pt x="60" y="214"/>
                  </a:cubicBezTo>
                  <a:lnTo>
                    <a:pt x="134" y="214"/>
                  </a:lnTo>
                  <a:cubicBezTo>
                    <a:pt x="141" y="214"/>
                    <a:pt x="146" y="219"/>
                    <a:pt x="146" y="226"/>
                  </a:cubicBezTo>
                  <a:cubicBezTo>
                    <a:pt x="146" y="233"/>
                    <a:pt x="141" y="238"/>
                    <a:pt x="134" y="238"/>
                  </a:cubicBezTo>
                  <a:close/>
                  <a:moveTo>
                    <a:pt x="158" y="190"/>
                  </a:moveTo>
                  <a:lnTo>
                    <a:pt x="158" y="190"/>
                  </a:lnTo>
                  <a:lnTo>
                    <a:pt x="60" y="190"/>
                  </a:lnTo>
                  <a:cubicBezTo>
                    <a:pt x="53" y="190"/>
                    <a:pt x="48" y="185"/>
                    <a:pt x="48" y="178"/>
                  </a:cubicBezTo>
                  <a:cubicBezTo>
                    <a:pt x="48" y="172"/>
                    <a:pt x="53" y="167"/>
                    <a:pt x="60" y="167"/>
                  </a:cubicBezTo>
                  <a:lnTo>
                    <a:pt x="158" y="167"/>
                  </a:lnTo>
                  <a:cubicBezTo>
                    <a:pt x="164" y="167"/>
                    <a:pt x="170" y="172"/>
                    <a:pt x="170" y="178"/>
                  </a:cubicBezTo>
                  <a:cubicBezTo>
                    <a:pt x="170" y="185"/>
                    <a:pt x="164" y="190"/>
                    <a:pt x="158" y="190"/>
                  </a:cubicBezTo>
                  <a:close/>
                  <a:moveTo>
                    <a:pt x="279" y="208"/>
                  </a:moveTo>
                  <a:cubicBezTo>
                    <a:pt x="273" y="207"/>
                    <a:pt x="267" y="206"/>
                    <a:pt x="260" y="206"/>
                  </a:cubicBezTo>
                  <a:cubicBezTo>
                    <a:pt x="218" y="206"/>
                    <a:pt x="184" y="240"/>
                    <a:pt x="184" y="281"/>
                  </a:cubicBezTo>
                  <a:cubicBezTo>
                    <a:pt x="184" y="318"/>
                    <a:pt x="210" y="348"/>
                    <a:pt x="244" y="356"/>
                  </a:cubicBezTo>
                  <a:cubicBezTo>
                    <a:pt x="249" y="357"/>
                    <a:pt x="255" y="357"/>
                    <a:pt x="260" y="357"/>
                  </a:cubicBezTo>
                  <a:cubicBezTo>
                    <a:pt x="302" y="357"/>
                    <a:pt x="336" y="323"/>
                    <a:pt x="336" y="281"/>
                  </a:cubicBezTo>
                  <a:cubicBezTo>
                    <a:pt x="336" y="246"/>
                    <a:pt x="312" y="216"/>
                    <a:pt x="279" y="208"/>
                  </a:cubicBezTo>
                  <a:close/>
                  <a:moveTo>
                    <a:pt x="303" y="271"/>
                  </a:moveTo>
                  <a:lnTo>
                    <a:pt x="303" y="271"/>
                  </a:lnTo>
                  <a:lnTo>
                    <a:pt x="279" y="295"/>
                  </a:lnTo>
                  <a:lnTo>
                    <a:pt x="260" y="314"/>
                  </a:lnTo>
                  <a:cubicBezTo>
                    <a:pt x="254" y="320"/>
                    <a:pt x="245" y="320"/>
                    <a:pt x="239" y="314"/>
                  </a:cubicBezTo>
                  <a:lnTo>
                    <a:pt x="217" y="292"/>
                  </a:lnTo>
                  <a:cubicBezTo>
                    <a:pt x="211" y="286"/>
                    <a:pt x="211" y="277"/>
                    <a:pt x="217" y="271"/>
                  </a:cubicBezTo>
                  <a:cubicBezTo>
                    <a:pt x="223" y="265"/>
                    <a:pt x="233" y="265"/>
                    <a:pt x="239" y="271"/>
                  </a:cubicBezTo>
                  <a:lnTo>
                    <a:pt x="250" y="281"/>
                  </a:lnTo>
                  <a:lnTo>
                    <a:pt x="279" y="252"/>
                  </a:lnTo>
                  <a:lnTo>
                    <a:pt x="282" y="249"/>
                  </a:lnTo>
                  <a:cubicBezTo>
                    <a:pt x="288" y="243"/>
                    <a:pt x="297" y="243"/>
                    <a:pt x="303" y="249"/>
                  </a:cubicBezTo>
                  <a:cubicBezTo>
                    <a:pt x="309" y="255"/>
                    <a:pt x="309" y="265"/>
                    <a:pt x="303" y="2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471677" y="198604"/>
            <a:ext cx="472312" cy="484825"/>
            <a:chOff x="3252414" y="-1899592"/>
            <a:chExt cx="1050534" cy="1078364"/>
          </a:xfrm>
        </p:grpSpPr>
        <p:sp>
          <p:nvSpPr>
            <p:cNvPr id="22" name="Oval 7"/>
            <p:cNvSpPr>
              <a:spLocks noChangeArrowheads="1"/>
            </p:cNvSpPr>
            <p:nvPr/>
          </p:nvSpPr>
          <p:spPr bwMode="auto">
            <a:xfrm>
              <a:off x="3252414" y="-1899592"/>
              <a:ext cx="1050534" cy="107836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Freeform 11"/>
            <p:cNvSpPr>
              <a:spLocks noEditPoints="1"/>
            </p:cNvSpPr>
            <p:nvPr/>
          </p:nvSpPr>
          <p:spPr bwMode="auto">
            <a:xfrm>
              <a:off x="3450694" y="-1683919"/>
              <a:ext cx="594839" cy="647018"/>
            </a:xfrm>
            <a:custGeom>
              <a:avLst/>
              <a:gdLst>
                <a:gd name="T0" fmla="*/ 136 w 360"/>
                <a:gd name="T1" fmla="*/ 238 h 383"/>
                <a:gd name="T2" fmla="*/ 130 w 360"/>
                <a:gd name="T3" fmla="*/ 217 h 383"/>
                <a:gd name="T4" fmla="*/ 157 w 360"/>
                <a:gd name="T5" fmla="*/ 104 h 383"/>
                <a:gd name="T6" fmla="*/ 187 w 360"/>
                <a:gd name="T7" fmla="*/ 195 h 383"/>
                <a:gd name="T8" fmla="*/ 223 w 360"/>
                <a:gd name="T9" fmla="*/ 90 h 383"/>
                <a:gd name="T10" fmla="*/ 142 w 360"/>
                <a:gd name="T11" fmla="*/ 179 h 383"/>
                <a:gd name="T12" fmla="*/ 136 w 360"/>
                <a:gd name="T13" fmla="*/ 191 h 383"/>
                <a:gd name="T14" fmla="*/ 185 w 360"/>
                <a:gd name="T15" fmla="*/ 220 h 383"/>
                <a:gd name="T16" fmla="*/ 237 w 360"/>
                <a:gd name="T17" fmla="*/ 76 h 383"/>
                <a:gd name="T18" fmla="*/ 240 w 360"/>
                <a:gd name="T19" fmla="*/ 49 h 383"/>
                <a:gd name="T20" fmla="*/ 237 w 360"/>
                <a:gd name="T21" fmla="*/ 76 h 383"/>
                <a:gd name="T22" fmla="*/ 281 w 360"/>
                <a:gd name="T23" fmla="*/ 90 h 383"/>
                <a:gd name="T24" fmla="*/ 253 w 360"/>
                <a:gd name="T25" fmla="*/ 93 h 383"/>
                <a:gd name="T26" fmla="*/ 205 w 360"/>
                <a:gd name="T27" fmla="*/ 64 h 383"/>
                <a:gd name="T28" fmla="*/ 194 w 360"/>
                <a:gd name="T29" fmla="*/ 39 h 383"/>
                <a:gd name="T30" fmla="*/ 205 w 360"/>
                <a:gd name="T31" fmla="*/ 64 h 383"/>
                <a:gd name="T32" fmla="*/ 159 w 360"/>
                <a:gd name="T33" fmla="*/ 48 h 383"/>
                <a:gd name="T34" fmla="*/ 161 w 360"/>
                <a:gd name="T35" fmla="*/ 76 h 383"/>
                <a:gd name="T36" fmla="*/ 264 w 360"/>
                <a:gd name="T37" fmla="*/ 137 h 383"/>
                <a:gd name="T38" fmla="*/ 290 w 360"/>
                <a:gd name="T39" fmla="*/ 125 h 383"/>
                <a:gd name="T40" fmla="*/ 264 w 360"/>
                <a:gd name="T41" fmla="*/ 137 h 383"/>
                <a:gd name="T42" fmla="*/ 132 w 360"/>
                <a:gd name="T43" fmla="*/ 196 h 383"/>
                <a:gd name="T44" fmla="*/ 126 w 360"/>
                <a:gd name="T45" fmla="*/ 208 h 383"/>
                <a:gd name="T46" fmla="*/ 175 w 360"/>
                <a:gd name="T47" fmla="*/ 237 h 383"/>
                <a:gd name="T48" fmla="*/ 131 w 360"/>
                <a:gd name="T49" fmla="*/ 383 h 383"/>
                <a:gd name="T50" fmla="*/ 141 w 360"/>
                <a:gd name="T51" fmla="*/ 22 h 383"/>
                <a:gd name="T52" fmla="*/ 342 w 360"/>
                <a:gd name="T53" fmla="*/ 109 h 383"/>
                <a:gd name="T54" fmla="*/ 345 w 360"/>
                <a:gd name="T55" fmla="*/ 167 h 383"/>
                <a:gd name="T56" fmla="*/ 356 w 360"/>
                <a:gd name="T57" fmla="*/ 240 h 383"/>
                <a:gd name="T58" fmla="*/ 343 w 360"/>
                <a:gd name="T59" fmla="*/ 301 h 383"/>
                <a:gd name="T60" fmla="*/ 269 w 360"/>
                <a:gd name="T61" fmla="*/ 318 h 383"/>
                <a:gd name="T62" fmla="*/ 131 w 360"/>
                <a:gd name="T63" fmla="*/ 383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60" h="383">
                  <a:moveTo>
                    <a:pt x="130" y="217"/>
                  </a:moveTo>
                  <a:cubicBezTo>
                    <a:pt x="126" y="224"/>
                    <a:pt x="129" y="234"/>
                    <a:pt x="136" y="238"/>
                  </a:cubicBezTo>
                  <a:cubicBezTo>
                    <a:pt x="143" y="242"/>
                    <a:pt x="151" y="241"/>
                    <a:pt x="156" y="236"/>
                  </a:cubicBezTo>
                  <a:lnTo>
                    <a:pt x="130" y="217"/>
                  </a:lnTo>
                  <a:close/>
                  <a:moveTo>
                    <a:pt x="223" y="90"/>
                  </a:moveTo>
                  <a:cubicBezTo>
                    <a:pt x="199" y="76"/>
                    <a:pt x="170" y="83"/>
                    <a:pt x="157" y="104"/>
                  </a:cubicBezTo>
                  <a:cubicBezTo>
                    <a:pt x="144" y="127"/>
                    <a:pt x="161" y="151"/>
                    <a:pt x="149" y="174"/>
                  </a:cubicBezTo>
                  <a:lnTo>
                    <a:pt x="187" y="195"/>
                  </a:lnTo>
                  <a:cubicBezTo>
                    <a:pt x="201" y="174"/>
                    <a:pt x="231" y="176"/>
                    <a:pt x="243" y="154"/>
                  </a:cubicBezTo>
                  <a:cubicBezTo>
                    <a:pt x="256" y="132"/>
                    <a:pt x="247" y="104"/>
                    <a:pt x="223" y="90"/>
                  </a:cubicBezTo>
                  <a:close/>
                  <a:moveTo>
                    <a:pt x="183" y="209"/>
                  </a:moveTo>
                  <a:lnTo>
                    <a:pt x="142" y="179"/>
                  </a:lnTo>
                  <a:cubicBezTo>
                    <a:pt x="139" y="176"/>
                    <a:pt x="135" y="177"/>
                    <a:pt x="133" y="181"/>
                  </a:cubicBezTo>
                  <a:cubicBezTo>
                    <a:pt x="132" y="184"/>
                    <a:pt x="132" y="188"/>
                    <a:pt x="136" y="191"/>
                  </a:cubicBezTo>
                  <a:lnTo>
                    <a:pt x="176" y="221"/>
                  </a:lnTo>
                  <a:cubicBezTo>
                    <a:pt x="179" y="224"/>
                    <a:pt x="183" y="223"/>
                    <a:pt x="185" y="220"/>
                  </a:cubicBezTo>
                  <a:cubicBezTo>
                    <a:pt x="187" y="216"/>
                    <a:pt x="186" y="212"/>
                    <a:pt x="183" y="209"/>
                  </a:cubicBezTo>
                  <a:close/>
                  <a:moveTo>
                    <a:pt x="237" y="76"/>
                  </a:moveTo>
                  <a:lnTo>
                    <a:pt x="250" y="54"/>
                  </a:lnTo>
                  <a:lnTo>
                    <a:pt x="240" y="49"/>
                  </a:lnTo>
                  <a:lnTo>
                    <a:pt x="227" y="70"/>
                  </a:lnTo>
                  <a:lnTo>
                    <a:pt x="237" y="76"/>
                  </a:lnTo>
                  <a:close/>
                  <a:moveTo>
                    <a:pt x="259" y="103"/>
                  </a:moveTo>
                  <a:lnTo>
                    <a:pt x="281" y="90"/>
                  </a:lnTo>
                  <a:lnTo>
                    <a:pt x="275" y="80"/>
                  </a:lnTo>
                  <a:lnTo>
                    <a:pt x="253" y="93"/>
                  </a:lnTo>
                  <a:lnTo>
                    <a:pt x="259" y="103"/>
                  </a:lnTo>
                  <a:close/>
                  <a:moveTo>
                    <a:pt x="205" y="64"/>
                  </a:moveTo>
                  <a:lnTo>
                    <a:pt x="205" y="39"/>
                  </a:lnTo>
                  <a:lnTo>
                    <a:pt x="194" y="39"/>
                  </a:lnTo>
                  <a:lnTo>
                    <a:pt x="194" y="64"/>
                  </a:lnTo>
                  <a:lnTo>
                    <a:pt x="205" y="64"/>
                  </a:lnTo>
                  <a:close/>
                  <a:moveTo>
                    <a:pt x="172" y="70"/>
                  </a:moveTo>
                  <a:lnTo>
                    <a:pt x="159" y="48"/>
                  </a:lnTo>
                  <a:lnTo>
                    <a:pt x="149" y="54"/>
                  </a:lnTo>
                  <a:lnTo>
                    <a:pt x="161" y="76"/>
                  </a:lnTo>
                  <a:lnTo>
                    <a:pt x="172" y="70"/>
                  </a:lnTo>
                  <a:close/>
                  <a:moveTo>
                    <a:pt x="264" y="137"/>
                  </a:moveTo>
                  <a:lnTo>
                    <a:pt x="290" y="137"/>
                  </a:lnTo>
                  <a:lnTo>
                    <a:pt x="290" y="125"/>
                  </a:lnTo>
                  <a:lnTo>
                    <a:pt x="264" y="125"/>
                  </a:lnTo>
                  <a:lnTo>
                    <a:pt x="264" y="137"/>
                  </a:lnTo>
                  <a:close/>
                  <a:moveTo>
                    <a:pt x="173" y="227"/>
                  </a:moveTo>
                  <a:lnTo>
                    <a:pt x="132" y="196"/>
                  </a:lnTo>
                  <a:cubicBezTo>
                    <a:pt x="129" y="194"/>
                    <a:pt x="125" y="195"/>
                    <a:pt x="123" y="198"/>
                  </a:cubicBezTo>
                  <a:cubicBezTo>
                    <a:pt x="122" y="201"/>
                    <a:pt x="122" y="206"/>
                    <a:pt x="126" y="208"/>
                  </a:cubicBezTo>
                  <a:lnTo>
                    <a:pt x="166" y="239"/>
                  </a:lnTo>
                  <a:cubicBezTo>
                    <a:pt x="169" y="241"/>
                    <a:pt x="173" y="240"/>
                    <a:pt x="175" y="237"/>
                  </a:cubicBezTo>
                  <a:cubicBezTo>
                    <a:pt x="177" y="234"/>
                    <a:pt x="176" y="229"/>
                    <a:pt x="173" y="227"/>
                  </a:cubicBezTo>
                  <a:close/>
                  <a:moveTo>
                    <a:pt x="131" y="383"/>
                  </a:moveTo>
                  <a:cubicBezTo>
                    <a:pt x="136" y="353"/>
                    <a:pt x="136" y="321"/>
                    <a:pt x="127" y="293"/>
                  </a:cubicBezTo>
                  <a:cubicBezTo>
                    <a:pt x="0" y="221"/>
                    <a:pt x="34" y="56"/>
                    <a:pt x="141" y="22"/>
                  </a:cubicBezTo>
                  <a:cubicBezTo>
                    <a:pt x="197" y="0"/>
                    <a:pt x="274" y="13"/>
                    <a:pt x="323" y="63"/>
                  </a:cubicBezTo>
                  <a:cubicBezTo>
                    <a:pt x="360" y="99"/>
                    <a:pt x="342" y="109"/>
                    <a:pt x="342" y="109"/>
                  </a:cubicBezTo>
                  <a:lnTo>
                    <a:pt x="334" y="113"/>
                  </a:lnTo>
                  <a:cubicBezTo>
                    <a:pt x="339" y="131"/>
                    <a:pt x="346" y="162"/>
                    <a:pt x="345" y="167"/>
                  </a:cubicBezTo>
                  <a:cubicBezTo>
                    <a:pt x="344" y="173"/>
                    <a:pt x="337" y="179"/>
                    <a:pt x="337" y="179"/>
                  </a:cubicBezTo>
                  <a:lnTo>
                    <a:pt x="356" y="240"/>
                  </a:lnTo>
                  <a:lnTo>
                    <a:pt x="339" y="246"/>
                  </a:lnTo>
                  <a:cubicBezTo>
                    <a:pt x="343" y="266"/>
                    <a:pt x="345" y="282"/>
                    <a:pt x="343" y="301"/>
                  </a:cubicBezTo>
                  <a:cubicBezTo>
                    <a:pt x="343" y="305"/>
                    <a:pt x="332" y="314"/>
                    <a:pt x="323" y="315"/>
                  </a:cubicBezTo>
                  <a:lnTo>
                    <a:pt x="269" y="318"/>
                  </a:lnTo>
                  <a:lnTo>
                    <a:pt x="272" y="383"/>
                  </a:lnTo>
                  <a:lnTo>
                    <a:pt x="131" y="3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2075327" y="198604"/>
            <a:ext cx="473877" cy="484825"/>
            <a:chOff x="4553407" y="-1899592"/>
            <a:chExt cx="1054013" cy="1078364"/>
          </a:xfrm>
        </p:grpSpPr>
        <p:sp>
          <p:nvSpPr>
            <p:cNvPr id="25" name="Oval 8"/>
            <p:cNvSpPr>
              <a:spLocks noChangeArrowheads="1"/>
            </p:cNvSpPr>
            <p:nvPr/>
          </p:nvSpPr>
          <p:spPr bwMode="auto">
            <a:xfrm>
              <a:off x="4553407" y="-1899592"/>
              <a:ext cx="1054013" cy="1078364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Freeform 12"/>
            <p:cNvSpPr>
              <a:spLocks noEditPoints="1"/>
            </p:cNvSpPr>
            <p:nvPr/>
          </p:nvSpPr>
          <p:spPr bwMode="auto">
            <a:xfrm>
              <a:off x="4824737" y="-1683919"/>
              <a:ext cx="594839" cy="650497"/>
            </a:xfrm>
            <a:custGeom>
              <a:avLst/>
              <a:gdLst>
                <a:gd name="T0" fmla="*/ 108 w 360"/>
                <a:gd name="T1" fmla="*/ 59 h 384"/>
                <a:gd name="T2" fmla="*/ 236 w 360"/>
                <a:gd name="T3" fmla="*/ 43 h 384"/>
                <a:gd name="T4" fmla="*/ 190 w 360"/>
                <a:gd name="T5" fmla="*/ 26 h 384"/>
                <a:gd name="T6" fmla="*/ 138 w 360"/>
                <a:gd name="T7" fmla="*/ 26 h 384"/>
                <a:gd name="T8" fmla="*/ 92 w 360"/>
                <a:gd name="T9" fmla="*/ 43 h 384"/>
                <a:gd name="T10" fmla="*/ 296 w 360"/>
                <a:gd name="T11" fmla="*/ 332 h 384"/>
                <a:gd name="T12" fmla="*/ 301 w 360"/>
                <a:gd name="T13" fmla="*/ 321 h 384"/>
                <a:gd name="T14" fmla="*/ 280 w 360"/>
                <a:gd name="T15" fmla="*/ 249 h 384"/>
                <a:gd name="T16" fmla="*/ 267 w 360"/>
                <a:gd name="T17" fmla="*/ 249 h 384"/>
                <a:gd name="T18" fmla="*/ 267 w 360"/>
                <a:gd name="T19" fmla="*/ 304 h 384"/>
                <a:gd name="T20" fmla="*/ 268 w 360"/>
                <a:gd name="T21" fmla="*/ 306 h 384"/>
                <a:gd name="T22" fmla="*/ 268 w 360"/>
                <a:gd name="T23" fmla="*/ 307 h 384"/>
                <a:gd name="T24" fmla="*/ 269 w 360"/>
                <a:gd name="T25" fmla="*/ 308 h 384"/>
                <a:gd name="T26" fmla="*/ 343 w 360"/>
                <a:gd name="T27" fmla="*/ 253 h 384"/>
                <a:gd name="T28" fmla="*/ 274 w 360"/>
                <a:gd name="T29" fmla="*/ 217 h 384"/>
                <a:gd name="T30" fmla="*/ 258 w 360"/>
                <a:gd name="T31" fmla="*/ 382 h 384"/>
                <a:gd name="T32" fmla="*/ 356 w 360"/>
                <a:gd name="T33" fmla="*/ 316 h 384"/>
                <a:gd name="T34" fmla="*/ 343 w 360"/>
                <a:gd name="T35" fmla="*/ 313 h 384"/>
                <a:gd name="T36" fmla="*/ 274 w 360"/>
                <a:gd name="T37" fmla="*/ 371 h 384"/>
                <a:gd name="T38" fmla="*/ 205 w 360"/>
                <a:gd name="T39" fmla="*/ 287 h 384"/>
                <a:gd name="T40" fmla="*/ 287 w 360"/>
                <a:gd name="T41" fmla="*/ 231 h 384"/>
                <a:gd name="T42" fmla="*/ 343 w 360"/>
                <a:gd name="T43" fmla="*/ 313 h 384"/>
                <a:gd name="T44" fmla="*/ 121 w 360"/>
                <a:gd name="T45" fmla="*/ 313 h 384"/>
                <a:gd name="T46" fmla="*/ 206 w 360"/>
                <a:gd name="T47" fmla="*/ 228 h 384"/>
                <a:gd name="T48" fmla="*/ 224 w 360"/>
                <a:gd name="T49" fmla="*/ 215 h 384"/>
                <a:gd name="T50" fmla="*/ 311 w 360"/>
                <a:gd name="T51" fmla="*/ 130 h 384"/>
                <a:gd name="T52" fmla="*/ 314 w 360"/>
                <a:gd name="T53" fmla="*/ 210 h 384"/>
                <a:gd name="T54" fmla="*/ 328 w 360"/>
                <a:gd name="T55" fmla="*/ 215 h 384"/>
                <a:gd name="T56" fmla="*/ 328 w 360"/>
                <a:gd name="T57" fmla="*/ 88 h 384"/>
                <a:gd name="T58" fmla="*/ 17 w 360"/>
                <a:gd name="T59" fmla="*/ 71 h 384"/>
                <a:gd name="T60" fmla="*/ 0 w 360"/>
                <a:gd name="T61" fmla="*/ 134 h 384"/>
                <a:gd name="T62" fmla="*/ 0 w 360"/>
                <a:gd name="T63" fmla="*/ 228 h 384"/>
                <a:gd name="T64" fmla="*/ 0 w 360"/>
                <a:gd name="T65" fmla="*/ 319 h 384"/>
                <a:gd name="T66" fmla="*/ 181 w 360"/>
                <a:gd name="T67" fmla="*/ 336 h 384"/>
                <a:gd name="T68" fmla="*/ 14 w 360"/>
                <a:gd name="T69" fmla="*/ 134 h 384"/>
                <a:gd name="T70" fmla="*/ 17 w 360"/>
                <a:gd name="T71" fmla="*/ 130 h 384"/>
                <a:gd name="T72" fmla="*/ 107 w 360"/>
                <a:gd name="T73" fmla="*/ 215 h 384"/>
                <a:gd name="T74" fmla="*/ 14 w 360"/>
                <a:gd name="T75" fmla="*/ 134 h 384"/>
                <a:gd name="T76" fmla="*/ 107 w 360"/>
                <a:gd name="T77" fmla="*/ 228 h 384"/>
                <a:gd name="T78" fmla="*/ 17 w 360"/>
                <a:gd name="T79" fmla="*/ 313 h 384"/>
                <a:gd name="T80" fmla="*/ 14 w 360"/>
                <a:gd name="T81" fmla="*/ 228 h 384"/>
                <a:gd name="T82" fmla="*/ 121 w 360"/>
                <a:gd name="T83" fmla="*/ 215 h 384"/>
                <a:gd name="T84" fmla="*/ 121 w 360"/>
                <a:gd name="T85" fmla="*/ 130 h 384"/>
                <a:gd name="T86" fmla="*/ 210 w 360"/>
                <a:gd name="T87" fmla="*/ 215 h 384"/>
                <a:gd name="T88" fmla="*/ 217 w 360"/>
                <a:gd name="T89" fmla="*/ 88 h 384"/>
                <a:gd name="T90" fmla="*/ 229 w 360"/>
                <a:gd name="T91" fmla="*/ 100 h 384"/>
                <a:gd name="T92" fmla="*/ 205 w 360"/>
                <a:gd name="T93" fmla="*/ 100 h 384"/>
                <a:gd name="T94" fmla="*/ 114 w 360"/>
                <a:gd name="T95" fmla="*/ 88 h 384"/>
                <a:gd name="T96" fmla="*/ 126 w 360"/>
                <a:gd name="T97" fmla="*/ 100 h 384"/>
                <a:gd name="T98" fmla="*/ 103 w 360"/>
                <a:gd name="T99" fmla="*/ 100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60" h="384">
                  <a:moveTo>
                    <a:pt x="92" y="43"/>
                  </a:moveTo>
                  <a:cubicBezTo>
                    <a:pt x="92" y="52"/>
                    <a:pt x="100" y="59"/>
                    <a:pt x="108" y="59"/>
                  </a:cubicBezTo>
                  <a:lnTo>
                    <a:pt x="220" y="59"/>
                  </a:lnTo>
                  <a:cubicBezTo>
                    <a:pt x="229" y="59"/>
                    <a:pt x="236" y="52"/>
                    <a:pt x="236" y="43"/>
                  </a:cubicBezTo>
                  <a:cubicBezTo>
                    <a:pt x="236" y="34"/>
                    <a:pt x="229" y="26"/>
                    <a:pt x="220" y="26"/>
                  </a:cubicBezTo>
                  <a:lnTo>
                    <a:pt x="190" y="26"/>
                  </a:lnTo>
                  <a:cubicBezTo>
                    <a:pt x="190" y="12"/>
                    <a:pt x="179" y="0"/>
                    <a:pt x="164" y="0"/>
                  </a:cubicBezTo>
                  <a:cubicBezTo>
                    <a:pt x="150" y="0"/>
                    <a:pt x="138" y="12"/>
                    <a:pt x="138" y="26"/>
                  </a:cubicBezTo>
                  <a:lnTo>
                    <a:pt x="108" y="26"/>
                  </a:lnTo>
                  <a:cubicBezTo>
                    <a:pt x="100" y="26"/>
                    <a:pt x="92" y="34"/>
                    <a:pt x="92" y="43"/>
                  </a:cubicBezTo>
                  <a:close/>
                  <a:moveTo>
                    <a:pt x="292" y="330"/>
                  </a:moveTo>
                  <a:cubicBezTo>
                    <a:pt x="293" y="332"/>
                    <a:pt x="295" y="332"/>
                    <a:pt x="296" y="332"/>
                  </a:cubicBezTo>
                  <a:cubicBezTo>
                    <a:pt x="298" y="332"/>
                    <a:pt x="300" y="332"/>
                    <a:pt x="301" y="330"/>
                  </a:cubicBezTo>
                  <a:cubicBezTo>
                    <a:pt x="304" y="328"/>
                    <a:pt x="304" y="323"/>
                    <a:pt x="301" y="321"/>
                  </a:cubicBezTo>
                  <a:lnTo>
                    <a:pt x="280" y="300"/>
                  </a:lnTo>
                  <a:lnTo>
                    <a:pt x="280" y="249"/>
                  </a:lnTo>
                  <a:cubicBezTo>
                    <a:pt x="280" y="245"/>
                    <a:pt x="278" y="242"/>
                    <a:pt x="274" y="242"/>
                  </a:cubicBezTo>
                  <a:cubicBezTo>
                    <a:pt x="270" y="242"/>
                    <a:pt x="267" y="245"/>
                    <a:pt x="267" y="249"/>
                  </a:cubicBezTo>
                  <a:lnTo>
                    <a:pt x="267" y="303"/>
                  </a:lnTo>
                  <a:cubicBezTo>
                    <a:pt x="267" y="303"/>
                    <a:pt x="267" y="304"/>
                    <a:pt x="267" y="304"/>
                  </a:cubicBezTo>
                  <a:cubicBezTo>
                    <a:pt x="267" y="305"/>
                    <a:pt x="267" y="305"/>
                    <a:pt x="267" y="305"/>
                  </a:cubicBezTo>
                  <a:cubicBezTo>
                    <a:pt x="267" y="305"/>
                    <a:pt x="268" y="305"/>
                    <a:pt x="268" y="306"/>
                  </a:cubicBezTo>
                  <a:cubicBezTo>
                    <a:pt x="268" y="306"/>
                    <a:pt x="268" y="306"/>
                    <a:pt x="268" y="306"/>
                  </a:cubicBezTo>
                  <a:cubicBezTo>
                    <a:pt x="268" y="306"/>
                    <a:pt x="268" y="307"/>
                    <a:pt x="268" y="307"/>
                  </a:cubicBezTo>
                  <a:cubicBezTo>
                    <a:pt x="268" y="307"/>
                    <a:pt x="269" y="307"/>
                    <a:pt x="269" y="308"/>
                  </a:cubicBezTo>
                  <a:cubicBezTo>
                    <a:pt x="269" y="308"/>
                    <a:pt x="269" y="308"/>
                    <a:pt x="269" y="308"/>
                  </a:cubicBezTo>
                  <a:lnTo>
                    <a:pt x="292" y="330"/>
                  </a:lnTo>
                  <a:close/>
                  <a:moveTo>
                    <a:pt x="343" y="253"/>
                  </a:moveTo>
                  <a:cubicBezTo>
                    <a:pt x="330" y="235"/>
                    <a:pt x="311" y="222"/>
                    <a:pt x="289" y="218"/>
                  </a:cubicBezTo>
                  <a:cubicBezTo>
                    <a:pt x="284" y="217"/>
                    <a:pt x="279" y="217"/>
                    <a:pt x="274" y="217"/>
                  </a:cubicBezTo>
                  <a:cubicBezTo>
                    <a:pt x="234" y="217"/>
                    <a:pt x="199" y="245"/>
                    <a:pt x="192" y="285"/>
                  </a:cubicBezTo>
                  <a:cubicBezTo>
                    <a:pt x="183" y="330"/>
                    <a:pt x="213" y="373"/>
                    <a:pt x="258" y="382"/>
                  </a:cubicBezTo>
                  <a:cubicBezTo>
                    <a:pt x="263" y="383"/>
                    <a:pt x="269" y="384"/>
                    <a:pt x="274" y="384"/>
                  </a:cubicBezTo>
                  <a:cubicBezTo>
                    <a:pt x="314" y="384"/>
                    <a:pt x="348" y="355"/>
                    <a:pt x="356" y="316"/>
                  </a:cubicBezTo>
                  <a:cubicBezTo>
                    <a:pt x="360" y="294"/>
                    <a:pt x="355" y="272"/>
                    <a:pt x="343" y="253"/>
                  </a:cubicBezTo>
                  <a:close/>
                  <a:moveTo>
                    <a:pt x="343" y="313"/>
                  </a:moveTo>
                  <a:lnTo>
                    <a:pt x="343" y="313"/>
                  </a:lnTo>
                  <a:cubicBezTo>
                    <a:pt x="337" y="347"/>
                    <a:pt x="308" y="371"/>
                    <a:pt x="274" y="371"/>
                  </a:cubicBezTo>
                  <a:cubicBezTo>
                    <a:pt x="269" y="371"/>
                    <a:pt x="265" y="370"/>
                    <a:pt x="261" y="369"/>
                  </a:cubicBezTo>
                  <a:cubicBezTo>
                    <a:pt x="222" y="362"/>
                    <a:pt x="197" y="325"/>
                    <a:pt x="205" y="287"/>
                  </a:cubicBezTo>
                  <a:cubicBezTo>
                    <a:pt x="211" y="254"/>
                    <a:pt x="240" y="230"/>
                    <a:pt x="274" y="230"/>
                  </a:cubicBezTo>
                  <a:cubicBezTo>
                    <a:pt x="278" y="230"/>
                    <a:pt x="283" y="230"/>
                    <a:pt x="287" y="231"/>
                  </a:cubicBezTo>
                  <a:cubicBezTo>
                    <a:pt x="306" y="234"/>
                    <a:pt x="322" y="245"/>
                    <a:pt x="332" y="261"/>
                  </a:cubicBezTo>
                  <a:cubicBezTo>
                    <a:pt x="343" y="276"/>
                    <a:pt x="347" y="295"/>
                    <a:pt x="343" y="313"/>
                  </a:cubicBezTo>
                  <a:close/>
                  <a:moveTo>
                    <a:pt x="176" y="313"/>
                  </a:moveTo>
                  <a:lnTo>
                    <a:pt x="121" y="313"/>
                  </a:lnTo>
                  <a:lnTo>
                    <a:pt x="121" y="228"/>
                  </a:lnTo>
                  <a:lnTo>
                    <a:pt x="206" y="228"/>
                  </a:lnTo>
                  <a:cubicBezTo>
                    <a:pt x="211" y="223"/>
                    <a:pt x="217" y="218"/>
                    <a:pt x="224" y="215"/>
                  </a:cubicBezTo>
                  <a:lnTo>
                    <a:pt x="224" y="215"/>
                  </a:lnTo>
                  <a:lnTo>
                    <a:pt x="224" y="130"/>
                  </a:lnTo>
                  <a:lnTo>
                    <a:pt x="311" y="130"/>
                  </a:lnTo>
                  <a:cubicBezTo>
                    <a:pt x="313" y="130"/>
                    <a:pt x="314" y="132"/>
                    <a:pt x="314" y="134"/>
                  </a:cubicBezTo>
                  <a:lnTo>
                    <a:pt x="314" y="210"/>
                  </a:lnTo>
                  <a:cubicBezTo>
                    <a:pt x="319" y="212"/>
                    <a:pt x="324" y="215"/>
                    <a:pt x="328" y="217"/>
                  </a:cubicBezTo>
                  <a:lnTo>
                    <a:pt x="328" y="215"/>
                  </a:lnTo>
                  <a:lnTo>
                    <a:pt x="328" y="134"/>
                  </a:lnTo>
                  <a:lnTo>
                    <a:pt x="328" y="88"/>
                  </a:lnTo>
                  <a:cubicBezTo>
                    <a:pt x="328" y="79"/>
                    <a:pt x="320" y="71"/>
                    <a:pt x="311" y="71"/>
                  </a:cubicBezTo>
                  <a:lnTo>
                    <a:pt x="17" y="71"/>
                  </a:lnTo>
                  <a:cubicBezTo>
                    <a:pt x="8" y="71"/>
                    <a:pt x="0" y="79"/>
                    <a:pt x="0" y="88"/>
                  </a:cubicBezTo>
                  <a:lnTo>
                    <a:pt x="0" y="134"/>
                  </a:lnTo>
                  <a:lnTo>
                    <a:pt x="0" y="215"/>
                  </a:lnTo>
                  <a:lnTo>
                    <a:pt x="0" y="228"/>
                  </a:lnTo>
                  <a:lnTo>
                    <a:pt x="0" y="309"/>
                  </a:lnTo>
                  <a:lnTo>
                    <a:pt x="0" y="319"/>
                  </a:lnTo>
                  <a:cubicBezTo>
                    <a:pt x="0" y="329"/>
                    <a:pt x="8" y="336"/>
                    <a:pt x="17" y="336"/>
                  </a:cubicBezTo>
                  <a:lnTo>
                    <a:pt x="181" y="336"/>
                  </a:lnTo>
                  <a:cubicBezTo>
                    <a:pt x="179" y="329"/>
                    <a:pt x="177" y="321"/>
                    <a:pt x="176" y="313"/>
                  </a:cubicBezTo>
                  <a:close/>
                  <a:moveTo>
                    <a:pt x="14" y="134"/>
                  </a:moveTo>
                  <a:lnTo>
                    <a:pt x="14" y="134"/>
                  </a:lnTo>
                  <a:cubicBezTo>
                    <a:pt x="14" y="132"/>
                    <a:pt x="15" y="130"/>
                    <a:pt x="17" y="130"/>
                  </a:cubicBezTo>
                  <a:lnTo>
                    <a:pt x="107" y="130"/>
                  </a:lnTo>
                  <a:lnTo>
                    <a:pt x="107" y="215"/>
                  </a:lnTo>
                  <a:lnTo>
                    <a:pt x="14" y="215"/>
                  </a:lnTo>
                  <a:lnTo>
                    <a:pt x="14" y="134"/>
                  </a:lnTo>
                  <a:close/>
                  <a:moveTo>
                    <a:pt x="107" y="228"/>
                  </a:moveTo>
                  <a:lnTo>
                    <a:pt x="107" y="228"/>
                  </a:lnTo>
                  <a:lnTo>
                    <a:pt x="107" y="313"/>
                  </a:lnTo>
                  <a:lnTo>
                    <a:pt x="17" y="313"/>
                  </a:lnTo>
                  <a:cubicBezTo>
                    <a:pt x="15" y="313"/>
                    <a:pt x="14" y="311"/>
                    <a:pt x="14" y="309"/>
                  </a:cubicBezTo>
                  <a:lnTo>
                    <a:pt x="14" y="228"/>
                  </a:lnTo>
                  <a:lnTo>
                    <a:pt x="107" y="228"/>
                  </a:lnTo>
                  <a:close/>
                  <a:moveTo>
                    <a:pt x="121" y="215"/>
                  </a:moveTo>
                  <a:lnTo>
                    <a:pt x="121" y="215"/>
                  </a:lnTo>
                  <a:lnTo>
                    <a:pt x="121" y="130"/>
                  </a:lnTo>
                  <a:lnTo>
                    <a:pt x="210" y="130"/>
                  </a:lnTo>
                  <a:lnTo>
                    <a:pt x="210" y="215"/>
                  </a:lnTo>
                  <a:lnTo>
                    <a:pt x="121" y="215"/>
                  </a:lnTo>
                  <a:close/>
                  <a:moveTo>
                    <a:pt x="217" y="88"/>
                  </a:moveTo>
                  <a:lnTo>
                    <a:pt x="217" y="88"/>
                  </a:lnTo>
                  <a:cubicBezTo>
                    <a:pt x="223" y="88"/>
                    <a:pt x="229" y="94"/>
                    <a:pt x="229" y="100"/>
                  </a:cubicBezTo>
                  <a:cubicBezTo>
                    <a:pt x="229" y="106"/>
                    <a:pt x="223" y="111"/>
                    <a:pt x="217" y="111"/>
                  </a:cubicBezTo>
                  <a:cubicBezTo>
                    <a:pt x="211" y="111"/>
                    <a:pt x="205" y="106"/>
                    <a:pt x="205" y="100"/>
                  </a:cubicBezTo>
                  <a:cubicBezTo>
                    <a:pt x="205" y="94"/>
                    <a:pt x="211" y="88"/>
                    <a:pt x="217" y="88"/>
                  </a:cubicBezTo>
                  <a:close/>
                  <a:moveTo>
                    <a:pt x="114" y="88"/>
                  </a:moveTo>
                  <a:lnTo>
                    <a:pt x="114" y="88"/>
                  </a:lnTo>
                  <a:cubicBezTo>
                    <a:pt x="120" y="88"/>
                    <a:pt x="126" y="94"/>
                    <a:pt x="126" y="100"/>
                  </a:cubicBezTo>
                  <a:cubicBezTo>
                    <a:pt x="126" y="106"/>
                    <a:pt x="120" y="111"/>
                    <a:pt x="114" y="111"/>
                  </a:cubicBezTo>
                  <a:cubicBezTo>
                    <a:pt x="108" y="111"/>
                    <a:pt x="103" y="106"/>
                    <a:pt x="103" y="100"/>
                  </a:cubicBezTo>
                  <a:cubicBezTo>
                    <a:pt x="103" y="94"/>
                    <a:pt x="108" y="88"/>
                    <a:pt x="114" y="8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14146653" y="851012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延时符</a:t>
            </a:r>
          </a:p>
        </p:txBody>
      </p:sp>
      <p:sp>
        <p:nvSpPr>
          <p:cNvPr id="28" name="Rectangle 6"/>
          <p:cNvSpPr>
            <a:spLocks noChangeArrowheads="1"/>
          </p:cNvSpPr>
          <p:nvPr/>
        </p:nvSpPr>
        <p:spPr bwMode="auto">
          <a:xfrm>
            <a:off x="0" y="1109114"/>
            <a:ext cx="2835079" cy="81520"/>
          </a:xfrm>
          <a:prstGeom prst="rect">
            <a:avLst/>
          </a:prstGeom>
          <a:solidFill>
            <a:srgbClr val="01C0B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29" name="Rectangle 7"/>
          <p:cNvSpPr>
            <a:spLocks noChangeArrowheads="1"/>
          </p:cNvSpPr>
          <p:nvPr/>
        </p:nvSpPr>
        <p:spPr bwMode="auto">
          <a:xfrm>
            <a:off x="1266714" y="1109114"/>
            <a:ext cx="2831571" cy="815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30" name="Rectangle 8"/>
          <p:cNvSpPr>
            <a:spLocks noChangeArrowheads="1"/>
          </p:cNvSpPr>
          <p:nvPr/>
        </p:nvSpPr>
        <p:spPr bwMode="auto">
          <a:xfrm>
            <a:off x="2531856" y="1109114"/>
            <a:ext cx="2835079" cy="8152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31" name="Rectangle 9"/>
          <p:cNvSpPr>
            <a:spLocks noChangeArrowheads="1"/>
          </p:cNvSpPr>
          <p:nvPr/>
        </p:nvSpPr>
        <p:spPr bwMode="auto">
          <a:xfrm>
            <a:off x="3798567" y="1109114"/>
            <a:ext cx="2039483" cy="8152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642269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4" name="标题 335873"/>
          <p:cNvSpPr>
            <a:spLocks noGrp="1"/>
          </p:cNvSpPr>
          <p:nvPr>
            <p:ph type="title"/>
          </p:nvPr>
        </p:nvSpPr>
        <p:spPr>
          <a:xfrm>
            <a:off x="927247" y="62010"/>
            <a:ext cx="6292850" cy="762000"/>
          </a:xfrm>
        </p:spPr>
        <p:txBody>
          <a:bodyPr anchor="ctr">
            <a:noAutofit/>
          </a:bodyPr>
          <a:lstStyle/>
          <a:p>
            <a:pPr>
              <a:lnSpc>
                <a:spcPct val="250000"/>
              </a:lnSpc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控制部件的硬布线实现</a:t>
            </a:r>
          </a:p>
        </p:txBody>
      </p:sp>
      <p:sp>
        <p:nvSpPr>
          <p:cNvPr id="335875" name="文本占位符 335874"/>
          <p:cNvSpPr>
            <a:spLocks noGrp="1"/>
          </p:cNvSpPr>
          <p:nvPr>
            <p:ph type="body" idx="1"/>
          </p:nvPr>
        </p:nvSpPr>
        <p:spPr>
          <a:xfrm>
            <a:off x="3232202" y="1791024"/>
            <a:ext cx="8190975" cy="4391412"/>
          </a:xfrm>
        </p:spPr>
        <p:txBody>
          <a:bodyPr>
            <a:normAutofit/>
          </a:bodyPr>
          <a:lstStyle/>
          <a:p>
            <a:pPr marL="0" indent="0">
              <a:lnSpc>
                <a:spcPct val="250000"/>
              </a:lnSpc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硬布线控制器又称为组合逻辑控制器，是早期计算机控制器的一种主要设计方法，且随着近些年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RISC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机的出现，再次被采用。</a:t>
            </a:r>
          </a:p>
          <a:p>
            <a:pPr marL="0" indent="0">
              <a:lnSpc>
                <a:spcPct val="250000"/>
              </a:lnSpc>
              <a:buNone/>
            </a:pP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-22289" y="2301234"/>
            <a:ext cx="2735237" cy="2528499"/>
          </a:xfrm>
          <a:prstGeom prst="rect">
            <a:avLst/>
          </a:prstGeom>
          <a:solidFill>
            <a:srgbClr val="01C0B0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5" name="Oval 9"/>
          <p:cNvSpPr>
            <a:spLocks noChangeArrowheads="1"/>
          </p:cNvSpPr>
          <p:nvPr/>
        </p:nvSpPr>
        <p:spPr bwMode="auto">
          <a:xfrm>
            <a:off x="769489" y="3033237"/>
            <a:ext cx="1100235" cy="1108082"/>
          </a:xfrm>
          <a:prstGeom prst="ellipse">
            <a:avLst/>
          </a:prstGeom>
          <a:solidFill>
            <a:srgbClr val="FFFFFF"/>
          </a:solidFill>
          <a:ln w="10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6" name="Freeform 40"/>
          <p:cNvSpPr>
            <a:spLocks noEditPoints="1"/>
          </p:cNvSpPr>
          <p:nvPr/>
        </p:nvSpPr>
        <p:spPr bwMode="auto">
          <a:xfrm>
            <a:off x="927247" y="3325194"/>
            <a:ext cx="784720" cy="524170"/>
          </a:xfrm>
          <a:custGeom>
            <a:avLst/>
            <a:gdLst>
              <a:gd name="T0" fmla="*/ 544 w 564"/>
              <a:gd name="T1" fmla="*/ 27 h 376"/>
              <a:gd name="T2" fmla="*/ 544 w 564"/>
              <a:gd name="T3" fmla="*/ 309 h 376"/>
              <a:gd name="T4" fmla="*/ 536 w 564"/>
              <a:gd name="T5" fmla="*/ 309 h 376"/>
              <a:gd name="T6" fmla="*/ 518 w 564"/>
              <a:gd name="T7" fmla="*/ 308 h 376"/>
              <a:gd name="T8" fmla="*/ 285 w 564"/>
              <a:gd name="T9" fmla="*/ 367 h 376"/>
              <a:gd name="T10" fmla="*/ 282 w 564"/>
              <a:gd name="T11" fmla="*/ 368 h 376"/>
              <a:gd name="T12" fmla="*/ 279 w 564"/>
              <a:gd name="T13" fmla="*/ 367 h 376"/>
              <a:gd name="T14" fmla="*/ 46 w 564"/>
              <a:gd name="T15" fmla="*/ 308 h 376"/>
              <a:gd name="T16" fmla="*/ 28 w 564"/>
              <a:gd name="T17" fmla="*/ 309 h 376"/>
              <a:gd name="T18" fmla="*/ 20 w 564"/>
              <a:gd name="T19" fmla="*/ 309 h 376"/>
              <a:gd name="T20" fmla="*/ 20 w 564"/>
              <a:gd name="T21" fmla="*/ 27 h 376"/>
              <a:gd name="T22" fmla="*/ 0 w 564"/>
              <a:gd name="T23" fmla="*/ 27 h 376"/>
              <a:gd name="T24" fmla="*/ 0 w 564"/>
              <a:gd name="T25" fmla="*/ 320 h 376"/>
              <a:gd name="T26" fmla="*/ 282 w 564"/>
              <a:gd name="T27" fmla="*/ 376 h 376"/>
              <a:gd name="T28" fmla="*/ 564 w 564"/>
              <a:gd name="T29" fmla="*/ 320 h 376"/>
              <a:gd name="T30" fmla="*/ 564 w 564"/>
              <a:gd name="T31" fmla="*/ 27 h 376"/>
              <a:gd name="T32" fmla="*/ 544 w 564"/>
              <a:gd name="T33" fmla="*/ 27 h 376"/>
              <a:gd name="T34" fmla="*/ 272 w 564"/>
              <a:gd name="T35" fmla="*/ 319 h 376"/>
              <a:gd name="T36" fmla="*/ 272 w 564"/>
              <a:gd name="T37" fmla="*/ 63 h 376"/>
              <a:gd name="T38" fmla="*/ 77 w 564"/>
              <a:gd name="T39" fmla="*/ 1 h 376"/>
              <a:gd name="T40" fmla="*/ 77 w 564"/>
              <a:gd name="T41" fmla="*/ 269 h 376"/>
              <a:gd name="T42" fmla="*/ 84 w 564"/>
              <a:gd name="T43" fmla="*/ 269 h 376"/>
              <a:gd name="T44" fmla="*/ 272 w 564"/>
              <a:gd name="T45" fmla="*/ 319 h 376"/>
              <a:gd name="T46" fmla="*/ 487 w 564"/>
              <a:gd name="T47" fmla="*/ 269 h 376"/>
              <a:gd name="T48" fmla="*/ 487 w 564"/>
              <a:gd name="T49" fmla="*/ 1 h 376"/>
              <a:gd name="T50" fmla="*/ 292 w 564"/>
              <a:gd name="T51" fmla="*/ 63 h 376"/>
              <a:gd name="T52" fmla="*/ 292 w 564"/>
              <a:gd name="T53" fmla="*/ 319 h 376"/>
              <a:gd name="T54" fmla="*/ 480 w 564"/>
              <a:gd name="T55" fmla="*/ 269 h 376"/>
              <a:gd name="T56" fmla="*/ 487 w 564"/>
              <a:gd name="T57" fmla="*/ 269 h 376"/>
              <a:gd name="T58" fmla="*/ 282 w 564"/>
              <a:gd name="T59" fmla="*/ 361 h 376"/>
              <a:gd name="T60" fmla="*/ 531 w 564"/>
              <a:gd name="T61" fmla="*/ 302 h 376"/>
              <a:gd name="T62" fmla="*/ 531 w 564"/>
              <a:gd name="T63" fmla="*/ 5 h 376"/>
              <a:gd name="T64" fmla="*/ 501 w 564"/>
              <a:gd name="T65" fmla="*/ 5 h 376"/>
              <a:gd name="T66" fmla="*/ 501 w 564"/>
              <a:gd name="T67" fmla="*/ 283 h 376"/>
              <a:gd name="T68" fmla="*/ 493 w 564"/>
              <a:gd name="T69" fmla="*/ 282 h 376"/>
              <a:gd name="T70" fmla="*/ 478 w 564"/>
              <a:gd name="T71" fmla="*/ 282 h 376"/>
              <a:gd name="T72" fmla="*/ 287 w 564"/>
              <a:gd name="T73" fmla="*/ 337 h 376"/>
              <a:gd name="T74" fmla="*/ 282 w 564"/>
              <a:gd name="T75" fmla="*/ 340 h 376"/>
              <a:gd name="T76" fmla="*/ 277 w 564"/>
              <a:gd name="T77" fmla="*/ 337 h 376"/>
              <a:gd name="T78" fmla="*/ 86 w 564"/>
              <a:gd name="T79" fmla="*/ 282 h 376"/>
              <a:gd name="T80" fmla="*/ 71 w 564"/>
              <a:gd name="T81" fmla="*/ 282 h 376"/>
              <a:gd name="T82" fmla="*/ 63 w 564"/>
              <a:gd name="T83" fmla="*/ 283 h 376"/>
              <a:gd name="T84" fmla="*/ 63 w 564"/>
              <a:gd name="T85" fmla="*/ 5 h 376"/>
              <a:gd name="T86" fmla="*/ 33 w 564"/>
              <a:gd name="T87" fmla="*/ 5 h 376"/>
              <a:gd name="T88" fmla="*/ 33 w 564"/>
              <a:gd name="T89" fmla="*/ 302 h 376"/>
              <a:gd name="T90" fmla="*/ 282 w 564"/>
              <a:gd name="T91" fmla="*/ 361 h 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564" h="376">
                <a:moveTo>
                  <a:pt x="544" y="27"/>
                </a:moveTo>
                <a:lnTo>
                  <a:pt x="544" y="309"/>
                </a:lnTo>
                <a:lnTo>
                  <a:pt x="536" y="309"/>
                </a:lnTo>
                <a:cubicBezTo>
                  <a:pt x="530" y="308"/>
                  <a:pt x="524" y="308"/>
                  <a:pt x="518" y="308"/>
                </a:cubicBezTo>
                <a:cubicBezTo>
                  <a:pt x="440" y="308"/>
                  <a:pt x="357" y="329"/>
                  <a:pt x="285" y="367"/>
                </a:cubicBezTo>
                <a:lnTo>
                  <a:pt x="282" y="368"/>
                </a:lnTo>
                <a:lnTo>
                  <a:pt x="279" y="367"/>
                </a:lnTo>
                <a:cubicBezTo>
                  <a:pt x="207" y="329"/>
                  <a:pt x="124" y="308"/>
                  <a:pt x="46" y="308"/>
                </a:cubicBezTo>
                <a:cubicBezTo>
                  <a:pt x="40" y="308"/>
                  <a:pt x="34" y="308"/>
                  <a:pt x="28" y="309"/>
                </a:cubicBezTo>
                <a:lnTo>
                  <a:pt x="20" y="309"/>
                </a:lnTo>
                <a:lnTo>
                  <a:pt x="20" y="27"/>
                </a:lnTo>
                <a:cubicBezTo>
                  <a:pt x="13" y="27"/>
                  <a:pt x="6" y="27"/>
                  <a:pt x="0" y="27"/>
                </a:cubicBezTo>
                <a:lnTo>
                  <a:pt x="0" y="320"/>
                </a:lnTo>
                <a:cubicBezTo>
                  <a:pt x="94" y="317"/>
                  <a:pt x="194" y="338"/>
                  <a:pt x="282" y="376"/>
                </a:cubicBezTo>
                <a:cubicBezTo>
                  <a:pt x="370" y="338"/>
                  <a:pt x="470" y="317"/>
                  <a:pt x="564" y="320"/>
                </a:cubicBezTo>
                <a:lnTo>
                  <a:pt x="564" y="27"/>
                </a:lnTo>
                <a:cubicBezTo>
                  <a:pt x="558" y="27"/>
                  <a:pt x="551" y="27"/>
                  <a:pt x="544" y="27"/>
                </a:cubicBezTo>
                <a:close/>
                <a:moveTo>
                  <a:pt x="272" y="319"/>
                </a:moveTo>
                <a:lnTo>
                  <a:pt x="272" y="63"/>
                </a:lnTo>
                <a:cubicBezTo>
                  <a:pt x="212" y="22"/>
                  <a:pt x="142" y="0"/>
                  <a:pt x="77" y="1"/>
                </a:cubicBezTo>
                <a:lnTo>
                  <a:pt x="77" y="269"/>
                </a:lnTo>
                <a:cubicBezTo>
                  <a:pt x="79" y="269"/>
                  <a:pt x="82" y="269"/>
                  <a:pt x="84" y="269"/>
                </a:cubicBezTo>
                <a:cubicBezTo>
                  <a:pt x="147" y="269"/>
                  <a:pt x="214" y="287"/>
                  <a:pt x="272" y="319"/>
                </a:cubicBezTo>
                <a:close/>
                <a:moveTo>
                  <a:pt x="487" y="269"/>
                </a:moveTo>
                <a:lnTo>
                  <a:pt x="487" y="1"/>
                </a:lnTo>
                <a:cubicBezTo>
                  <a:pt x="422" y="0"/>
                  <a:pt x="352" y="22"/>
                  <a:pt x="292" y="63"/>
                </a:cubicBezTo>
                <a:lnTo>
                  <a:pt x="292" y="319"/>
                </a:lnTo>
                <a:cubicBezTo>
                  <a:pt x="350" y="287"/>
                  <a:pt x="417" y="269"/>
                  <a:pt x="480" y="269"/>
                </a:cubicBezTo>
                <a:cubicBezTo>
                  <a:pt x="482" y="269"/>
                  <a:pt x="485" y="269"/>
                  <a:pt x="487" y="269"/>
                </a:cubicBezTo>
                <a:close/>
                <a:moveTo>
                  <a:pt x="282" y="361"/>
                </a:moveTo>
                <a:cubicBezTo>
                  <a:pt x="362" y="318"/>
                  <a:pt x="451" y="299"/>
                  <a:pt x="531" y="302"/>
                </a:cubicBezTo>
                <a:lnTo>
                  <a:pt x="531" y="5"/>
                </a:lnTo>
                <a:cubicBezTo>
                  <a:pt x="521" y="5"/>
                  <a:pt x="511" y="5"/>
                  <a:pt x="501" y="5"/>
                </a:cubicBezTo>
                <a:lnTo>
                  <a:pt x="501" y="283"/>
                </a:lnTo>
                <a:lnTo>
                  <a:pt x="493" y="282"/>
                </a:lnTo>
                <a:cubicBezTo>
                  <a:pt x="488" y="282"/>
                  <a:pt x="483" y="282"/>
                  <a:pt x="478" y="282"/>
                </a:cubicBezTo>
                <a:cubicBezTo>
                  <a:pt x="414" y="282"/>
                  <a:pt x="346" y="301"/>
                  <a:pt x="287" y="337"/>
                </a:cubicBezTo>
                <a:lnTo>
                  <a:pt x="282" y="340"/>
                </a:lnTo>
                <a:lnTo>
                  <a:pt x="277" y="337"/>
                </a:lnTo>
                <a:cubicBezTo>
                  <a:pt x="218" y="301"/>
                  <a:pt x="150" y="282"/>
                  <a:pt x="86" y="282"/>
                </a:cubicBezTo>
                <a:cubicBezTo>
                  <a:pt x="81" y="282"/>
                  <a:pt x="76" y="282"/>
                  <a:pt x="71" y="282"/>
                </a:cubicBezTo>
                <a:lnTo>
                  <a:pt x="63" y="283"/>
                </a:lnTo>
                <a:lnTo>
                  <a:pt x="63" y="5"/>
                </a:lnTo>
                <a:cubicBezTo>
                  <a:pt x="53" y="5"/>
                  <a:pt x="43" y="5"/>
                  <a:pt x="33" y="5"/>
                </a:cubicBezTo>
                <a:lnTo>
                  <a:pt x="33" y="302"/>
                </a:lnTo>
                <a:cubicBezTo>
                  <a:pt x="113" y="299"/>
                  <a:pt x="202" y="318"/>
                  <a:pt x="282" y="361"/>
                </a:cubicBezTo>
                <a:close/>
              </a:path>
            </a:pathLst>
          </a:custGeom>
          <a:solidFill>
            <a:srgbClr val="01C0B0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grpSp>
        <p:nvGrpSpPr>
          <p:cNvPr id="7" name="组合 6"/>
          <p:cNvGrpSpPr/>
          <p:nvPr/>
        </p:nvGrpSpPr>
        <p:grpSpPr>
          <a:xfrm>
            <a:off x="265635" y="269251"/>
            <a:ext cx="438352" cy="621987"/>
            <a:chOff x="265635" y="269251"/>
            <a:chExt cx="438352" cy="621987"/>
          </a:xfrm>
        </p:grpSpPr>
        <p:sp>
          <p:nvSpPr>
            <p:cNvPr id="8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9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</p:spTree>
    <p:extLst>
      <p:ext uri="{BB962C8B-B14F-4D97-AF65-F5344CB8AC3E}">
        <p14:creationId xmlns:p14="http://schemas.microsoft.com/office/powerpoint/2010/main" val="187889030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标题 310273"/>
          <p:cNvSpPr>
            <a:spLocks noGrp="1"/>
          </p:cNvSpPr>
          <p:nvPr>
            <p:ph type="title"/>
          </p:nvPr>
        </p:nvSpPr>
        <p:spPr>
          <a:xfrm>
            <a:off x="875773" y="-27816"/>
            <a:ext cx="8336466" cy="1304974"/>
          </a:xfrm>
        </p:spPr>
        <p:txBody>
          <a:bodyPr anchor="ctr">
            <a:norm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硬布线控制器的基本原理</a:t>
            </a:r>
          </a:p>
        </p:txBody>
      </p:sp>
      <p:sp>
        <p:nvSpPr>
          <p:cNvPr id="310275" name="文本占位符 310274"/>
          <p:cNvSpPr>
            <a:spLocks noGrp="1"/>
          </p:cNvSpPr>
          <p:nvPr>
            <p:ph type="body" idx="1"/>
          </p:nvPr>
        </p:nvSpPr>
        <p:spPr>
          <a:xfrm>
            <a:off x="526275" y="2197290"/>
            <a:ext cx="4308050" cy="3330053"/>
          </a:xfrm>
          <a:noFill/>
          <a:ln w="28575">
            <a:solidFill>
              <a:srgbClr val="01C0B0"/>
            </a:solidFill>
          </a:ln>
        </p:spPr>
        <p:txBody>
          <a:bodyPr>
            <a:normAutofit/>
          </a:bodyPr>
          <a:lstStyle/>
          <a:p>
            <a:pPr marL="0" indent="0">
              <a:lnSpc>
                <a:spcPct val="300000"/>
              </a:lnSpc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控制器的基本组成结构图。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300000"/>
              </a:lnSpc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核心部件：操作控制器。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265635" y="269251"/>
            <a:ext cx="438352" cy="621987"/>
            <a:chOff x="265635" y="269251"/>
            <a:chExt cx="438352" cy="621987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1824" y="453244"/>
            <a:ext cx="8770247" cy="624604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8022" y="389643"/>
            <a:ext cx="5994022" cy="6260873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6301" y="389643"/>
            <a:ext cx="6157647" cy="6319193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2561" y="661247"/>
            <a:ext cx="2796498" cy="2424549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4815" y="597280"/>
            <a:ext cx="3046932" cy="2700413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57748" y="527052"/>
            <a:ext cx="2999232" cy="2723749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30178" y="1481970"/>
            <a:ext cx="1710945" cy="552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35834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4892" y="676381"/>
            <a:ext cx="8512424" cy="5998611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9460" y="2025358"/>
            <a:ext cx="1951093" cy="279581"/>
          </a:xfrm>
          <a:prstGeom prst="rect">
            <a:avLst/>
          </a:prstGeom>
        </p:spPr>
      </p:pic>
      <p:pic>
        <p:nvPicPr>
          <p:cNvPr id="82" name="图片 8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9460" y="2451087"/>
            <a:ext cx="1951093" cy="279581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2911" y="3016489"/>
            <a:ext cx="1034162" cy="282266"/>
          </a:xfrm>
          <a:prstGeom prst="rect">
            <a:avLst/>
          </a:prstGeom>
        </p:spPr>
      </p:pic>
      <p:pic>
        <p:nvPicPr>
          <p:cNvPr id="84" name="图片 8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8114" y="3213117"/>
            <a:ext cx="1034162" cy="282266"/>
          </a:xfrm>
          <a:prstGeom prst="rect">
            <a:avLst/>
          </a:prstGeom>
        </p:spPr>
      </p:pic>
      <p:pic>
        <p:nvPicPr>
          <p:cNvPr id="85" name="图片 8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8114" y="3950505"/>
            <a:ext cx="1034162" cy="28226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57446" y="4126524"/>
            <a:ext cx="291506" cy="1075850"/>
          </a:xfrm>
          <a:prstGeom prst="rect">
            <a:avLst/>
          </a:prstGeom>
        </p:spPr>
      </p:pic>
      <p:pic>
        <p:nvPicPr>
          <p:cNvPr id="87" name="图片 8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8395" y="4126524"/>
            <a:ext cx="291506" cy="1075850"/>
          </a:xfrm>
          <a:prstGeom prst="rect">
            <a:avLst/>
          </a:prstGeom>
        </p:spPr>
      </p:pic>
      <p:pic>
        <p:nvPicPr>
          <p:cNvPr id="88" name="图片 8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0003" y="4126524"/>
            <a:ext cx="291506" cy="1075850"/>
          </a:xfrm>
          <a:prstGeom prst="rect">
            <a:avLst/>
          </a:prstGeom>
        </p:spPr>
      </p:pic>
      <p:pic>
        <p:nvPicPr>
          <p:cNvPr id="89" name="图片 8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2610" y="4126523"/>
            <a:ext cx="291506" cy="1075850"/>
          </a:xfrm>
          <a:prstGeom prst="rect">
            <a:avLst/>
          </a:prstGeom>
        </p:spPr>
      </p:pic>
      <p:grpSp>
        <p:nvGrpSpPr>
          <p:cNvPr id="13" name="组合 12"/>
          <p:cNvGrpSpPr/>
          <p:nvPr/>
        </p:nvGrpSpPr>
        <p:grpSpPr>
          <a:xfrm>
            <a:off x="265635" y="269251"/>
            <a:ext cx="438352" cy="621987"/>
            <a:chOff x="265635" y="269251"/>
            <a:chExt cx="438352" cy="621987"/>
          </a:xfrm>
        </p:grpSpPr>
        <p:sp>
          <p:nvSpPr>
            <p:cNvPr id="14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5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6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  <p:sp>
        <p:nvSpPr>
          <p:cNvPr id="17" name="标题 313380"/>
          <p:cNvSpPr txBox="1">
            <a:spLocks/>
          </p:cNvSpPr>
          <p:nvPr/>
        </p:nvSpPr>
        <p:spPr>
          <a:xfrm>
            <a:off x="875773" y="432717"/>
            <a:ext cx="5789612" cy="590931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i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altLang="zh-CN" sz="3600" b="1" i="1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sz="36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f ( </a:t>
            </a:r>
            <a:r>
              <a:rPr lang="en-US" altLang="zh-CN" sz="3600" b="1" i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3600" b="1" i="1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en-US" altLang="zh-CN" sz="3600" b="1" i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36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en-US" altLang="zh-CN" sz="3600" b="1" i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en-US" altLang="zh-CN" sz="3600" b="1" i="1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3600" b="1" i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36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en-US" altLang="zh-CN" sz="3600" b="1" i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3600" b="1" i="1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CN" sz="3600" b="1" i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36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en-US" altLang="zh-CN" sz="3600" b="1" i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en-US" altLang="zh-CN" sz="3600" b="1" i="1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en-US" altLang="zh-CN" sz="3600" b="1" i="1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36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3997568" y="2133601"/>
            <a:ext cx="513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...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9643767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2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2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2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2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98" y="-38111"/>
            <a:ext cx="10515600" cy="1325563"/>
          </a:xfrm>
        </p:spPr>
        <p:txBody>
          <a:bodyPr/>
          <a:lstStyle/>
          <a:p>
            <a:pPr algn="l"/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硬布线控制器设计举例</a:t>
            </a:r>
          </a:p>
        </p:txBody>
      </p:sp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9555203"/>
              </p:ext>
            </p:extLst>
          </p:nvPr>
        </p:nvGraphicFramePr>
        <p:xfrm>
          <a:off x="1789982" y="2421868"/>
          <a:ext cx="8612033" cy="33139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0900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10302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556648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20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助记符</a:t>
                      </a:r>
                      <a:endParaRPr lang="zh-CN" altLang="en-US" sz="2000" b="1" i="0" u="none" strike="noStrike" dirty="0">
                        <a:solidFill>
                          <a:srgbClr val="1D528D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20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操作描述与功能说明</a:t>
                      </a:r>
                      <a:endParaRPr lang="zh-CN" altLang="en-US" sz="2000" b="1" i="0" u="none" strike="noStrike" dirty="0">
                        <a:solidFill>
                          <a:srgbClr val="1D528D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566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1" u="none" strike="noStrike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LDA n</a:t>
                      </a:r>
                      <a:endParaRPr lang="en-US" sz="2000" b="1" i="0" u="none" strike="noStrike" dirty="0">
                        <a:solidFill>
                          <a:srgbClr val="0000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2000" b="1" u="none" strike="noStrike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AC←n</a:t>
                      </a:r>
                      <a:r>
                        <a:rPr lang="zh-CN" altLang="en-US" sz="20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，把立即数</a:t>
                      </a:r>
                      <a:r>
                        <a:rPr lang="en-US" altLang="zh-CN" sz="20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</a:t>
                      </a:r>
                      <a:r>
                        <a:rPr lang="zh-CN" altLang="en-US" sz="20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传送给累加寄存器</a:t>
                      </a:r>
                      <a:r>
                        <a:rPr lang="en-US" altLang="zh-CN" sz="20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AC</a:t>
                      </a:r>
                      <a:endParaRPr lang="en-US" altLang="zh-CN" sz="2000" b="1" i="0" u="none" strike="noStrike" dirty="0">
                        <a:solidFill>
                          <a:srgbClr val="1D528D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08732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1" u="none" strike="noStrike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ADD [X]</a:t>
                      </a:r>
                      <a:endParaRPr lang="en-US" sz="2000" b="1" i="0" u="none" strike="noStrike" dirty="0">
                        <a:solidFill>
                          <a:srgbClr val="0000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20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AC←(AC)+(X)</a:t>
                      </a:r>
                      <a:r>
                        <a:rPr lang="zh-CN" altLang="en-US" sz="20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20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AC</a:t>
                      </a:r>
                      <a:r>
                        <a:rPr lang="zh-CN" altLang="en-US" sz="20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的内容与存储单元</a:t>
                      </a:r>
                      <a:r>
                        <a:rPr lang="en-US" altLang="zh-CN" sz="20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r>
                        <a:rPr lang="zh-CN" altLang="en-US" sz="20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的内容相加送</a:t>
                      </a:r>
                      <a:r>
                        <a:rPr lang="en-US" altLang="zh-CN" sz="20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AC</a:t>
                      </a:r>
                      <a:endParaRPr lang="en-US" altLang="zh-CN" sz="2000" b="1" i="0" u="none" strike="noStrike" dirty="0">
                        <a:solidFill>
                          <a:srgbClr val="1D528D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566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1" u="none" strike="noStrike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STR [X]</a:t>
                      </a:r>
                      <a:endParaRPr lang="en-US" sz="2000" b="1" i="0" u="none" strike="noStrike" dirty="0">
                        <a:solidFill>
                          <a:srgbClr val="0000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2000" b="1" u="none" strike="noStrike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(X)←AC</a:t>
                      </a:r>
                      <a:r>
                        <a:rPr lang="zh-CN" altLang="en-US" sz="2000" b="1" u="none" strike="noStrike" dirty="0" smtClean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20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AC</a:t>
                      </a:r>
                      <a:r>
                        <a:rPr lang="zh-CN" altLang="en-US" sz="20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的内容存入存储单元</a:t>
                      </a:r>
                      <a:r>
                        <a:rPr lang="en-US" altLang="zh-CN" sz="20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en-US" altLang="zh-CN" sz="2000" b="1" i="0" u="none" strike="noStrike" dirty="0">
                        <a:solidFill>
                          <a:srgbClr val="1D528D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5566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1" u="none" strike="noStrike" dirty="0"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JMP  X</a:t>
                      </a:r>
                      <a:endParaRPr lang="en-US" sz="2000" b="1" i="0" u="none" strike="noStrike" dirty="0">
                        <a:solidFill>
                          <a:srgbClr val="0000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0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PC←X，</a:t>
                      </a:r>
                      <a:r>
                        <a:rPr lang="zh-CN" altLang="en-US" sz="2000" b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实现转移</a:t>
                      </a:r>
                      <a:endParaRPr lang="zh-CN" altLang="en-US" sz="2000" b="1" i="0" u="none" strike="noStrike" dirty="0">
                        <a:solidFill>
                          <a:srgbClr val="1D528D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文本框 18"/>
          <p:cNvSpPr txBox="1"/>
          <p:nvPr/>
        </p:nvSpPr>
        <p:spPr>
          <a:xfrm>
            <a:off x="4346622" y="1612105"/>
            <a:ext cx="32216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模型机的指令系统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265635" y="269251"/>
            <a:ext cx="438352" cy="621987"/>
            <a:chOff x="265635" y="269251"/>
            <a:chExt cx="438352" cy="621987"/>
          </a:xfrm>
        </p:grpSpPr>
        <p:sp>
          <p:nvSpPr>
            <p:cNvPr id="7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</p:spTree>
    <p:extLst>
      <p:ext uri="{BB962C8B-B14F-4D97-AF65-F5344CB8AC3E}">
        <p14:creationId xmlns:p14="http://schemas.microsoft.com/office/powerpoint/2010/main" val="3609633489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723" y="1287719"/>
            <a:ext cx="8329307" cy="5208211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712163" y="826055"/>
            <a:ext cx="6251585" cy="461665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1A1AFF"/>
                </a:solidFill>
              </a:rPr>
              <a:t>ABUS</a:t>
            </a:r>
            <a:r>
              <a:rPr lang="zh-CN" altLang="en-US" sz="2400" b="1" dirty="0">
                <a:solidFill>
                  <a:srgbClr val="1A1AFF"/>
                </a:solidFill>
              </a:rPr>
              <a:t>←</a:t>
            </a:r>
            <a:r>
              <a:rPr lang="en-US" altLang="zh-CN" sz="2400" b="1" dirty="0">
                <a:solidFill>
                  <a:srgbClr val="1A1AFF"/>
                </a:solidFill>
              </a:rPr>
              <a:t>AR </a:t>
            </a:r>
            <a:r>
              <a:rPr lang="en-US" altLang="zh-CN" sz="2400" dirty="0">
                <a:solidFill>
                  <a:schemeClr val="tx2"/>
                </a:solidFill>
              </a:rPr>
              <a:t>=</a:t>
            </a:r>
            <a:r>
              <a:rPr lang="en-US" altLang="zh-CN" sz="2400" dirty="0">
                <a:solidFill>
                  <a:srgbClr val="FF0000"/>
                </a:solidFill>
              </a:rPr>
              <a:t> </a:t>
            </a:r>
            <a:r>
              <a:rPr lang="en-US" altLang="zh-CN" sz="2400" b="1" dirty="0">
                <a:solidFill>
                  <a:srgbClr val="1A1AFF"/>
                </a:solidFill>
              </a:rPr>
              <a:t>M</a:t>
            </a:r>
            <a:r>
              <a:rPr lang="en-US" altLang="zh-CN" sz="2400" b="1" baseline="-25000" dirty="0">
                <a:solidFill>
                  <a:srgbClr val="1A1AFF"/>
                </a:solidFill>
              </a:rPr>
              <a:t>1</a:t>
            </a:r>
            <a:r>
              <a:rPr lang="en-US" altLang="zh-CN" sz="2400" b="1" dirty="0">
                <a:solidFill>
                  <a:srgbClr val="1A1AFF"/>
                </a:solidFill>
              </a:rPr>
              <a:t>.T</a:t>
            </a:r>
            <a:r>
              <a:rPr lang="en-US" altLang="zh-CN" sz="2400" b="1" baseline="-25000" dirty="0">
                <a:solidFill>
                  <a:srgbClr val="1A1AFF"/>
                </a:solidFill>
              </a:rPr>
              <a:t>2 </a:t>
            </a:r>
            <a:r>
              <a:rPr lang="en-US" altLang="zh-CN" sz="2400" b="1" dirty="0">
                <a:solidFill>
                  <a:srgbClr val="1A1AFF"/>
                </a:solidFill>
              </a:rPr>
              <a:t>+ M</a:t>
            </a:r>
            <a:r>
              <a:rPr lang="en-US" altLang="zh-CN" sz="2400" b="1" baseline="-25000" dirty="0">
                <a:solidFill>
                  <a:srgbClr val="1A1AFF"/>
                </a:solidFill>
              </a:rPr>
              <a:t>2 </a:t>
            </a:r>
            <a:r>
              <a:rPr lang="en-US" altLang="zh-CN" sz="2400" b="1" dirty="0">
                <a:solidFill>
                  <a:srgbClr val="1A1AFF"/>
                </a:solidFill>
              </a:rPr>
              <a:t>( ADD.T</a:t>
            </a:r>
            <a:r>
              <a:rPr lang="en-US" altLang="zh-CN" sz="2400" b="1" baseline="-25000" dirty="0">
                <a:solidFill>
                  <a:srgbClr val="1A1AFF"/>
                </a:solidFill>
              </a:rPr>
              <a:t>2 </a:t>
            </a:r>
            <a:r>
              <a:rPr lang="en-US" altLang="zh-CN" sz="2400" b="1" dirty="0">
                <a:solidFill>
                  <a:srgbClr val="1A1AFF"/>
                </a:solidFill>
              </a:rPr>
              <a:t>+ STR.T</a:t>
            </a:r>
            <a:r>
              <a:rPr lang="en-US" altLang="zh-CN" sz="2400" b="1" baseline="-25000" dirty="0">
                <a:solidFill>
                  <a:srgbClr val="1A1AFF"/>
                </a:solidFill>
              </a:rPr>
              <a:t>3 </a:t>
            </a:r>
            <a:r>
              <a:rPr lang="en-US" altLang="zh-CN" sz="2400" b="1" dirty="0">
                <a:solidFill>
                  <a:srgbClr val="1A1AFF"/>
                </a:solidFill>
              </a:rPr>
              <a:t>)</a:t>
            </a:r>
            <a:endParaRPr lang="zh-CN" altLang="en-US" sz="2400" b="1" dirty="0">
              <a:solidFill>
                <a:srgbClr val="1A1AFF"/>
              </a:solidFill>
            </a:endParaRPr>
          </a:p>
        </p:txBody>
      </p:sp>
      <p:cxnSp>
        <p:nvCxnSpPr>
          <p:cNvPr id="19" name="直接箭头连接符 18"/>
          <p:cNvCxnSpPr/>
          <p:nvPr/>
        </p:nvCxnSpPr>
        <p:spPr>
          <a:xfrm flipV="1">
            <a:off x="3766782" y="1293749"/>
            <a:ext cx="3682766" cy="305988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 flipV="1">
            <a:off x="5936776" y="1307396"/>
            <a:ext cx="1565233" cy="305988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 flipV="1">
            <a:off x="4053385" y="1266455"/>
            <a:ext cx="3343702" cy="110158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标题 315393"/>
          <p:cNvSpPr txBox="1"/>
          <p:nvPr/>
        </p:nvSpPr>
        <p:spPr>
          <a:xfrm>
            <a:off x="8328244" y="4471338"/>
            <a:ext cx="3298355" cy="503237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marL="0" lvl="0" indent="0" algn="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(1)画出指令流程</a:t>
            </a:r>
            <a:endParaRPr lang="en-US" altLang="zh-CN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标题 316417"/>
          <p:cNvSpPr>
            <a:spLocks noGrp="1"/>
          </p:cNvSpPr>
          <p:nvPr>
            <p:ph type="title"/>
          </p:nvPr>
        </p:nvSpPr>
        <p:spPr>
          <a:xfrm>
            <a:off x="8809491" y="3373289"/>
            <a:ext cx="3210201" cy="762000"/>
          </a:xfrm>
        </p:spPr>
        <p:txBody>
          <a:bodyPr anchor="ctr">
            <a:noAutofit/>
          </a:bodyPr>
          <a:lstStyle/>
          <a:p>
            <a:pPr algn="l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(2)进行逻辑综合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标题 1"/>
          <p:cNvSpPr txBox="1"/>
          <p:nvPr/>
        </p:nvSpPr>
        <p:spPr>
          <a:xfrm>
            <a:off x="842820" y="291659"/>
            <a:ext cx="8432800" cy="5334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marL="0" lvl="0" indent="0" algn="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硬布线控制器设计举例</a:t>
            </a:r>
          </a:p>
        </p:txBody>
      </p:sp>
      <p:grpSp>
        <p:nvGrpSpPr>
          <p:cNvPr id="24" name="组合 23"/>
          <p:cNvGrpSpPr/>
          <p:nvPr/>
        </p:nvGrpSpPr>
        <p:grpSpPr>
          <a:xfrm>
            <a:off x="265635" y="269251"/>
            <a:ext cx="438352" cy="621987"/>
            <a:chOff x="265635" y="269251"/>
            <a:chExt cx="438352" cy="621987"/>
          </a:xfrm>
        </p:grpSpPr>
        <p:sp>
          <p:nvSpPr>
            <p:cNvPr id="25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26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27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6518031" y="4298395"/>
            <a:ext cx="504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0000FF"/>
                </a:solidFill>
              </a:rPr>
              <a:t>RD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687579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animBg="1"/>
      <p:bldP spid="38" grpId="0"/>
      <p:bldP spid="3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835219" y="117693"/>
            <a:ext cx="7904535" cy="6740307"/>
          </a:xfrm>
          <a:prstGeom prst="rect">
            <a:avLst/>
          </a:prstGeom>
          <a:ln w="28575">
            <a:solidFill>
              <a:srgbClr val="01C0B0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该模型机微操作控制信号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的全部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逻辑表达式，如下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AR←PC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＝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M1•T1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PC+1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＝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M1•T1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ABUS←AR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＝</a:t>
            </a:r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M1•T2+ M2(ADD•T2+STR•T3)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RD = (M1 + ADD•M2) T2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DR←DBUS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＝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(M1 + ADD•M2) T3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IR←DR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＝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M1•T4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DR←IR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＝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LDA•M2•T1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AR←IR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＝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(ADD+ STR)•M2•T1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PC←IR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＝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JMP•M2•T1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ALU←DR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＝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LDA•M2•T2 +ADD•M3•T1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DR←AC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＝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STR•M2•T2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＝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LDA•M2•T3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AC←ALU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＝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(LDA•M2 +ADD•M3)T3</a:t>
            </a:r>
          </a:p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DBUS←DR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＝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STR•M2•T4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WR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＝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STR•M2•T4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ALU←AC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＝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ADD•M3•T1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ADD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＝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ADD•M3•T2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</p:txBody>
      </p:sp>
      <p:grpSp>
        <p:nvGrpSpPr>
          <p:cNvPr id="5" name="组合 4"/>
          <p:cNvGrpSpPr/>
          <p:nvPr/>
        </p:nvGrpSpPr>
        <p:grpSpPr>
          <a:xfrm rot="10800000">
            <a:off x="999934" y="1252923"/>
            <a:ext cx="438352" cy="621987"/>
            <a:chOff x="265635" y="269251"/>
            <a:chExt cx="438352" cy="621987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  <p:grpSp>
        <p:nvGrpSpPr>
          <p:cNvPr id="9" name="组合 8"/>
          <p:cNvGrpSpPr/>
          <p:nvPr/>
        </p:nvGrpSpPr>
        <p:grpSpPr>
          <a:xfrm rot="11079745">
            <a:off x="971431" y="4239233"/>
            <a:ext cx="438352" cy="621987"/>
            <a:chOff x="265635" y="269251"/>
            <a:chExt cx="438352" cy="621987"/>
          </a:xfrm>
        </p:grpSpPr>
        <p:sp>
          <p:nvSpPr>
            <p:cNvPr id="10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1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2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10312423" y="1252923"/>
            <a:ext cx="438352" cy="621987"/>
            <a:chOff x="265635" y="269251"/>
            <a:chExt cx="438352" cy="621987"/>
          </a:xfrm>
        </p:grpSpPr>
        <p:sp>
          <p:nvSpPr>
            <p:cNvPr id="14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5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6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0223567" y="4283659"/>
            <a:ext cx="438352" cy="621987"/>
            <a:chOff x="265635" y="269251"/>
            <a:chExt cx="438352" cy="621987"/>
          </a:xfrm>
        </p:grpSpPr>
        <p:sp>
          <p:nvSpPr>
            <p:cNvPr id="18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9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20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</p:spTree>
    <p:extLst>
      <p:ext uri="{BB962C8B-B14F-4D97-AF65-F5344CB8AC3E}">
        <p14:creationId xmlns:p14="http://schemas.microsoft.com/office/powerpoint/2010/main" val="285172425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83"/>
          <p:cNvSpPr>
            <a:spLocks noChangeArrowheads="1"/>
          </p:cNvSpPr>
          <p:nvPr/>
        </p:nvSpPr>
        <p:spPr bwMode="auto">
          <a:xfrm>
            <a:off x="703987" y="2211480"/>
            <a:ext cx="4533031" cy="4095486"/>
          </a:xfrm>
          <a:prstGeom prst="rect">
            <a:avLst/>
          </a:prstGeom>
          <a:solidFill>
            <a:srgbClr val="F2F2F2"/>
          </a:solidFill>
          <a:ln w="9525" cmpd="sng">
            <a:solidFill>
              <a:schemeClr val="accent1"/>
            </a:solidFill>
            <a:miter lim="800000"/>
            <a:headEnd/>
            <a:tailEnd/>
          </a:ln>
        </p:spPr>
        <p:txBody>
          <a:bodyPr lIns="91398" tIns="45699" rIns="91398" bIns="45699"/>
          <a:lstStyle/>
          <a:p>
            <a:endParaRPr lang="zh-CN" altLang="en-US" sz="1799"/>
          </a:p>
        </p:txBody>
      </p:sp>
      <p:sp>
        <p:nvSpPr>
          <p:cNvPr id="14" name="Freeform 12"/>
          <p:cNvSpPr>
            <a:spLocks/>
          </p:cNvSpPr>
          <p:nvPr/>
        </p:nvSpPr>
        <p:spPr bwMode="auto">
          <a:xfrm>
            <a:off x="580707" y="2132844"/>
            <a:ext cx="528432" cy="530018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04BEB0"/>
          </a:solidFill>
          <a:ln>
            <a:noFill/>
          </a:ln>
          <a:extLst/>
        </p:spPr>
        <p:txBody>
          <a:bodyPr lIns="91398" tIns="45699" rIns="91398" bIns="45699"/>
          <a:lstStyle/>
          <a:p>
            <a:endParaRPr lang="zh-CN" altLang="en-US" sz="1799"/>
          </a:p>
        </p:txBody>
      </p:sp>
      <p:sp>
        <p:nvSpPr>
          <p:cNvPr id="15" name="Freeform 12"/>
          <p:cNvSpPr>
            <a:spLocks/>
          </p:cNvSpPr>
          <p:nvPr/>
        </p:nvSpPr>
        <p:spPr bwMode="auto">
          <a:xfrm flipH="1" flipV="1">
            <a:off x="4760785" y="5855584"/>
            <a:ext cx="528432" cy="530018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04BEB0"/>
          </a:solidFill>
          <a:ln>
            <a:noFill/>
          </a:ln>
          <a:extLst/>
        </p:spPr>
        <p:txBody>
          <a:bodyPr lIns="91398" tIns="45699" rIns="91398" bIns="45699"/>
          <a:lstStyle/>
          <a:p>
            <a:endParaRPr lang="zh-CN" altLang="en-US" sz="1799"/>
          </a:p>
        </p:txBody>
      </p:sp>
      <p:sp>
        <p:nvSpPr>
          <p:cNvPr id="317443" name="文本占位符 317442"/>
          <p:cNvSpPr>
            <a:spLocks noGrp="1"/>
          </p:cNvSpPr>
          <p:nvPr>
            <p:ph type="body" idx="1"/>
          </p:nvPr>
        </p:nvSpPr>
        <p:spPr>
          <a:xfrm>
            <a:off x="1031675" y="2290116"/>
            <a:ext cx="4100946" cy="3859935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(3)进行逻辑设计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根据各信号的逻辑表达式即可设计出各信号的逻辑电路，将它们全部综合在一起，即构成了一个庞大的组合逻辑网络。</a:t>
            </a:r>
          </a:p>
        </p:txBody>
      </p:sp>
      <p:sp>
        <p:nvSpPr>
          <p:cNvPr id="317446" name="矩形 317445"/>
          <p:cNvSpPr/>
          <p:nvPr/>
        </p:nvSpPr>
        <p:spPr>
          <a:xfrm>
            <a:off x="5727342" y="5906855"/>
            <a:ext cx="5533887" cy="40011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1D528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产生微操作控制信号 </a:t>
            </a:r>
            <a:r>
              <a:rPr lang="en-US" altLang="zh-CN" sz="2000" b="1" dirty="0">
                <a:solidFill>
                  <a:srgbClr val="1D528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ABUS←AR </a:t>
            </a:r>
            <a:r>
              <a:rPr lang="zh-CN" altLang="en-US" sz="2000" b="1" dirty="0">
                <a:solidFill>
                  <a:srgbClr val="1D528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组合逻辑电路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7342" y="2290116"/>
            <a:ext cx="5765049" cy="3149579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1423" y="3874075"/>
            <a:ext cx="1335689" cy="431995"/>
          </a:xfrm>
          <a:prstGeom prst="rect">
            <a:avLst/>
          </a:prstGeom>
        </p:spPr>
      </p:pic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707937" y="338274"/>
            <a:ext cx="8432800" cy="533400"/>
          </a:xfrm>
        </p:spPr>
        <p:txBody>
          <a:bodyPr>
            <a:normAutofit/>
          </a:bodyPr>
          <a:lstStyle/>
          <a:p>
            <a:pPr algn="l"/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硬布线控制器设计举例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03987" y="1054223"/>
            <a:ext cx="8888645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400" b="1" dirty="0">
                <a:solidFill>
                  <a:srgbClr val="1A1A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ABUS</a:t>
            </a:r>
            <a:r>
              <a:rPr lang="zh-CN" altLang="en-US" sz="2400" b="1" dirty="0">
                <a:solidFill>
                  <a:srgbClr val="1A1A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←</a:t>
            </a:r>
            <a:r>
              <a:rPr lang="en-US" altLang="zh-CN" sz="2400" b="1" dirty="0">
                <a:solidFill>
                  <a:srgbClr val="1A1A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AR </a:t>
            </a:r>
            <a:r>
              <a:rPr lang="en-US" altLang="zh-CN" sz="2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=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en-US" altLang="zh-CN" sz="2400" b="1" dirty="0">
                <a:solidFill>
                  <a:srgbClr val="1A1A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</a:t>
            </a:r>
            <a:r>
              <a:rPr lang="en-US" altLang="zh-CN" sz="2400" b="1" baseline="-25000" dirty="0">
                <a:solidFill>
                  <a:srgbClr val="1A1A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en-US" altLang="zh-CN" sz="2400" b="1" dirty="0">
                <a:solidFill>
                  <a:srgbClr val="1A1A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.T</a:t>
            </a:r>
            <a:r>
              <a:rPr lang="en-US" altLang="zh-CN" sz="2400" b="1" baseline="-25000" dirty="0">
                <a:solidFill>
                  <a:srgbClr val="1A1A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 </a:t>
            </a:r>
            <a:r>
              <a:rPr lang="en-US" altLang="zh-CN" sz="2400" b="1" dirty="0">
                <a:solidFill>
                  <a:srgbClr val="1A1A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 M</a:t>
            </a:r>
            <a:r>
              <a:rPr lang="en-US" altLang="zh-CN" sz="2400" b="1" baseline="-25000" dirty="0">
                <a:solidFill>
                  <a:srgbClr val="1A1A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 </a:t>
            </a:r>
            <a:r>
              <a:rPr lang="en-US" altLang="zh-CN" sz="2400" b="1" dirty="0">
                <a:solidFill>
                  <a:srgbClr val="1A1A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 ADD.T</a:t>
            </a:r>
            <a:r>
              <a:rPr lang="en-US" altLang="zh-CN" sz="2400" b="1" baseline="-25000" dirty="0">
                <a:solidFill>
                  <a:srgbClr val="1A1A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 </a:t>
            </a:r>
            <a:r>
              <a:rPr lang="en-US" altLang="zh-CN" sz="2400" b="1" dirty="0">
                <a:solidFill>
                  <a:srgbClr val="1A1A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 STR.T</a:t>
            </a:r>
            <a:r>
              <a:rPr lang="en-US" altLang="zh-CN" sz="2400" b="1" baseline="-25000" dirty="0">
                <a:solidFill>
                  <a:srgbClr val="1A1A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 </a:t>
            </a:r>
            <a:r>
              <a:rPr lang="en-US" altLang="zh-CN" sz="2400" b="1" dirty="0">
                <a:solidFill>
                  <a:srgbClr val="1A1A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265635" y="269251"/>
            <a:ext cx="438352" cy="621987"/>
            <a:chOff x="265635" y="269251"/>
            <a:chExt cx="438352" cy="621987"/>
          </a:xfrm>
        </p:grpSpPr>
        <p:sp>
          <p:nvSpPr>
            <p:cNvPr id="9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0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2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7303477" y="2041663"/>
            <a:ext cx="785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/>
              <a:t>与门</a:t>
            </a:r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9272335" y="2323321"/>
            <a:ext cx="785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或</a:t>
            </a:r>
            <a:r>
              <a:rPr lang="zh-CN" altLang="en-US" dirty="0" smtClean="0"/>
              <a:t>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4720409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3" grpId="2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947757" y="2340487"/>
            <a:ext cx="6598050" cy="1698614"/>
          </a:xfrm>
          <a:prstGeom prst="rect">
            <a:avLst/>
          </a:prstGeom>
          <a:solidFill>
            <a:srgbClr val="02B9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483441" y="2541722"/>
            <a:ext cx="3868499" cy="1296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7" rIns="91434" bIns="45717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9pPr>
          </a:lstStyle>
          <a:p>
            <a:pPr algn="dist"/>
            <a:r>
              <a:rPr lang="zh-CN" altLang="en-US" sz="6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谢谢！</a:t>
            </a:r>
            <a:endParaRPr lang="en-US" altLang="zh-CN" sz="6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353950" y="5153618"/>
            <a:ext cx="2835079" cy="81520"/>
          </a:xfrm>
          <a:prstGeom prst="rect">
            <a:avLst/>
          </a:prstGeom>
          <a:solidFill>
            <a:srgbClr val="01C0B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7620664" y="5153618"/>
            <a:ext cx="2831571" cy="815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8885806" y="5153618"/>
            <a:ext cx="2835079" cy="8152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0152517" y="5153618"/>
            <a:ext cx="2039483" cy="8152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12" name="Freeform 9"/>
          <p:cNvSpPr>
            <a:spLocks noEditPoints="1"/>
          </p:cNvSpPr>
          <p:nvPr/>
        </p:nvSpPr>
        <p:spPr bwMode="auto">
          <a:xfrm>
            <a:off x="10057335" y="4692974"/>
            <a:ext cx="373115" cy="374683"/>
          </a:xfrm>
          <a:custGeom>
            <a:avLst/>
            <a:gdLst>
              <a:gd name="T0" fmla="*/ 358 w 490"/>
              <a:gd name="T1" fmla="*/ 250 h 490"/>
              <a:gd name="T2" fmla="*/ 358 w 490"/>
              <a:gd name="T3" fmla="*/ 183 h 490"/>
              <a:gd name="T4" fmla="*/ 328 w 490"/>
              <a:gd name="T5" fmla="*/ 183 h 490"/>
              <a:gd name="T6" fmla="*/ 328 w 490"/>
              <a:gd name="T7" fmla="*/ 250 h 490"/>
              <a:gd name="T8" fmla="*/ 247 w 490"/>
              <a:gd name="T9" fmla="*/ 330 h 490"/>
              <a:gd name="T10" fmla="*/ 246 w 490"/>
              <a:gd name="T11" fmla="*/ 330 h 490"/>
              <a:gd name="T12" fmla="*/ 245 w 490"/>
              <a:gd name="T13" fmla="*/ 330 h 490"/>
              <a:gd name="T14" fmla="*/ 245 w 490"/>
              <a:gd name="T15" fmla="*/ 330 h 490"/>
              <a:gd name="T16" fmla="*/ 243 w 490"/>
              <a:gd name="T17" fmla="*/ 330 h 490"/>
              <a:gd name="T18" fmla="*/ 162 w 490"/>
              <a:gd name="T19" fmla="*/ 250 h 490"/>
              <a:gd name="T20" fmla="*/ 162 w 490"/>
              <a:gd name="T21" fmla="*/ 183 h 490"/>
              <a:gd name="T22" fmla="*/ 132 w 490"/>
              <a:gd name="T23" fmla="*/ 183 h 490"/>
              <a:gd name="T24" fmla="*/ 132 w 490"/>
              <a:gd name="T25" fmla="*/ 250 h 490"/>
              <a:gd name="T26" fmla="*/ 227 w 490"/>
              <a:gd name="T27" fmla="*/ 359 h 490"/>
              <a:gd name="T28" fmla="*/ 227 w 490"/>
              <a:gd name="T29" fmla="*/ 407 h 490"/>
              <a:gd name="T30" fmla="*/ 160 w 490"/>
              <a:gd name="T31" fmla="*/ 426 h 490"/>
              <a:gd name="T32" fmla="*/ 331 w 490"/>
              <a:gd name="T33" fmla="*/ 426 h 490"/>
              <a:gd name="T34" fmla="*/ 263 w 490"/>
              <a:gd name="T35" fmla="*/ 407 h 490"/>
              <a:gd name="T36" fmla="*/ 263 w 490"/>
              <a:gd name="T37" fmla="*/ 360 h 490"/>
              <a:gd name="T38" fmla="*/ 358 w 490"/>
              <a:gd name="T39" fmla="*/ 250 h 490"/>
              <a:gd name="T40" fmla="*/ 244 w 490"/>
              <a:gd name="T41" fmla="*/ 302 h 490"/>
              <a:gd name="T42" fmla="*/ 245 w 490"/>
              <a:gd name="T43" fmla="*/ 302 h 490"/>
              <a:gd name="T44" fmla="*/ 246 w 490"/>
              <a:gd name="T45" fmla="*/ 302 h 490"/>
              <a:gd name="T46" fmla="*/ 300 w 490"/>
              <a:gd name="T47" fmla="*/ 248 h 490"/>
              <a:gd name="T48" fmla="*/ 300 w 490"/>
              <a:gd name="T49" fmla="*/ 118 h 490"/>
              <a:gd name="T50" fmla="*/ 246 w 490"/>
              <a:gd name="T51" fmla="*/ 64 h 490"/>
              <a:gd name="T52" fmla="*/ 245 w 490"/>
              <a:gd name="T53" fmla="*/ 64 h 490"/>
              <a:gd name="T54" fmla="*/ 244 w 490"/>
              <a:gd name="T55" fmla="*/ 64 h 490"/>
              <a:gd name="T56" fmla="*/ 190 w 490"/>
              <a:gd name="T57" fmla="*/ 118 h 490"/>
              <a:gd name="T58" fmla="*/ 190 w 490"/>
              <a:gd name="T59" fmla="*/ 248 h 490"/>
              <a:gd name="T60" fmla="*/ 244 w 490"/>
              <a:gd name="T61" fmla="*/ 302 h 490"/>
              <a:gd name="T62" fmla="*/ 245 w 490"/>
              <a:gd name="T63" fmla="*/ 0 h 490"/>
              <a:gd name="T64" fmla="*/ 490 w 490"/>
              <a:gd name="T65" fmla="*/ 245 h 490"/>
              <a:gd name="T66" fmla="*/ 245 w 490"/>
              <a:gd name="T67" fmla="*/ 490 h 490"/>
              <a:gd name="T68" fmla="*/ 0 w 490"/>
              <a:gd name="T69" fmla="*/ 245 h 490"/>
              <a:gd name="T70" fmla="*/ 245 w 490"/>
              <a:gd name="T71" fmla="*/ 0 h 4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490" h="490">
                <a:moveTo>
                  <a:pt x="358" y="250"/>
                </a:moveTo>
                <a:lnTo>
                  <a:pt x="358" y="183"/>
                </a:lnTo>
                <a:cubicBezTo>
                  <a:pt x="358" y="165"/>
                  <a:pt x="328" y="164"/>
                  <a:pt x="328" y="183"/>
                </a:cubicBezTo>
                <a:lnTo>
                  <a:pt x="328" y="250"/>
                </a:lnTo>
                <a:cubicBezTo>
                  <a:pt x="328" y="294"/>
                  <a:pt x="292" y="330"/>
                  <a:pt x="247" y="330"/>
                </a:cubicBezTo>
                <a:cubicBezTo>
                  <a:pt x="247" y="330"/>
                  <a:pt x="246" y="330"/>
                  <a:pt x="246" y="330"/>
                </a:cubicBezTo>
                <a:lnTo>
                  <a:pt x="245" y="330"/>
                </a:lnTo>
                <a:lnTo>
                  <a:pt x="245" y="330"/>
                </a:lnTo>
                <a:cubicBezTo>
                  <a:pt x="244" y="330"/>
                  <a:pt x="244" y="330"/>
                  <a:pt x="243" y="330"/>
                </a:cubicBezTo>
                <a:cubicBezTo>
                  <a:pt x="198" y="330"/>
                  <a:pt x="162" y="294"/>
                  <a:pt x="162" y="250"/>
                </a:cubicBezTo>
                <a:lnTo>
                  <a:pt x="162" y="183"/>
                </a:lnTo>
                <a:cubicBezTo>
                  <a:pt x="162" y="165"/>
                  <a:pt x="132" y="164"/>
                  <a:pt x="132" y="183"/>
                </a:cubicBezTo>
                <a:cubicBezTo>
                  <a:pt x="132" y="192"/>
                  <a:pt x="132" y="250"/>
                  <a:pt x="132" y="250"/>
                </a:cubicBezTo>
                <a:cubicBezTo>
                  <a:pt x="132" y="306"/>
                  <a:pt x="173" y="352"/>
                  <a:pt x="227" y="359"/>
                </a:cubicBezTo>
                <a:lnTo>
                  <a:pt x="227" y="407"/>
                </a:lnTo>
                <a:lnTo>
                  <a:pt x="160" y="426"/>
                </a:lnTo>
                <a:lnTo>
                  <a:pt x="331" y="426"/>
                </a:lnTo>
                <a:lnTo>
                  <a:pt x="263" y="407"/>
                </a:lnTo>
                <a:lnTo>
                  <a:pt x="263" y="360"/>
                </a:lnTo>
                <a:cubicBezTo>
                  <a:pt x="317" y="352"/>
                  <a:pt x="358" y="306"/>
                  <a:pt x="358" y="250"/>
                </a:cubicBezTo>
                <a:close/>
                <a:moveTo>
                  <a:pt x="244" y="302"/>
                </a:moveTo>
                <a:cubicBezTo>
                  <a:pt x="244" y="302"/>
                  <a:pt x="245" y="302"/>
                  <a:pt x="245" y="302"/>
                </a:cubicBezTo>
                <a:cubicBezTo>
                  <a:pt x="245" y="302"/>
                  <a:pt x="246" y="302"/>
                  <a:pt x="246" y="302"/>
                </a:cubicBezTo>
                <a:cubicBezTo>
                  <a:pt x="276" y="302"/>
                  <a:pt x="300" y="278"/>
                  <a:pt x="300" y="248"/>
                </a:cubicBezTo>
                <a:lnTo>
                  <a:pt x="300" y="118"/>
                </a:lnTo>
                <a:cubicBezTo>
                  <a:pt x="300" y="88"/>
                  <a:pt x="276" y="64"/>
                  <a:pt x="246" y="64"/>
                </a:cubicBezTo>
                <a:cubicBezTo>
                  <a:pt x="246" y="64"/>
                  <a:pt x="245" y="64"/>
                  <a:pt x="245" y="64"/>
                </a:cubicBezTo>
                <a:cubicBezTo>
                  <a:pt x="245" y="64"/>
                  <a:pt x="244" y="64"/>
                  <a:pt x="244" y="64"/>
                </a:cubicBezTo>
                <a:cubicBezTo>
                  <a:pt x="214" y="64"/>
                  <a:pt x="190" y="88"/>
                  <a:pt x="190" y="118"/>
                </a:cubicBezTo>
                <a:lnTo>
                  <a:pt x="190" y="248"/>
                </a:lnTo>
                <a:cubicBezTo>
                  <a:pt x="190" y="278"/>
                  <a:pt x="214" y="302"/>
                  <a:pt x="244" y="302"/>
                </a:cubicBezTo>
                <a:close/>
                <a:moveTo>
                  <a:pt x="245" y="0"/>
                </a:moveTo>
                <a:cubicBezTo>
                  <a:pt x="381" y="0"/>
                  <a:pt x="490" y="110"/>
                  <a:pt x="490" y="245"/>
                </a:cubicBezTo>
                <a:cubicBezTo>
                  <a:pt x="490" y="381"/>
                  <a:pt x="381" y="490"/>
                  <a:pt x="245" y="490"/>
                </a:cubicBezTo>
                <a:cubicBezTo>
                  <a:pt x="110" y="490"/>
                  <a:pt x="0" y="381"/>
                  <a:pt x="0" y="245"/>
                </a:cubicBezTo>
                <a:cubicBezTo>
                  <a:pt x="0" y="110"/>
                  <a:pt x="110" y="0"/>
                  <a:pt x="24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484849"/>
              </a:solidFill>
            </a:endParaRPr>
          </a:p>
        </p:txBody>
      </p:sp>
      <p:sp>
        <p:nvSpPr>
          <p:cNvPr id="13" name="Rectangle 4"/>
          <p:cNvSpPr txBox="1">
            <a:spLocks noChangeArrowheads="1"/>
          </p:cNvSpPr>
          <p:nvPr/>
        </p:nvSpPr>
        <p:spPr bwMode="auto">
          <a:xfrm>
            <a:off x="10466453" y="4703232"/>
            <a:ext cx="1899476" cy="353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2400" b="1">
                <a:latin typeface="+mj-ea"/>
                <a:ea typeface="+mj-ea"/>
              </a:defRPr>
            </a:lvl1pPr>
          </a:lstStyle>
          <a:p>
            <a:r>
              <a:rPr lang="zh-CN" altLang="en-US" sz="1700" dirty="0">
                <a:solidFill>
                  <a:schemeClr val="bg1"/>
                </a:solidFill>
              </a:rPr>
              <a:t>汇报人：代用名</a:t>
            </a:r>
          </a:p>
        </p:txBody>
      </p:sp>
      <p:sp>
        <p:nvSpPr>
          <p:cNvPr id="14" name="Freeform 10"/>
          <p:cNvSpPr>
            <a:spLocks noChangeAspect="1" noEditPoints="1"/>
          </p:cNvSpPr>
          <p:nvPr/>
        </p:nvSpPr>
        <p:spPr bwMode="auto">
          <a:xfrm>
            <a:off x="6417691" y="4693112"/>
            <a:ext cx="372836" cy="374400"/>
          </a:xfrm>
          <a:custGeom>
            <a:avLst/>
            <a:gdLst>
              <a:gd name="T0" fmla="*/ 245 w 490"/>
              <a:gd name="T1" fmla="*/ 0 h 490"/>
              <a:gd name="T2" fmla="*/ 490 w 490"/>
              <a:gd name="T3" fmla="*/ 245 h 490"/>
              <a:gd name="T4" fmla="*/ 245 w 490"/>
              <a:gd name="T5" fmla="*/ 490 h 490"/>
              <a:gd name="T6" fmla="*/ 0 w 490"/>
              <a:gd name="T7" fmla="*/ 245 h 490"/>
              <a:gd name="T8" fmla="*/ 245 w 490"/>
              <a:gd name="T9" fmla="*/ 0 h 490"/>
              <a:gd name="T10" fmla="*/ 436 w 490"/>
              <a:gd name="T11" fmla="*/ 250 h 490"/>
              <a:gd name="T12" fmla="*/ 427 w 490"/>
              <a:gd name="T13" fmla="*/ 256 h 490"/>
              <a:gd name="T14" fmla="*/ 394 w 490"/>
              <a:gd name="T15" fmla="*/ 256 h 490"/>
              <a:gd name="T16" fmla="*/ 386 w 490"/>
              <a:gd name="T17" fmla="*/ 253 h 490"/>
              <a:gd name="T18" fmla="*/ 245 w 490"/>
              <a:gd name="T19" fmla="*/ 105 h 490"/>
              <a:gd name="T20" fmla="*/ 104 w 490"/>
              <a:gd name="T21" fmla="*/ 253 h 490"/>
              <a:gd name="T22" fmla="*/ 96 w 490"/>
              <a:gd name="T23" fmla="*/ 256 h 490"/>
              <a:gd name="T24" fmla="*/ 63 w 490"/>
              <a:gd name="T25" fmla="*/ 256 h 490"/>
              <a:gd name="T26" fmla="*/ 54 w 490"/>
              <a:gd name="T27" fmla="*/ 250 h 490"/>
              <a:gd name="T28" fmla="*/ 56 w 490"/>
              <a:gd name="T29" fmla="*/ 239 h 490"/>
              <a:gd name="T30" fmla="*/ 236 w 490"/>
              <a:gd name="T31" fmla="*/ 52 h 490"/>
              <a:gd name="T32" fmla="*/ 245 w 490"/>
              <a:gd name="T33" fmla="*/ 48 h 490"/>
              <a:gd name="T34" fmla="*/ 254 w 490"/>
              <a:gd name="T35" fmla="*/ 52 h 490"/>
              <a:gd name="T36" fmla="*/ 434 w 490"/>
              <a:gd name="T37" fmla="*/ 239 h 490"/>
              <a:gd name="T38" fmla="*/ 436 w 490"/>
              <a:gd name="T39" fmla="*/ 250 h 490"/>
              <a:gd name="T40" fmla="*/ 113 w 490"/>
              <a:gd name="T41" fmla="*/ 267 h 490"/>
              <a:gd name="T42" fmla="*/ 113 w 490"/>
              <a:gd name="T43" fmla="*/ 267 h 490"/>
              <a:gd name="T44" fmla="*/ 113 w 490"/>
              <a:gd name="T45" fmla="*/ 379 h 490"/>
              <a:gd name="T46" fmla="*/ 129 w 490"/>
              <a:gd name="T47" fmla="*/ 398 h 490"/>
              <a:gd name="T48" fmla="*/ 202 w 490"/>
              <a:gd name="T49" fmla="*/ 398 h 490"/>
              <a:gd name="T50" fmla="*/ 202 w 490"/>
              <a:gd name="T51" fmla="*/ 276 h 490"/>
              <a:gd name="T52" fmla="*/ 221 w 490"/>
              <a:gd name="T53" fmla="*/ 257 h 490"/>
              <a:gd name="T54" fmla="*/ 269 w 490"/>
              <a:gd name="T55" fmla="*/ 257 h 490"/>
              <a:gd name="T56" fmla="*/ 288 w 490"/>
              <a:gd name="T57" fmla="*/ 276 h 490"/>
              <a:gd name="T58" fmla="*/ 288 w 490"/>
              <a:gd name="T59" fmla="*/ 398 h 490"/>
              <a:gd name="T60" fmla="*/ 361 w 490"/>
              <a:gd name="T61" fmla="*/ 398 h 490"/>
              <a:gd name="T62" fmla="*/ 377 w 490"/>
              <a:gd name="T63" fmla="*/ 379 h 490"/>
              <a:gd name="T64" fmla="*/ 377 w 490"/>
              <a:gd name="T65" fmla="*/ 268 h 490"/>
              <a:gd name="T66" fmla="*/ 245 w 490"/>
              <a:gd name="T67" fmla="*/ 130 h 490"/>
              <a:gd name="T68" fmla="*/ 113 w 490"/>
              <a:gd name="T69" fmla="*/ 267 h 4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490" h="490">
                <a:moveTo>
                  <a:pt x="245" y="0"/>
                </a:moveTo>
                <a:cubicBezTo>
                  <a:pt x="380" y="0"/>
                  <a:pt x="490" y="110"/>
                  <a:pt x="490" y="245"/>
                </a:cubicBezTo>
                <a:cubicBezTo>
                  <a:pt x="490" y="381"/>
                  <a:pt x="380" y="490"/>
                  <a:pt x="245" y="490"/>
                </a:cubicBezTo>
                <a:cubicBezTo>
                  <a:pt x="110" y="490"/>
                  <a:pt x="0" y="381"/>
                  <a:pt x="0" y="245"/>
                </a:cubicBezTo>
                <a:cubicBezTo>
                  <a:pt x="0" y="110"/>
                  <a:pt x="110" y="0"/>
                  <a:pt x="245" y="0"/>
                </a:cubicBezTo>
                <a:close/>
                <a:moveTo>
                  <a:pt x="436" y="250"/>
                </a:moveTo>
                <a:cubicBezTo>
                  <a:pt x="435" y="254"/>
                  <a:pt x="431" y="256"/>
                  <a:pt x="427" y="256"/>
                </a:cubicBezTo>
                <a:lnTo>
                  <a:pt x="394" y="256"/>
                </a:lnTo>
                <a:cubicBezTo>
                  <a:pt x="391" y="256"/>
                  <a:pt x="388" y="255"/>
                  <a:pt x="386" y="253"/>
                </a:cubicBezTo>
                <a:lnTo>
                  <a:pt x="245" y="105"/>
                </a:lnTo>
                <a:lnTo>
                  <a:pt x="104" y="253"/>
                </a:lnTo>
                <a:cubicBezTo>
                  <a:pt x="102" y="255"/>
                  <a:pt x="99" y="256"/>
                  <a:pt x="96" y="256"/>
                </a:cubicBezTo>
                <a:lnTo>
                  <a:pt x="63" y="256"/>
                </a:lnTo>
                <a:cubicBezTo>
                  <a:pt x="59" y="256"/>
                  <a:pt x="55" y="254"/>
                  <a:pt x="54" y="250"/>
                </a:cubicBezTo>
                <a:cubicBezTo>
                  <a:pt x="52" y="246"/>
                  <a:pt x="53" y="242"/>
                  <a:pt x="56" y="239"/>
                </a:cubicBezTo>
                <a:lnTo>
                  <a:pt x="236" y="52"/>
                </a:lnTo>
                <a:cubicBezTo>
                  <a:pt x="238" y="49"/>
                  <a:pt x="242" y="48"/>
                  <a:pt x="245" y="48"/>
                </a:cubicBezTo>
                <a:cubicBezTo>
                  <a:pt x="248" y="48"/>
                  <a:pt x="252" y="49"/>
                  <a:pt x="254" y="52"/>
                </a:cubicBezTo>
                <a:lnTo>
                  <a:pt x="434" y="239"/>
                </a:lnTo>
                <a:cubicBezTo>
                  <a:pt x="437" y="242"/>
                  <a:pt x="438" y="246"/>
                  <a:pt x="436" y="250"/>
                </a:cubicBezTo>
                <a:close/>
                <a:moveTo>
                  <a:pt x="113" y="267"/>
                </a:moveTo>
                <a:lnTo>
                  <a:pt x="113" y="267"/>
                </a:lnTo>
                <a:lnTo>
                  <a:pt x="113" y="379"/>
                </a:lnTo>
                <a:cubicBezTo>
                  <a:pt x="113" y="389"/>
                  <a:pt x="120" y="398"/>
                  <a:pt x="129" y="398"/>
                </a:cubicBezTo>
                <a:lnTo>
                  <a:pt x="202" y="398"/>
                </a:lnTo>
                <a:lnTo>
                  <a:pt x="202" y="276"/>
                </a:lnTo>
                <a:cubicBezTo>
                  <a:pt x="202" y="266"/>
                  <a:pt x="211" y="257"/>
                  <a:pt x="221" y="257"/>
                </a:cubicBezTo>
                <a:lnTo>
                  <a:pt x="269" y="257"/>
                </a:lnTo>
                <a:cubicBezTo>
                  <a:pt x="279" y="257"/>
                  <a:pt x="288" y="266"/>
                  <a:pt x="288" y="276"/>
                </a:cubicBezTo>
                <a:lnTo>
                  <a:pt x="288" y="398"/>
                </a:lnTo>
                <a:lnTo>
                  <a:pt x="361" y="398"/>
                </a:lnTo>
                <a:cubicBezTo>
                  <a:pt x="370" y="398"/>
                  <a:pt x="377" y="389"/>
                  <a:pt x="377" y="379"/>
                </a:cubicBezTo>
                <a:lnTo>
                  <a:pt x="377" y="268"/>
                </a:lnTo>
                <a:lnTo>
                  <a:pt x="245" y="130"/>
                </a:lnTo>
                <a:lnTo>
                  <a:pt x="113" y="26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4146653" y="851012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延时符</a:t>
            </a:r>
          </a:p>
        </p:txBody>
      </p:sp>
      <p:sp>
        <p:nvSpPr>
          <p:cNvPr id="28" name="Rectangle 6"/>
          <p:cNvSpPr>
            <a:spLocks noChangeArrowheads="1"/>
          </p:cNvSpPr>
          <p:nvPr/>
        </p:nvSpPr>
        <p:spPr bwMode="auto">
          <a:xfrm>
            <a:off x="0" y="1109114"/>
            <a:ext cx="2835079" cy="81520"/>
          </a:xfrm>
          <a:prstGeom prst="rect">
            <a:avLst/>
          </a:prstGeom>
          <a:solidFill>
            <a:srgbClr val="01C0B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29" name="Rectangle 7"/>
          <p:cNvSpPr>
            <a:spLocks noChangeArrowheads="1"/>
          </p:cNvSpPr>
          <p:nvPr/>
        </p:nvSpPr>
        <p:spPr bwMode="auto">
          <a:xfrm>
            <a:off x="1266714" y="1109114"/>
            <a:ext cx="2831571" cy="815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30" name="Rectangle 8"/>
          <p:cNvSpPr>
            <a:spLocks noChangeArrowheads="1"/>
          </p:cNvSpPr>
          <p:nvPr/>
        </p:nvSpPr>
        <p:spPr bwMode="auto">
          <a:xfrm>
            <a:off x="2531856" y="1109114"/>
            <a:ext cx="2835079" cy="8152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31" name="Rectangle 9"/>
          <p:cNvSpPr>
            <a:spLocks noChangeArrowheads="1"/>
          </p:cNvSpPr>
          <p:nvPr/>
        </p:nvSpPr>
        <p:spPr bwMode="auto">
          <a:xfrm>
            <a:off x="3798567" y="1109114"/>
            <a:ext cx="2039483" cy="8152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5176408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319</TotalTime>
  <Words>434</Words>
  <Application>Microsoft Office PowerPoint</Application>
  <PresentationFormat>宽屏</PresentationFormat>
  <Paragraphs>59</Paragraphs>
  <Slides>9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5" baseType="lpstr">
      <vt:lpstr>宋体</vt:lpstr>
      <vt:lpstr>微软雅黑</vt:lpstr>
      <vt:lpstr>Arial</vt:lpstr>
      <vt:lpstr>Calibri</vt:lpstr>
      <vt:lpstr>Calibri Light</vt:lpstr>
      <vt:lpstr>第一PPT，www.1ppt.com</vt:lpstr>
      <vt:lpstr>PowerPoint 演示文稿</vt:lpstr>
      <vt:lpstr>控制部件的硬布线实现</vt:lpstr>
      <vt:lpstr>硬布线控制器的基本原理</vt:lpstr>
      <vt:lpstr>PowerPoint 演示文稿</vt:lpstr>
      <vt:lpstr>硬布线控制器设计举例</vt:lpstr>
      <vt:lpstr>(2)进行逻辑综合</vt:lpstr>
      <vt:lpstr>PowerPoint 演示文稿</vt:lpstr>
      <vt:lpstr>硬布线控制器设计举例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07述职报告</dc:title>
  <dc:creator>user</dc:creator>
  <cp:lastModifiedBy>yhw</cp:lastModifiedBy>
  <cp:revision>46</cp:revision>
  <dcterms:created xsi:type="dcterms:W3CDTF">2016-06-01T05:10:04Z</dcterms:created>
  <dcterms:modified xsi:type="dcterms:W3CDTF">2017-06-02T07:30:19Z</dcterms:modified>
</cp:coreProperties>
</file>