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19" r:id="rId2"/>
    <p:sldId id="433" r:id="rId3"/>
    <p:sldId id="418" r:id="rId4"/>
    <p:sldId id="419" r:id="rId5"/>
    <p:sldId id="420" r:id="rId6"/>
    <p:sldId id="426" r:id="rId7"/>
    <p:sldId id="439" r:id="rId8"/>
    <p:sldId id="440" r:id="rId9"/>
    <p:sldId id="434" r:id="rId10"/>
    <p:sldId id="435" r:id="rId11"/>
    <p:sldId id="409" r:id="rId12"/>
    <p:sldId id="423" r:id="rId13"/>
    <p:sldId id="428" r:id="rId14"/>
    <p:sldId id="437" r:id="rId15"/>
    <p:sldId id="438" r:id="rId16"/>
    <p:sldId id="436" r:id="rId17"/>
    <p:sldId id="424" r:id="rId18"/>
    <p:sldId id="416" r:id="rId19"/>
    <p:sldId id="441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C0B0"/>
    <a:srgbClr val="FFC000"/>
    <a:srgbClr val="04B0BE"/>
    <a:srgbClr val="92D050"/>
    <a:srgbClr val="02B9E7"/>
    <a:srgbClr val="04BE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68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4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howGuides="1">
      <p:cViewPr varScale="1">
        <p:scale>
          <a:sx n="57" d="100"/>
          <a:sy n="57" d="100"/>
        </p:scale>
        <p:origin x="2808" y="3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E8A95-114D-4BB9-A729-058920B2735F}" type="datetimeFigureOut">
              <a:rPr lang="zh-CN" altLang="en-US" smtClean="0"/>
              <a:pPr/>
              <a:t>2017/5/26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D8029B-87F6-42DD-8185-B8A2A8D3072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89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D8029B-87F6-42DD-8185-B8A2A8D30728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84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974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5028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3366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078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847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89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5551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50280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1F41D1-EB0D-4857-8E93-8C1C831E615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61781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79756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6724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336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pPr/>
              <a:t>2017/5/26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354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pPr/>
              <a:t>2017/5/26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43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pPr/>
              <a:t>2017/5/26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86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pPr/>
              <a:t>2017/5/26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858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pPr/>
              <a:t>2017/5/26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6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pPr/>
              <a:t>2017/5/26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27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pPr/>
              <a:t>2017/5/26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886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pPr/>
              <a:t>2017/5/26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394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pPr/>
              <a:t>2017/5/26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04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pPr/>
              <a:t>2017/5/26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071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D024-C6D2-498C-B6F9-0F94E70CC562}" type="datetimeFigureOut">
              <a:rPr lang="zh-CN" altLang="en-US" smtClean="0"/>
              <a:pPr/>
              <a:t>2017/5/26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CCF6A-2F56-44E6-80EA-DDB34B141F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75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>
        <p:push dir="u"/>
      </p:transition>
    </mc:Choice>
    <mc:Fallback xmlns="">
      <p:transition spd="slow"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AD024-C6D2-498C-B6F9-0F94E70CC562}" type="datetimeFigureOut">
              <a:rPr lang="zh-CN" altLang="en-US" smtClean="0"/>
              <a:pPr/>
              <a:t>2017/5/26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CCF6A-2F56-44E6-80EA-DDB34B141F0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530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59000">
        <p:push dir="u"/>
      </p:transition>
    </mc:Choice>
    <mc:Fallback xmlns="">
      <p:transition spd="slow">
        <p:push dir="u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9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391507" y="2538483"/>
            <a:ext cx="7393450" cy="1585023"/>
          </a:xfrm>
          <a:prstGeom prst="rect">
            <a:avLst/>
          </a:prstGeom>
          <a:solidFill>
            <a:srgbClr val="02B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 7"/>
          <p:cNvSpPr>
            <a:spLocks/>
          </p:cNvSpPr>
          <p:nvPr/>
        </p:nvSpPr>
        <p:spPr bwMode="auto">
          <a:xfrm>
            <a:off x="10799813" y="5496958"/>
            <a:ext cx="1079283" cy="1080463"/>
          </a:xfrm>
          <a:custGeom>
            <a:avLst/>
            <a:gdLst>
              <a:gd name="T0" fmla="*/ 2199 w 2504"/>
              <a:gd name="T1" fmla="*/ 0 h 2504"/>
              <a:gd name="T2" fmla="*/ 2504 w 2504"/>
              <a:gd name="T3" fmla="*/ 0 h 2504"/>
              <a:gd name="T4" fmla="*/ 2504 w 2504"/>
              <a:gd name="T5" fmla="*/ 2504 h 2504"/>
              <a:gd name="T6" fmla="*/ 0 w 2504"/>
              <a:gd name="T7" fmla="*/ 2504 h 2504"/>
              <a:gd name="T8" fmla="*/ 0 w 2504"/>
              <a:gd name="T9" fmla="*/ 2199 h 2504"/>
              <a:gd name="T10" fmla="*/ 1970 w 2504"/>
              <a:gd name="T11" fmla="*/ 2199 h 2504"/>
              <a:gd name="T12" fmla="*/ 87 w 2504"/>
              <a:gd name="T13" fmla="*/ 315 h 2504"/>
              <a:gd name="T14" fmla="*/ 303 w 2504"/>
              <a:gd name="T15" fmla="*/ 99 h 2504"/>
              <a:gd name="T16" fmla="*/ 2199 w 2504"/>
              <a:gd name="T17" fmla="*/ 1996 h 2504"/>
              <a:gd name="T18" fmla="*/ 2199 w 2504"/>
              <a:gd name="T19" fmla="*/ 0 h 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504" h="2504">
                <a:moveTo>
                  <a:pt x="2199" y="0"/>
                </a:moveTo>
                <a:lnTo>
                  <a:pt x="2504" y="0"/>
                </a:lnTo>
                <a:lnTo>
                  <a:pt x="2504" y="2504"/>
                </a:lnTo>
                <a:lnTo>
                  <a:pt x="0" y="2504"/>
                </a:lnTo>
                <a:lnTo>
                  <a:pt x="0" y="2199"/>
                </a:lnTo>
                <a:lnTo>
                  <a:pt x="1970" y="2199"/>
                </a:lnTo>
                <a:lnTo>
                  <a:pt x="87" y="315"/>
                </a:lnTo>
                <a:lnTo>
                  <a:pt x="303" y="99"/>
                </a:lnTo>
                <a:lnTo>
                  <a:pt x="2199" y="1996"/>
                </a:lnTo>
                <a:lnTo>
                  <a:pt x="2199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903327" y="2705705"/>
            <a:ext cx="8099416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DMA</a:t>
            </a:r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及通道控制方式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353950" y="5153618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620664" y="5153618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8885806" y="5153618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152517" y="5153618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2" name="Freeform 9"/>
          <p:cNvSpPr>
            <a:spLocks noEditPoints="1"/>
          </p:cNvSpPr>
          <p:nvPr/>
        </p:nvSpPr>
        <p:spPr bwMode="auto">
          <a:xfrm>
            <a:off x="10057335" y="4692974"/>
            <a:ext cx="373115" cy="374683"/>
          </a:xfrm>
          <a:custGeom>
            <a:avLst/>
            <a:gdLst>
              <a:gd name="T0" fmla="*/ 358 w 490"/>
              <a:gd name="T1" fmla="*/ 250 h 490"/>
              <a:gd name="T2" fmla="*/ 358 w 490"/>
              <a:gd name="T3" fmla="*/ 183 h 490"/>
              <a:gd name="T4" fmla="*/ 328 w 490"/>
              <a:gd name="T5" fmla="*/ 183 h 490"/>
              <a:gd name="T6" fmla="*/ 328 w 490"/>
              <a:gd name="T7" fmla="*/ 250 h 490"/>
              <a:gd name="T8" fmla="*/ 247 w 490"/>
              <a:gd name="T9" fmla="*/ 330 h 490"/>
              <a:gd name="T10" fmla="*/ 246 w 490"/>
              <a:gd name="T11" fmla="*/ 330 h 490"/>
              <a:gd name="T12" fmla="*/ 245 w 490"/>
              <a:gd name="T13" fmla="*/ 330 h 490"/>
              <a:gd name="T14" fmla="*/ 245 w 490"/>
              <a:gd name="T15" fmla="*/ 330 h 490"/>
              <a:gd name="T16" fmla="*/ 243 w 490"/>
              <a:gd name="T17" fmla="*/ 330 h 490"/>
              <a:gd name="T18" fmla="*/ 162 w 490"/>
              <a:gd name="T19" fmla="*/ 250 h 490"/>
              <a:gd name="T20" fmla="*/ 162 w 490"/>
              <a:gd name="T21" fmla="*/ 183 h 490"/>
              <a:gd name="T22" fmla="*/ 132 w 490"/>
              <a:gd name="T23" fmla="*/ 183 h 490"/>
              <a:gd name="T24" fmla="*/ 132 w 490"/>
              <a:gd name="T25" fmla="*/ 250 h 490"/>
              <a:gd name="T26" fmla="*/ 227 w 490"/>
              <a:gd name="T27" fmla="*/ 359 h 490"/>
              <a:gd name="T28" fmla="*/ 227 w 490"/>
              <a:gd name="T29" fmla="*/ 407 h 490"/>
              <a:gd name="T30" fmla="*/ 160 w 490"/>
              <a:gd name="T31" fmla="*/ 426 h 490"/>
              <a:gd name="T32" fmla="*/ 331 w 490"/>
              <a:gd name="T33" fmla="*/ 426 h 490"/>
              <a:gd name="T34" fmla="*/ 263 w 490"/>
              <a:gd name="T35" fmla="*/ 407 h 490"/>
              <a:gd name="T36" fmla="*/ 263 w 490"/>
              <a:gd name="T37" fmla="*/ 360 h 490"/>
              <a:gd name="T38" fmla="*/ 358 w 490"/>
              <a:gd name="T39" fmla="*/ 250 h 490"/>
              <a:gd name="T40" fmla="*/ 244 w 490"/>
              <a:gd name="T41" fmla="*/ 302 h 490"/>
              <a:gd name="T42" fmla="*/ 245 w 490"/>
              <a:gd name="T43" fmla="*/ 302 h 490"/>
              <a:gd name="T44" fmla="*/ 246 w 490"/>
              <a:gd name="T45" fmla="*/ 302 h 490"/>
              <a:gd name="T46" fmla="*/ 300 w 490"/>
              <a:gd name="T47" fmla="*/ 248 h 490"/>
              <a:gd name="T48" fmla="*/ 300 w 490"/>
              <a:gd name="T49" fmla="*/ 118 h 490"/>
              <a:gd name="T50" fmla="*/ 246 w 490"/>
              <a:gd name="T51" fmla="*/ 64 h 490"/>
              <a:gd name="T52" fmla="*/ 245 w 490"/>
              <a:gd name="T53" fmla="*/ 64 h 490"/>
              <a:gd name="T54" fmla="*/ 244 w 490"/>
              <a:gd name="T55" fmla="*/ 64 h 490"/>
              <a:gd name="T56" fmla="*/ 190 w 490"/>
              <a:gd name="T57" fmla="*/ 118 h 490"/>
              <a:gd name="T58" fmla="*/ 190 w 490"/>
              <a:gd name="T59" fmla="*/ 248 h 490"/>
              <a:gd name="T60" fmla="*/ 244 w 490"/>
              <a:gd name="T61" fmla="*/ 302 h 490"/>
              <a:gd name="T62" fmla="*/ 245 w 490"/>
              <a:gd name="T63" fmla="*/ 0 h 490"/>
              <a:gd name="T64" fmla="*/ 490 w 490"/>
              <a:gd name="T65" fmla="*/ 245 h 490"/>
              <a:gd name="T66" fmla="*/ 245 w 490"/>
              <a:gd name="T67" fmla="*/ 490 h 490"/>
              <a:gd name="T68" fmla="*/ 0 w 490"/>
              <a:gd name="T69" fmla="*/ 245 h 490"/>
              <a:gd name="T70" fmla="*/ 245 w 490"/>
              <a:gd name="T71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90" h="490">
                <a:moveTo>
                  <a:pt x="358" y="250"/>
                </a:moveTo>
                <a:lnTo>
                  <a:pt x="358" y="183"/>
                </a:lnTo>
                <a:cubicBezTo>
                  <a:pt x="358" y="165"/>
                  <a:pt x="328" y="164"/>
                  <a:pt x="328" y="183"/>
                </a:cubicBezTo>
                <a:lnTo>
                  <a:pt x="328" y="250"/>
                </a:lnTo>
                <a:cubicBezTo>
                  <a:pt x="328" y="294"/>
                  <a:pt x="292" y="330"/>
                  <a:pt x="247" y="330"/>
                </a:cubicBezTo>
                <a:cubicBezTo>
                  <a:pt x="247" y="330"/>
                  <a:pt x="246" y="330"/>
                  <a:pt x="246" y="330"/>
                </a:cubicBezTo>
                <a:lnTo>
                  <a:pt x="245" y="330"/>
                </a:lnTo>
                <a:lnTo>
                  <a:pt x="245" y="330"/>
                </a:lnTo>
                <a:cubicBezTo>
                  <a:pt x="244" y="330"/>
                  <a:pt x="244" y="330"/>
                  <a:pt x="243" y="330"/>
                </a:cubicBezTo>
                <a:cubicBezTo>
                  <a:pt x="198" y="330"/>
                  <a:pt x="162" y="294"/>
                  <a:pt x="162" y="250"/>
                </a:cubicBezTo>
                <a:lnTo>
                  <a:pt x="162" y="183"/>
                </a:lnTo>
                <a:cubicBezTo>
                  <a:pt x="162" y="165"/>
                  <a:pt x="132" y="164"/>
                  <a:pt x="132" y="183"/>
                </a:cubicBezTo>
                <a:cubicBezTo>
                  <a:pt x="132" y="192"/>
                  <a:pt x="132" y="250"/>
                  <a:pt x="132" y="250"/>
                </a:cubicBezTo>
                <a:cubicBezTo>
                  <a:pt x="132" y="306"/>
                  <a:pt x="173" y="352"/>
                  <a:pt x="227" y="359"/>
                </a:cubicBezTo>
                <a:lnTo>
                  <a:pt x="227" y="407"/>
                </a:lnTo>
                <a:lnTo>
                  <a:pt x="160" y="426"/>
                </a:lnTo>
                <a:lnTo>
                  <a:pt x="331" y="426"/>
                </a:lnTo>
                <a:lnTo>
                  <a:pt x="263" y="407"/>
                </a:lnTo>
                <a:lnTo>
                  <a:pt x="263" y="360"/>
                </a:lnTo>
                <a:cubicBezTo>
                  <a:pt x="317" y="352"/>
                  <a:pt x="358" y="306"/>
                  <a:pt x="358" y="250"/>
                </a:cubicBezTo>
                <a:close/>
                <a:moveTo>
                  <a:pt x="244" y="302"/>
                </a:moveTo>
                <a:cubicBezTo>
                  <a:pt x="244" y="302"/>
                  <a:pt x="245" y="302"/>
                  <a:pt x="245" y="302"/>
                </a:cubicBezTo>
                <a:cubicBezTo>
                  <a:pt x="245" y="302"/>
                  <a:pt x="246" y="302"/>
                  <a:pt x="246" y="302"/>
                </a:cubicBezTo>
                <a:cubicBezTo>
                  <a:pt x="276" y="302"/>
                  <a:pt x="300" y="278"/>
                  <a:pt x="300" y="248"/>
                </a:cubicBezTo>
                <a:lnTo>
                  <a:pt x="300" y="118"/>
                </a:lnTo>
                <a:cubicBezTo>
                  <a:pt x="300" y="88"/>
                  <a:pt x="276" y="64"/>
                  <a:pt x="246" y="64"/>
                </a:cubicBezTo>
                <a:cubicBezTo>
                  <a:pt x="246" y="64"/>
                  <a:pt x="245" y="64"/>
                  <a:pt x="245" y="64"/>
                </a:cubicBezTo>
                <a:cubicBezTo>
                  <a:pt x="245" y="64"/>
                  <a:pt x="244" y="64"/>
                  <a:pt x="244" y="64"/>
                </a:cubicBezTo>
                <a:cubicBezTo>
                  <a:pt x="214" y="64"/>
                  <a:pt x="190" y="88"/>
                  <a:pt x="190" y="118"/>
                </a:cubicBezTo>
                <a:lnTo>
                  <a:pt x="190" y="248"/>
                </a:lnTo>
                <a:cubicBezTo>
                  <a:pt x="190" y="278"/>
                  <a:pt x="214" y="302"/>
                  <a:pt x="244" y="302"/>
                </a:cubicBezTo>
                <a:close/>
                <a:moveTo>
                  <a:pt x="245" y="0"/>
                </a:moveTo>
                <a:cubicBezTo>
                  <a:pt x="381" y="0"/>
                  <a:pt x="490" y="110"/>
                  <a:pt x="490" y="245"/>
                </a:cubicBezTo>
                <a:cubicBezTo>
                  <a:pt x="490" y="381"/>
                  <a:pt x="381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484849"/>
              </a:solidFill>
            </a:endParaRPr>
          </a:p>
        </p:txBody>
      </p:sp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10466453" y="4703232"/>
            <a:ext cx="1899476" cy="35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sz="1700" dirty="0">
                <a:solidFill>
                  <a:schemeClr val="bg1"/>
                </a:solidFill>
              </a:rPr>
              <a:t>汇报人：代用名</a:t>
            </a:r>
          </a:p>
        </p:txBody>
      </p:sp>
      <p:sp>
        <p:nvSpPr>
          <p:cNvPr id="14" name="Freeform 10"/>
          <p:cNvSpPr>
            <a:spLocks noChangeAspect="1" noEditPoints="1"/>
          </p:cNvSpPr>
          <p:nvPr/>
        </p:nvSpPr>
        <p:spPr bwMode="auto">
          <a:xfrm>
            <a:off x="6417691" y="4693112"/>
            <a:ext cx="372836" cy="374400"/>
          </a:xfrm>
          <a:custGeom>
            <a:avLst/>
            <a:gdLst>
              <a:gd name="T0" fmla="*/ 245 w 490"/>
              <a:gd name="T1" fmla="*/ 0 h 490"/>
              <a:gd name="T2" fmla="*/ 490 w 490"/>
              <a:gd name="T3" fmla="*/ 245 h 490"/>
              <a:gd name="T4" fmla="*/ 245 w 490"/>
              <a:gd name="T5" fmla="*/ 490 h 490"/>
              <a:gd name="T6" fmla="*/ 0 w 490"/>
              <a:gd name="T7" fmla="*/ 245 h 490"/>
              <a:gd name="T8" fmla="*/ 245 w 490"/>
              <a:gd name="T9" fmla="*/ 0 h 490"/>
              <a:gd name="T10" fmla="*/ 436 w 490"/>
              <a:gd name="T11" fmla="*/ 250 h 490"/>
              <a:gd name="T12" fmla="*/ 427 w 490"/>
              <a:gd name="T13" fmla="*/ 256 h 490"/>
              <a:gd name="T14" fmla="*/ 394 w 490"/>
              <a:gd name="T15" fmla="*/ 256 h 490"/>
              <a:gd name="T16" fmla="*/ 386 w 490"/>
              <a:gd name="T17" fmla="*/ 253 h 490"/>
              <a:gd name="T18" fmla="*/ 245 w 490"/>
              <a:gd name="T19" fmla="*/ 105 h 490"/>
              <a:gd name="T20" fmla="*/ 104 w 490"/>
              <a:gd name="T21" fmla="*/ 253 h 490"/>
              <a:gd name="T22" fmla="*/ 96 w 490"/>
              <a:gd name="T23" fmla="*/ 256 h 490"/>
              <a:gd name="T24" fmla="*/ 63 w 490"/>
              <a:gd name="T25" fmla="*/ 256 h 490"/>
              <a:gd name="T26" fmla="*/ 54 w 490"/>
              <a:gd name="T27" fmla="*/ 250 h 490"/>
              <a:gd name="T28" fmla="*/ 56 w 490"/>
              <a:gd name="T29" fmla="*/ 239 h 490"/>
              <a:gd name="T30" fmla="*/ 236 w 490"/>
              <a:gd name="T31" fmla="*/ 52 h 490"/>
              <a:gd name="T32" fmla="*/ 245 w 490"/>
              <a:gd name="T33" fmla="*/ 48 h 490"/>
              <a:gd name="T34" fmla="*/ 254 w 490"/>
              <a:gd name="T35" fmla="*/ 52 h 490"/>
              <a:gd name="T36" fmla="*/ 434 w 490"/>
              <a:gd name="T37" fmla="*/ 239 h 490"/>
              <a:gd name="T38" fmla="*/ 436 w 490"/>
              <a:gd name="T39" fmla="*/ 250 h 490"/>
              <a:gd name="T40" fmla="*/ 113 w 490"/>
              <a:gd name="T41" fmla="*/ 267 h 490"/>
              <a:gd name="T42" fmla="*/ 113 w 490"/>
              <a:gd name="T43" fmla="*/ 267 h 490"/>
              <a:gd name="T44" fmla="*/ 113 w 490"/>
              <a:gd name="T45" fmla="*/ 379 h 490"/>
              <a:gd name="T46" fmla="*/ 129 w 490"/>
              <a:gd name="T47" fmla="*/ 398 h 490"/>
              <a:gd name="T48" fmla="*/ 202 w 490"/>
              <a:gd name="T49" fmla="*/ 398 h 490"/>
              <a:gd name="T50" fmla="*/ 202 w 490"/>
              <a:gd name="T51" fmla="*/ 276 h 490"/>
              <a:gd name="T52" fmla="*/ 221 w 490"/>
              <a:gd name="T53" fmla="*/ 257 h 490"/>
              <a:gd name="T54" fmla="*/ 269 w 490"/>
              <a:gd name="T55" fmla="*/ 257 h 490"/>
              <a:gd name="T56" fmla="*/ 288 w 490"/>
              <a:gd name="T57" fmla="*/ 276 h 490"/>
              <a:gd name="T58" fmla="*/ 288 w 490"/>
              <a:gd name="T59" fmla="*/ 398 h 490"/>
              <a:gd name="T60" fmla="*/ 361 w 490"/>
              <a:gd name="T61" fmla="*/ 398 h 490"/>
              <a:gd name="T62" fmla="*/ 377 w 490"/>
              <a:gd name="T63" fmla="*/ 379 h 490"/>
              <a:gd name="T64" fmla="*/ 377 w 490"/>
              <a:gd name="T65" fmla="*/ 268 h 490"/>
              <a:gd name="T66" fmla="*/ 245 w 490"/>
              <a:gd name="T67" fmla="*/ 130 h 490"/>
              <a:gd name="T68" fmla="*/ 113 w 490"/>
              <a:gd name="T69" fmla="*/ 267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0" h="490">
                <a:moveTo>
                  <a:pt x="245" y="0"/>
                </a:moveTo>
                <a:cubicBezTo>
                  <a:pt x="380" y="0"/>
                  <a:pt x="490" y="110"/>
                  <a:pt x="490" y="245"/>
                </a:cubicBezTo>
                <a:cubicBezTo>
                  <a:pt x="490" y="381"/>
                  <a:pt x="380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  <a:moveTo>
                  <a:pt x="436" y="250"/>
                </a:moveTo>
                <a:cubicBezTo>
                  <a:pt x="435" y="254"/>
                  <a:pt x="431" y="256"/>
                  <a:pt x="427" y="256"/>
                </a:cubicBezTo>
                <a:lnTo>
                  <a:pt x="394" y="256"/>
                </a:lnTo>
                <a:cubicBezTo>
                  <a:pt x="391" y="256"/>
                  <a:pt x="388" y="255"/>
                  <a:pt x="386" y="253"/>
                </a:cubicBezTo>
                <a:lnTo>
                  <a:pt x="245" y="105"/>
                </a:lnTo>
                <a:lnTo>
                  <a:pt x="104" y="253"/>
                </a:lnTo>
                <a:cubicBezTo>
                  <a:pt x="102" y="255"/>
                  <a:pt x="99" y="256"/>
                  <a:pt x="96" y="256"/>
                </a:cubicBezTo>
                <a:lnTo>
                  <a:pt x="63" y="256"/>
                </a:lnTo>
                <a:cubicBezTo>
                  <a:pt x="59" y="256"/>
                  <a:pt x="55" y="254"/>
                  <a:pt x="54" y="250"/>
                </a:cubicBezTo>
                <a:cubicBezTo>
                  <a:pt x="52" y="246"/>
                  <a:pt x="53" y="242"/>
                  <a:pt x="56" y="239"/>
                </a:cubicBezTo>
                <a:lnTo>
                  <a:pt x="236" y="52"/>
                </a:lnTo>
                <a:cubicBezTo>
                  <a:pt x="238" y="49"/>
                  <a:pt x="242" y="48"/>
                  <a:pt x="245" y="48"/>
                </a:cubicBezTo>
                <a:cubicBezTo>
                  <a:pt x="248" y="48"/>
                  <a:pt x="252" y="49"/>
                  <a:pt x="254" y="52"/>
                </a:cubicBezTo>
                <a:lnTo>
                  <a:pt x="434" y="239"/>
                </a:lnTo>
                <a:cubicBezTo>
                  <a:pt x="437" y="242"/>
                  <a:pt x="438" y="246"/>
                  <a:pt x="436" y="250"/>
                </a:cubicBezTo>
                <a:close/>
                <a:moveTo>
                  <a:pt x="113" y="267"/>
                </a:moveTo>
                <a:lnTo>
                  <a:pt x="113" y="267"/>
                </a:lnTo>
                <a:lnTo>
                  <a:pt x="113" y="379"/>
                </a:lnTo>
                <a:cubicBezTo>
                  <a:pt x="113" y="389"/>
                  <a:pt x="120" y="398"/>
                  <a:pt x="129" y="398"/>
                </a:cubicBezTo>
                <a:lnTo>
                  <a:pt x="202" y="398"/>
                </a:lnTo>
                <a:lnTo>
                  <a:pt x="202" y="276"/>
                </a:lnTo>
                <a:cubicBezTo>
                  <a:pt x="202" y="266"/>
                  <a:pt x="211" y="257"/>
                  <a:pt x="221" y="257"/>
                </a:cubicBezTo>
                <a:lnTo>
                  <a:pt x="269" y="257"/>
                </a:lnTo>
                <a:cubicBezTo>
                  <a:pt x="279" y="257"/>
                  <a:pt x="288" y="266"/>
                  <a:pt x="288" y="276"/>
                </a:cubicBezTo>
                <a:lnTo>
                  <a:pt x="288" y="398"/>
                </a:lnTo>
                <a:lnTo>
                  <a:pt x="361" y="398"/>
                </a:lnTo>
                <a:cubicBezTo>
                  <a:pt x="370" y="398"/>
                  <a:pt x="377" y="389"/>
                  <a:pt x="377" y="379"/>
                </a:cubicBezTo>
                <a:lnTo>
                  <a:pt x="377" y="268"/>
                </a:lnTo>
                <a:lnTo>
                  <a:pt x="245" y="130"/>
                </a:lnTo>
                <a:lnTo>
                  <a:pt x="113" y="2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62818" y="198604"/>
            <a:ext cx="473877" cy="484825"/>
            <a:chOff x="702608" y="-1899592"/>
            <a:chExt cx="1054013" cy="1078364"/>
          </a:xfrm>
        </p:grpSpPr>
        <p:sp>
          <p:nvSpPr>
            <p:cNvPr id="16" name="Oval 5"/>
            <p:cNvSpPr>
              <a:spLocks noChangeArrowheads="1"/>
            </p:cNvSpPr>
            <p:nvPr/>
          </p:nvSpPr>
          <p:spPr bwMode="auto">
            <a:xfrm>
              <a:off x="702608" y="-1899592"/>
              <a:ext cx="1054013" cy="107836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904366" y="-1555211"/>
              <a:ext cx="650496" cy="445260"/>
            </a:xfrm>
            <a:custGeom>
              <a:avLst/>
              <a:gdLst>
                <a:gd name="T0" fmla="*/ 380 w 394"/>
                <a:gd name="T1" fmla="*/ 19 h 263"/>
                <a:gd name="T2" fmla="*/ 380 w 394"/>
                <a:gd name="T3" fmla="*/ 216 h 263"/>
                <a:gd name="T4" fmla="*/ 374 w 394"/>
                <a:gd name="T5" fmla="*/ 216 h 263"/>
                <a:gd name="T6" fmla="*/ 362 w 394"/>
                <a:gd name="T7" fmla="*/ 215 h 263"/>
                <a:gd name="T8" fmla="*/ 199 w 394"/>
                <a:gd name="T9" fmla="*/ 256 h 263"/>
                <a:gd name="T10" fmla="*/ 197 w 394"/>
                <a:gd name="T11" fmla="*/ 257 h 263"/>
                <a:gd name="T12" fmla="*/ 195 w 394"/>
                <a:gd name="T13" fmla="*/ 256 h 263"/>
                <a:gd name="T14" fmla="*/ 33 w 394"/>
                <a:gd name="T15" fmla="*/ 215 h 263"/>
                <a:gd name="T16" fmla="*/ 20 w 394"/>
                <a:gd name="T17" fmla="*/ 216 h 263"/>
                <a:gd name="T18" fmla="*/ 14 w 394"/>
                <a:gd name="T19" fmla="*/ 216 h 263"/>
                <a:gd name="T20" fmla="*/ 14 w 394"/>
                <a:gd name="T21" fmla="*/ 19 h 263"/>
                <a:gd name="T22" fmla="*/ 0 w 394"/>
                <a:gd name="T23" fmla="*/ 19 h 263"/>
                <a:gd name="T24" fmla="*/ 0 w 394"/>
                <a:gd name="T25" fmla="*/ 223 h 263"/>
                <a:gd name="T26" fmla="*/ 197 w 394"/>
                <a:gd name="T27" fmla="*/ 263 h 263"/>
                <a:gd name="T28" fmla="*/ 394 w 394"/>
                <a:gd name="T29" fmla="*/ 223 h 263"/>
                <a:gd name="T30" fmla="*/ 394 w 394"/>
                <a:gd name="T31" fmla="*/ 19 h 263"/>
                <a:gd name="T32" fmla="*/ 380 w 394"/>
                <a:gd name="T33" fmla="*/ 19 h 263"/>
                <a:gd name="T34" fmla="*/ 191 w 394"/>
                <a:gd name="T35" fmla="*/ 223 h 263"/>
                <a:gd name="T36" fmla="*/ 191 w 394"/>
                <a:gd name="T37" fmla="*/ 44 h 263"/>
                <a:gd name="T38" fmla="*/ 54 w 394"/>
                <a:gd name="T39" fmla="*/ 2 h 263"/>
                <a:gd name="T40" fmla="*/ 54 w 394"/>
                <a:gd name="T41" fmla="*/ 188 h 263"/>
                <a:gd name="T42" fmla="*/ 59 w 394"/>
                <a:gd name="T43" fmla="*/ 188 h 263"/>
                <a:gd name="T44" fmla="*/ 191 w 394"/>
                <a:gd name="T45" fmla="*/ 223 h 263"/>
                <a:gd name="T46" fmla="*/ 340 w 394"/>
                <a:gd name="T47" fmla="*/ 188 h 263"/>
                <a:gd name="T48" fmla="*/ 340 w 394"/>
                <a:gd name="T49" fmla="*/ 2 h 263"/>
                <a:gd name="T50" fmla="*/ 204 w 394"/>
                <a:gd name="T51" fmla="*/ 44 h 263"/>
                <a:gd name="T52" fmla="*/ 204 w 394"/>
                <a:gd name="T53" fmla="*/ 223 h 263"/>
                <a:gd name="T54" fmla="*/ 335 w 394"/>
                <a:gd name="T55" fmla="*/ 188 h 263"/>
                <a:gd name="T56" fmla="*/ 340 w 394"/>
                <a:gd name="T57" fmla="*/ 188 h 263"/>
                <a:gd name="T58" fmla="*/ 197 w 394"/>
                <a:gd name="T59" fmla="*/ 252 h 263"/>
                <a:gd name="T60" fmla="*/ 371 w 394"/>
                <a:gd name="T61" fmla="*/ 211 h 263"/>
                <a:gd name="T62" fmla="*/ 371 w 394"/>
                <a:gd name="T63" fmla="*/ 4 h 263"/>
                <a:gd name="T64" fmla="*/ 350 w 394"/>
                <a:gd name="T65" fmla="*/ 4 h 263"/>
                <a:gd name="T66" fmla="*/ 350 w 394"/>
                <a:gd name="T67" fmla="*/ 198 h 263"/>
                <a:gd name="T68" fmla="*/ 344 w 394"/>
                <a:gd name="T69" fmla="*/ 197 h 263"/>
                <a:gd name="T70" fmla="*/ 334 w 394"/>
                <a:gd name="T71" fmla="*/ 197 h 263"/>
                <a:gd name="T72" fmla="*/ 201 w 394"/>
                <a:gd name="T73" fmla="*/ 235 h 263"/>
                <a:gd name="T74" fmla="*/ 197 w 394"/>
                <a:gd name="T75" fmla="*/ 237 h 263"/>
                <a:gd name="T76" fmla="*/ 194 w 394"/>
                <a:gd name="T77" fmla="*/ 235 h 263"/>
                <a:gd name="T78" fmla="*/ 60 w 394"/>
                <a:gd name="T79" fmla="*/ 197 h 263"/>
                <a:gd name="T80" fmla="*/ 50 w 394"/>
                <a:gd name="T81" fmla="*/ 197 h 263"/>
                <a:gd name="T82" fmla="*/ 45 w 394"/>
                <a:gd name="T83" fmla="*/ 198 h 263"/>
                <a:gd name="T84" fmla="*/ 45 w 394"/>
                <a:gd name="T85" fmla="*/ 4 h 263"/>
                <a:gd name="T86" fmla="*/ 24 w 394"/>
                <a:gd name="T87" fmla="*/ 4 h 263"/>
                <a:gd name="T88" fmla="*/ 24 w 394"/>
                <a:gd name="T89" fmla="*/ 211 h 263"/>
                <a:gd name="T90" fmla="*/ 197 w 394"/>
                <a:gd name="T91" fmla="*/ 252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94" h="263">
                  <a:moveTo>
                    <a:pt x="380" y="19"/>
                  </a:moveTo>
                  <a:lnTo>
                    <a:pt x="380" y="216"/>
                  </a:lnTo>
                  <a:lnTo>
                    <a:pt x="374" y="216"/>
                  </a:lnTo>
                  <a:cubicBezTo>
                    <a:pt x="370" y="215"/>
                    <a:pt x="366" y="215"/>
                    <a:pt x="362" y="215"/>
                  </a:cubicBezTo>
                  <a:cubicBezTo>
                    <a:pt x="307" y="215"/>
                    <a:pt x="250" y="230"/>
                    <a:pt x="199" y="256"/>
                  </a:cubicBezTo>
                  <a:lnTo>
                    <a:pt x="197" y="257"/>
                  </a:lnTo>
                  <a:lnTo>
                    <a:pt x="195" y="256"/>
                  </a:lnTo>
                  <a:cubicBezTo>
                    <a:pt x="145" y="230"/>
                    <a:pt x="87" y="215"/>
                    <a:pt x="33" y="215"/>
                  </a:cubicBezTo>
                  <a:cubicBezTo>
                    <a:pt x="28" y="215"/>
                    <a:pt x="24" y="215"/>
                    <a:pt x="20" y="216"/>
                  </a:cubicBezTo>
                  <a:lnTo>
                    <a:pt x="14" y="216"/>
                  </a:lnTo>
                  <a:lnTo>
                    <a:pt x="14" y="19"/>
                  </a:lnTo>
                  <a:cubicBezTo>
                    <a:pt x="10" y="19"/>
                    <a:pt x="5" y="19"/>
                    <a:pt x="0" y="19"/>
                  </a:cubicBezTo>
                  <a:lnTo>
                    <a:pt x="0" y="223"/>
                  </a:lnTo>
                  <a:cubicBezTo>
                    <a:pt x="66" y="222"/>
                    <a:pt x="136" y="236"/>
                    <a:pt x="197" y="263"/>
                  </a:cubicBezTo>
                  <a:cubicBezTo>
                    <a:pt x="259" y="236"/>
                    <a:pt x="328" y="222"/>
                    <a:pt x="394" y="223"/>
                  </a:cubicBezTo>
                  <a:lnTo>
                    <a:pt x="394" y="19"/>
                  </a:lnTo>
                  <a:cubicBezTo>
                    <a:pt x="389" y="19"/>
                    <a:pt x="385" y="19"/>
                    <a:pt x="380" y="19"/>
                  </a:cubicBezTo>
                  <a:close/>
                  <a:moveTo>
                    <a:pt x="191" y="223"/>
                  </a:moveTo>
                  <a:lnTo>
                    <a:pt x="191" y="44"/>
                  </a:lnTo>
                  <a:cubicBezTo>
                    <a:pt x="148" y="16"/>
                    <a:pt x="100" y="0"/>
                    <a:pt x="54" y="2"/>
                  </a:cubicBezTo>
                  <a:lnTo>
                    <a:pt x="54" y="188"/>
                  </a:lnTo>
                  <a:cubicBezTo>
                    <a:pt x="56" y="188"/>
                    <a:pt x="58" y="188"/>
                    <a:pt x="59" y="188"/>
                  </a:cubicBezTo>
                  <a:cubicBezTo>
                    <a:pt x="103" y="188"/>
                    <a:pt x="150" y="200"/>
                    <a:pt x="191" y="223"/>
                  </a:cubicBezTo>
                  <a:close/>
                  <a:moveTo>
                    <a:pt x="340" y="188"/>
                  </a:moveTo>
                  <a:lnTo>
                    <a:pt x="340" y="2"/>
                  </a:lnTo>
                  <a:cubicBezTo>
                    <a:pt x="295" y="0"/>
                    <a:pt x="246" y="16"/>
                    <a:pt x="204" y="44"/>
                  </a:cubicBezTo>
                  <a:lnTo>
                    <a:pt x="204" y="223"/>
                  </a:lnTo>
                  <a:cubicBezTo>
                    <a:pt x="245" y="200"/>
                    <a:pt x="291" y="188"/>
                    <a:pt x="335" y="188"/>
                  </a:cubicBezTo>
                  <a:cubicBezTo>
                    <a:pt x="337" y="188"/>
                    <a:pt x="339" y="188"/>
                    <a:pt x="340" y="188"/>
                  </a:cubicBezTo>
                  <a:close/>
                  <a:moveTo>
                    <a:pt x="197" y="252"/>
                  </a:moveTo>
                  <a:cubicBezTo>
                    <a:pt x="253" y="222"/>
                    <a:pt x="315" y="209"/>
                    <a:pt x="371" y="211"/>
                  </a:cubicBezTo>
                  <a:lnTo>
                    <a:pt x="371" y="4"/>
                  </a:lnTo>
                  <a:cubicBezTo>
                    <a:pt x="364" y="4"/>
                    <a:pt x="357" y="4"/>
                    <a:pt x="350" y="4"/>
                  </a:cubicBezTo>
                  <a:lnTo>
                    <a:pt x="350" y="198"/>
                  </a:lnTo>
                  <a:lnTo>
                    <a:pt x="344" y="197"/>
                  </a:lnTo>
                  <a:cubicBezTo>
                    <a:pt x="341" y="197"/>
                    <a:pt x="337" y="197"/>
                    <a:pt x="334" y="197"/>
                  </a:cubicBezTo>
                  <a:cubicBezTo>
                    <a:pt x="289" y="197"/>
                    <a:pt x="242" y="211"/>
                    <a:pt x="201" y="235"/>
                  </a:cubicBezTo>
                  <a:lnTo>
                    <a:pt x="197" y="237"/>
                  </a:lnTo>
                  <a:lnTo>
                    <a:pt x="194" y="235"/>
                  </a:lnTo>
                  <a:cubicBezTo>
                    <a:pt x="153" y="211"/>
                    <a:pt x="105" y="197"/>
                    <a:pt x="60" y="197"/>
                  </a:cubicBezTo>
                  <a:cubicBezTo>
                    <a:pt x="57" y="197"/>
                    <a:pt x="54" y="197"/>
                    <a:pt x="50" y="197"/>
                  </a:cubicBezTo>
                  <a:lnTo>
                    <a:pt x="45" y="198"/>
                  </a:lnTo>
                  <a:lnTo>
                    <a:pt x="45" y="4"/>
                  </a:lnTo>
                  <a:cubicBezTo>
                    <a:pt x="38" y="4"/>
                    <a:pt x="31" y="4"/>
                    <a:pt x="24" y="4"/>
                  </a:cubicBezTo>
                  <a:lnTo>
                    <a:pt x="24" y="211"/>
                  </a:lnTo>
                  <a:cubicBezTo>
                    <a:pt x="79" y="209"/>
                    <a:pt x="142" y="222"/>
                    <a:pt x="197" y="2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868029" y="198604"/>
            <a:ext cx="472312" cy="484825"/>
            <a:chOff x="2014036" y="-1899592"/>
            <a:chExt cx="1050534" cy="1078364"/>
          </a:xfrm>
        </p:grpSpPr>
        <p:sp>
          <p:nvSpPr>
            <p:cNvPr id="19" name="Oval 6"/>
            <p:cNvSpPr>
              <a:spLocks noChangeArrowheads="1"/>
            </p:cNvSpPr>
            <p:nvPr/>
          </p:nvSpPr>
          <p:spPr bwMode="auto">
            <a:xfrm>
              <a:off x="2014036" y="-1899592"/>
              <a:ext cx="1050534" cy="1078364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0"/>
            <p:cNvSpPr>
              <a:spLocks noEditPoints="1"/>
            </p:cNvSpPr>
            <p:nvPr/>
          </p:nvSpPr>
          <p:spPr bwMode="auto">
            <a:xfrm>
              <a:off x="2313195" y="-1670005"/>
              <a:ext cx="553096" cy="640061"/>
            </a:xfrm>
            <a:custGeom>
              <a:avLst/>
              <a:gdLst>
                <a:gd name="T0" fmla="*/ 214 w 336"/>
                <a:gd name="T1" fmla="*/ 48 h 380"/>
                <a:gd name="T2" fmla="*/ 167 w 336"/>
                <a:gd name="T3" fmla="*/ 95 h 380"/>
                <a:gd name="T4" fmla="*/ 119 w 336"/>
                <a:gd name="T5" fmla="*/ 95 h 380"/>
                <a:gd name="T6" fmla="*/ 72 w 336"/>
                <a:gd name="T7" fmla="*/ 48 h 380"/>
                <a:gd name="T8" fmla="*/ 119 w 336"/>
                <a:gd name="T9" fmla="*/ 0 h 380"/>
                <a:gd name="T10" fmla="*/ 167 w 336"/>
                <a:gd name="T11" fmla="*/ 0 h 380"/>
                <a:gd name="T12" fmla="*/ 214 w 336"/>
                <a:gd name="T13" fmla="*/ 48 h 380"/>
                <a:gd name="T14" fmla="*/ 237 w 336"/>
                <a:gd name="T15" fmla="*/ 48 h 380"/>
                <a:gd name="T16" fmla="*/ 238 w 336"/>
                <a:gd name="T17" fmla="*/ 59 h 380"/>
                <a:gd name="T18" fmla="*/ 179 w 336"/>
                <a:gd name="T19" fmla="*/ 118 h 380"/>
                <a:gd name="T20" fmla="*/ 107 w 336"/>
                <a:gd name="T21" fmla="*/ 118 h 380"/>
                <a:gd name="T22" fmla="*/ 48 w 336"/>
                <a:gd name="T23" fmla="*/ 59 h 380"/>
                <a:gd name="T24" fmla="*/ 49 w 336"/>
                <a:gd name="T25" fmla="*/ 48 h 380"/>
                <a:gd name="T26" fmla="*/ 0 w 336"/>
                <a:gd name="T27" fmla="*/ 106 h 380"/>
                <a:gd name="T28" fmla="*/ 0 w 336"/>
                <a:gd name="T29" fmla="*/ 320 h 380"/>
                <a:gd name="T30" fmla="*/ 60 w 336"/>
                <a:gd name="T31" fmla="*/ 380 h 380"/>
                <a:gd name="T32" fmla="*/ 218 w 336"/>
                <a:gd name="T33" fmla="*/ 380 h 380"/>
                <a:gd name="T34" fmla="*/ 153 w 336"/>
                <a:gd name="T35" fmla="*/ 282 h 380"/>
                <a:gd name="T36" fmla="*/ 260 w 336"/>
                <a:gd name="T37" fmla="*/ 176 h 380"/>
                <a:gd name="T38" fmla="*/ 286 w 336"/>
                <a:gd name="T39" fmla="*/ 179 h 380"/>
                <a:gd name="T40" fmla="*/ 286 w 336"/>
                <a:gd name="T41" fmla="*/ 106 h 380"/>
                <a:gd name="T42" fmla="*/ 237 w 336"/>
                <a:gd name="T43" fmla="*/ 48 h 380"/>
                <a:gd name="T44" fmla="*/ 134 w 336"/>
                <a:gd name="T45" fmla="*/ 238 h 380"/>
                <a:gd name="T46" fmla="*/ 134 w 336"/>
                <a:gd name="T47" fmla="*/ 238 h 380"/>
                <a:gd name="T48" fmla="*/ 60 w 336"/>
                <a:gd name="T49" fmla="*/ 238 h 380"/>
                <a:gd name="T50" fmla="*/ 48 w 336"/>
                <a:gd name="T51" fmla="*/ 226 h 380"/>
                <a:gd name="T52" fmla="*/ 60 w 336"/>
                <a:gd name="T53" fmla="*/ 214 h 380"/>
                <a:gd name="T54" fmla="*/ 134 w 336"/>
                <a:gd name="T55" fmla="*/ 214 h 380"/>
                <a:gd name="T56" fmla="*/ 146 w 336"/>
                <a:gd name="T57" fmla="*/ 226 h 380"/>
                <a:gd name="T58" fmla="*/ 134 w 336"/>
                <a:gd name="T59" fmla="*/ 238 h 380"/>
                <a:gd name="T60" fmla="*/ 158 w 336"/>
                <a:gd name="T61" fmla="*/ 190 h 380"/>
                <a:gd name="T62" fmla="*/ 158 w 336"/>
                <a:gd name="T63" fmla="*/ 190 h 380"/>
                <a:gd name="T64" fmla="*/ 60 w 336"/>
                <a:gd name="T65" fmla="*/ 190 h 380"/>
                <a:gd name="T66" fmla="*/ 48 w 336"/>
                <a:gd name="T67" fmla="*/ 178 h 380"/>
                <a:gd name="T68" fmla="*/ 60 w 336"/>
                <a:gd name="T69" fmla="*/ 167 h 380"/>
                <a:gd name="T70" fmla="*/ 158 w 336"/>
                <a:gd name="T71" fmla="*/ 167 h 380"/>
                <a:gd name="T72" fmla="*/ 170 w 336"/>
                <a:gd name="T73" fmla="*/ 178 h 380"/>
                <a:gd name="T74" fmla="*/ 158 w 336"/>
                <a:gd name="T75" fmla="*/ 190 h 380"/>
                <a:gd name="T76" fmla="*/ 279 w 336"/>
                <a:gd name="T77" fmla="*/ 208 h 380"/>
                <a:gd name="T78" fmla="*/ 260 w 336"/>
                <a:gd name="T79" fmla="*/ 206 h 380"/>
                <a:gd name="T80" fmla="*/ 184 w 336"/>
                <a:gd name="T81" fmla="*/ 281 h 380"/>
                <a:gd name="T82" fmla="*/ 244 w 336"/>
                <a:gd name="T83" fmla="*/ 356 h 380"/>
                <a:gd name="T84" fmla="*/ 260 w 336"/>
                <a:gd name="T85" fmla="*/ 357 h 380"/>
                <a:gd name="T86" fmla="*/ 336 w 336"/>
                <a:gd name="T87" fmla="*/ 281 h 380"/>
                <a:gd name="T88" fmla="*/ 279 w 336"/>
                <a:gd name="T89" fmla="*/ 208 h 380"/>
                <a:gd name="T90" fmla="*/ 303 w 336"/>
                <a:gd name="T91" fmla="*/ 271 h 380"/>
                <a:gd name="T92" fmla="*/ 303 w 336"/>
                <a:gd name="T93" fmla="*/ 271 h 380"/>
                <a:gd name="T94" fmla="*/ 279 w 336"/>
                <a:gd name="T95" fmla="*/ 295 h 380"/>
                <a:gd name="T96" fmla="*/ 260 w 336"/>
                <a:gd name="T97" fmla="*/ 314 h 380"/>
                <a:gd name="T98" fmla="*/ 239 w 336"/>
                <a:gd name="T99" fmla="*/ 314 h 380"/>
                <a:gd name="T100" fmla="*/ 217 w 336"/>
                <a:gd name="T101" fmla="*/ 292 h 380"/>
                <a:gd name="T102" fmla="*/ 217 w 336"/>
                <a:gd name="T103" fmla="*/ 271 h 380"/>
                <a:gd name="T104" fmla="*/ 239 w 336"/>
                <a:gd name="T105" fmla="*/ 271 h 380"/>
                <a:gd name="T106" fmla="*/ 250 w 336"/>
                <a:gd name="T107" fmla="*/ 281 h 380"/>
                <a:gd name="T108" fmla="*/ 279 w 336"/>
                <a:gd name="T109" fmla="*/ 252 h 380"/>
                <a:gd name="T110" fmla="*/ 282 w 336"/>
                <a:gd name="T111" fmla="*/ 249 h 380"/>
                <a:gd name="T112" fmla="*/ 303 w 336"/>
                <a:gd name="T113" fmla="*/ 249 h 380"/>
                <a:gd name="T114" fmla="*/ 303 w 336"/>
                <a:gd name="T115" fmla="*/ 271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36" h="380">
                  <a:moveTo>
                    <a:pt x="214" y="48"/>
                  </a:moveTo>
                  <a:cubicBezTo>
                    <a:pt x="214" y="74"/>
                    <a:pt x="193" y="95"/>
                    <a:pt x="167" y="95"/>
                  </a:cubicBezTo>
                  <a:lnTo>
                    <a:pt x="119" y="95"/>
                  </a:lnTo>
                  <a:cubicBezTo>
                    <a:pt x="93" y="95"/>
                    <a:pt x="72" y="74"/>
                    <a:pt x="72" y="48"/>
                  </a:cubicBezTo>
                  <a:cubicBezTo>
                    <a:pt x="72" y="21"/>
                    <a:pt x="93" y="0"/>
                    <a:pt x="119" y="0"/>
                  </a:cubicBezTo>
                  <a:lnTo>
                    <a:pt x="167" y="0"/>
                  </a:lnTo>
                  <a:cubicBezTo>
                    <a:pt x="193" y="0"/>
                    <a:pt x="214" y="21"/>
                    <a:pt x="214" y="48"/>
                  </a:cubicBezTo>
                  <a:close/>
                  <a:moveTo>
                    <a:pt x="237" y="48"/>
                  </a:moveTo>
                  <a:cubicBezTo>
                    <a:pt x="238" y="51"/>
                    <a:pt x="238" y="55"/>
                    <a:pt x="238" y="59"/>
                  </a:cubicBezTo>
                  <a:cubicBezTo>
                    <a:pt x="238" y="91"/>
                    <a:pt x="211" y="118"/>
                    <a:pt x="179" y="118"/>
                  </a:cubicBezTo>
                  <a:lnTo>
                    <a:pt x="107" y="118"/>
                  </a:lnTo>
                  <a:cubicBezTo>
                    <a:pt x="74" y="118"/>
                    <a:pt x="48" y="91"/>
                    <a:pt x="48" y="59"/>
                  </a:cubicBezTo>
                  <a:cubicBezTo>
                    <a:pt x="48" y="55"/>
                    <a:pt x="48" y="51"/>
                    <a:pt x="49" y="48"/>
                  </a:cubicBezTo>
                  <a:cubicBezTo>
                    <a:pt x="21" y="53"/>
                    <a:pt x="0" y="77"/>
                    <a:pt x="0" y="106"/>
                  </a:cubicBezTo>
                  <a:lnTo>
                    <a:pt x="0" y="320"/>
                  </a:lnTo>
                  <a:cubicBezTo>
                    <a:pt x="0" y="353"/>
                    <a:pt x="27" y="380"/>
                    <a:pt x="60" y="380"/>
                  </a:cubicBezTo>
                  <a:lnTo>
                    <a:pt x="218" y="380"/>
                  </a:lnTo>
                  <a:cubicBezTo>
                    <a:pt x="180" y="363"/>
                    <a:pt x="153" y="326"/>
                    <a:pt x="153" y="282"/>
                  </a:cubicBezTo>
                  <a:cubicBezTo>
                    <a:pt x="153" y="223"/>
                    <a:pt x="201" y="176"/>
                    <a:pt x="260" y="176"/>
                  </a:cubicBezTo>
                  <a:cubicBezTo>
                    <a:pt x="269" y="176"/>
                    <a:pt x="277" y="177"/>
                    <a:pt x="286" y="179"/>
                  </a:cubicBezTo>
                  <a:lnTo>
                    <a:pt x="286" y="106"/>
                  </a:lnTo>
                  <a:cubicBezTo>
                    <a:pt x="286" y="77"/>
                    <a:pt x="265" y="53"/>
                    <a:pt x="237" y="48"/>
                  </a:cubicBezTo>
                  <a:close/>
                  <a:moveTo>
                    <a:pt x="134" y="238"/>
                  </a:moveTo>
                  <a:lnTo>
                    <a:pt x="134" y="238"/>
                  </a:lnTo>
                  <a:lnTo>
                    <a:pt x="60" y="238"/>
                  </a:lnTo>
                  <a:cubicBezTo>
                    <a:pt x="53" y="238"/>
                    <a:pt x="48" y="233"/>
                    <a:pt x="48" y="226"/>
                  </a:cubicBezTo>
                  <a:cubicBezTo>
                    <a:pt x="48" y="219"/>
                    <a:pt x="53" y="214"/>
                    <a:pt x="60" y="214"/>
                  </a:cubicBezTo>
                  <a:lnTo>
                    <a:pt x="134" y="214"/>
                  </a:lnTo>
                  <a:cubicBezTo>
                    <a:pt x="141" y="214"/>
                    <a:pt x="146" y="219"/>
                    <a:pt x="146" y="226"/>
                  </a:cubicBezTo>
                  <a:cubicBezTo>
                    <a:pt x="146" y="233"/>
                    <a:pt x="141" y="238"/>
                    <a:pt x="134" y="238"/>
                  </a:cubicBezTo>
                  <a:close/>
                  <a:moveTo>
                    <a:pt x="158" y="190"/>
                  </a:moveTo>
                  <a:lnTo>
                    <a:pt x="158" y="190"/>
                  </a:lnTo>
                  <a:lnTo>
                    <a:pt x="60" y="190"/>
                  </a:lnTo>
                  <a:cubicBezTo>
                    <a:pt x="53" y="190"/>
                    <a:pt x="48" y="185"/>
                    <a:pt x="48" y="178"/>
                  </a:cubicBezTo>
                  <a:cubicBezTo>
                    <a:pt x="48" y="172"/>
                    <a:pt x="53" y="167"/>
                    <a:pt x="60" y="167"/>
                  </a:cubicBezTo>
                  <a:lnTo>
                    <a:pt x="158" y="167"/>
                  </a:lnTo>
                  <a:cubicBezTo>
                    <a:pt x="164" y="167"/>
                    <a:pt x="170" y="172"/>
                    <a:pt x="170" y="178"/>
                  </a:cubicBezTo>
                  <a:cubicBezTo>
                    <a:pt x="170" y="185"/>
                    <a:pt x="164" y="190"/>
                    <a:pt x="158" y="190"/>
                  </a:cubicBezTo>
                  <a:close/>
                  <a:moveTo>
                    <a:pt x="279" y="208"/>
                  </a:moveTo>
                  <a:cubicBezTo>
                    <a:pt x="273" y="207"/>
                    <a:pt x="267" y="206"/>
                    <a:pt x="260" y="206"/>
                  </a:cubicBezTo>
                  <a:cubicBezTo>
                    <a:pt x="218" y="206"/>
                    <a:pt x="184" y="240"/>
                    <a:pt x="184" y="281"/>
                  </a:cubicBezTo>
                  <a:cubicBezTo>
                    <a:pt x="184" y="318"/>
                    <a:pt x="210" y="348"/>
                    <a:pt x="244" y="356"/>
                  </a:cubicBezTo>
                  <a:cubicBezTo>
                    <a:pt x="249" y="357"/>
                    <a:pt x="255" y="357"/>
                    <a:pt x="260" y="357"/>
                  </a:cubicBezTo>
                  <a:cubicBezTo>
                    <a:pt x="302" y="357"/>
                    <a:pt x="336" y="323"/>
                    <a:pt x="336" y="281"/>
                  </a:cubicBezTo>
                  <a:cubicBezTo>
                    <a:pt x="336" y="246"/>
                    <a:pt x="312" y="216"/>
                    <a:pt x="279" y="208"/>
                  </a:cubicBezTo>
                  <a:close/>
                  <a:moveTo>
                    <a:pt x="303" y="271"/>
                  </a:moveTo>
                  <a:lnTo>
                    <a:pt x="303" y="271"/>
                  </a:lnTo>
                  <a:lnTo>
                    <a:pt x="279" y="295"/>
                  </a:lnTo>
                  <a:lnTo>
                    <a:pt x="260" y="314"/>
                  </a:lnTo>
                  <a:cubicBezTo>
                    <a:pt x="254" y="320"/>
                    <a:pt x="245" y="320"/>
                    <a:pt x="239" y="314"/>
                  </a:cubicBezTo>
                  <a:lnTo>
                    <a:pt x="217" y="292"/>
                  </a:lnTo>
                  <a:cubicBezTo>
                    <a:pt x="211" y="286"/>
                    <a:pt x="211" y="277"/>
                    <a:pt x="217" y="271"/>
                  </a:cubicBezTo>
                  <a:cubicBezTo>
                    <a:pt x="223" y="265"/>
                    <a:pt x="233" y="265"/>
                    <a:pt x="239" y="271"/>
                  </a:cubicBezTo>
                  <a:lnTo>
                    <a:pt x="250" y="281"/>
                  </a:lnTo>
                  <a:lnTo>
                    <a:pt x="279" y="252"/>
                  </a:lnTo>
                  <a:lnTo>
                    <a:pt x="282" y="249"/>
                  </a:lnTo>
                  <a:cubicBezTo>
                    <a:pt x="288" y="243"/>
                    <a:pt x="297" y="243"/>
                    <a:pt x="303" y="249"/>
                  </a:cubicBezTo>
                  <a:cubicBezTo>
                    <a:pt x="309" y="255"/>
                    <a:pt x="309" y="265"/>
                    <a:pt x="303" y="2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471677" y="198604"/>
            <a:ext cx="472312" cy="484825"/>
            <a:chOff x="3252414" y="-1899592"/>
            <a:chExt cx="1050534" cy="1078364"/>
          </a:xfrm>
        </p:grpSpPr>
        <p:sp>
          <p:nvSpPr>
            <p:cNvPr id="22" name="Oval 7"/>
            <p:cNvSpPr>
              <a:spLocks noChangeArrowheads="1"/>
            </p:cNvSpPr>
            <p:nvPr/>
          </p:nvSpPr>
          <p:spPr bwMode="auto">
            <a:xfrm>
              <a:off x="3252414" y="-1899592"/>
              <a:ext cx="1050534" cy="107836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11"/>
            <p:cNvSpPr>
              <a:spLocks noEditPoints="1"/>
            </p:cNvSpPr>
            <p:nvPr/>
          </p:nvSpPr>
          <p:spPr bwMode="auto">
            <a:xfrm>
              <a:off x="3450694" y="-1683919"/>
              <a:ext cx="594839" cy="647018"/>
            </a:xfrm>
            <a:custGeom>
              <a:avLst/>
              <a:gdLst>
                <a:gd name="T0" fmla="*/ 136 w 360"/>
                <a:gd name="T1" fmla="*/ 238 h 383"/>
                <a:gd name="T2" fmla="*/ 130 w 360"/>
                <a:gd name="T3" fmla="*/ 217 h 383"/>
                <a:gd name="T4" fmla="*/ 157 w 360"/>
                <a:gd name="T5" fmla="*/ 104 h 383"/>
                <a:gd name="T6" fmla="*/ 187 w 360"/>
                <a:gd name="T7" fmla="*/ 195 h 383"/>
                <a:gd name="T8" fmla="*/ 223 w 360"/>
                <a:gd name="T9" fmla="*/ 90 h 383"/>
                <a:gd name="T10" fmla="*/ 142 w 360"/>
                <a:gd name="T11" fmla="*/ 179 h 383"/>
                <a:gd name="T12" fmla="*/ 136 w 360"/>
                <a:gd name="T13" fmla="*/ 191 h 383"/>
                <a:gd name="T14" fmla="*/ 185 w 360"/>
                <a:gd name="T15" fmla="*/ 220 h 383"/>
                <a:gd name="T16" fmla="*/ 237 w 360"/>
                <a:gd name="T17" fmla="*/ 76 h 383"/>
                <a:gd name="T18" fmla="*/ 240 w 360"/>
                <a:gd name="T19" fmla="*/ 49 h 383"/>
                <a:gd name="T20" fmla="*/ 237 w 360"/>
                <a:gd name="T21" fmla="*/ 76 h 383"/>
                <a:gd name="T22" fmla="*/ 281 w 360"/>
                <a:gd name="T23" fmla="*/ 90 h 383"/>
                <a:gd name="T24" fmla="*/ 253 w 360"/>
                <a:gd name="T25" fmla="*/ 93 h 383"/>
                <a:gd name="T26" fmla="*/ 205 w 360"/>
                <a:gd name="T27" fmla="*/ 64 h 383"/>
                <a:gd name="T28" fmla="*/ 194 w 360"/>
                <a:gd name="T29" fmla="*/ 39 h 383"/>
                <a:gd name="T30" fmla="*/ 205 w 360"/>
                <a:gd name="T31" fmla="*/ 64 h 383"/>
                <a:gd name="T32" fmla="*/ 159 w 360"/>
                <a:gd name="T33" fmla="*/ 48 h 383"/>
                <a:gd name="T34" fmla="*/ 161 w 360"/>
                <a:gd name="T35" fmla="*/ 76 h 383"/>
                <a:gd name="T36" fmla="*/ 264 w 360"/>
                <a:gd name="T37" fmla="*/ 137 h 383"/>
                <a:gd name="T38" fmla="*/ 290 w 360"/>
                <a:gd name="T39" fmla="*/ 125 h 383"/>
                <a:gd name="T40" fmla="*/ 264 w 360"/>
                <a:gd name="T41" fmla="*/ 137 h 383"/>
                <a:gd name="T42" fmla="*/ 132 w 360"/>
                <a:gd name="T43" fmla="*/ 196 h 383"/>
                <a:gd name="T44" fmla="*/ 126 w 360"/>
                <a:gd name="T45" fmla="*/ 208 h 383"/>
                <a:gd name="T46" fmla="*/ 175 w 360"/>
                <a:gd name="T47" fmla="*/ 237 h 383"/>
                <a:gd name="T48" fmla="*/ 131 w 360"/>
                <a:gd name="T49" fmla="*/ 383 h 383"/>
                <a:gd name="T50" fmla="*/ 141 w 360"/>
                <a:gd name="T51" fmla="*/ 22 h 383"/>
                <a:gd name="T52" fmla="*/ 342 w 360"/>
                <a:gd name="T53" fmla="*/ 109 h 383"/>
                <a:gd name="T54" fmla="*/ 345 w 360"/>
                <a:gd name="T55" fmla="*/ 167 h 383"/>
                <a:gd name="T56" fmla="*/ 356 w 360"/>
                <a:gd name="T57" fmla="*/ 240 h 383"/>
                <a:gd name="T58" fmla="*/ 343 w 360"/>
                <a:gd name="T59" fmla="*/ 301 h 383"/>
                <a:gd name="T60" fmla="*/ 269 w 360"/>
                <a:gd name="T61" fmla="*/ 318 h 383"/>
                <a:gd name="T62" fmla="*/ 131 w 360"/>
                <a:gd name="T63" fmla="*/ 383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60" h="383">
                  <a:moveTo>
                    <a:pt x="130" y="217"/>
                  </a:moveTo>
                  <a:cubicBezTo>
                    <a:pt x="126" y="224"/>
                    <a:pt x="129" y="234"/>
                    <a:pt x="136" y="238"/>
                  </a:cubicBezTo>
                  <a:cubicBezTo>
                    <a:pt x="143" y="242"/>
                    <a:pt x="151" y="241"/>
                    <a:pt x="156" y="236"/>
                  </a:cubicBezTo>
                  <a:lnTo>
                    <a:pt x="130" y="217"/>
                  </a:lnTo>
                  <a:close/>
                  <a:moveTo>
                    <a:pt x="223" y="90"/>
                  </a:moveTo>
                  <a:cubicBezTo>
                    <a:pt x="199" y="76"/>
                    <a:pt x="170" y="83"/>
                    <a:pt x="157" y="104"/>
                  </a:cubicBezTo>
                  <a:cubicBezTo>
                    <a:pt x="144" y="127"/>
                    <a:pt x="161" y="151"/>
                    <a:pt x="149" y="174"/>
                  </a:cubicBezTo>
                  <a:lnTo>
                    <a:pt x="187" y="195"/>
                  </a:lnTo>
                  <a:cubicBezTo>
                    <a:pt x="201" y="174"/>
                    <a:pt x="231" y="176"/>
                    <a:pt x="243" y="154"/>
                  </a:cubicBezTo>
                  <a:cubicBezTo>
                    <a:pt x="256" y="132"/>
                    <a:pt x="247" y="104"/>
                    <a:pt x="223" y="90"/>
                  </a:cubicBezTo>
                  <a:close/>
                  <a:moveTo>
                    <a:pt x="183" y="209"/>
                  </a:moveTo>
                  <a:lnTo>
                    <a:pt x="142" y="179"/>
                  </a:lnTo>
                  <a:cubicBezTo>
                    <a:pt x="139" y="176"/>
                    <a:pt x="135" y="177"/>
                    <a:pt x="133" y="181"/>
                  </a:cubicBezTo>
                  <a:cubicBezTo>
                    <a:pt x="132" y="184"/>
                    <a:pt x="132" y="188"/>
                    <a:pt x="136" y="191"/>
                  </a:cubicBezTo>
                  <a:lnTo>
                    <a:pt x="176" y="221"/>
                  </a:lnTo>
                  <a:cubicBezTo>
                    <a:pt x="179" y="224"/>
                    <a:pt x="183" y="223"/>
                    <a:pt x="185" y="220"/>
                  </a:cubicBezTo>
                  <a:cubicBezTo>
                    <a:pt x="187" y="216"/>
                    <a:pt x="186" y="212"/>
                    <a:pt x="183" y="209"/>
                  </a:cubicBezTo>
                  <a:close/>
                  <a:moveTo>
                    <a:pt x="237" y="76"/>
                  </a:moveTo>
                  <a:lnTo>
                    <a:pt x="250" y="54"/>
                  </a:lnTo>
                  <a:lnTo>
                    <a:pt x="240" y="49"/>
                  </a:lnTo>
                  <a:lnTo>
                    <a:pt x="227" y="70"/>
                  </a:lnTo>
                  <a:lnTo>
                    <a:pt x="237" y="76"/>
                  </a:lnTo>
                  <a:close/>
                  <a:moveTo>
                    <a:pt x="259" y="103"/>
                  </a:moveTo>
                  <a:lnTo>
                    <a:pt x="281" y="90"/>
                  </a:lnTo>
                  <a:lnTo>
                    <a:pt x="275" y="80"/>
                  </a:lnTo>
                  <a:lnTo>
                    <a:pt x="253" y="93"/>
                  </a:lnTo>
                  <a:lnTo>
                    <a:pt x="259" y="103"/>
                  </a:lnTo>
                  <a:close/>
                  <a:moveTo>
                    <a:pt x="205" y="64"/>
                  </a:moveTo>
                  <a:lnTo>
                    <a:pt x="205" y="39"/>
                  </a:lnTo>
                  <a:lnTo>
                    <a:pt x="194" y="39"/>
                  </a:lnTo>
                  <a:lnTo>
                    <a:pt x="194" y="64"/>
                  </a:lnTo>
                  <a:lnTo>
                    <a:pt x="205" y="64"/>
                  </a:lnTo>
                  <a:close/>
                  <a:moveTo>
                    <a:pt x="172" y="70"/>
                  </a:moveTo>
                  <a:lnTo>
                    <a:pt x="159" y="48"/>
                  </a:lnTo>
                  <a:lnTo>
                    <a:pt x="149" y="54"/>
                  </a:lnTo>
                  <a:lnTo>
                    <a:pt x="161" y="76"/>
                  </a:lnTo>
                  <a:lnTo>
                    <a:pt x="172" y="70"/>
                  </a:lnTo>
                  <a:close/>
                  <a:moveTo>
                    <a:pt x="264" y="137"/>
                  </a:moveTo>
                  <a:lnTo>
                    <a:pt x="290" y="137"/>
                  </a:lnTo>
                  <a:lnTo>
                    <a:pt x="290" y="125"/>
                  </a:lnTo>
                  <a:lnTo>
                    <a:pt x="264" y="125"/>
                  </a:lnTo>
                  <a:lnTo>
                    <a:pt x="264" y="137"/>
                  </a:lnTo>
                  <a:close/>
                  <a:moveTo>
                    <a:pt x="173" y="227"/>
                  </a:moveTo>
                  <a:lnTo>
                    <a:pt x="132" y="196"/>
                  </a:lnTo>
                  <a:cubicBezTo>
                    <a:pt x="129" y="194"/>
                    <a:pt x="125" y="195"/>
                    <a:pt x="123" y="198"/>
                  </a:cubicBezTo>
                  <a:cubicBezTo>
                    <a:pt x="122" y="201"/>
                    <a:pt x="122" y="206"/>
                    <a:pt x="126" y="208"/>
                  </a:cubicBezTo>
                  <a:lnTo>
                    <a:pt x="166" y="239"/>
                  </a:lnTo>
                  <a:cubicBezTo>
                    <a:pt x="169" y="241"/>
                    <a:pt x="173" y="240"/>
                    <a:pt x="175" y="237"/>
                  </a:cubicBezTo>
                  <a:cubicBezTo>
                    <a:pt x="177" y="234"/>
                    <a:pt x="176" y="229"/>
                    <a:pt x="173" y="227"/>
                  </a:cubicBezTo>
                  <a:close/>
                  <a:moveTo>
                    <a:pt x="131" y="383"/>
                  </a:moveTo>
                  <a:cubicBezTo>
                    <a:pt x="136" y="353"/>
                    <a:pt x="136" y="321"/>
                    <a:pt x="127" y="293"/>
                  </a:cubicBezTo>
                  <a:cubicBezTo>
                    <a:pt x="0" y="221"/>
                    <a:pt x="34" y="56"/>
                    <a:pt x="141" y="22"/>
                  </a:cubicBezTo>
                  <a:cubicBezTo>
                    <a:pt x="197" y="0"/>
                    <a:pt x="274" y="13"/>
                    <a:pt x="323" y="63"/>
                  </a:cubicBezTo>
                  <a:cubicBezTo>
                    <a:pt x="360" y="99"/>
                    <a:pt x="342" y="109"/>
                    <a:pt x="342" y="109"/>
                  </a:cubicBezTo>
                  <a:lnTo>
                    <a:pt x="334" y="113"/>
                  </a:lnTo>
                  <a:cubicBezTo>
                    <a:pt x="339" y="131"/>
                    <a:pt x="346" y="162"/>
                    <a:pt x="345" y="167"/>
                  </a:cubicBezTo>
                  <a:cubicBezTo>
                    <a:pt x="344" y="173"/>
                    <a:pt x="337" y="179"/>
                    <a:pt x="337" y="179"/>
                  </a:cubicBezTo>
                  <a:lnTo>
                    <a:pt x="356" y="240"/>
                  </a:lnTo>
                  <a:lnTo>
                    <a:pt x="339" y="246"/>
                  </a:lnTo>
                  <a:cubicBezTo>
                    <a:pt x="343" y="266"/>
                    <a:pt x="345" y="282"/>
                    <a:pt x="343" y="301"/>
                  </a:cubicBezTo>
                  <a:cubicBezTo>
                    <a:pt x="343" y="305"/>
                    <a:pt x="332" y="314"/>
                    <a:pt x="323" y="315"/>
                  </a:cubicBezTo>
                  <a:lnTo>
                    <a:pt x="269" y="318"/>
                  </a:lnTo>
                  <a:lnTo>
                    <a:pt x="272" y="383"/>
                  </a:lnTo>
                  <a:lnTo>
                    <a:pt x="131" y="3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075327" y="198604"/>
            <a:ext cx="473877" cy="484825"/>
            <a:chOff x="4553407" y="-1899592"/>
            <a:chExt cx="1054013" cy="1078364"/>
          </a:xfrm>
        </p:grpSpPr>
        <p:sp>
          <p:nvSpPr>
            <p:cNvPr id="25" name="Oval 8"/>
            <p:cNvSpPr>
              <a:spLocks noChangeArrowheads="1"/>
            </p:cNvSpPr>
            <p:nvPr/>
          </p:nvSpPr>
          <p:spPr bwMode="auto">
            <a:xfrm>
              <a:off x="4553407" y="-1899592"/>
              <a:ext cx="1054013" cy="1078364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12"/>
            <p:cNvSpPr>
              <a:spLocks noEditPoints="1"/>
            </p:cNvSpPr>
            <p:nvPr/>
          </p:nvSpPr>
          <p:spPr bwMode="auto">
            <a:xfrm>
              <a:off x="4824737" y="-1683919"/>
              <a:ext cx="594839" cy="650497"/>
            </a:xfrm>
            <a:custGeom>
              <a:avLst/>
              <a:gdLst>
                <a:gd name="T0" fmla="*/ 108 w 360"/>
                <a:gd name="T1" fmla="*/ 59 h 384"/>
                <a:gd name="T2" fmla="*/ 236 w 360"/>
                <a:gd name="T3" fmla="*/ 43 h 384"/>
                <a:gd name="T4" fmla="*/ 190 w 360"/>
                <a:gd name="T5" fmla="*/ 26 h 384"/>
                <a:gd name="T6" fmla="*/ 138 w 360"/>
                <a:gd name="T7" fmla="*/ 26 h 384"/>
                <a:gd name="T8" fmla="*/ 92 w 360"/>
                <a:gd name="T9" fmla="*/ 43 h 384"/>
                <a:gd name="T10" fmla="*/ 296 w 360"/>
                <a:gd name="T11" fmla="*/ 332 h 384"/>
                <a:gd name="T12" fmla="*/ 301 w 360"/>
                <a:gd name="T13" fmla="*/ 321 h 384"/>
                <a:gd name="T14" fmla="*/ 280 w 360"/>
                <a:gd name="T15" fmla="*/ 249 h 384"/>
                <a:gd name="T16" fmla="*/ 267 w 360"/>
                <a:gd name="T17" fmla="*/ 249 h 384"/>
                <a:gd name="T18" fmla="*/ 267 w 360"/>
                <a:gd name="T19" fmla="*/ 304 h 384"/>
                <a:gd name="T20" fmla="*/ 268 w 360"/>
                <a:gd name="T21" fmla="*/ 306 h 384"/>
                <a:gd name="T22" fmla="*/ 268 w 360"/>
                <a:gd name="T23" fmla="*/ 307 h 384"/>
                <a:gd name="T24" fmla="*/ 269 w 360"/>
                <a:gd name="T25" fmla="*/ 308 h 384"/>
                <a:gd name="T26" fmla="*/ 343 w 360"/>
                <a:gd name="T27" fmla="*/ 253 h 384"/>
                <a:gd name="T28" fmla="*/ 274 w 360"/>
                <a:gd name="T29" fmla="*/ 217 h 384"/>
                <a:gd name="T30" fmla="*/ 258 w 360"/>
                <a:gd name="T31" fmla="*/ 382 h 384"/>
                <a:gd name="T32" fmla="*/ 356 w 360"/>
                <a:gd name="T33" fmla="*/ 316 h 384"/>
                <a:gd name="T34" fmla="*/ 343 w 360"/>
                <a:gd name="T35" fmla="*/ 313 h 384"/>
                <a:gd name="T36" fmla="*/ 274 w 360"/>
                <a:gd name="T37" fmla="*/ 371 h 384"/>
                <a:gd name="T38" fmla="*/ 205 w 360"/>
                <a:gd name="T39" fmla="*/ 287 h 384"/>
                <a:gd name="T40" fmla="*/ 287 w 360"/>
                <a:gd name="T41" fmla="*/ 231 h 384"/>
                <a:gd name="T42" fmla="*/ 343 w 360"/>
                <a:gd name="T43" fmla="*/ 313 h 384"/>
                <a:gd name="T44" fmla="*/ 121 w 360"/>
                <a:gd name="T45" fmla="*/ 313 h 384"/>
                <a:gd name="T46" fmla="*/ 206 w 360"/>
                <a:gd name="T47" fmla="*/ 228 h 384"/>
                <a:gd name="T48" fmla="*/ 224 w 360"/>
                <a:gd name="T49" fmla="*/ 215 h 384"/>
                <a:gd name="T50" fmla="*/ 311 w 360"/>
                <a:gd name="T51" fmla="*/ 130 h 384"/>
                <a:gd name="T52" fmla="*/ 314 w 360"/>
                <a:gd name="T53" fmla="*/ 210 h 384"/>
                <a:gd name="T54" fmla="*/ 328 w 360"/>
                <a:gd name="T55" fmla="*/ 215 h 384"/>
                <a:gd name="T56" fmla="*/ 328 w 360"/>
                <a:gd name="T57" fmla="*/ 88 h 384"/>
                <a:gd name="T58" fmla="*/ 17 w 360"/>
                <a:gd name="T59" fmla="*/ 71 h 384"/>
                <a:gd name="T60" fmla="*/ 0 w 360"/>
                <a:gd name="T61" fmla="*/ 134 h 384"/>
                <a:gd name="T62" fmla="*/ 0 w 360"/>
                <a:gd name="T63" fmla="*/ 228 h 384"/>
                <a:gd name="T64" fmla="*/ 0 w 360"/>
                <a:gd name="T65" fmla="*/ 319 h 384"/>
                <a:gd name="T66" fmla="*/ 181 w 360"/>
                <a:gd name="T67" fmla="*/ 336 h 384"/>
                <a:gd name="T68" fmla="*/ 14 w 360"/>
                <a:gd name="T69" fmla="*/ 134 h 384"/>
                <a:gd name="T70" fmla="*/ 17 w 360"/>
                <a:gd name="T71" fmla="*/ 130 h 384"/>
                <a:gd name="T72" fmla="*/ 107 w 360"/>
                <a:gd name="T73" fmla="*/ 215 h 384"/>
                <a:gd name="T74" fmla="*/ 14 w 360"/>
                <a:gd name="T75" fmla="*/ 134 h 384"/>
                <a:gd name="T76" fmla="*/ 107 w 360"/>
                <a:gd name="T77" fmla="*/ 228 h 384"/>
                <a:gd name="T78" fmla="*/ 17 w 360"/>
                <a:gd name="T79" fmla="*/ 313 h 384"/>
                <a:gd name="T80" fmla="*/ 14 w 360"/>
                <a:gd name="T81" fmla="*/ 228 h 384"/>
                <a:gd name="T82" fmla="*/ 121 w 360"/>
                <a:gd name="T83" fmla="*/ 215 h 384"/>
                <a:gd name="T84" fmla="*/ 121 w 360"/>
                <a:gd name="T85" fmla="*/ 130 h 384"/>
                <a:gd name="T86" fmla="*/ 210 w 360"/>
                <a:gd name="T87" fmla="*/ 215 h 384"/>
                <a:gd name="T88" fmla="*/ 217 w 360"/>
                <a:gd name="T89" fmla="*/ 88 h 384"/>
                <a:gd name="T90" fmla="*/ 229 w 360"/>
                <a:gd name="T91" fmla="*/ 100 h 384"/>
                <a:gd name="T92" fmla="*/ 205 w 360"/>
                <a:gd name="T93" fmla="*/ 100 h 384"/>
                <a:gd name="T94" fmla="*/ 114 w 360"/>
                <a:gd name="T95" fmla="*/ 88 h 384"/>
                <a:gd name="T96" fmla="*/ 126 w 360"/>
                <a:gd name="T97" fmla="*/ 100 h 384"/>
                <a:gd name="T98" fmla="*/ 103 w 360"/>
                <a:gd name="T99" fmla="*/ 10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60" h="384">
                  <a:moveTo>
                    <a:pt x="92" y="43"/>
                  </a:moveTo>
                  <a:cubicBezTo>
                    <a:pt x="92" y="52"/>
                    <a:pt x="100" y="59"/>
                    <a:pt x="108" y="59"/>
                  </a:cubicBezTo>
                  <a:lnTo>
                    <a:pt x="220" y="59"/>
                  </a:lnTo>
                  <a:cubicBezTo>
                    <a:pt x="229" y="59"/>
                    <a:pt x="236" y="52"/>
                    <a:pt x="236" y="43"/>
                  </a:cubicBezTo>
                  <a:cubicBezTo>
                    <a:pt x="236" y="34"/>
                    <a:pt x="229" y="26"/>
                    <a:pt x="220" y="26"/>
                  </a:cubicBezTo>
                  <a:lnTo>
                    <a:pt x="190" y="26"/>
                  </a:lnTo>
                  <a:cubicBezTo>
                    <a:pt x="190" y="12"/>
                    <a:pt x="179" y="0"/>
                    <a:pt x="164" y="0"/>
                  </a:cubicBezTo>
                  <a:cubicBezTo>
                    <a:pt x="150" y="0"/>
                    <a:pt x="138" y="12"/>
                    <a:pt x="138" y="26"/>
                  </a:cubicBezTo>
                  <a:lnTo>
                    <a:pt x="108" y="26"/>
                  </a:lnTo>
                  <a:cubicBezTo>
                    <a:pt x="100" y="26"/>
                    <a:pt x="92" y="34"/>
                    <a:pt x="92" y="43"/>
                  </a:cubicBezTo>
                  <a:close/>
                  <a:moveTo>
                    <a:pt x="292" y="330"/>
                  </a:moveTo>
                  <a:cubicBezTo>
                    <a:pt x="293" y="332"/>
                    <a:pt x="295" y="332"/>
                    <a:pt x="296" y="332"/>
                  </a:cubicBezTo>
                  <a:cubicBezTo>
                    <a:pt x="298" y="332"/>
                    <a:pt x="300" y="332"/>
                    <a:pt x="301" y="330"/>
                  </a:cubicBezTo>
                  <a:cubicBezTo>
                    <a:pt x="304" y="328"/>
                    <a:pt x="304" y="323"/>
                    <a:pt x="301" y="321"/>
                  </a:cubicBezTo>
                  <a:lnTo>
                    <a:pt x="280" y="300"/>
                  </a:lnTo>
                  <a:lnTo>
                    <a:pt x="280" y="249"/>
                  </a:lnTo>
                  <a:cubicBezTo>
                    <a:pt x="280" y="245"/>
                    <a:pt x="278" y="242"/>
                    <a:pt x="274" y="242"/>
                  </a:cubicBezTo>
                  <a:cubicBezTo>
                    <a:pt x="270" y="242"/>
                    <a:pt x="267" y="245"/>
                    <a:pt x="267" y="249"/>
                  </a:cubicBezTo>
                  <a:lnTo>
                    <a:pt x="267" y="303"/>
                  </a:lnTo>
                  <a:cubicBezTo>
                    <a:pt x="267" y="303"/>
                    <a:pt x="267" y="304"/>
                    <a:pt x="267" y="304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8" y="305"/>
                    <a:pt x="268" y="306"/>
                  </a:cubicBezTo>
                  <a:cubicBezTo>
                    <a:pt x="268" y="306"/>
                    <a:pt x="268" y="306"/>
                    <a:pt x="268" y="306"/>
                  </a:cubicBezTo>
                  <a:cubicBezTo>
                    <a:pt x="268" y="306"/>
                    <a:pt x="268" y="307"/>
                    <a:pt x="268" y="307"/>
                  </a:cubicBezTo>
                  <a:cubicBezTo>
                    <a:pt x="268" y="307"/>
                    <a:pt x="269" y="307"/>
                    <a:pt x="269" y="308"/>
                  </a:cubicBezTo>
                  <a:cubicBezTo>
                    <a:pt x="269" y="308"/>
                    <a:pt x="269" y="308"/>
                    <a:pt x="269" y="308"/>
                  </a:cubicBezTo>
                  <a:lnTo>
                    <a:pt x="292" y="330"/>
                  </a:lnTo>
                  <a:close/>
                  <a:moveTo>
                    <a:pt x="343" y="253"/>
                  </a:moveTo>
                  <a:cubicBezTo>
                    <a:pt x="330" y="235"/>
                    <a:pt x="311" y="222"/>
                    <a:pt x="289" y="218"/>
                  </a:cubicBezTo>
                  <a:cubicBezTo>
                    <a:pt x="284" y="217"/>
                    <a:pt x="279" y="217"/>
                    <a:pt x="274" y="217"/>
                  </a:cubicBezTo>
                  <a:cubicBezTo>
                    <a:pt x="234" y="217"/>
                    <a:pt x="199" y="245"/>
                    <a:pt x="192" y="285"/>
                  </a:cubicBezTo>
                  <a:cubicBezTo>
                    <a:pt x="183" y="330"/>
                    <a:pt x="213" y="373"/>
                    <a:pt x="258" y="382"/>
                  </a:cubicBezTo>
                  <a:cubicBezTo>
                    <a:pt x="263" y="383"/>
                    <a:pt x="269" y="384"/>
                    <a:pt x="274" y="384"/>
                  </a:cubicBezTo>
                  <a:cubicBezTo>
                    <a:pt x="314" y="384"/>
                    <a:pt x="348" y="355"/>
                    <a:pt x="356" y="316"/>
                  </a:cubicBezTo>
                  <a:cubicBezTo>
                    <a:pt x="360" y="294"/>
                    <a:pt x="355" y="272"/>
                    <a:pt x="343" y="253"/>
                  </a:cubicBezTo>
                  <a:close/>
                  <a:moveTo>
                    <a:pt x="343" y="313"/>
                  </a:moveTo>
                  <a:lnTo>
                    <a:pt x="343" y="313"/>
                  </a:lnTo>
                  <a:cubicBezTo>
                    <a:pt x="337" y="347"/>
                    <a:pt x="308" y="371"/>
                    <a:pt x="274" y="371"/>
                  </a:cubicBezTo>
                  <a:cubicBezTo>
                    <a:pt x="269" y="371"/>
                    <a:pt x="265" y="370"/>
                    <a:pt x="261" y="369"/>
                  </a:cubicBezTo>
                  <a:cubicBezTo>
                    <a:pt x="222" y="362"/>
                    <a:pt x="197" y="325"/>
                    <a:pt x="205" y="287"/>
                  </a:cubicBezTo>
                  <a:cubicBezTo>
                    <a:pt x="211" y="254"/>
                    <a:pt x="240" y="230"/>
                    <a:pt x="274" y="230"/>
                  </a:cubicBezTo>
                  <a:cubicBezTo>
                    <a:pt x="278" y="230"/>
                    <a:pt x="283" y="230"/>
                    <a:pt x="287" y="231"/>
                  </a:cubicBezTo>
                  <a:cubicBezTo>
                    <a:pt x="306" y="234"/>
                    <a:pt x="322" y="245"/>
                    <a:pt x="332" y="261"/>
                  </a:cubicBezTo>
                  <a:cubicBezTo>
                    <a:pt x="343" y="276"/>
                    <a:pt x="347" y="295"/>
                    <a:pt x="343" y="313"/>
                  </a:cubicBezTo>
                  <a:close/>
                  <a:moveTo>
                    <a:pt x="176" y="313"/>
                  </a:moveTo>
                  <a:lnTo>
                    <a:pt x="121" y="313"/>
                  </a:lnTo>
                  <a:lnTo>
                    <a:pt x="121" y="228"/>
                  </a:lnTo>
                  <a:lnTo>
                    <a:pt x="206" y="228"/>
                  </a:lnTo>
                  <a:cubicBezTo>
                    <a:pt x="211" y="223"/>
                    <a:pt x="217" y="218"/>
                    <a:pt x="224" y="215"/>
                  </a:cubicBezTo>
                  <a:lnTo>
                    <a:pt x="224" y="215"/>
                  </a:lnTo>
                  <a:lnTo>
                    <a:pt x="224" y="130"/>
                  </a:lnTo>
                  <a:lnTo>
                    <a:pt x="311" y="130"/>
                  </a:lnTo>
                  <a:cubicBezTo>
                    <a:pt x="313" y="130"/>
                    <a:pt x="314" y="132"/>
                    <a:pt x="314" y="134"/>
                  </a:cubicBezTo>
                  <a:lnTo>
                    <a:pt x="314" y="210"/>
                  </a:lnTo>
                  <a:cubicBezTo>
                    <a:pt x="319" y="212"/>
                    <a:pt x="324" y="215"/>
                    <a:pt x="328" y="217"/>
                  </a:cubicBezTo>
                  <a:lnTo>
                    <a:pt x="328" y="215"/>
                  </a:lnTo>
                  <a:lnTo>
                    <a:pt x="328" y="134"/>
                  </a:lnTo>
                  <a:lnTo>
                    <a:pt x="328" y="88"/>
                  </a:lnTo>
                  <a:cubicBezTo>
                    <a:pt x="328" y="79"/>
                    <a:pt x="320" y="71"/>
                    <a:pt x="311" y="71"/>
                  </a:cubicBezTo>
                  <a:lnTo>
                    <a:pt x="17" y="71"/>
                  </a:lnTo>
                  <a:cubicBezTo>
                    <a:pt x="8" y="71"/>
                    <a:pt x="0" y="79"/>
                    <a:pt x="0" y="88"/>
                  </a:cubicBezTo>
                  <a:lnTo>
                    <a:pt x="0" y="134"/>
                  </a:lnTo>
                  <a:lnTo>
                    <a:pt x="0" y="215"/>
                  </a:lnTo>
                  <a:lnTo>
                    <a:pt x="0" y="228"/>
                  </a:lnTo>
                  <a:lnTo>
                    <a:pt x="0" y="309"/>
                  </a:lnTo>
                  <a:lnTo>
                    <a:pt x="0" y="319"/>
                  </a:lnTo>
                  <a:cubicBezTo>
                    <a:pt x="0" y="329"/>
                    <a:pt x="8" y="336"/>
                    <a:pt x="17" y="336"/>
                  </a:cubicBezTo>
                  <a:lnTo>
                    <a:pt x="181" y="336"/>
                  </a:lnTo>
                  <a:cubicBezTo>
                    <a:pt x="179" y="329"/>
                    <a:pt x="177" y="321"/>
                    <a:pt x="176" y="313"/>
                  </a:cubicBezTo>
                  <a:close/>
                  <a:moveTo>
                    <a:pt x="14" y="134"/>
                  </a:moveTo>
                  <a:lnTo>
                    <a:pt x="14" y="134"/>
                  </a:lnTo>
                  <a:cubicBezTo>
                    <a:pt x="14" y="132"/>
                    <a:pt x="15" y="130"/>
                    <a:pt x="17" y="130"/>
                  </a:cubicBezTo>
                  <a:lnTo>
                    <a:pt x="107" y="130"/>
                  </a:lnTo>
                  <a:lnTo>
                    <a:pt x="107" y="215"/>
                  </a:lnTo>
                  <a:lnTo>
                    <a:pt x="14" y="215"/>
                  </a:lnTo>
                  <a:lnTo>
                    <a:pt x="14" y="134"/>
                  </a:lnTo>
                  <a:close/>
                  <a:moveTo>
                    <a:pt x="107" y="228"/>
                  </a:moveTo>
                  <a:lnTo>
                    <a:pt x="107" y="228"/>
                  </a:lnTo>
                  <a:lnTo>
                    <a:pt x="107" y="313"/>
                  </a:lnTo>
                  <a:lnTo>
                    <a:pt x="17" y="313"/>
                  </a:lnTo>
                  <a:cubicBezTo>
                    <a:pt x="15" y="313"/>
                    <a:pt x="14" y="311"/>
                    <a:pt x="14" y="309"/>
                  </a:cubicBezTo>
                  <a:lnTo>
                    <a:pt x="14" y="228"/>
                  </a:lnTo>
                  <a:lnTo>
                    <a:pt x="107" y="228"/>
                  </a:lnTo>
                  <a:close/>
                  <a:moveTo>
                    <a:pt x="121" y="215"/>
                  </a:moveTo>
                  <a:lnTo>
                    <a:pt x="121" y="215"/>
                  </a:lnTo>
                  <a:lnTo>
                    <a:pt x="121" y="130"/>
                  </a:lnTo>
                  <a:lnTo>
                    <a:pt x="210" y="130"/>
                  </a:lnTo>
                  <a:lnTo>
                    <a:pt x="210" y="215"/>
                  </a:lnTo>
                  <a:lnTo>
                    <a:pt x="121" y="215"/>
                  </a:lnTo>
                  <a:close/>
                  <a:moveTo>
                    <a:pt x="217" y="88"/>
                  </a:moveTo>
                  <a:lnTo>
                    <a:pt x="217" y="88"/>
                  </a:lnTo>
                  <a:cubicBezTo>
                    <a:pt x="223" y="88"/>
                    <a:pt x="229" y="94"/>
                    <a:pt x="229" y="100"/>
                  </a:cubicBezTo>
                  <a:cubicBezTo>
                    <a:pt x="229" y="106"/>
                    <a:pt x="223" y="111"/>
                    <a:pt x="217" y="111"/>
                  </a:cubicBezTo>
                  <a:cubicBezTo>
                    <a:pt x="211" y="111"/>
                    <a:pt x="205" y="106"/>
                    <a:pt x="205" y="100"/>
                  </a:cubicBezTo>
                  <a:cubicBezTo>
                    <a:pt x="205" y="94"/>
                    <a:pt x="211" y="88"/>
                    <a:pt x="217" y="88"/>
                  </a:cubicBezTo>
                  <a:close/>
                  <a:moveTo>
                    <a:pt x="114" y="88"/>
                  </a:moveTo>
                  <a:lnTo>
                    <a:pt x="114" y="88"/>
                  </a:lnTo>
                  <a:cubicBezTo>
                    <a:pt x="120" y="88"/>
                    <a:pt x="126" y="94"/>
                    <a:pt x="126" y="100"/>
                  </a:cubicBezTo>
                  <a:cubicBezTo>
                    <a:pt x="126" y="106"/>
                    <a:pt x="120" y="111"/>
                    <a:pt x="114" y="111"/>
                  </a:cubicBezTo>
                  <a:cubicBezTo>
                    <a:pt x="108" y="111"/>
                    <a:pt x="103" y="106"/>
                    <a:pt x="103" y="100"/>
                  </a:cubicBezTo>
                  <a:cubicBezTo>
                    <a:pt x="103" y="94"/>
                    <a:pt x="108" y="88"/>
                    <a:pt x="114" y="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0" y="1109114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1266714" y="1109114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0" name="Rectangle 8"/>
          <p:cNvSpPr>
            <a:spLocks noChangeArrowheads="1"/>
          </p:cNvSpPr>
          <p:nvPr/>
        </p:nvSpPr>
        <p:spPr bwMode="auto">
          <a:xfrm>
            <a:off x="2531856" y="1109114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31" name="Rectangle 9"/>
          <p:cNvSpPr>
            <a:spLocks noChangeArrowheads="1"/>
          </p:cNvSpPr>
          <p:nvPr/>
        </p:nvSpPr>
        <p:spPr bwMode="auto">
          <a:xfrm>
            <a:off x="3798567" y="1109114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422696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9201922" y="1411471"/>
            <a:ext cx="1306003" cy="1526579"/>
            <a:chOff x="7793038" y="2205038"/>
            <a:chExt cx="1306513" cy="1527175"/>
          </a:xfrm>
        </p:grpSpPr>
        <p:sp>
          <p:nvSpPr>
            <p:cNvPr id="40" name="Freeform 8"/>
            <p:cNvSpPr>
              <a:spLocks/>
            </p:cNvSpPr>
            <p:nvPr/>
          </p:nvSpPr>
          <p:spPr bwMode="auto">
            <a:xfrm>
              <a:off x="7793038" y="2205038"/>
              <a:ext cx="1306513" cy="1527175"/>
            </a:xfrm>
            <a:custGeom>
              <a:avLst/>
              <a:gdLst>
                <a:gd name="T0" fmla="*/ 827 w 1654"/>
                <a:gd name="T1" fmla="*/ 0 h 1918"/>
                <a:gd name="T2" fmla="*/ 1654 w 1654"/>
                <a:gd name="T3" fmla="*/ 827 h 1918"/>
                <a:gd name="T4" fmla="*/ 1116 w 1654"/>
                <a:gd name="T5" fmla="*/ 1602 h 1918"/>
                <a:gd name="T6" fmla="*/ 995 w 1654"/>
                <a:gd name="T7" fmla="*/ 1741 h 1918"/>
                <a:gd name="T8" fmla="*/ 870 w 1654"/>
                <a:gd name="T9" fmla="*/ 1884 h 1918"/>
                <a:gd name="T10" fmla="*/ 790 w 1654"/>
                <a:gd name="T11" fmla="*/ 1889 h 1918"/>
                <a:gd name="T12" fmla="*/ 660 w 1654"/>
                <a:gd name="T13" fmla="*/ 1741 h 1918"/>
                <a:gd name="T14" fmla="*/ 540 w 1654"/>
                <a:gd name="T15" fmla="*/ 1603 h 1918"/>
                <a:gd name="T16" fmla="*/ 0 w 1654"/>
                <a:gd name="T17" fmla="*/ 827 h 1918"/>
                <a:gd name="T18" fmla="*/ 827 w 1654"/>
                <a:gd name="T19" fmla="*/ 0 h 1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54" h="1918">
                  <a:moveTo>
                    <a:pt x="827" y="0"/>
                  </a:moveTo>
                  <a:cubicBezTo>
                    <a:pt x="1284" y="0"/>
                    <a:pt x="1654" y="370"/>
                    <a:pt x="1654" y="827"/>
                  </a:cubicBezTo>
                  <a:cubicBezTo>
                    <a:pt x="1654" y="1182"/>
                    <a:pt x="1430" y="1485"/>
                    <a:pt x="1116" y="1602"/>
                  </a:cubicBezTo>
                  <a:lnTo>
                    <a:pt x="995" y="1741"/>
                  </a:lnTo>
                  <a:cubicBezTo>
                    <a:pt x="954" y="1788"/>
                    <a:pt x="912" y="1836"/>
                    <a:pt x="870" y="1884"/>
                  </a:cubicBezTo>
                  <a:cubicBezTo>
                    <a:pt x="845" y="1916"/>
                    <a:pt x="818" y="1918"/>
                    <a:pt x="790" y="1889"/>
                  </a:cubicBezTo>
                  <a:cubicBezTo>
                    <a:pt x="747" y="1840"/>
                    <a:pt x="703" y="1790"/>
                    <a:pt x="660" y="1741"/>
                  </a:cubicBezTo>
                  <a:lnTo>
                    <a:pt x="540" y="1603"/>
                  </a:lnTo>
                  <a:cubicBezTo>
                    <a:pt x="225" y="1486"/>
                    <a:pt x="0" y="1183"/>
                    <a:pt x="0" y="827"/>
                  </a:cubicBezTo>
                  <a:cubicBezTo>
                    <a:pt x="0" y="370"/>
                    <a:pt x="370" y="0"/>
                    <a:pt x="827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41" name="Freeform 13"/>
            <p:cNvSpPr>
              <a:spLocks noEditPoints="1"/>
            </p:cNvSpPr>
            <p:nvPr/>
          </p:nvSpPr>
          <p:spPr bwMode="auto">
            <a:xfrm>
              <a:off x="8065047" y="2423672"/>
              <a:ext cx="819646" cy="881946"/>
            </a:xfrm>
            <a:custGeom>
              <a:avLst/>
              <a:gdLst>
                <a:gd name="T0" fmla="*/ 255 w 847"/>
                <a:gd name="T1" fmla="*/ 138 h 903"/>
                <a:gd name="T2" fmla="*/ 555 w 847"/>
                <a:gd name="T3" fmla="*/ 100 h 903"/>
                <a:gd name="T4" fmla="*/ 448 w 847"/>
                <a:gd name="T5" fmla="*/ 61 h 903"/>
                <a:gd name="T6" fmla="*/ 324 w 847"/>
                <a:gd name="T7" fmla="*/ 61 h 903"/>
                <a:gd name="T8" fmla="*/ 217 w 847"/>
                <a:gd name="T9" fmla="*/ 100 h 903"/>
                <a:gd name="T10" fmla="*/ 697 w 847"/>
                <a:gd name="T11" fmla="*/ 782 h 903"/>
                <a:gd name="T12" fmla="*/ 709 w 847"/>
                <a:gd name="T13" fmla="*/ 755 h 903"/>
                <a:gd name="T14" fmla="*/ 660 w 847"/>
                <a:gd name="T15" fmla="*/ 586 h 903"/>
                <a:gd name="T16" fmla="*/ 629 w 847"/>
                <a:gd name="T17" fmla="*/ 586 h 903"/>
                <a:gd name="T18" fmla="*/ 629 w 847"/>
                <a:gd name="T19" fmla="*/ 716 h 903"/>
                <a:gd name="T20" fmla="*/ 630 w 847"/>
                <a:gd name="T21" fmla="*/ 719 h 903"/>
                <a:gd name="T22" fmla="*/ 631 w 847"/>
                <a:gd name="T23" fmla="*/ 722 h 903"/>
                <a:gd name="T24" fmla="*/ 633 w 847"/>
                <a:gd name="T25" fmla="*/ 724 h 903"/>
                <a:gd name="T26" fmla="*/ 807 w 847"/>
                <a:gd name="T27" fmla="*/ 596 h 903"/>
                <a:gd name="T28" fmla="*/ 644 w 847"/>
                <a:gd name="T29" fmla="*/ 510 h 903"/>
                <a:gd name="T30" fmla="*/ 607 w 847"/>
                <a:gd name="T31" fmla="*/ 899 h 903"/>
                <a:gd name="T32" fmla="*/ 837 w 847"/>
                <a:gd name="T33" fmla="*/ 743 h 903"/>
                <a:gd name="T34" fmla="*/ 808 w 847"/>
                <a:gd name="T35" fmla="*/ 737 h 903"/>
                <a:gd name="T36" fmla="*/ 645 w 847"/>
                <a:gd name="T37" fmla="*/ 872 h 903"/>
                <a:gd name="T38" fmla="*/ 481 w 847"/>
                <a:gd name="T39" fmla="*/ 675 h 903"/>
                <a:gd name="T40" fmla="*/ 676 w 847"/>
                <a:gd name="T41" fmla="*/ 543 h 903"/>
                <a:gd name="T42" fmla="*/ 808 w 847"/>
                <a:gd name="T43" fmla="*/ 737 h 903"/>
                <a:gd name="T44" fmla="*/ 284 w 847"/>
                <a:gd name="T45" fmla="*/ 736 h 903"/>
                <a:gd name="T46" fmla="*/ 485 w 847"/>
                <a:gd name="T47" fmla="*/ 536 h 903"/>
                <a:gd name="T48" fmla="*/ 526 w 847"/>
                <a:gd name="T49" fmla="*/ 505 h 903"/>
                <a:gd name="T50" fmla="*/ 732 w 847"/>
                <a:gd name="T51" fmla="*/ 306 h 903"/>
                <a:gd name="T52" fmla="*/ 740 w 847"/>
                <a:gd name="T53" fmla="*/ 494 h 903"/>
                <a:gd name="T54" fmla="*/ 772 w 847"/>
                <a:gd name="T55" fmla="*/ 505 h 903"/>
                <a:gd name="T56" fmla="*/ 772 w 847"/>
                <a:gd name="T57" fmla="*/ 208 h 903"/>
                <a:gd name="T58" fmla="*/ 40 w 847"/>
                <a:gd name="T59" fmla="*/ 167 h 903"/>
                <a:gd name="T60" fmla="*/ 0 w 847"/>
                <a:gd name="T61" fmla="*/ 314 h 903"/>
                <a:gd name="T62" fmla="*/ 0 w 847"/>
                <a:gd name="T63" fmla="*/ 536 h 903"/>
                <a:gd name="T64" fmla="*/ 0 w 847"/>
                <a:gd name="T65" fmla="*/ 751 h 903"/>
                <a:gd name="T66" fmla="*/ 427 w 847"/>
                <a:gd name="T67" fmla="*/ 791 h 903"/>
                <a:gd name="T68" fmla="*/ 32 w 847"/>
                <a:gd name="T69" fmla="*/ 314 h 903"/>
                <a:gd name="T70" fmla="*/ 40 w 847"/>
                <a:gd name="T71" fmla="*/ 306 h 903"/>
                <a:gd name="T72" fmla="*/ 252 w 847"/>
                <a:gd name="T73" fmla="*/ 505 h 903"/>
                <a:gd name="T74" fmla="*/ 32 w 847"/>
                <a:gd name="T75" fmla="*/ 314 h 903"/>
                <a:gd name="T76" fmla="*/ 252 w 847"/>
                <a:gd name="T77" fmla="*/ 536 h 903"/>
                <a:gd name="T78" fmla="*/ 40 w 847"/>
                <a:gd name="T79" fmla="*/ 736 h 903"/>
                <a:gd name="T80" fmla="*/ 32 w 847"/>
                <a:gd name="T81" fmla="*/ 536 h 903"/>
                <a:gd name="T82" fmla="*/ 284 w 847"/>
                <a:gd name="T83" fmla="*/ 505 h 903"/>
                <a:gd name="T84" fmla="*/ 284 w 847"/>
                <a:gd name="T85" fmla="*/ 306 h 903"/>
                <a:gd name="T86" fmla="*/ 495 w 847"/>
                <a:gd name="T87" fmla="*/ 505 h 903"/>
                <a:gd name="T88" fmla="*/ 511 w 847"/>
                <a:gd name="T89" fmla="*/ 207 h 903"/>
                <a:gd name="T90" fmla="*/ 538 w 847"/>
                <a:gd name="T91" fmla="*/ 235 h 903"/>
                <a:gd name="T92" fmla="*/ 483 w 847"/>
                <a:gd name="T93" fmla="*/ 235 h 903"/>
                <a:gd name="T94" fmla="*/ 268 w 847"/>
                <a:gd name="T95" fmla="*/ 207 h 903"/>
                <a:gd name="T96" fmla="*/ 295 w 847"/>
                <a:gd name="T97" fmla="*/ 235 h 903"/>
                <a:gd name="T98" fmla="*/ 241 w 847"/>
                <a:gd name="T99" fmla="*/ 235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847" h="903">
                  <a:moveTo>
                    <a:pt x="217" y="100"/>
                  </a:moveTo>
                  <a:cubicBezTo>
                    <a:pt x="217" y="121"/>
                    <a:pt x="234" y="138"/>
                    <a:pt x="255" y="138"/>
                  </a:cubicBezTo>
                  <a:lnTo>
                    <a:pt x="517" y="138"/>
                  </a:lnTo>
                  <a:cubicBezTo>
                    <a:pt x="538" y="138"/>
                    <a:pt x="555" y="121"/>
                    <a:pt x="555" y="100"/>
                  </a:cubicBezTo>
                  <a:cubicBezTo>
                    <a:pt x="555" y="79"/>
                    <a:pt x="538" y="61"/>
                    <a:pt x="517" y="61"/>
                  </a:cubicBezTo>
                  <a:lnTo>
                    <a:pt x="448" y="61"/>
                  </a:lnTo>
                  <a:cubicBezTo>
                    <a:pt x="448" y="27"/>
                    <a:pt x="420" y="0"/>
                    <a:pt x="386" y="0"/>
                  </a:cubicBezTo>
                  <a:cubicBezTo>
                    <a:pt x="352" y="0"/>
                    <a:pt x="324" y="27"/>
                    <a:pt x="324" y="61"/>
                  </a:cubicBezTo>
                  <a:lnTo>
                    <a:pt x="255" y="61"/>
                  </a:lnTo>
                  <a:cubicBezTo>
                    <a:pt x="234" y="61"/>
                    <a:pt x="217" y="79"/>
                    <a:pt x="217" y="100"/>
                  </a:cubicBezTo>
                  <a:close/>
                  <a:moveTo>
                    <a:pt x="686" y="777"/>
                  </a:moveTo>
                  <a:cubicBezTo>
                    <a:pt x="689" y="780"/>
                    <a:pt x="693" y="782"/>
                    <a:pt x="697" y="782"/>
                  </a:cubicBezTo>
                  <a:cubicBezTo>
                    <a:pt x="702" y="782"/>
                    <a:pt x="706" y="780"/>
                    <a:pt x="709" y="777"/>
                  </a:cubicBezTo>
                  <a:cubicBezTo>
                    <a:pt x="715" y="771"/>
                    <a:pt x="715" y="761"/>
                    <a:pt x="709" y="755"/>
                  </a:cubicBezTo>
                  <a:lnTo>
                    <a:pt x="660" y="706"/>
                  </a:lnTo>
                  <a:lnTo>
                    <a:pt x="660" y="586"/>
                  </a:lnTo>
                  <a:cubicBezTo>
                    <a:pt x="660" y="577"/>
                    <a:pt x="653" y="570"/>
                    <a:pt x="644" y="570"/>
                  </a:cubicBezTo>
                  <a:cubicBezTo>
                    <a:pt x="636" y="570"/>
                    <a:pt x="629" y="577"/>
                    <a:pt x="629" y="586"/>
                  </a:cubicBezTo>
                  <a:lnTo>
                    <a:pt x="629" y="713"/>
                  </a:lnTo>
                  <a:cubicBezTo>
                    <a:pt x="629" y="714"/>
                    <a:pt x="629" y="715"/>
                    <a:pt x="629" y="716"/>
                  </a:cubicBezTo>
                  <a:cubicBezTo>
                    <a:pt x="629" y="716"/>
                    <a:pt x="629" y="717"/>
                    <a:pt x="629" y="717"/>
                  </a:cubicBezTo>
                  <a:cubicBezTo>
                    <a:pt x="629" y="718"/>
                    <a:pt x="630" y="718"/>
                    <a:pt x="630" y="719"/>
                  </a:cubicBezTo>
                  <a:cubicBezTo>
                    <a:pt x="630" y="719"/>
                    <a:pt x="630" y="720"/>
                    <a:pt x="631" y="720"/>
                  </a:cubicBezTo>
                  <a:cubicBezTo>
                    <a:pt x="631" y="721"/>
                    <a:pt x="631" y="721"/>
                    <a:pt x="631" y="722"/>
                  </a:cubicBezTo>
                  <a:cubicBezTo>
                    <a:pt x="632" y="722"/>
                    <a:pt x="632" y="723"/>
                    <a:pt x="633" y="724"/>
                  </a:cubicBezTo>
                  <a:cubicBezTo>
                    <a:pt x="633" y="724"/>
                    <a:pt x="633" y="724"/>
                    <a:pt x="633" y="724"/>
                  </a:cubicBezTo>
                  <a:lnTo>
                    <a:pt x="686" y="777"/>
                  </a:lnTo>
                  <a:close/>
                  <a:moveTo>
                    <a:pt x="807" y="596"/>
                  </a:moveTo>
                  <a:cubicBezTo>
                    <a:pt x="777" y="552"/>
                    <a:pt x="733" y="523"/>
                    <a:pt x="681" y="513"/>
                  </a:cubicBezTo>
                  <a:cubicBezTo>
                    <a:pt x="669" y="511"/>
                    <a:pt x="657" y="510"/>
                    <a:pt x="644" y="510"/>
                  </a:cubicBezTo>
                  <a:cubicBezTo>
                    <a:pt x="550" y="510"/>
                    <a:pt x="469" y="577"/>
                    <a:pt x="451" y="669"/>
                  </a:cubicBezTo>
                  <a:cubicBezTo>
                    <a:pt x="431" y="776"/>
                    <a:pt x="501" y="879"/>
                    <a:pt x="607" y="899"/>
                  </a:cubicBezTo>
                  <a:cubicBezTo>
                    <a:pt x="620" y="902"/>
                    <a:pt x="632" y="903"/>
                    <a:pt x="645" y="903"/>
                  </a:cubicBezTo>
                  <a:cubicBezTo>
                    <a:pt x="739" y="903"/>
                    <a:pt x="820" y="836"/>
                    <a:pt x="837" y="743"/>
                  </a:cubicBezTo>
                  <a:cubicBezTo>
                    <a:pt x="847" y="692"/>
                    <a:pt x="836" y="639"/>
                    <a:pt x="807" y="596"/>
                  </a:cubicBezTo>
                  <a:close/>
                  <a:moveTo>
                    <a:pt x="808" y="737"/>
                  </a:moveTo>
                  <a:lnTo>
                    <a:pt x="808" y="737"/>
                  </a:lnTo>
                  <a:cubicBezTo>
                    <a:pt x="793" y="816"/>
                    <a:pt x="724" y="872"/>
                    <a:pt x="645" y="872"/>
                  </a:cubicBezTo>
                  <a:cubicBezTo>
                    <a:pt x="634" y="872"/>
                    <a:pt x="624" y="871"/>
                    <a:pt x="613" y="869"/>
                  </a:cubicBezTo>
                  <a:cubicBezTo>
                    <a:pt x="523" y="852"/>
                    <a:pt x="464" y="765"/>
                    <a:pt x="481" y="675"/>
                  </a:cubicBezTo>
                  <a:cubicBezTo>
                    <a:pt x="496" y="597"/>
                    <a:pt x="565" y="540"/>
                    <a:pt x="644" y="540"/>
                  </a:cubicBezTo>
                  <a:cubicBezTo>
                    <a:pt x="655" y="540"/>
                    <a:pt x="665" y="541"/>
                    <a:pt x="676" y="543"/>
                  </a:cubicBezTo>
                  <a:cubicBezTo>
                    <a:pt x="719" y="551"/>
                    <a:pt x="757" y="576"/>
                    <a:pt x="782" y="613"/>
                  </a:cubicBezTo>
                  <a:cubicBezTo>
                    <a:pt x="807" y="650"/>
                    <a:pt x="816" y="694"/>
                    <a:pt x="808" y="737"/>
                  </a:cubicBezTo>
                  <a:close/>
                  <a:moveTo>
                    <a:pt x="413" y="736"/>
                  </a:moveTo>
                  <a:lnTo>
                    <a:pt x="284" y="736"/>
                  </a:lnTo>
                  <a:lnTo>
                    <a:pt x="284" y="536"/>
                  </a:lnTo>
                  <a:lnTo>
                    <a:pt x="485" y="536"/>
                  </a:lnTo>
                  <a:cubicBezTo>
                    <a:pt x="497" y="524"/>
                    <a:pt x="512" y="514"/>
                    <a:pt x="527" y="505"/>
                  </a:cubicBezTo>
                  <a:lnTo>
                    <a:pt x="526" y="505"/>
                  </a:lnTo>
                  <a:lnTo>
                    <a:pt x="526" y="306"/>
                  </a:lnTo>
                  <a:lnTo>
                    <a:pt x="732" y="306"/>
                  </a:lnTo>
                  <a:cubicBezTo>
                    <a:pt x="736" y="306"/>
                    <a:pt x="740" y="309"/>
                    <a:pt x="740" y="314"/>
                  </a:cubicBezTo>
                  <a:lnTo>
                    <a:pt x="740" y="494"/>
                  </a:lnTo>
                  <a:cubicBezTo>
                    <a:pt x="751" y="499"/>
                    <a:pt x="762" y="505"/>
                    <a:pt x="772" y="511"/>
                  </a:cubicBezTo>
                  <a:lnTo>
                    <a:pt x="772" y="505"/>
                  </a:lnTo>
                  <a:lnTo>
                    <a:pt x="772" y="314"/>
                  </a:lnTo>
                  <a:lnTo>
                    <a:pt x="772" y="208"/>
                  </a:lnTo>
                  <a:cubicBezTo>
                    <a:pt x="772" y="185"/>
                    <a:pt x="754" y="167"/>
                    <a:pt x="732" y="167"/>
                  </a:cubicBezTo>
                  <a:lnTo>
                    <a:pt x="40" y="167"/>
                  </a:lnTo>
                  <a:cubicBezTo>
                    <a:pt x="18" y="167"/>
                    <a:pt x="0" y="185"/>
                    <a:pt x="0" y="208"/>
                  </a:cubicBezTo>
                  <a:lnTo>
                    <a:pt x="0" y="314"/>
                  </a:lnTo>
                  <a:lnTo>
                    <a:pt x="0" y="505"/>
                  </a:lnTo>
                  <a:lnTo>
                    <a:pt x="0" y="536"/>
                  </a:lnTo>
                  <a:lnTo>
                    <a:pt x="0" y="727"/>
                  </a:lnTo>
                  <a:lnTo>
                    <a:pt x="0" y="751"/>
                  </a:lnTo>
                  <a:cubicBezTo>
                    <a:pt x="0" y="773"/>
                    <a:pt x="18" y="791"/>
                    <a:pt x="40" y="791"/>
                  </a:cubicBezTo>
                  <a:lnTo>
                    <a:pt x="427" y="791"/>
                  </a:lnTo>
                  <a:cubicBezTo>
                    <a:pt x="420" y="773"/>
                    <a:pt x="415" y="755"/>
                    <a:pt x="413" y="736"/>
                  </a:cubicBezTo>
                  <a:close/>
                  <a:moveTo>
                    <a:pt x="32" y="314"/>
                  </a:moveTo>
                  <a:lnTo>
                    <a:pt x="32" y="314"/>
                  </a:lnTo>
                  <a:cubicBezTo>
                    <a:pt x="32" y="309"/>
                    <a:pt x="36" y="306"/>
                    <a:pt x="40" y="306"/>
                  </a:cubicBezTo>
                  <a:lnTo>
                    <a:pt x="252" y="306"/>
                  </a:lnTo>
                  <a:lnTo>
                    <a:pt x="252" y="505"/>
                  </a:lnTo>
                  <a:lnTo>
                    <a:pt x="32" y="505"/>
                  </a:lnTo>
                  <a:lnTo>
                    <a:pt x="32" y="314"/>
                  </a:lnTo>
                  <a:close/>
                  <a:moveTo>
                    <a:pt x="252" y="536"/>
                  </a:moveTo>
                  <a:lnTo>
                    <a:pt x="252" y="536"/>
                  </a:lnTo>
                  <a:lnTo>
                    <a:pt x="252" y="736"/>
                  </a:lnTo>
                  <a:lnTo>
                    <a:pt x="40" y="736"/>
                  </a:lnTo>
                  <a:cubicBezTo>
                    <a:pt x="36" y="736"/>
                    <a:pt x="32" y="732"/>
                    <a:pt x="32" y="727"/>
                  </a:cubicBezTo>
                  <a:lnTo>
                    <a:pt x="32" y="536"/>
                  </a:lnTo>
                  <a:lnTo>
                    <a:pt x="252" y="536"/>
                  </a:lnTo>
                  <a:close/>
                  <a:moveTo>
                    <a:pt x="284" y="505"/>
                  </a:moveTo>
                  <a:lnTo>
                    <a:pt x="284" y="505"/>
                  </a:lnTo>
                  <a:lnTo>
                    <a:pt x="284" y="306"/>
                  </a:lnTo>
                  <a:lnTo>
                    <a:pt x="495" y="306"/>
                  </a:lnTo>
                  <a:lnTo>
                    <a:pt x="495" y="505"/>
                  </a:lnTo>
                  <a:lnTo>
                    <a:pt x="284" y="505"/>
                  </a:lnTo>
                  <a:close/>
                  <a:moveTo>
                    <a:pt x="511" y="207"/>
                  </a:moveTo>
                  <a:lnTo>
                    <a:pt x="511" y="207"/>
                  </a:lnTo>
                  <a:cubicBezTo>
                    <a:pt x="526" y="207"/>
                    <a:pt x="538" y="219"/>
                    <a:pt x="538" y="235"/>
                  </a:cubicBezTo>
                  <a:cubicBezTo>
                    <a:pt x="538" y="250"/>
                    <a:pt x="526" y="262"/>
                    <a:pt x="511" y="262"/>
                  </a:cubicBezTo>
                  <a:cubicBezTo>
                    <a:pt x="496" y="262"/>
                    <a:pt x="483" y="250"/>
                    <a:pt x="483" y="235"/>
                  </a:cubicBezTo>
                  <a:cubicBezTo>
                    <a:pt x="483" y="219"/>
                    <a:pt x="496" y="207"/>
                    <a:pt x="511" y="207"/>
                  </a:cubicBezTo>
                  <a:close/>
                  <a:moveTo>
                    <a:pt x="268" y="207"/>
                  </a:moveTo>
                  <a:lnTo>
                    <a:pt x="268" y="207"/>
                  </a:lnTo>
                  <a:cubicBezTo>
                    <a:pt x="283" y="207"/>
                    <a:pt x="295" y="219"/>
                    <a:pt x="295" y="235"/>
                  </a:cubicBezTo>
                  <a:cubicBezTo>
                    <a:pt x="295" y="250"/>
                    <a:pt x="283" y="262"/>
                    <a:pt x="268" y="262"/>
                  </a:cubicBezTo>
                  <a:cubicBezTo>
                    <a:pt x="253" y="262"/>
                    <a:pt x="241" y="250"/>
                    <a:pt x="241" y="235"/>
                  </a:cubicBezTo>
                  <a:cubicBezTo>
                    <a:pt x="241" y="219"/>
                    <a:pt x="253" y="207"/>
                    <a:pt x="268" y="20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446334" y="1411471"/>
            <a:ext cx="1304416" cy="1526579"/>
            <a:chOff x="1446900" y="2132856"/>
            <a:chExt cx="1304925" cy="1527175"/>
          </a:xfrm>
        </p:grpSpPr>
        <p:sp>
          <p:nvSpPr>
            <p:cNvPr id="31" name="Freeform 5"/>
            <p:cNvSpPr>
              <a:spLocks/>
            </p:cNvSpPr>
            <p:nvPr/>
          </p:nvSpPr>
          <p:spPr bwMode="auto">
            <a:xfrm>
              <a:off x="1446900" y="2132856"/>
              <a:ext cx="1304925" cy="1527175"/>
            </a:xfrm>
            <a:custGeom>
              <a:avLst/>
              <a:gdLst>
                <a:gd name="T0" fmla="*/ 827 w 1654"/>
                <a:gd name="T1" fmla="*/ 0 h 1918"/>
                <a:gd name="T2" fmla="*/ 1654 w 1654"/>
                <a:gd name="T3" fmla="*/ 827 h 1918"/>
                <a:gd name="T4" fmla="*/ 1116 w 1654"/>
                <a:gd name="T5" fmla="*/ 1602 h 1918"/>
                <a:gd name="T6" fmla="*/ 995 w 1654"/>
                <a:gd name="T7" fmla="*/ 1741 h 1918"/>
                <a:gd name="T8" fmla="*/ 870 w 1654"/>
                <a:gd name="T9" fmla="*/ 1884 h 1918"/>
                <a:gd name="T10" fmla="*/ 789 w 1654"/>
                <a:gd name="T11" fmla="*/ 1889 h 1918"/>
                <a:gd name="T12" fmla="*/ 660 w 1654"/>
                <a:gd name="T13" fmla="*/ 1741 h 1918"/>
                <a:gd name="T14" fmla="*/ 540 w 1654"/>
                <a:gd name="T15" fmla="*/ 1603 h 1918"/>
                <a:gd name="T16" fmla="*/ 0 w 1654"/>
                <a:gd name="T17" fmla="*/ 827 h 1918"/>
                <a:gd name="T18" fmla="*/ 827 w 1654"/>
                <a:gd name="T19" fmla="*/ 0 h 1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54" h="1918">
                  <a:moveTo>
                    <a:pt x="827" y="0"/>
                  </a:moveTo>
                  <a:cubicBezTo>
                    <a:pt x="1283" y="0"/>
                    <a:pt x="1654" y="370"/>
                    <a:pt x="1654" y="827"/>
                  </a:cubicBezTo>
                  <a:cubicBezTo>
                    <a:pt x="1654" y="1182"/>
                    <a:pt x="1430" y="1485"/>
                    <a:pt x="1116" y="1602"/>
                  </a:cubicBezTo>
                  <a:lnTo>
                    <a:pt x="995" y="1741"/>
                  </a:lnTo>
                  <a:cubicBezTo>
                    <a:pt x="953" y="1788"/>
                    <a:pt x="912" y="1836"/>
                    <a:pt x="870" y="1884"/>
                  </a:cubicBezTo>
                  <a:cubicBezTo>
                    <a:pt x="845" y="1916"/>
                    <a:pt x="818" y="1918"/>
                    <a:pt x="789" y="1889"/>
                  </a:cubicBezTo>
                  <a:cubicBezTo>
                    <a:pt x="746" y="1840"/>
                    <a:pt x="703" y="1790"/>
                    <a:pt x="660" y="1741"/>
                  </a:cubicBezTo>
                  <a:lnTo>
                    <a:pt x="540" y="1603"/>
                  </a:lnTo>
                  <a:cubicBezTo>
                    <a:pt x="225" y="1486"/>
                    <a:pt x="0" y="1183"/>
                    <a:pt x="0" y="827"/>
                  </a:cubicBezTo>
                  <a:cubicBezTo>
                    <a:pt x="0" y="370"/>
                    <a:pt x="370" y="0"/>
                    <a:pt x="827" y="0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56" name="Freeform 16"/>
            <p:cNvSpPr>
              <a:spLocks noEditPoints="1"/>
            </p:cNvSpPr>
            <p:nvPr/>
          </p:nvSpPr>
          <p:spPr bwMode="auto">
            <a:xfrm>
              <a:off x="1668969" y="2542449"/>
              <a:ext cx="860788" cy="500028"/>
            </a:xfrm>
            <a:custGeom>
              <a:avLst/>
              <a:gdLst>
                <a:gd name="T0" fmla="*/ 712 w 739"/>
                <a:gd name="T1" fmla="*/ 36 h 492"/>
                <a:gd name="T2" fmla="*/ 712 w 739"/>
                <a:gd name="T3" fmla="*/ 404 h 492"/>
                <a:gd name="T4" fmla="*/ 702 w 739"/>
                <a:gd name="T5" fmla="*/ 404 h 492"/>
                <a:gd name="T6" fmla="*/ 678 w 739"/>
                <a:gd name="T7" fmla="*/ 403 h 492"/>
                <a:gd name="T8" fmla="*/ 373 w 739"/>
                <a:gd name="T9" fmla="*/ 480 h 492"/>
                <a:gd name="T10" fmla="*/ 369 w 739"/>
                <a:gd name="T11" fmla="*/ 482 h 492"/>
                <a:gd name="T12" fmla="*/ 365 w 739"/>
                <a:gd name="T13" fmla="*/ 480 h 492"/>
                <a:gd name="T14" fmla="*/ 60 w 739"/>
                <a:gd name="T15" fmla="*/ 403 h 492"/>
                <a:gd name="T16" fmla="*/ 37 w 739"/>
                <a:gd name="T17" fmla="*/ 404 h 492"/>
                <a:gd name="T18" fmla="*/ 26 w 739"/>
                <a:gd name="T19" fmla="*/ 404 h 492"/>
                <a:gd name="T20" fmla="*/ 26 w 739"/>
                <a:gd name="T21" fmla="*/ 36 h 492"/>
                <a:gd name="T22" fmla="*/ 0 w 739"/>
                <a:gd name="T23" fmla="*/ 36 h 492"/>
                <a:gd name="T24" fmla="*/ 0 w 739"/>
                <a:gd name="T25" fmla="*/ 418 h 492"/>
                <a:gd name="T26" fmla="*/ 369 w 739"/>
                <a:gd name="T27" fmla="*/ 492 h 492"/>
                <a:gd name="T28" fmla="*/ 739 w 739"/>
                <a:gd name="T29" fmla="*/ 418 h 492"/>
                <a:gd name="T30" fmla="*/ 739 w 739"/>
                <a:gd name="T31" fmla="*/ 36 h 492"/>
                <a:gd name="T32" fmla="*/ 712 w 739"/>
                <a:gd name="T33" fmla="*/ 36 h 492"/>
                <a:gd name="T34" fmla="*/ 357 w 739"/>
                <a:gd name="T35" fmla="*/ 418 h 492"/>
                <a:gd name="T36" fmla="*/ 357 w 739"/>
                <a:gd name="T37" fmla="*/ 82 h 492"/>
                <a:gd name="T38" fmla="*/ 101 w 739"/>
                <a:gd name="T39" fmla="*/ 2 h 492"/>
                <a:gd name="T40" fmla="*/ 101 w 739"/>
                <a:gd name="T41" fmla="*/ 352 h 492"/>
                <a:gd name="T42" fmla="*/ 111 w 739"/>
                <a:gd name="T43" fmla="*/ 352 h 492"/>
                <a:gd name="T44" fmla="*/ 357 w 739"/>
                <a:gd name="T45" fmla="*/ 418 h 492"/>
                <a:gd name="T46" fmla="*/ 638 w 739"/>
                <a:gd name="T47" fmla="*/ 352 h 492"/>
                <a:gd name="T48" fmla="*/ 638 w 739"/>
                <a:gd name="T49" fmla="*/ 2 h 492"/>
                <a:gd name="T50" fmla="*/ 382 w 739"/>
                <a:gd name="T51" fmla="*/ 82 h 492"/>
                <a:gd name="T52" fmla="*/ 382 w 739"/>
                <a:gd name="T53" fmla="*/ 418 h 492"/>
                <a:gd name="T54" fmla="*/ 628 w 739"/>
                <a:gd name="T55" fmla="*/ 352 h 492"/>
                <a:gd name="T56" fmla="*/ 638 w 739"/>
                <a:gd name="T57" fmla="*/ 352 h 492"/>
                <a:gd name="T58" fmla="*/ 369 w 739"/>
                <a:gd name="T59" fmla="*/ 473 h 492"/>
                <a:gd name="T60" fmla="*/ 695 w 739"/>
                <a:gd name="T61" fmla="*/ 395 h 492"/>
                <a:gd name="T62" fmla="*/ 695 w 739"/>
                <a:gd name="T63" fmla="*/ 7 h 492"/>
                <a:gd name="T64" fmla="*/ 655 w 739"/>
                <a:gd name="T65" fmla="*/ 7 h 492"/>
                <a:gd name="T66" fmla="*/ 655 w 739"/>
                <a:gd name="T67" fmla="*/ 370 h 492"/>
                <a:gd name="T68" fmla="*/ 645 w 739"/>
                <a:gd name="T69" fmla="*/ 370 h 492"/>
                <a:gd name="T70" fmla="*/ 626 w 739"/>
                <a:gd name="T71" fmla="*/ 369 h 492"/>
                <a:gd name="T72" fmla="*/ 376 w 739"/>
                <a:gd name="T73" fmla="*/ 441 h 492"/>
                <a:gd name="T74" fmla="*/ 369 w 739"/>
                <a:gd name="T75" fmla="*/ 445 h 492"/>
                <a:gd name="T76" fmla="*/ 363 w 739"/>
                <a:gd name="T77" fmla="*/ 441 h 492"/>
                <a:gd name="T78" fmla="*/ 113 w 739"/>
                <a:gd name="T79" fmla="*/ 369 h 492"/>
                <a:gd name="T80" fmla="*/ 93 w 739"/>
                <a:gd name="T81" fmla="*/ 370 h 492"/>
                <a:gd name="T82" fmla="*/ 83 w 739"/>
                <a:gd name="T83" fmla="*/ 370 h 492"/>
                <a:gd name="T84" fmla="*/ 83 w 739"/>
                <a:gd name="T85" fmla="*/ 7 h 492"/>
                <a:gd name="T86" fmla="*/ 44 w 739"/>
                <a:gd name="T87" fmla="*/ 7 h 492"/>
                <a:gd name="T88" fmla="*/ 44 w 739"/>
                <a:gd name="T89" fmla="*/ 395 h 492"/>
                <a:gd name="T90" fmla="*/ 369 w 739"/>
                <a:gd name="T91" fmla="*/ 473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9" h="492">
                  <a:moveTo>
                    <a:pt x="712" y="36"/>
                  </a:moveTo>
                  <a:lnTo>
                    <a:pt x="712" y="404"/>
                  </a:lnTo>
                  <a:lnTo>
                    <a:pt x="702" y="404"/>
                  </a:lnTo>
                  <a:cubicBezTo>
                    <a:pt x="694" y="404"/>
                    <a:pt x="686" y="403"/>
                    <a:pt x="678" y="403"/>
                  </a:cubicBezTo>
                  <a:cubicBezTo>
                    <a:pt x="576" y="403"/>
                    <a:pt x="467" y="430"/>
                    <a:pt x="373" y="480"/>
                  </a:cubicBezTo>
                  <a:lnTo>
                    <a:pt x="369" y="482"/>
                  </a:lnTo>
                  <a:lnTo>
                    <a:pt x="365" y="480"/>
                  </a:lnTo>
                  <a:cubicBezTo>
                    <a:pt x="271" y="430"/>
                    <a:pt x="163" y="403"/>
                    <a:pt x="60" y="403"/>
                  </a:cubicBezTo>
                  <a:cubicBezTo>
                    <a:pt x="52" y="403"/>
                    <a:pt x="45" y="404"/>
                    <a:pt x="37" y="404"/>
                  </a:cubicBezTo>
                  <a:lnTo>
                    <a:pt x="26" y="404"/>
                  </a:lnTo>
                  <a:lnTo>
                    <a:pt x="26" y="36"/>
                  </a:lnTo>
                  <a:cubicBezTo>
                    <a:pt x="17" y="36"/>
                    <a:pt x="9" y="36"/>
                    <a:pt x="0" y="36"/>
                  </a:cubicBezTo>
                  <a:lnTo>
                    <a:pt x="0" y="418"/>
                  </a:lnTo>
                  <a:cubicBezTo>
                    <a:pt x="123" y="415"/>
                    <a:pt x="254" y="442"/>
                    <a:pt x="369" y="492"/>
                  </a:cubicBezTo>
                  <a:cubicBezTo>
                    <a:pt x="484" y="442"/>
                    <a:pt x="616" y="415"/>
                    <a:pt x="739" y="418"/>
                  </a:cubicBezTo>
                  <a:lnTo>
                    <a:pt x="739" y="36"/>
                  </a:lnTo>
                  <a:cubicBezTo>
                    <a:pt x="730" y="36"/>
                    <a:pt x="721" y="36"/>
                    <a:pt x="712" y="36"/>
                  </a:cubicBezTo>
                  <a:close/>
                  <a:moveTo>
                    <a:pt x="357" y="418"/>
                  </a:moveTo>
                  <a:lnTo>
                    <a:pt x="357" y="82"/>
                  </a:lnTo>
                  <a:cubicBezTo>
                    <a:pt x="277" y="28"/>
                    <a:pt x="186" y="0"/>
                    <a:pt x="101" y="2"/>
                  </a:cubicBezTo>
                  <a:lnTo>
                    <a:pt x="101" y="352"/>
                  </a:lnTo>
                  <a:cubicBezTo>
                    <a:pt x="104" y="352"/>
                    <a:pt x="107" y="352"/>
                    <a:pt x="111" y="352"/>
                  </a:cubicBezTo>
                  <a:cubicBezTo>
                    <a:pt x="193" y="352"/>
                    <a:pt x="280" y="375"/>
                    <a:pt x="357" y="418"/>
                  </a:cubicBezTo>
                  <a:close/>
                  <a:moveTo>
                    <a:pt x="638" y="352"/>
                  </a:moveTo>
                  <a:lnTo>
                    <a:pt x="638" y="2"/>
                  </a:lnTo>
                  <a:cubicBezTo>
                    <a:pt x="552" y="0"/>
                    <a:pt x="461" y="28"/>
                    <a:pt x="382" y="82"/>
                  </a:cubicBezTo>
                  <a:lnTo>
                    <a:pt x="382" y="418"/>
                  </a:lnTo>
                  <a:cubicBezTo>
                    <a:pt x="459" y="375"/>
                    <a:pt x="545" y="352"/>
                    <a:pt x="628" y="352"/>
                  </a:cubicBezTo>
                  <a:cubicBezTo>
                    <a:pt x="631" y="352"/>
                    <a:pt x="635" y="352"/>
                    <a:pt x="638" y="352"/>
                  </a:cubicBezTo>
                  <a:close/>
                  <a:moveTo>
                    <a:pt x="369" y="473"/>
                  </a:moveTo>
                  <a:cubicBezTo>
                    <a:pt x="473" y="417"/>
                    <a:pt x="590" y="391"/>
                    <a:pt x="695" y="395"/>
                  </a:cubicBezTo>
                  <a:lnTo>
                    <a:pt x="695" y="7"/>
                  </a:lnTo>
                  <a:cubicBezTo>
                    <a:pt x="682" y="6"/>
                    <a:pt x="669" y="6"/>
                    <a:pt x="655" y="7"/>
                  </a:cubicBezTo>
                  <a:lnTo>
                    <a:pt x="655" y="370"/>
                  </a:lnTo>
                  <a:lnTo>
                    <a:pt x="645" y="370"/>
                  </a:lnTo>
                  <a:cubicBezTo>
                    <a:pt x="639" y="369"/>
                    <a:pt x="632" y="369"/>
                    <a:pt x="626" y="369"/>
                  </a:cubicBezTo>
                  <a:cubicBezTo>
                    <a:pt x="542" y="369"/>
                    <a:pt x="453" y="395"/>
                    <a:pt x="376" y="441"/>
                  </a:cubicBezTo>
                  <a:lnTo>
                    <a:pt x="369" y="445"/>
                  </a:lnTo>
                  <a:lnTo>
                    <a:pt x="363" y="441"/>
                  </a:lnTo>
                  <a:cubicBezTo>
                    <a:pt x="286" y="395"/>
                    <a:pt x="197" y="369"/>
                    <a:pt x="113" y="369"/>
                  </a:cubicBezTo>
                  <a:cubicBezTo>
                    <a:pt x="106" y="369"/>
                    <a:pt x="100" y="369"/>
                    <a:pt x="93" y="370"/>
                  </a:cubicBezTo>
                  <a:lnTo>
                    <a:pt x="83" y="370"/>
                  </a:lnTo>
                  <a:lnTo>
                    <a:pt x="83" y="7"/>
                  </a:lnTo>
                  <a:cubicBezTo>
                    <a:pt x="70" y="6"/>
                    <a:pt x="57" y="6"/>
                    <a:pt x="44" y="7"/>
                  </a:cubicBezTo>
                  <a:lnTo>
                    <a:pt x="44" y="395"/>
                  </a:lnTo>
                  <a:cubicBezTo>
                    <a:pt x="148" y="391"/>
                    <a:pt x="265" y="417"/>
                    <a:pt x="369" y="4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020704" y="1411471"/>
            <a:ext cx="1304416" cy="1526579"/>
            <a:chOff x="4022275" y="2132856"/>
            <a:chExt cx="1304925" cy="1527175"/>
          </a:xfrm>
        </p:grpSpPr>
        <p:sp>
          <p:nvSpPr>
            <p:cNvPr id="34" name="Freeform 6"/>
            <p:cNvSpPr>
              <a:spLocks/>
            </p:cNvSpPr>
            <p:nvPr/>
          </p:nvSpPr>
          <p:spPr bwMode="auto">
            <a:xfrm>
              <a:off x="4022275" y="2132856"/>
              <a:ext cx="1304925" cy="1527175"/>
            </a:xfrm>
            <a:custGeom>
              <a:avLst/>
              <a:gdLst>
                <a:gd name="T0" fmla="*/ 827 w 1654"/>
                <a:gd name="T1" fmla="*/ 0 h 1918"/>
                <a:gd name="T2" fmla="*/ 1654 w 1654"/>
                <a:gd name="T3" fmla="*/ 827 h 1918"/>
                <a:gd name="T4" fmla="*/ 1116 w 1654"/>
                <a:gd name="T5" fmla="*/ 1602 h 1918"/>
                <a:gd name="T6" fmla="*/ 995 w 1654"/>
                <a:gd name="T7" fmla="*/ 1741 h 1918"/>
                <a:gd name="T8" fmla="*/ 870 w 1654"/>
                <a:gd name="T9" fmla="*/ 1884 h 1918"/>
                <a:gd name="T10" fmla="*/ 790 w 1654"/>
                <a:gd name="T11" fmla="*/ 1889 h 1918"/>
                <a:gd name="T12" fmla="*/ 660 w 1654"/>
                <a:gd name="T13" fmla="*/ 1741 h 1918"/>
                <a:gd name="T14" fmla="*/ 540 w 1654"/>
                <a:gd name="T15" fmla="*/ 1603 h 1918"/>
                <a:gd name="T16" fmla="*/ 0 w 1654"/>
                <a:gd name="T17" fmla="*/ 827 h 1918"/>
                <a:gd name="T18" fmla="*/ 827 w 1654"/>
                <a:gd name="T19" fmla="*/ 0 h 1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54" h="1918">
                  <a:moveTo>
                    <a:pt x="827" y="0"/>
                  </a:moveTo>
                  <a:cubicBezTo>
                    <a:pt x="1284" y="0"/>
                    <a:pt x="1654" y="370"/>
                    <a:pt x="1654" y="827"/>
                  </a:cubicBezTo>
                  <a:cubicBezTo>
                    <a:pt x="1654" y="1182"/>
                    <a:pt x="1430" y="1485"/>
                    <a:pt x="1116" y="1602"/>
                  </a:cubicBezTo>
                  <a:lnTo>
                    <a:pt x="995" y="1741"/>
                  </a:lnTo>
                  <a:cubicBezTo>
                    <a:pt x="954" y="1788"/>
                    <a:pt x="912" y="1836"/>
                    <a:pt x="870" y="1884"/>
                  </a:cubicBezTo>
                  <a:cubicBezTo>
                    <a:pt x="845" y="1916"/>
                    <a:pt x="818" y="1918"/>
                    <a:pt x="790" y="1889"/>
                  </a:cubicBezTo>
                  <a:cubicBezTo>
                    <a:pt x="747" y="1840"/>
                    <a:pt x="703" y="1790"/>
                    <a:pt x="660" y="1741"/>
                  </a:cubicBezTo>
                  <a:lnTo>
                    <a:pt x="540" y="1603"/>
                  </a:lnTo>
                  <a:cubicBezTo>
                    <a:pt x="225" y="1486"/>
                    <a:pt x="0" y="1183"/>
                    <a:pt x="0" y="827"/>
                  </a:cubicBezTo>
                  <a:cubicBezTo>
                    <a:pt x="0" y="370"/>
                    <a:pt x="371" y="0"/>
                    <a:pt x="8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57" name="Freeform 9"/>
            <p:cNvSpPr>
              <a:spLocks noEditPoints="1"/>
            </p:cNvSpPr>
            <p:nvPr/>
          </p:nvSpPr>
          <p:spPr bwMode="auto">
            <a:xfrm>
              <a:off x="4399628" y="2380272"/>
              <a:ext cx="650316" cy="737858"/>
            </a:xfrm>
            <a:custGeom>
              <a:avLst/>
              <a:gdLst>
                <a:gd name="T0" fmla="*/ 402 w 630"/>
                <a:gd name="T1" fmla="*/ 89 h 711"/>
                <a:gd name="T2" fmla="*/ 313 w 630"/>
                <a:gd name="T3" fmla="*/ 178 h 711"/>
                <a:gd name="T4" fmla="*/ 223 w 630"/>
                <a:gd name="T5" fmla="*/ 178 h 711"/>
                <a:gd name="T6" fmla="*/ 134 w 630"/>
                <a:gd name="T7" fmla="*/ 89 h 711"/>
                <a:gd name="T8" fmla="*/ 223 w 630"/>
                <a:gd name="T9" fmla="*/ 0 h 711"/>
                <a:gd name="T10" fmla="*/ 313 w 630"/>
                <a:gd name="T11" fmla="*/ 0 h 711"/>
                <a:gd name="T12" fmla="*/ 402 w 630"/>
                <a:gd name="T13" fmla="*/ 89 h 711"/>
                <a:gd name="T14" fmla="*/ 445 w 630"/>
                <a:gd name="T15" fmla="*/ 89 h 711"/>
                <a:gd name="T16" fmla="*/ 446 w 630"/>
                <a:gd name="T17" fmla="*/ 109 h 711"/>
                <a:gd name="T18" fmla="*/ 335 w 630"/>
                <a:gd name="T19" fmla="*/ 221 h 711"/>
                <a:gd name="T20" fmla="*/ 201 w 630"/>
                <a:gd name="T21" fmla="*/ 221 h 711"/>
                <a:gd name="T22" fmla="*/ 90 w 630"/>
                <a:gd name="T23" fmla="*/ 109 h 711"/>
                <a:gd name="T24" fmla="*/ 92 w 630"/>
                <a:gd name="T25" fmla="*/ 89 h 711"/>
                <a:gd name="T26" fmla="*/ 0 w 630"/>
                <a:gd name="T27" fmla="*/ 198 h 711"/>
                <a:gd name="T28" fmla="*/ 0 w 630"/>
                <a:gd name="T29" fmla="*/ 600 h 711"/>
                <a:gd name="T30" fmla="*/ 112 w 630"/>
                <a:gd name="T31" fmla="*/ 711 h 711"/>
                <a:gd name="T32" fmla="*/ 409 w 630"/>
                <a:gd name="T33" fmla="*/ 711 h 711"/>
                <a:gd name="T34" fmla="*/ 288 w 630"/>
                <a:gd name="T35" fmla="*/ 528 h 711"/>
                <a:gd name="T36" fmla="*/ 487 w 630"/>
                <a:gd name="T37" fmla="*/ 328 h 711"/>
                <a:gd name="T38" fmla="*/ 536 w 630"/>
                <a:gd name="T39" fmla="*/ 335 h 711"/>
                <a:gd name="T40" fmla="*/ 536 w 630"/>
                <a:gd name="T41" fmla="*/ 198 h 711"/>
                <a:gd name="T42" fmla="*/ 445 w 630"/>
                <a:gd name="T43" fmla="*/ 89 h 711"/>
                <a:gd name="T44" fmla="*/ 251 w 630"/>
                <a:gd name="T45" fmla="*/ 446 h 711"/>
                <a:gd name="T46" fmla="*/ 251 w 630"/>
                <a:gd name="T47" fmla="*/ 446 h 711"/>
                <a:gd name="T48" fmla="*/ 112 w 630"/>
                <a:gd name="T49" fmla="*/ 446 h 711"/>
                <a:gd name="T50" fmla="*/ 90 w 630"/>
                <a:gd name="T51" fmla="*/ 423 h 711"/>
                <a:gd name="T52" fmla="*/ 112 w 630"/>
                <a:gd name="T53" fmla="*/ 401 h 711"/>
                <a:gd name="T54" fmla="*/ 251 w 630"/>
                <a:gd name="T55" fmla="*/ 401 h 711"/>
                <a:gd name="T56" fmla="*/ 274 w 630"/>
                <a:gd name="T57" fmla="*/ 423 h 711"/>
                <a:gd name="T58" fmla="*/ 251 w 630"/>
                <a:gd name="T59" fmla="*/ 446 h 711"/>
                <a:gd name="T60" fmla="*/ 296 w 630"/>
                <a:gd name="T61" fmla="*/ 356 h 711"/>
                <a:gd name="T62" fmla="*/ 296 w 630"/>
                <a:gd name="T63" fmla="*/ 356 h 711"/>
                <a:gd name="T64" fmla="*/ 112 w 630"/>
                <a:gd name="T65" fmla="*/ 356 h 711"/>
                <a:gd name="T66" fmla="*/ 90 w 630"/>
                <a:gd name="T67" fmla="*/ 334 h 711"/>
                <a:gd name="T68" fmla="*/ 112 w 630"/>
                <a:gd name="T69" fmla="*/ 312 h 711"/>
                <a:gd name="T70" fmla="*/ 296 w 630"/>
                <a:gd name="T71" fmla="*/ 312 h 711"/>
                <a:gd name="T72" fmla="*/ 318 w 630"/>
                <a:gd name="T73" fmla="*/ 334 h 711"/>
                <a:gd name="T74" fmla="*/ 296 w 630"/>
                <a:gd name="T75" fmla="*/ 356 h 711"/>
                <a:gd name="T76" fmla="*/ 524 w 630"/>
                <a:gd name="T77" fmla="*/ 390 h 711"/>
                <a:gd name="T78" fmla="*/ 488 w 630"/>
                <a:gd name="T79" fmla="*/ 385 h 711"/>
                <a:gd name="T80" fmla="*/ 346 w 630"/>
                <a:gd name="T81" fmla="*/ 527 h 711"/>
                <a:gd name="T82" fmla="*/ 458 w 630"/>
                <a:gd name="T83" fmla="*/ 666 h 711"/>
                <a:gd name="T84" fmla="*/ 488 w 630"/>
                <a:gd name="T85" fmla="*/ 669 h 711"/>
                <a:gd name="T86" fmla="*/ 630 w 630"/>
                <a:gd name="T87" fmla="*/ 527 h 711"/>
                <a:gd name="T88" fmla="*/ 524 w 630"/>
                <a:gd name="T89" fmla="*/ 390 h 711"/>
                <a:gd name="T90" fmla="*/ 569 w 630"/>
                <a:gd name="T91" fmla="*/ 507 h 711"/>
                <a:gd name="T92" fmla="*/ 569 w 630"/>
                <a:gd name="T93" fmla="*/ 507 h 711"/>
                <a:gd name="T94" fmla="*/ 524 w 630"/>
                <a:gd name="T95" fmla="*/ 552 h 711"/>
                <a:gd name="T96" fmla="*/ 488 w 630"/>
                <a:gd name="T97" fmla="*/ 588 h 711"/>
                <a:gd name="T98" fmla="*/ 448 w 630"/>
                <a:gd name="T99" fmla="*/ 588 h 711"/>
                <a:gd name="T100" fmla="*/ 408 w 630"/>
                <a:gd name="T101" fmla="*/ 547 h 711"/>
                <a:gd name="T102" fmla="*/ 408 w 630"/>
                <a:gd name="T103" fmla="*/ 507 h 711"/>
                <a:gd name="T104" fmla="*/ 448 w 630"/>
                <a:gd name="T105" fmla="*/ 507 h 711"/>
                <a:gd name="T106" fmla="*/ 468 w 630"/>
                <a:gd name="T107" fmla="*/ 527 h 711"/>
                <a:gd name="T108" fmla="*/ 524 w 630"/>
                <a:gd name="T109" fmla="*/ 472 h 711"/>
                <a:gd name="T110" fmla="*/ 528 w 630"/>
                <a:gd name="T111" fmla="*/ 467 h 711"/>
                <a:gd name="T112" fmla="*/ 569 w 630"/>
                <a:gd name="T113" fmla="*/ 467 h 711"/>
                <a:gd name="T114" fmla="*/ 569 w 630"/>
                <a:gd name="T115" fmla="*/ 507 h 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30" h="711">
                  <a:moveTo>
                    <a:pt x="402" y="89"/>
                  </a:moveTo>
                  <a:cubicBezTo>
                    <a:pt x="402" y="138"/>
                    <a:pt x="362" y="178"/>
                    <a:pt x="313" y="178"/>
                  </a:cubicBezTo>
                  <a:lnTo>
                    <a:pt x="223" y="178"/>
                  </a:lnTo>
                  <a:cubicBezTo>
                    <a:pt x="174" y="178"/>
                    <a:pt x="134" y="138"/>
                    <a:pt x="134" y="89"/>
                  </a:cubicBezTo>
                  <a:cubicBezTo>
                    <a:pt x="134" y="39"/>
                    <a:pt x="174" y="0"/>
                    <a:pt x="223" y="0"/>
                  </a:cubicBezTo>
                  <a:lnTo>
                    <a:pt x="313" y="0"/>
                  </a:lnTo>
                  <a:cubicBezTo>
                    <a:pt x="362" y="0"/>
                    <a:pt x="402" y="39"/>
                    <a:pt x="402" y="89"/>
                  </a:cubicBezTo>
                  <a:close/>
                  <a:moveTo>
                    <a:pt x="445" y="89"/>
                  </a:moveTo>
                  <a:cubicBezTo>
                    <a:pt x="446" y="95"/>
                    <a:pt x="446" y="102"/>
                    <a:pt x="446" y="109"/>
                  </a:cubicBezTo>
                  <a:cubicBezTo>
                    <a:pt x="446" y="171"/>
                    <a:pt x="397" y="221"/>
                    <a:pt x="335" y="221"/>
                  </a:cubicBezTo>
                  <a:lnTo>
                    <a:pt x="201" y="221"/>
                  </a:lnTo>
                  <a:cubicBezTo>
                    <a:pt x="140" y="221"/>
                    <a:pt x="90" y="171"/>
                    <a:pt x="90" y="109"/>
                  </a:cubicBezTo>
                  <a:cubicBezTo>
                    <a:pt x="90" y="102"/>
                    <a:pt x="90" y="95"/>
                    <a:pt x="92" y="89"/>
                  </a:cubicBezTo>
                  <a:cubicBezTo>
                    <a:pt x="40" y="98"/>
                    <a:pt x="0" y="144"/>
                    <a:pt x="0" y="198"/>
                  </a:cubicBezTo>
                  <a:lnTo>
                    <a:pt x="0" y="600"/>
                  </a:lnTo>
                  <a:cubicBezTo>
                    <a:pt x="0" y="661"/>
                    <a:pt x="50" y="711"/>
                    <a:pt x="112" y="711"/>
                  </a:cubicBezTo>
                  <a:lnTo>
                    <a:pt x="409" y="711"/>
                  </a:lnTo>
                  <a:cubicBezTo>
                    <a:pt x="338" y="681"/>
                    <a:pt x="288" y="610"/>
                    <a:pt x="288" y="528"/>
                  </a:cubicBezTo>
                  <a:cubicBezTo>
                    <a:pt x="288" y="418"/>
                    <a:pt x="377" y="328"/>
                    <a:pt x="487" y="328"/>
                  </a:cubicBezTo>
                  <a:cubicBezTo>
                    <a:pt x="504" y="328"/>
                    <a:pt x="520" y="331"/>
                    <a:pt x="536" y="335"/>
                  </a:cubicBezTo>
                  <a:lnTo>
                    <a:pt x="536" y="198"/>
                  </a:lnTo>
                  <a:cubicBezTo>
                    <a:pt x="536" y="144"/>
                    <a:pt x="496" y="98"/>
                    <a:pt x="445" y="89"/>
                  </a:cubicBezTo>
                  <a:close/>
                  <a:moveTo>
                    <a:pt x="251" y="446"/>
                  </a:moveTo>
                  <a:lnTo>
                    <a:pt x="251" y="446"/>
                  </a:lnTo>
                  <a:lnTo>
                    <a:pt x="112" y="446"/>
                  </a:lnTo>
                  <a:cubicBezTo>
                    <a:pt x="100" y="446"/>
                    <a:pt x="90" y="436"/>
                    <a:pt x="90" y="423"/>
                  </a:cubicBezTo>
                  <a:cubicBezTo>
                    <a:pt x="90" y="411"/>
                    <a:pt x="100" y="401"/>
                    <a:pt x="112" y="401"/>
                  </a:cubicBezTo>
                  <a:lnTo>
                    <a:pt x="251" y="401"/>
                  </a:lnTo>
                  <a:cubicBezTo>
                    <a:pt x="264" y="401"/>
                    <a:pt x="274" y="411"/>
                    <a:pt x="274" y="423"/>
                  </a:cubicBezTo>
                  <a:cubicBezTo>
                    <a:pt x="274" y="436"/>
                    <a:pt x="264" y="446"/>
                    <a:pt x="251" y="446"/>
                  </a:cubicBezTo>
                  <a:close/>
                  <a:moveTo>
                    <a:pt x="296" y="356"/>
                  </a:moveTo>
                  <a:lnTo>
                    <a:pt x="296" y="356"/>
                  </a:lnTo>
                  <a:lnTo>
                    <a:pt x="112" y="356"/>
                  </a:lnTo>
                  <a:cubicBezTo>
                    <a:pt x="100" y="356"/>
                    <a:pt x="90" y="346"/>
                    <a:pt x="90" y="334"/>
                  </a:cubicBezTo>
                  <a:cubicBezTo>
                    <a:pt x="90" y="322"/>
                    <a:pt x="100" y="312"/>
                    <a:pt x="112" y="312"/>
                  </a:cubicBezTo>
                  <a:lnTo>
                    <a:pt x="296" y="312"/>
                  </a:lnTo>
                  <a:cubicBezTo>
                    <a:pt x="308" y="312"/>
                    <a:pt x="318" y="322"/>
                    <a:pt x="318" y="334"/>
                  </a:cubicBezTo>
                  <a:cubicBezTo>
                    <a:pt x="318" y="346"/>
                    <a:pt x="308" y="356"/>
                    <a:pt x="296" y="356"/>
                  </a:cubicBezTo>
                  <a:close/>
                  <a:moveTo>
                    <a:pt x="524" y="390"/>
                  </a:moveTo>
                  <a:cubicBezTo>
                    <a:pt x="512" y="387"/>
                    <a:pt x="501" y="385"/>
                    <a:pt x="488" y="385"/>
                  </a:cubicBezTo>
                  <a:cubicBezTo>
                    <a:pt x="410" y="385"/>
                    <a:pt x="346" y="449"/>
                    <a:pt x="346" y="527"/>
                  </a:cubicBezTo>
                  <a:cubicBezTo>
                    <a:pt x="346" y="596"/>
                    <a:pt x="394" y="652"/>
                    <a:pt x="458" y="666"/>
                  </a:cubicBezTo>
                  <a:cubicBezTo>
                    <a:pt x="468" y="668"/>
                    <a:pt x="478" y="669"/>
                    <a:pt x="488" y="669"/>
                  </a:cubicBezTo>
                  <a:cubicBezTo>
                    <a:pt x="567" y="669"/>
                    <a:pt x="630" y="606"/>
                    <a:pt x="630" y="527"/>
                  </a:cubicBezTo>
                  <a:cubicBezTo>
                    <a:pt x="630" y="461"/>
                    <a:pt x="585" y="405"/>
                    <a:pt x="524" y="390"/>
                  </a:cubicBezTo>
                  <a:close/>
                  <a:moveTo>
                    <a:pt x="569" y="507"/>
                  </a:moveTo>
                  <a:lnTo>
                    <a:pt x="569" y="507"/>
                  </a:lnTo>
                  <a:lnTo>
                    <a:pt x="524" y="552"/>
                  </a:lnTo>
                  <a:lnTo>
                    <a:pt x="488" y="588"/>
                  </a:lnTo>
                  <a:cubicBezTo>
                    <a:pt x="477" y="599"/>
                    <a:pt x="459" y="599"/>
                    <a:pt x="448" y="588"/>
                  </a:cubicBezTo>
                  <a:lnTo>
                    <a:pt x="408" y="547"/>
                  </a:lnTo>
                  <a:cubicBezTo>
                    <a:pt x="397" y="536"/>
                    <a:pt x="397" y="518"/>
                    <a:pt x="408" y="507"/>
                  </a:cubicBezTo>
                  <a:cubicBezTo>
                    <a:pt x="419" y="496"/>
                    <a:pt x="437" y="496"/>
                    <a:pt x="448" y="507"/>
                  </a:cubicBezTo>
                  <a:lnTo>
                    <a:pt x="468" y="527"/>
                  </a:lnTo>
                  <a:lnTo>
                    <a:pt x="524" y="472"/>
                  </a:lnTo>
                  <a:lnTo>
                    <a:pt x="528" y="467"/>
                  </a:lnTo>
                  <a:cubicBezTo>
                    <a:pt x="540" y="456"/>
                    <a:pt x="558" y="456"/>
                    <a:pt x="569" y="467"/>
                  </a:cubicBezTo>
                  <a:cubicBezTo>
                    <a:pt x="580" y="478"/>
                    <a:pt x="580" y="496"/>
                    <a:pt x="569" y="50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6557534" y="1411471"/>
            <a:ext cx="1306003" cy="1526579"/>
            <a:chOff x="6560095" y="2132856"/>
            <a:chExt cx="1306513" cy="1527175"/>
          </a:xfrm>
        </p:grpSpPr>
        <p:sp>
          <p:nvSpPr>
            <p:cNvPr id="37" name="Freeform 7"/>
            <p:cNvSpPr>
              <a:spLocks/>
            </p:cNvSpPr>
            <p:nvPr/>
          </p:nvSpPr>
          <p:spPr bwMode="auto">
            <a:xfrm>
              <a:off x="6560095" y="2132856"/>
              <a:ext cx="1306513" cy="1527175"/>
            </a:xfrm>
            <a:custGeom>
              <a:avLst/>
              <a:gdLst>
                <a:gd name="T0" fmla="*/ 827 w 1654"/>
                <a:gd name="T1" fmla="*/ 0 h 1918"/>
                <a:gd name="T2" fmla="*/ 1654 w 1654"/>
                <a:gd name="T3" fmla="*/ 827 h 1918"/>
                <a:gd name="T4" fmla="*/ 1116 w 1654"/>
                <a:gd name="T5" fmla="*/ 1602 h 1918"/>
                <a:gd name="T6" fmla="*/ 995 w 1654"/>
                <a:gd name="T7" fmla="*/ 1741 h 1918"/>
                <a:gd name="T8" fmla="*/ 870 w 1654"/>
                <a:gd name="T9" fmla="*/ 1884 h 1918"/>
                <a:gd name="T10" fmla="*/ 789 w 1654"/>
                <a:gd name="T11" fmla="*/ 1889 h 1918"/>
                <a:gd name="T12" fmla="*/ 660 w 1654"/>
                <a:gd name="T13" fmla="*/ 1741 h 1918"/>
                <a:gd name="T14" fmla="*/ 540 w 1654"/>
                <a:gd name="T15" fmla="*/ 1603 h 1918"/>
                <a:gd name="T16" fmla="*/ 0 w 1654"/>
                <a:gd name="T17" fmla="*/ 827 h 1918"/>
                <a:gd name="T18" fmla="*/ 827 w 1654"/>
                <a:gd name="T19" fmla="*/ 0 h 1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54" h="1918">
                  <a:moveTo>
                    <a:pt x="827" y="0"/>
                  </a:moveTo>
                  <a:cubicBezTo>
                    <a:pt x="1283" y="0"/>
                    <a:pt x="1654" y="370"/>
                    <a:pt x="1654" y="827"/>
                  </a:cubicBezTo>
                  <a:cubicBezTo>
                    <a:pt x="1654" y="1182"/>
                    <a:pt x="1430" y="1485"/>
                    <a:pt x="1116" y="1602"/>
                  </a:cubicBezTo>
                  <a:lnTo>
                    <a:pt x="995" y="1741"/>
                  </a:lnTo>
                  <a:cubicBezTo>
                    <a:pt x="953" y="1788"/>
                    <a:pt x="912" y="1836"/>
                    <a:pt x="870" y="1884"/>
                  </a:cubicBezTo>
                  <a:cubicBezTo>
                    <a:pt x="845" y="1916"/>
                    <a:pt x="818" y="1918"/>
                    <a:pt x="789" y="1889"/>
                  </a:cubicBezTo>
                  <a:cubicBezTo>
                    <a:pt x="746" y="1840"/>
                    <a:pt x="703" y="1790"/>
                    <a:pt x="660" y="1741"/>
                  </a:cubicBezTo>
                  <a:lnTo>
                    <a:pt x="540" y="1603"/>
                  </a:lnTo>
                  <a:cubicBezTo>
                    <a:pt x="225" y="1486"/>
                    <a:pt x="0" y="1183"/>
                    <a:pt x="0" y="827"/>
                  </a:cubicBezTo>
                  <a:cubicBezTo>
                    <a:pt x="0" y="370"/>
                    <a:pt x="370" y="0"/>
                    <a:pt x="827" y="0"/>
                  </a:cubicBezTo>
                  <a:close/>
                </a:path>
              </a:pathLst>
            </a:custGeom>
            <a:solidFill>
              <a:srgbClr val="02B9E7"/>
            </a:solidFill>
            <a:ln>
              <a:noFill/>
            </a:ln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3" name="Freeform 10"/>
            <p:cNvSpPr>
              <a:spLocks noEditPoints="1"/>
            </p:cNvSpPr>
            <p:nvPr/>
          </p:nvSpPr>
          <p:spPr bwMode="auto">
            <a:xfrm>
              <a:off x="6850001" y="2403005"/>
              <a:ext cx="726700" cy="778916"/>
            </a:xfrm>
            <a:custGeom>
              <a:avLst/>
              <a:gdLst>
                <a:gd name="T0" fmla="*/ 255 w 674"/>
                <a:gd name="T1" fmla="*/ 448 h 720"/>
                <a:gd name="T2" fmla="*/ 243 w 674"/>
                <a:gd name="T3" fmla="*/ 407 h 720"/>
                <a:gd name="T4" fmla="*/ 295 w 674"/>
                <a:gd name="T5" fmla="*/ 196 h 720"/>
                <a:gd name="T6" fmla="*/ 350 w 674"/>
                <a:gd name="T7" fmla="*/ 367 h 720"/>
                <a:gd name="T8" fmla="*/ 418 w 674"/>
                <a:gd name="T9" fmla="*/ 169 h 720"/>
                <a:gd name="T10" fmla="*/ 267 w 674"/>
                <a:gd name="T11" fmla="*/ 336 h 720"/>
                <a:gd name="T12" fmla="*/ 254 w 674"/>
                <a:gd name="T13" fmla="*/ 358 h 720"/>
                <a:gd name="T14" fmla="*/ 346 w 674"/>
                <a:gd name="T15" fmla="*/ 412 h 720"/>
                <a:gd name="T16" fmla="*/ 445 w 674"/>
                <a:gd name="T17" fmla="*/ 144 h 720"/>
                <a:gd name="T18" fmla="*/ 449 w 674"/>
                <a:gd name="T19" fmla="*/ 91 h 720"/>
                <a:gd name="T20" fmla="*/ 445 w 674"/>
                <a:gd name="T21" fmla="*/ 144 h 720"/>
                <a:gd name="T22" fmla="*/ 526 w 674"/>
                <a:gd name="T23" fmla="*/ 170 h 720"/>
                <a:gd name="T24" fmla="*/ 474 w 674"/>
                <a:gd name="T25" fmla="*/ 174 h 720"/>
                <a:gd name="T26" fmla="*/ 385 w 674"/>
                <a:gd name="T27" fmla="*/ 121 h 720"/>
                <a:gd name="T28" fmla="*/ 363 w 674"/>
                <a:gd name="T29" fmla="*/ 73 h 720"/>
                <a:gd name="T30" fmla="*/ 385 w 674"/>
                <a:gd name="T31" fmla="*/ 121 h 720"/>
                <a:gd name="T32" fmla="*/ 298 w 674"/>
                <a:gd name="T33" fmla="*/ 90 h 720"/>
                <a:gd name="T34" fmla="*/ 302 w 674"/>
                <a:gd name="T35" fmla="*/ 142 h 720"/>
                <a:gd name="T36" fmla="*/ 496 w 674"/>
                <a:gd name="T37" fmla="*/ 257 h 720"/>
                <a:gd name="T38" fmla="*/ 543 w 674"/>
                <a:gd name="T39" fmla="*/ 235 h 720"/>
                <a:gd name="T40" fmla="*/ 496 w 674"/>
                <a:gd name="T41" fmla="*/ 257 h 720"/>
                <a:gd name="T42" fmla="*/ 248 w 674"/>
                <a:gd name="T43" fmla="*/ 368 h 720"/>
                <a:gd name="T44" fmla="*/ 235 w 674"/>
                <a:gd name="T45" fmla="*/ 391 h 720"/>
                <a:gd name="T46" fmla="*/ 328 w 674"/>
                <a:gd name="T47" fmla="*/ 445 h 720"/>
                <a:gd name="T48" fmla="*/ 246 w 674"/>
                <a:gd name="T49" fmla="*/ 720 h 720"/>
                <a:gd name="T50" fmla="*/ 263 w 674"/>
                <a:gd name="T51" fmla="*/ 42 h 720"/>
                <a:gd name="T52" fmla="*/ 642 w 674"/>
                <a:gd name="T53" fmla="*/ 204 h 720"/>
                <a:gd name="T54" fmla="*/ 648 w 674"/>
                <a:gd name="T55" fmla="*/ 313 h 720"/>
                <a:gd name="T56" fmla="*/ 667 w 674"/>
                <a:gd name="T57" fmla="*/ 450 h 720"/>
                <a:gd name="T58" fmla="*/ 643 w 674"/>
                <a:gd name="T59" fmla="*/ 566 h 720"/>
                <a:gd name="T60" fmla="*/ 504 w 674"/>
                <a:gd name="T61" fmla="*/ 598 h 720"/>
                <a:gd name="T62" fmla="*/ 246 w 674"/>
                <a:gd name="T63" fmla="*/ 720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74" h="720">
                  <a:moveTo>
                    <a:pt x="243" y="407"/>
                  </a:moveTo>
                  <a:cubicBezTo>
                    <a:pt x="236" y="421"/>
                    <a:pt x="241" y="439"/>
                    <a:pt x="255" y="448"/>
                  </a:cubicBezTo>
                  <a:cubicBezTo>
                    <a:pt x="267" y="455"/>
                    <a:pt x="282" y="453"/>
                    <a:pt x="292" y="444"/>
                  </a:cubicBezTo>
                  <a:lnTo>
                    <a:pt x="243" y="407"/>
                  </a:lnTo>
                  <a:close/>
                  <a:moveTo>
                    <a:pt x="418" y="169"/>
                  </a:moveTo>
                  <a:cubicBezTo>
                    <a:pt x="373" y="143"/>
                    <a:pt x="318" y="155"/>
                    <a:pt x="295" y="196"/>
                  </a:cubicBezTo>
                  <a:cubicBezTo>
                    <a:pt x="270" y="238"/>
                    <a:pt x="302" y="284"/>
                    <a:pt x="280" y="327"/>
                  </a:cubicBezTo>
                  <a:lnTo>
                    <a:pt x="350" y="367"/>
                  </a:lnTo>
                  <a:cubicBezTo>
                    <a:pt x="376" y="327"/>
                    <a:pt x="432" y="331"/>
                    <a:pt x="456" y="289"/>
                  </a:cubicBezTo>
                  <a:cubicBezTo>
                    <a:pt x="480" y="249"/>
                    <a:pt x="462" y="195"/>
                    <a:pt x="418" y="169"/>
                  </a:cubicBezTo>
                  <a:close/>
                  <a:moveTo>
                    <a:pt x="342" y="393"/>
                  </a:moveTo>
                  <a:lnTo>
                    <a:pt x="267" y="336"/>
                  </a:lnTo>
                  <a:cubicBezTo>
                    <a:pt x="261" y="331"/>
                    <a:pt x="253" y="333"/>
                    <a:pt x="250" y="339"/>
                  </a:cubicBezTo>
                  <a:cubicBezTo>
                    <a:pt x="246" y="345"/>
                    <a:pt x="248" y="354"/>
                    <a:pt x="254" y="358"/>
                  </a:cubicBezTo>
                  <a:lnTo>
                    <a:pt x="329" y="416"/>
                  </a:lnTo>
                  <a:cubicBezTo>
                    <a:pt x="335" y="420"/>
                    <a:pt x="343" y="418"/>
                    <a:pt x="346" y="412"/>
                  </a:cubicBezTo>
                  <a:cubicBezTo>
                    <a:pt x="350" y="406"/>
                    <a:pt x="348" y="397"/>
                    <a:pt x="342" y="393"/>
                  </a:cubicBezTo>
                  <a:close/>
                  <a:moveTo>
                    <a:pt x="445" y="144"/>
                  </a:moveTo>
                  <a:lnTo>
                    <a:pt x="468" y="102"/>
                  </a:lnTo>
                  <a:lnTo>
                    <a:pt x="449" y="91"/>
                  </a:lnTo>
                  <a:lnTo>
                    <a:pt x="426" y="133"/>
                  </a:lnTo>
                  <a:lnTo>
                    <a:pt x="445" y="144"/>
                  </a:lnTo>
                  <a:close/>
                  <a:moveTo>
                    <a:pt x="485" y="193"/>
                  </a:moveTo>
                  <a:lnTo>
                    <a:pt x="526" y="170"/>
                  </a:lnTo>
                  <a:lnTo>
                    <a:pt x="515" y="150"/>
                  </a:lnTo>
                  <a:lnTo>
                    <a:pt x="474" y="174"/>
                  </a:lnTo>
                  <a:lnTo>
                    <a:pt x="485" y="193"/>
                  </a:lnTo>
                  <a:close/>
                  <a:moveTo>
                    <a:pt x="385" y="121"/>
                  </a:moveTo>
                  <a:lnTo>
                    <a:pt x="385" y="73"/>
                  </a:lnTo>
                  <a:lnTo>
                    <a:pt x="363" y="73"/>
                  </a:lnTo>
                  <a:lnTo>
                    <a:pt x="363" y="121"/>
                  </a:lnTo>
                  <a:lnTo>
                    <a:pt x="385" y="121"/>
                  </a:lnTo>
                  <a:close/>
                  <a:moveTo>
                    <a:pt x="321" y="131"/>
                  </a:moveTo>
                  <a:lnTo>
                    <a:pt x="298" y="90"/>
                  </a:lnTo>
                  <a:lnTo>
                    <a:pt x="278" y="101"/>
                  </a:lnTo>
                  <a:lnTo>
                    <a:pt x="302" y="142"/>
                  </a:lnTo>
                  <a:lnTo>
                    <a:pt x="321" y="131"/>
                  </a:lnTo>
                  <a:close/>
                  <a:moveTo>
                    <a:pt x="496" y="257"/>
                  </a:moveTo>
                  <a:lnTo>
                    <a:pt x="543" y="257"/>
                  </a:lnTo>
                  <a:lnTo>
                    <a:pt x="543" y="235"/>
                  </a:lnTo>
                  <a:lnTo>
                    <a:pt x="496" y="235"/>
                  </a:lnTo>
                  <a:lnTo>
                    <a:pt x="496" y="257"/>
                  </a:lnTo>
                  <a:close/>
                  <a:moveTo>
                    <a:pt x="324" y="426"/>
                  </a:moveTo>
                  <a:lnTo>
                    <a:pt x="248" y="368"/>
                  </a:lnTo>
                  <a:cubicBezTo>
                    <a:pt x="242" y="364"/>
                    <a:pt x="235" y="365"/>
                    <a:pt x="231" y="372"/>
                  </a:cubicBezTo>
                  <a:cubicBezTo>
                    <a:pt x="227" y="378"/>
                    <a:pt x="229" y="386"/>
                    <a:pt x="235" y="391"/>
                  </a:cubicBezTo>
                  <a:lnTo>
                    <a:pt x="311" y="448"/>
                  </a:lnTo>
                  <a:cubicBezTo>
                    <a:pt x="316" y="453"/>
                    <a:pt x="324" y="451"/>
                    <a:pt x="328" y="445"/>
                  </a:cubicBezTo>
                  <a:cubicBezTo>
                    <a:pt x="331" y="439"/>
                    <a:pt x="329" y="430"/>
                    <a:pt x="324" y="426"/>
                  </a:cubicBezTo>
                  <a:close/>
                  <a:moveTo>
                    <a:pt x="246" y="720"/>
                  </a:moveTo>
                  <a:cubicBezTo>
                    <a:pt x="254" y="663"/>
                    <a:pt x="254" y="603"/>
                    <a:pt x="239" y="550"/>
                  </a:cubicBezTo>
                  <a:cubicBezTo>
                    <a:pt x="0" y="415"/>
                    <a:pt x="62" y="105"/>
                    <a:pt x="263" y="42"/>
                  </a:cubicBezTo>
                  <a:cubicBezTo>
                    <a:pt x="369" y="0"/>
                    <a:pt x="513" y="25"/>
                    <a:pt x="606" y="119"/>
                  </a:cubicBezTo>
                  <a:cubicBezTo>
                    <a:pt x="674" y="187"/>
                    <a:pt x="642" y="204"/>
                    <a:pt x="642" y="204"/>
                  </a:cubicBezTo>
                  <a:lnTo>
                    <a:pt x="627" y="213"/>
                  </a:lnTo>
                  <a:cubicBezTo>
                    <a:pt x="635" y="245"/>
                    <a:pt x="650" y="305"/>
                    <a:pt x="648" y="313"/>
                  </a:cubicBezTo>
                  <a:cubicBezTo>
                    <a:pt x="645" y="324"/>
                    <a:pt x="633" y="336"/>
                    <a:pt x="633" y="336"/>
                  </a:cubicBezTo>
                  <a:lnTo>
                    <a:pt x="667" y="450"/>
                  </a:lnTo>
                  <a:lnTo>
                    <a:pt x="636" y="462"/>
                  </a:lnTo>
                  <a:cubicBezTo>
                    <a:pt x="643" y="499"/>
                    <a:pt x="647" y="530"/>
                    <a:pt x="643" y="566"/>
                  </a:cubicBezTo>
                  <a:cubicBezTo>
                    <a:pt x="643" y="572"/>
                    <a:pt x="622" y="590"/>
                    <a:pt x="606" y="591"/>
                  </a:cubicBezTo>
                  <a:lnTo>
                    <a:pt x="504" y="598"/>
                  </a:lnTo>
                  <a:lnTo>
                    <a:pt x="510" y="720"/>
                  </a:lnTo>
                  <a:lnTo>
                    <a:pt x="246" y="7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3" name="矩形 2"/>
          <p:cNvSpPr/>
          <p:nvPr/>
        </p:nvSpPr>
        <p:spPr bwMode="auto">
          <a:xfrm>
            <a:off x="0" y="6035415"/>
            <a:ext cx="12192000" cy="99353"/>
          </a:xfrm>
          <a:prstGeom prst="rect">
            <a:avLst/>
          </a:prstGeom>
          <a:solidFill>
            <a:srgbClr val="0A97A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30" name="TextBox 26"/>
          <p:cNvSpPr txBox="1"/>
          <p:nvPr/>
        </p:nvSpPr>
        <p:spPr>
          <a:xfrm>
            <a:off x="14146652" y="778822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" name="矩形 1"/>
          <p:cNvSpPr/>
          <p:nvPr/>
        </p:nvSpPr>
        <p:spPr>
          <a:xfrm>
            <a:off x="977653" y="3646912"/>
            <a:ext cx="24449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程序控制方式 </a:t>
            </a:r>
          </a:p>
        </p:txBody>
      </p:sp>
      <p:sp>
        <p:nvSpPr>
          <p:cNvPr id="6" name="矩形 5"/>
          <p:cNvSpPr/>
          <p:nvPr/>
        </p:nvSpPr>
        <p:spPr>
          <a:xfrm>
            <a:off x="3680439" y="3645278"/>
            <a:ext cx="24449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中断控制方式 </a:t>
            </a:r>
          </a:p>
        </p:txBody>
      </p:sp>
      <p:sp>
        <p:nvSpPr>
          <p:cNvPr id="7" name="矩形 6"/>
          <p:cNvSpPr/>
          <p:nvPr/>
        </p:nvSpPr>
        <p:spPr>
          <a:xfrm>
            <a:off x="6249502" y="3645278"/>
            <a:ext cx="26484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8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28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控制方式 </a:t>
            </a:r>
          </a:p>
        </p:txBody>
      </p:sp>
      <p:sp>
        <p:nvSpPr>
          <p:cNvPr id="8" name="矩形 7"/>
          <p:cNvSpPr/>
          <p:nvPr/>
        </p:nvSpPr>
        <p:spPr>
          <a:xfrm>
            <a:off x="9022147" y="3616914"/>
            <a:ext cx="24449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通道控制方式 </a:t>
            </a:r>
          </a:p>
        </p:txBody>
      </p:sp>
    </p:spTree>
    <p:extLst>
      <p:ext uri="{BB962C8B-B14F-4D97-AF65-F5344CB8AC3E}">
        <p14:creationId xmlns:p14="http://schemas.microsoft.com/office/powerpoint/2010/main" val="979617384"/>
      </p:ext>
    </p:extLst>
  </p:cSld>
  <p:clrMapOvr>
    <a:masterClrMapping/>
  </p:clrMapOvr>
  <p:transition spd="slow" advTm="0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69894" y="2018181"/>
            <a:ext cx="7555831" cy="2301148"/>
          </a:xfrm>
          <a:ln w="28575">
            <a:solidFill>
              <a:srgbClr val="04B0BE"/>
            </a:solidFill>
          </a:ln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每经历一次中断，都要进行从中断请求信号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的建立、中断源识别、中断响应到中断服务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>
              <a:lnSpc>
                <a:spcPct val="150000"/>
              </a:lnSpc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等的操作，花费了不少额外时间。</a:t>
            </a:r>
          </a:p>
          <a:p>
            <a:pPr lvl="1" algn="just">
              <a:lnSpc>
                <a:spcPct val="150000"/>
              </a:lnSpc>
              <a:buNone/>
            </a:pP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3"/>
          <p:cNvGrpSpPr/>
          <p:nvPr/>
        </p:nvGrpSpPr>
        <p:grpSpPr>
          <a:xfrm>
            <a:off x="391399" y="413921"/>
            <a:ext cx="438352" cy="621987"/>
            <a:chOff x="265635" y="269251"/>
            <a:chExt cx="438352" cy="621987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834303" y="4865760"/>
            <a:ext cx="41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0"/>
          <p:cNvSpPr txBox="1"/>
          <p:nvPr/>
        </p:nvSpPr>
        <p:spPr>
          <a:xfrm>
            <a:off x="904570" y="4585648"/>
            <a:ext cx="41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51897" y="1073556"/>
            <a:ext cx="46930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中断控制方式存在的问题：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Oval 5"/>
          <p:cNvSpPr>
            <a:spLocks noChangeArrowheads="1"/>
          </p:cNvSpPr>
          <p:nvPr/>
        </p:nvSpPr>
        <p:spPr bwMode="auto">
          <a:xfrm>
            <a:off x="1321257" y="2250709"/>
            <a:ext cx="1573899" cy="1563688"/>
          </a:xfrm>
          <a:prstGeom prst="ellipse">
            <a:avLst/>
          </a:prstGeom>
          <a:solidFill>
            <a:srgbClr val="04B0BE"/>
          </a:solidFill>
          <a:ln w="38100" cap="flat">
            <a:solidFill>
              <a:srgbClr val="04B0BE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9" name="Oval 6"/>
          <p:cNvSpPr>
            <a:spLocks noChangeArrowheads="1"/>
          </p:cNvSpPr>
          <p:nvPr/>
        </p:nvSpPr>
        <p:spPr bwMode="auto">
          <a:xfrm>
            <a:off x="9452886" y="4648852"/>
            <a:ext cx="1573899" cy="1563688"/>
          </a:xfrm>
          <a:prstGeom prst="ellipse">
            <a:avLst/>
          </a:prstGeom>
          <a:solidFill>
            <a:srgbClr val="FFC000"/>
          </a:solidFill>
          <a:ln w="38100" cap="flat">
            <a:solidFill>
              <a:srgbClr val="FFC000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21" name="Freeform 10"/>
          <p:cNvSpPr>
            <a:spLocks noEditPoints="1"/>
          </p:cNvSpPr>
          <p:nvPr/>
        </p:nvSpPr>
        <p:spPr bwMode="auto">
          <a:xfrm>
            <a:off x="2986887" y="2859215"/>
            <a:ext cx="365303" cy="362962"/>
          </a:xfrm>
          <a:custGeom>
            <a:avLst/>
            <a:gdLst>
              <a:gd name="T0" fmla="*/ 173 w 346"/>
              <a:gd name="T1" fmla="*/ 0 h 346"/>
              <a:gd name="T2" fmla="*/ 346 w 346"/>
              <a:gd name="T3" fmla="*/ 173 h 346"/>
              <a:gd name="T4" fmla="*/ 173 w 346"/>
              <a:gd name="T5" fmla="*/ 346 h 346"/>
              <a:gd name="T6" fmla="*/ 0 w 346"/>
              <a:gd name="T7" fmla="*/ 173 h 346"/>
              <a:gd name="T8" fmla="*/ 173 w 346"/>
              <a:gd name="T9" fmla="*/ 0 h 346"/>
              <a:gd name="T10" fmla="*/ 277 w 346"/>
              <a:gd name="T11" fmla="*/ 176 h 346"/>
              <a:gd name="T12" fmla="*/ 204 w 346"/>
              <a:gd name="T13" fmla="*/ 218 h 346"/>
              <a:gd name="T14" fmla="*/ 131 w 346"/>
              <a:gd name="T15" fmla="*/ 260 h 346"/>
              <a:gd name="T16" fmla="*/ 131 w 346"/>
              <a:gd name="T17" fmla="*/ 176 h 346"/>
              <a:gd name="T18" fmla="*/ 131 w 346"/>
              <a:gd name="T19" fmla="*/ 92 h 346"/>
              <a:gd name="T20" fmla="*/ 204 w 346"/>
              <a:gd name="T21" fmla="*/ 134 h 346"/>
              <a:gd name="T22" fmla="*/ 277 w 346"/>
              <a:gd name="T23" fmla="*/ 176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6" h="346">
                <a:moveTo>
                  <a:pt x="173" y="0"/>
                </a:moveTo>
                <a:cubicBezTo>
                  <a:pt x="268" y="0"/>
                  <a:pt x="346" y="77"/>
                  <a:pt x="346" y="173"/>
                </a:cubicBezTo>
                <a:cubicBezTo>
                  <a:pt x="346" y="268"/>
                  <a:pt x="268" y="346"/>
                  <a:pt x="173" y="346"/>
                </a:cubicBezTo>
                <a:cubicBezTo>
                  <a:pt x="77" y="346"/>
                  <a:pt x="0" y="268"/>
                  <a:pt x="0" y="173"/>
                </a:cubicBezTo>
                <a:cubicBezTo>
                  <a:pt x="0" y="77"/>
                  <a:pt x="77" y="0"/>
                  <a:pt x="173" y="0"/>
                </a:cubicBezTo>
                <a:close/>
                <a:moveTo>
                  <a:pt x="277" y="176"/>
                </a:moveTo>
                <a:lnTo>
                  <a:pt x="204" y="218"/>
                </a:lnTo>
                <a:lnTo>
                  <a:pt x="131" y="260"/>
                </a:lnTo>
                <a:lnTo>
                  <a:pt x="131" y="176"/>
                </a:lnTo>
                <a:lnTo>
                  <a:pt x="131" y="92"/>
                </a:lnTo>
                <a:lnTo>
                  <a:pt x="204" y="134"/>
                </a:lnTo>
                <a:lnTo>
                  <a:pt x="277" y="176"/>
                </a:lnTo>
                <a:close/>
              </a:path>
            </a:pathLst>
          </a:custGeom>
          <a:solidFill>
            <a:srgbClr val="04B0BE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22" name="Freeform 11"/>
          <p:cNvSpPr>
            <a:spLocks noEditPoints="1"/>
          </p:cNvSpPr>
          <p:nvPr/>
        </p:nvSpPr>
        <p:spPr bwMode="auto">
          <a:xfrm>
            <a:off x="9008402" y="5226968"/>
            <a:ext cx="365303" cy="362962"/>
          </a:xfrm>
          <a:custGeom>
            <a:avLst/>
            <a:gdLst>
              <a:gd name="T0" fmla="*/ 173 w 346"/>
              <a:gd name="T1" fmla="*/ 0 h 346"/>
              <a:gd name="T2" fmla="*/ 0 w 346"/>
              <a:gd name="T3" fmla="*/ 173 h 346"/>
              <a:gd name="T4" fmla="*/ 173 w 346"/>
              <a:gd name="T5" fmla="*/ 346 h 346"/>
              <a:gd name="T6" fmla="*/ 346 w 346"/>
              <a:gd name="T7" fmla="*/ 173 h 346"/>
              <a:gd name="T8" fmla="*/ 173 w 346"/>
              <a:gd name="T9" fmla="*/ 0 h 346"/>
              <a:gd name="T10" fmla="*/ 69 w 346"/>
              <a:gd name="T11" fmla="*/ 177 h 346"/>
              <a:gd name="T12" fmla="*/ 142 w 346"/>
              <a:gd name="T13" fmla="*/ 219 h 346"/>
              <a:gd name="T14" fmla="*/ 215 w 346"/>
              <a:gd name="T15" fmla="*/ 261 h 346"/>
              <a:gd name="T16" fmla="*/ 215 w 346"/>
              <a:gd name="T17" fmla="*/ 177 h 346"/>
              <a:gd name="T18" fmla="*/ 215 w 346"/>
              <a:gd name="T19" fmla="*/ 93 h 346"/>
              <a:gd name="T20" fmla="*/ 142 w 346"/>
              <a:gd name="T21" fmla="*/ 135 h 346"/>
              <a:gd name="T22" fmla="*/ 69 w 346"/>
              <a:gd name="T23" fmla="*/ 177 h 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46" h="346">
                <a:moveTo>
                  <a:pt x="173" y="0"/>
                </a:moveTo>
                <a:cubicBezTo>
                  <a:pt x="78" y="0"/>
                  <a:pt x="0" y="78"/>
                  <a:pt x="0" y="173"/>
                </a:cubicBezTo>
                <a:cubicBezTo>
                  <a:pt x="0" y="269"/>
                  <a:pt x="78" y="346"/>
                  <a:pt x="173" y="346"/>
                </a:cubicBezTo>
                <a:cubicBezTo>
                  <a:pt x="269" y="346"/>
                  <a:pt x="346" y="269"/>
                  <a:pt x="346" y="173"/>
                </a:cubicBezTo>
                <a:cubicBezTo>
                  <a:pt x="346" y="78"/>
                  <a:pt x="269" y="0"/>
                  <a:pt x="173" y="0"/>
                </a:cubicBezTo>
                <a:close/>
                <a:moveTo>
                  <a:pt x="69" y="177"/>
                </a:moveTo>
                <a:lnTo>
                  <a:pt x="142" y="219"/>
                </a:lnTo>
                <a:lnTo>
                  <a:pt x="215" y="261"/>
                </a:lnTo>
                <a:lnTo>
                  <a:pt x="215" y="177"/>
                </a:lnTo>
                <a:lnTo>
                  <a:pt x="215" y="93"/>
                </a:lnTo>
                <a:lnTo>
                  <a:pt x="142" y="135"/>
                </a:lnTo>
                <a:lnTo>
                  <a:pt x="69" y="177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23" name="TextBox 13"/>
          <p:cNvSpPr txBox="1"/>
          <p:nvPr/>
        </p:nvSpPr>
        <p:spPr>
          <a:xfrm flipH="1">
            <a:off x="1557694" y="2571069"/>
            <a:ext cx="1116324" cy="907578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 algn="ctr"/>
            <a:r>
              <a:rPr lang="en-US" altLang="zh-CN" sz="5298" dirty="0">
                <a:solidFill>
                  <a:schemeClr val="bg1"/>
                </a:solidFill>
                <a:latin typeface="+mn-ea"/>
              </a:rPr>
              <a:t>01</a:t>
            </a:r>
          </a:p>
        </p:txBody>
      </p:sp>
      <p:sp>
        <p:nvSpPr>
          <p:cNvPr id="24" name="TextBox 14"/>
          <p:cNvSpPr txBox="1"/>
          <p:nvPr/>
        </p:nvSpPr>
        <p:spPr>
          <a:xfrm flipH="1">
            <a:off x="9697774" y="4969212"/>
            <a:ext cx="1116324" cy="907578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 algn="ctr"/>
            <a:r>
              <a:rPr lang="en-US" altLang="zh-CN" sz="5298" dirty="0">
                <a:solidFill>
                  <a:schemeClr val="bg1"/>
                </a:solidFill>
                <a:latin typeface="+mn-ea"/>
              </a:rPr>
              <a:t>02</a:t>
            </a:r>
          </a:p>
        </p:txBody>
      </p:sp>
      <p:sp>
        <p:nvSpPr>
          <p:cNvPr id="14" name="矩形 13"/>
          <p:cNvSpPr/>
          <p:nvPr/>
        </p:nvSpPr>
        <p:spPr>
          <a:xfrm>
            <a:off x="952674" y="469739"/>
            <a:ext cx="30043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控制方式 </a:t>
            </a:r>
            <a:endParaRPr lang="zh-CN" altLang="en-US" sz="3200" dirty="0"/>
          </a:p>
        </p:txBody>
      </p:sp>
      <p:sp>
        <p:nvSpPr>
          <p:cNvPr id="15" name="矩形 14"/>
          <p:cNvSpPr/>
          <p:nvPr/>
        </p:nvSpPr>
        <p:spPr>
          <a:xfrm>
            <a:off x="1005185" y="5061364"/>
            <a:ext cx="7504005" cy="738664"/>
          </a:xfrm>
          <a:prstGeom prst="rect">
            <a:avLst/>
          </a:prstGeom>
          <a:ln w="28575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不适应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与高速设备间进行成组数据交换。 </a:t>
            </a:r>
          </a:p>
        </p:txBody>
      </p:sp>
    </p:spTree>
    <p:extLst>
      <p:ext uri="{BB962C8B-B14F-4D97-AF65-F5344CB8AC3E}">
        <p14:creationId xmlns:p14="http://schemas.microsoft.com/office/powerpoint/2010/main" val="3673964083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0" y="2000982"/>
            <a:ext cx="2735237" cy="252849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3" name="Oval 9"/>
          <p:cNvSpPr>
            <a:spLocks noChangeArrowheads="1"/>
          </p:cNvSpPr>
          <p:nvPr/>
        </p:nvSpPr>
        <p:spPr bwMode="auto">
          <a:xfrm>
            <a:off x="791778" y="2732985"/>
            <a:ext cx="1100235" cy="1108082"/>
          </a:xfrm>
          <a:prstGeom prst="ellipse">
            <a:avLst/>
          </a:prstGeom>
          <a:solidFill>
            <a:srgbClr val="FFFFFF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53" name="Freeform 40"/>
          <p:cNvSpPr>
            <a:spLocks noEditPoints="1"/>
          </p:cNvSpPr>
          <p:nvPr/>
        </p:nvSpPr>
        <p:spPr bwMode="auto">
          <a:xfrm>
            <a:off x="927247" y="3106828"/>
            <a:ext cx="784720" cy="524170"/>
          </a:xfrm>
          <a:custGeom>
            <a:avLst/>
            <a:gdLst>
              <a:gd name="T0" fmla="*/ 544 w 564"/>
              <a:gd name="T1" fmla="*/ 27 h 376"/>
              <a:gd name="T2" fmla="*/ 544 w 564"/>
              <a:gd name="T3" fmla="*/ 309 h 376"/>
              <a:gd name="T4" fmla="*/ 536 w 564"/>
              <a:gd name="T5" fmla="*/ 309 h 376"/>
              <a:gd name="T6" fmla="*/ 518 w 564"/>
              <a:gd name="T7" fmla="*/ 308 h 376"/>
              <a:gd name="T8" fmla="*/ 285 w 564"/>
              <a:gd name="T9" fmla="*/ 367 h 376"/>
              <a:gd name="T10" fmla="*/ 282 w 564"/>
              <a:gd name="T11" fmla="*/ 368 h 376"/>
              <a:gd name="T12" fmla="*/ 279 w 564"/>
              <a:gd name="T13" fmla="*/ 367 h 376"/>
              <a:gd name="T14" fmla="*/ 46 w 564"/>
              <a:gd name="T15" fmla="*/ 308 h 376"/>
              <a:gd name="T16" fmla="*/ 28 w 564"/>
              <a:gd name="T17" fmla="*/ 309 h 376"/>
              <a:gd name="T18" fmla="*/ 20 w 564"/>
              <a:gd name="T19" fmla="*/ 309 h 376"/>
              <a:gd name="T20" fmla="*/ 20 w 564"/>
              <a:gd name="T21" fmla="*/ 27 h 376"/>
              <a:gd name="T22" fmla="*/ 0 w 564"/>
              <a:gd name="T23" fmla="*/ 27 h 376"/>
              <a:gd name="T24" fmla="*/ 0 w 564"/>
              <a:gd name="T25" fmla="*/ 320 h 376"/>
              <a:gd name="T26" fmla="*/ 282 w 564"/>
              <a:gd name="T27" fmla="*/ 376 h 376"/>
              <a:gd name="T28" fmla="*/ 564 w 564"/>
              <a:gd name="T29" fmla="*/ 320 h 376"/>
              <a:gd name="T30" fmla="*/ 564 w 564"/>
              <a:gd name="T31" fmla="*/ 27 h 376"/>
              <a:gd name="T32" fmla="*/ 544 w 564"/>
              <a:gd name="T33" fmla="*/ 27 h 376"/>
              <a:gd name="T34" fmla="*/ 272 w 564"/>
              <a:gd name="T35" fmla="*/ 319 h 376"/>
              <a:gd name="T36" fmla="*/ 272 w 564"/>
              <a:gd name="T37" fmla="*/ 63 h 376"/>
              <a:gd name="T38" fmla="*/ 77 w 564"/>
              <a:gd name="T39" fmla="*/ 1 h 376"/>
              <a:gd name="T40" fmla="*/ 77 w 564"/>
              <a:gd name="T41" fmla="*/ 269 h 376"/>
              <a:gd name="T42" fmla="*/ 84 w 564"/>
              <a:gd name="T43" fmla="*/ 269 h 376"/>
              <a:gd name="T44" fmla="*/ 272 w 564"/>
              <a:gd name="T45" fmla="*/ 319 h 376"/>
              <a:gd name="T46" fmla="*/ 487 w 564"/>
              <a:gd name="T47" fmla="*/ 269 h 376"/>
              <a:gd name="T48" fmla="*/ 487 w 564"/>
              <a:gd name="T49" fmla="*/ 1 h 376"/>
              <a:gd name="T50" fmla="*/ 292 w 564"/>
              <a:gd name="T51" fmla="*/ 63 h 376"/>
              <a:gd name="T52" fmla="*/ 292 w 564"/>
              <a:gd name="T53" fmla="*/ 319 h 376"/>
              <a:gd name="T54" fmla="*/ 480 w 564"/>
              <a:gd name="T55" fmla="*/ 269 h 376"/>
              <a:gd name="T56" fmla="*/ 487 w 564"/>
              <a:gd name="T57" fmla="*/ 269 h 376"/>
              <a:gd name="T58" fmla="*/ 282 w 564"/>
              <a:gd name="T59" fmla="*/ 361 h 376"/>
              <a:gd name="T60" fmla="*/ 531 w 564"/>
              <a:gd name="T61" fmla="*/ 302 h 376"/>
              <a:gd name="T62" fmla="*/ 531 w 564"/>
              <a:gd name="T63" fmla="*/ 5 h 376"/>
              <a:gd name="T64" fmla="*/ 501 w 564"/>
              <a:gd name="T65" fmla="*/ 5 h 376"/>
              <a:gd name="T66" fmla="*/ 501 w 564"/>
              <a:gd name="T67" fmla="*/ 283 h 376"/>
              <a:gd name="T68" fmla="*/ 493 w 564"/>
              <a:gd name="T69" fmla="*/ 282 h 376"/>
              <a:gd name="T70" fmla="*/ 478 w 564"/>
              <a:gd name="T71" fmla="*/ 282 h 376"/>
              <a:gd name="T72" fmla="*/ 287 w 564"/>
              <a:gd name="T73" fmla="*/ 337 h 376"/>
              <a:gd name="T74" fmla="*/ 282 w 564"/>
              <a:gd name="T75" fmla="*/ 340 h 376"/>
              <a:gd name="T76" fmla="*/ 277 w 564"/>
              <a:gd name="T77" fmla="*/ 337 h 376"/>
              <a:gd name="T78" fmla="*/ 86 w 564"/>
              <a:gd name="T79" fmla="*/ 282 h 376"/>
              <a:gd name="T80" fmla="*/ 71 w 564"/>
              <a:gd name="T81" fmla="*/ 282 h 376"/>
              <a:gd name="T82" fmla="*/ 63 w 564"/>
              <a:gd name="T83" fmla="*/ 283 h 376"/>
              <a:gd name="T84" fmla="*/ 63 w 564"/>
              <a:gd name="T85" fmla="*/ 5 h 376"/>
              <a:gd name="T86" fmla="*/ 33 w 564"/>
              <a:gd name="T87" fmla="*/ 5 h 376"/>
              <a:gd name="T88" fmla="*/ 33 w 564"/>
              <a:gd name="T89" fmla="*/ 302 h 376"/>
              <a:gd name="T90" fmla="*/ 282 w 564"/>
              <a:gd name="T91" fmla="*/ 361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564" h="376">
                <a:moveTo>
                  <a:pt x="544" y="27"/>
                </a:moveTo>
                <a:lnTo>
                  <a:pt x="544" y="309"/>
                </a:lnTo>
                <a:lnTo>
                  <a:pt x="536" y="309"/>
                </a:lnTo>
                <a:cubicBezTo>
                  <a:pt x="530" y="308"/>
                  <a:pt x="524" y="308"/>
                  <a:pt x="518" y="308"/>
                </a:cubicBezTo>
                <a:cubicBezTo>
                  <a:pt x="440" y="308"/>
                  <a:pt x="357" y="329"/>
                  <a:pt x="285" y="367"/>
                </a:cubicBezTo>
                <a:lnTo>
                  <a:pt x="282" y="368"/>
                </a:lnTo>
                <a:lnTo>
                  <a:pt x="279" y="367"/>
                </a:lnTo>
                <a:cubicBezTo>
                  <a:pt x="207" y="329"/>
                  <a:pt x="124" y="308"/>
                  <a:pt x="46" y="308"/>
                </a:cubicBezTo>
                <a:cubicBezTo>
                  <a:pt x="40" y="308"/>
                  <a:pt x="34" y="308"/>
                  <a:pt x="28" y="309"/>
                </a:cubicBezTo>
                <a:lnTo>
                  <a:pt x="20" y="309"/>
                </a:lnTo>
                <a:lnTo>
                  <a:pt x="20" y="27"/>
                </a:lnTo>
                <a:cubicBezTo>
                  <a:pt x="13" y="27"/>
                  <a:pt x="6" y="27"/>
                  <a:pt x="0" y="27"/>
                </a:cubicBezTo>
                <a:lnTo>
                  <a:pt x="0" y="320"/>
                </a:lnTo>
                <a:cubicBezTo>
                  <a:pt x="94" y="317"/>
                  <a:pt x="194" y="338"/>
                  <a:pt x="282" y="376"/>
                </a:cubicBezTo>
                <a:cubicBezTo>
                  <a:pt x="370" y="338"/>
                  <a:pt x="470" y="317"/>
                  <a:pt x="564" y="320"/>
                </a:cubicBezTo>
                <a:lnTo>
                  <a:pt x="564" y="27"/>
                </a:lnTo>
                <a:cubicBezTo>
                  <a:pt x="558" y="27"/>
                  <a:pt x="551" y="27"/>
                  <a:pt x="544" y="27"/>
                </a:cubicBezTo>
                <a:close/>
                <a:moveTo>
                  <a:pt x="272" y="319"/>
                </a:moveTo>
                <a:lnTo>
                  <a:pt x="272" y="63"/>
                </a:lnTo>
                <a:cubicBezTo>
                  <a:pt x="212" y="22"/>
                  <a:pt x="142" y="0"/>
                  <a:pt x="77" y="1"/>
                </a:cubicBezTo>
                <a:lnTo>
                  <a:pt x="77" y="269"/>
                </a:lnTo>
                <a:cubicBezTo>
                  <a:pt x="79" y="269"/>
                  <a:pt x="82" y="269"/>
                  <a:pt x="84" y="269"/>
                </a:cubicBezTo>
                <a:cubicBezTo>
                  <a:pt x="147" y="269"/>
                  <a:pt x="214" y="287"/>
                  <a:pt x="272" y="319"/>
                </a:cubicBezTo>
                <a:close/>
                <a:moveTo>
                  <a:pt x="487" y="269"/>
                </a:moveTo>
                <a:lnTo>
                  <a:pt x="487" y="1"/>
                </a:lnTo>
                <a:cubicBezTo>
                  <a:pt x="422" y="0"/>
                  <a:pt x="352" y="22"/>
                  <a:pt x="292" y="63"/>
                </a:cubicBezTo>
                <a:lnTo>
                  <a:pt x="292" y="319"/>
                </a:lnTo>
                <a:cubicBezTo>
                  <a:pt x="350" y="287"/>
                  <a:pt x="417" y="269"/>
                  <a:pt x="480" y="269"/>
                </a:cubicBezTo>
                <a:cubicBezTo>
                  <a:pt x="482" y="269"/>
                  <a:pt x="485" y="269"/>
                  <a:pt x="487" y="269"/>
                </a:cubicBezTo>
                <a:close/>
                <a:moveTo>
                  <a:pt x="282" y="361"/>
                </a:moveTo>
                <a:cubicBezTo>
                  <a:pt x="362" y="318"/>
                  <a:pt x="451" y="299"/>
                  <a:pt x="531" y="302"/>
                </a:cubicBezTo>
                <a:lnTo>
                  <a:pt x="531" y="5"/>
                </a:lnTo>
                <a:cubicBezTo>
                  <a:pt x="521" y="5"/>
                  <a:pt x="511" y="5"/>
                  <a:pt x="501" y="5"/>
                </a:cubicBezTo>
                <a:lnTo>
                  <a:pt x="501" y="283"/>
                </a:lnTo>
                <a:lnTo>
                  <a:pt x="493" y="282"/>
                </a:lnTo>
                <a:cubicBezTo>
                  <a:pt x="488" y="282"/>
                  <a:pt x="483" y="282"/>
                  <a:pt x="478" y="282"/>
                </a:cubicBezTo>
                <a:cubicBezTo>
                  <a:pt x="414" y="282"/>
                  <a:pt x="346" y="301"/>
                  <a:pt x="287" y="337"/>
                </a:cubicBezTo>
                <a:lnTo>
                  <a:pt x="282" y="340"/>
                </a:lnTo>
                <a:lnTo>
                  <a:pt x="277" y="337"/>
                </a:lnTo>
                <a:cubicBezTo>
                  <a:pt x="218" y="301"/>
                  <a:pt x="150" y="282"/>
                  <a:pt x="86" y="282"/>
                </a:cubicBezTo>
                <a:cubicBezTo>
                  <a:pt x="81" y="282"/>
                  <a:pt x="76" y="282"/>
                  <a:pt x="71" y="282"/>
                </a:cubicBezTo>
                <a:lnTo>
                  <a:pt x="63" y="283"/>
                </a:lnTo>
                <a:lnTo>
                  <a:pt x="63" y="5"/>
                </a:lnTo>
                <a:cubicBezTo>
                  <a:pt x="53" y="5"/>
                  <a:pt x="43" y="5"/>
                  <a:pt x="33" y="5"/>
                </a:cubicBezTo>
                <a:lnTo>
                  <a:pt x="33" y="302"/>
                </a:lnTo>
                <a:cubicBezTo>
                  <a:pt x="113" y="299"/>
                  <a:pt x="202" y="318"/>
                  <a:pt x="282" y="361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1" name="TextBox 26"/>
          <p:cNvSpPr txBox="1"/>
          <p:nvPr/>
        </p:nvSpPr>
        <p:spPr>
          <a:xfrm>
            <a:off x="14146653" y="8428235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3" name="矩形 2"/>
          <p:cNvSpPr/>
          <p:nvPr/>
        </p:nvSpPr>
        <p:spPr>
          <a:xfrm>
            <a:off x="3171395" y="1706919"/>
            <a:ext cx="8534387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的全称是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Direct Memory Access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，即直接存储器访问，这是一种完全由硬件（称为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控制器）控制主机与设备间进行数据交换的输入输出传送控制方式，它通过在主存与设备间建立一条直接通道的方法，来进一步提高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数据传输效率。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045992" y="3917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DMA</a:t>
            </a:r>
            <a:r>
              <a:rPr lang="zh-CN" altLang="en-US" dirty="0"/>
              <a:t>的基本概念 </a:t>
            </a:r>
          </a:p>
        </p:txBody>
      </p:sp>
      <p:grpSp>
        <p:nvGrpSpPr>
          <p:cNvPr id="2" name="组合 7"/>
          <p:cNvGrpSpPr/>
          <p:nvPr/>
        </p:nvGrpSpPr>
        <p:grpSpPr>
          <a:xfrm>
            <a:off x="435854" y="335487"/>
            <a:ext cx="438352" cy="621987"/>
            <a:chOff x="265635" y="269251"/>
            <a:chExt cx="438352" cy="621987"/>
          </a:xfrm>
        </p:grpSpPr>
        <p:sp>
          <p:nvSpPr>
            <p:cNvPr id="9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0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1681397428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9456763" y="2116628"/>
            <a:ext cx="2735237" cy="2528499"/>
          </a:xfrm>
          <a:prstGeom prst="rect">
            <a:avLst/>
          </a:prstGeom>
          <a:solidFill>
            <a:srgbClr val="02B9E7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3" name="Oval 9"/>
          <p:cNvSpPr>
            <a:spLocks noChangeArrowheads="1"/>
          </p:cNvSpPr>
          <p:nvPr/>
        </p:nvSpPr>
        <p:spPr bwMode="auto">
          <a:xfrm>
            <a:off x="10248541" y="2848631"/>
            <a:ext cx="1100235" cy="1108082"/>
          </a:xfrm>
          <a:prstGeom prst="ellipse">
            <a:avLst/>
          </a:prstGeom>
          <a:solidFill>
            <a:srgbClr val="FFFFFF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43" name="TextBox 42"/>
          <p:cNvSpPr txBox="1"/>
          <p:nvPr/>
        </p:nvSpPr>
        <p:spPr>
          <a:xfrm>
            <a:off x="1249950" y="2232668"/>
            <a:ext cx="7347286" cy="1815839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在机器中，我们依据各部件所处的地位将它们划分为两大类：一类是主设备，一类是从设备。</a:t>
            </a:r>
          </a:p>
        </p:txBody>
      </p:sp>
      <p:sp>
        <p:nvSpPr>
          <p:cNvPr id="53" name="Freeform 40"/>
          <p:cNvSpPr>
            <a:spLocks noEditPoints="1"/>
          </p:cNvSpPr>
          <p:nvPr/>
        </p:nvSpPr>
        <p:spPr bwMode="auto">
          <a:xfrm>
            <a:off x="10406299" y="3140588"/>
            <a:ext cx="784720" cy="524170"/>
          </a:xfrm>
          <a:custGeom>
            <a:avLst/>
            <a:gdLst>
              <a:gd name="T0" fmla="*/ 544 w 564"/>
              <a:gd name="T1" fmla="*/ 27 h 376"/>
              <a:gd name="T2" fmla="*/ 544 w 564"/>
              <a:gd name="T3" fmla="*/ 309 h 376"/>
              <a:gd name="T4" fmla="*/ 536 w 564"/>
              <a:gd name="T5" fmla="*/ 309 h 376"/>
              <a:gd name="T6" fmla="*/ 518 w 564"/>
              <a:gd name="T7" fmla="*/ 308 h 376"/>
              <a:gd name="T8" fmla="*/ 285 w 564"/>
              <a:gd name="T9" fmla="*/ 367 h 376"/>
              <a:gd name="T10" fmla="*/ 282 w 564"/>
              <a:gd name="T11" fmla="*/ 368 h 376"/>
              <a:gd name="T12" fmla="*/ 279 w 564"/>
              <a:gd name="T13" fmla="*/ 367 h 376"/>
              <a:gd name="T14" fmla="*/ 46 w 564"/>
              <a:gd name="T15" fmla="*/ 308 h 376"/>
              <a:gd name="T16" fmla="*/ 28 w 564"/>
              <a:gd name="T17" fmla="*/ 309 h 376"/>
              <a:gd name="T18" fmla="*/ 20 w 564"/>
              <a:gd name="T19" fmla="*/ 309 h 376"/>
              <a:gd name="T20" fmla="*/ 20 w 564"/>
              <a:gd name="T21" fmla="*/ 27 h 376"/>
              <a:gd name="T22" fmla="*/ 0 w 564"/>
              <a:gd name="T23" fmla="*/ 27 h 376"/>
              <a:gd name="T24" fmla="*/ 0 w 564"/>
              <a:gd name="T25" fmla="*/ 320 h 376"/>
              <a:gd name="T26" fmla="*/ 282 w 564"/>
              <a:gd name="T27" fmla="*/ 376 h 376"/>
              <a:gd name="T28" fmla="*/ 564 w 564"/>
              <a:gd name="T29" fmla="*/ 320 h 376"/>
              <a:gd name="T30" fmla="*/ 564 w 564"/>
              <a:gd name="T31" fmla="*/ 27 h 376"/>
              <a:gd name="T32" fmla="*/ 544 w 564"/>
              <a:gd name="T33" fmla="*/ 27 h 376"/>
              <a:gd name="T34" fmla="*/ 272 w 564"/>
              <a:gd name="T35" fmla="*/ 319 h 376"/>
              <a:gd name="T36" fmla="*/ 272 w 564"/>
              <a:gd name="T37" fmla="*/ 63 h 376"/>
              <a:gd name="T38" fmla="*/ 77 w 564"/>
              <a:gd name="T39" fmla="*/ 1 h 376"/>
              <a:gd name="T40" fmla="*/ 77 w 564"/>
              <a:gd name="T41" fmla="*/ 269 h 376"/>
              <a:gd name="T42" fmla="*/ 84 w 564"/>
              <a:gd name="T43" fmla="*/ 269 h 376"/>
              <a:gd name="T44" fmla="*/ 272 w 564"/>
              <a:gd name="T45" fmla="*/ 319 h 376"/>
              <a:gd name="T46" fmla="*/ 487 w 564"/>
              <a:gd name="T47" fmla="*/ 269 h 376"/>
              <a:gd name="T48" fmla="*/ 487 w 564"/>
              <a:gd name="T49" fmla="*/ 1 h 376"/>
              <a:gd name="T50" fmla="*/ 292 w 564"/>
              <a:gd name="T51" fmla="*/ 63 h 376"/>
              <a:gd name="T52" fmla="*/ 292 w 564"/>
              <a:gd name="T53" fmla="*/ 319 h 376"/>
              <a:gd name="T54" fmla="*/ 480 w 564"/>
              <a:gd name="T55" fmla="*/ 269 h 376"/>
              <a:gd name="T56" fmla="*/ 487 w 564"/>
              <a:gd name="T57" fmla="*/ 269 h 376"/>
              <a:gd name="T58" fmla="*/ 282 w 564"/>
              <a:gd name="T59" fmla="*/ 361 h 376"/>
              <a:gd name="T60" fmla="*/ 531 w 564"/>
              <a:gd name="T61" fmla="*/ 302 h 376"/>
              <a:gd name="T62" fmla="*/ 531 w 564"/>
              <a:gd name="T63" fmla="*/ 5 h 376"/>
              <a:gd name="T64" fmla="*/ 501 w 564"/>
              <a:gd name="T65" fmla="*/ 5 h 376"/>
              <a:gd name="T66" fmla="*/ 501 w 564"/>
              <a:gd name="T67" fmla="*/ 283 h 376"/>
              <a:gd name="T68" fmla="*/ 493 w 564"/>
              <a:gd name="T69" fmla="*/ 282 h 376"/>
              <a:gd name="T70" fmla="*/ 478 w 564"/>
              <a:gd name="T71" fmla="*/ 282 h 376"/>
              <a:gd name="T72" fmla="*/ 287 w 564"/>
              <a:gd name="T73" fmla="*/ 337 h 376"/>
              <a:gd name="T74" fmla="*/ 282 w 564"/>
              <a:gd name="T75" fmla="*/ 340 h 376"/>
              <a:gd name="T76" fmla="*/ 277 w 564"/>
              <a:gd name="T77" fmla="*/ 337 h 376"/>
              <a:gd name="T78" fmla="*/ 86 w 564"/>
              <a:gd name="T79" fmla="*/ 282 h 376"/>
              <a:gd name="T80" fmla="*/ 71 w 564"/>
              <a:gd name="T81" fmla="*/ 282 h 376"/>
              <a:gd name="T82" fmla="*/ 63 w 564"/>
              <a:gd name="T83" fmla="*/ 283 h 376"/>
              <a:gd name="T84" fmla="*/ 63 w 564"/>
              <a:gd name="T85" fmla="*/ 5 h 376"/>
              <a:gd name="T86" fmla="*/ 33 w 564"/>
              <a:gd name="T87" fmla="*/ 5 h 376"/>
              <a:gd name="T88" fmla="*/ 33 w 564"/>
              <a:gd name="T89" fmla="*/ 302 h 376"/>
              <a:gd name="T90" fmla="*/ 282 w 564"/>
              <a:gd name="T91" fmla="*/ 361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564" h="376">
                <a:moveTo>
                  <a:pt x="544" y="27"/>
                </a:moveTo>
                <a:lnTo>
                  <a:pt x="544" y="309"/>
                </a:lnTo>
                <a:lnTo>
                  <a:pt x="536" y="309"/>
                </a:lnTo>
                <a:cubicBezTo>
                  <a:pt x="530" y="308"/>
                  <a:pt x="524" y="308"/>
                  <a:pt x="518" y="308"/>
                </a:cubicBezTo>
                <a:cubicBezTo>
                  <a:pt x="440" y="308"/>
                  <a:pt x="357" y="329"/>
                  <a:pt x="285" y="367"/>
                </a:cubicBezTo>
                <a:lnTo>
                  <a:pt x="282" y="368"/>
                </a:lnTo>
                <a:lnTo>
                  <a:pt x="279" y="367"/>
                </a:lnTo>
                <a:cubicBezTo>
                  <a:pt x="207" y="329"/>
                  <a:pt x="124" y="308"/>
                  <a:pt x="46" y="308"/>
                </a:cubicBezTo>
                <a:cubicBezTo>
                  <a:pt x="40" y="308"/>
                  <a:pt x="34" y="308"/>
                  <a:pt x="28" y="309"/>
                </a:cubicBezTo>
                <a:lnTo>
                  <a:pt x="20" y="309"/>
                </a:lnTo>
                <a:lnTo>
                  <a:pt x="20" y="27"/>
                </a:lnTo>
                <a:cubicBezTo>
                  <a:pt x="13" y="27"/>
                  <a:pt x="6" y="27"/>
                  <a:pt x="0" y="27"/>
                </a:cubicBezTo>
                <a:lnTo>
                  <a:pt x="0" y="320"/>
                </a:lnTo>
                <a:cubicBezTo>
                  <a:pt x="94" y="317"/>
                  <a:pt x="194" y="338"/>
                  <a:pt x="282" y="376"/>
                </a:cubicBezTo>
                <a:cubicBezTo>
                  <a:pt x="370" y="338"/>
                  <a:pt x="470" y="317"/>
                  <a:pt x="564" y="320"/>
                </a:cubicBezTo>
                <a:lnTo>
                  <a:pt x="564" y="27"/>
                </a:lnTo>
                <a:cubicBezTo>
                  <a:pt x="558" y="27"/>
                  <a:pt x="551" y="27"/>
                  <a:pt x="544" y="27"/>
                </a:cubicBezTo>
                <a:close/>
                <a:moveTo>
                  <a:pt x="272" y="319"/>
                </a:moveTo>
                <a:lnTo>
                  <a:pt x="272" y="63"/>
                </a:lnTo>
                <a:cubicBezTo>
                  <a:pt x="212" y="22"/>
                  <a:pt x="142" y="0"/>
                  <a:pt x="77" y="1"/>
                </a:cubicBezTo>
                <a:lnTo>
                  <a:pt x="77" y="269"/>
                </a:lnTo>
                <a:cubicBezTo>
                  <a:pt x="79" y="269"/>
                  <a:pt x="82" y="269"/>
                  <a:pt x="84" y="269"/>
                </a:cubicBezTo>
                <a:cubicBezTo>
                  <a:pt x="147" y="269"/>
                  <a:pt x="214" y="287"/>
                  <a:pt x="272" y="319"/>
                </a:cubicBezTo>
                <a:close/>
                <a:moveTo>
                  <a:pt x="487" y="269"/>
                </a:moveTo>
                <a:lnTo>
                  <a:pt x="487" y="1"/>
                </a:lnTo>
                <a:cubicBezTo>
                  <a:pt x="422" y="0"/>
                  <a:pt x="352" y="22"/>
                  <a:pt x="292" y="63"/>
                </a:cubicBezTo>
                <a:lnTo>
                  <a:pt x="292" y="319"/>
                </a:lnTo>
                <a:cubicBezTo>
                  <a:pt x="350" y="287"/>
                  <a:pt x="417" y="269"/>
                  <a:pt x="480" y="269"/>
                </a:cubicBezTo>
                <a:cubicBezTo>
                  <a:pt x="482" y="269"/>
                  <a:pt x="485" y="269"/>
                  <a:pt x="487" y="269"/>
                </a:cubicBezTo>
                <a:close/>
                <a:moveTo>
                  <a:pt x="282" y="361"/>
                </a:moveTo>
                <a:cubicBezTo>
                  <a:pt x="362" y="318"/>
                  <a:pt x="451" y="299"/>
                  <a:pt x="531" y="302"/>
                </a:cubicBezTo>
                <a:lnTo>
                  <a:pt x="531" y="5"/>
                </a:lnTo>
                <a:cubicBezTo>
                  <a:pt x="521" y="5"/>
                  <a:pt x="511" y="5"/>
                  <a:pt x="501" y="5"/>
                </a:cubicBezTo>
                <a:lnTo>
                  <a:pt x="501" y="283"/>
                </a:lnTo>
                <a:lnTo>
                  <a:pt x="493" y="282"/>
                </a:lnTo>
                <a:cubicBezTo>
                  <a:pt x="488" y="282"/>
                  <a:pt x="483" y="282"/>
                  <a:pt x="478" y="282"/>
                </a:cubicBezTo>
                <a:cubicBezTo>
                  <a:pt x="414" y="282"/>
                  <a:pt x="346" y="301"/>
                  <a:pt x="287" y="337"/>
                </a:cubicBezTo>
                <a:lnTo>
                  <a:pt x="282" y="340"/>
                </a:lnTo>
                <a:lnTo>
                  <a:pt x="277" y="337"/>
                </a:lnTo>
                <a:cubicBezTo>
                  <a:pt x="218" y="301"/>
                  <a:pt x="150" y="282"/>
                  <a:pt x="86" y="282"/>
                </a:cubicBezTo>
                <a:cubicBezTo>
                  <a:pt x="81" y="282"/>
                  <a:pt x="76" y="282"/>
                  <a:pt x="71" y="282"/>
                </a:cubicBezTo>
                <a:lnTo>
                  <a:pt x="63" y="283"/>
                </a:lnTo>
                <a:lnTo>
                  <a:pt x="63" y="5"/>
                </a:lnTo>
                <a:cubicBezTo>
                  <a:pt x="53" y="5"/>
                  <a:pt x="43" y="5"/>
                  <a:pt x="33" y="5"/>
                </a:cubicBezTo>
                <a:lnTo>
                  <a:pt x="33" y="302"/>
                </a:lnTo>
                <a:cubicBezTo>
                  <a:pt x="113" y="299"/>
                  <a:pt x="202" y="318"/>
                  <a:pt x="282" y="361"/>
                </a:cubicBezTo>
                <a:close/>
              </a:path>
            </a:pathLst>
          </a:custGeom>
          <a:solidFill>
            <a:srgbClr val="02B9E7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1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416968550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27098" y="1498067"/>
            <a:ext cx="8730522" cy="2656947"/>
          </a:xfrm>
        </p:spPr>
        <p:txBody>
          <a:bodyPr>
            <a:normAutofit/>
          </a:bodyPr>
          <a:lstStyle/>
          <a:p>
            <a:pPr marL="0" lvl="1">
              <a:lnSpc>
                <a:spcPct val="200000"/>
              </a:lnSpc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主设备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是指能够占用系统总线并通过总线对其它从设备进行控制的设备。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200000"/>
              </a:lnSpc>
              <a:buNone/>
            </a:pP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200000"/>
              </a:lnSpc>
              <a:buNone/>
            </a:pP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200000"/>
              </a:lnSpc>
              <a:buNone/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200000"/>
              </a:lnSpc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200000"/>
              </a:lnSpc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3"/>
          <p:cNvGrpSpPr/>
          <p:nvPr/>
        </p:nvGrpSpPr>
        <p:grpSpPr>
          <a:xfrm>
            <a:off x="436649" y="305967"/>
            <a:ext cx="438352" cy="621987"/>
            <a:chOff x="265635" y="269251"/>
            <a:chExt cx="438352" cy="621987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8" name="Freeform 14"/>
          <p:cNvSpPr>
            <a:spLocks/>
          </p:cNvSpPr>
          <p:nvPr/>
        </p:nvSpPr>
        <p:spPr bwMode="auto">
          <a:xfrm>
            <a:off x="612385" y="2151018"/>
            <a:ext cx="646909" cy="646486"/>
          </a:xfrm>
          <a:custGeom>
            <a:avLst/>
            <a:gdLst>
              <a:gd name="T0" fmla="*/ 3227 w 3227"/>
              <a:gd name="T1" fmla="*/ 1634 h 3227"/>
              <a:gd name="T2" fmla="*/ 1614 w 3227"/>
              <a:gd name="T3" fmla="*/ 3227 h 3227"/>
              <a:gd name="T4" fmla="*/ 0 w 3227"/>
              <a:gd name="T5" fmla="*/ 1613 h 3227"/>
              <a:gd name="T6" fmla="*/ 1593 w 3227"/>
              <a:gd name="T7" fmla="*/ 0 h 3227"/>
              <a:gd name="T8" fmla="*/ 1593 w 3227"/>
              <a:gd name="T9" fmla="*/ 0 h 3227"/>
              <a:gd name="T10" fmla="*/ 1614 w 3227"/>
              <a:gd name="T11" fmla="*/ 0 h 3227"/>
              <a:gd name="T12" fmla="*/ 3227 w 3227"/>
              <a:gd name="T13" fmla="*/ 0 h 3227"/>
              <a:gd name="T14" fmla="*/ 3227 w 3227"/>
              <a:gd name="T15" fmla="*/ 1613 h 3227"/>
              <a:gd name="T16" fmla="*/ 3227 w 3227"/>
              <a:gd name="T17" fmla="*/ 1634 h 3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27" h="3227">
                <a:moveTo>
                  <a:pt x="3227" y="1634"/>
                </a:moveTo>
                <a:cubicBezTo>
                  <a:pt x="3216" y="2515"/>
                  <a:pt x="2498" y="3227"/>
                  <a:pt x="1614" y="3227"/>
                </a:cubicBezTo>
                <a:cubicBezTo>
                  <a:pt x="723" y="3227"/>
                  <a:pt x="0" y="2504"/>
                  <a:pt x="0" y="1613"/>
                </a:cubicBezTo>
                <a:cubicBezTo>
                  <a:pt x="0" y="729"/>
                  <a:pt x="712" y="11"/>
                  <a:pt x="1593" y="0"/>
                </a:cubicBezTo>
                <a:lnTo>
                  <a:pt x="1593" y="0"/>
                </a:lnTo>
                <a:lnTo>
                  <a:pt x="1614" y="0"/>
                </a:lnTo>
                <a:lnTo>
                  <a:pt x="3227" y="0"/>
                </a:lnTo>
                <a:lnTo>
                  <a:pt x="3227" y="1613"/>
                </a:lnTo>
                <a:lnTo>
                  <a:pt x="3227" y="1634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>
              <a:solidFill>
                <a:schemeClr val="accent1"/>
              </a:solidFill>
            </a:endParaRPr>
          </a:p>
        </p:txBody>
      </p:sp>
      <p:sp>
        <p:nvSpPr>
          <p:cNvPr id="9" name="Freeform 14"/>
          <p:cNvSpPr>
            <a:spLocks/>
          </p:cNvSpPr>
          <p:nvPr/>
        </p:nvSpPr>
        <p:spPr bwMode="auto">
          <a:xfrm>
            <a:off x="643837" y="4066085"/>
            <a:ext cx="646909" cy="646486"/>
          </a:xfrm>
          <a:custGeom>
            <a:avLst/>
            <a:gdLst>
              <a:gd name="T0" fmla="*/ 3227 w 3227"/>
              <a:gd name="T1" fmla="*/ 1634 h 3227"/>
              <a:gd name="T2" fmla="*/ 1614 w 3227"/>
              <a:gd name="T3" fmla="*/ 3227 h 3227"/>
              <a:gd name="T4" fmla="*/ 0 w 3227"/>
              <a:gd name="T5" fmla="*/ 1613 h 3227"/>
              <a:gd name="T6" fmla="*/ 1593 w 3227"/>
              <a:gd name="T7" fmla="*/ 0 h 3227"/>
              <a:gd name="T8" fmla="*/ 1593 w 3227"/>
              <a:gd name="T9" fmla="*/ 0 h 3227"/>
              <a:gd name="T10" fmla="*/ 1614 w 3227"/>
              <a:gd name="T11" fmla="*/ 0 h 3227"/>
              <a:gd name="T12" fmla="*/ 3227 w 3227"/>
              <a:gd name="T13" fmla="*/ 0 h 3227"/>
              <a:gd name="T14" fmla="*/ 3227 w 3227"/>
              <a:gd name="T15" fmla="*/ 1613 h 3227"/>
              <a:gd name="T16" fmla="*/ 3227 w 3227"/>
              <a:gd name="T17" fmla="*/ 1634 h 3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27" h="3227">
                <a:moveTo>
                  <a:pt x="3227" y="1634"/>
                </a:moveTo>
                <a:cubicBezTo>
                  <a:pt x="3216" y="2515"/>
                  <a:pt x="2498" y="3227"/>
                  <a:pt x="1614" y="3227"/>
                </a:cubicBezTo>
                <a:cubicBezTo>
                  <a:pt x="723" y="3227"/>
                  <a:pt x="0" y="2504"/>
                  <a:pt x="0" y="1613"/>
                </a:cubicBezTo>
                <a:cubicBezTo>
                  <a:pt x="0" y="729"/>
                  <a:pt x="712" y="11"/>
                  <a:pt x="1593" y="0"/>
                </a:cubicBezTo>
                <a:lnTo>
                  <a:pt x="1593" y="0"/>
                </a:lnTo>
                <a:lnTo>
                  <a:pt x="1614" y="0"/>
                </a:lnTo>
                <a:lnTo>
                  <a:pt x="3227" y="0"/>
                </a:lnTo>
                <a:lnTo>
                  <a:pt x="3227" y="1613"/>
                </a:lnTo>
                <a:lnTo>
                  <a:pt x="3227" y="1634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en-US" altLang="zh-CN" sz="1799" dirty="0">
              <a:solidFill>
                <a:schemeClr val="accent1"/>
              </a:solidFill>
            </a:endParaRPr>
          </a:p>
          <a:p>
            <a:endParaRPr lang="en-US" altLang="zh-CN" sz="1799" dirty="0">
              <a:solidFill>
                <a:schemeClr val="accent1"/>
              </a:solidFill>
            </a:endParaRPr>
          </a:p>
          <a:p>
            <a:endParaRPr lang="en-US" altLang="zh-CN" sz="1799" dirty="0">
              <a:solidFill>
                <a:schemeClr val="accent1"/>
              </a:solidFill>
            </a:endParaRPr>
          </a:p>
          <a:p>
            <a:endParaRPr lang="en-US" altLang="zh-CN" sz="1799" dirty="0">
              <a:solidFill>
                <a:schemeClr val="accent1"/>
              </a:solidFill>
            </a:endParaRPr>
          </a:p>
          <a:p>
            <a:endParaRPr lang="en-US" altLang="zh-CN" sz="1799" dirty="0">
              <a:solidFill>
                <a:schemeClr val="accent1"/>
              </a:solidFill>
            </a:endParaRPr>
          </a:p>
          <a:p>
            <a:endParaRPr lang="zh-CN" altLang="en-US" sz="1799" dirty="0">
              <a:solidFill>
                <a:schemeClr val="accen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42050" y="2212651"/>
            <a:ext cx="41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45961" y="4155014"/>
            <a:ext cx="41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34303" y="4865760"/>
            <a:ext cx="41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127098" y="3409659"/>
            <a:ext cx="9127314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20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一般来讲，主设备能够在总线上给出地址和控制等信号，完成对存储器和外围设备等的访问，如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lvl="1">
              <a:lnSpc>
                <a:spcPct val="200000"/>
              </a:lnSpc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200000"/>
              </a:lnSpc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200000"/>
              </a:lnSpc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200000"/>
              </a:lnSpc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05477" y="320421"/>
            <a:ext cx="3016156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主设备</a:t>
            </a:r>
          </a:p>
        </p:txBody>
      </p:sp>
    </p:spTree>
    <p:extLst>
      <p:ext uri="{BB962C8B-B14F-4D97-AF65-F5344CB8AC3E}">
        <p14:creationId xmlns:p14="http://schemas.microsoft.com/office/powerpoint/2010/main" val="3673964083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8" name="Freeform 5"/>
          <p:cNvSpPr>
            <a:spLocks/>
          </p:cNvSpPr>
          <p:nvPr/>
        </p:nvSpPr>
        <p:spPr bwMode="auto">
          <a:xfrm>
            <a:off x="1186989" y="1413566"/>
            <a:ext cx="304681" cy="4308380"/>
          </a:xfrm>
          <a:custGeom>
            <a:avLst/>
            <a:gdLst>
              <a:gd name="T0" fmla="*/ 175 w 351"/>
              <a:gd name="T1" fmla="*/ 0 h 4948"/>
              <a:gd name="T2" fmla="*/ 175 w 351"/>
              <a:gd name="T3" fmla="*/ 0 h 4948"/>
              <a:gd name="T4" fmla="*/ 351 w 351"/>
              <a:gd name="T5" fmla="*/ 176 h 4948"/>
              <a:gd name="T6" fmla="*/ 351 w 351"/>
              <a:gd name="T7" fmla="*/ 4772 h 4948"/>
              <a:gd name="T8" fmla="*/ 175 w 351"/>
              <a:gd name="T9" fmla="*/ 4948 h 4948"/>
              <a:gd name="T10" fmla="*/ 175 w 351"/>
              <a:gd name="T11" fmla="*/ 4948 h 4948"/>
              <a:gd name="T12" fmla="*/ 0 w 351"/>
              <a:gd name="T13" fmla="*/ 4772 h 4948"/>
              <a:gd name="T14" fmla="*/ 0 w 351"/>
              <a:gd name="T15" fmla="*/ 176 h 4948"/>
              <a:gd name="T16" fmla="*/ 175 w 351"/>
              <a:gd name="T17" fmla="*/ 0 h 49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4948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1" y="79"/>
                  <a:pt x="351" y="176"/>
                </a:cubicBezTo>
                <a:lnTo>
                  <a:pt x="351" y="4772"/>
                </a:lnTo>
                <a:cubicBezTo>
                  <a:pt x="351" y="4869"/>
                  <a:pt x="272" y="4948"/>
                  <a:pt x="175" y="4948"/>
                </a:cubicBezTo>
                <a:lnTo>
                  <a:pt x="175" y="4948"/>
                </a:lnTo>
                <a:cubicBezTo>
                  <a:pt x="79" y="4948"/>
                  <a:pt x="0" y="4869"/>
                  <a:pt x="0" y="4772"/>
                </a:cubicBezTo>
                <a:lnTo>
                  <a:pt x="0" y="176"/>
                </a:lnTo>
                <a:cubicBezTo>
                  <a:pt x="0" y="79"/>
                  <a:pt x="79" y="0"/>
                  <a:pt x="175" y="0"/>
                </a:cubicBezTo>
                <a:close/>
              </a:path>
            </a:pathLst>
          </a:custGeom>
          <a:solidFill>
            <a:srgbClr val="C1C0C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9" name="Freeform 6"/>
          <p:cNvSpPr>
            <a:spLocks/>
          </p:cNvSpPr>
          <p:nvPr/>
        </p:nvSpPr>
        <p:spPr bwMode="auto">
          <a:xfrm>
            <a:off x="1186989" y="1892805"/>
            <a:ext cx="304681" cy="3829143"/>
          </a:xfrm>
          <a:custGeom>
            <a:avLst/>
            <a:gdLst>
              <a:gd name="T0" fmla="*/ 175 w 351"/>
              <a:gd name="T1" fmla="*/ 0 h 4397"/>
              <a:gd name="T2" fmla="*/ 175 w 351"/>
              <a:gd name="T3" fmla="*/ 0 h 4397"/>
              <a:gd name="T4" fmla="*/ 351 w 351"/>
              <a:gd name="T5" fmla="*/ 143 h 4397"/>
              <a:gd name="T6" fmla="*/ 351 w 351"/>
              <a:gd name="T7" fmla="*/ 4254 h 4397"/>
              <a:gd name="T8" fmla="*/ 175 w 351"/>
              <a:gd name="T9" fmla="*/ 4397 h 4397"/>
              <a:gd name="T10" fmla="*/ 175 w 351"/>
              <a:gd name="T11" fmla="*/ 4397 h 4397"/>
              <a:gd name="T12" fmla="*/ 0 w 351"/>
              <a:gd name="T13" fmla="*/ 4254 h 4397"/>
              <a:gd name="T14" fmla="*/ 0 w 351"/>
              <a:gd name="T15" fmla="*/ 143 h 4397"/>
              <a:gd name="T16" fmla="*/ 175 w 351"/>
              <a:gd name="T17" fmla="*/ 0 h 43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4397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1" y="64"/>
                  <a:pt x="351" y="143"/>
                </a:cubicBezTo>
                <a:lnTo>
                  <a:pt x="351" y="4254"/>
                </a:lnTo>
                <a:cubicBezTo>
                  <a:pt x="351" y="4332"/>
                  <a:pt x="272" y="4397"/>
                  <a:pt x="175" y="4397"/>
                </a:cubicBezTo>
                <a:lnTo>
                  <a:pt x="175" y="4397"/>
                </a:lnTo>
                <a:cubicBezTo>
                  <a:pt x="79" y="4397"/>
                  <a:pt x="0" y="4332"/>
                  <a:pt x="0" y="4254"/>
                </a:cubicBezTo>
                <a:lnTo>
                  <a:pt x="0" y="143"/>
                </a:lnTo>
                <a:cubicBezTo>
                  <a:pt x="0" y="64"/>
                  <a:pt x="79" y="0"/>
                  <a:pt x="175" y="0"/>
                </a:cubicBezTo>
                <a:close/>
              </a:path>
            </a:pathLst>
          </a:custGeom>
          <a:solidFill>
            <a:srgbClr val="00A3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0" name="Oval 7"/>
          <p:cNvSpPr>
            <a:spLocks noChangeArrowheads="1"/>
          </p:cNvSpPr>
          <p:nvPr/>
        </p:nvSpPr>
        <p:spPr bwMode="auto">
          <a:xfrm>
            <a:off x="1056865" y="5353789"/>
            <a:ext cx="585559" cy="585559"/>
          </a:xfrm>
          <a:prstGeom prst="ellipse">
            <a:avLst/>
          </a:prstGeom>
          <a:solidFill>
            <a:srgbClr val="00A3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1" name="Freeform 8"/>
          <p:cNvSpPr>
            <a:spLocks/>
          </p:cNvSpPr>
          <p:nvPr/>
        </p:nvSpPr>
        <p:spPr bwMode="auto">
          <a:xfrm>
            <a:off x="2361453" y="1413566"/>
            <a:ext cx="306268" cy="4308380"/>
          </a:xfrm>
          <a:custGeom>
            <a:avLst/>
            <a:gdLst>
              <a:gd name="T0" fmla="*/ 175 w 351"/>
              <a:gd name="T1" fmla="*/ 0 h 4948"/>
              <a:gd name="T2" fmla="*/ 175 w 351"/>
              <a:gd name="T3" fmla="*/ 0 h 4948"/>
              <a:gd name="T4" fmla="*/ 351 w 351"/>
              <a:gd name="T5" fmla="*/ 176 h 4948"/>
              <a:gd name="T6" fmla="*/ 351 w 351"/>
              <a:gd name="T7" fmla="*/ 4772 h 4948"/>
              <a:gd name="T8" fmla="*/ 175 w 351"/>
              <a:gd name="T9" fmla="*/ 4948 h 4948"/>
              <a:gd name="T10" fmla="*/ 175 w 351"/>
              <a:gd name="T11" fmla="*/ 4948 h 4948"/>
              <a:gd name="T12" fmla="*/ 0 w 351"/>
              <a:gd name="T13" fmla="*/ 4772 h 4948"/>
              <a:gd name="T14" fmla="*/ 0 w 351"/>
              <a:gd name="T15" fmla="*/ 176 h 4948"/>
              <a:gd name="T16" fmla="*/ 175 w 351"/>
              <a:gd name="T17" fmla="*/ 0 h 49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4948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1" y="79"/>
                  <a:pt x="351" y="176"/>
                </a:cubicBezTo>
                <a:lnTo>
                  <a:pt x="351" y="4772"/>
                </a:lnTo>
                <a:cubicBezTo>
                  <a:pt x="351" y="4869"/>
                  <a:pt x="272" y="4948"/>
                  <a:pt x="175" y="4948"/>
                </a:cubicBezTo>
                <a:lnTo>
                  <a:pt x="175" y="4948"/>
                </a:lnTo>
                <a:cubicBezTo>
                  <a:pt x="79" y="4948"/>
                  <a:pt x="0" y="4869"/>
                  <a:pt x="0" y="4772"/>
                </a:cubicBezTo>
                <a:lnTo>
                  <a:pt x="0" y="176"/>
                </a:lnTo>
                <a:cubicBezTo>
                  <a:pt x="0" y="79"/>
                  <a:pt x="79" y="0"/>
                  <a:pt x="175" y="0"/>
                </a:cubicBezTo>
                <a:close/>
              </a:path>
            </a:pathLst>
          </a:custGeom>
          <a:solidFill>
            <a:srgbClr val="C1C0C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2" name="Freeform 9"/>
          <p:cNvSpPr>
            <a:spLocks/>
          </p:cNvSpPr>
          <p:nvPr/>
        </p:nvSpPr>
        <p:spPr bwMode="auto">
          <a:xfrm>
            <a:off x="2361453" y="2389499"/>
            <a:ext cx="306268" cy="3332449"/>
          </a:xfrm>
          <a:custGeom>
            <a:avLst/>
            <a:gdLst>
              <a:gd name="T0" fmla="*/ 175 w 351"/>
              <a:gd name="T1" fmla="*/ 0 h 3828"/>
              <a:gd name="T2" fmla="*/ 175 w 351"/>
              <a:gd name="T3" fmla="*/ 0 h 3828"/>
              <a:gd name="T4" fmla="*/ 351 w 351"/>
              <a:gd name="T5" fmla="*/ 124 h 3828"/>
              <a:gd name="T6" fmla="*/ 351 w 351"/>
              <a:gd name="T7" fmla="*/ 3703 h 3828"/>
              <a:gd name="T8" fmla="*/ 175 w 351"/>
              <a:gd name="T9" fmla="*/ 3828 h 3828"/>
              <a:gd name="T10" fmla="*/ 175 w 351"/>
              <a:gd name="T11" fmla="*/ 3828 h 3828"/>
              <a:gd name="T12" fmla="*/ 0 w 351"/>
              <a:gd name="T13" fmla="*/ 3703 h 3828"/>
              <a:gd name="T14" fmla="*/ 0 w 351"/>
              <a:gd name="T15" fmla="*/ 124 h 3828"/>
              <a:gd name="T16" fmla="*/ 175 w 351"/>
              <a:gd name="T17" fmla="*/ 0 h 38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3828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1" y="56"/>
                  <a:pt x="351" y="124"/>
                </a:cubicBezTo>
                <a:lnTo>
                  <a:pt x="351" y="3703"/>
                </a:lnTo>
                <a:cubicBezTo>
                  <a:pt x="351" y="3772"/>
                  <a:pt x="272" y="3828"/>
                  <a:pt x="175" y="3828"/>
                </a:cubicBezTo>
                <a:lnTo>
                  <a:pt x="175" y="3828"/>
                </a:lnTo>
                <a:cubicBezTo>
                  <a:pt x="79" y="3828"/>
                  <a:pt x="0" y="3772"/>
                  <a:pt x="0" y="3703"/>
                </a:cubicBezTo>
                <a:lnTo>
                  <a:pt x="0" y="124"/>
                </a:lnTo>
                <a:cubicBezTo>
                  <a:pt x="0" y="56"/>
                  <a:pt x="79" y="0"/>
                  <a:pt x="175" y="0"/>
                </a:cubicBezTo>
                <a:close/>
              </a:path>
            </a:pathLst>
          </a:custGeom>
          <a:solidFill>
            <a:srgbClr val="93CA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3" name="Oval 10"/>
          <p:cNvSpPr>
            <a:spLocks noChangeArrowheads="1"/>
          </p:cNvSpPr>
          <p:nvPr/>
        </p:nvSpPr>
        <p:spPr bwMode="auto">
          <a:xfrm>
            <a:off x="2231329" y="5353789"/>
            <a:ext cx="585559" cy="585559"/>
          </a:xfrm>
          <a:prstGeom prst="ellipse">
            <a:avLst/>
          </a:prstGeom>
          <a:solidFill>
            <a:srgbClr val="93CA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4" name="Freeform 11"/>
          <p:cNvSpPr>
            <a:spLocks/>
          </p:cNvSpPr>
          <p:nvPr/>
        </p:nvSpPr>
        <p:spPr bwMode="auto">
          <a:xfrm>
            <a:off x="3461731" y="1413566"/>
            <a:ext cx="306268" cy="4308380"/>
          </a:xfrm>
          <a:custGeom>
            <a:avLst/>
            <a:gdLst>
              <a:gd name="T0" fmla="*/ 175 w 351"/>
              <a:gd name="T1" fmla="*/ 0 h 4948"/>
              <a:gd name="T2" fmla="*/ 175 w 351"/>
              <a:gd name="T3" fmla="*/ 0 h 4948"/>
              <a:gd name="T4" fmla="*/ 351 w 351"/>
              <a:gd name="T5" fmla="*/ 176 h 4948"/>
              <a:gd name="T6" fmla="*/ 351 w 351"/>
              <a:gd name="T7" fmla="*/ 4772 h 4948"/>
              <a:gd name="T8" fmla="*/ 175 w 351"/>
              <a:gd name="T9" fmla="*/ 4948 h 4948"/>
              <a:gd name="T10" fmla="*/ 175 w 351"/>
              <a:gd name="T11" fmla="*/ 4948 h 4948"/>
              <a:gd name="T12" fmla="*/ 0 w 351"/>
              <a:gd name="T13" fmla="*/ 4772 h 4948"/>
              <a:gd name="T14" fmla="*/ 0 w 351"/>
              <a:gd name="T15" fmla="*/ 176 h 4948"/>
              <a:gd name="T16" fmla="*/ 175 w 351"/>
              <a:gd name="T17" fmla="*/ 0 h 49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4948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1" y="79"/>
                  <a:pt x="351" y="176"/>
                </a:cubicBezTo>
                <a:lnTo>
                  <a:pt x="351" y="4772"/>
                </a:lnTo>
                <a:cubicBezTo>
                  <a:pt x="351" y="4869"/>
                  <a:pt x="272" y="4948"/>
                  <a:pt x="175" y="4948"/>
                </a:cubicBezTo>
                <a:lnTo>
                  <a:pt x="175" y="4948"/>
                </a:lnTo>
                <a:cubicBezTo>
                  <a:pt x="79" y="4948"/>
                  <a:pt x="0" y="4869"/>
                  <a:pt x="0" y="4772"/>
                </a:cubicBezTo>
                <a:lnTo>
                  <a:pt x="0" y="176"/>
                </a:lnTo>
                <a:cubicBezTo>
                  <a:pt x="0" y="79"/>
                  <a:pt x="79" y="0"/>
                  <a:pt x="175" y="0"/>
                </a:cubicBezTo>
                <a:close/>
              </a:path>
            </a:pathLst>
          </a:custGeom>
          <a:solidFill>
            <a:srgbClr val="C1C0C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5" name="Freeform 12"/>
          <p:cNvSpPr>
            <a:spLocks/>
          </p:cNvSpPr>
          <p:nvPr/>
        </p:nvSpPr>
        <p:spPr bwMode="auto">
          <a:xfrm>
            <a:off x="3461731" y="1591295"/>
            <a:ext cx="306268" cy="4130649"/>
          </a:xfrm>
          <a:custGeom>
            <a:avLst/>
            <a:gdLst>
              <a:gd name="T0" fmla="*/ 175 w 351"/>
              <a:gd name="T1" fmla="*/ 0 h 4744"/>
              <a:gd name="T2" fmla="*/ 175 w 351"/>
              <a:gd name="T3" fmla="*/ 0 h 4744"/>
              <a:gd name="T4" fmla="*/ 351 w 351"/>
              <a:gd name="T5" fmla="*/ 154 h 4744"/>
              <a:gd name="T6" fmla="*/ 351 w 351"/>
              <a:gd name="T7" fmla="*/ 4589 h 4744"/>
              <a:gd name="T8" fmla="*/ 175 w 351"/>
              <a:gd name="T9" fmla="*/ 4744 h 4744"/>
              <a:gd name="T10" fmla="*/ 175 w 351"/>
              <a:gd name="T11" fmla="*/ 4744 h 4744"/>
              <a:gd name="T12" fmla="*/ 0 w 351"/>
              <a:gd name="T13" fmla="*/ 4589 h 4744"/>
              <a:gd name="T14" fmla="*/ 0 w 351"/>
              <a:gd name="T15" fmla="*/ 154 h 4744"/>
              <a:gd name="T16" fmla="*/ 175 w 351"/>
              <a:gd name="T17" fmla="*/ 0 h 4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1" h="4744">
                <a:moveTo>
                  <a:pt x="175" y="0"/>
                </a:moveTo>
                <a:lnTo>
                  <a:pt x="175" y="0"/>
                </a:lnTo>
                <a:cubicBezTo>
                  <a:pt x="272" y="0"/>
                  <a:pt x="351" y="69"/>
                  <a:pt x="351" y="154"/>
                </a:cubicBezTo>
                <a:lnTo>
                  <a:pt x="351" y="4589"/>
                </a:lnTo>
                <a:cubicBezTo>
                  <a:pt x="351" y="4674"/>
                  <a:pt x="272" y="4744"/>
                  <a:pt x="175" y="4744"/>
                </a:cubicBezTo>
                <a:lnTo>
                  <a:pt x="175" y="4744"/>
                </a:lnTo>
                <a:cubicBezTo>
                  <a:pt x="79" y="4744"/>
                  <a:pt x="0" y="4674"/>
                  <a:pt x="0" y="4589"/>
                </a:cubicBezTo>
                <a:lnTo>
                  <a:pt x="0" y="154"/>
                </a:lnTo>
                <a:cubicBezTo>
                  <a:pt x="0" y="69"/>
                  <a:pt x="79" y="0"/>
                  <a:pt x="175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6" name="Oval 13"/>
          <p:cNvSpPr>
            <a:spLocks noChangeArrowheads="1"/>
          </p:cNvSpPr>
          <p:nvPr/>
        </p:nvSpPr>
        <p:spPr bwMode="auto">
          <a:xfrm>
            <a:off x="3331607" y="5353789"/>
            <a:ext cx="585559" cy="585559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7" name="Freeform 14"/>
          <p:cNvSpPr>
            <a:spLocks/>
          </p:cNvSpPr>
          <p:nvPr/>
        </p:nvSpPr>
        <p:spPr bwMode="auto">
          <a:xfrm>
            <a:off x="4703241" y="1413566"/>
            <a:ext cx="306268" cy="4308380"/>
          </a:xfrm>
          <a:custGeom>
            <a:avLst/>
            <a:gdLst>
              <a:gd name="T0" fmla="*/ 176 w 352"/>
              <a:gd name="T1" fmla="*/ 0 h 4948"/>
              <a:gd name="T2" fmla="*/ 176 w 352"/>
              <a:gd name="T3" fmla="*/ 0 h 4948"/>
              <a:gd name="T4" fmla="*/ 352 w 352"/>
              <a:gd name="T5" fmla="*/ 176 h 4948"/>
              <a:gd name="T6" fmla="*/ 352 w 352"/>
              <a:gd name="T7" fmla="*/ 4772 h 4948"/>
              <a:gd name="T8" fmla="*/ 176 w 352"/>
              <a:gd name="T9" fmla="*/ 4948 h 4948"/>
              <a:gd name="T10" fmla="*/ 176 w 352"/>
              <a:gd name="T11" fmla="*/ 4948 h 4948"/>
              <a:gd name="T12" fmla="*/ 0 w 352"/>
              <a:gd name="T13" fmla="*/ 4772 h 4948"/>
              <a:gd name="T14" fmla="*/ 0 w 352"/>
              <a:gd name="T15" fmla="*/ 176 h 4948"/>
              <a:gd name="T16" fmla="*/ 176 w 352"/>
              <a:gd name="T17" fmla="*/ 0 h 49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2" h="4948">
                <a:moveTo>
                  <a:pt x="176" y="0"/>
                </a:moveTo>
                <a:lnTo>
                  <a:pt x="176" y="0"/>
                </a:lnTo>
                <a:cubicBezTo>
                  <a:pt x="273" y="0"/>
                  <a:pt x="352" y="79"/>
                  <a:pt x="352" y="176"/>
                </a:cubicBezTo>
                <a:lnTo>
                  <a:pt x="352" y="4772"/>
                </a:lnTo>
                <a:cubicBezTo>
                  <a:pt x="352" y="4869"/>
                  <a:pt x="273" y="4948"/>
                  <a:pt x="176" y="4948"/>
                </a:cubicBezTo>
                <a:lnTo>
                  <a:pt x="176" y="4948"/>
                </a:lnTo>
                <a:cubicBezTo>
                  <a:pt x="79" y="4948"/>
                  <a:pt x="0" y="4869"/>
                  <a:pt x="0" y="4772"/>
                </a:cubicBezTo>
                <a:lnTo>
                  <a:pt x="0" y="176"/>
                </a:lnTo>
                <a:cubicBezTo>
                  <a:pt x="0" y="79"/>
                  <a:pt x="79" y="0"/>
                  <a:pt x="176" y="0"/>
                </a:cubicBezTo>
                <a:close/>
              </a:path>
            </a:pathLst>
          </a:custGeom>
          <a:solidFill>
            <a:srgbClr val="C1C0C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8" name="Freeform 15"/>
          <p:cNvSpPr>
            <a:spLocks/>
          </p:cNvSpPr>
          <p:nvPr/>
        </p:nvSpPr>
        <p:spPr bwMode="auto">
          <a:xfrm>
            <a:off x="4703241" y="2061387"/>
            <a:ext cx="306268" cy="3660561"/>
          </a:xfrm>
          <a:custGeom>
            <a:avLst/>
            <a:gdLst>
              <a:gd name="T0" fmla="*/ 176 w 352"/>
              <a:gd name="T1" fmla="*/ 0 h 4581"/>
              <a:gd name="T2" fmla="*/ 176 w 352"/>
              <a:gd name="T3" fmla="*/ 0 h 4581"/>
              <a:gd name="T4" fmla="*/ 352 w 352"/>
              <a:gd name="T5" fmla="*/ 149 h 4581"/>
              <a:gd name="T6" fmla="*/ 352 w 352"/>
              <a:gd name="T7" fmla="*/ 4432 h 4581"/>
              <a:gd name="T8" fmla="*/ 176 w 352"/>
              <a:gd name="T9" fmla="*/ 4581 h 4581"/>
              <a:gd name="T10" fmla="*/ 176 w 352"/>
              <a:gd name="T11" fmla="*/ 4581 h 4581"/>
              <a:gd name="T12" fmla="*/ 0 w 352"/>
              <a:gd name="T13" fmla="*/ 4432 h 4581"/>
              <a:gd name="T14" fmla="*/ 0 w 352"/>
              <a:gd name="T15" fmla="*/ 149 h 4581"/>
              <a:gd name="T16" fmla="*/ 176 w 352"/>
              <a:gd name="T17" fmla="*/ 0 h 4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52" h="4581">
                <a:moveTo>
                  <a:pt x="176" y="0"/>
                </a:moveTo>
                <a:lnTo>
                  <a:pt x="176" y="0"/>
                </a:lnTo>
                <a:cubicBezTo>
                  <a:pt x="273" y="0"/>
                  <a:pt x="352" y="67"/>
                  <a:pt x="352" y="149"/>
                </a:cubicBezTo>
                <a:lnTo>
                  <a:pt x="352" y="4432"/>
                </a:lnTo>
                <a:cubicBezTo>
                  <a:pt x="352" y="4514"/>
                  <a:pt x="273" y="4581"/>
                  <a:pt x="176" y="4581"/>
                </a:cubicBezTo>
                <a:lnTo>
                  <a:pt x="176" y="4581"/>
                </a:lnTo>
                <a:cubicBezTo>
                  <a:pt x="79" y="4581"/>
                  <a:pt x="0" y="4514"/>
                  <a:pt x="0" y="4432"/>
                </a:cubicBezTo>
                <a:lnTo>
                  <a:pt x="0" y="149"/>
                </a:lnTo>
                <a:cubicBezTo>
                  <a:pt x="0" y="67"/>
                  <a:pt x="79" y="0"/>
                  <a:pt x="176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9" name="Oval 16"/>
          <p:cNvSpPr>
            <a:spLocks noChangeArrowheads="1"/>
          </p:cNvSpPr>
          <p:nvPr/>
        </p:nvSpPr>
        <p:spPr bwMode="auto">
          <a:xfrm>
            <a:off x="4574706" y="5353789"/>
            <a:ext cx="585559" cy="585559"/>
          </a:xfrm>
          <a:prstGeom prst="ellipse">
            <a:avLst/>
          </a:prstGeom>
          <a:solidFill>
            <a:srgbClr val="FFC00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25" name="矩形 83"/>
          <p:cNvSpPr>
            <a:spLocks noChangeArrowheads="1"/>
          </p:cNvSpPr>
          <p:nvPr/>
        </p:nvSpPr>
        <p:spPr bwMode="auto">
          <a:xfrm>
            <a:off x="6217993" y="1235962"/>
            <a:ext cx="5107491" cy="4981870"/>
          </a:xfrm>
          <a:prstGeom prst="rect">
            <a:avLst/>
          </a:prstGeom>
          <a:solidFill>
            <a:srgbClr val="F2F2F2"/>
          </a:solidFill>
          <a:ln w="9525" cmpd="sng">
            <a:solidFill>
              <a:schemeClr val="accent1"/>
            </a:solidFill>
            <a:miter lim="800000"/>
            <a:headEnd/>
            <a:tailEnd/>
          </a:ln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26" name="TextBox 84"/>
          <p:cNvSpPr txBox="1">
            <a:spLocks noChangeArrowheads="1"/>
          </p:cNvSpPr>
          <p:nvPr/>
        </p:nvSpPr>
        <p:spPr bwMode="auto">
          <a:xfrm>
            <a:off x="6403650" y="1354980"/>
            <a:ext cx="4975716" cy="590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398" tIns="45699" rIns="91398" bIns="45699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lvl="1">
              <a:lnSpc>
                <a:spcPct val="150000"/>
              </a:lnSpc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从设备是指被主设备控制和访问的设备。如存储器及各种外围设备等。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前面讲到的程序控制方式和中断控制方式，都是在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这一主设备的控制下完成存储器与外围设备间的数据交换。</a:t>
            </a:r>
          </a:p>
          <a:p>
            <a:pPr marL="0" lvl="1">
              <a:lnSpc>
                <a:spcPct val="150000"/>
              </a:lnSpc>
              <a:buNone/>
            </a:pP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2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itchFamily="34" charset="-122"/>
            </a:endParaRPr>
          </a:p>
        </p:txBody>
      </p:sp>
      <p:sp>
        <p:nvSpPr>
          <p:cNvPr id="27" name="Freeform 12"/>
          <p:cNvSpPr>
            <a:spLocks/>
          </p:cNvSpPr>
          <p:nvPr/>
        </p:nvSpPr>
        <p:spPr bwMode="auto">
          <a:xfrm>
            <a:off x="6143407" y="1089971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04BEB0"/>
          </a:solidFill>
          <a:ln>
            <a:noFill/>
          </a:ln>
          <a:extLst/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28" name="Freeform 12"/>
          <p:cNvSpPr>
            <a:spLocks/>
          </p:cNvSpPr>
          <p:nvPr/>
        </p:nvSpPr>
        <p:spPr bwMode="auto">
          <a:xfrm flipH="1" flipV="1">
            <a:off x="10904816" y="5802770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04BEB0"/>
          </a:solidFill>
          <a:ln>
            <a:noFill/>
          </a:ln>
          <a:extLst/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33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4" name="TextBox 14"/>
          <p:cNvSpPr txBox="1"/>
          <p:nvPr/>
        </p:nvSpPr>
        <p:spPr>
          <a:xfrm>
            <a:off x="853375" y="324922"/>
            <a:ext cx="3016156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从设备</a:t>
            </a:r>
          </a:p>
        </p:txBody>
      </p:sp>
    </p:spTree>
    <p:extLst>
      <p:ext uri="{BB962C8B-B14F-4D97-AF65-F5344CB8AC3E}">
        <p14:creationId xmlns:p14="http://schemas.microsoft.com/office/powerpoint/2010/main" val="2461369896"/>
      </p:ext>
    </p:extLst>
  </p:cSld>
  <p:clrMapOvr>
    <a:masterClrMapping/>
  </p:clrMapOvr>
  <p:transition spd="slow" advTm="0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 bwMode="auto">
          <a:xfrm>
            <a:off x="6841751" y="1297770"/>
            <a:ext cx="4678692" cy="50388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10" name="矩形 9"/>
          <p:cNvSpPr/>
          <p:nvPr/>
        </p:nvSpPr>
        <p:spPr bwMode="auto">
          <a:xfrm>
            <a:off x="1248047" y="1297770"/>
            <a:ext cx="4678692" cy="503886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grpSp>
        <p:nvGrpSpPr>
          <p:cNvPr id="2" name="组合 1"/>
          <p:cNvGrpSpPr/>
          <p:nvPr/>
        </p:nvGrpSpPr>
        <p:grpSpPr>
          <a:xfrm>
            <a:off x="782761" y="1060965"/>
            <a:ext cx="1010843" cy="1010844"/>
            <a:chOff x="520349" y="1060040"/>
            <a:chExt cx="1011238" cy="1011238"/>
          </a:xfrm>
        </p:grpSpPr>
        <p:sp>
          <p:nvSpPr>
            <p:cNvPr id="14" name="Oval 13"/>
            <p:cNvSpPr>
              <a:spLocks noChangeArrowheads="1"/>
            </p:cNvSpPr>
            <p:nvPr/>
          </p:nvSpPr>
          <p:spPr bwMode="auto">
            <a:xfrm>
              <a:off x="520349" y="1060040"/>
              <a:ext cx="1011238" cy="1011238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72416" y="1192220"/>
              <a:ext cx="868522" cy="7078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998" dirty="0">
                  <a:solidFill>
                    <a:schemeClr val="bg1"/>
                  </a:solidFill>
                  <a:latin typeface="+mn-ea"/>
                </a:rPr>
                <a:t>01</a:t>
              </a:r>
              <a:endParaRPr lang="zh-CN" altLang="en-US" sz="3998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484271" y="914976"/>
            <a:ext cx="1010843" cy="1010844"/>
            <a:chOff x="5812771" y="913994"/>
            <a:chExt cx="1011238" cy="1011238"/>
          </a:xfrm>
        </p:grpSpPr>
        <p:sp>
          <p:nvSpPr>
            <p:cNvPr id="19" name="Oval 13"/>
            <p:cNvSpPr>
              <a:spLocks noChangeArrowheads="1"/>
            </p:cNvSpPr>
            <p:nvPr/>
          </p:nvSpPr>
          <p:spPr bwMode="auto">
            <a:xfrm>
              <a:off x="5812771" y="913994"/>
              <a:ext cx="1011238" cy="1011238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884127" y="1065692"/>
              <a:ext cx="868522" cy="7078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998" dirty="0">
                  <a:solidFill>
                    <a:schemeClr val="bg1"/>
                  </a:solidFill>
                  <a:latin typeface="+mn-ea"/>
                </a:rPr>
                <a:t>02</a:t>
              </a:r>
              <a:endParaRPr lang="zh-CN" altLang="en-US" sz="3998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28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grpSp>
        <p:nvGrpSpPr>
          <p:cNvPr id="35" name="组合 3"/>
          <p:cNvGrpSpPr/>
          <p:nvPr/>
        </p:nvGrpSpPr>
        <p:grpSpPr>
          <a:xfrm>
            <a:off x="344409" y="298727"/>
            <a:ext cx="438352" cy="621987"/>
            <a:chOff x="265635" y="269251"/>
            <a:chExt cx="438352" cy="621987"/>
          </a:xfrm>
        </p:grpSpPr>
        <p:sp>
          <p:nvSpPr>
            <p:cNvPr id="36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37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38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39" name="TextBox 14"/>
          <p:cNvSpPr txBox="1"/>
          <p:nvPr/>
        </p:nvSpPr>
        <p:spPr>
          <a:xfrm>
            <a:off x="1047764" y="302432"/>
            <a:ext cx="3480179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DMA</a:t>
            </a:r>
            <a:r>
              <a:rPr lang="zh-CN" altLang="en-US" dirty="0"/>
              <a:t>控制器</a:t>
            </a:r>
          </a:p>
        </p:txBody>
      </p:sp>
      <p:sp>
        <p:nvSpPr>
          <p:cNvPr id="40" name="Rectangle 3"/>
          <p:cNvSpPr txBox="1">
            <a:spLocks noChangeArrowheads="1"/>
          </p:cNvSpPr>
          <p:nvPr/>
        </p:nvSpPr>
        <p:spPr>
          <a:xfrm>
            <a:off x="1517145" y="1925820"/>
            <a:ext cx="4392224" cy="14485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为实现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传送，机器系统专门设置了一个主设备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——DMA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控制器，由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控制器代替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控制完成存储器与外围设备间的数据交换。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131614" y="1774181"/>
            <a:ext cx="4098965" cy="7848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20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控制器可以像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一样，通过总线向存储器和外围设备给出地址和控制信号，实现对这些设备的访问和控制。</a:t>
            </a:r>
          </a:p>
          <a:p>
            <a:pPr marL="0" lvl="1">
              <a:lnSpc>
                <a:spcPct val="200000"/>
              </a:lnSpc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200000"/>
              </a:lnSpc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200000"/>
              </a:lnSpc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9779944"/>
      </p:ext>
    </p:extLst>
  </p:cSld>
  <p:clrMapOvr>
    <a:masterClrMapping/>
  </p:clrMapOvr>
  <p:transition spd="slow" advTm="0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875773" y="329471"/>
            <a:ext cx="10034659" cy="584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DMA</a:t>
            </a:r>
            <a:r>
              <a:rPr lang="zh-CN" altLang="en-US" dirty="0"/>
              <a:t>的工作模式通常有三种方式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0BE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8" name="Oval 6"/>
          <p:cNvSpPr>
            <a:spLocks noChangeAspect="1" noChangeArrowheads="1"/>
          </p:cNvSpPr>
          <p:nvPr/>
        </p:nvSpPr>
        <p:spPr bwMode="auto">
          <a:xfrm>
            <a:off x="6743142" y="4078314"/>
            <a:ext cx="1435755" cy="1439438"/>
          </a:xfrm>
          <a:prstGeom prst="ellipse">
            <a:avLst/>
          </a:prstGeom>
          <a:solidFill>
            <a:srgbClr val="04B0BE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9" name="Oval 7"/>
          <p:cNvSpPr>
            <a:spLocks noChangeAspect="1" noChangeArrowheads="1"/>
          </p:cNvSpPr>
          <p:nvPr/>
        </p:nvSpPr>
        <p:spPr bwMode="auto">
          <a:xfrm>
            <a:off x="8738508" y="2710536"/>
            <a:ext cx="1437597" cy="1439438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0" name="Oval 8"/>
          <p:cNvSpPr>
            <a:spLocks noChangeAspect="1" noChangeArrowheads="1"/>
          </p:cNvSpPr>
          <p:nvPr/>
        </p:nvSpPr>
        <p:spPr bwMode="auto">
          <a:xfrm>
            <a:off x="10670569" y="1343078"/>
            <a:ext cx="1437597" cy="143943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1" name="Freeform 9"/>
          <p:cNvSpPr>
            <a:spLocks/>
          </p:cNvSpPr>
          <p:nvPr/>
        </p:nvSpPr>
        <p:spPr bwMode="auto">
          <a:xfrm>
            <a:off x="6277795" y="2838069"/>
            <a:ext cx="6581779" cy="4019931"/>
          </a:xfrm>
          <a:custGeom>
            <a:avLst/>
            <a:gdLst/>
            <a:ahLst/>
            <a:cxnLst/>
            <a:rect l="l" t="t" r="r" b="b"/>
            <a:pathLst>
              <a:path w="5358466" h="3767155">
                <a:moveTo>
                  <a:pt x="3479568" y="0"/>
                </a:moveTo>
                <a:lnTo>
                  <a:pt x="3618115" y="0"/>
                </a:lnTo>
                <a:lnTo>
                  <a:pt x="5358466" y="0"/>
                </a:lnTo>
                <a:lnTo>
                  <a:pt x="5358466" y="138769"/>
                </a:lnTo>
                <a:lnTo>
                  <a:pt x="3618115" y="138769"/>
                </a:lnTo>
                <a:lnTo>
                  <a:pt x="3618115" y="1287028"/>
                </a:lnTo>
                <a:lnTo>
                  <a:pt x="3618115" y="1425797"/>
                </a:lnTo>
                <a:lnTo>
                  <a:pt x="3479568" y="1425797"/>
                </a:lnTo>
                <a:lnTo>
                  <a:pt x="1878331" y="1425797"/>
                </a:lnTo>
                <a:lnTo>
                  <a:pt x="1878331" y="2574055"/>
                </a:lnTo>
                <a:lnTo>
                  <a:pt x="1878331" y="2712824"/>
                </a:lnTo>
                <a:lnTo>
                  <a:pt x="1739784" y="2712824"/>
                </a:lnTo>
                <a:lnTo>
                  <a:pt x="138547" y="2712824"/>
                </a:lnTo>
                <a:lnTo>
                  <a:pt x="138547" y="3767155"/>
                </a:lnTo>
                <a:lnTo>
                  <a:pt x="0" y="3767155"/>
                </a:lnTo>
                <a:lnTo>
                  <a:pt x="0" y="2712824"/>
                </a:lnTo>
                <a:lnTo>
                  <a:pt x="0" y="2574055"/>
                </a:lnTo>
                <a:lnTo>
                  <a:pt x="138547" y="2574055"/>
                </a:lnTo>
                <a:lnTo>
                  <a:pt x="1739784" y="2574055"/>
                </a:lnTo>
                <a:lnTo>
                  <a:pt x="1739784" y="1425797"/>
                </a:lnTo>
                <a:lnTo>
                  <a:pt x="1739784" y="1287028"/>
                </a:lnTo>
                <a:lnTo>
                  <a:pt x="1878331" y="1287028"/>
                </a:lnTo>
                <a:lnTo>
                  <a:pt x="3479568" y="1287028"/>
                </a:lnTo>
                <a:lnTo>
                  <a:pt x="3479568" y="13876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 flipH="1">
            <a:off x="5678467" y="4848034"/>
            <a:ext cx="850040" cy="0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 flipH="1">
            <a:off x="6528507" y="3430255"/>
            <a:ext cx="2052640" cy="0"/>
          </a:xfrm>
          <a:prstGeom prst="line">
            <a:avLst/>
          </a:prstGeom>
          <a:noFill/>
          <a:ln w="12700" cap="flat">
            <a:solidFill>
              <a:srgbClr val="92D050"/>
            </a:solidFill>
            <a:prstDash val="solid"/>
            <a:miter lim="800000"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 flipH="1">
            <a:off x="7461018" y="2062797"/>
            <a:ext cx="3063587" cy="0"/>
          </a:xfrm>
          <a:prstGeom prst="line">
            <a:avLst/>
          </a:prstGeom>
          <a:noFill/>
          <a:ln w="12700" cap="flat">
            <a:solidFill>
              <a:srgbClr val="FFC000"/>
            </a:solidFill>
            <a:prstDash val="solid"/>
            <a:miter lim="800000"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24" name="TextBox 26"/>
          <p:cNvSpPr txBox="1"/>
          <p:nvPr/>
        </p:nvSpPr>
        <p:spPr>
          <a:xfrm>
            <a:off x="14760327" y="851145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1056363" y="1601132"/>
            <a:ext cx="6960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140758" y="2968590"/>
            <a:ext cx="6960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113000" y="4332324"/>
            <a:ext cx="6960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>
          <a:xfrm>
            <a:off x="971879" y="1860383"/>
            <a:ext cx="8837784" cy="1448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anose="020B0604020202020204" pitchFamily="34" charset="0"/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突发方式（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burst mode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05437" y="3040484"/>
            <a:ext cx="912731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周期挪用方式（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cycle stealing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</a:p>
          <a:p>
            <a:pPr marL="0" lvl="1">
              <a:lnSpc>
                <a:spcPct val="150000"/>
              </a:lnSpc>
            </a:pP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41785" y="4457491"/>
            <a:ext cx="912731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透明方式（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transparent mode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  </a:t>
            </a:r>
          </a:p>
          <a:p>
            <a:pPr marL="0" lvl="1">
              <a:lnSpc>
                <a:spcPct val="150000"/>
              </a:lnSpc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7265188"/>
      </p:ext>
    </p:extLst>
  </p:cSld>
  <p:clrMapOvr>
    <a:masterClrMapping/>
  </p:clrMapOvr>
  <p:transition spd="slow" advTm="0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697509" y="325160"/>
            <a:ext cx="5974331" cy="1077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DMA</a:t>
            </a:r>
            <a:r>
              <a:rPr lang="zh-CN" altLang="en-US" dirty="0"/>
              <a:t>传输控制过程三个阶段：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13" name="矩形 12"/>
          <p:cNvSpPr/>
          <p:nvPr/>
        </p:nvSpPr>
        <p:spPr bwMode="auto">
          <a:xfrm>
            <a:off x="949437" y="1728241"/>
            <a:ext cx="2735237" cy="2827717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952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14" name="矩形 13"/>
          <p:cNvSpPr/>
          <p:nvPr/>
        </p:nvSpPr>
        <p:spPr bwMode="auto">
          <a:xfrm>
            <a:off x="4512414" y="1728241"/>
            <a:ext cx="2735237" cy="2827717"/>
          </a:xfrm>
          <a:prstGeom prst="rect">
            <a:avLst/>
          </a:pr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952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15" name="矩形 14"/>
          <p:cNvSpPr/>
          <p:nvPr/>
        </p:nvSpPr>
        <p:spPr bwMode="auto">
          <a:xfrm>
            <a:off x="8075391" y="1728240"/>
            <a:ext cx="2735237" cy="2827718"/>
          </a:xfrm>
          <a:prstGeom prst="rect">
            <a:avLst/>
          </a:pr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952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16" name="矩形 15"/>
          <p:cNvSpPr/>
          <p:nvPr/>
        </p:nvSpPr>
        <p:spPr bwMode="auto">
          <a:xfrm>
            <a:off x="0" y="5358931"/>
            <a:ext cx="12192000" cy="647819"/>
          </a:xfrm>
          <a:prstGeom prst="rect">
            <a:avLst/>
          </a:prstGeom>
          <a:solidFill>
            <a:srgbClr val="04BEB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398" tIns="45699" rIns="91398" bIns="45699" numCol="1" rtlCol="0" anchor="t" anchorCtr="0" compatLnSpc="1">
            <a:prstTxWarp prst="textNoShape">
              <a:avLst/>
            </a:prstTxWarp>
          </a:bodyPr>
          <a:lstStyle/>
          <a:p>
            <a:pPr defTabSz="913973"/>
            <a:endParaRPr lang="zh-CN" altLang="en-US" sz="1699"/>
          </a:p>
        </p:txBody>
      </p:sp>
      <p:sp>
        <p:nvSpPr>
          <p:cNvPr id="23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3" name="矩形 2"/>
          <p:cNvSpPr/>
          <p:nvPr/>
        </p:nvSpPr>
        <p:spPr>
          <a:xfrm>
            <a:off x="949437" y="5446989"/>
            <a:ext cx="17235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050883" y="5301561"/>
            <a:ext cx="1620957" cy="662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数据传输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049737" y="5301561"/>
            <a:ext cx="1261884" cy="662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后处理</a:t>
            </a:r>
          </a:p>
        </p:txBody>
      </p:sp>
    </p:spTree>
    <p:extLst>
      <p:ext uri="{BB962C8B-B14F-4D97-AF65-F5344CB8AC3E}">
        <p14:creationId xmlns:p14="http://schemas.microsoft.com/office/powerpoint/2010/main" val="1811842755"/>
      </p:ext>
    </p:extLst>
  </p:cSld>
  <p:clrMapOvr>
    <a:masterClrMapping/>
  </p:clrMapOvr>
  <p:transition spd="slow" advTm="0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901700" y="26124"/>
            <a:ext cx="10515600" cy="1325563"/>
          </a:xfrm>
        </p:spPr>
        <p:txBody>
          <a:bodyPr>
            <a:normAutofit/>
          </a:bodyPr>
          <a:lstStyle/>
          <a:p>
            <a:pPr algn="l" eaLnBrk="1" hangingPunct="1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控制器的组成及工作原理 </a:t>
            </a:r>
          </a:p>
        </p:txBody>
      </p:sp>
      <p:sp>
        <p:nvSpPr>
          <p:cNvPr id="13315" name="Rectangle 4"/>
          <p:cNvSpPr>
            <a:spLocks noChangeArrowheads="1"/>
          </p:cNvSpPr>
          <p:nvPr/>
        </p:nvSpPr>
        <p:spPr bwMode="auto">
          <a:xfrm>
            <a:off x="0" y="2271713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graphicFrame>
        <p:nvGraphicFramePr>
          <p:cNvPr id="1331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8668336"/>
              </p:ext>
            </p:extLst>
          </p:nvPr>
        </p:nvGraphicFramePr>
        <p:xfrm>
          <a:off x="1128045" y="835835"/>
          <a:ext cx="9870392" cy="4026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11" name="Visio" r:id="rId3" imgW="5087023" imgH="2310437" progId="Visio.Drawing.11">
                  <p:embed/>
                </p:oleObj>
              </mc:Choice>
              <mc:Fallback>
                <p:oleObj name="Visio" r:id="rId3" imgW="5087023" imgH="2310437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8045" y="835835"/>
                        <a:ext cx="9870392" cy="402672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文本框 2"/>
          <p:cNvSpPr txBox="1">
            <a:spLocks noChangeArrowheads="1"/>
          </p:cNvSpPr>
          <p:nvPr/>
        </p:nvSpPr>
        <p:spPr bwMode="auto">
          <a:xfrm>
            <a:off x="1128045" y="4806340"/>
            <a:ext cx="70294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DMA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设备向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控制器发出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数据传输请求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--DREQ</a:t>
            </a:r>
          </a:p>
        </p:txBody>
      </p:sp>
      <p:grpSp>
        <p:nvGrpSpPr>
          <p:cNvPr id="6" name="组合 3"/>
          <p:cNvGrpSpPr/>
          <p:nvPr/>
        </p:nvGrpSpPr>
        <p:grpSpPr>
          <a:xfrm>
            <a:off x="399848" y="347133"/>
            <a:ext cx="438352" cy="621987"/>
            <a:chOff x="265635" y="269251"/>
            <a:chExt cx="438352" cy="621987"/>
          </a:xfrm>
        </p:grpSpPr>
        <p:sp>
          <p:nvSpPr>
            <p:cNvPr id="7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10" name="文本框 2"/>
          <p:cNvSpPr txBox="1">
            <a:spLocks noChangeArrowheads="1"/>
          </p:cNvSpPr>
          <p:nvPr/>
        </p:nvSpPr>
        <p:spPr bwMode="auto">
          <a:xfrm>
            <a:off x="1128045" y="5097418"/>
            <a:ext cx="524855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DMA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控制器向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申请使用总线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--HOLD</a:t>
            </a:r>
          </a:p>
        </p:txBody>
      </p:sp>
      <p:sp>
        <p:nvSpPr>
          <p:cNvPr id="11" name="文本框 2"/>
          <p:cNvSpPr txBox="1">
            <a:spLocks noChangeArrowheads="1"/>
          </p:cNvSpPr>
          <p:nvPr/>
        </p:nvSpPr>
        <p:spPr bwMode="auto">
          <a:xfrm>
            <a:off x="1128045" y="5388496"/>
            <a:ext cx="573977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CPU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将总线使用权让出给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控制器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--HLDA</a:t>
            </a:r>
          </a:p>
        </p:txBody>
      </p:sp>
      <p:sp>
        <p:nvSpPr>
          <p:cNvPr id="12" name="文本框 2"/>
          <p:cNvSpPr txBox="1">
            <a:spLocks noChangeArrowheads="1"/>
          </p:cNvSpPr>
          <p:nvPr/>
        </p:nvSpPr>
        <p:spPr bwMode="auto">
          <a:xfrm>
            <a:off x="1128045" y="5666451"/>
            <a:ext cx="577113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 DMA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控制器开始控制设备与内存中的数据传输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2"/>
          <p:cNvSpPr txBox="1">
            <a:spLocks noChangeArrowheads="1"/>
          </p:cNvSpPr>
          <p:nvPr/>
        </p:nvSpPr>
        <p:spPr bwMode="auto">
          <a:xfrm>
            <a:off x="1128045" y="5957529"/>
            <a:ext cx="620233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 DMA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传输完成后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控制器向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发出中断请求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2"/>
          <p:cNvSpPr txBox="1">
            <a:spLocks noChangeArrowheads="1"/>
          </p:cNvSpPr>
          <p:nvPr/>
        </p:nvSpPr>
        <p:spPr bwMode="auto">
          <a:xfrm>
            <a:off x="1128045" y="6235484"/>
            <a:ext cx="477246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 CPU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响应中断并进行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传输后处理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7" grpId="0"/>
      <p:bldP spid="10" grpId="0"/>
      <p:bldP spid="11" grpId="0"/>
      <p:bldP spid="12" grpId="0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0" y="2000982"/>
            <a:ext cx="2735237" cy="252849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3" name="Oval 9"/>
          <p:cNvSpPr>
            <a:spLocks noChangeArrowheads="1"/>
          </p:cNvSpPr>
          <p:nvPr/>
        </p:nvSpPr>
        <p:spPr bwMode="auto">
          <a:xfrm>
            <a:off x="791778" y="2732985"/>
            <a:ext cx="1100235" cy="1108082"/>
          </a:xfrm>
          <a:prstGeom prst="ellipse">
            <a:avLst/>
          </a:prstGeom>
          <a:solidFill>
            <a:srgbClr val="FFFFFF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53" name="Freeform 40"/>
          <p:cNvSpPr>
            <a:spLocks noEditPoints="1"/>
          </p:cNvSpPr>
          <p:nvPr/>
        </p:nvSpPr>
        <p:spPr bwMode="auto">
          <a:xfrm>
            <a:off x="927247" y="3106828"/>
            <a:ext cx="784720" cy="524170"/>
          </a:xfrm>
          <a:custGeom>
            <a:avLst/>
            <a:gdLst>
              <a:gd name="T0" fmla="*/ 544 w 564"/>
              <a:gd name="T1" fmla="*/ 27 h 376"/>
              <a:gd name="T2" fmla="*/ 544 w 564"/>
              <a:gd name="T3" fmla="*/ 309 h 376"/>
              <a:gd name="T4" fmla="*/ 536 w 564"/>
              <a:gd name="T5" fmla="*/ 309 h 376"/>
              <a:gd name="T6" fmla="*/ 518 w 564"/>
              <a:gd name="T7" fmla="*/ 308 h 376"/>
              <a:gd name="T8" fmla="*/ 285 w 564"/>
              <a:gd name="T9" fmla="*/ 367 h 376"/>
              <a:gd name="T10" fmla="*/ 282 w 564"/>
              <a:gd name="T11" fmla="*/ 368 h 376"/>
              <a:gd name="T12" fmla="*/ 279 w 564"/>
              <a:gd name="T13" fmla="*/ 367 h 376"/>
              <a:gd name="T14" fmla="*/ 46 w 564"/>
              <a:gd name="T15" fmla="*/ 308 h 376"/>
              <a:gd name="T16" fmla="*/ 28 w 564"/>
              <a:gd name="T17" fmla="*/ 309 h 376"/>
              <a:gd name="T18" fmla="*/ 20 w 564"/>
              <a:gd name="T19" fmla="*/ 309 h 376"/>
              <a:gd name="T20" fmla="*/ 20 w 564"/>
              <a:gd name="T21" fmla="*/ 27 h 376"/>
              <a:gd name="T22" fmla="*/ 0 w 564"/>
              <a:gd name="T23" fmla="*/ 27 h 376"/>
              <a:gd name="T24" fmla="*/ 0 w 564"/>
              <a:gd name="T25" fmla="*/ 320 h 376"/>
              <a:gd name="T26" fmla="*/ 282 w 564"/>
              <a:gd name="T27" fmla="*/ 376 h 376"/>
              <a:gd name="T28" fmla="*/ 564 w 564"/>
              <a:gd name="T29" fmla="*/ 320 h 376"/>
              <a:gd name="T30" fmla="*/ 564 w 564"/>
              <a:gd name="T31" fmla="*/ 27 h 376"/>
              <a:gd name="T32" fmla="*/ 544 w 564"/>
              <a:gd name="T33" fmla="*/ 27 h 376"/>
              <a:gd name="T34" fmla="*/ 272 w 564"/>
              <a:gd name="T35" fmla="*/ 319 h 376"/>
              <a:gd name="T36" fmla="*/ 272 w 564"/>
              <a:gd name="T37" fmla="*/ 63 h 376"/>
              <a:gd name="T38" fmla="*/ 77 w 564"/>
              <a:gd name="T39" fmla="*/ 1 h 376"/>
              <a:gd name="T40" fmla="*/ 77 w 564"/>
              <a:gd name="T41" fmla="*/ 269 h 376"/>
              <a:gd name="T42" fmla="*/ 84 w 564"/>
              <a:gd name="T43" fmla="*/ 269 h 376"/>
              <a:gd name="T44" fmla="*/ 272 w 564"/>
              <a:gd name="T45" fmla="*/ 319 h 376"/>
              <a:gd name="T46" fmla="*/ 487 w 564"/>
              <a:gd name="T47" fmla="*/ 269 h 376"/>
              <a:gd name="T48" fmla="*/ 487 w 564"/>
              <a:gd name="T49" fmla="*/ 1 h 376"/>
              <a:gd name="T50" fmla="*/ 292 w 564"/>
              <a:gd name="T51" fmla="*/ 63 h 376"/>
              <a:gd name="T52" fmla="*/ 292 w 564"/>
              <a:gd name="T53" fmla="*/ 319 h 376"/>
              <a:gd name="T54" fmla="*/ 480 w 564"/>
              <a:gd name="T55" fmla="*/ 269 h 376"/>
              <a:gd name="T56" fmla="*/ 487 w 564"/>
              <a:gd name="T57" fmla="*/ 269 h 376"/>
              <a:gd name="T58" fmla="*/ 282 w 564"/>
              <a:gd name="T59" fmla="*/ 361 h 376"/>
              <a:gd name="T60" fmla="*/ 531 w 564"/>
              <a:gd name="T61" fmla="*/ 302 h 376"/>
              <a:gd name="T62" fmla="*/ 531 w 564"/>
              <a:gd name="T63" fmla="*/ 5 h 376"/>
              <a:gd name="T64" fmla="*/ 501 w 564"/>
              <a:gd name="T65" fmla="*/ 5 h 376"/>
              <a:gd name="T66" fmla="*/ 501 w 564"/>
              <a:gd name="T67" fmla="*/ 283 h 376"/>
              <a:gd name="T68" fmla="*/ 493 w 564"/>
              <a:gd name="T69" fmla="*/ 282 h 376"/>
              <a:gd name="T70" fmla="*/ 478 w 564"/>
              <a:gd name="T71" fmla="*/ 282 h 376"/>
              <a:gd name="T72" fmla="*/ 287 w 564"/>
              <a:gd name="T73" fmla="*/ 337 h 376"/>
              <a:gd name="T74" fmla="*/ 282 w 564"/>
              <a:gd name="T75" fmla="*/ 340 h 376"/>
              <a:gd name="T76" fmla="*/ 277 w 564"/>
              <a:gd name="T77" fmla="*/ 337 h 376"/>
              <a:gd name="T78" fmla="*/ 86 w 564"/>
              <a:gd name="T79" fmla="*/ 282 h 376"/>
              <a:gd name="T80" fmla="*/ 71 w 564"/>
              <a:gd name="T81" fmla="*/ 282 h 376"/>
              <a:gd name="T82" fmla="*/ 63 w 564"/>
              <a:gd name="T83" fmla="*/ 283 h 376"/>
              <a:gd name="T84" fmla="*/ 63 w 564"/>
              <a:gd name="T85" fmla="*/ 5 h 376"/>
              <a:gd name="T86" fmla="*/ 33 w 564"/>
              <a:gd name="T87" fmla="*/ 5 h 376"/>
              <a:gd name="T88" fmla="*/ 33 w 564"/>
              <a:gd name="T89" fmla="*/ 302 h 376"/>
              <a:gd name="T90" fmla="*/ 282 w 564"/>
              <a:gd name="T91" fmla="*/ 361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564" h="376">
                <a:moveTo>
                  <a:pt x="544" y="27"/>
                </a:moveTo>
                <a:lnTo>
                  <a:pt x="544" y="309"/>
                </a:lnTo>
                <a:lnTo>
                  <a:pt x="536" y="309"/>
                </a:lnTo>
                <a:cubicBezTo>
                  <a:pt x="530" y="308"/>
                  <a:pt x="524" y="308"/>
                  <a:pt x="518" y="308"/>
                </a:cubicBezTo>
                <a:cubicBezTo>
                  <a:pt x="440" y="308"/>
                  <a:pt x="357" y="329"/>
                  <a:pt x="285" y="367"/>
                </a:cubicBezTo>
                <a:lnTo>
                  <a:pt x="282" y="368"/>
                </a:lnTo>
                <a:lnTo>
                  <a:pt x="279" y="367"/>
                </a:lnTo>
                <a:cubicBezTo>
                  <a:pt x="207" y="329"/>
                  <a:pt x="124" y="308"/>
                  <a:pt x="46" y="308"/>
                </a:cubicBezTo>
                <a:cubicBezTo>
                  <a:pt x="40" y="308"/>
                  <a:pt x="34" y="308"/>
                  <a:pt x="28" y="309"/>
                </a:cubicBezTo>
                <a:lnTo>
                  <a:pt x="20" y="309"/>
                </a:lnTo>
                <a:lnTo>
                  <a:pt x="20" y="27"/>
                </a:lnTo>
                <a:cubicBezTo>
                  <a:pt x="13" y="27"/>
                  <a:pt x="6" y="27"/>
                  <a:pt x="0" y="27"/>
                </a:cubicBezTo>
                <a:lnTo>
                  <a:pt x="0" y="320"/>
                </a:lnTo>
                <a:cubicBezTo>
                  <a:pt x="94" y="317"/>
                  <a:pt x="194" y="338"/>
                  <a:pt x="282" y="376"/>
                </a:cubicBezTo>
                <a:cubicBezTo>
                  <a:pt x="370" y="338"/>
                  <a:pt x="470" y="317"/>
                  <a:pt x="564" y="320"/>
                </a:cubicBezTo>
                <a:lnTo>
                  <a:pt x="564" y="27"/>
                </a:lnTo>
                <a:cubicBezTo>
                  <a:pt x="558" y="27"/>
                  <a:pt x="551" y="27"/>
                  <a:pt x="544" y="27"/>
                </a:cubicBezTo>
                <a:close/>
                <a:moveTo>
                  <a:pt x="272" y="319"/>
                </a:moveTo>
                <a:lnTo>
                  <a:pt x="272" y="63"/>
                </a:lnTo>
                <a:cubicBezTo>
                  <a:pt x="212" y="22"/>
                  <a:pt x="142" y="0"/>
                  <a:pt x="77" y="1"/>
                </a:cubicBezTo>
                <a:lnTo>
                  <a:pt x="77" y="269"/>
                </a:lnTo>
                <a:cubicBezTo>
                  <a:pt x="79" y="269"/>
                  <a:pt x="82" y="269"/>
                  <a:pt x="84" y="269"/>
                </a:cubicBezTo>
                <a:cubicBezTo>
                  <a:pt x="147" y="269"/>
                  <a:pt x="214" y="287"/>
                  <a:pt x="272" y="319"/>
                </a:cubicBezTo>
                <a:close/>
                <a:moveTo>
                  <a:pt x="487" y="269"/>
                </a:moveTo>
                <a:lnTo>
                  <a:pt x="487" y="1"/>
                </a:lnTo>
                <a:cubicBezTo>
                  <a:pt x="422" y="0"/>
                  <a:pt x="352" y="22"/>
                  <a:pt x="292" y="63"/>
                </a:cubicBezTo>
                <a:lnTo>
                  <a:pt x="292" y="319"/>
                </a:lnTo>
                <a:cubicBezTo>
                  <a:pt x="350" y="287"/>
                  <a:pt x="417" y="269"/>
                  <a:pt x="480" y="269"/>
                </a:cubicBezTo>
                <a:cubicBezTo>
                  <a:pt x="482" y="269"/>
                  <a:pt x="485" y="269"/>
                  <a:pt x="487" y="269"/>
                </a:cubicBezTo>
                <a:close/>
                <a:moveTo>
                  <a:pt x="282" y="361"/>
                </a:moveTo>
                <a:cubicBezTo>
                  <a:pt x="362" y="318"/>
                  <a:pt x="451" y="299"/>
                  <a:pt x="531" y="302"/>
                </a:cubicBezTo>
                <a:lnTo>
                  <a:pt x="531" y="5"/>
                </a:lnTo>
                <a:cubicBezTo>
                  <a:pt x="521" y="5"/>
                  <a:pt x="511" y="5"/>
                  <a:pt x="501" y="5"/>
                </a:cubicBezTo>
                <a:lnTo>
                  <a:pt x="501" y="283"/>
                </a:lnTo>
                <a:lnTo>
                  <a:pt x="493" y="282"/>
                </a:lnTo>
                <a:cubicBezTo>
                  <a:pt x="488" y="282"/>
                  <a:pt x="483" y="282"/>
                  <a:pt x="478" y="282"/>
                </a:cubicBezTo>
                <a:cubicBezTo>
                  <a:pt x="414" y="282"/>
                  <a:pt x="346" y="301"/>
                  <a:pt x="287" y="337"/>
                </a:cubicBezTo>
                <a:lnTo>
                  <a:pt x="282" y="340"/>
                </a:lnTo>
                <a:lnTo>
                  <a:pt x="277" y="337"/>
                </a:lnTo>
                <a:cubicBezTo>
                  <a:pt x="218" y="301"/>
                  <a:pt x="150" y="282"/>
                  <a:pt x="86" y="282"/>
                </a:cubicBezTo>
                <a:cubicBezTo>
                  <a:pt x="81" y="282"/>
                  <a:pt x="76" y="282"/>
                  <a:pt x="71" y="282"/>
                </a:cubicBezTo>
                <a:lnTo>
                  <a:pt x="63" y="283"/>
                </a:lnTo>
                <a:lnTo>
                  <a:pt x="63" y="5"/>
                </a:lnTo>
                <a:cubicBezTo>
                  <a:pt x="53" y="5"/>
                  <a:pt x="43" y="5"/>
                  <a:pt x="33" y="5"/>
                </a:cubicBezTo>
                <a:lnTo>
                  <a:pt x="33" y="302"/>
                </a:lnTo>
                <a:cubicBezTo>
                  <a:pt x="113" y="299"/>
                  <a:pt x="202" y="318"/>
                  <a:pt x="282" y="361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1" name="TextBox 26"/>
          <p:cNvSpPr txBox="1"/>
          <p:nvPr/>
        </p:nvSpPr>
        <p:spPr>
          <a:xfrm>
            <a:off x="14146653" y="8428235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3" name="矩形 2"/>
          <p:cNvSpPr/>
          <p:nvPr/>
        </p:nvSpPr>
        <p:spPr>
          <a:xfrm>
            <a:off x="3276984" y="1517311"/>
            <a:ext cx="820218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通道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 channel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）又称通道处理器，是一种能执行有限指令集的专用处理器，它通过执行存储在内存中的固定或由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设置的通道程序来控制设备的输入输出操作。 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963564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通道控制方式 </a:t>
            </a:r>
          </a:p>
        </p:txBody>
      </p:sp>
      <p:grpSp>
        <p:nvGrpSpPr>
          <p:cNvPr id="2" name="组合 7"/>
          <p:cNvGrpSpPr/>
          <p:nvPr/>
        </p:nvGrpSpPr>
        <p:grpSpPr>
          <a:xfrm>
            <a:off x="353426" y="335487"/>
            <a:ext cx="438352" cy="621987"/>
            <a:chOff x="265635" y="269251"/>
            <a:chExt cx="438352" cy="621987"/>
          </a:xfrm>
        </p:grpSpPr>
        <p:sp>
          <p:nvSpPr>
            <p:cNvPr id="9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0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  <p:extLst>
      <p:ext uri="{BB962C8B-B14F-4D97-AF65-F5344CB8AC3E}">
        <p14:creationId xmlns:p14="http://schemas.microsoft.com/office/powerpoint/2010/main" val="1681397428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32478" y="22858"/>
            <a:ext cx="11287859" cy="1325563"/>
          </a:xfrm>
        </p:spPr>
        <p:txBody>
          <a:bodyPr>
            <a:noAutofit/>
          </a:bodyPr>
          <a:lstStyle/>
          <a:p>
            <a:b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通道也是一个独立的控制部件，且比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控制器更进了一步：</a:t>
            </a:r>
            <a:b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980" y="1876431"/>
            <a:ext cx="10379599" cy="1448515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一方面它是一个处理器，有有限的指令集，能够执行程序；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3"/>
          <p:cNvGrpSpPr/>
          <p:nvPr/>
        </p:nvGrpSpPr>
        <p:grpSpPr>
          <a:xfrm>
            <a:off x="422340" y="330220"/>
            <a:ext cx="438352" cy="621987"/>
            <a:chOff x="265635" y="269251"/>
            <a:chExt cx="438352" cy="621987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sp>
        <p:nvSpPr>
          <p:cNvPr id="8" name="Freeform 14"/>
          <p:cNvSpPr>
            <a:spLocks/>
          </p:cNvSpPr>
          <p:nvPr/>
        </p:nvSpPr>
        <p:spPr bwMode="auto">
          <a:xfrm>
            <a:off x="455670" y="1965355"/>
            <a:ext cx="646909" cy="646486"/>
          </a:xfrm>
          <a:custGeom>
            <a:avLst/>
            <a:gdLst>
              <a:gd name="T0" fmla="*/ 3227 w 3227"/>
              <a:gd name="T1" fmla="*/ 1634 h 3227"/>
              <a:gd name="T2" fmla="*/ 1614 w 3227"/>
              <a:gd name="T3" fmla="*/ 3227 h 3227"/>
              <a:gd name="T4" fmla="*/ 0 w 3227"/>
              <a:gd name="T5" fmla="*/ 1613 h 3227"/>
              <a:gd name="T6" fmla="*/ 1593 w 3227"/>
              <a:gd name="T7" fmla="*/ 0 h 3227"/>
              <a:gd name="T8" fmla="*/ 1593 w 3227"/>
              <a:gd name="T9" fmla="*/ 0 h 3227"/>
              <a:gd name="T10" fmla="*/ 1614 w 3227"/>
              <a:gd name="T11" fmla="*/ 0 h 3227"/>
              <a:gd name="T12" fmla="*/ 3227 w 3227"/>
              <a:gd name="T13" fmla="*/ 0 h 3227"/>
              <a:gd name="T14" fmla="*/ 3227 w 3227"/>
              <a:gd name="T15" fmla="*/ 1613 h 3227"/>
              <a:gd name="T16" fmla="*/ 3227 w 3227"/>
              <a:gd name="T17" fmla="*/ 1634 h 3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27" h="3227">
                <a:moveTo>
                  <a:pt x="3227" y="1634"/>
                </a:moveTo>
                <a:cubicBezTo>
                  <a:pt x="3216" y="2515"/>
                  <a:pt x="2498" y="3227"/>
                  <a:pt x="1614" y="3227"/>
                </a:cubicBezTo>
                <a:cubicBezTo>
                  <a:pt x="723" y="3227"/>
                  <a:pt x="0" y="2504"/>
                  <a:pt x="0" y="1613"/>
                </a:cubicBezTo>
                <a:cubicBezTo>
                  <a:pt x="0" y="729"/>
                  <a:pt x="712" y="11"/>
                  <a:pt x="1593" y="0"/>
                </a:cubicBezTo>
                <a:lnTo>
                  <a:pt x="1593" y="0"/>
                </a:lnTo>
                <a:lnTo>
                  <a:pt x="1614" y="0"/>
                </a:lnTo>
                <a:lnTo>
                  <a:pt x="3227" y="0"/>
                </a:lnTo>
                <a:lnTo>
                  <a:pt x="3227" y="1613"/>
                </a:lnTo>
                <a:lnTo>
                  <a:pt x="3227" y="1634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>
              <a:solidFill>
                <a:schemeClr val="accent1"/>
              </a:solidFill>
            </a:endParaRPr>
          </a:p>
        </p:txBody>
      </p:sp>
      <p:sp>
        <p:nvSpPr>
          <p:cNvPr id="9" name="Freeform 14"/>
          <p:cNvSpPr>
            <a:spLocks/>
          </p:cNvSpPr>
          <p:nvPr/>
        </p:nvSpPr>
        <p:spPr bwMode="auto">
          <a:xfrm>
            <a:off x="464184" y="3864109"/>
            <a:ext cx="646909" cy="646486"/>
          </a:xfrm>
          <a:custGeom>
            <a:avLst/>
            <a:gdLst>
              <a:gd name="T0" fmla="*/ 3227 w 3227"/>
              <a:gd name="T1" fmla="*/ 1634 h 3227"/>
              <a:gd name="T2" fmla="*/ 1614 w 3227"/>
              <a:gd name="T3" fmla="*/ 3227 h 3227"/>
              <a:gd name="T4" fmla="*/ 0 w 3227"/>
              <a:gd name="T5" fmla="*/ 1613 h 3227"/>
              <a:gd name="T6" fmla="*/ 1593 w 3227"/>
              <a:gd name="T7" fmla="*/ 0 h 3227"/>
              <a:gd name="T8" fmla="*/ 1593 w 3227"/>
              <a:gd name="T9" fmla="*/ 0 h 3227"/>
              <a:gd name="T10" fmla="*/ 1614 w 3227"/>
              <a:gd name="T11" fmla="*/ 0 h 3227"/>
              <a:gd name="T12" fmla="*/ 3227 w 3227"/>
              <a:gd name="T13" fmla="*/ 0 h 3227"/>
              <a:gd name="T14" fmla="*/ 3227 w 3227"/>
              <a:gd name="T15" fmla="*/ 1613 h 3227"/>
              <a:gd name="T16" fmla="*/ 3227 w 3227"/>
              <a:gd name="T17" fmla="*/ 1634 h 3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27" h="3227">
                <a:moveTo>
                  <a:pt x="3227" y="1634"/>
                </a:moveTo>
                <a:cubicBezTo>
                  <a:pt x="3216" y="2515"/>
                  <a:pt x="2498" y="3227"/>
                  <a:pt x="1614" y="3227"/>
                </a:cubicBezTo>
                <a:cubicBezTo>
                  <a:pt x="723" y="3227"/>
                  <a:pt x="0" y="2504"/>
                  <a:pt x="0" y="1613"/>
                </a:cubicBezTo>
                <a:cubicBezTo>
                  <a:pt x="0" y="729"/>
                  <a:pt x="712" y="11"/>
                  <a:pt x="1593" y="0"/>
                </a:cubicBezTo>
                <a:lnTo>
                  <a:pt x="1593" y="0"/>
                </a:lnTo>
                <a:lnTo>
                  <a:pt x="1614" y="0"/>
                </a:lnTo>
                <a:lnTo>
                  <a:pt x="3227" y="0"/>
                </a:lnTo>
                <a:lnTo>
                  <a:pt x="3227" y="1613"/>
                </a:lnTo>
                <a:lnTo>
                  <a:pt x="3227" y="1634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en-US" altLang="zh-CN" sz="1799" dirty="0">
              <a:solidFill>
                <a:schemeClr val="accent1"/>
              </a:solidFill>
            </a:endParaRPr>
          </a:p>
          <a:p>
            <a:endParaRPr lang="en-US" altLang="zh-CN" sz="1799" dirty="0">
              <a:solidFill>
                <a:schemeClr val="accent1"/>
              </a:solidFill>
            </a:endParaRPr>
          </a:p>
          <a:p>
            <a:endParaRPr lang="en-US" altLang="zh-CN" sz="1799" dirty="0">
              <a:solidFill>
                <a:schemeClr val="accent1"/>
              </a:solidFill>
            </a:endParaRPr>
          </a:p>
          <a:p>
            <a:endParaRPr lang="en-US" altLang="zh-CN" sz="1799" dirty="0">
              <a:solidFill>
                <a:schemeClr val="accent1"/>
              </a:solidFill>
            </a:endParaRPr>
          </a:p>
          <a:p>
            <a:endParaRPr lang="en-US" altLang="zh-CN" sz="1799" dirty="0">
              <a:solidFill>
                <a:schemeClr val="accent1"/>
              </a:solidFill>
            </a:endParaRPr>
          </a:p>
          <a:p>
            <a:endParaRPr lang="zh-CN" altLang="en-US" sz="1799" dirty="0">
              <a:solidFill>
                <a:schemeClr val="accent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98076" y="2025911"/>
            <a:ext cx="41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52660" y="3884798"/>
            <a:ext cx="41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34303" y="4865760"/>
            <a:ext cx="416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31507" y="3676537"/>
            <a:ext cx="912731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另一方面它控制灵活，可以适应不同工作方式、不同速度要求和不同数据格式的不同种类的设备的要求。 </a:t>
            </a:r>
          </a:p>
          <a:p>
            <a:pPr marL="0" lvl="1">
              <a:lnSpc>
                <a:spcPct val="150000"/>
              </a:lnSpc>
            </a:pP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3964083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1434609" y="1833034"/>
            <a:ext cx="9313819" cy="368458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0089D2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409605" y="1769534"/>
            <a:ext cx="9313819" cy="3684587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 5"/>
          <p:cNvSpPr>
            <a:spLocks noChangeArrowheads="1"/>
          </p:cNvSpPr>
          <p:nvPr/>
        </p:nvSpPr>
        <p:spPr bwMode="auto">
          <a:xfrm>
            <a:off x="1427165" y="1807634"/>
            <a:ext cx="9337675" cy="3684587"/>
          </a:xfrm>
          <a:prstGeom prst="rect">
            <a:avLst/>
          </a:prstGeom>
          <a:noFill/>
          <a:ln w="19050">
            <a:solidFill>
              <a:srgbClr val="0089D2"/>
            </a:solidFill>
            <a:bevel/>
            <a:headEnd/>
            <a:tailEnd/>
          </a:ln>
        </p:spPr>
        <p:txBody>
          <a:bodyPr lIns="91424" tIns="45713" rIns="91424" bIns="45713" anchor="ctr"/>
          <a:lstStyle/>
          <a:p>
            <a:pPr algn="ctr"/>
            <a:endParaRPr lang="zh-CN" altLang="zh-CN" sz="240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1134046" y="1769534"/>
            <a:ext cx="9453743" cy="6130101"/>
          </a:xfrm>
          <a:prstGeom prst="rect">
            <a:avLst/>
          </a:prstGeom>
          <a:noFill/>
          <a:ln w="9525" cap="flat" cmpd="sng">
            <a:noFill/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6736" tIns="48368" rIns="96736" bIns="48368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500"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lvl="1">
              <a:lnSpc>
                <a:spcPct val="200000"/>
              </a:lnSpc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按通道的数据传输及工作方式划分，通道可分成字节多路通道、选择通道和数组多路通道三种类型。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一个机器系统可以兼有三种通道，也可以只包含其 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中一种或两种，以适应不同种类设备的需要。</a:t>
            </a:r>
          </a:p>
          <a:p>
            <a:pPr marL="0" lvl="1">
              <a:lnSpc>
                <a:spcPct val="200000"/>
              </a:lnSpc>
            </a:pP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buNone/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buNone/>
            </a:pP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Picture 6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 rot="854817">
            <a:off x="8974774" y="5241992"/>
            <a:ext cx="1658468" cy="1050719"/>
          </a:xfrm>
          <a:prstGeom prst="rect">
            <a:avLst/>
          </a:prstGeom>
          <a:solidFill>
            <a:srgbClr val="FFFFFF">
              <a:shade val="85000"/>
            </a:srgbClr>
          </a:solidFill>
          <a:ln w="1143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/>
        </p:spPr>
      </p:pic>
      <p:pic>
        <p:nvPicPr>
          <p:cNvPr id="23" name="Picture 172"/>
          <p:cNvPicPr>
            <a:picLocks noChangeAspect="1" noChangeArrowheads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29707" y="127871"/>
            <a:ext cx="2206912" cy="919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矩形 23"/>
          <p:cNvSpPr/>
          <p:nvPr/>
        </p:nvSpPr>
        <p:spPr>
          <a:xfrm>
            <a:off x="0" y="6748043"/>
            <a:ext cx="12192000" cy="134292"/>
          </a:xfrm>
          <a:prstGeom prst="rect">
            <a:avLst/>
          </a:prstGeom>
          <a:solidFill>
            <a:srgbClr val="04BE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3425202" y="790575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延迟符</a:t>
            </a:r>
          </a:p>
        </p:txBody>
      </p:sp>
      <p:sp>
        <p:nvSpPr>
          <p:cNvPr id="2" name="矩形 1"/>
          <p:cNvSpPr/>
          <p:nvPr/>
        </p:nvSpPr>
        <p:spPr>
          <a:xfrm>
            <a:off x="1427165" y="1130905"/>
            <a:ext cx="30267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1C0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3200" b="1" dirty="0">
                <a:solidFill>
                  <a:srgbClr val="01C0B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通道的种类 </a:t>
            </a:r>
          </a:p>
        </p:txBody>
      </p:sp>
    </p:spTree>
    <p:extLst>
      <p:ext uri="{BB962C8B-B14F-4D97-AF65-F5344CB8AC3E}">
        <p14:creationId xmlns:p14="http://schemas.microsoft.com/office/powerpoint/2010/main" val="555692412"/>
      </p:ext>
    </p:extLst>
  </p:cSld>
  <p:clrMapOvr>
    <a:masterClrMapping/>
  </p:clrMapOvr>
  <p:transition spd="slow" advTm="0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Line 5"/>
          <p:cNvSpPr>
            <a:spLocks noChangeShapeType="1"/>
          </p:cNvSpPr>
          <p:nvPr/>
        </p:nvSpPr>
        <p:spPr bwMode="auto">
          <a:xfrm>
            <a:off x="1549982" y="1231928"/>
            <a:ext cx="0" cy="4671567"/>
          </a:xfrm>
          <a:prstGeom prst="line">
            <a:avLst/>
          </a:prstGeom>
          <a:noFill/>
          <a:ln w="12700" cap="flat">
            <a:solidFill>
              <a:srgbClr val="2E2C2C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2" name="Freeform 9"/>
          <p:cNvSpPr>
            <a:spLocks/>
          </p:cNvSpPr>
          <p:nvPr/>
        </p:nvSpPr>
        <p:spPr bwMode="auto">
          <a:xfrm>
            <a:off x="1886401" y="1152581"/>
            <a:ext cx="165036" cy="207882"/>
          </a:xfrm>
          <a:custGeom>
            <a:avLst/>
            <a:gdLst>
              <a:gd name="T0" fmla="*/ 184 w 205"/>
              <a:gd name="T1" fmla="*/ 109 h 262"/>
              <a:gd name="T2" fmla="*/ 109 w 205"/>
              <a:gd name="T3" fmla="*/ 61 h 262"/>
              <a:gd name="T4" fmla="*/ 32 w 205"/>
              <a:gd name="T5" fmla="*/ 11 h 262"/>
              <a:gd name="T6" fmla="*/ 0 w 205"/>
              <a:gd name="T7" fmla="*/ 34 h 262"/>
              <a:gd name="T8" fmla="*/ 0 w 205"/>
              <a:gd name="T9" fmla="*/ 131 h 262"/>
              <a:gd name="T10" fmla="*/ 0 w 205"/>
              <a:gd name="T11" fmla="*/ 230 h 262"/>
              <a:gd name="T12" fmla="*/ 34 w 205"/>
              <a:gd name="T13" fmla="*/ 250 h 262"/>
              <a:gd name="T14" fmla="*/ 109 w 205"/>
              <a:gd name="T15" fmla="*/ 202 h 262"/>
              <a:gd name="T16" fmla="*/ 186 w 205"/>
              <a:gd name="T17" fmla="*/ 152 h 262"/>
              <a:gd name="T18" fmla="*/ 184 w 205"/>
              <a:gd name="T19" fmla="*/ 109 h 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5" h="262">
                <a:moveTo>
                  <a:pt x="184" y="109"/>
                </a:moveTo>
                <a:lnTo>
                  <a:pt x="109" y="61"/>
                </a:lnTo>
                <a:cubicBezTo>
                  <a:pt x="83" y="44"/>
                  <a:pt x="58" y="28"/>
                  <a:pt x="32" y="11"/>
                </a:cubicBezTo>
                <a:cubicBezTo>
                  <a:pt x="11" y="0"/>
                  <a:pt x="0" y="9"/>
                  <a:pt x="0" y="34"/>
                </a:cubicBezTo>
                <a:lnTo>
                  <a:pt x="0" y="131"/>
                </a:lnTo>
                <a:cubicBezTo>
                  <a:pt x="0" y="164"/>
                  <a:pt x="0" y="197"/>
                  <a:pt x="0" y="230"/>
                </a:cubicBezTo>
                <a:cubicBezTo>
                  <a:pt x="2" y="256"/>
                  <a:pt x="14" y="262"/>
                  <a:pt x="34" y="250"/>
                </a:cubicBezTo>
                <a:lnTo>
                  <a:pt x="109" y="202"/>
                </a:lnTo>
                <a:cubicBezTo>
                  <a:pt x="135" y="185"/>
                  <a:pt x="160" y="169"/>
                  <a:pt x="186" y="152"/>
                </a:cubicBezTo>
                <a:cubicBezTo>
                  <a:pt x="205" y="137"/>
                  <a:pt x="203" y="122"/>
                  <a:pt x="184" y="109"/>
                </a:cubicBezTo>
                <a:close/>
              </a:path>
            </a:pathLst>
          </a:custGeom>
          <a:solidFill>
            <a:srgbClr val="01C0B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73" name="Freeform 11"/>
          <p:cNvSpPr>
            <a:spLocks/>
          </p:cNvSpPr>
          <p:nvPr/>
        </p:nvSpPr>
        <p:spPr bwMode="auto">
          <a:xfrm>
            <a:off x="1886401" y="2811371"/>
            <a:ext cx="165036" cy="206294"/>
          </a:xfrm>
          <a:custGeom>
            <a:avLst/>
            <a:gdLst>
              <a:gd name="T0" fmla="*/ 184 w 205"/>
              <a:gd name="T1" fmla="*/ 108 h 261"/>
              <a:gd name="T2" fmla="*/ 109 w 205"/>
              <a:gd name="T3" fmla="*/ 60 h 261"/>
              <a:gd name="T4" fmla="*/ 32 w 205"/>
              <a:gd name="T5" fmla="*/ 10 h 261"/>
              <a:gd name="T6" fmla="*/ 0 w 205"/>
              <a:gd name="T7" fmla="*/ 33 h 261"/>
              <a:gd name="T8" fmla="*/ 0 w 205"/>
              <a:gd name="T9" fmla="*/ 130 h 261"/>
              <a:gd name="T10" fmla="*/ 0 w 205"/>
              <a:gd name="T11" fmla="*/ 229 h 261"/>
              <a:gd name="T12" fmla="*/ 34 w 205"/>
              <a:gd name="T13" fmla="*/ 249 h 261"/>
              <a:gd name="T14" fmla="*/ 109 w 205"/>
              <a:gd name="T15" fmla="*/ 201 h 261"/>
              <a:gd name="T16" fmla="*/ 186 w 205"/>
              <a:gd name="T17" fmla="*/ 151 h 261"/>
              <a:gd name="T18" fmla="*/ 184 w 205"/>
              <a:gd name="T19" fmla="*/ 108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5" h="261">
                <a:moveTo>
                  <a:pt x="184" y="108"/>
                </a:moveTo>
                <a:lnTo>
                  <a:pt x="109" y="60"/>
                </a:lnTo>
                <a:cubicBezTo>
                  <a:pt x="83" y="43"/>
                  <a:pt x="58" y="27"/>
                  <a:pt x="32" y="10"/>
                </a:cubicBezTo>
                <a:cubicBezTo>
                  <a:pt x="11" y="0"/>
                  <a:pt x="0" y="8"/>
                  <a:pt x="0" y="33"/>
                </a:cubicBezTo>
                <a:lnTo>
                  <a:pt x="0" y="130"/>
                </a:lnTo>
                <a:cubicBezTo>
                  <a:pt x="0" y="163"/>
                  <a:pt x="0" y="196"/>
                  <a:pt x="0" y="229"/>
                </a:cubicBezTo>
                <a:cubicBezTo>
                  <a:pt x="2" y="255"/>
                  <a:pt x="14" y="261"/>
                  <a:pt x="34" y="249"/>
                </a:cubicBezTo>
                <a:lnTo>
                  <a:pt x="109" y="201"/>
                </a:lnTo>
                <a:cubicBezTo>
                  <a:pt x="135" y="184"/>
                  <a:pt x="160" y="168"/>
                  <a:pt x="186" y="151"/>
                </a:cubicBezTo>
                <a:cubicBezTo>
                  <a:pt x="205" y="136"/>
                  <a:pt x="203" y="122"/>
                  <a:pt x="184" y="108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grpSp>
        <p:nvGrpSpPr>
          <p:cNvPr id="74" name="组合 73"/>
          <p:cNvGrpSpPr/>
          <p:nvPr/>
        </p:nvGrpSpPr>
        <p:grpSpPr>
          <a:xfrm>
            <a:off x="1169079" y="980732"/>
            <a:ext cx="717324" cy="523092"/>
            <a:chOff x="912759" y="1007596"/>
            <a:chExt cx="717604" cy="523296"/>
          </a:xfrm>
        </p:grpSpPr>
        <p:sp>
          <p:nvSpPr>
            <p:cNvPr id="75" name="Freeform 8"/>
            <p:cNvSpPr>
              <a:spLocks/>
            </p:cNvSpPr>
            <p:nvPr/>
          </p:nvSpPr>
          <p:spPr bwMode="auto">
            <a:xfrm>
              <a:off x="985838" y="1052513"/>
              <a:ext cx="615950" cy="433387"/>
            </a:xfrm>
            <a:custGeom>
              <a:avLst/>
              <a:gdLst>
                <a:gd name="T0" fmla="*/ 43 w 764"/>
                <a:gd name="T1" fmla="*/ 0 h 549"/>
                <a:gd name="T2" fmla="*/ 721 w 764"/>
                <a:gd name="T3" fmla="*/ 0 h 549"/>
                <a:gd name="T4" fmla="*/ 764 w 764"/>
                <a:gd name="T5" fmla="*/ 43 h 549"/>
                <a:gd name="T6" fmla="*/ 764 w 764"/>
                <a:gd name="T7" fmla="*/ 506 h 549"/>
                <a:gd name="T8" fmla="*/ 721 w 764"/>
                <a:gd name="T9" fmla="*/ 549 h 549"/>
                <a:gd name="T10" fmla="*/ 43 w 764"/>
                <a:gd name="T11" fmla="*/ 549 h 549"/>
                <a:gd name="T12" fmla="*/ 0 w 764"/>
                <a:gd name="T13" fmla="*/ 506 h 549"/>
                <a:gd name="T14" fmla="*/ 0 w 764"/>
                <a:gd name="T15" fmla="*/ 43 h 549"/>
                <a:gd name="T16" fmla="*/ 43 w 764"/>
                <a:gd name="T17" fmla="*/ 0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4" h="549">
                  <a:moveTo>
                    <a:pt x="43" y="0"/>
                  </a:moveTo>
                  <a:lnTo>
                    <a:pt x="721" y="0"/>
                  </a:lnTo>
                  <a:cubicBezTo>
                    <a:pt x="744" y="0"/>
                    <a:pt x="764" y="20"/>
                    <a:pt x="764" y="43"/>
                  </a:cubicBezTo>
                  <a:lnTo>
                    <a:pt x="764" y="506"/>
                  </a:lnTo>
                  <a:cubicBezTo>
                    <a:pt x="764" y="530"/>
                    <a:pt x="744" y="549"/>
                    <a:pt x="721" y="549"/>
                  </a:cubicBezTo>
                  <a:lnTo>
                    <a:pt x="43" y="549"/>
                  </a:lnTo>
                  <a:cubicBezTo>
                    <a:pt x="20" y="549"/>
                    <a:pt x="0" y="530"/>
                    <a:pt x="0" y="506"/>
                  </a:cubicBezTo>
                  <a:lnTo>
                    <a:pt x="0" y="43"/>
                  </a:lnTo>
                  <a:cubicBezTo>
                    <a:pt x="0" y="20"/>
                    <a:pt x="20" y="0"/>
                    <a:pt x="43" y="0"/>
                  </a:cubicBezTo>
                  <a:close/>
                </a:path>
              </a:pathLst>
            </a:custGeom>
            <a:solidFill>
              <a:srgbClr val="E855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912759" y="1007596"/>
              <a:ext cx="717604" cy="523296"/>
            </a:xfrm>
            <a:prstGeom prst="rect">
              <a:avLst/>
            </a:prstGeom>
            <a:solidFill>
              <a:srgbClr val="01C0B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799" dirty="0">
                  <a:solidFill>
                    <a:schemeClr val="bg1"/>
                  </a:solidFill>
                  <a:latin typeface="+mn-ea"/>
                </a:rPr>
                <a:t>01</a:t>
              </a:r>
              <a:endParaRPr lang="zh-CN" altLang="en-US" sz="2799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1169079" y="2648873"/>
            <a:ext cx="717324" cy="523092"/>
            <a:chOff x="912759" y="1884191"/>
            <a:chExt cx="717604" cy="523296"/>
          </a:xfrm>
        </p:grpSpPr>
        <p:sp>
          <p:nvSpPr>
            <p:cNvPr id="80" name="Freeform 10"/>
            <p:cNvSpPr>
              <a:spLocks/>
            </p:cNvSpPr>
            <p:nvPr/>
          </p:nvSpPr>
          <p:spPr bwMode="auto">
            <a:xfrm>
              <a:off x="985838" y="1918165"/>
              <a:ext cx="615950" cy="433387"/>
            </a:xfrm>
            <a:custGeom>
              <a:avLst/>
              <a:gdLst>
                <a:gd name="T0" fmla="*/ 43 w 764"/>
                <a:gd name="T1" fmla="*/ 0 h 549"/>
                <a:gd name="T2" fmla="*/ 721 w 764"/>
                <a:gd name="T3" fmla="*/ 0 h 549"/>
                <a:gd name="T4" fmla="*/ 764 w 764"/>
                <a:gd name="T5" fmla="*/ 44 h 549"/>
                <a:gd name="T6" fmla="*/ 764 w 764"/>
                <a:gd name="T7" fmla="*/ 506 h 549"/>
                <a:gd name="T8" fmla="*/ 721 w 764"/>
                <a:gd name="T9" fmla="*/ 549 h 549"/>
                <a:gd name="T10" fmla="*/ 43 w 764"/>
                <a:gd name="T11" fmla="*/ 549 h 549"/>
                <a:gd name="T12" fmla="*/ 0 w 764"/>
                <a:gd name="T13" fmla="*/ 506 h 549"/>
                <a:gd name="T14" fmla="*/ 0 w 764"/>
                <a:gd name="T15" fmla="*/ 44 h 549"/>
                <a:gd name="T16" fmla="*/ 43 w 764"/>
                <a:gd name="T17" fmla="*/ 0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4" h="549">
                  <a:moveTo>
                    <a:pt x="43" y="0"/>
                  </a:moveTo>
                  <a:lnTo>
                    <a:pt x="721" y="0"/>
                  </a:lnTo>
                  <a:cubicBezTo>
                    <a:pt x="744" y="0"/>
                    <a:pt x="764" y="20"/>
                    <a:pt x="764" y="44"/>
                  </a:cubicBezTo>
                  <a:lnTo>
                    <a:pt x="764" y="506"/>
                  </a:lnTo>
                  <a:cubicBezTo>
                    <a:pt x="764" y="530"/>
                    <a:pt x="744" y="549"/>
                    <a:pt x="721" y="549"/>
                  </a:cubicBezTo>
                  <a:lnTo>
                    <a:pt x="43" y="549"/>
                  </a:lnTo>
                  <a:cubicBezTo>
                    <a:pt x="20" y="549"/>
                    <a:pt x="0" y="530"/>
                    <a:pt x="0" y="506"/>
                  </a:cubicBezTo>
                  <a:lnTo>
                    <a:pt x="0" y="44"/>
                  </a:lnTo>
                  <a:cubicBezTo>
                    <a:pt x="0" y="20"/>
                    <a:pt x="20" y="0"/>
                    <a:pt x="43" y="0"/>
                  </a:cubicBezTo>
                  <a:close/>
                </a:path>
              </a:pathLst>
            </a:custGeom>
            <a:solidFill>
              <a:srgbClr val="E855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912759" y="1884191"/>
              <a:ext cx="717604" cy="523296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799" dirty="0">
                  <a:solidFill>
                    <a:schemeClr val="bg1"/>
                  </a:solidFill>
                  <a:latin typeface="+mn-ea"/>
                </a:rPr>
                <a:t>02</a:t>
              </a:r>
              <a:endParaRPr lang="zh-CN" altLang="en-US" sz="2799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14403327" y="814115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29" name="Freeform 11"/>
          <p:cNvSpPr>
            <a:spLocks/>
          </p:cNvSpPr>
          <p:nvPr/>
        </p:nvSpPr>
        <p:spPr bwMode="auto">
          <a:xfrm>
            <a:off x="1857837" y="4642008"/>
            <a:ext cx="165036" cy="206294"/>
          </a:xfrm>
          <a:custGeom>
            <a:avLst/>
            <a:gdLst>
              <a:gd name="T0" fmla="*/ 184 w 205"/>
              <a:gd name="T1" fmla="*/ 108 h 261"/>
              <a:gd name="T2" fmla="*/ 109 w 205"/>
              <a:gd name="T3" fmla="*/ 60 h 261"/>
              <a:gd name="T4" fmla="*/ 32 w 205"/>
              <a:gd name="T5" fmla="*/ 10 h 261"/>
              <a:gd name="T6" fmla="*/ 0 w 205"/>
              <a:gd name="T7" fmla="*/ 33 h 261"/>
              <a:gd name="T8" fmla="*/ 0 w 205"/>
              <a:gd name="T9" fmla="*/ 130 h 261"/>
              <a:gd name="T10" fmla="*/ 0 w 205"/>
              <a:gd name="T11" fmla="*/ 229 h 261"/>
              <a:gd name="T12" fmla="*/ 34 w 205"/>
              <a:gd name="T13" fmla="*/ 249 h 261"/>
              <a:gd name="T14" fmla="*/ 109 w 205"/>
              <a:gd name="T15" fmla="*/ 201 h 261"/>
              <a:gd name="T16" fmla="*/ 186 w 205"/>
              <a:gd name="T17" fmla="*/ 151 h 261"/>
              <a:gd name="T18" fmla="*/ 184 w 205"/>
              <a:gd name="T19" fmla="*/ 108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05" h="261">
                <a:moveTo>
                  <a:pt x="184" y="108"/>
                </a:moveTo>
                <a:lnTo>
                  <a:pt x="109" y="60"/>
                </a:lnTo>
                <a:cubicBezTo>
                  <a:pt x="83" y="43"/>
                  <a:pt x="58" y="27"/>
                  <a:pt x="32" y="10"/>
                </a:cubicBezTo>
                <a:cubicBezTo>
                  <a:pt x="11" y="0"/>
                  <a:pt x="0" y="8"/>
                  <a:pt x="0" y="33"/>
                </a:cubicBezTo>
                <a:lnTo>
                  <a:pt x="0" y="130"/>
                </a:lnTo>
                <a:cubicBezTo>
                  <a:pt x="0" y="163"/>
                  <a:pt x="0" y="196"/>
                  <a:pt x="0" y="229"/>
                </a:cubicBezTo>
                <a:cubicBezTo>
                  <a:pt x="2" y="255"/>
                  <a:pt x="14" y="261"/>
                  <a:pt x="34" y="249"/>
                </a:cubicBezTo>
                <a:lnTo>
                  <a:pt x="109" y="201"/>
                </a:lnTo>
                <a:cubicBezTo>
                  <a:pt x="135" y="184"/>
                  <a:pt x="160" y="168"/>
                  <a:pt x="186" y="151"/>
                </a:cubicBezTo>
                <a:cubicBezTo>
                  <a:pt x="205" y="136"/>
                  <a:pt x="203" y="122"/>
                  <a:pt x="184" y="108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xtLst/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grpSp>
        <p:nvGrpSpPr>
          <p:cNvPr id="30" name="组合 29"/>
          <p:cNvGrpSpPr/>
          <p:nvPr/>
        </p:nvGrpSpPr>
        <p:grpSpPr>
          <a:xfrm>
            <a:off x="1140515" y="4479512"/>
            <a:ext cx="717324" cy="523092"/>
            <a:chOff x="912759" y="1884191"/>
            <a:chExt cx="717604" cy="523296"/>
          </a:xfrm>
        </p:grpSpPr>
        <p:sp>
          <p:nvSpPr>
            <p:cNvPr id="31" name="Freeform 10"/>
            <p:cNvSpPr>
              <a:spLocks/>
            </p:cNvSpPr>
            <p:nvPr/>
          </p:nvSpPr>
          <p:spPr bwMode="auto">
            <a:xfrm>
              <a:off x="985838" y="1918165"/>
              <a:ext cx="615950" cy="433387"/>
            </a:xfrm>
            <a:custGeom>
              <a:avLst/>
              <a:gdLst>
                <a:gd name="T0" fmla="*/ 43 w 764"/>
                <a:gd name="T1" fmla="*/ 0 h 549"/>
                <a:gd name="T2" fmla="*/ 721 w 764"/>
                <a:gd name="T3" fmla="*/ 0 h 549"/>
                <a:gd name="T4" fmla="*/ 764 w 764"/>
                <a:gd name="T5" fmla="*/ 44 h 549"/>
                <a:gd name="T6" fmla="*/ 764 w 764"/>
                <a:gd name="T7" fmla="*/ 506 h 549"/>
                <a:gd name="T8" fmla="*/ 721 w 764"/>
                <a:gd name="T9" fmla="*/ 549 h 549"/>
                <a:gd name="T10" fmla="*/ 43 w 764"/>
                <a:gd name="T11" fmla="*/ 549 h 549"/>
                <a:gd name="T12" fmla="*/ 0 w 764"/>
                <a:gd name="T13" fmla="*/ 506 h 549"/>
                <a:gd name="T14" fmla="*/ 0 w 764"/>
                <a:gd name="T15" fmla="*/ 44 h 549"/>
                <a:gd name="T16" fmla="*/ 43 w 764"/>
                <a:gd name="T17" fmla="*/ 0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4" h="549">
                  <a:moveTo>
                    <a:pt x="43" y="0"/>
                  </a:moveTo>
                  <a:lnTo>
                    <a:pt x="721" y="0"/>
                  </a:lnTo>
                  <a:cubicBezTo>
                    <a:pt x="744" y="0"/>
                    <a:pt x="764" y="20"/>
                    <a:pt x="764" y="44"/>
                  </a:cubicBezTo>
                  <a:lnTo>
                    <a:pt x="764" y="506"/>
                  </a:lnTo>
                  <a:cubicBezTo>
                    <a:pt x="764" y="530"/>
                    <a:pt x="744" y="549"/>
                    <a:pt x="721" y="549"/>
                  </a:cubicBezTo>
                  <a:lnTo>
                    <a:pt x="43" y="549"/>
                  </a:lnTo>
                  <a:cubicBezTo>
                    <a:pt x="20" y="549"/>
                    <a:pt x="0" y="530"/>
                    <a:pt x="0" y="506"/>
                  </a:cubicBezTo>
                  <a:lnTo>
                    <a:pt x="0" y="44"/>
                  </a:lnTo>
                  <a:cubicBezTo>
                    <a:pt x="0" y="20"/>
                    <a:pt x="20" y="0"/>
                    <a:pt x="43" y="0"/>
                  </a:cubicBezTo>
                  <a:close/>
                </a:path>
              </a:pathLst>
            </a:custGeom>
            <a:solidFill>
              <a:srgbClr val="E8550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04" tIns="45702" rIns="91404" bIns="45702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32" name="TextBox 19"/>
            <p:cNvSpPr txBox="1"/>
            <p:nvPr/>
          </p:nvSpPr>
          <p:spPr>
            <a:xfrm>
              <a:off x="912759" y="1884191"/>
              <a:ext cx="717604" cy="523296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799" dirty="0">
                  <a:solidFill>
                    <a:schemeClr val="bg1"/>
                  </a:solidFill>
                  <a:latin typeface="+mn-ea"/>
                </a:rPr>
                <a:t>03</a:t>
              </a:r>
              <a:endParaRPr lang="zh-CN" altLang="en-US" sz="2799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2470484" y="667965"/>
            <a:ext cx="845419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字节多路通道：字节多路通道用于连接多个慢速或中  速的设备，这些设备的数据传送以字节为单位。</a:t>
            </a:r>
          </a:p>
        </p:txBody>
      </p:sp>
      <p:sp>
        <p:nvSpPr>
          <p:cNvPr id="4" name="矩形 3"/>
          <p:cNvSpPr/>
          <p:nvPr/>
        </p:nvSpPr>
        <p:spPr>
          <a:xfrm>
            <a:off x="2470484" y="2479467"/>
            <a:ext cx="845419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通道以字节为单位轮流为多个设备服务，以提高通道的利用率</a:t>
            </a:r>
          </a:p>
        </p:txBody>
      </p:sp>
      <p:sp>
        <p:nvSpPr>
          <p:cNvPr id="8" name="矩形 7"/>
          <p:cNvSpPr/>
          <p:nvPr/>
        </p:nvSpPr>
        <p:spPr>
          <a:xfrm>
            <a:off x="2470484" y="4254193"/>
            <a:ext cx="845419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字节多路通道的操作模式有两种：字节交叉模式和猝发模式</a:t>
            </a:r>
          </a:p>
        </p:txBody>
      </p:sp>
    </p:spTree>
    <p:extLst>
      <p:ext uri="{BB962C8B-B14F-4D97-AF65-F5344CB8AC3E}">
        <p14:creationId xmlns:p14="http://schemas.microsoft.com/office/powerpoint/2010/main" val="3384014627"/>
      </p:ext>
    </p:extLst>
  </p:cSld>
  <p:clrMapOvr>
    <a:masterClrMapping/>
  </p:clrMapOvr>
  <p:transition spd="slow" advTm="0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875773" y="306697"/>
            <a:ext cx="5974331" cy="584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选择通道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65635" y="269251"/>
            <a:ext cx="438352" cy="621987"/>
            <a:chOff x="265635" y="269251"/>
            <a:chExt cx="438352" cy="621987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  <p:pic>
        <p:nvPicPr>
          <p:cNvPr id="5122" name="Picture 2" descr="E:\我的文档\商务图片\19147185_150127007000_2.jpg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34604" y="4149928"/>
            <a:ext cx="5022365" cy="2348892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E:\我的文档\商务图片\Nipic_1082507_20091207090526024812.jpg"/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228892" y="4149928"/>
            <a:ext cx="5110573" cy="2348892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83"/>
          <p:cNvSpPr>
            <a:spLocks noChangeArrowheads="1"/>
          </p:cNvSpPr>
          <p:nvPr/>
        </p:nvSpPr>
        <p:spPr bwMode="auto">
          <a:xfrm>
            <a:off x="1045556" y="1289258"/>
            <a:ext cx="10222393" cy="2689184"/>
          </a:xfrm>
          <a:prstGeom prst="rect">
            <a:avLst/>
          </a:prstGeom>
          <a:solidFill>
            <a:srgbClr val="F2F2F2"/>
          </a:solidFill>
          <a:ln w="9525" cmpd="sng">
            <a:solidFill>
              <a:schemeClr val="accent1"/>
            </a:solidFill>
            <a:miter lim="800000"/>
            <a:headEnd/>
            <a:tailEnd/>
          </a:ln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9" name="TextBox 84"/>
          <p:cNvSpPr txBox="1">
            <a:spLocks noChangeArrowheads="1"/>
          </p:cNvSpPr>
          <p:nvPr/>
        </p:nvSpPr>
        <p:spPr bwMode="auto">
          <a:xfrm>
            <a:off x="1034604" y="1289258"/>
            <a:ext cx="10013707" cy="3323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398" tIns="45699" rIns="91398" bIns="45699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lvl="1">
              <a:lnSpc>
                <a:spcPct val="150000"/>
              </a:lnSpc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选择通道：选择通道一次只与一个设备进行数据传输，直到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传输完成为止，然后为其他外围设备传输数据。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对于高速的设备，如磁盘等，要求较高的数据传输速度，它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们与主机之间可以采用选择通道。 </a:t>
            </a:r>
          </a:p>
          <a:p>
            <a:pPr lvl="1">
              <a:lnSpc>
                <a:spcPct val="150000"/>
              </a:lnSpc>
              <a:buNone/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Freeform 12"/>
          <p:cNvSpPr>
            <a:spLocks/>
          </p:cNvSpPr>
          <p:nvPr/>
        </p:nvSpPr>
        <p:spPr bwMode="auto">
          <a:xfrm>
            <a:off x="970969" y="1143266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rgbClr val="04BEB0"/>
          </a:solidFill>
          <a:ln>
            <a:noFill/>
          </a:ln>
          <a:extLst/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11" name="Freeform 12"/>
          <p:cNvSpPr>
            <a:spLocks/>
          </p:cNvSpPr>
          <p:nvPr/>
        </p:nvSpPr>
        <p:spPr bwMode="auto">
          <a:xfrm flipH="1" flipV="1">
            <a:off x="10847730" y="3534167"/>
            <a:ext cx="528432" cy="530018"/>
          </a:xfrm>
          <a:custGeom>
            <a:avLst/>
            <a:gdLst>
              <a:gd name="T0" fmla="*/ 0 w 1446"/>
              <a:gd name="T1" fmla="*/ 0 h 1446"/>
              <a:gd name="T2" fmla="*/ 1446 w 1446"/>
              <a:gd name="T3" fmla="*/ 0 h 1446"/>
              <a:gd name="T4" fmla="*/ 1446 w 1446"/>
              <a:gd name="T5" fmla="*/ 458 h 1446"/>
              <a:gd name="T6" fmla="*/ 438 w 1446"/>
              <a:gd name="T7" fmla="*/ 458 h 1446"/>
              <a:gd name="T8" fmla="*/ 438 w 1446"/>
              <a:gd name="T9" fmla="*/ 1446 h 1446"/>
              <a:gd name="T10" fmla="*/ 0 w 1446"/>
              <a:gd name="T11" fmla="*/ 1446 h 1446"/>
              <a:gd name="T12" fmla="*/ 0 w 1446"/>
              <a:gd name="T13" fmla="*/ 0 h 1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46" h="1446">
                <a:moveTo>
                  <a:pt x="0" y="0"/>
                </a:moveTo>
                <a:lnTo>
                  <a:pt x="1446" y="0"/>
                </a:lnTo>
                <a:lnTo>
                  <a:pt x="1446" y="458"/>
                </a:lnTo>
                <a:lnTo>
                  <a:pt x="438" y="458"/>
                </a:lnTo>
                <a:lnTo>
                  <a:pt x="438" y="1446"/>
                </a:lnTo>
                <a:lnTo>
                  <a:pt x="0" y="144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398" tIns="45699" rIns="91398" bIns="45699"/>
          <a:lstStyle/>
          <a:p>
            <a:endParaRPr lang="zh-CN" altLang="en-US" sz="1799"/>
          </a:p>
        </p:txBody>
      </p:sp>
      <p:sp>
        <p:nvSpPr>
          <p:cNvPr id="12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4186869370"/>
      </p:ext>
    </p:extLst>
  </p:cSld>
  <p:clrMapOvr>
    <a:masterClrMapping/>
  </p:clrMapOvr>
  <p:transition spd="slow" advTm="0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-22289" y="2164754"/>
            <a:ext cx="2735237" cy="2528499"/>
          </a:xfrm>
          <a:prstGeom prst="rect">
            <a:avLst/>
          </a:prstGeom>
          <a:solidFill>
            <a:srgbClr val="02B9E7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3" name="Oval 9"/>
          <p:cNvSpPr>
            <a:spLocks noChangeArrowheads="1"/>
          </p:cNvSpPr>
          <p:nvPr/>
        </p:nvSpPr>
        <p:spPr bwMode="auto">
          <a:xfrm>
            <a:off x="769489" y="2896757"/>
            <a:ext cx="1100235" cy="1108082"/>
          </a:xfrm>
          <a:prstGeom prst="ellipse">
            <a:avLst/>
          </a:prstGeom>
          <a:solidFill>
            <a:srgbClr val="FFFFFF"/>
          </a:solidFill>
          <a:ln w="10" cap="flat">
            <a:solidFill>
              <a:srgbClr val="FFFFFF"/>
            </a:solidFill>
            <a:prstDash val="solid"/>
            <a:miter lim="800000"/>
            <a:headEnd/>
            <a:tailEnd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43" name="TextBox 42"/>
          <p:cNvSpPr txBox="1"/>
          <p:nvPr/>
        </p:nvSpPr>
        <p:spPr>
          <a:xfrm>
            <a:off x="3122608" y="2027187"/>
            <a:ext cx="8652297" cy="2547643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数组多路通道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：以数组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数据块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为单位在若干高速传输操作之间进行交叉复用，数组多路通道既保留了选择通道高速传输的优点，又能同时为多个设备提供服务。  </a:t>
            </a:r>
          </a:p>
        </p:txBody>
      </p:sp>
      <p:sp>
        <p:nvSpPr>
          <p:cNvPr id="53" name="Freeform 40"/>
          <p:cNvSpPr>
            <a:spLocks noEditPoints="1"/>
          </p:cNvSpPr>
          <p:nvPr/>
        </p:nvSpPr>
        <p:spPr bwMode="auto">
          <a:xfrm>
            <a:off x="927247" y="3188714"/>
            <a:ext cx="784720" cy="524170"/>
          </a:xfrm>
          <a:custGeom>
            <a:avLst/>
            <a:gdLst>
              <a:gd name="T0" fmla="*/ 544 w 564"/>
              <a:gd name="T1" fmla="*/ 27 h 376"/>
              <a:gd name="T2" fmla="*/ 544 w 564"/>
              <a:gd name="T3" fmla="*/ 309 h 376"/>
              <a:gd name="T4" fmla="*/ 536 w 564"/>
              <a:gd name="T5" fmla="*/ 309 h 376"/>
              <a:gd name="T6" fmla="*/ 518 w 564"/>
              <a:gd name="T7" fmla="*/ 308 h 376"/>
              <a:gd name="T8" fmla="*/ 285 w 564"/>
              <a:gd name="T9" fmla="*/ 367 h 376"/>
              <a:gd name="T10" fmla="*/ 282 w 564"/>
              <a:gd name="T11" fmla="*/ 368 h 376"/>
              <a:gd name="T12" fmla="*/ 279 w 564"/>
              <a:gd name="T13" fmla="*/ 367 h 376"/>
              <a:gd name="T14" fmla="*/ 46 w 564"/>
              <a:gd name="T15" fmla="*/ 308 h 376"/>
              <a:gd name="T16" fmla="*/ 28 w 564"/>
              <a:gd name="T17" fmla="*/ 309 h 376"/>
              <a:gd name="T18" fmla="*/ 20 w 564"/>
              <a:gd name="T19" fmla="*/ 309 h 376"/>
              <a:gd name="T20" fmla="*/ 20 w 564"/>
              <a:gd name="T21" fmla="*/ 27 h 376"/>
              <a:gd name="T22" fmla="*/ 0 w 564"/>
              <a:gd name="T23" fmla="*/ 27 h 376"/>
              <a:gd name="T24" fmla="*/ 0 w 564"/>
              <a:gd name="T25" fmla="*/ 320 h 376"/>
              <a:gd name="T26" fmla="*/ 282 w 564"/>
              <a:gd name="T27" fmla="*/ 376 h 376"/>
              <a:gd name="T28" fmla="*/ 564 w 564"/>
              <a:gd name="T29" fmla="*/ 320 h 376"/>
              <a:gd name="T30" fmla="*/ 564 w 564"/>
              <a:gd name="T31" fmla="*/ 27 h 376"/>
              <a:gd name="T32" fmla="*/ 544 w 564"/>
              <a:gd name="T33" fmla="*/ 27 h 376"/>
              <a:gd name="T34" fmla="*/ 272 w 564"/>
              <a:gd name="T35" fmla="*/ 319 h 376"/>
              <a:gd name="T36" fmla="*/ 272 w 564"/>
              <a:gd name="T37" fmla="*/ 63 h 376"/>
              <a:gd name="T38" fmla="*/ 77 w 564"/>
              <a:gd name="T39" fmla="*/ 1 h 376"/>
              <a:gd name="T40" fmla="*/ 77 w 564"/>
              <a:gd name="T41" fmla="*/ 269 h 376"/>
              <a:gd name="T42" fmla="*/ 84 w 564"/>
              <a:gd name="T43" fmla="*/ 269 h 376"/>
              <a:gd name="T44" fmla="*/ 272 w 564"/>
              <a:gd name="T45" fmla="*/ 319 h 376"/>
              <a:gd name="T46" fmla="*/ 487 w 564"/>
              <a:gd name="T47" fmla="*/ 269 h 376"/>
              <a:gd name="T48" fmla="*/ 487 w 564"/>
              <a:gd name="T49" fmla="*/ 1 h 376"/>
              <a:gd name="T50" fmla="*/ 292 w 564"/>
              <a:gd name="T51" fmla="*/ 63 h 376"/>
              <a:gd name="T52" fmla="*/ 292 w 564"/>
              <a:gd name="T53" fmla="*/ 319 h 376"/>
              <a:gd name="T54" fmla="*/ 480 w 564"/>
              <a:gd name="T55" fmla="*/ 269 h 376"/>
              <a:gd name="T56" fmla="*/ 487 w 564"/>
              <a:gd name="T57" fmla="*/ 269 h 376"/>
              <a:gd name="T58" fmla="*/ 282 w 564"/>
              <a:gd name="T59" fmla="*/ 361 h 376"/>
              <a:gd name="T60" fmla="*/ 531 w 564"/>
              <a:gd name="T61" fmla="*/ 302 h 376"/>
              <a:gd name="T62" fmla="*/ 531 w 564"/>
              <a:gd name="T63" fmla="*/ 5 h 376"/>
              <a:gd name="T64" fmla="*/ 501 w 564"/>
              <a:gd name="T65" fmla="*/ 5 h 376"/>
              <a:gd name="T66" fmla="*/ 501 w 564"/>
              <a:gd name="T67" fmla="*/ 283 h 376"/>
              <a:gd name="T68" fmla="*/ 493 w 564"/>
              <a:gd name="T69" fmla="*/ 282 h 376"/>
              <a:gd name="T70" fmla="*/ 478 w 564"/>
              <a:gd name="T71" fmla="*/ 282 h 376"/>
              <a:gd name="T72" fmla="*/ 287 w 564"/>
              <a:gd name="T73" fmla="*/ 337 h 376"/>
              <a:gd name="T74" fmla="*/ 282 w 564"/>
              <a:gd name="T75" fmla="*/ 340 h 376"/>
              <a:gd name="T76" fmla="*/ 277 w 564"/>
              <a:gd name="T77" fmla="*/ 337 h 376"/>
              <a:gd name="T78" fmla="*/ 86 w 564"/>
              <a:gd name="T79" fmla="*/ 282 h 376"/>
              <a:gd name="T80" fmla="*/ 71 w 564"/>
              <a:gd name="T81" fmla="*/ 282 h 376"/>
              <a:gd name="T82" fmla="*/ 63 w 564"/>
              <a:gd name="T83" fmla="*/ 283 h 376"/>
              <a:gd name="T84" fmla="*/ 63 w 564"/>
              <a:gd name="T85" fmla="*/ 5 h 376"/>
              <a:gd name="T86" fmla="*/ 33 w 564"/>
              <a:gd name="T87" fmla="*/ 5 h 376"/>
              <a:gd name="T88" fmla="*/ 33 w 564"/>
              <a:gd name="T89" fmla="*/ 302 h 376"/>
              <a:gd name="T90" fmla="*/ 282 w 564"/>
              <a:gd name="T91" fmla="*/ 361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564" h="376">
                <a:moveTo>
                  <a:pt x="544" y="27"/>
                </a:moveTo>
                <a:lnTo>
                  <a:pt x="544" y="309"/>
                </a:lnTo>
                <a:lnTo>
                  <a:pt x="536" y="309"/>
                </a:lnTo>
                <a:cubicBezTo>
                  <a:pt x="530" y="308"/>
                  <a:pt x="524" y="308"/>
                  <a:pt x="518" y="308"/>
                </a:cubicBezTo>
                <a:cubicBezTo>
                  <a:pt x="440" y="308"/>
                  <a:pt x="357" y="329"/>
                  <a:pt x="285" y="367"/>
                </a:cubicBezTo>
                <a:lnTo>
                  <a:pt x="282" y="368"/>
                </a:lnTo>
                <a:lnTo>
                  <a:pt x="279" y="367"/>
                </a:lnTo>
                <a:cubicBezTo>
                  <a:pt x="207" y="329"/>
                  <a:pt x="124" y="308"/>
                  <a:pt x="46" y="308"/>
                </a:cubicBezTo>
                <a:cubicBezTo>
                  <a:pt x="40" y="308"/>
                  <a:pt x="34" y="308"/>
                  <a:pt x="28" y="309"/>
                </a:cubicBezTo>
                <a:lnTo>
                  <a:pt x="20" y="309"/>
                </a:lnTo>
                <a:lnTo>
                  <a:pt x="20" y="27"/>
                </a:lnTo>
                <a:cubicBezTo>
                  <a:pt x="13" y="27"/>
                  <a:pt x="6" y="27"/>
                  <a:pt x="0" y="27"/>
                </a:cubicBezTo>
                <a:lnTo>
                  <a:pt x="0" y="320"/>
                </a:lnTo>
                <a:cubicBezTo>
                  <a:pt x="94" y="317"/>
                  <a:pt x="194" y="338"/>
                  <a:pt x="282" y="376"/>
                </a:cubicBezTo>
                <a:cubicBezTo>
                  <a:pt x="370" y="338"/>
                  <a:pt x="470" y="317"/>
                  <a:pt x="564" y="320"/>
                </a:cubicBezTo>
                <a:lnTo>
                  <a:pt x="564" y="27"/>
                </a:lnTo>
                <a:cubicBezTo>
                  <a:pt x="558" y="27"/>
                  <a:pt x="551" y="27"/>
                  <a:pt x="544" y="27"/>
                </a:cubicBezTo>
                <a:close/>
                <a:moveTo>
                  <a:pt x="272" y="319"/>
                </a:moveTo>
                <a:lnTo>
                  <a:pt x="272" y="63"/>
                </a:lnTo>
                <a:cubicBezTo>
                  <a:pt x="212" y="22"/>
                  <a:pt x="142" y="0"/>
                  <a:pt x="77" y="1"/>
                </a:cubicBezTo>
                <a:lnTo>
                  <a:pt x="77" y="269"/>
                </a:lnTo>
                <a:cubicBezTo>
                  <a:pt x="79" y="269"/>
                  <a:pt x="82" y="269"/>
                  <a:pt x="84" y="269"/>
                </a:cubicBezTo>
                <a:cubicBezTo>
                  <a:pt x="147" y="269"/>
                  <a:pt x="214" y="287"/>
                  <a:pt x="272" y="319"/>
                </a:cubicBezTo>
                <a:close/>
                <a:moveTo>
                  <a:pt x="487" y="269"/>
                </a:moveTo>
                <a:lnTo>
                  <a:pt x="487" y="1"/>
                </a:lnTo>
                <a:cubicBezTo>
                  <a:pt x="422" y="0"/>
                  <a:pt x="352" y="22"/>
                  <a:pt x="292" y="63"/>
                </a:cubicBezTo>
                <a:lnTo>
                  <a:pt x="292" y="319"/>
                </a:lnTo>
                <a:cubicBezTo>
                  <a:pt x="350" y="287"/>
                  <a:pt x="417" y="269"/>
                  <a:pt x="480" y="269"/>
                </a:cubicBezTo>
                <a:cubicBezTo>
                  <a:pt x="482" y="269"/>
                  <a:pt x="485" y="269"/>
                  <a:pt x="487" y="269"/>
                </a:cubicBezTo>
                <a:close/>
                <a:moveTo>
                  <a:pt x="282" y="361"/>
                </a:moveTo>
                <a:cubicBezTo>
                  <a:pt x="362" y="318"/>
                  <a:pt x="451" y="299"/>
                  <a:pt x="531" y="302"/>
                </a:cubicBezTo>
                <a:lnTo>
                  <a:pt x="531" y="5"/>
                </a:lnTo>
                <a:cubicBezTo>
                  <a:pt x="521" y="5"/>
                  <a:pt x="511" y="5"/>
                  <a:pt x="501" y="5"/>
                </a:cubicBezTo>
                <a:lnTo>
                  <a:pt x="501" y="283"/>
                </a:lnTo>
                <a:lnTo>
                  <a:pt x="493" y="282"/>
                </a:lnTo>
                <a:cubicBezTo>
                  <a:pt x="488" y="282"/>
                  <a:pt x="483" y="282"/>
                  <a:pt x="478" y="282"/>
                </a:cubicBezTo>
                <a:cubicBezTo>
                  <a:pt x="414" y="282"/>
                  <a:pt x="346" y="301"/>
                  <a:pt x="287" y="337"/>
                </a:cubicBezTo>
                <a:lnTo>
                  <a:pt x="282" y="340"/>
                </a:lnTo>
                <a:lnTo>
                  <a:pt x="277" y="337"/>
                </a:lnTo>
                <a:cubicBezTo>
                  <a:pt x="218" y="301"/>
                  <a:pt x="150" y="282"/>
                  <a:pt x="86" y="282"/>
                </a:cubicBezTo>
                <a:cubicBezTo>
                  <a:pt x="81" y="282"/>
                  <a:pt x="76" y="282"/>
                  <a:pt x="71" y="282"/>
                </a:cubicBezTo>
                <a:lnTo>
                  <a:pt x="63" y="283"/>
                </a:lnTo>
                <a:lnTo>
                  <a:pt x="63" y="5"/>
                </a:lnTo>
                <a:cubicBezTo>
                  <a:pt x="53" y="5"/>
                  <a:pt x="43" y="5"/>
                  <a:pt x="33" y="5"/>
                </a:cubicBezTo>
                <a:lnTo>
                  <a:pt x="33" y="302"/>
                </a:lnTo>
                <a:cubicBezTo>
                  <a:pt x="113" y="299"/>
                  <a:pt x="202" y="318"/>
                  <a:pt x="282" y="361"/>
                </a:cubicBezTo>
                <a:close/>
              </a:path>
            </a:pathLst>
          </a:custGeom>
          <a:solidFill>
            <a:srgbClr val="02B9E7"/>
          </a:solidFill>
          <a:ln>
            <a:noFill/>
          </a:ln>
        </p:spPr>
        <p:txBody>
          <a:bodyPr vert="horz" wrap="square" lIns="91398" tIns="45699" rIns="91398" bIns="45699" numCol="1" anchor="t" anchorCtr="0" compatLnSpc="1">
            <a:prstTxWarp prst="textNoShape">
              <a:avLst/>
            </a:prstTxWarp>
          </a:bodyPr>
          <a:lstStyle/>
          <a:p>
            <a:endParaRPr lang="zh-CN" altLang="en-US" sz="1799"/>
          </a:p>
        </p:txBody>
      </p:sp>
      <p:sp>
        <p:nvSpPr>
          <p:cNvPr id="11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</p:spTree>
    <p:extLst>
      <p:ext uri="{BB962C8B-B14F-4D97-AF65-F5344CB8AC3E}">
        <p14:creationId xmlns:p14="http://schemas.microsoft.com/office/powerpoint/2010/main" val="416968550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08850" y="-9431"/>
            <a:ext cx="10515600" cy="1325563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通道的工作过程</a:t>
            </a:r>
          </a:p>
        </p:txBody>
      </p:sp>
      <p:sp>
        <p:nvSpPr>
          <p:cNvPr id="20483" name="Rectangle 4"/>
          <p:cNvSpPr>
            <a:spLocks noChangeArrowheads="1"/>
          </p:cNvSpPr>
          <p:nvPr/>
        </p:nvSpPr>
        <p:spPr bwMode="auto">
          <a:xfrm>
            <a:off x="0" y="2043113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sp>
        <p:nvSpPr>
          <p:cNvPr id="20484" name="Rectangle 5"/>
          <p:cNvSpPr>
            <a:spLocks noChangeArrowheads="1"/>
          </p:cNvSpPr>
          <p:nvPr/>
        </p:nvSpPr>
        <p:spPr bwMode="auto">
          <a:xfrm>
            <a:off x="0" y="2214563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/>
          </a:p>
        </p:txBody>
      </p:sp>
      <p:graphicFrame>
        <p:nvGraphicFramePr>
          <p:cNvPr id="2048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2869880"/>
              </p:ext>
            </p:extLst>
          </p:nvPr>
        </p:nvGraphicFramePr>
        <p:xfrm>
          <a:off x="912284" y="1316132"/>
          <a:ext cx="10079567" cy="4990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36" name="Visio" r:id="rId3" imgW="4438835" imgH="2429151" progId="Visio.Drawing.11">
                  <p:embed/>
                </p:oleObj>
              </mc:Choice>
              <mc:Fallback>
                <p:oleObj name="Visio" r:id="rId3" imgW="4438835" imgH="2429151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284" y="1316132"/>
                        <a:ext cx="10079567" cy="499066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内容占位符 2"/>
          <p:cNvSpPr txBox="1">
            <a:spLocks/>
          </p:cNvSpPr>
          <p:nvPr/>
        </p:nvSpPr>
        <p:spPr>
          <a:xfrm>
            <a:off x="518614" y="1179321"/>
            <a:ext cx="11136574" cy="5418032"/>
          </a:xfrm>
          <a:prstGeom prst="rect">
            <a:avLst/>
          </a:prstGeom>
          <a:ln w="28575">
            <a:solidFill>
              <a:srgbClr val="01C0B0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</a:t>
            </a: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3"/>
          <p:cNvGrpSpPr/>
          <p:nvPr/>
        </p:nvGrpSpPr>
        <p:grpSpPr>
          <a:xfrm>
            <a:off x="398712" y="345322"/>
            <a:ext cx="438352" cy="621987"/>
            <a:chOff x="265635" y="269251"/>
            <a:chExt cx="438352" cy="621987"/>
          </a:xfrm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269585" y="269251"/>
              <a:ext cx="262616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9" name="Freeform 6"/>
            <p:cNvSpPr>
              <a:spLocks/>
            </p:cNvSpPr>
            <p:nvPr/>
          </p:nvSpPr>
          <p:spPr bwMode="auto">
            <a:xfrm>
              <a:off x="441371" y="443010"/>
              <a:ext cx="262616" cy="268540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265635" y="624671"/>
              <a:ext cx="260640" cy="266567"/>
            </a:xfrm>
            <a:custGeom>
              <a:avLst/>
              <a:gdLst>
                <a:gd name="T0" fmla="*/ 11 w 295"/>
                <a:gd name="T1" fmla="*/ 128 h 295"/>
                <a:gd name="T2" fmla="*/ 128 w 295"/>
                <a:gd name="T3" fmla="*/ 11 h 295"/>
                <a:gd name="T4" fmla="*/ 167 w 295"/>
                <a:gd name="T5" fmla="*/ 11 h 295"/>
                <a:gd name="T6" fmla="*/ 284 w 295"/>
                <a:gd name="T7" fmla="*/ 128 h 295"/>
                <a:gd name="T8" fmla="*/ 284 w 295"/>
                <a:gd name="T9" fmla="*/ 167 h 295"/>
                <a:gd name="T10" fmla="*/ 167 w 295"/>
                <a:gd name="T11" fmla="*/ 284 h 295"/>
                <a:gd name="T12" fmla="*/ 128 w 295"/>
                <a:gd name="T13" fmla="*/ 284 h 295"/>
                <a:gd name="T14" fmla="*/ 11 w 295"/>
                <a:gd name="T15" fmla="*/ 167 h 295"/>
                <a:gd name="T16" fmla="*/ 11 w 295"/>
                <a:gd name="T17" fmla="*/ 128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5" h="295">
                  <a:moveTo>
                    <a:pt x="11" y="128"/>
                  </a:moveTo>
                  <a:lnTo>
                    <a:pt x="128" y="11"/>
                  </a:lnTo>
                  <a:cubicBezTo>
                    <a:pt x="139" y="0"/>
                    <a:pt x="156" y="0"/>
                    <a:pt x="167" y="11"/>
                  </a:cubicBezTo>
                  <a:lnTo>
                    <a:pt x="284" y="128"/>
                  </a:lnTo>
                  <a:cubicBezTo>
                    <a:pt x="295" y="139"/>
                    <a:pt x="295" y="156"/>
                    <a:pt x="284" y="167"/>
                  </a:cubicBezTo>
                  <a:lnTo>
                    <a:pt x="167" y="284"/>
                  </a:lnTo>
                  <a:cubicBezTo>
                    <a:pt x="156" y="295"/>
                    <a:pt x="139" y="295"/>
                    <a:pt x="128" y="284"/>
                  </a:cubicBezTo>
                  <a:lnTo>
                    <a:pt x="11" y="167"/>
                  </a:lnTo>
                  <a:cubicBezTo>
                    <a:pt x="0" y="156"/>
                    <a:pt x="0" y="139"/>
                    <a:pt x="11" y="128"/>
                  </a:cubicBezTo>
                  <a:close/>
                </a:path>
              </a:pathLst>
            </a:custGeom>
            <a:solidFill>
              <a:srgbClr val="04BEB0"/>
            </a:solidFill>
            <a:ln>
              <a:noFill/>
            </a:ln>
          </p:spPr>
          <p:txBody>
            <a:bodyPr vert="horz" wrap="square" lIns="91398" tIns="45699" rIns="91398" bIns="45699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799"/>
            </a:p>
          </p:txBody>
        </p:sp>
      </p:grpSp>
    </p:spTree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47757" y="2340487"/>
            <a:ext cx="6598050" cy="1698614"/>
          </a:xfrm>
          <a:prstGeom prst="rect">
            <a:avLst/>
          </a:prstGeom>
          <a:solidFill>
            <a:srgbClr val="02B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098285" y="2541722"/>
            <a:ext cx="4678532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algn="ctr"/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谢！</a:t>
            </a:r>
            <a:endParaRPr lang="en-US" altLang="zh-CN" sz="6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6353950" y="5153618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7620664" y="5153618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8885806" y="5153618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10152517" y="5153618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0" name="Freeform 9"/>
          <p:cNvSpPr>
            <a:spLocks noEditPoints="1"/>
          </p:cNvSpPr>
          <p:nvPr/>
        </p:nvSpPr>
        <p:spPr bwMode="auto">
          <a:xfrm>
            <a:off x="10057335" y="4692974"/>
            <a:ext cx="373115" cy="374683"/>
          </a:xfrm>
          <a:custGeom>
            <a:avLst/>
            <a:gdLst>
              <a:gd name="T0" fmla="*/ 358 w 490"/>
              <a:gd name="T1" fmla="*/ 250 h 490"/>
              <a:gd name="T2" fmla="*/ 358 w 490"/>
              <a:gd name="T3" fmla="*/ 183 h 490"/>
              <a:gd name="T4" fmla="*/ 328 w 490"/>
              <a:gd name="T5" fmla="*/ 183 h 490"/>
              <a:gd name="T6" fmla="*/ 328 w 490"/>
              <a:gd name="T7" fmla="*/ 250 h 490"/>
              <a:gd name="T8" fmla="*/ 247 w 490"/>
              <a:gd name="T9" fmla="*/ 330 h 490"/>
              <a:gd name="T10" fmla="*/ 246 w 490"/>
              <a:gd name="T11" fmla="*/ 330 h 490"/>
              <a:gd name="T12" fmla="*/ 245 w 490"/>
              <a:gd name="T13" fmla="*/ 330 h 490"/>
              <a:gd name="T14" fmla="*/ 245 w 490"/>
              <a:gd name="T15" fmla="*/ 330 h 490"/>
              <a:gd name="T16" fmla="*/ 243 w 490"/>
              <a:gd name="T17" fmla="*/ 330 h 490"/>
              <a:gd name="T18" fmla="*/ 162 w 490"/>
              <a:gd name="T19" fmla="*/ 250 h 490"/>
              <a:gd name="T20" fmla="*/ 162 w 490"/>
              <a:gd name="T21" fmla="*/ 183 h 490"/>
              <a:gd name="T22" fmla="*/ 132 w 490"/>
              <a:gd name="T23" fmla="*/ 183 h 490"/>
              <a:gd name="T24" fmla="*/ 132 w 490"/>
              <a:gd name="T25" fmla="*/ 250 h 490"/>
              <a:gd name="T26" fmla="*/ 227 w 490"/>
              <a:gd name="T27" fmla="*/ 359 h 490"/>
              <a:gd name="T28" fmla="*/ 227 w 490"/>
              <a:gd name="T29" fmla="*/ 407 h 490"/>
              <a:gd name="T30" fmla="*/ 160 w 490"/>
              <a:gd name="T31" fmla="*/ 426 h 490"/>
              <a:gd name="T32" fmla="*/ 331 w 490"/>
              <a:gd name="T33" fmla="*/ 426 h 490"/>
              <a:gd name="T34" fmla="*/ 263 w 490"/>
              <a:gd name="T35" fmla="*/ 407 h 490"/>
              <a:gd name="T36" fmla="*/ 263 w 490"/>
              <a:gd name="T37" fmla="*/ 360 h 490"/>
              <a:gd name="T38" fmla="*/ 358 w 490"/>
              <a:gd name="T39" fmla="*/ 250 h 490"/>
              <a:gd name="T40" fmla="*/ 244 w 490"/>
              <a:gd name="T41" fmla="*/ 302 h 490"/>
              <a:gd name="T42" fmla="*/ 245 w 490"/>
              <a:gd name="T43" fmla="*/ 302 h 490"/>
              <a:gd name="T44" fmla="*/ 246 w 490"/>
              <a:gd name="T45" fmla="*/ 302 h 490"/>
              <a:gd name="T46" fmla="*/ 300 w 490"/>
              <a:gd name="T47" fmla="*/ 248 h 490"/>
              <a:gd name="T48" fmla="*/ 300 w 490"/>
              <a:gd name="T49" fmla="*/ 118 h 490"/>
              <a:gd name="T50" fmla="*/ 246 w 490"/>
              <a:gd name="T51" fmla="*/ 64 h 490"/>
              <a:gd name="T52" fmla="*/ 245 w 490"/>
              <a:gd name="T53" fmla="*/ 64 h 490"/>
              <a:gd name="T54" fmla="*/ 244 w 490"/>
              <a:gd name="T55" fmla="*/ 64 h 490"/>
              <a:gd name="T56" fmla="*/ 190 w 490"/>
              <a:gd name="T57" fmla="*/ 118 h 490"/>
              <a:gd name="T58" fmla="*/ 190 w 490"/>
              <a:gd name="T59" fmla="*/ 248 h 490"/>
              <a:gd name="T60" fmla="*/ 244 w 490"/>
              <a:gd name="T61" fmla="*/ 302 h 490"/>
              <a:gd name="T62" fmla="*/ 245 w 490"/>
              <a:gd name="T63" fmla="*/ 0 h 490"/>
              <a:gd name="T64" fmla="*/ 490 w 490"/>
              <a:gd name="T65" fmla="*/ 245 h 490"/>
              <a:gd name="T66" fmla="*/ 245 w 490"/>
              <a:gd name="T67" fmla="*/ 490 h 490"/>
              <a:gd name="T68" fmla="*/ 0 w 490"/>
              <a:gd name="T69" fmla="*/ 245 h 490"/>
              <a:gd name="T70" fmla="*/ 245 w 490"/>
              <a:gd name="T71" fmla="*/ 0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90" h="490">
                <a:moveTo>
                  <a:pt x="358" y="250"/>
                </a:moveTo>
                <a:lnTo>
                  <a:pt x="358" y="183"/>
                </a:lnTo>
                <a:cubicBezTo>
                  <a:pt x="358" y="165"/>
                  <a:pt x="328" y="164"/>
                  <a:pt x="328" y="183"/>
                </a:cubicBezTo>
                <a:lnTo>
                  <a:pt x="328" y="250"/>
                </a:lnTo>
                <a:cubicBezTo>
                  <a:pt x="328" y="294"/>
                  <a:pt x="292" y="330"/>
                  <a:pt x="247" y="330"/>
                </a:cubicBezTo>
                <a:cubicBezTo>
                  <a:pt x="247" y="330"/>
                  <a:pt x="246" y="330"/>
                  <a:pt x="246" y="330"/>
                </a:cubicBezTo>
                <a:lnTo>
                  <a:pt x="245" y="330"/>
                </a:lnTo>
                <a:lnTo>
                  <a:pt x="245" y="330"/>
                </a:lnTo>
                <a:cubicBezTo>
                  <a:pt x="244" y="330"/>
                  <a:pt x="244" y="330"/>
                  <a:pt x="243" y="330"/>
                </a:cubicBezTo>
                <a:cubicBezTo>
                  <a:pt x="198" y="330"/>
                  <a:pt x="162" y="294"/>
                  <a:pt x="162" y="250"/>
                </a:cubicBezTo>
                <a:lnTo>
                  <a:pt x="162" y="183"/>
                </a:lnTo>
                <a:cubicBezTo>
                  <a:pt x="162" y="165"/>
                  <a:pt x="132" y="164"/>
                  <a:pt x="132" y="183"/>
                </a:cubicBezTo>
                <a:cubicBezTo>
                  <a:pt x="132" y="192"/>
                  <a:pt x="132" y="250"/>
                  <a:pt x="132" y="250"/>
                </a:cubicBezTo>
                <a:cubicBezTo>
                  <a:pt x="132" y="306"/>
                  <a:pt x="173" y="352"/>
                  <a:pt x="227" y="359"/>
                </a:cubicBezTo>
                <a:lnTo>
                  <a:pt x="227" y="407"/>
                </a:lnTo>
                <a:lnTo>
                  <a:pt x="160" y="426"/>
                </a:lnTo>
                <a:lnTo>
                  <a:pt x="331" y="426"/>
                </a:lnTo>
                <a:lnTo>
                  <a:pt x="263" y="407"/>
                </a:lnTo>
                <a:lnTo>
                  <a:pt x="263" y="360"/>
                </a:lnTo>
                <a:cubicBezTo>
                  <a:pt x="317" y="352"/>
                  <a:pt x="358" y="306"/>
                  <a:pt x="358" y="250"/>
                </a:cubicBezTo>
                <a:close/>
                <a:moveTo>
                  <a:pt x="244" y="302"/>
                </a:moveTo>
                <a:cubicBezTo>
                  <a:pt x="244" y="302"/>
                  <a:pt x="245" y="302"/>
                  <a:pt x="245" y="302"/>
                </a:cubicBezTo>
                <a:cubicBezTo>
                  <a:pt x="245" y="302"/>
                  <a:pt x="246" y="302"/>
                  <a:pt x="246" y="302"/>
                </a:cubicBezTo>
                <a:cubicBezTo>
                  <a:pt x="276" y="302"/>
                  <a:pt x="300" y="278"/>
                  <a:pt x="300" y="248"/>
                </a:cubicBezTo>
                <a:lnTo>
                  <a:pt x="300" y="118"/>
                </a:lnTo>
                <a:cubicBezTo>
                  <a:pt x="300" y="88"/>
                  <a:pt x="276" y="64"/>
                  <a:pt x="246" y="64"/>
                </a:cubicBezTo>
                <a:cubicBezTo>
                  <a:pt x="246" y="64"/>
                  <a:pt x="245" y="64"/>
                  <a:pt x="245" y="64"/>
                </a:cubicBezTo>
                <a:cubicBezTo>
                  <a:pt x="245" y="64"/>
                  <a:pt x="244" y="64"/>
                  <a:pt x="244" y="64"/>
                </a:cubicBezTo>
                <a:cubicBezTo>
                  <a:pt x="214" y="64"/>
                  <a:pt x="190" y="88"/>
                  <a:pt x="190" y="118"/>
                </a:cubicBezTo>
                <a:lnTo>
                  <a:pt x="190" y="248"/>
                </a:lnTo>
                <a:cubicBezTo>
                  <a:pt x="190" y="278"/>
                  <a:pt x="214" y="302"/>
                  <a:pt x="244" y="302"/>
                </a:cubicBezTo>
                <a:close/>
                <a:moveTo>
                  <a:pt x="245" y="0"/>
                </a:moveTo>
                <a:cubicBezTo>
                  <a:pt x="381" y="0"/>
                  <a:pt x="490" y="110"/>
                  <a:pt x="490" y="245"/>
                </a:cubicBezTo>
                <a:cubicBezTo>
                  <a:pt x="490" y="381"/>
                  <a:pt x="381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484849"/>
              </a:solidFill>
            </a:endParaRPr>
          </a:p>
        </p:txBody>
      </p:sp>
      <p:sp>
        <p:nvSpPr>
          <p:cNvPr id="11" name="Rectangle 4"/>
          <p:cNvSpPr txBox="1">
            <a:spLocks noChangeArrowheads="1"/>
          </p:cNvSpPr>
          <p:nvPr/>
        </p:nvSpPr>
        <p:spPr bwMode="auto">
          <a:xfrm>
            <a:off x="10466453" y="4703232"/>
            <a:ext cx="1899476" cy="353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sz="1700" dirty="0">
                <a:solidFill>
                  <a:schemeClr val="bg1"/>
                </a:solidFill>
              </a:rPr>
              <a:t>汇报人：代用名</a:t>
            </a:r>
          </a:p>
        </p:txBody>
      </p:sp>
      <p:sp>
        <p:nvSpPr>
          <p:cNvPr id="12" name="Freeform 10"/>
          <p:cNvSpPr>
            <a:spLocks noChangeAspect="1" noEditPoints="1"/>
          </p:cNvSpPr>
          <p:nvPr/>
        </p:nvSpPr>
        <p:spPr bwMode="auto">
          <a:xfrm>
            <a:off x="6417691" y="4693112"/>
            <a:ext cx="372836" cy="374400"/>
          </a:xfrm>
          <a:custGeom>
            <a:avLst/>
            <a:gdLst>
              <a:gd name="T0" fmla="*/ 245 w 490"/>
              <a:gd name="T1" fmla="*/ 0 h 490"/>
              <a:gd name="T2" fmla="*/ 490 w 490"/>
              <a:gd name="T3" fmla="*/ 245 h 490"/>
              <a:gd name="T4" fmla="*/ 245 w 490"/>
              <a:gd name="T5" fmla="*/ 490 h 490"/>
              <a:gd name="T6" fmla="*/ 0 w 490"/>
              <a:gd name="T7" fmla="*/ 245 h 490"/>
              <a:gd name="T8" fmla="*/ 245 w 490"/>
              <a:gd name="T9" fmla="*/ 0 h 490"/>
              <a:gd name="T10" fmla="*/ 436 w 490"/>
              <a:gd name="T11" fmla="*/ 250 h 490"/>
              <a:gd name="T12" fmla="*/ 427 w 490"/>
              <a:gd name="T13" fmla="*/ 256 h 490"/>
              <a:gd name="T14" fmla="*/ 394 w 490"/>
              <a:gd name="T15" fmla="*/ 256 h 490"/>
              <a:gd name="T16" fmla="*/ 386 w 490"/>
              <a:gd name="T17" fmla="*/ 253 h 490"/>
              <a:gd name="T18" fmla="*/ 245 w 490"/>
              <a:gd name="T19" fmla="*/ 105 h 490"/>
              <a:gd name="T20" fmla="*/ 104 w 490"/>
              <a:gd name="T21" fmla="*/ 253 h 490"/>
              <a:gd name="T22" fmla="*/ 96 w 490"/>
              <a:gd name="T23" fmla="*/ 256 h 490"/>
              <a:gd name="T24" fmla="*/ 63 w 490"/>
              <a:gd name="T25" fmla="*/ 256 h 490"/>
              <a:gd name="T26" fmla="*/ 54 w 490"/>
              <a:gd name="T27" fmla="*/ 250 h 490"/>
              <a:gd name="T28" fmla="*/ 56 w 490"/>
              <a:gd name="T29" fmla="*/ 239 h 490"/>
              <a:gd name="T30" fmla="*/ 236 w 490"/>
              <a:gd name="T31" fmla="*/ 52 h 490"/>
              <a:gd name="T32" fmla="*/ 245 w 490"/>
              <a:gd name="T33" fmla="*/ 48 h 490"/>
              <a:gd name="T34" fmla="*/ 254 w 490"/>
              <a:gd name="T35" fmla="*/ 52 h 490"/>
              <a:gd name="T36" fmla="*/ 434 w 490"/>
              <a:gd name="T37" fmla="*/ 239 h 490"/>
              <a:gd name="T38" fmla="*/ 436 w 490"/>
              <a:gd name="T39" fmla="*/ 250 h 490"/>
              <a:gd name="T40" fmla="*/ 113 w 490"/>
              <a:gd name="T41" fmla="*/ 267 h 490"/>
              <a:gd name="T42" fmla="*/ 113 w 490"/>
              <a:gd name="T43" fmla="*/ 267 h 490"/>
              <a:gd name="T44" fmla="*/ 113 w 490"/>
              <a:gd name="T45" fmla="*/ 379 h 490"/>
              <a:gd name="T46" fmla="*/ 129 w 490"/>
              <a:gd name="T47" fmla="*/ 398 h 490"/>
              <a:gd name="T48" fmla="*/ 202 w 490"/>
              <a:gd name="T49" fmla="*/ 398 h 490"/>
              <a:gd name="T50" fmla="*/ 202 w 490"/>
              <a:gd name="T51" fmla="*/ 276 h 490"/>
              <a:gd name="T52" fmla="*/ 221 w 490"/>
              <a:gd name="T53" fmla="*/ 257 h 490"/>
              <a:gd name="T54" fmla="*/ 269 w 490"/>
              <a:gd name="T55" fmla="*/ 257 h 490"/>
              <a:gd name="T56" fmla="*/ 288 w 490"/>
              <a:gd name="T57" fmla="*/ 276 h 490"/>
              <a:gd name="T58" fmla="*/ 288 w 490"/>
              <a:gd name="T59" fmla="*/ 398 h 490"/>
              <a:gd name="T60" fmla="*/ 361 w 490"/>
              <a:gd name="T61" fmla="*/ 398 h 490"/>
              <a:gd name="T62" fmla="*/ 377 w 490"/>
              <a:gd name="T63" fmla="*/ 379 h 490"/>
              <a:gd name="T64" fmla="*/ 377 w 490"/>
              <a:gd name="T65" fmla="*/ 268 h 490"/>
              <a:gd name="T66" fmla="*/ 245 w 490"/>
              <a:gd name="T67" fmla="*/ 130 h 490"/>
              <a:gd name="T68" fmla="*/ 113 w 490"/>
              <a:gd name="T69" fmla="*/ 267 h 4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0" h="490">
                <a:moveTo>
                  <a:pt x="245" y="0"/>
                </a:moveTo>
                <a:cubicBezTo>
                  <a:pt x="380" y="0"/>
                  <a:pt x="490" y="110"/>
                  <a:pt x="490" y="245"/>
                </a:cubicBezTo>
                <a:cubicBezTo>
                  <a:pt x="490" y="381"/>
                  <a:pt x="380" y="490"/>
                  <a:pt x="245" y="490"/>
                </a:cubicBezTo>
                <a:cubicBezTo>
                  <a:pt x="110" y="490"/>
                  <a:pt x="0" y="381"/>
                  <a:pt x="0" y="245"/>
                </a:cubicBezTo>
                <a:cubicBezTo>
                  <a:pt x="0" y="110"/>
                  <a:pt x="110" y="0"/>
                  <a:pt x="245" y="0"/>
                </a:cubicBezTo>
                <a:close/>
                <a:moveTo>
                  <a:pt x="436" y="250"/>
                </a:moveTo>
                <a:cubicBezTo>
                  <a:pt x="435" y="254"/>
                  <a:pt x="431" y="256"/>
                  <a:pt x="427" y="256"/>
                </a:cubicBezTo>
                <a:lnTo>
                  <a:pt x="394" y="256"/>
                </a:lnTo>
                <a:cubicBezTo>
                  <a:pt x="391" y="256"/>
                  <a:pt x="388" y="255"/>
                  <a:pt x="386" y="253"/>
                </a:cubicBezTo>
                <a:lnTo>
                  <a:pt x="245" y="105"/>
                </a:lnTo>
                <a:lnTo>
                  <a:pt x="104" y="253"/>
                </a:lnTo>
                <a:cubicBezTo>
                  <a:pt x="102" y="255"/>
                  <a:pt x="99" y="256"/>
                  <a:pt x="96" y="256"/>
                </a:cubicBezTo>
                <a:lnTo>
                  <a:pt x="63" y="256"/>
                </a:lnTo>
                <a:cubicBezTo>
                  <a:pt x="59" y="256"/>
                  <a:pt x="55" y="254"/>
                  <a:pt x="54" y="250"/>
                </a:cubicBezTo>
                <a:cubicBezTo>
                  <a:pt x="52" y="246"/>
                  <a:pt x="53" y="242"/>
                  <a:pt x="56" y="239"/>
                </a:cubicBezTo>
                <a:lnTo>
                  <a:pt x="236" y="52"/>
                </a:lnTo>
                <a:cubicBezTo>
                  <a:pt x="238" y="49"/>
                  <a:pt x="242" y="48"/>
                  <a:pt x="245" y="48"/>
                </a:cubicBezTo>
                <a:cubicBezTo>
                  <a:pt x="248" y="48"/>
                  <a:pt x="252" y="49"/>
                  <a:pt x="254" y="52"/>
                </a:cubicBezTo>
                <a:lnTo>
                  <a:pt x="434" y="239"/>
                </a:lnTo>
                <a:cubicBezTo>
                  <a:pt x="437" y="242"/>
                  <a:pt x="438" y="246"/>
                  <a:pt x="436" y="250"/>
                </a:cubicBezTo>
                <a:close/>
                <a:moveTo>
                  <a:pt x="113" y="267"/>
                </a:moveTo>
                <a:lnTo>
                  <a:pt x="113" y="267"/>
                </a:lnTo>
                <a:lnTo>
                  <a:pt x="113" y="379"/>
                </a:lnTo>
                <a:cubicBezTo>
                  <a:pt x="113" y="389"/>
                  <a:pt x="120" y="398"/>
                  <a:pt x="129" y="398"/>
                </a:cubicBezTo>
                <a:lnTo>
                  <a:pt x="202" y="398"/>
                </a:lnTo>
                <a:lnTo>
                  <a:pt x="202" y="276"/>
                </a:lnTo>
                <a:cubicBezTo>
                  <a:pt x="202" y="266"/>
                  <a:pt x="211" y="257"/>
                  <a:pt x="221" y="257"/>
                </a:cubicBezTo>
                <a:lnTo>
                  <a:pt x="269" y="257"/>
                </a:lnTo>
                <a:cubicBezTo>
                  <a:pt x="279" y="257"/>
                  <a:pt x="288" y="266"/>
                  <a:pt x="288" y="276"/>
                </a:cubicBezTo>
                <a:lnTo>
                  <a:pt x="288" y="398"/>
                </a:lnTo>
                <a:lnTo>
                  <a:pt x="361" y="398"/>
                </a:lnTo>
                <a:cubicBezTo>
                  <a:pt x="370" y="398"/>
                  <a:pt x="377" y="389"/>
                  <a:pt x="377" y="379"/>
                </a:cubicBezTo>
                <a:lnTo>
                  <a:pt x="377" y="268"/>
                </a:lnTo>
                <a:lnTo>
                  <a:pt x="245" y="130"/>
                </a:lnTo>
                <a:lnTo>
                  <a:pt x="113" y="2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3" name="TextBox 26"/>
          <p:cNvSpPr txBox="1"/>
          <p:nvPr/>
        </p:nvSpPr>
        <p:spPr>
          <a:xfrm>
            <a:off x="14146653" y="851012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延时符</a:t>
            </a: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0" y="1109114"/>
            <a:ext cx="2835079" cy="81520"/>
          </a:xfrm>
          <a:prstGeom prst="rect">
            <a:avLst/>
          </a:prstGeom>
          <a:solidFill>
            <a:srgbClr val="01C0B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1266714" y="1109114"/>
            <a:ext cx="2831571" cy="815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2531856" y="1109114"/>
            <a:ext cx="2835079" cy="8152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  <p:sp>
        <p:nvSpPr>
          <p:cNvPr id="17" name="Rectangle 9"/>
          <p:cNvSpPr>
            <a:spLocks noChangeArrowheads="1"/>
          </p:cNvSpPr>
          <p:nvPr/>
        </p:nvSpPr>
        <p:spPr bwMode="auto">
          <a:xfrm>
            <a:off x="3798567" y="1109114"/>
            <a:ext cx="2039483" cy="815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vert="horz" wrap="square" lIns="91434" tIns="45717" rIns="91434" bIns="45717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srgbClr val="294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870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59000">
        <p:push dir="u"/>
      </p:transition>
    </mc:Choice>
    <mc:Fallback xmlns="">
      <p:transition spd="slow">
        <p:push dir="u"/>
      </p:transition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462</TotalTime>
  <Words>851</Words>
  <Application>Microsoft Office PowerPoint</Application>
  <PresentationFormat>宽屏</PresentationFormat>
  <Paragraphs>134</Paragraphs>
  <Slides>19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宋体</vt:lpstr>
      <vt:lpstr>微软雅黑</vt:lpstr>
      <vt:lpstr>Arial</vt:lpstr>
      <vt:lpstr>Calibri</vt:lpstr>
      <vt:lpstr>Calibri Light</vt:lpstr>
      <vt:lpstr>Wingdings</vt:lpstr>
      <vt:lpstr>第一PPT，www.1ppt.com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DMA控制器的组成及工作原理 </vt:lpstr>
      <vt:lpstr>PowerPoint 演示文稿</vt:lpstr>
      <vt:lpstr> 通道也是一个独立的控制部件，且比DMA控制器更进了一步： </vt:lpstr>
      <vt:lpstr>PowerPoint 演示文稿</vt:lpstr>
      <vt:lpstr>PowerPoint 演示文稿</vt:lpstr>
      <vt:lpstr>PowerPoint 演示文稿</vt:lpstr>
      <vt:lpstr>PowerPoint 演示文稿</vt:lpstr>
      <vt:lpstr>I/O通道的工作过程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07述职报告</dc:title>
  <dc:creator>user</dc:creator>
  <cp:lastModifiedBy>文光</cp:lastModifiedBy>
  <cp:revision>68</cp:revision>
  <dcterms:created xsi:type="dcterms:W3CDTF">2016-06-01T05:10:04Z</dcterms:created>
  <dcterms:modified xsi:type="dcterms:W3CDTF">2017-05-26T05:44:28Z</dcterms:modified>
</cp:coreProperties>
</file>