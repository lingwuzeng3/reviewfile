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9" r:id="rId2"/>
    <p:sldId id="291" r:id="rId3"/>
    <p:sldId id="318" r:id="rId4"/>
    <p:sldId id="293" r:id="rId5"/>
    <p:sldId id="294" r:id="rId6"/>
    <p:sldId id="319" r:id="rId7"/>
    <p:sldId id="320" r:id="rId8"/>
    <p:sldId id="297" r:id="rId9"/>
    <p:sldId id="298" r:id="rId10"/>
    <p:sldId id="321" r:id="rId11"/>
    <p:sldId id="300" r:id="rId12"/>
    <p:sldId id="322" r:id="rId13"/>
    <p:sldId id="302" r:id="rId14"/>
    <p:sldId id="303" r:id="rId15"/>
    <p:sldId id="304" r:id="rId16"/>
    <p:sldId id="324" r:id="rId17"/>
    <p:sldId id="306" r:id="rId18"/>
    <p:sldId id="325" r:id="rId19"/>
    <p:sldId id="308" r:id="rId20"/>
    <p:sldId id="309" r:id="rId21"/>
    <p:sldId id="310" r:id="rId22"/>
    <p:sldId id="311" r:id="rId23"/>
    <p:sldId id="312" r:id="rId24"/>
    <p:sldId id="313" r:id="rId25"/>
    <p:sldId id="326" r:id="rId26"/>
    <p:sldId id="315" r:id="rId27"/>
    <p:sldId id="316" r:id="rId28"/>
    <p:sldId id="323" r:id="rId29"/>
    <p:sldId id="290"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C0B0"/>
    <a:srgbClr val="02B9E7"/>
    <a:srgbClr val="04B0BE"/>
    <a:srgbClr val="04B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543" autoAdjust="0"/>
    <p:restoredTop sz="94660"/>
  </p:normalViewPr>
  <p:slideViewPr>
    <p:cSldViewPr snapToGrid="0" showGuides="1">
      <p:cViewPr varScale="1">
        <p:scale>
          <a:sx n="62" d="100"/>
          <a:sy n="62" d="100"/>
        </p:scale>
        <p:origin x="48" y="402"/>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614255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2984317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050321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4113823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466960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12</a:t>
            </a:fld>
            <a:endParaRPr lang="zh-CN" altLang="en-US"/>
          </a:p>
        </p:txBody>
      </p:sp>
    </p:spTree>
    <p:extLst>
      <p:ext uri="{BB962C8B-B14F-4D97-AF65-F5344CB8AC3E}">
        <p14:creationId xmlns:p14="http://schemas.microsoft.com/office/powerpoint/2010/main" val="1534609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3988434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1501626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ea typeface="+mn-ea"/>
              </a:rPr>
              <a:t>树形结构可以用结合律、交换律和分配律来变换树的形状。对树形结构进行变换的过程是：首先利用交换律把相同的运算集中在一起。然后利用结合律把参加这些运算的操作数配对，尽可能并行运算，从而组成树高最小的子树。最后再把这些子树结合起来，用分配律进一步降低树高。</a:t>
            </a:r>
          </a:p>
        </p:txBody>
      </p:sp>
      <p:sp>
        <p:nvSpPr>
          <p:cNvPr id="4" name="灯片编号占位符 3"/>
          <p:cNvSpPr>
            <a:spLocks noGrp="1"/>
          </p:cNvSpPr>
          <p:nvPr>
            <p:ph type="sldNum" sz="quarter" idx="10"/>
          </p:nvPr>
        </p:nvSpPr>
        <p:spPr/>
        <p:txBody>
          <a:bodyPr/>
          <a:lstStyle/>
          <a:p>
            <a:fld id="{52694556-10EE-4E3D-85C1-DFD2CC3DB8C3}" type="slidenum">
              <a:rPr lang="zh-CN" altLang="en-US" smtClean="0"/>
              <a:t>19</a:t>
            </a:fld>
            <a:endParaRPr lang="zh-CN" altLang="en-US"/>
          </a:p>
        </p:txBody>
      </p:sp>
    </p:spTree>
    <p:extLst>
      <p:ext uri="{BB962C8B-B14F-4D97-AF65-F5344CB8AC3E}">
        <p14:creationId xmlns:p14="http://schemas.microsoft.com/office/powerpoint/2010/main" val="1219800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ea typeface="+mn-ea"/>
              </a:rPr>
              <a:t>首先，在硬件组成上，各个结点（</a:t>
            </a:r>
            <a:r>
              <a:rPr lang="en-US" altLang="zh-CN" sz="1200" dirty="0">
                <a:ea typeface="+mn-ea"/>
              </a:rPr>
              <a:t>PC</a:t>
            </a:r>
            <a:r>
              <a:rPr lang="zh-CN" altLang="en-US" sz="1200" dirty="0">
                <a:ea typeface="+mn-ea"/>
              </a:rPr>
              <a:t>或工作站）通过高速网络或硬件开关互连；</a:t>
            </a:r>
          </a:p>
          <a:p>
            <a:r>
              <a:rPr lang="zh-CN" altLang="en-US" sz="1200" dirty="0">
                <a:ea typeface="+mn-ea"/>
              </a:rPr>
              <a:t>其次，每个独立的结点计算机都有自己的操作系统用于完成网络通信，并安装有中间件以允许机群操作；</a:t>
            </a:r>
          </a:p>
          <a:p>
            <a:r>
              <a:rPr lang="zh-CN" altLang="en-US" sz="1200" dirty="0">
                <a:ea typeface="+mn-ea"/>
              </a:rPr>
              <a:t>最后，通过机群系统提供的并行程序设计环境为并行应用程序提供运行环境。</a:t>
            </a:r>
          </a:p>
        </p:txBody>
      </p:sp>
      <p:sp>
        <p:nvSpPr>
          <p:cNvPr id="4" name="灯片编号占位符 3"/>
          <p:cNvSpPr>
            <a:spLocks noGrp="1"/>
          </p:cNvSpPr>
          <p:nvPr>
            <p:ph type="sldNum" sz="quarter" idx="10"/>
          </p:nvPr>
        </p:nvSpPr>
        <p:spPr/>
        <p:txBody>
          <a:bodyPr/>
          <a:lstStyle/>
          <a:p>
            <a:fld id="{52694556-10EE-4E3D-85C1-DFD2CC3DB8C3}" type="slidenum">
              <a:rPr lang="zh-CN" altLang="en-US" smtClean="0"/>
              <a:t>24</a:t>
            </a:fld>
            <a:endParaRPr lang="zh-CN" altLang="en-US"/>
          </a:p>
        </p:txBody>
      </p:sp>
    </p:spTree>
    <p:extLst>
      <p:ext uri="{BB962C8B-B14F-4D97-AF65-F5344CB8AC3E}">
        <p14:creationId xmlns:p14="http://schemas.microsoft.com/office/powerpoint/2010/main" val="2237454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2653223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2308902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29</a:t>
            </a:fld>
            <a:endParaRPr lang="zh-CN" altLang="en-US"/>
          </a:p>
        </p:txBody>
      </p:sp>
    </p:spTree>
    <p:extLst>
      <p:ext uri="{BB962C8B-B14F-4D97-AF65-F5344CB8AC3E}">
        <p14:creationId xmlns:p14="http://schemas.microsoft.com/office/powerpoint/2010/main" val="2790971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52800" y="228600"/>
            <a:ext cx="84328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521451"/>
            <a:ext cx="2844800" cy="244475"/>
          </a:xfrm>
        </p:spPr>
        <p:txBody>
          <a:bodyPr/>
          <a:lstStyle>
            <a:lvl1pPr>
              <a:defRPr/>
            </a:lvl1pPr>
          </a:lstStyle>
          <a:p>
            <a:endParaRPr lang="en-US" altLang="zh-CN">
              <a:solidFill>
                <a:srgbClr val="2D6BC7"/>
              </a:solidFill>
            </a:endParaRPr>
          </a:p>
        </p:txBody>
      </p:sp>
      <p:sp>
        <p:nvSpPr>
          <p:cNvPr id="6" name="页脚占位符 5"/>
          <p:cNvSpPr>
            <a:spLocks noGrp="1"/>
          </p:cNvSpPr>
          <p:nvPr>
            <p:ph type="ftr" sz="quarter" idx="11"/>
          </p:nvPr>
        </p:nvSpPr>
        <p:spPr>
          <a:xfrm>
            <a:off x="4165600" y="6521451"/>
            <a:ext cx="3860800" cy="244475"/>
          </a:xfrm>
        </p:spPr>
        <p:txBody>
          <a:bodyPr/>
          <a:lstStyle>
            <a:lvl1pPr>
              <a:defRPr/>
            </a:lvl1pPr>
          </a:lstStyle>
          <a:p>
            <a:endParaRPr lang="en-US" altLang="zh-CN">
              <a:solidFill>
                <a:srgbClr val="2D6BC7"/>
              </a:solidFill>
            </a:endParaRPr>
          </a:p>
        </p:txBody>
      </p:sp>
      <p:sp>
        <p:nvSpPr>
          <p:cNvPr id="7" name="灯片编号占位符 6"/>
          <p:cNvSpPr>
            <a:spLocks noGrp="1"/>
          </p:cNvSpPr>
          <p:nvPr>
            <p:ph type="sldNum" sz="quarter" idx="12"/>
          </p:nvPr>
        </p:nvSpPr>
        <p:spPr>
          <a:xfrm>
            <a:off x="8737600" y="6521451"/>
            <a:ext cx="2844800" cy="244475"/>
          </a:xfrm>
        </p:spPr>
        <p:txBody>
          <a:bodyPr/>
          <a:lstStyle>
            <a:lvl1pPr>
              <a:defRPr/>
            </a:lvl1pPr>
          </a:lstStyle>
          <a:p>
            <a:fld id="{431F9143-C211-4707-A93B-6826A2A62681}" type="slidenum">
              <a:rPr lang="zh-CN" altLang="en-US">
                <a:solidFill>
                  <a:srgbClr val="2D6BC7"/>
                </a:solidFill>
              </a:rPr>
              <a:pPr/>
              <a:t>‹#›</a:t>
            </a:fld>
            <a:endParaRPr lang="en-US" altLang="zh-CN">
              <a:solidFill>
                <a:srgbClr val="2D6BC7"/>
              </a:solidFill>
            </a:endParaRPr>
          </a:p>
        </p:txBody>
      </p:sp>
    </p:spTree>
    <p:extLst>
      <p:ext uri="{BB962C8B-B14F-4D97-AF65-F5344CB8AC3E}">
        <p14:creationId xmlns:p14="http://schemas.microsoft.com/office/powerpoint/2010/main" val="1602111451"/>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2017/6/3</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3330054" y="2541722"/>
            <a:ext cx="5977719"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6000" b="1" dirty="0">
                <a:solidFill>
                  <a:schemeClr val="bg1"/>
                </a:solidFill>
                <a:latin typeface="微软雅黑" panose="020B0503020204020204" pitchFamily="34" charset="-122"/>
                <a:ea typeface="微软雅黑" panose="020B0503020204020204" pitchFamily="34" charset="-122"/>
              </a:rPr>
              <a:t>多处理机系统</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6167982" y="1295400"/>
            <a:ext cx="4678692" cy="5023512"/>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5" name="矩形 4"/>
          <p:cNvSpPr/>
          <p:nvPr/>
        </p:nvSpPr>
        <p:spPr bwMode="auto">
          <a:xfrm>
            <a:off x="985431" y="1295399"/>
            <a:ext cx="4678692" cy="5023513"/>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grpSp>
        <p:nvGrpSpPr>
          <p:cNvPr id="6" name="组合 5"/>
          <p:cNvGrpSpPr/>
          <p:nvPr/>
        </p:nvGrpSpPr>
        <p:grpSpPr>
          <a:xfrm>
            <a:off x="418359" y="882700"/>
            <a:ext cx="1010843" cy="1010844"/>
            <a:chOff x="1230014" y="1296938"/>
            <a:chExt cx="1011238" cy="1011238"/>
          </a:xfrm>
        </p:grpSpPr>
        <p:sp>
          <p:nvSpPr>
            <p:cNvPr id="7" name="Oval 13"/>
            <p:cNvSpPr>
              <a:spLocks noChangeArrowheads="1"/>
            </p:cNvSpPr>
            <p:nvPr/>
          </p:nvSpPr>
          <p:spPr bwMode="auto">
            <a:xfrm>
              <a:off x="1230014" y="1296938"/>
              <a:ext cx="1011238" cy="1011238"/>
            </a:xfrm>
            <a:prstGeom prst="ellipse">
              <a:avLst/>
            </a:prstGeom>
            <a:solidFill>
              <a:srgbClr val="FFC00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8" name="TextBox 14"/>
            <p:cNvSpPr txBox="1"/>
            <p:nvPr/>
          </p:nvSpPr>
          <p:spPr>
            <a:xfrm>
              <a:off x="128208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01</a:t>
              </a:r>
              <a:endParaRPr lang="zh-CN" altLang="en-US" sz="3998" dirty="0">
                <a:solidFill>
                  <a:schemeClr val="bg1"/>
                </a:solidFill>
                <a:latin typeface="+mn-ea"/>
              </a:endParaRPr>
            </a:p>
          </p:txBody>
        </p:sp>
      </p:grpSp>
      <p:grpSp>
        <p:nvGrpSpPr>
          <p:cNvPr id="9" name="组合 8"/>
          <p:cNvGrpSpPr/>
          <p:nvPr/>
        </p:nvGrpSpPr>
        <p:grpSpPr>
          <a:xfrm>
            <a:off x="10217025" y="5623390"/>
            <a:ext cx="1010843" cy="1010844"/>
            <a:chOff x="6470754" y="1296938"/>
            <a:chExt cx="1011238" cy="1011238"/>
          </a:xfrm>
        </p:grpSpPr>
        <p:sp>
          <p:nvSpPr>
            <p:cNvPr id="10" name="Oval 13"/>
            <p:cNvSpPr>
              <a:spLocks noChangeArrowheads="1"/>
            </p:cNvSpPr>
            <p:nvPr/>
          </p:nvSpPr>
          <p:spPr bwMode="auto">
            <a:xfrm>
              <a:off x="6470754" y="1296938"/>
              <a:ext cx="1011238" cy="1011238"/>
            </a:xfrm>
            <a:prstGeom prst="ellipse">
              <a:avLst/>
            </a:pr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1" name="TextBox 19"/>
            <p:cNvSpPr txBox="1"/>
            <p:nvPr/>
          </p:nvSpPr>
          <p:spPr>
            <a:xfrm>
              <a:off x="652282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02</a:t>
              </a:r>
              <a:endParaRPr lang="zh-CN" altLang="en-US" sz="3998" dirty="0">
                <a:solidFill>
                  <a:schemeClr val="bg1"/>
                </a:solidFill>
                <a:latin typeface="+mn-ea"/>
              </a:endParaRPr>
            </a:p>
          </p:txBody>
        </p:sp>
      </p:grpSp>
      <p:sp>
        <p:nvSpPr>
          <p:cNvPr id="130050" name="Rectangle 2"/>
          <p:cNvSpPr>
            <a:spLocks noGrp="1" noChangeArrowheads="1"/>
          </p:cNvSpPr>
          <p:nvPr>
            <p:ph type="title"/>
          </p:nvPr>
        </p:nvSpPr>
        <p:spPr>
          <a:xfrm>
            <a:off x="875773" y="-87859"/>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多处理机系统分类</a:t>
            </a:r>
          </a:p>
        </p:txBody>
      </p:sp>
      <p:sp>
        <p:nvSpPr>
          <p:cNvPr id="130051" name="Rectangle 3"/>
          <p:cNvSpPr>
            <a:spLocks noGrp="1" noChangeArrowheads="1"/>
          </p:cNvSpPr>
          <p:nvPr>
            <p:ph type="body" idx="1"/>
          </p:nvPr>
        </p:nvSpPr>
        <p:spPr>
          <a:xfrm>
            <a:off x="6231195" y="1546744"/>
            <a:ext cx="4703928" cy="5302250"/>
          </a:xfrm>
        </p:spPr>
        <p:txBody>
          <a:bodyPr>
            <a:normAutofit/>
          </a:bodyPr>
          <a:lstStyle/>
          <a:p>
            <a:pPr marL="0" indent="0">
              <a:lnSpc>
                <a:spcPct val="120000"/>
              </a:lnSpc>
              <a:buNone/>
            </a:pPr>
            <a:r>
              <a:rPr lang="zh-CN" altLang="en-US" b="1" dirty="0">
                <a:solidFill>
                  <a:srgbClr val="0000FF"/>
                </a:solidFill>
                <a:latin typeface="微软雅黑" panose="020B0503020204020204" pitchFamily="34" charset="-122"/>
                <a:ea typeface="微软雅黑" panose="020B0503020204020204" pitchFamily="34" charset="-122"/>
              </a:rPr>
              <a:t>阵列计算机</a:t>
            </a:r>
            <a:r>
              <a:rPr lang="zh-CN" altLang="en-US" b="1" dirty="0">
                <a:latin typeface="微软雅黑" panose="020B0503020204020204" pitchFamily="34" charset="-122"/>
                <a:ea typeface="微软雅黑" panose="020B0503020204020204" pitchFamily="34" charset="-122"/>
              </a:rPr>
              <a:t>和</a:t>
            </a:r>
            <a:r>
              <a:rPr lang="zh-CN" altLang="en-US" b="1" dirty="0">
                <a:solidFill>
                  <a:srgbClr val="0000FF"/>
                </a:solidFill>
                <a:latin typeface="微软雅黑" panose="020B0503020204020204" pitchFamily="34" charset="-122"/>
                <a:ea typeface="微软雅黑" panose="020B0503020204020204" pitchFamily="34" charset="-122"/>
              </a:rPr>
              <a:t>向量计算机</a:t>
            </a:r>
            <a:r>
              <a:rPr lang="zh-CN" altLang="en-US" b="1" dirty="0">
                <a:latin typeface="微软雅黑" panose="020B0503020204020204" pitchFamily="34" charset="-122"/>
                <a:ea typeface="微软雅黑" panose="020B0503020204020204" pitchFamily="34" charset="-122"/>
              </a:rPr>
              <a:t>属于</a:t>
            </a:r>
            <a:r>
              <a:rPr lang="en-US" altLang="zh-CN" b="1" dirty="0">
                <a:latin typeface="微软雅黑" panose="020B0503020204020204" pitchFamily="34" charset="-122"/>
                <a:ea typeface="微软雅黑" panose="020B0503020204020204" pitchFamily="34" charset="-122"/>
              </a:rPr>
              <a:t>SIMD</a:t>
            </a:r>
            <a:r>
              <a:rPr lang="zh-CN" altLang="en-US" b="1" dirty="0">
                <a:latin typeface="微软雅黑" panose="020B0503020204020204" pitchFamily="34" charset="-122"/>
                <a:ea typeface="微软雅黑" panose="020B0503020204020204" pitchFamily="34" charset="-122"/>
              </a:rPr>
              <a:t>系统，它们通过使用多个处理器同时对多个数据进行处理，从而提高机器的数据处理能力，这类机器对于数组或向量运算具有较高的性能，常用于如图像处理、具有向量化运算的科学计算领域等。</a:t>
            </a:r>
          </a:p>
        </p:txBody>
      </p:sp>
      <p:grpSp>
        <p:nvGrpSpPr>
          <p:cNvPr id="12" name="组合 11"/>
          <p:cNvGrpSpPr/>
          <p:nvPr/>
        </p:nvGrpSpPr>
        <p:grpSpPr>
          <a:xfrm>
            <a:off x="265635" y="269251"/>
            <a:ext cx="438352" cy="621987"/>
            <a:chOff x="265635" y="269251"/>
            <a:chExt cx="438352" cy="621987"/>
          </a:xfrm>
        </p:grpSpPr>
        <p:sp>
          <p:nvSpPr>
            <p:cNvPr id="13"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1104450" y="1495733"/>
            <a:ext cx="4489814" cy="4616648"/>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具有能同时执行多个任务或多条指令或同时对多个数据项进行处理的计算机系统通称为</a:t>
            </a:r>
            <a:r>
              <a:rPr lang="zh-CN" altLang="en-US" sz="2800" b="1" dirty="0">
                <a:solidFill>
                  <a:srgbClr val="FF0000"/>
                </a:solidFill>
                <a:latin typeface="微软雅黑" panose="020B0503020204020204" pitchFamily="34" charset="-122"/>
                <a:ea typeface="微软雅黑" panose="020B0503020204020204" pitchFamily="34" charset="-122"/>
              </a:rPr>
              <a:t>并行处理计算机系统</a:t>
            </a:r>
            <a:r>
              <a:rPr lang="zh-CN" altLang="en-US" sz="2800" b="1" dirty="0">
                <a:latin typeface="微软雅黑" panose="020B0503020204020204" pitchFamily="34" charset="-122"/>
                <a:ea typeface="微软雅黑" panose="020B0503020204020204" pitchFamily="34" charset="-122"/>
              </a:rPr>
              <a:t>，包括阵列计算机、向量计算机、多处理机系统和多计算机系统。</a:t>
            </a:r>
          </a:p>
        </p:txBody>
      </p:sp>
    </p:spTree>
    <p:extLst>
      <p:ext uri="{BB962C8B-B14F-4D97-AF65-F5344CB8AC3E}">
        <p14:creationId xmlns:p14="http://schemas.microsoft.com/office/powerpoint/2010/main" val="134752409"/>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椭圆 10"/>
          <p:cNvSpPr/>
          <p:nvPr/>
        </p:nvSpPr>
        <p:spPr bwMode="auto">
          <a:xfrm>
            <a:off x="265635" y="2642122"/>
            <a:ext cx="1728952" cy="1728952"/>
          </a:xfrm>
          <a:prstGeom prst="ellipse">
            <a:avLst/>
          </a:prstGeom>
          <a:solidFill>
            <a:srgbClr val="04BE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8" name="Freeform 5"/>
          <p:cNvSpPr>
            <a:spLocks noEditPoints="1"/>
          </p:cNvSpPr>
          <p:nvPr/>
        </p:nvSpPr>
        <p:spPr bwMode="auto">
          <a:xfrm>
            <a:off x="703987" y="2936695"/>
            <a:ext cx="997226" cy="1139806"/>
          </a:xfrm>
          <a:custGeom>
            <a:avLst/>
            <a:gdLst>
              <a:gd name="T0" fmla="*/ 1232 w 1933"/>
              <a:gd name="T1" fmla="*/ 274 h 2183"/>
              <a:gd name="T2" fmla="*/ 958 w 1933"/>
              <a:gd name="T3" fmla="*/ 547 h 2183"/>
              <a:gd name="T4" fmla="*/ 684 w 1933"/>
              <a:gd name="T5" fmla="*/ 547 h 2183"/>
              <a:gd name="T6" fmla="*/ 411 w 1933"/>
              <a:gd name="T7" fmla="*/ 274 h 2183"/>
              <a:gd name="T8" fmla="*/ 684 w 1933"/>
              <a:gd name="T9" fmla="*/ 0 h 2183"/>
              <a:gd name="T10" fmla="*/ 958 w 1933"/>
              <a:gd name="T11" fmla="*/ 0 h 2183"/>
              <a:gd name="T12" fmla="*/ 1232 w 1933"/>
              <a:gd name="T13" fmla="*/ 274 h 2183"/>
              <a:gd name="T14" fmla="*/ 1362 w 1933"/>
              <a:gd name="T15" fmla="*/ 274 h 2183"/>
              <a:gd name="T16" fmla="*/ 1368 w 1933"/>
              <a:gd name="T17" fmla="*/ 336 h 2183"/>
              <a:gd name="T18" fmla="*/ 1026 w 1933"/>
              <a:gd name="T19" fmla="*/ 678 h 2183"/>
              <a:gd name="T20" fmla="*/ 616 w 1933"/>
              <a:gd name="T21" fmla="*/ 678 h 2183"/>
              <a:gd name="T22" fmla="*/ 274 w 1933"/>
              <a:gd name="T23" fmla="*/ 336 h 2183"/>
              <a:gd name="T24" fmla="*/ 280 w 1933"/>
              <a:gd name="T25" fmla="*/ 274 h 2183"/>
              <a:gd name="T26" fmla="*/ 0 w 1933"/>
              <a:gd name="T27" fmla="*/ 610 h 2183"/>
              <a:gd name="T28" fmla="*/ 0 w 1933"/>
              <a:gd name="T29" fmla="*/ 1841 h 2183"/>
              <a:gd name="T30" fmla="*/ 342 w 1933"/>
              <a:gd name="T31" fmla="*/ 2183 h 2183"/>
              <a:gd name="T32" fmla="*/ 1253 w 1933"/>
              <a:gd name="T33" fmla="*/ 2183 h 2183"/>
              <a:gd name="T34" fmla="*/ 881 w 1933"/>
              <a:gd name="T35" fmla="*/ 1620 h 2183"/>
              <a:gd name="T36" fmla="*/ 1492 w 1933"/>
              <a:gd name="T37" fmla="*/ 1009 h 2183"/>
              <a:gd name="T38" fmla="*/ 1642 w 1933"/>
              <a:gd name="T39" fmla="*/ 1028 h 2183"/>
              <a:gd name="T40" fmla="*/ 1642 w 1933"/>
              <a:gd name="T41" fmla="*/ 610 h 2183"/>
              <a:gd name="T42" fmla="*/ 1362 w 1933"/>
              <a:gd name="T43" fmla="*/ 274 h 2183"/>
              <a:gd name="T44" fmla="*/ 770 w 1933"/>
              <a:gd name="T45" fmla="*/ 1368 h 2183"/>
              <a:gd name="T46" fmla="*/ 770 w 1933"/>
              <a:gd name="T47" fmla="*/ 1368 h 2183"/>
              <a:gd name="T48" fmla="*/ 342 w 1933"/>
              <a:gd name="T49" fmla="*/ 1368 h 2183"/>
              <a:gd name="T50" fmla="*/ 274 w 1933"/>
              <a:gd name="T51" fmla="*/ 1300 h 2183"/>
              <a:gd name="T52" fmla="*/ 342 w 1933"/>
              <a:gd name="T53" fmla="*/ 1232 h 2183"/>
              <a:gd name="T54" fmla="*/ 770 w 1933"/>
              <a:gd name="T55" fmla="*/ 1232 h 2183"/>
              <a:gd name="T56" fmla="*/ 838 w 1933"/>
              <a:gd name="T57" fmla="*/ 1300 h 2183"/>
              <a:gd name="T58" fmla="*/ 770 w 1933"/>
              <a:gd name="T59" fmla="*/ 1368 h 2183"/>
              <a:gd name="T60" fmla="*/ 907 w 1933"/>
              <a:gd name="T61" fmla="*/ 1095 h 2183"/>
              <a:gd name="T62" fmla="*/ 907 w 1933"/>
              <a:gd name="T63" fmla="*/ 1095 h 2183"/>
              <a:gd name="T64" fmla="*/ 342 w 1933"/>
              <a:gd name="T65" fmla="*/ 1095 h 2183"/>
              <a:gd name="T66" fmla="*/ 274 w 1933"/>
              <a:gd name="T67" fmla="*/ 1026 h 2183"/>
              <a:gd name="T68" fmla="*/ 342 w 1933"/>
              <a:gd name="T69" fmla="*/ 958 h 2183"/>
              <a:gd name="T70" fmla="*/ 907 w 1933"/>
              <a:gd name="T71" fmla="*/ 958 h 2183"/>
              <a:gd name="T72" fmla="*/ 975 w 1933"/>
              <a:gd name="T73" fmla="*/ 1026 h 2183"/>
              <a:gd name="T74" fmla="*/ 907 w 1933"/>
              <a:gd name="T75" fmla="*/ 1095 h 2183"/>
              <a:gd name="T76" fmla="*/ 1605 w 1933"/>
              <a:gd name="T77" fmla="*/ 1197 h 2183"/>
              <a:gd name="T78" fmla="*/ 1497 w 1933"/>
              <a:gd name="T79" fmla="*/ 1183 h 2183"/>
              <a:gd name="T80" fmla="*/ 1060 w 1933"/>
              <a:gd name="T81" fmla="*/ 1619 h 2183"/>
              <a:gd name="T82" fmla="*/ 1405 w 1933"/>
              <a:gd name="T83" fmla="*/ 2045 h 2183"/>
              <a:gd name="T84" fmla="*/ 1497 w 1933"/>
              <a:gd name="T85" fmla="*/ 2055 h 2183"/>
              <a:gd name="T86" fmla="*/ 1933 w 1933"/>
              <a:gd name="T87" fmla="*/ 1619 h 2183"/>
              <a:gd name="T88" fmla="*/ 1605 w 1933"/>
              <a:gd name="T89" fmla="*/ 1197 h 2183"/>
              <a:gd name="T90" fmla="*/ 1743 w 1933"/>
              <a:gd name="T91" fmla="*/ 1557 h 2183"/>
              <a:gd name="T92" fmla="*/ 1743 w 1933"/>
              <a:gd name="T93" fmla="*/ 1557 h 2183"/>
              <a:gd name="T94" fmla="*/ 1605 w 1933"/>
              <a:gd name="T95" fmla="*/ 1695 h 2183"/>
              <a:gd name="T96" fmla="*/ 1497 w 1933"/>
              <a:gd name="T97" fmla="*/ 1804 h 2183"/>
              <a:gd name="T98" fmla="*/ 1373 w 1933"/>
              <a:gd name="T99" fmla="*/ 1804 h 2183"/>
              <a:gd name="T100" fmla="*/ 1250 w 1933"/>
              <a:gd name="T101" fmla="*/ 1681 h 2183"/>
              <a:gd name="T102" fmla="*/ 1250 w 1933"/>
              <a:gd name="T103" fmla="*/ 1557 h 2183"/>
              <a:gd name="T104" fmla="*/ 1373 w 1933"/>
              <a:gd name="T105" fmla="*/ 1557 h 2183"/>
              <a:gd name="T106" fmla="*/ 1435 w 1933"/>
              <a:gd name="T107" fmla="*/ 1619 h 2183"/>
              <a:gd name="T108" fmla="*/ 1605 w 1933"/>
              <a:gd name="T109" fmla="*/ 1448 h 2183"/>
              <a:gd name="T110" fmla="*/ 1620 w 1933"/>
              <a:gd name="T111" fmla="*/ 1434 h 2183"/>
              <a:gd name="T112" fmla="*/ 1743 w 1933"/>
              <a:gd name="T113" fmla="*/ 1434 h 2183"/>
              <a:gd name="T114" fmla="*/ 1743 w 1933"/>
              <a:gd name="T115" fmla="*/ 1557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33" h="2183">
                <a:moveTo>
                  <a:pt x="1232" y="274"/>
                </a:moveTo>
                <a:cubicBezTo>
                  <a:pt x="1232" y="425"/>
                  <a:pt x="1109" y="547"/>
                  <a:pt x="958" y="547"/>
                </a:cubicBezTo>
                <a:lnTo>
                  <a:pt x="684" y="547"/>
                </a:lnTo>
                <a:cubicBezTo>
                  <a:pt x="533" y="547"/>
                  <a:pt x="411" y="425"/>
                  <a:pt x="411" y="274"/>
                </a:cubicBezTo>
                <a:cubicBezTo>
                  <a:pt x="411" y="122"/>
                  <a:pt x="533" y="0"/>
                  <a:pt x="684" y="0"/>
                </a:cubicBezTo>
                <a:lnTo>
                  <a:pt x="958" y="0"/>
                </a:lnTo>
                <a:cubicBezTo>
                  <a:pt x="1109" y="0"/>
                  <a:pt x="1232" y="122"/>
                  <a:pt x="1232" y="274"/>
                </a:cubicBezTo>
                <a:close/>
                <a:moveTo>
                  <a:pt x="1362" y="274"/>
                </a:moveTo>
                <a:cubicBezTo>
                  <a:pt x="1366" y="294"/>
                  <a:pt x="1368" y="315"/>
                  <a:pt x="1368" y="336"/>
                </a:cubicBezTo>
                <a:cubicBezTo>
                  <a:pt x="1368" y="525"/>
                  <a:pt x="1215" y="678"/>
                  <a:pt x="1026" y="678"/>
                </a:cubicBezTo>
                <a:lnTo>
                  <a:pt x="616" y="678"/>
                </a:lnTo>
                <a:cubicBezTo>
                  <a:pt x="427" y="678"/>
                  <a:pt x="274" y="525"/>
                  <a:pt x="274" y="336"/>
                </a:cubicBezTo>
                <a:cubicBezTo>
                  <a:pt x="274" y="315"/>
                  <a:pt x="276" y="294"/>
                  <a:pt x="280" y="274"/>
                </a:cubicBezTo>
                <a:cubicBezTo>
                  <a:pt x="121" y="303"/>
                  <a:pt x="0" y="442"/>
                  <a:pt x="0" y="610"/>
                </a:cubicBezTo>
                <a:lnTo>
                  <a:pt x="0" y="1841"/>
                </a:lnTo>
                <a:cubicBezTo>
                  <a:pt x="0" y="2030"/>
                  <a:pt x="153" y="2183"/>
                  <a:pt x="342" y="2183"/>
                </a:cubicBezTo>
                <a:lnTo>
                  <a:pt x="1253" y="2183"/>
                </a:lnTo>
                <a:cubicBezTo>
                  <a:pt x="1034" y="2090"/>
                  <a:pt x="881" y="1873"/>
                  <a:pt x="881" y="1620"/>
                </a:cubicBezTo>
                <a:cubicBezTo>
                  <a:pt x="881" y="1283"/>
                  <a:pt x="1155" y="1009"/>
                  <a:pt x="1492" y="1009"/>
                </a:cubicBezTo>
                <a:cubicBezTo>
                  <a:pt x="1544" y="1009"/>
                  <a:pt x="1594" y="1016"/>
                  <a:pt x="1642" y="1028"/>
                </a:cubicBezTo>
                <a:lnTo>
                  <a:pt x="1642" y="610"/>
                </a:lnTo>
                <a:cubicBezTo>
                  <a:pt x="1642" y="442"/>
                  <a:pt x="1521" y="303"/>
                  <a:pt x="1362" y="274"/>
                </a:cubicBezTo>
                <a:close/>
                <a:moveTo>
                  <a:pt x="770" y="1368"/>
                </a:moveTo>
                <a:lnTo>
                  <a:pt x="770" y="1368"/>
                </a:lnTo>
                <a:lnTo>
                  <a:pt x="342" y="1368"/>
                </a:lnTo>
                <a:cubicBezTo>
                  <a:pt x="304" y="1368"/>
                  <a:pt x="274" y="1338"/>
                  <a:pt x="274" y="1300"/>
                </a:cubicBezTo>
                <a:cubicBezTo>
                  <a:pt x="274" y="1262"/>
                  <a:pt x="304" y="1232"/>
                  <a:pt x="342" y="1232"/>
                </a:cubicBezTo>
                <a:lnTo>
                  <a:pt x="770" y="1232"/>
                </a:lnTo>
                <a:cubicBezTo>
                  <a:pt x="807" y="1232"/>
                  <a:pt x="838" y="1262"/>
                  <a:pt x="838" y="1300"/>
                </a:cubicBezTo>
                <a:cubicBezTo>
                  <a:pt x="838" y="1338"/>
                  <a:pt x="807" y="1368"/>
                  <a:pt x="770" y="1368"/>
                </a:cubicBezTo>
                <a:close/>
                <a:moveTo>
                  <a:pt x="907" y="1095"/>
                </a:moveTo>
                <a:lnTo>
                  <a:pt x="907" y="1095"/>
                </a:lnTo>
                <a:lnTo>
                  <a:pt x="342" y="1095"/>
                </a:lnTo>
                <a:cubicBezTo>
                  <a:pt x="304" y="1095"/>
                  <a:pt x="274" y="1064"/>
                  <a:pt x="274" y="1026"/>
                </a:cubicBezTo>
                <a:cubicBezTo>
                  <a:pt x="274" y="988"/>
                  <a:pt x="304" y="958"/>
                  <a:pt x="342" y="958"/>
                </a:cubicBezTo>
                <a:lnTo>
                  <a:pt x="907" y="958"/>
                </a:lnTo>
                <a:cubicBezTo>
                  <a:pt x="944" y="958"/>
                  <a:pt x="975" y="988"/>
                  <a:pt x="975" y="1026"/>
                </a:cubicBezTo>
                <a:cubicBezTo>
                  <a:pt x="975" y="1064"/>
                  <a:pt x="944" y="1095"/>
                  <a:pt x="907" y="1095"/>
                </a:cubicBezTo>
                <a:close/>
                <a:moveTo>
                  <a:pt x="1605" y="1197"/>
                </a:moveTo>
                <a:cubicBezTo>
                  <a:pt x="1571" y="1187"/>
                  <a:pt x="1534" y="1183"/>
                  <a:pt x="1497" y="1183"/>
                </a:cubicBezTo>
                <a:cubicBezTo>
                  <a:pt x="1256" y="1183"/>
                  <a:pt x="1060" y="1378"/>
                  <a:pt x="1060" y="1619"/>
                </a:cubicBezTo>
                <a:cubicBezTo>
                  <a:pt x="1060" y="1828"/>
                  <a:pt x="1208" y="2003"/>
                  <a:pt x="1405" y="2045"/>
                </a:cubicBezTo>
                <a:cubicBezTo>
                  <a:pt x="1434" y="2051"/>
                  <a:pt x="1465" y="2055"/>
                  <a:pt x="1497" y="2055"/>
                </a:cubicBezTo>
                <a:cubicBezTo>
                  <a:pt x="1737" y="2055"/>
                  <a:pt x="1933" y="1860"/>
                  <a:pt x="1933" y="1619"/>
                </a:cubicBezTo>
                <a:cubicBezTo>
                  <a:pt x="1933" y="1416"/>
                  <a:pt x="1794" y="1245"/>
                  <a:pt x="1605" y="1197"/>
                </a:cubicBezTo>
                <a:close/>
                <a:moveTo>
                  <a:pt x="1743" y="1557"/>
                </a:moveTo>
                <a:lnTo>
                  <a:pt x="1743" y="1557"/>
                </a:lnTo>
                <a:lnTo>
                  <a:pt x="1605" y="1695"/>
                </a:lnTo>
                <a:lnTo>
                  <a:pt x="1497" y="1804"/>
                </a:lnTo>
                <a:cubicBezTo>
                  <a:pt x="1462" y="1838"/>
                  <a:pt x="1407" y="1838"/>
                  <a:pt x="1373" y="1804"/>
                </a:cubicBezTo>
                <a:lnTo>
                  <a:pt x="1250" y="1681"/>
                </a:lnTo>
                <a:cubicBezTo>
                  <a:pt x="1216" y="1646"/>
                  <a:pt x="1216" y="1591"/>
                  <a:pt x="1250" y="1557"/>
                </a:cubicBezTo>
                <a:cubicBezTo>
                  <a:pt x="1284" y="1523"/>
                  <a:pt x="1339" y="1523"/>
                  <a:pt x="1373" y="1557"/>
                </a:cubicBezTo>
                <a:lnTo>
                  <a:pt x="1435" y="1619"/>
                </a:lnTo>
                <a:lnTo>
                  <a:pt x="1605" y="1448"/>
                </a:lnTo>
                <a:lnTo>
                  <a:pt x="1620" y="1434"/>
                </a:lnTo>
                <a:cubicBezTo>
                  <a:pt x="1654" y="1400"/>
                  <a:pt x="1709" y="1400"/>
                  <a:pt x="1743" y="1434"/>
                </a:cubicBezTo>
                <a:cubicBezTo>
                  <a:pt x="1777" y="1468"/>
                  <a:pt x="1777" y="1523"/>
                  <a:pt x="1743" y="1557"/>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0" name="椭圆 29"/>
          <p:cNvSpPr>
            <a:spLocks noChangeAspect="1"/>
          </p:cNvSpPr>
          <p:nvPr/>
        </p:nvSpPr>
        <p:spPr bwMode="auto">
          <a:xfrm>
            <a:off x="2319666" y="997925"/>
            <a:ext cx="417437" cy="417437"/>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2310860" y="2213388"/>
            <a:ext cx="417437" cy="417437"/>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2310860" y="3562585"/>
            <a:ext cx="417437" cy="417437"/>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2370730" y="4672700"/>
            <a:ext cx="417437" cy="417437"/>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38" name="椭圆 37"/>
          <p:cNvSpPr>
            <a:spLocks noChangeAspect="1"/>
          </p:cNvSpPr>
          <p:nvPr/>
        </p:nvSpPr>
        <p:spPr bwMode="auto">
          <a:xfrm>
            <a:off x="2334701" y="5764502"/>
            <a:ext cx="417437" cy="417437"/>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5</a:t>
            </a:r>
            <a:endParaRPr lang="zh-CN" altLang="en-US" sz="1599" b="1" dirty="0">
              <a:solidFill>
                <a:schemeClr val="bg1"/>
              </a:solidFill>
              <a:latin typeface="+mn-ea"/>
            </a:endParaRPr>
          </a:p>
        </p:txBody>
      </p:sp>
      <p:sp>
        <p:nvSpPr>
          <p:cNvPr id="19"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875773" y="247069"/>
            <a:ext cx="3467616" cy="683264"/>
          </a:xfrm>
          <a:prstGeom prst="rect">
            <a:avLst/>
          </a:prstGeom>
        </p:spPr>
        <p:txBody>
          <a:bodyPr wrap="none">
            <a:spAutoFit/>
          </a:bodyPr>
          <a:lstStyle/>
          <a:p>
            <a:pPr>
              <a:lnSpc>
                <a:spcPct val="120000"/>
              </a:lnSpc>
            </a:pPr>
            <a:r>
              <a:rPr lang="zh-CN" altLang="en-US" sz="3200" b="1" dirty="0">
                <a:latin typeface="微软雅黑" panose="020B0503020204020204" pitchFamily="34" charset="-122"/>
                <a:ea typeface="微软雅黑" panose="020B0503020204020204" pitchFamily="34" charset="-122"/>
              </a:rPr>
              <a:t>多处理机系统分类</a:t>
            </a:r>
          </a:p>
        </p:txBody>
      </p:sp>
      <p:sp>
        <p:nvSpPr>
          <p:cNvPr id="3" name="矩形 2"/>
          <p:cNvSpPr/>
          <p:nvPr/>
        </p:nvSpPr>
        <p:spPr>
          <a:xfrm>
            <a:off x="2848037" y="930333"/>
            <a:ext cx="8255786" cy="609398"/>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多处理机系统和多计算机系统都属于</a:t>
            </a:r>
            <a:r>
              <a:rPr lang="en-US" altLang="zh-CN" sz="2800" b="1" dirty="0">
                <a:latin typeface="微软雅黑" panose="020B0503020204020204" pitchFamily="34" charset="-122"/>
                <a:ea typeface="微软雅黑" panose="020B0503020204020204" pitchFamily="34" charset="-122"/>
              </a:rPr>
              <a:t>MIMD</a:t>
            </a:r>
            <a:r>
              <a:rPr lang="zh-CN" altLang="en-US" sz="2800" b="1" dirty="0">
                <a:latin typeface="微软雅黑" panose="020B0503020204020204" pitchFamily="34" charset="-122"/>
                <a:ea typeface="微软雅黑" panose="020B0503020204020204" pitchFamily="34" charset="-122"/>
              </a:rPr>
              <a:t>系统 。</a:t>
            </a:r>
          </a:p>
        </p:txBody>
      </p:sp>
      <p:sp>
        <p:nvSpPr>
          <p:cNvPr id="4" name="矩形 3"/>
          <p:cNvSpPr/>
          <p:nvPr/>
        </p:nvSpPr>
        <p:spPr>
          <a:xfrm>
            <a:off x="2848037" y="1575383"/>
            <a:ext cx="8714147" cy="1643527"/>
          </a:xfrm>
          <a:prstGeom prst="rect">
            <a:avLst/>
          </a:prstGeom>
        </p:spPr>
        <p:txBody>
          <a:bodyPr wrap="square">
            <a:spAutoFit/>
          </a:bodyPr>
          <a:lstStyle/>
          <a:p>
            <a:pPr>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多处理机系统</a:t>
            </a:r>
            <a:r>
              <a:rPr lang="zh-CN" altLang="en-US" sz="2800" b="1" dirty="0">
                <a:latin typeface="微软雅黑" panose="020B0503020204020204" pitchFamily="34" charset="-122"/>
                <a:ea typeface="微软雅黑" panose="020B0503020204020204" pitchFamily="34" charset="-122"/>
              </a:rPr>
              <a:t>是指两个或两个以上处理机通过高速互连网络连接起来，在统一的操作系统管理下，实现指令以上级（任务级、作业级）并行。</a:t>
            </a:r>
          </a:p>
        </p:txBody>
      </p:sp>
      <p:sp>
        <p:nvSpPr>
          <p:cNvPr id="9" name="矩形 8"/>
          <p:cNvSpPr/>
          <p:nvPr/>
        </p:nvSpPr>
        <p:spPr>
          <a:xfrm>
            <a:off x="2848037" y="3211071"/>
            <a:ext cx="8427544" cy="1126462"/>
          </a:xfrm>
          <a:prstGeom prst="rect">
            <a:avLst/>
          </a:prstGeom>
        </p:spPr>
        <p:txBody>
          <a:bodyPr wrap="square">
            <a:spAutoFit/>
          </a:bodyPr>
          <a:lstStyle/>
          <a:p>
            <a:pPr>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多计算机系统</a:t>
            </a:r>
            <a:r>
              <a:rPr lang="zh-CN" altLang="en-US" sz="2800" b="1" dirty="0">
                <a:latin typeface="微软雅黑" panose="020B0503020204020204" pitchFamily="34" charset="-122"/>
                <a:ea typeface="微软雅黑" panose="020B0503020204020204" pitchFamily="34" charset="-122"/>
              </a:rPr>
              <a:t>则是由多个独立的计算机组成，它们通过某种方式连接起来，实现并行处理或计算。</a:t>
            </a:r>
            <a:endParaRPr lang="en-US" altLang="zh-CN" sz="2800" b="1" dirty="0">
              <a:latin typeface="微软雅黑" panose="020B0503020204020204" pitchFamily="34" charset="-122"/>
              <a:ea typeface="微软雅黑" panose="020B0503020204020204" pitchFamily="34" charset="-122"/>
            </a:endParaRPr>
          </a:p>
        </p:txBody>
      </p:sp>
      <p:sp>
        <p:nvSpPr>
          <p:cNvPr id="12" name="矩形 11"/>
          <p:cNvSpPr/>
          <p:nvPr/>
        </p:nvSpPr>
        <p:spPr>
          <a:xfrm>
            <a:off x="2848037" y="4337533"/>
            <a:ext cx="9016621"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一般来讲，多计算机系统属于松耦合系统，构成系统的可以是独立的计算机；</a:t>
            </a:r>
            <a:endParaRPr lang="en-US" altLang="zh-CN"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2848037" y="5409990"/>
            <a:ext cx="9028045"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多处理机系统更多属于紧耦合系统，各处理机既独立又联系紧密，如通过共享存储器互连等。</a:t>
            </a:r>
          </a:p>
        </p:txBody>
      </p:sp>
    </p:spTree>
    <p:extLst>
      <p:ext uri="{BB962C8B-B14F-4D97-AF65-F5344CB8AC3E}">
        <p14:creationId xmlns:p14="http://schemas.microsoft.com/office/powerpoint/2010/main" val="2696701140"/>
      </p:ext>
    </p:extLst>
  </p:cSld>
  <p:clrMapOvr>
    <a:masterClrMapping/>
  </p:clrMapOvr>
  <mc:AlternateContent xmlns:mc="http://schemas.openxmlformats.org/markup-compatibility/2006" xmlns:p14="http://schemas.microsoft.com/office/powerpoint/2010/main">
    <mc:Choice Requires="p14">
      <p:transition spd="slow" advTm="5214">
        <p14:conveyor dir="l"/>
      </p:transition>
    </mc:Choice>
    <mc:Fallback xmlns="">
      <p:transition spd="slow" advTm="5214">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3"/>
          <p:cNvSpPr>
            <a:spLocks noChangeArrowheads="1"/>
          </p:cNvSpPr>
          <p:nvPr/>
        </p:nvSpPr>
        <p:spPr bwMode="auto">
          <a:xfrm>
            <a:off x="441371" y="1330861"/>
            <a:ext cx="5429974" cy="4981870"/>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0" name="Freeform 12"/>
          <p:cNvSpPr>
            <a:spLocks/>
          </p:cNvSpPr>
          <p:nvPr/>
        </p:nvSpPr>
        <p:spPr bwMode="auto">
          <a:xfrm>
            <a:off x="347341" y="1220925"/>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5432993" y="5882030"/>
            <a:ext cx="528432" cy="513512"/>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33125" name="Rectangle 5"/>
          <p:cNvSpPr>
            <a:spLocks noGrp="1" noChangeArrowheads="1"/>
          </p:cNvSpPr>
          <p:nvPr>
            <p:ph type="title"/>
          </p:nvPr>
        </p:nvSpPr>
        <p:spPr>
          <a:xfrm>
            <a:off x="848503" y="58193"/>
            <a:ext cx="9168979" cy="1034101"/>
          </a:xfrm>
        </p:spPr>
        <p:txBody>
          <a:bodyPr>
            <a:noAutofit/>
          </a:bodyPr>
          <a:lstStyle/>
          <a:p>
            <a:pPr algn="l">
              <a:lnSpc>
                <a:spcPct val="120000"/>
              </a:lnSpc>
            </a:pPr>
            <a:r>
              <a:rPr lang="zh-CN" altLang="en-US" sz="2800" b="1" dirty="0">
                <a:latin typeface="微软雅黑" panose="020B0503020204020204" pitchFamily="34" charset="-122"/>
                <a:ea typeface="微软雅黑" panose="020B0503020204020204" pitchFamily="34" charset="-122"/>
              </a:rPr>
              <a:t>对称式共享存储器多处理机</a:t>
            </a:r>
            <a:r>
              <a:rPr lang="en-US" altLang="zh-CN" sz="2800" b="1" dirty="0">
                <a:latin typeface="微软雅黑" panose="020B0503020204020204" pitchFamily="34" charset="-122"/>
                <a:ea typeface="微软雅黑" panose="020B0503020204020204" pitchFamily="34" charset="-122"/>
              </a:rPr>
              <a:t>SMP</a:t>
            </a:r>
            <a:endParaRPr lang="zh-CN" altLang="en-US" sz="2800" b="1" dirty="0">
              <a:latin typeface="微软雅黑" panose="020B0503020204020204" pitchFamily="34" charset="-122"/>
              <a:ea typeface="微软雅黑" panose="020B0503020204020204" pitchFamily="34" charset="-122"/>
            </a:endParaRPr>
          </a:p>
        </p:txBody>
      </p:sp>
      <p:sp>
        <p:nvSpPr>
          <p:cNvPr id="133123" name="Rectangle 3"/>
          <p:cNvSpPr>
            <a:spLocks noGrp="1" noChangeArrowheads="1"/>
          </p:cNvSpPr>
          <p:nvPr>
            <p:ph type="body" sz="half" idx="1"/>
          </p:nvPr>
        </p:nvSpPr>
        <p:spPr>
          <a:xfrm>
            <a:off x="437421" y="1510549"/>
            <a:ext cx="5581764" cy="4595369"/>
          </a:xfrm>
        </p:spPr>
        <p:txBody>
          <a:bodyPr>
            <a:noAutofit/>
          </a:bodyPr>
          <a:lstStyle/>
          <a:p>
            <a:pPr marL="0" indent="0">
              <a:lnSpc>
                <a:spcPct val="120000"/>
              </a:lnSpc>
              <a:buNone/>
            </a:pPr>
            <a:r>
              <a:rPr lang="en-US" altLang="zh-CN" sz="2400" b="1" dirty="0">
                <a:latin typeface="微软雅黑" panose="020B0503020204020204" pitchFamily="34" charset="-122"/>
                <a:ea typeface="微软雅黑" panose="020B0503020204020204" pitchFamily="34" charset="-122"/>
              </a:rPr>
              <a:t>SMP</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Symmetric shared-memory </a:t>
            </a:r>
            <a:r>
              <a:rPr lang="en-US" altLang="zh-CN" sz="2400" b="1" dirty="0" err="1">
                <a:latin typeface="微软雅黑" panose="020B0503020204020204" pitchFamily="34" charset="-122"/>
                <a:ea typeface="微软雅黑" panose="020B0503020204020204" pitchFamily="34" charset="-122"/>
              </a:rPr>
              <a:t>MultiProcessor</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indent="0">
              <a:lnSpc>
                <a:spcPct val="120000"/>
              </a:lnSpc>
              <a:buNone/>
            </a:pPr>
            <a:r>
              <a:rPr lang="en-US" altLang="zh-CN" sz="2400" b="1" dirty="0">
                <a:latin typeface="微软雅黑" panose="020B0503020204020204" pitchFamily="34" charset="-122"/>
                <a:ea typeface="微软雅黑" panose="020B0503020204020204" pitchFamily="34" charset="-122"/>
              </a:rPr>
              <a:t>SMP</a:t>
            </a:r>
            <a:r>
              <a:rPr lang="zh-CN" altLang="en-US" sz="2400" b="1" dirty="0">
                <a:latin typeface="微软雅黑" panose="020B0503020204020204" pitchFamily="34" charset="-122"/>
                <a:ea typeface="微软雅黑" panose="020B0503020204020204" pitchFamily="34" charset="-122"/>
              </a:rPr>
              <a:t>系统使用商品微处理器（具有片上或外置高速缓存）作为其处理机，经由互联网络与一个共享存储器互连。</a:t>
            </a:r>
            <a:endParaRPr lang="en-US" altLang="zh-CN" sz="2400" b="1" dirty="0">
              <a:latin typeface="微软雅黑" panose="020B0503020204020204" pitchFamily="34" charset="-122"/>
              <a:ea typeface="微软雅黑" panose="020B0503020204020204" pitchFamily="34" charset="-122"/>
            </a:endParaRPr>
          </a:p>
          <a:p>
            <a:pPr marL="0" indent="0">
              <a:lnSpc>
                <a:spcPct val="120000"/>
              </a:lnSpc>
              <a:buNone/>
            </a:pPr>
            <a:r>
              <a:rPr lang="zh-CN" altLang="en-US" sz="2400" b="1" dirty="0">
                <a:latin typeface="微软雅黑" panose="020B0503020204020204" pitchFamily="34" charset="-122"/>
                <a:ea typeface="微软雅黑" panose="020B0503020204020204" pitchFamily="34" charset="-122"/>
              </a:rPr>
              <a:t>因为对共享存储器的访问是平衡的，每个处理器有相等的机会读／写存储器，也有相同的访问速度，且存储器是共享的，故称为</a:t>
            </a:r>
            <a:r>
              <a:rPr lang="zh-CN" altLang="en-US" sz="2400" b="1" dirty="0">
                <a:solidFill>
                  <a:srgbClr val="FF0000"/>
                </a:solidFill>
                <a:latin typeface="微软雅黑" panose="020B0503020204020204" pitchFamily="34" charset="-122"/>
                <a:ea typeface="微软雅黑" panose="020B0503020204020204" pitchFamily="34" charset="-122"/>
              </a:rPr>
              <a:t>对称式共享存储器多处理机</a:t>
            </a:r>
            <a:r>
              <a:rPr lang="zh-CN" altLang="en-US" sz="2400" b="1" dirty="0">
                <a:latin typeface="微软雅黑" panose="020B0503020204020204" pitchFamily="34" charset="-122"/>
                <a:ea typeface="微软雅黑" panose="020B0503020204020204" pitchFamily="34" charset="-122"/>
              </a:rPr>
              <a:t>。</a:t>
            </a:r>
          </a:p>
        </p:txBody>
      </p:sp>
      <p:graphicFrame>
        <p:nvGraphicFramePr>
          <p:cNvPr id="133124" name="Object 4"/>
          <p:cNvGraphicFramePr>
            <a:graphicFrameLocks noGrp="1" noChangeAspect="1"/>
          </p:cNvGraphicFramePr>
          <p:nvPr>
            <p:ph sz="half" idx="2"/>
            <p:extLst>
              <p:ext uri="{D42A27DB-BD31-4B8C-83A1-F6EECF244321}">
                <p14:modId xmlns:p14="http://schemas.microsoft.com/office/powerpoint/2010/main" val="1132814901"/>
              </p:ext>
            </p:extLst>
          </p:nvPr>
        </p:nvGraphicFramePr>
        <p:xfrm>
          <a:off x="6163584" y="1452496"/>
          <a:ext cx="5387317" cy="4847068"/>
        </p:xfrm>
        <a:graphic>
          <a:graphicData uri="http://schemas.openxmlformats.org/presentationml/2006/ole">
            <mc:AlternateContent xmlns:mc="http://schemas.openxmlformats.org/markup-compatibility/2006">
              <mc:Choice xmlns:v="urn:schemas-microsoft-com:vml" Requires="v">
                <p:oleObj spid="_x0000_s1031" r:id="rId3" imgW="1942490" imgH="1433779" progId="Visio.Drawing.11">
                  <p:embed/>
                </p:oleObj>
              </mc:Choice>
              <mc:Fallback>
                <p:oleObj r:id="rId3" imgW="1942490" imgH="1433779" progId="Visio.Drawing.11">
                  <p:embed/>
                  <p:pic>
                    <p:nvPicPr>
                      <p:cNvPr id="1331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3584" y="1452496"/>
                        <a:ext cx="5387317" cy="4847068"/>
                      </a:xfrm>
                      <a:prstGeom prst="rect">
                        <a:avLst/>
                      </a:prstGeom>
                      <a:noFill/>
                      <a:ln>
                        <a:noFill/>
                      </a:ln>
                      <a:effectLst/>
                      <a:extLst/>
                    </p:spPr>
                  </p:pic>
                </p:oleObj>
              </mc:Fallback>
            </mc:AlternateContent>
          </a:graphicData>
        </a:graphic>
      </p:graphicFrame>
      <p:grpSp>
        <p:nvGrpSpPr>
          <p:cNvPr id="5" name="组合 4"/>
          <p:cNvGrpSpPr/>
          <p:nvPr/>
        </p:nvGrpSpPr>
        <p:grpSpPr>
          <a:xfrm>
            <a:off x="265635" y="269251"/>
            <a:ext cx="438352" cy="621987"/>
            <a:chOff x="265635" y="269251"/>
            <a:chExt cx="438352" cy="621987"/>
          </a:xfrm>
        </p:grpSpPr>
        <p:sp>
          <p:nvSpPr>
            <p:cNvPr id="6"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3408809692"/>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698061" y="-85502"/>
            <a:ext cx="10515600" cy="1325563"/>
          </a:xfrm>
        </p:spPr>
        <p:txBody>
          <a:bodyPr>
            <a:normAutofit/>
          </a:bodyPr>
          <a:lstStyle/>
          <a:p>
            <a:pPr algn="l">
              <a:lnSpc>
                <a:spcPct val="120000"/>
              </a:lnSpc>
            </a:pP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分布式共享存储器多处理机</a:t>
            </a:r>
            <a:r>
              <a:rPr lang="en-US" altLang="zh-CN" sz="2800" b="1" dirty="0">
                <a:latin typeface="微软雅黑" panose="020B0503020204020204" pitchFamily="34" charset="-122"/>
                <a:ea typeface="微软雅黑" panose="020B0503020204020204" pitchFamily="34" charset="-122"/>
              </a:rPr>
              <a:t>DSM </a:t>
            </a:r>
            <a:endParaRPr lang="zh-CN" altLang="en-US" sz="2800" b="1" dirty="0">
              <a:latin typeface="微软雅黑" panose="020B0503020204020204" pitchFamily="34" charset="-122"/>
              <a:ea typeface="微软雅黑" panose="020B0503020204020204" pitchFamily="34" charset="-122"/>
            </a:endParaRPr>
          </a:p>
        </p:txBody>
      </p:sp>
      <p:sp>
        <p:nvSpPr>
          <p:cNvPr id="136195" name="Rectangle 3"/>
          <p:cNvSpPr>
            <a:spLocks noGrp="1" noChangeArrowheads="1"/>
          </p:cNvSpPr>
          <p:nvPr>
            <p:ph type="body" idx="1"/>
          </p:nvPr>
        </p:nvSpPr>
        <p:spPr>
          <a:xfrm>
            <a:off x="441371" y="1598085"/>
            <a:ext cx="5922731" cy="4397513"/>
          </a:xfrm>
          <a:ln w="28575">
            <a:solidFill>
              <a:srgbClr val="01C0B0"/>
            </a:solidFill>
          </a:ln>
        </p:spPr>
        <p:txBody>
          <a:bodyPr>
            <a:noAutofit/>
          </a:bodyPr>
          <a:lstStyle/>
          <a:p>
            <a:pPr marL="0" indent="0">
              <a:lnSpc>
                <a:spcPct val="120000"/>
              </a:lnSpc>
              <a:buNone/>
            </a:pPr>
            <a:r>
              <a:rPr lang="en-US" altLang="zh-CN" sz="2400" b="1" dirty="0">
                <a:latin typeface="微软雅黑" panose="020B0503020204020204" pitchFamily="34" charset="-122"/>
                <a:ea typeface="微软雅黑" panose="020B0503020204020204" pitchFamily="34" charset="-122"/>
              </a:rPr>
              <a:t>DSM</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Distributed Shared Memory</a:t>
            </a:r>
            <a:r>
              <a:rPr lang="zh-CN" altLang="en-US" sz="2400" b="1" dirty="0">
                <a:latin typeface="微软雅黑" panose="020B0503020204020204" pitchFamily="34" charset="-122"/>
                <a:ea typeface="微软雅黑" panose="020B0503020204020204" pitchFamily="34" charset="-122"/>
              </a:rPr>
              <a:t>）</a:t>
            </a:r>
          </a:p>
          <a:p>
            <a:pPr marL="0" indent="0">
              <a:lnSpc>
                <a:spcPct val="120000"/>
              </a:lnSpc>
              <a:buNone/>
            </a:pPr>
            <a:r>
              <a:rPr lang="en-US" altLang="zh-CN" sz="2400" b="1" dirty="0">
                <a:latin typeface="微软雅黑" panose="020B0503020204020204" pitchFamily="34" charset="-122"/>
                <a:ea typeface="微软雅黑" panose="020B0503020204020204" pitchFamily="34" charset="-122"/>
              </a:rPr>
              <a:t>DSM</a:t>
            </a:r>
            <a:r>
              <a:rPr lang="zh-CN" altLang="en-US" sz="2400" b="1" dirty="0">
                <a:latin typeface="微软雅黑" panose="020B0503020204020204" pitchFamily="34" charset="-122"/>
                <a:ea typeface="微软雅黑" panose="020B0503020204020204" pitchFamily="34" charset="-122"/>
              </a:rPr>
              <a:t>具有</a:t>
            </a:r>
            <a:r>
              <a:rPr lang="zh-CN" altLang="en-US" sz="2400" b="1" dirty="0">
                <a:solidFill>
                  <a:srgbClr val="0000FF"/>
                </a:solidFill>
                <a:latin typeface="微软雅黑" panose="020B0503020204020204" pitchFamily="34" charset="-122"/>
                <a:ea typeface="微软雅黑" panose="020B0503020204020204" pitchFamily="34" charset="-122"/>
              </a:rPr>
              <a:t>分布的物理存储器</a:t>
            </a:r>
            <a:r>
              <a:rPr lang="zh-CN" altLang="en-US" sz="2400" b="1" dirty="0">
                <a:latin typeface="微软雅黑" panose="020B0503020204020204" pitchFamily="34" charset="-122"/>
                <a:ea typeface="微软雅黑" panose="020B0503020204020204" pitchFamily="34" charset="-122"/>
              </a:rPr>
              <a:t>。为支持更大数目的处理机，存储器必须分布到各个处理机上，而非集中式，否则存储器系统将不能满足处理机带宽的要求。</a:t>
            </a:r>
          </a:p>
          <a:p>
            <a:pPr marL="0" indent="0">
              <a:lnSpc>
                <a:spcPct val="120000"/>
              </a:lnSpc>
              <a:buNone/>
            </a:pPr>
            <a:r>
              <a:rPr lang="zh-CN" altLang="en-US" sz="2400" b="1" dirty="0">
                <a:latin typeface="微软雅黑" panose="020B0503020204020204" pitchFamily="34" charset="-122"/>
                <a:ea typeface="微软雅黑" panose="020B0503020204020204" pitchFamily="34" charset="-122"/>
              </a:rPr>
              <a:t>系统将物理上分散的各台处理机所拥有的</a:t>
            </a:r>
            <a:r>
              <a:rPr lang="zh-CN" altLang="en-US" sz="2400" b="1" dirty="0">
                <a:solidFill>
                  <a:srgbClr val="0000FF"/>
                </a:solidFill>
                <a:latin typeface="微软雅黑" panose="020B0503020204020204" pitchFamily="34" charset="-122"/>
                <a:ea typeface="微软雅黑" panose="020B0503020204020204" pitchFamily="34" charset="-122"/>
              </a:rPr>
              <a:t>局部存储器在逻辑上统一编址</a:t>
            </a:r>
            <a:r>
              <a:rPr lang="zh-CN" altLang="en-US" sz="2400" b="1" dirty="0">
                <a:latin typeface="微软雅黑" panose="020B0503020204020204" pitchFamily="34" charset="-122"/>
                <a:ea typeface="微软雅黑" panose="020B0503020204020204" pitchFamily="34" charset="-122"/>
              </a:rPr>
              <a:t>，形成一个统一的虚拟地址空间，以实现存储器的共享。</a:t>
            </a:r>
          </a:p>
        </p:txBody>
      </p:sp>
      <p:sp>
        <p:nvSpPr>
          <p:cNvPr id="136197" name="Rectangle 5"/>
          <p:cNvSpPr>
            <a:spLocks noChangeArrowheads="1"/>
          </p:cNvSpPr>
          <p:nvPr/>
        </p:nvSpPr>
        <p:spPr bwMode="auto">
          <a:xfrm>
            <a:off x="6003635" y="22346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6722488" y="1557337"/>
            <a:ext cx="4299526" cy="4438261"/>
          </a:xfrm>
          <a:prstGeom prst="rect">
            <a:avLst/>
          </a:prstGeom>
        </p:spPr>
      </p:pic>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430848096"/>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椭圆 10"/>
          <p:cNvSpPr/>
          <p:nvPr/>
        </p:nvSpPr>
        <p:spPr bwMode="auto">
          <a:xfrm>
            <a:off x="265635" y="3033625"/>
            <a:ext cx="1563512" cy="1563512"/>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30" name="椭圆 29"/>
          <p:cNvSpPr>
            <a:spLocks noChangeAspect="1"/>
          </p:cNvSpPr>
          <p:nvPr/>
        </p:nvSpPr>
        <p:spPr bwMode="auto">
          <a:xfrm>
            <a:off x="2025109" y="1155091"/>
            <a:ext cx="417437" cy="417437"/>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2025109" y="2080101"/>
            <a:ext cx="417437" cy="417437"/>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2047447" y="2893902"/>
            <a:ext cx="417437" cy="417437"/>
          </a:xfrm>
          <a:prstGeom prst="ellipse">
            <a:avLst/>
          </a:prstGeom>
          <a:solidFill>
            <a:srgbClr val="02B9E7"/>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2029392" y="4145472"/>
            <a:ext cx="417437" cy="417437"/>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38" name="椭圆 37"/>
          <p:cNvSpPr>
            <a:spLocks noChangeAspect="1"/>
          </p:cNvSpPr>
          <p:nvPr/>
        </p:nvSpPr>
        <p:spPr bwMode="auto">
          <a:xfrm>
            <a:off x="2025108" y="5376710"/>
            <a:ext cx="417437" cy="417437"/>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5</a:t>
            </a:r>
            <a:endParaRPr lang="zh-CN" altLang="en-US" sz="1599" b="1" dirty="0">
              <a:solidFill>
                <a:schemeClr val="bg1"/>
              </a:solidFill>
              <a:latin typeface="+mn-ea"/>
            </a:endParaRPr>
          </a:p>
        </p:txBody>
      </p:sp>
      <p:sp>
        <p:nvSpPr>
          <p:cNvPr id="19" name="Freeform 6"/>
          <p:cNvSpPr>
            <a:spLocks noEditPoints="1"/>
          </p:cNvSpPr>
          <p:nvPr/>
        </p:nvSpPr>
        <p:spPr bwMode="auto">
          <a:xfrm>
            <a:off x="692654" y="3297499"/>
            <a:ext cx="905436" cy="1035763"/>
          </a:xfrm>
          <a:custGeom>
            <a:avLst/>
            <a:gdLst>
              <a:gd name="T0" fmla="*/ 957 w 1932"/>
              <a:gd name="T1" fmla="*/ 547 h 2183"/>
              <a:gd name="T2" fmla="*/ 410 w 1932"/>
              <a:gd name="T3" fmla="*/ 274 h 2183"/>
              <a:gd name="T4" fmla="*/ 957 w 1932"/>
              <a:gd name="T5" fmla="*/ 0 h 2183"/>
              <a:gd name="T6" fmla="*/ 1362 w 1932"/>
              <a:gd name="T7" fmla="*/ 274 h 2183"/>
              <a:gd name="T8" fmla="*/ 1026 w 1932"/>
              <a:gd name="T9" fmla="*/ 678 h 2183"/>
              <a:gd name="T10" fmla="*/ 273 w 1932"/>
              <a:gd name="T11" fmla="*/ 336 h 2183"/>
              <a:gd name="T12" fmla="*/ 0 w 1932"/>
              <a:gd name="T13" fmla="*/ 610 h 2183"/>
              <a:gd name="T14" fmla="*/ 342 w 1932"/>
              <a:gd name="T15" fmla="*/ 2183 h 2183"/>
              <a:gd name="T16" fmla="*/ 880 w 1932"/>
              <a:gd name="T17" fmla="*/ 1620 h 2183"/>
              <a:gd name="T18" fmla="*/ 1641 w 1932"/>
              <a:gd name="T19" fmla="*/ 1028 h 2183"/>
              <a:gd name="T20" fmla="*/ 1362 w 1932"/>
              <a:gd name="T21" fmla="*/ 274 h 2183"/>
              <a:gd name="T22" fmla="*/ 769 w 1932"/>
              <a:gd name="T23" fmla="*/ 1368 h 2183"/>
              <a:gd name="T24" fmla="*/ 273 w 1932"/>
              <a:gd name="T25" fmla="*/ 1300 h 2183"/>
              <a:gd name="T26" fmla="*/ 769 w 1932"/>
              <a:gd name="T27" fmla="*/ 1232 h 2183"/>
              <a:gd name="T28" fmla="*/ 769 w 1932"/>
              <a:gd name="T29" fmla="*/ 1368 h 2183"/>
              <a:gd name="T30" fmla="*/ 906 w 1932"/>
              <a:gd name="T31" fmla="*/ 1095 h 2183"/>
              <a:gd name="T32" fmla="*/ 273 w 1932"/>
              <a:gd name="T33" fmla="*/ 1026 h 2183"/>
              <a:gd name="T34" fmla="*/ 906 w 1932"/>
              <a:gd name="T35" fmla="*/ 958 h 2183"/>
              <a:gd name="T36" fmla="*/ 906 w 1932"/>
              <a:gd name="T37" fmla="*/ 1095 h 2183"/>
              <a:gd name="T38" fmla="*/ 1496 w 1932"/>
              <a:gd name="T39" fmla="*/ 1183 h 2183"/>
              <a:gd name="T40" fmla="*/ 1404 w 1932"/>
              <a:gd name="T41" fmla="*/ 2045 h 2183"/>
              <a:gd name="T42" fmla="*/ 1932 w 1932"/>
              <a:gd name="T43" fmla="*/ 1619 h 2183"/>
              <a:gd name="T44" fmla="*/ 1692 w 1932"/>
              <a:gd name="T45" fmla="*/ 1434 h 2183"/>
              <a:gd name="T46" fmla="*/ 1686 w 1932"/>
              <a:gd name="T47" fmla="*/ 1559 h 2183"/>
              <a:gd name="T48" fmla="*/ 1686 w 1932"/>
              <a:gd name="T49" fmla="*/ 1662 h 2183"/>
              <a:gd name="T50" fmla="*/ 1692 w 1932"/>
              <a:gd name="T51" fmla="*/ 1787 h 2183"/>
              <a:gd name="T52" fmla="*/ 1515 w 1932"/>
              <a:gd name="T53" fmla="*/ 1729 h 2183"/>
              <a:gd name="T54" fmla="*/ 1338 w 1932"/>
              <a:gd name="T55" fmla="*/ 1787 h 2183"/>
              <a:gd name="T56" fmla="*/ 1345 w 1932"/>
              <a:gd name="T57" fmla="*/ 1662 h 2183"/>
              <a:gd name="T58" fmla="*/ 1345 w 1932"/>
              <a:gd name="T59" fmla="*/ 1559 h 2183"/>
              <a:gd name="T60" fmla="*/ 1338 w 1932"/>
              <a:gd name="T61" fmla="*/ 1434 h 2183"/>
              <a:gd name="T62" fmla="*/ 1515 w 1932"/>
              <a:gd name="T63" fmla="*/ 1492 h 2183"/>
              <a:gd name="T64" fmla="*/ 1692 w 1932"/>
              <a:gd name="T65" fmla="*/ 1434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32" h="2183">
                <a:moveTo>
                  <a:pt x="1231" y="274"/>
                </a:moveTo>
                <a:cubicBezTo>
                  <a:pt x="1231" y="425"/>
                  <a:pt x="1108" y="547"/>
                  <a:pt x="957" y="547"/>
                </a:cubicBezTo>
                <a:lnTo>
                  <a:pt x="684" y="547"/>
                </a:lnTo>
                <a:cubicBezTo>
                  <a:pt x="533" y="547"/>
                  <a:pt x="410" y="425"/>
                  <a:pt x="410" y="274"/>
                </a:cubicBezTo>
                <a:cubicBezTo>
                  <a:pt x="410" y="122"/>
                  <a:pt x="533" y="0"/>
                  <a:pt x="684" y="0"/>
                </a:cubicBezTo>
                <a:lnTo>
                  <a:pt x="957" y="0"/>
                </a:lnTo>
                <a:cubicBezTo>
                  <a:pt x="1108" y="0"/>
                  <a:pt x="1231" y="122"/>
                  <a:pt x="1231" y="274"/>
                </a:cubicBezTo>
                <a:close/>
                <a:moveTo>
                  <a:pt x="1362" y="274"/>
                </a:moveTo>
                <a:cubicBezTo>
                  <a:pt x="1366" y="294"/>
                  <a:pt x="1368" y="315"/>
                  <a:pt x="1368" y="336"/>
                </a:cubicBezTo>
                <a:cubicBezTo>
                  <a:pt x="1368" y="525"/>
                  <a:pt x="1215" y="678"/>
                  <a:pt x="1026" y="678"/>
                </a:cubicBezTo>
                <a:lnTo>
                  <a:pt x="616" y="678"/>
                </a:lnTo>
                <a:cubicBezTo>
                  <a:pt x="426" y="678"/>
                  <a:pt x="273" y="525"/>
                  <a:pt x="273" y="336"/>
                </a:cubicBezTo>
                <a:cubicBezTo>
                  <a:pt x="273" y="315"/>
                  <a:pt x="275" y="294"/>
                  <a:pt x="279" y="274"/>
                </a:cubicBezTo>
                <a:cubicBezTo>
                  <a:pt x="120" y="303"/>
                  <a:pt x="0" y="442"/>
                  <a:pt x="0" y="610"/>
                </a:cubicBezTo>
                <a:lnTo>
                  <a:pt x="0" y="1841"/>
                </a:lnTo>
                <a:cubicBezTo>
                  <a:pt x="0" y="2030"/>
                  <a:pt x="153" y="2183"/>
                  <a:pt x="342" y="2183"/>
                </a:cubicBezTo>
                <a:lnTo>
                  <a:pt x="1252" y="2183"/>
                </a:lnTo>
                <a:cubicBezTo>
                  <a:pt x="1034" y="2090"/>
                  <a:pt x="880" y="1873"/>
                  <a:pt x="880" y="1620"/>
                </a:cubicBezTo>
                <a:cubicBezTo>
                  <a:pt x="880" y="1283"/>
                  <a:pt x="1154" y="1009"/>
                  <a:pt x="1492" y="1009"/>
                </a:cubicBezTo>
                <a:cubicBezTo>
                  <a:pt x="1544" y="1009"/>
                  <a:pt x="1594" y="1016"/>
                  <a:pt x="1641" y="1028"/>
                </a:cubicBezTo>
                <a:lnTo>
                  <a:pt x="1641" y="610"/>
                </a:lnTo>
                <a:cubicBezTo>
                  <a:pt x="1641" y="442"/>
                  <a:pt x="1521" y="303"/>
                  <a:pt x="1362" y="274"/>
                </a:cubicBezTo>
                <a:close/>
                <a:moveTo>
                  <a:pt x="769" y="1368"/>
                </a:moveTo>
                <a:lnTo>
                  <a:pt x="769" y="1368"/>
                </a:lnTo>
                <a:lnTo>
                  <a:pt x="342" y="1368"/>
                </a:lnTo>
                <a:cubicBezTo>
                  <a:pt x="304" y="1368"/>
                  <a:pt x="273" y="1338"/>
                  <a:pt x="273" y="1300"/>
                </a:cubicBezTo>
                <a:cubicBezTo>
                  <a:pt x="273" y="1262"/>
                  <a:pt x="304" y="1232"/>
                  <a:pt x="342" y="1232"/>
                </a:cubicBezTo>
                <a:lnTo>
                  <a:pt x="769" y="1232"/>
                </a:lnTo>
                <a:cubicBezTo>
                  <a:pt x="807" y="1232"/>
                  <a:pt x="838" y="1262"/>
                  <a:pt x="838" y="1300"/>
                </a:cubicBezTo>
                <a:cubicBezTo>
                  <a:pt x="838" y="1338"/>
                  <a:pt x="807" y="1368"/>
                  <a:pt x="769" y="1368"/>
                </a:cubicBezTo>
                <a:close/>
                <a:moveTo>
                  <a:pt x="906" y="1095"/>
                </a:moveTo>
                <a:lnTo>
                  <a:pt x="906" y="1095"/>
                </a:lnTo>
                <a:lnTo>
                  <a:pt x="342" y="1095"/>
                </a:lnTo>
                <a:cubicBezTo>
                  <a:pt x="304" y="1095"/>
                  <a:pt x="273" y="1064"/>
                  <a:pt x="273" y="1026"/>
                </a:cubicBezTo>
                <a:cubicBezTo>
                  <a:pt x="273" y="988"/>
                  <a:pt x="304" y="958"/>
                  <a:pt x="342" y="958"/>
                </a:cubicBezTo>
                <a:lnTo>
                  <a:pt x="906" y="958"/>
                </a:lnTo>
                <a:cubicBezTo>
                  <a:pt x="944" y="958"/>
                  <a:pt x="975" y="988"/>
                  <a:pt x="975" y="1026"/>
                </a:cubicBezTo>
                <a:cubicBezTo>
                  <a:pt x="975" y="1064"/>
                  <a:pt x="944" y="1095"/>
                  <a:pt x="906" y="1095"/>
                </a:cubicBezTo>
                <a:close/>
                <a:moveTo>
                  <a:pt x="1605" y="1197"/>
                </a:moveTo>
                <a:cubicBezTo>
                  <a:pt x="1570" y="1187"/>
                  <a:pt x="1534" y="1183"/>
                  <a:pt x="1496" y="1183"/>
                </a:cubicBezTo>
                <a:cubicBezTo>
                  <a:pt x="1255" y="1183"/>
                  <a:pt x="1060" y="1378"/>
                  <a:pt x="1060" y="1619"/>
                </a:cubicBezTo>
                <a:cubicBezTo>
                  <a:pt x="1060" y="1828"/>
                  <a:pt x="1208" y="2003"/>
                  <a:pt x="1404" y="2045"/>
                </a:cubicBezTo>
                <a:cubicBezTo>
                  <a:pt x="1434" y="2051"/>
                  <a:pt x="1464" y="2055"/>
                  <a:pt x="1496" y="2055"/>
                </a:cubicBezTo>
                <a:cubicBezTo>
                  <a:pt x="1737" y="2055"/>
                  <a:pt x="1932" y="1860"/>
                  <a:pt x="1932" y="1619"/>
                </a:cubicBezTo>
                <a:cubicBezTo>
                  <a:pt x="1932" y="1416"/>
                  <a:pt x="1793" y="1245"/>
                  <a:pt x="1605" y="1197"/>
                </a:cubicBezTo>
                <a:close/>
                <a:moveTo>
                  <a:pt x="1692" y="1434"/>
                </a:moveTo>
                <a:lnTo>
                  <a:pt x="1692" y="1434"/>
                </a:lnTo>
                <a:cubicBezTo>
                  <a:pt x="1724" y="1467"/>
                  <a:pt x="1722" y="1523"/>
                  <a:pt x="1686" y="1559"/>
                </a:cubicBezTo>
                <a:lnTo>
                  <a:pt x="1634" y="1610"/>
                </a:lnTo>
                <a:lnTo>
                  <a:pt x="1686" y="1662"/>
                </a:lnTo>
                <a:cubicBezTo>
                  <a:pt x="1722" y="1698"/>
                  <a:pt x="1724" y="1754"/>
                  <a:pt x="1692" y="1787"/>
                </a:cubicBezTo>
                <a:lnTo>
                  <a:pt x="1692" y="1787"/>
                </a:lnTo>
                <a:cubicBezTo>
                  <a:pt x="1659" y="1820"/>
                  <a:pt x="1603" y="1817"/>
                  <a:pt x="1567" y="1781"/>
                </a:cubicBezTo>
                <a:lnTo>
                  <a:pt x="1515" y="1729"/>
                </a:lnTo>
                <a:lnTo>
                  <a:pt x="1463" y="1781"/>
                </a:lnTo>
                <a:cubicBezTo>
                  <a:pt x="1427" y="1817"/>
                  <a:pt x="1371" y="1820"/>
                  <a:pt x="1338" y="1787"/>
                </a:cubicBezTo>
                <a:lnTo>
                  <a:pt x="1338" y="1787"/>
                </a:lnTo>
                <a:cubicBezTo>
                  <a:pt x="1306" y="1754"/>
                  <a:pt x="1309" y="1698"/>
                  <a:pt x="1345" y="1662"/>
                </a:cubicBezTo>
                <a:lnTo>
                  <a:pt x="1396" y="1610"/>
                </a:lnTo>
                <a:lnTo>
                  <a:pt x="1345" y="1559"/>
                </a:lnTo>
                <a:cubicBezTo>
                  <a:pt x="1309" y="1523"/>
                  <a:pt x="1306" y="1466"/>
                  <a:pt x="1338" y="1434"/>
                </a:cubicBezTo>
                <a:lnTo>
                  <a:pt x="1338" y="1434"/>
                </a:lnTo>
                <a:cubicBezTo>
                  <a:pt x="1371" y="1401"/>
                  <a:pt x="1427" y="1404"/>
                  <a:pt x="1463" y="1440"/>
                </a:cubicBezTo>
                <a:lnTo>
                  <a:pt x="1515" y="1492"/>
                </a:lnTo>
                <a:lnTo>
                  <a:pt x="1567" y="1440"/>
                </a:lnTo>
                <a:cubicBezTo>
                  <a:pt x="1603" y="1404"/>
                  <a:pt x="1659" y="1401"/>
                  <a:pt x="1692" y="1434"/>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dirty="0"/>
          </a:p>
        </p:txBody>
      </p: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756487" y="281243"/>
            <a:ext cx="3995004" cy="609398"/>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大规模并行处理机Ｍ</a:t>
            </a:r>
            <a:r>
              <a:rPr lang="en-US" altLang="zh-CN" sz="2800" b="1" dirty="0">
                <a:latin typeface="微软雅黑" panose="020B0503020204020204" pitchFamily="34" charset="-122"/>
                <a:ea typeface="微软雅黑" panose="020B0503020204020204" pitchFamily="34" charset="-122"/>
              </a:rPr>
              <a:t>PP </a:t>
            </a:r>
            <a:endParaRPr lang="zh-CN" altLang="en-US" sz="2800" b="1" dirty="0">
              <a:latin typeface="微软雅黑" panose="020B0503020204020204" pitchFamily="34" charset="-122"/>
              <a:ea typeface="微软雅黑" panose="020B0503020204020204" pitchFamily="34" charset="-122"/>
            </a:endParaRPr>
          </a:p>
        </p:txBody>
      </p:sp>
      <p:sp>
        <p:nvSpPr>
          <p:cNvPr id="3" name="矩形 2"/>
          <p:cNvSpPr/>
          <p:nvPr/>
        </p:nvSpPr>
        <p:spPr>
          <a:xfrm>
            <a:off x="2592671" y="1134838"/>
            <a:ext cx="5853910" cy="497957"/>
          </a:xfrm>
          <a:prstGeom prst="rect">
            <a:avLst/>
          </a:prstGeom>
        </p:spPr>
        <p:txBody>
          <a:bodyPr wrap="none">
            <a:spAutoFit/>
          </a:bodyPr>
          <a:lstStyle/>
          <a:p>
            <a:pPr>
              <a:lnSpc>
                <a:spcPct val="120000"/>
              </a:lnSpc>
            </a:pPr>
            <a:r>
              <a:rPr lang="en-US" altLang="zh-CN" sz="2400" b="1" dirty="0">
                <a:solidFill>
                  <a:srgbClr val="FF0000"/>
                </a:solidFill>
                <a:latin typeface="微软雅黑" panose="020B0503020204020204" pitchFamily="34" charset="-122"/>
                <a:ea typeface="微软雅黑" panose="020B0503020204020204" pitchFamily="34" charset="-122"/>
              </a:rPr>
              <a:t>MPP</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Massively Parallel Processor</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
        <p:nvSpPr>
          <p:cNvPr id="4" name="矩形 3"/>
          <p:cNvSpPr/>
          <p:nvPr/>
        </p:nvSpPr>
        <p:spPr>
          <a:xfrm>
            <a:off x="2592671" y="1927147"/>
            <a:ext cx="8803885" cy="497957"/>
          </a:xfrm>
          <a:prstGeom prst="rect">
            <a:avLst/>
          </a:prstGeom>
        </p:spPr>
        <p:txBody>
          <a:bodyPr wrap="none">
            <a:spAutoFit/>
          </a:bodyPr>
          <a:lstStyle/>
          <a:p>
            <a:pPr>
              <a:lnSpc>
                <a:spcPct val="120000"/>
              </a:lnSpc>
            </a:pPr>
            <a:r>
              <a:rPr lang="en-US" altLang="zh-CN" sz="2400" b="1" dirty="0">
                <a:latin typeface="微软雅黑" panose="020B0503020204020204" pitchFamily="34" charset="-122"/>
                <a:ea typeface="微软雅黑" panose="020B0503020204020204" pitchFamily="34" charset="-122"/>
              </a:rPr>
              <a:t>MPP</a:t>
            </a:r>
            <a:r>
              <a:rPr lang="zh-CN" altLang="en-US" sz="2400" b="1" dirty="0">
                <a:latin typeface="微软雅黑" panose="020B0503020204020204" pitchFamily="34" charset="-122"/>
                <a:ea typeface="微软雅黑" panose="020B0503020204020204" pitchFamily="34" charset="-122"/>
              </a:rPr>
              <a:t>一般是指超大型（</a:t>
            </a:r>
            <a:r>
              <a:rPr lang="en-US" altLang="zh-CN" sz="2400" b="1" dirty="0">
                <a:latin typeface="微软雅黑" panose="020B0503020204020204" pitchFamily="34" charset="-122"/>
                <a:ea typeface="微软雅黑" panose="020B0503020204020204" pitchFamily="34" charset="-122"/>
              </a:rPr>
              <a:t>Very Large-Scale </a:t>
            </a:r>
            <a:r>
              <a:rPr lang="zh-CN" altLang="en-US" sz="2400" b="1" dirty="0">
                <a:latin typeface="微软雅黑" panose="020B0503020204020204" pitchFamily="34" charset="-122"/>
                <a:ea typeface="微软雅黑" panose="020B0503020204020204" pitchFamily="34" charset="-122"/>
              </a:rPr>
              <a:t>）并行计算机系统；</a:t>
            </a:r>
            <a:endParaRPr lang="en-US" altLang="zh-CN" sz="2400" b="1" dirty="0">
              <a:latin typeface="微软雅黑" panose="020B0503020204020204" pitchFamily="34" charset="-122"/>
              <a:ea typeface="微软雅黑" panose="020B0503020204020204" pitchFamily="34" charset="-122"/>
            </a:endParaRPr>
          </a:p>
        </p:txBody>
      </p:sp>
      <p:sp>
        <p:nvSpPr>
          <p:cNvPr id="8" name="矩形 7"/>
          <p:cNvSpPr/>
          <p:nvPr/>
        </p:nvSpPr>
        <p:spPr>
          <a:xfrm>
            <a:off x="2592671" y="2813382"/>
            <a:ext cx="8247771" cy="497957"/>
          </a:xfrm>
          <a:prstGeom prst="rect">
            <a:avLst/>
          </a:prstGeom>
        </p:spPr>
        <p:txBody>
          <a:bodyPr wrap="none">
            <a:spAutoFit/>
          </a:bodyPr>
          <a:lstStyle/>
          <a:p>
            <a:pPr>
              <a:lnSpc>
                <a:spcPct val="120000"/>
              </a:lnSpc>
            </a:pPr>
            <a:r>
              <a:rPr lang="zh-CN" altLang="en-US" sz="2400" b="1" dirty="0">
                <a:latin typeface="微软雅黑" panose="020B0503020204020204" pitchFamily="34" charset="-122"/>
                <a:ea typeface="微软雅黑" panose="020B0503020204020204" pitchFamily="34" charset="-122"/>
              </a:rPr>
              <a:t>关键技术：主要是</a:t>
            </a:r>
            <a:r>
              <a:rPr lang="en-US" altLang="zh-CN" sz="2400" b="1" dirty="0">
                <a:latin typeface="微软雅黑" panose="020B0503020204020204" pitchFamily="34" charset="-122"/>
                <a:ea typeface="微软雅黑" panose="020B0503020204020204" pitchFamily="34" charset="-122"/>
              </a:rPr>
              <a:t>VLSI</a:t>
            </a:r>
            <a:r>
              <a:rPr lang="zh-CN" altLang="en-US" sz="2400" b="1" dirty="0">
                <a:latin typeface="微软雅黑" panose="020B0503020204020204" pitchFamily="34" charset="-122"/>
                <a:ea typeface="微软雅黑" panose="020B0503020204020204" pitchFamily="34" charset="-122"/>
              </a:rPr>
              <a:t>、可扩展技术和共享虚拟存储技术；</a:t>
            </a:r>
          </a:p>
        </p:txBody>
      </p:sp>
      <p:sp>
        <p:nvSpPr>
          <p:cNvPr id="9" name="矩形 8"/>
          <p:cNvSpPr/>
          <p:nvPr/>
        </p:nvSpPr>
        <p:spPr>
          <a:xfrm>
            <a:off x="2592671" y="3507882"/>
            <a:ext cx="8801214" cy="1421928"/>
          </a:xfrm>
          <a:prstGeom prst="rect">
            <a:avLst/>
          </a:prstGeom>
        </p:spPr>
        <p:txBody>
          <a:bodyPr wrap="square">
            <a:spAutoFit/>
          </a:bodyPr>
          <a:lstStyle/>
          <a:p>
            <a:pPr>
              <a:lnSpc>
                <a:spcPct val="120000"/>
              </a:lnSpc>
            </a:pPr>
            <a:r>
              <a:rPr lang="zh-CN" altLang="en-US" sz="2400" b="1" dirty="0">
                <a:latin typeface="微软雅黑" panose="020B0503020204020204" pitchFamily="34" charset="-122"/>
                <a:ea typeface="微软雅黑" panose="020B0503020204020204" pitchFamily="34" charset="-122"/>
              </a:rPr>
              <a:t>实现方法：将数百乃至数千个高性能、低成本的</a:t>
            </a:r>
            <a:r>
              <a:rPr lang="en-US" altLang="zh-CN" sz="2400" b="1" dirty="0">
                <a:latin typeface="微软雅黑" panose="020B0503020204020204" pitchFamily="34" charset="-122"/>
                <a:ea typeface="微软雅黑" panose="020B0503020204020204" pitchFamily="34" charset="-122"/>
              </a:rPr>
              <a:t>RISC</a:t>
            </a:r>
            <a:r>
              <a:rPr lang="zh-CN" altLang="en-US" sz="2400" b="1" dirty="0">
                <a:latin typeface="微软雅黑" panose="020B0503020204020204" pitchFamily="34" charset="-122"/>
                <a:ea typeface="微软雅黑" panose="020B0503020204020204" pitchFamily="34" charset="-122"/>
              </a:rPr>
              <a:t>微处理器用专门的互联网络互联，组成</a:t>
            </a:r>
            <a:r>
              <a:rPr lang="en-US" altLang="zh-CN" sz="2400" b="1" dirty="0">
                <a:solidFill>
                  <a:srgbClr val="FF0000"/>
                </a:solidFill>
                <a:latin typeface="微软雅黑" panose="020B0503020204020204" pitchFamily="34" charset="-122"/>
                <a:ea typeface="微软雅黑" panose="020B0503020204020204" pitchFamily="34" charset="-122"/>
              </a:rPr>
              <a:t>MPP</a:t>
            </a:r>
            <a:r>
              <a:rPr lang="zh-CN" altLang="en-US" sz="2400" b="1" dirty="0">
                <a:latin typeface="微软雅黑" panose="020B0503020204020204" pitchFamily="34" charset="-122"/>
                <a:ea typeface="微软雅黑" panose="020B0503020204020204" pitchFamily="34" charset="-122"/>
              </a:rPr>
              <a:t>。这种处理机可进行中粒度和细粒度大规模并行处理，构成</a:t>
            </a:r>
            <a:r>
              <a:rPr lang="en-US" altLang="zh-CN" sz="2400" b="1" dirty="0">
                <a:latin typeface="微软雅黑" panose="020B0503020204020204" pitchFamily="34" charset="-122"/>
                <a:ea typeface="微软雅黑" panose="020B0503020204020204" pitchFamily="34" charset="-122"/>
              </a:rPr>
              <a:t>SIMD</a:t>
            </a:r>
            <a:r>
              <a:rPr lang="zh-CN" altLang="en-US" sz="2400" b="1" dirty="0">
                <a:latin typeface="微软雅黑" panose="020B0503020204020204" pitchFamily="34" charset="-122"/>
                <a:ea typeface="微软雅黑" panose="020B0503020204020204" pitchFamily="34" charset="-122"/>
              </a:rPr>
              <a:t>或</a:t>
            </a:r>
            <a:r>
              <a:rPr lang="en-US" altLang="zh-CN" sz="2400" b="1" dirty="0">
                <a:latin typeface="微软雅黑" panose="020B0503020204020204" pitchFamily="34" charset="-122"/>
                <a:ea typeface="微软雅黑" panose="020B0503020204020204" pitchFamily="34" charset="-122"/>
              </a:rPr>
              <a:t>MIMD</a:t>
            </a:r>
            <a:r>
              <a:rPr lang="zh-CN" altLang="en-US" sz="2400" b="1" dirty="0">
                <a:latin typeface="微软雅黑" panose="020B0503020204020204" pitchFamily="34" charset="-122"/>
                <a:ea typeface="微软雅黑" panose="020B0503020204020204" pitchFamily="34" charset="-122"/>
              </a:rPr>
              <a:t>系统。</a:t>
            </a:r>
          </a:p>
        </p:txBody>
      </p:sp>
      <p:sp>
        <p:nvSpPr>
          <p:cNvPr id="12" name="矩形 11"/>
          <p:cNvSpPr/>
          <p:nvPr/>
        </p:nvSpPr>
        <p:spPr>
          <a:xfrm>
            <a:off x="2592671" y="4861584"/>
            <a:ext cx="8798257" cy="1865126"/>
          </a:xfrm>
          <a:prstGeom prst="rect">
            <a:avLst/>
          </a:prstGeom>
        </p:spPr>
        <p:txBody>
          <a:bodyPr wrap="square">
            <a:spAutoFit/>
          </a:bodyPr>
          <a:lstStyle/>
          <a:p>
            <a:pPr>
              <a:lnSpc>
                <a:spcPct val="120000"/>
              </a:lnSpc>
            </a:pPr>
            <a:r>
              <a:rPr lang="zh-CN" altLang="en-US" sz="2400" b="1" dirty="0">
                <a:latin typeface="微软雅黑" panose="020B0503020204020204" pitchFamily="34" charset="-122"/>
                <a:ea typeface="微软雅黑" panose="020B0503020204020204" pitchFamily="34" charset="-122"/>
              </a:rPr>
              <a:t>适用的领域：科学计算、工程模拟和信号处理等以计算为主的一些重大课题和领域。比如全球气候预报、基因工程、飞行动力学、海洋环流、流体动力学、超导建模、半导体建模、量子染色动力学、视觉等。</a:t>
            </a:r>
          </a:p>
        </p:txBody>
      </p:sp>
    </p:spTree>
    <p:extLst>
      <p:ext uri="{BB962C8B-B14F-4D97-AF65-F5344CB8AC3E}">
        <p14:creationId xmlns:p14="http://schemas.microsoft.com/office/powerpoint/2010/main" val="2133706504"/>
      </p:ext>
    </p:extLst>
  </p:cSld>
  <p:clrMapOvr>
    <a:masterClrMapping/>
  </p:clrMapOvr>
  <mc:AlternateContent xmlns:mc="http://schemas.openxmlformats.org/markup-compatibility/2006" xmlns:p14="http://schemas.microsoft.com/office/powerpoint/2010/main">
    <mc:Choice Requires="p14">
      <p:transition spd="slow" advTm="4982">
        <p14:conveyor dir="l"/>
      </p:transition>
    </mc:Choice>
    <mc:Fallback xmlns="">
      <p:transition spd="slow" advTm="4982">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50689" y="285121"/>
            <a:ext cx="5974331" cy="633144"/>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b="1" dirty="0">
                <a:latin typeface="微软雅黑" panose="020B0503020204020204" pitchFamily="34" charset="-122"/>
                <a:ea typeface="微软雅黑" panose="020B0503020204020204" pitchFamily="34" charset="-122"/>
              </a:rPr>
              <a:t>多处理机的</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一致性</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椭圆 8"/>
          <p:cNvSpPr/>
          <p:nvPr/>
        </p:nvSpPr>
        <p:spPr bwMode="auto">
          <a:xfrm>
            <a:off x="265635" y="1354868"/>
            <a:ext cx="799664" cy="799664"/>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TextBox 9"/>
          <p:cNvSpPr txBox="1"/>
          <p:nvPr/>
        </p:nvSpPr>
        <p:spPr>
          <a:xfrm>
            <a:off x="319998" y="1462430"/>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01</a:t>
            </a:r>
            <a:endParaRPr lang="zh-CN" altLang="en-US" sz="3199" b="1" dirty="0">
              <a:solidFill>
                <a:schemeClr val="bg1"/>
              </a:solidFill>
              <a:latin typeface="+mj-ea"/>
              <a:ea typeface="+mj-ea"/>
            </a:endParaRPr>
          </a:p>
        </p:txBody>
      </p:sp>
      <p:sp>
        <p:nvSpPr>
          <p:cNvPr id="11" name="椭圆 10"/>
          <p:cNvSpPr/>
          <p:nvPr/>
        </p:nvSpPr>
        <p:spPr bwMode="auto">
          <a:xfrm>
            <a:off x="265635" y="3290440"/>
            <a:ext cx="799664" cy="799664"/>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2" name="TextBox 11"/>
          <p:cNvSpPr txBox="1"/>
          <p:nvPr/>
        </p:nvSpPr>
        <p:spPr>
          <a:xfrm>
            <a:off x="319998" y="3398001"/>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02</a:t>
            </a:r>
            <a:endParaRPr lang="zh-CN" altLang="en-US" sz="3199" b="1" dirty="0">
              <a:solidFill>
                <a:schemeClr val="bg1"/>
              </a:solidFill>
              <a:latin typeface="+mj-ea"/>
              <a:ea typeface="+mj-ea"/>
            </a:endParaRPr>
          </a:p>
        </p:txBody>
      </p:sp>
      <p:sp>
        <p:nvSpPr>
          <p:cNvPr id="13" name="椭圆 12"/>
          <p:cNvSpPr/>
          <p:nvPr/>
        </p:nvSpPr>
        <p:spPr bwMode="auto">
          <a:xfrm>
            <a:off x="265635" y="5278949"/>
            <a:ext cx="799664" cy="799664"/>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4" name="TextBox 13"/>
          <p:cNvSpPr txBox="1"/>
          <p:nvPr/>
        </p:nvSpPr>
        <p:spPr>
          <a:xfrm>
            <a:off x="319998" y="5386512"/>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03</a:t>
            </a:r>
            <a:endParaRPr lang="zh-CN" altLang="en-US" sz="3199" b="1" dirty="0">
              <a:solidFill>
                <a:schemeClr val="bg1"/>
              </a:solidFill>
              <a:latin typeface="+mj-ea"/>
              <a:ea typeface="+mj-ea"/>
            </a:endParaRPr>
          </a:p>
        </p:txBody>
      </p:sp>
      <p:cxnSp>
        <p:nvCxnSpPr>
          <p:cNvPr id="15" name="直接连接符 14"/>
          <p:cNvCxnSpPr/>
          <p:nvPr/>
        </p:nvCxnSpPr>
        <p:spPr bwMode="auto">
          <a:xfrm>
            <a:off x="671932" y="4098244"/>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671932" y="2159842"/>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324451" y="1203505"/>
            <a:ext cx="10139668" cy="1643527"/>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在单处理机系统中，</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一致性问题只存在于</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与主存之间，即使有</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通道共享</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亦可通过</a:t>
            </a:r>
            <a:r>
              <a:rPr lang="zh-CN" altLang="en-US" sz="2800" b="1" dirty="0">
                <a:solidFill>
                  <a:srgbClr val="0000FF"/>
                </a:solidFill>
                <a:latin typeface="微软雅黑" panose="020B0503020204020204" pitchFamily="34" charset="-122"/>
                <a:ea typeface="微软雅黑" panose="020B0503020204020204" pitchFamily="34" charset="-122"/>
              </a:rPr>
              <a:t>全写法</a:t>
            </a:r>
            <a:r>
              <a:rPr lang="zh-CN" altLang="en-US" sz="2800" b="1" dirty="0">
                <a:latin typeface="微软雅黑" panose="020B0503020204020204" pitchFamily="34" charset="-122"/>
                <a:ea typeface="微软雅黑" panose="020B0503020204020204" pitchFamily="34" charset="-122"/>
              </a:rPr>
              <a:t>或</a:t>
            </a:r>
            <a:r>
              <a:rPr lang="zh-CN" altLang="en-US" sz="2800" b="1" dirty="0">
                <a:solidFill>
                  <a:srgbClr val="0000FF"/>
                </a:solidFill>
                <a:latin typeface="微软雅黑" panose="020B0503020204020204" pitchFamily="34" charset="-122"/>
                <a:ea typeface="微软雅黑" panose="020B0503020204020204" pitchFamily="34" charset="-122"/>
              </a:rPr>
              <a:t>回写法</a:t>
            </a:r>
            <a:r>
              <a:rPr lang="zh-CN" altLang="en-US" sz="2800" b="1" dirty="0">
                <a:latin typeface="微软雅黑" panose="020B0503020204020204" pitchFamily="34" charset="-122"/>
                <a:ea typeface="微软雅黑" panose="020B0503020204020204" pitchFamily="34" charset="-122"/>
              </a:rPr>
              <a:t>较好地加以解决。</a:t>
            </a:r>
          </a:p>
        </p:txBody>
      </p:sp>
      <p:sp>
        <p:nvSpPr>
          <p:cNvPr id="3" name="矩形 2"/>
          <p:cNvSpPr/>
          <p:nvPr/>
        </p:nvSpPr>
        <p:spPr>
          <a:xfrm>
            <a:off x="1324451" y="3129475"/>
            <a:ext cx="10740170" cy="1643527"/>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在紧耦合多处理机系统中，如果采用全写法，也只能维持一个</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和主存之间的一致性，不能自动更新其他处理机中的</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的相同副本，所以解决不了多处理机中</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之间的一致性。 </a:t>
            </a:r>
          </a:p>
        </p:txBody>
      </p:sp>
      <p:sp>
        <p:nvSpPr>
          <p:cNvPr id="4" name="矩形 3"/>
          <p:cNvSpPr/>
          <p:nvPr/>
        </p:nvSpPr>
        <p:spPr>
          <a:xfrm>
            <a:off x="1324451" y="5055445"/>
            <a:ext cx="9685361" cy="1643527"/>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实现</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一致性的方法有多种，大体分为两类：</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b="1" dirty="0">
                <a:latin typeface="微软雅黑" panose="020B0503020204020204" pitchFamily="34" charset="-122"/>
                <a:ea typeface="微软雅黑" panose="020B0503020204020204" pitchFamily="34" charset="-122"/>
              </a:rPr>
              <a:t>软件方法</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b="1" dirty="0">
                <a:latin typeface="微软雅黑" panose="020B0503020204020204" pitchFamily="34" charset="-122"/>
                <a:ea typeface="微软雅黑" panose="020B0503020204020204" pitchFamily="34" charset="-122"/>
              </a:rPr>
              <a:t>硬件方法</a:t>
            </a:r>
          </a:p>
        </p:txBody>
      </p:sp>
    </p:spTree>
    <p:extLst>
      <p:ext uri="{BB962C8B-B14F-4D97-AF65-F5344CB8AC3E}">
        <p14:creationId xmlns:p14="http://schemas.microsoft.com/office/powerpoint/2010/main" val="1174551280"/>
      </p:ext>
    </p:extLst>
  </p:cSld>
  <p:clrMapOvr>
    <a:masterClrMapping/>
  </p:clrMapOvr>
  <mc:AlternateContent xmlns:mc="http://schemas.openxmlformats.org/markup-compatibility/2006" xmlns:p14="http://schemas.microsoft.com/office/powerpoint/2010/main">
    <mc:Choice Requires="p14">
      <p:transition spd="slow" advTm="7144">
        <p14:conveyor dir="l"/>
      </p:transition>
    </mc:Choice>
    <mc:Fallback xmlns="">
      <p:transition spd="slow" advTm="7144">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838200" y="-148048"/>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软件方法</a:t>
            </a:r>
            <a:endParaRPr lang="en-US" altLang="zh-CN" sz="3200" b="1" dirty="0">
              <a:latin typeface="微软雅黑" panose="020B0503020204020204" pitchFamily="34" charset="-122"/>
              <a:ea typeface="微软雅黑" panose="020B0503020204020204" pitchFamily="34" charset="-122"/>
            </a:endParaRPr>
          </a:p>
        </p:txBody>
      </p:sp>
      <p:sp>
        <p:nvSpPr>
          <p:cNvPr id="142339" name="Rectangle 3"/>
          <p:cNvSpPr>
            <a:spLocks noGrp="1" noChangeArrowheads="1"/>
          </p:cNvSpPr>
          <p:nvPr>
            <p:ph type="body" idx="1"/>
          </p:nvPr>
        </p:nvSpPr>
        <p:spPr>
          <a:xfrm>
            <a:off x="1596657" y="4846104"/>
            <a:ext cx="9879973" cy="4351338"/>
          </a:xfrm>
        </p:spPr>
        <p:txBody>
          <a:bodyPr>
            <a:normAutofit/>
          </a:bodyPr>
          <a:lstStyle/>
          <a:p>
            <a:pPr marL="0" indent="0">
              <a:lnSpc>
                <a:spcPct val="120000"/>
              </a:lnSpc>
              <a:buNone/>
            </a:pPr>
            <a:r>
              <a:rPr lang="zh-CN" altLang="en-US" b="1" dirty="0">
                <a:latin typeface="微软雅黑" panose="020B0503020204020204" pitchFamily="34" charset="-122"/>
                <a:ea typeface="微软雅黑" panose="020B0503020204020204" pitchFamily="34" charset="-122"/>
              </a:rPr>
              <a:t>缺点：在编译时进行的保守判决会导致一些不会引起</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一致性的数据项可能也会禁止被</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引用，从而导致</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利用率的下降。</a:t>
            </a:r>
          </a:p>
        </p:txBody>
      </p:sp>
      <p:grpSp>
        <p:nvGrpSpPr>
          <p:cNvPr id="4" name="组合 3"/>
          <p:cNvGrpSpPr/>
          <p:nvPr/>
        </p:nvGrpSpPr>
        <p:grpSpPr>
          <a:xfrm>
            <a:off x="435807" y="1641351"/>
            <a:ext cx="765979" cy="896437"/>
            <a:chOff x="1446900" y="2132856"/>
            <a:chExt cx="1304925" cy="1527175"/>
          </a:xfrm>
        </p:grpSpPr>
        <p:sp>
          <p:nvSpPr>
            <p:cNvPr id="5"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7" name="组合 6"/>
          <p:cNvGrpSpPr/>
          <p:nvPr/>
        </p:nvGrpSpPr>
        <p:grpSpPr>
          <a:xfrm>
            <a:off x="479383" y="3564856"/>
            <a:ext cx="765979" cy="896437"/>
            <a:chOff x="4022275" y="2132856"/>
            <a:chExt cx="1304925" cy="1527175"/>
          </a:xfrm>
        </p:grpSpPr>
        <p:sp>
          <p:nvSpPr>
            <p:cNvPr id="8"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0" name="组合 9"/>
          <p:cNvGrpSpPr/>
          <p:nvPr/>
        </p:nvGrpSpPr>
        <p:grpSpPr>
          <a:xfrm>
            <a:off x="547568" y="5285999"/>
            <a:ext cx="766910" cy="896437"/>
            <a:chOff x="6560095" y="2132856"/>
            <a:chExt cx="1306513" cy="1527175"/>
          </a:xfrm>
        </p:grpSpPr>
        <p:sp>
          <p:nvSpPr>
            <p:cNvPr id="11" name="Freeform 7"/>
            <p:cNvSpPr>
              <a:spLocks/>
            </p:cNvSpPr>
            <p:nvPr/>
          </p:nvSpPr>
          <p:spPr bwMode="auto">
            <a:xfrm>
              <a:off x="6560095" y="2132856"/>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02B9E7"/>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2" name="Freeform 10"/>
            <p:cNvSpPr>
              <a:spLocks noEditPoints="1"/>
            </p:cNvSpPr>
            <p:nvPr/>
          </p:nvSpPr>
          <p:spPr bwMode="auto">
            <a:xfrm>
              <a:off x="6850001" y="2403005"/>
              <a:ext cx="726700" cy="778916"/>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3" name="组合 12"/>
          <p:cNvGrpSpPr/>
          <p:nvPr/>
        </p:nvGrpSpPr>
        <p:grpSpPr>
          <a:xfrm>
            <a:off x="265635" y="269251"/>
            <a:ext cx="438352" cy="621987"/>
            <a:chOff x="265635" y="269251"/>
            <a:chExt cx="438352" cy="621987"/>
          </a:xfrm>
        </p:grpSpPr>
        <p:sp>
          <p:nvSpPr>
            <p:cNvPr id="14"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6"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1473827" y="941249"/>
            <a:ext cx="9881041" cy="2160591"/>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软件解决方法的</a:t>
            </a:r>
            <a:r>
              <a:rPr lang="zh-CN" altLang="en-US" sz="2800" b="1" dirty="0">
                <a:solidFill>
                  <a:srgbClr val="FF0000"/>
                </a:solidFill>
                <a:latin typeface="微软雅黑" panose="020B0503020204020204" pitchFamily="34" charset="-122"/>
                <a:ea typeface="微软雅黑" panose="020B0503020204020204" pitchFamily="34" charset="-122"/>
              </a:rPr>
              <a:t>思路</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在程序的编译阶段解决问题</a:t>
            </a:r>
            <a:r>
              <a:rPr lang="zh-CN" altLang="en-US" sz="2800" b="1" dirty="0">
                <a:latin typeface="微软雅黑" panose="020B0503020204020204" pitchFamily="34" charset="-122"/>
                <a:ea typeface="微软雅黑" panose="020B0503020204020204" pitchFamily="34" charset="-122"/>
              </a:rPr>
              <a:t>，即使用编译程序对程序代码进行</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一致性分析，确定什么样的数据项可能会造成</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的不一致性，然后相应地标记出这些项，最后由操作系统或硬件来防止这些数据项用于</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a:t>
            </a:r>
          </a:p>
        </p:txBody>
      </p:sp>
      <p:sp>
        <p:nvSpPr>
          <p:cNvPr id="3" name="矩形 2"/>
          <p:cNvSpPr/>
          <p:nvPr/>
        </p:nvSpPr>
        <p:spPr>
          <a:xfrm>
            <a:off x="1474360" y="3334831"/>
            <a:ext cx="9879973"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软件方法的优点： </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的一致性问题的解决在编译时实现，使复杂的机器硬件系统的设计变得简单。</a:t>
            </a:r>
          </a:p>
        </p:txBody>
      </p:sp>
    </p:spTree>
    <p:extLst>
      <p:ext uri="{BB962C8B-B14F-4D97-AF65-F5344CB8AC3E}">
        <p14:creationId xmlns:p14="http://schemas.microsoft.com/office/powerpoint/2010/main" val="2202200299"/>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859395" y="-64973"/>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硬件方法</a:t>
            </a:r>
          </a:p>
        </p:txBody>
      </p:sp>
      <p:sp>
        <p:nvSpPr>
          <p:cNvPr id="140291" name="Rectangle 3"/>
          <p:cNvSpPr>
            <a:spLocks noGrp="1" noChangeArrowheads="1"/>
          </p:cNvSpPr>
          <p:nvPr>
            <p:ph type="body" idx="1"/>
          </p:nvPr>
        </p:nvSpPr>
        <p:spPr>
          <a:xfrm>
            <a:off x="1417557" y="4064028"/>
            <a:ext cx="10167257" cy="3592286"/>
          </a:xfrm>
        </p:spPr>
        <p:txBody>
          <a:bodyPr>
            <a:normAutofit/>
          </a:bodyPr>
          <a:lstStyle/>
          <a:p>
            <a:pPr marL="0" indent="0">
              <a:lnSpc>
                <a:spcPct val="120000"/>
              </a:lnSpc>
              <a:buNone/>
            </a:pPr>
            <a:r>
              <a:rPr lang="zh-CN" altLang="en-US" b="1" dirty="0">
                <a:latin typeface="微软雅黑" panose="020B0503020204020204" pitchFamily="34" charset="-122"/>
                <a:ea typeface="微软雅黑" panose="020B0503020204020204" pitchFamily="34" charset="-122"/>
              </a:rPr>
              <a:t>硬件的方法又分成两大类：</a:t>
            </a:r>
          </a:p>
          <a:p>
            <a:pPr marL="457200" lvl="1" indent="0">
              <a:lnSpc>
                <a:spcPct val="120000"/>
              </a:lnSpc>
              <a:buNone/>
            </a:pPr>
            <a:r>
              <a:rPr lang="zh-CN" altLang="en-US" sz="2800" b="1" dirty="0">
                <a:solidFill>
                  <a:srgbClr val="0000FF"/>
                </a:solidFill>
                <a:latin typeface="微软雅黑" panose="020B0503020204020204" pitchFamily="34" charset="-122"/>
                <a:ea typeface="微软雅黑" panose="020B0503020204020204" pitchFamily="34" charset="-122"/>
              </a:rPr>
              <a:t>目录协议</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Directory protocol</a:t>
            </a:r>
            <a:r>
              <a:rPr lang="zh-CN" altLang="en-US" sz="2800" b="1" dirty="0">
                <a:latin typeface="微软雅黑" panose="020B0503020204020204" pitchFamily="34" charset="-122"/>
                <a:ea typeface="微软雅黑" panose="020B0503020204020204" pitchFamily="34" charset="-122"/>
              </a:rPr>
              <a:t>）</a:t>
            </a:r>
          </a:p>
          <a:p>
            <a:pPr marL="457200" lvl="1" indent="0">
              <a:lnSpc>
                <a:spcPct val="120000"/>
              </a:lnSpc>
              <a:buNone/>
            </a:pPr>
            <a:r>
              <a:rPr lang="zh-CN" altLang="en-US" sz="2800" b="1" dirty="0">
                <a:solidFill>
                  <a:srgbClr val="0000FF"/>
                </a:solidFill>
                <a:latin typeface="微软雅黑" panose="020B0503020204020204" pitchFamily="34" charset="-122"/>
                <a:ea typeface="微软雅黑" panose="020B0503020204020204" pitchFamily="34" charset="-122"/>
              </a:rPr>
              <a:t>监听协议</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Snoopy protocol</a:t>
            </a:r>
            <a:r>
              <a:rPr lang="zh-CN" altLang="en-US" sz="2800" b="1" dirty="0">
                <a:latin typeface="微软雅黑" panose="020B0503020204020204" pitchFamily="34" charset="-122"/>
                <a:ea typeface="微软雅黑" panose="020B0503020204020204" pitchFamily="34" charset="-122"/>
              </a:rPr>
              <a:t>）</a:t>
            </a:r>
          </a:p>
        </p:txBody>
      </p:sp>
      <p:sp>
        <p:nvSpPr>
          <p:cNvPr id="4" name="Oval 5"/>
          <p:cNvSpPr>
            <a:spLocks noChangeArrowheads="1"/>
          </p:cNvSpPr>
          <p:nvPr/>
        </p:nvSpPr>
        <p:spPr bwMode="auto">
          <a:xfrm>
            <a:off x="622958" y="1578182"/>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6"/>
          <p:cNvSpPr>
            <a:spLocks noChangeArrowheads="1"/>
          </p:cNvSpPr>
          <p:nvPr/>
        </p:nvSpPr>
        <p:spPr bwMode="auto">
          <a:xfrm>
            <a:off x="8883145" y="4078806"/>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10"/>
          <p:cNvSpPr>
            <a:spLocks noEditPoints="1"/>
          </p:cNvSpPr>
          <p:nvPr/>
        </p:nvSpPr>
        <p:spPr bwMode="auto">
          <a:xfrm>
            <a:off x="2288588" y="2186688"/>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11"/>
          <p:cNvSpPr>
            <a:spLocks noEditPoints="1"/>
          </p:cNvSpPr>
          <p:nvPr/>
        </p:nvSpPr>
        <p:spPr bwMode="auto">
          <a:xfrm>
            <a:off x="8438661" y="4656922"/>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8" name="TextBox 13"/>
          <p:cNvSpPr txBox="1"/>
          <p:nvPr/>
        </p:nvSpPr>
        <p:spPr>
          <a:xfrm flipH="1">
            <a:off x="859395" y="1898542"/>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9" name="TextBox 14"/>
          <p:cNvSpPr txBox="1"/>
          <p:nvPr/>
        </p:nvSpPr>
        <p:spPr>
          <a:xfrm flipH="1">
            <a:off x="9128033" y="4399166"/>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grpSp>
        <p:nvGrpSpPr>
          <p:cNvPr id="10" name="组合 9"/>
          <p:cNvGrpSpPr/>
          <p:nvPr/>
        </p:nvGrpSpPr>
        <p:grpSpPr>
          <a:xfrm>
            <a:off x="265635" y="269251"/>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2970458" y="1303312"/>
            <a:ext cx="8230365"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基于硬件的方法又称为</a:t>
            </a:r>
            <a:r>
              <a:rPr lang="en-US" altLang="zh-CN" sz="2800" b="1" dirty="0">
                <a:solidFill>
                  <a:srgbClr val="FF0000"/>
                </a:solidFill>
                <a:latin typeface="微软雅黑" panose="020B0503020204020204" pitchFamily="34" charset="-122"/>
                <a:ea typeface="微软雅黑" panose="020B0503020204020204" pitchFamily="34" charset="-122"/>
              </a:rPr>
              <a:t>Cache</a:t>
            </a:r>
            <a:r>
              <a:rPr lang="zh-CN" altLang="en-US" sz="2800" b="1" dirty="0">
                <a:solidFill>
                  <a:srgbClr val="FF0000"/>
                </a:solidFill>
                <a:latin typeface="微软雅黑" panose="020B0503020204020204" pitchFamily="34" charset="-122"/>
                <a:ea typeface="微软雅黑" panose="020B0503020204020204" pitchFamily="34" charset="-122"/>
              </a:rPr>
              <a:t>一致性协议</a:t>
            </a:r>
            <a:r>
              <a:rPr lang="zh-CN" altLang="en-US" sz="2800" b="1" dirty="0">
                <a:latin typeface="微软雅黑" panose="020B0503020204020204" pitchFamily="34" charset="-122"/>
                <a:ea typeface="微软雅黑" panose="020B0503020204020204" pitchFamily="34" charset="-122"/>
              </a:rPr>
              <a:t>，通过对运行过程中共享数据块状态的跟踪和潜在的不一致条件的动态识别，来阻止相关数据对</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的使用。</a:t>
            </a:r>
          </a:p>
        </p:txBody>
      </p:sp>
    </p:spTree>
    <p:extLst>
      <p:ext uri="{BB962C8B-B14F-4D97-AF65-F5344CB8AC3E}">
        <p14:creationId xmlns:p14="http://schemas.microsoft.com/office/powerpoint/2010/main" val="2108033342"/>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60130" y="296469"/>
            <a:ext cx="5974331" cy="683222"/>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b="1" dirty="0">
                <a:latin typeface="微软雅黑" panose="020B0503020204020204" pitchFamily="34" charset="-122"/>
                <a:ea typeface="微软雅黑" panose="020B0503020204020204" pitchFamily="34" charset="-122"/>
              </a:rPr>
              <a:t>硬件方法</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续</a:t>
            </a:r>
            <a:r>
              <a:rPr lang="en-US" altLang="zh-CN" b="1" dirty="0">
                <a:latin typeface="微软雅黑" panose="020B0503020204020204" pitchFamily="34" charset="-122"/>
                <a:ea typeface="微软雅黑" panose="020B0503020204020204" pitchFamily="34" charset="-122"/>
              </a:rPr>
              <a:t>)</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9" name="Line 5"/>
          <p:cNvSpPr>
            <a:spLocks noChangeShapeType="1"/>
          </p:cNvSpPr>
          <p:nvPr/>
        </p:nvSpPr>
        <p:spPr bwMode="auto">
          <a:xfrm>
            <a:off x="1293308" y="1600897"/>
            <a:ext cx="0" cy="5255767"/>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1" name="Oval 7"/>
          <p:cNvSpPr>
            <a:spLocks noChangeArrowheads="1"/>
          </p:cNvSpPr>
          <p:nvPr/>
        </p:nvSpPr>
        <p:spPr bwMode="auto">
          <a:xfrm>
            <a:off x="1171064" y="6225320"/>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684904" y="2133659"/>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684904" y="4333769"/>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967582" y="1961810"/>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967582" y="4171271"/>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4" name="Oval 7"/>
          <p:cNvSpPr>
            <a:spLocks noChangeArrowheads="1"/>
          </p:cNvSpPr>
          <p:nvPr/>
        </p:nvSpPr>
        <p:spPr bwMode="auto">
          <a:xfrm>
            <a:off x="1171064" y="5675864"/>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909018" y="926413"/>
            <a:ext cx="9617261" cy="2160591"/>
          </a:xfrm>
          <a:prstGeom prst="rect">
            <a:avLst/>
          </a:prstGeom>
        </p:spPr>
        <p:txBody>
          <a:bodyPr wrap="square">
            <a:spAutoFit/>
          </a:bodyPr>
          <a:lstStyle/>
          <a:p>
            <a:pPr>
              <a:lnSpc>
                <a:spcPct val="120000"/>
              </a:lnSpc>
            </a:pPr>
            <a:r>
              <a:rPr lang="zh-CN" altLang="en-US" sz="2800" b="1" dirty="0">
                <a:solidFill>
                  <a:srgbClr val="FF0000"/>
                </a:solidFill>
                <a:latin typeface="微软雅黑" panose="020B0503020204020204" pitchFamily="34" charset="-122"/>
                <a:ea typeface="微软雅黑" panose="020B0503020204020204" pitchFamily="34" charset="-122"/>
              </a:rPr>
              <a:t>目录协议</a:t>
            </a:r>
            <a:r>
              <a:rPr lang="zh-CN" altLang="en-US" sz="2800" b="1" dirty="0">
                <a:latin typeface="微软雅黑" panose="020B0503020204020204" pitchFamily="34" charset="-122"/>
                <a:ea typeface="微软雅黑" panose="020B0503020204020204" pitchFamily="34" charset="-122"/>
              </a:rPr>
              <a:t>：在主存中保存有一个目录，记录了共享数据块的状态及相关信息，由一个集中控制器（主存控制器的一部分）对该目录进行集中管理和维护，通过该目录来跟踪运行过程中共享数据块的状态，并对潜在的不一致条件进行动态识别。</a:t>
            </a:r>
          </a:p>
        </p:txBody>
      </p:sp>
      <p:sp>
        <p:nvSpPr>
          <p:cNvPr id="3" name="矩形 2"/>
          <p:cNvSpPr/>
          <p:nvPr/>
        </p:nvSpPr>
        <p:spPr>
          <a:xfrm>
            <a:off x="1937580" y="3008346"/>
            <a:ext cx="9499244" cy="2677656"/>
          </a:xfrm>
          <a:prstGeom prst="rect">
            <a:avLst/>
          </a:prstGeom>
        </p:spPr>
        <p:txBody>
          <a:bodyPr wrap="square">
            <a:spAutoFit/>
          </a:bodyPr>
          <a:lstStyle/>
          <a:p>
            <a:pPr>
              <a:lnSpc>
                <a:spcPct val="120000"/>
              </a:lnSpc>
            </a:pPr>
            <a:r>
              <a:rPr lang="zh-CN" altLang="en-US" sz="2800" b="1" dirty="0">
                <a:solidFill>
                  <a:srgbClr val="FF0000"/>
                </a:solidFill>
                <a:latin typeface="微软雅黑" panose="020B0503020204020204" pitchFamily="34" charset="-122"/>
                <a:ea typeface="微软雅黑" panose="020B0503020204020204" pitchFamily="34" charset="-122"/>
              </a:rPr>
              <a:t>监听协议</a:t>
            </a:r>
            <a:r>
              <a:rPr lang="zh-CN" altLang="en-US" sz="2800" b="1" dirty="0">
                <a:latin typeface="微软雅黑" panose="020B0503020204020204" pitchFamily="34" charset="-122"/>
                <a:ea typeface="微软雅黑" panose="020B0503020204020204" pitchFamily="34" charset="-122"/>
              </a:rPr>
              <a:t>：每个处理机</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除了包含主存储器中的数据拷贝之外，也保存着各个数据块的共享状态信息，各个处理机的</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控制器通过</a:t>
            </a:r>
            <a:r>
              <a:rPr lang="zh-CN" altLang="en-US" sz="2800" b="1" dirty="0">
                <a:solidFill>
                  <a:srgbClr val="0000FF"/>
                </a:solidFill>
                <a:latin typeface="微软雅黑" panose="020B0503020204020204" pitchFamily="34" charset="-122"/>
                <a:ea typeface="微软雅黑" panose="020B0503020204020204" pitchFamily="34" charset="-122"/>
              </a:rPr>
              <a:t>监听共享存储器总线</a:t>
            </a:r>
            <a:r>
              <a:rPr lang="zh-CN" altLang="en-US" sz="2800" b="1" dirty="0">
                <a:latin typeface="微软雅黑" panose="020B0503020204020204" pitchFamily="34" charset="-122"/>
                <a:ea typeface="微软雅黑" panose="020B0503020204020204" pitchFamily="34" charset="-122"/>
              </a:rPr>
              <a:t>来判断是否有总线上请求的数据块，从而对这些数据块进行跟踪和处理。监听协议使用两种方法来维持一致性要求：</a:t>
            </a:r>
            <a:endParaRPr lang="en-US" altLang="zh-CN" sz="2800" b="1" dirty="0">
              <a:latin typeface="微软雅黑" panose="020B0503020204020204" pitchFamily="34" charset="-122"/>
              <a:ea typeface="微软雅黑" panose="020B0503020204020204" pitchFamily="34" charset="-122"/>
            </a:endParaRPr>
          </a:p>
        </p:txBody>
      </p:sp>
      <p:sp>
        <p:nvSpPr>
          <p:cNvPr id="4" name="矩形 3"/>
          <p:cNvSpPr/>
          <p:nvPr/>
        </p:nvSpPr>
        <p:spPr>
          <a:xfrm>
            <a:off x="1545985" y="5576724"/>
            <a:ext cx="2441694" cy="609398"/>
          </a:xfrm>
          <a:prstGeom prst="rect">
            <a:avLst/>
          </a:prstGeom>
        </p:spPr>
        <p:txBody>
          <a:bodyPr wrap="non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写作废协议</a:t>
            </a:r>
          </a:p>
        </p:txBody>
      </p:sp>
      <p:sp>
        <p:nvSpPr>
          <p:cNvPr id="8" name="矩形 7"/>
          <p:cNvSpPr/>
          <p:nvPr/>
        </p:nvSpPr>
        <p:spPr>
          <a:xfrm>
            <a:off x="1545985" y="6064017"/>
            <a:ext cx="2549096" cy="609398"/>
          </a:xfrm>
          <a:prstGeom prst="rect">
            <a:avLst/>
          </a:prstGeom>
        </p:spPr>
        <p:txBody>
          <a:bodyPr wrap="non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写更新协议 </a:t>
            </a:r>
          </a:p>
        </p:txBody>
      </p:sp>
    </p:spTree>
    <p:extLst>
      <p:ext uri="{BB962C8B-B14F-4D97-AF65-F5344CB8AC3E}">
        <p14:creationId xmlns:p14="http://schemas.microsoft.com/office/powerpoint/2010/main" val="850729908"/>
      </p:ext>
    </p:extLst>
  </p:cSld>
  <p:clrMapOvr>
    <a:masterClrMapping/>
  </p:clrMapOvr>
  <mc:AlternateContent xmlns:mc="http://schemas.openxmlformats.org/markup-compatibility/2006" xmlns:p14="http://schemas.microsoft.com/office/powerpoint/2010/main">
    <mc:Choice Requires="p14">
      <p:transition spd="slow" advTm="8826">
        <p14:conveyor dir="l"/>
      </p:transition>
    </mc:Choice>
    <mc:Fallback xmlns="">
      <p:transition spd="slow" advTm="8826">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806944" y="-36471"/>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写作废协议</a:t>
            </a:r>
          </a:p>
        </p:txBody>
      </p:sp>
      <p:sp>
        <p:nvSpPr>
          <p:cNvPr id="144387" name="Rectangle 3"/>
          <p:cNvSpPr>
            <a:spLocks noGrp="1" noChangeArrowheads="1"/>
          </p:cNvSpPr>
          <p:nvPr>
            <p:ph type="body" idx="1"/>
          </p:nvPr>
        </p:nvSpPr>
        <p:spPr>
          <a:xfrm>
            <a:off x="441371" y="1785349"/>
            <a:ext cx="8733943" cy="4351338"/>
          </a:xfrm>
        </p:spPr>
        <p:txBody>
          <a:bodyPr>
            <a:normAutofit/>
          </a:bodyPr>
          <a:lstStyle/>
          <a:p>
            <a:pPr marL="0" indent="0">
              <a:lnSpc>
                <a:spcPct val="150000"/>
              </a:lnSpc>
              <a:buNone/>
            </a:pPr>
            <a:r>
              <a:rPr lang="zh-CN" altLang="en-US" b="1" dirty="0">
                <a:solidFill>
                  <a:srgbClr val="FF0000"/>
                </a:solidFill>
                <a:latin typeface="微软雅黑" panose="020B0503020204020204" pitchFamily="34" charset="-122"/>
                <a:ea typeface="微软雅黑" panose="020B0503020204020204" pitchFamily="34" charset="-122"/>
              </a:rPr>
              <a:t>写作废协议</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write invalidate</a:t>
            </a:r>
            <a:r>
              <a:rPr lang="zh-CN" altLang="en-US" b="1" dirty="0">
                <a:latin typeface="微软雅黑" panose="020B0503020204020204" pitchFamily="34" charset="-122"/>
                <a:ea typeface="微软雅黑" panose="020B0503020204020204" pitchFamily="34" charset="-122"/>
              </a:rPr>
              <a:t>）是在一个处理机写某数据块后，若新写入主存储器中的数据与其它</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拷贝中的数据不一致，则使所有其它</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拷贝中的数据作废。这样的话，今后某个处理机对该数据进行读时会产生读失效，于是从主存储器中将该块调入</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，该处理机的</a:t>
            </a:r>
            <a:r>
              <a:rPr lang="en-US" altLang="zh-CN" b="1" dirty="0">
                <a:latin typeface="微软雅黑" panose="020B0503020204020204" pitchFamily="34" charset="-122"/>
                <a:ea typeface="微软雅黑" panose="020B0503020204020204" pitchFamily="34" charset="-122"/>
              </a:rPr>
              <a:t>Cache</a:t>
            </a:r>
            <a:r>
              <a:rPr lang="zh-CN" altLang="en-US" b="1" dirty="0">
                <a:latin typeface="微软雅黑" panose="020B0503020204020204" pitchFamily="34" charset="-122"/>
                <a:ea typeface="微软雅黑" panose="020B0503020204020204" pitchFamily="34" charset="-122"/>
              </a:rPr>
              <a:t>又与主存储器保持一致了。</a:t>
            </a:r>
          </a:p>
        </p:txBody>
      </p:sp>
      <p:grpSp>
        <p:nvGrpSpPr>
          <p:cNvPr id="4" name="组合 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Rectangle 5"/>
          <p:cNvSpPr>
            <a:spLocks noChangeArrowheads="1"/>
          </p:cNvSpPr>
          <p:nvPr/>
        </p:nvSpPr>
        <p:spPr bwMode="auto">
          <a:xfrm>
            <a:off x="9401378" y="2424062"/>
            <a:ext cx="2784925"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9"/>
          <p:cNvSpPr>
            <a:spLocks noChangeArrowheads="1"/>
          </p:cNvSpPr>
          <p:nvPr/>
        </p:nvSpPr>
        <p:spPr bwMode="auto">
          <a:xfrm>
            <a:off x="10222309" y="3184449"/>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9"/>
          <p:cNvSpPr>
            <a:spLocks noEditPoints="1"/>
          </p:cNvSpPr>
          <p:nvPr/>
        </p:nvSpPr>
        <p:spPr bwMode="auto">
          <a:xfrm>
            <a:off x="10500451" y="3352194"/>
            <a:ext cx="680933" cy="772597"/>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02B9E7"/>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147045705"/>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434609" y="1833034"/>
            <a:ext cx="9313819" cy="3684587"/>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409605" y="1769534"/>
            <a:ext cx="9313819" cy="3684587"/>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427165" y="1807634"/>
            <a:ext cx="9337675" cy="3684587"/>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974774" y="5241992"/>
            <a:ext cx="1658468" cy="105071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425202" y="7905750"/>
            <a:ext cx="877163" cy="369332"/>
          </a:xfrm>
          <a:prstGeom prst="rect">
            <a:avLst/>
          </a:prstGeom>
          <a:noFill/>
        </p:spPr>
        <p:txBody>
          <a:bodyPr wrap="none" rtlCol="0">
            <a:spAutoFit/>
          </a:bodyPr>
          <a:lstStyle/>
          <a:p>
            <a:r>
              <a:rPr lang="zh-CN" altLang="en-US" dirty="0"/>
              <a:t>延迟符</a:t>
            </a:r>
          </a:p>
        </p:txBody>
      </p:sp>
      <p:sp>
        <p:nvSpPr>
          <p:cNvPr id="2" name="矩形 1"/>
          <p:cNvSpPr/>
          <p:nvPr/>
        </p:nvSpPr>
        <p:spPr>
          <a:xfrm>
            <a:off x="1434609" y="1091691"/>
            <a:ext cx="2236510" cy="633187"/>
          </a:xfrm>
          <a:prstGeom prst="rect">
            <a:avLst/>
          </a:prstGeom>
        </p:spPr>
        <p:txBody>
          <a:bodyPr wrap="none">
            <a:spAutoFit/>
          </a:bodyPr>
          <a:lstStyle/>
          <a:p>
            <a:pPr>
              <a:lnSpc>
                <a:spcPct val="120000"/>
              </a:lnSpc>
            </a:pPr>
            <a:r>
              <a:rPr lang="zh-CN" altLang="en-US" sz="3200" b="1" dirty="0">
                <a:solidFill>
                  <a:srgbClr val="01C0B0"/>
                </a:solidFill>
                <a:latin typeface="微软雅黑" panose="020B0503020204020204" pitchFamily="34" charset="-122"/>
                <a:ea typeface="微软雅黑" panose="020B0503020204020204" pitchFamily="34" charset="-122"/>
              </a:rPr>
              <a:t>写更新协议</a:t>
            </a:r>
          </a:p>
        </p:txBody>
      </p:sp>
      <p:sp>
        <p:nvSpPr>
          <p:cNvPr id="3" name="矩形 2"/>
          <p:cNvSpPr/>
          <p:nvPr/>
        </p:nvSpPr>
        <p:spPr>
          <a:xfrm>
            <a:off x="1519810" y="1915808"/>
            <a:ext cx="9093407" cy="3247877"/>
          </a:xfrm>
          <a:prstGeom prst="rect">
            <a:avLst/>
          </a:prstGeom>
        </p:spPr>
        <p:txBody>
          <a:bodyPr wrap="square">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写更新协议</a:t>
            </a:r>
            <a:r>
              <a:rPr lang="zh-CN" altLang="en-US" sz="2800" b="1" dirty="0">
                <a:latin typeface="微软雅黑" panose="020B0503020204020204" pitchFamily="34" charset="-122"/>
                <a:ea typeface="微软雅黑" panose="020B0503020204020204" pitchFamily="34" charset="-122"/>
              </a:rPr>
              <a:t>是当一个处理机写某数据项时，通过广播使其他处理机的</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中所对应数据项拷贝也同时更新。为减少协议所需的带宽，应知道</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中该数据项是否为共享状态，也就是别的处理机</a:t>
            </a:r>
            <a:r>
              <a:rPr lang="en-US" altLang="zh-CN" sz="2800" b="1" dirty="0">
                <a:latin typeface="微软雅黑" panose="020B0503020204020204" pitchFamily="34" charset="-122"/>
                <a:ea typeface="微软雅黑" panose="020B0503020204020204" pitchFamily="34" charset="-122"/>
              </a:rPr>
              <a:t>Cache</a:t>
            </a:r>
            <a:r>
              <a:rPr lang="zh-CN" altLang="en-US" sz="2800" b="1" dirty="0">
                <a:latin typeface="微软雅黑" panose="020B0503020204020204" pitchFamily="34" charset="-122"/>
                <a:ea typeface="微软雅黑" panose="020B0503020204020204" pitchFamily="34" charset="-122"/>
              </a:rPr>
              <a:t>中是否也存在该数据项拷贝。如果不是共享数据，则写时就无需进行广播。</a:t>
            </a:r>
          </a:p>
        </p:txBody>
      </p:sp>
    </p:spTree>
    <p:extLst>
      <p:ext uri="{BB962C8B-B14F-4D97-AF65-F5344CB8AC3E}">
        <p14:creationId xmlns:p14="http://schemas.microsoft.com/office/powerpoint/2010/main" val="4140805918"/>
      </p:ext>
    </p:extLst>
  </p:cSld>
  <p:clrMapOvr>
    <a:masterClrMapping/>
  </p:clrMapOvr>
  <mc:AlternateContent xmlns:mc="http://schemas.openxmlformats.org/markup-compatibility/2006" xmlns:p14="http://schemas.microsoft.com/office/powerpoint/2010/main">
    <mc:Choice Requires="p14">
      <p:transition spd="slow" advClick="0" advTm="0">
        <p14:conveyor dir="l"/>
      </p:transition>
    </mc:Choice>
    <mc:Fallback xmlns="">
      <p:transition spd="slow" advClick="0" advTm="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p:cNvSpPr>
            <a:spLocks noGrp="1" noChangeArrowheads="1"/>
          </p:cNvSpPr>
          <p:nvPr>
            <p:ph type="body" idx="1"/>
          </p:nvPr>
        </p:nvSpPr>
        <p:spPr>
          <a:xfrm>
            <a:off x="1296536" y="4994862"/>
            <a:ext cx="10072972" cy="4049486"/>
          </a:xfrm>
        </p:spPr>
        <p:txBody>
          <a:bodyPr>
            <a:normAutofit/>
          </a:bodyPr>
          <a:lstStyle/>
          <a:p>
            <a:pPr marL="457200" lvl="1" indent="0">
              <a:lnSpc>
                <a:spcPct val="120000"/>
              </a:lnSpc>
              <a:buNone/>
            </a:pPr>
            <a:r>
              <a:rPr lang="zh-CN" altLang="en-US" sz="2800" b="1" dirty="0">
                <a:solidFill>
                  <a:srgbClr val="FF0000"/>
                </a:solidFill>
                <a:latin typeface="微软雅黑" panose="020B0503020204020204" pitchFamily="34" charset="-122"/>
                <a:ea typeface="微软雅黑" panose="020B0503020204020204" pitchFamily="34" charset="-122"/>
              </a:rPr>
              <a:t>浮动监督式操作系统</a:t>
            </a:r>
            <a:r>
              <a:rPr lang="en-US" altLang="zh-CN" sz="2800" b="1" dirty="0">
                <a:latin typeface="微软雅黑" panose="020B0503020204020204" pitchFamily="34" charset="-122"/>
                <a:ea typeface="微软雅黑" panose="020B0503020204020204" pitchFamily="34" charset="-122"/>
              </a:rPr>
              <a:t>(floating supervisor)</a:t>
            </a:r>
            <a:r>
              <a:rPr lang="zh-CN" altLang="en-US" sz="2800" b="1" dirty="0">
                <a:latin typeface="微软雅黑" panose="020B0503020204020204" pitchFamily="34" charset="-122"/>
                <a:ea typeface="微软雅黑" panose="020B0503020204020204" pitchFamily="34" charset="-122"/>
              </a:rPr>
              <a:t>每次只有一台处理机作为执行全面管理功能的“主处理机”，但根据需要，主处理机是可浮动的，即从一台切换到另一台处理机。</a:t>
            </a:r>
          </a:p>
        </p:txBody>
      </p:sp>
      <p:sp>
        <p:nvSpPr>
          <p:cNvPr id="5" name="Rectangle 2"/>
          <p:cNvSpPr txBox="1">
            <a:spLocks noChangeArrowheads="1"/>
          </p:cNvSpPr>
          <p:nvPr/>
        </p:nvSpPr>
        <p:spPr bwMode="auto">
          <a:xfrm>
            <a:off x="3411682" y="297872"/>
            <a:ext cx="8432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prstTxWarp prst="textNoShape">
              <a:avLst/>
            </a:prstTxWarp>
          </a:bodyPr>
          <a:lstStyle>
            <a:lvl1pPr algn="r" rtl="0" fontAlgn="base">
              <a:spcBef>
                <a:spcPct val="0"/>
              </a:spcBef>
              <a:spcAft>
                <a:spcPct val="0"/>
              </a:spcAft>
              <a:defRPr sz="4000" kern="1200">
                <a:solidFill>
                  <a:schemeClr val="bg1"/>
                </a:solidFill>
                <a:latin typeface="+mj-lt"/>
                <a:ea typeface="+mj-ea"/>
                <a:cs typeface="+mj-cs"/>
              </a:defRPr>
            </a:lvl1pPr>
            <a:lvl2pPr algn="r" rtl="0" fontAlgn="base">
              <a:spcBef>
                <a:spcPct val="0"/>
              </a:spcBef>
              <a:spcAft>
                <a:spcPct val="0"/>
              </a:spcAft>
              <a:defRPr sz="4000">
                <a:solidFill>
                  <a:schemeClr val="bg1"/>
                </a:solidFill>
                <a:latin typeface="Arial" panose="020B0604020202020204" pitchFamily="34" charset="0"/>
              </a:defRPr>
            </a:lvl2pPr>
            <a:lvl3pPr algn="r" rtl="0" fontAlgn="base">
              <a:spcBef>
                <a:spcPct val="0"/>
              </a:spcBef>
              <a:spcAft>
                <a:spcPct val="0"/>
              </a:spcAft>
              <a:defRPr sz="4000">
                <a:solidFill>
                  <a:schemeClr val="bg1"/>
                </a:solidFill>
                <a:latin typeface="Arial" panose="020B0604020202020204" pitchFamily="34" charset="0"/>
              </a:defRPr>
            </a:lvl3pPr>
            <a:lvl4pPr algn="r" rtl="0" fontAlgn="base">
              <a:spcBef>
                <a:spcPct val="0"/>
              </a:spcBef>
              <a:spcAft>
                <a:spcPct val="0"/>
              </a:spcAft>
              <a:defRPr sz="4000">
                <a:solidFill>
                  <a:schemeClr val="bg1"/>
                </a:solidFill>
                <a:latin typeface="Arial" panose="020B0604020202020204" pitchFamily="34" charset="0"/>
              </a:defRPr>
            </a:lvl4pPr>
            <a:lvl5pPr algn="r" rtl="0" fontAlgn="base">
              <a:spcBef>
                <a:spcPct val="0"/>
              </a:spcBef>
              <a:spcAft>
                <a:spcPct val="0"/>
              </a:spcAft>
              <a:defRPr sz="4000">
                <a:solidFill>
                  <a:schemeClr val="bg1"/>
                </a:solidFill>
                <a:latin typeface="Arial" panose="020B0604020202020204" pitchFamily="34" charset="0"/>
              </a:defRPr>
            </a:lvl5pPr>
            <a:lvl6pPr marL="457200" algn="r" rtl="0" fontAlgn="base">
              <a:spcBef>
                <a:spcPct val="0"/>
              </a:spcBef>
              <a:spcAft>
                <a:spcPct val="0"/>
              </a:spcAft>
              <a:defRPr sz="4000">
                <a:solidFill>
                  <a:schemeClr val="bg1"/>
                </a:solidFill>
                <a:latin typeface="Arial" panose="020B0604020202020204" pitchFamily="34" charset="0"/>
              </a:defRPr>
            </a:lvl6pPr>
            <a:lvl7pPr marL="914400" algn="r" rtl="0" fontAlgn="base">
              <a:spcBef>
                <a:spcPct val="0"/>
              </a:spcBef>
              <a:spcAft>
                <a:spcPct val="0"/>
              </a:spcAft>
              <a:defRPr sz="4000">
                <a:solidFill>
                  <a:schemeClr val="bg1"/>
                </a:solidFill>
                <a:latin typeface="Arial" panose="020B0604020202020204" pitchFamily="34" charset="0"/>
              </a:defRPr>
            </a:lvl7pPr>
            <a:lvl8pPr marL="1371600" algn="r" rtl="0" fontAlgn="base">
              <a:spcBef>
                <a:spcPct val="0"/>
              </a:spcBef>
              <a:spcAft>
                <a:spcPct val="0"/>
              </a:spcAft>
              <a:defRPr sz="4000">
                <a:solidFill>
                  <a:schemeClr val="bg1"/>
                </a:solidFill>
                <a:latin typeface="Arial" panose="020B0604020202020204" pitchFamily="34" charset="0"/>
              </a:defRPr>
            </a:lvl8pPr>
            <a:lvl9pPr marL="1828800" algn="r" rtl="0" fontAlgn="base">
              <a:spcBef>
                <a:spcPct val="0"/>
              </a:spcBef>
              <a:spcAft>
                <a:spcPct val="0"/>
              </a:spcAft>
              <a:defRPr sz="4000">
                <a:solidFill>
                  <a:schemeClr val="bg1"/>
                </a:solidFill>
                <a:latin typeface="Arial" panose="020B0604020202020204" pitchFamily="34" charset="0"/>
              </a:defRPr>
            </a:lvl9pPr>
          </a:lstStyle>
          <a:p>
            <a:pPr algn="l"/>
            <a:r>
              <a:rPr lang="en-US" altLang="zh-CN" sz="3600" b="1" dirty="0">
                <a:ea typeface="宋体" panose="02010600030101010101" pitchFamily="2" charset="-122"/>
              </a:rPr>
              <a:t>18.3.3 </a:t>
            </a:r>
            <a:r>
              <a:rPr lang="zh-CN" altLang="en-US" sz="3600" b="1" dirty="0">
                <a:ea typeface="宋体" panose="02010600030101010101" pitchFamily="2" charset="-122"/>
              </a:rPr>
              <a:t>多处理机操作系统</a:t>
            </a:r>
            <a:r>
              <a:rPr lang="zh-CN" altLang="en-US" sz="3600" dirty="0">
                <a:ea typeface="宋体" panose="02010600030101010101" pitchFamily="2" charset="-122"/>
              </a:rPr>
              <a:t> </a:t>
            </a:r>
          </a:p>
        </p:txBody>
      </p:sp>
      <p:sp>
        <p:nvSpPr>
          <p:cNvPr id="4" name="Freeform 14"/>
          <p:cNvSpPr>
            <a:spLocks/>
          </p:cNvSpPr>
          <p:nvPr/>
        </p:nvSpPr>
        <p:spPr bwMode="auto">
          <a:xfrm>
            <a:off x="417794" y="1607174"/>
            <a:ext cx="878743" cy="878168"/>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6" name="Freeform 14"/>
          <p:cNvSpPr>
            <a:spLocks/>
          </p:cNvSpPr>
          <p:nvPr/>
        </p:nvSpPr>
        <p:spPr bwMode="auto">
          <a:xfrm>
            <a:off x="417794" y="3491002"/>
            <a:ext cx="878743" cy="878168"/>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7" name="Freeform 14"/>
          <p:cNvSpPr>
            <a:spLocks/>
          </p:cNvSpPr>
          <p:nvPr/>
        </p:nvSpPr>
        <p:spPr bwMode="auto">
          <a:xfrm>
            <a:off x="417794" y="5256053"/>
            <a:ext cx="878743" cy="878168"/>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2" name="文本框 1"/>
          <p:cNvSpPr txBox="1"/>
          <p:nvPr/>
        </p:nvSpPr>
        <p:spPr>
          <a:xfrm>
            <a:off x="642258" y="1694131"/>
            <a:ext cx="955343" cy="769441"/>
          </a:xfrm>
          <a:prstGeom prst="rect">
            <a:avLst/>
          </a:prstGeom>
          <a:noFill/>
        </p:spPr>
        <p:txBody>
          <a:bodyPr wrap="squar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1</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90310" y="3570321"/>
            <a:ext cx="955343" cy="769441"/>
          </a:xfrm>
          <a:prstGeom prst="rect">
            <a:avLst/>
          </a:prstGeom>
          <a:noFill/>
        </p:spPr>
        <p:txBody>
          <a:bodyPr wrap="squar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2</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90310" y="5310416"/>
            <a:ext cx="955343" cy="769441"/>
          </a:xfrm>
          <a:prstGeom prst="rect">
            <a:avLst/>
          </a:prstGeom>
          <a:noFill/>
        </p:spPr>
        <p:txBody>
          <a:bodyPr wrap="squar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3</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65635" y="269251"/>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3" name="矩形 2"/>
          <p:cNvSpPr/>
          <p:nvPr/>
        </p:nvSpPr>
        <p:spPr>
          <a:xfrm>
            <a:off x="857165" y="264198"/>
            <a:ext cx="7571303" cy="683264"/>
          </a:xfrm>
          <a:prstGeom prst="rect">
            <a:avLst/>
          </a:prstGeom>
        </p:spPr>
        <p:txBody>
          <a:bodyPr wrap="none">
            <a:spAutoFit/>
          </a:bodyPr>
          <a:lstStyle/>
          <a:p>
            <a:pPr>
              <a:lnSpc>
                <a:spcPct val="120000"/>
              </a:lnSpc>
            </a:pPr>
            <a:r>
              <a:rPr lang="zh-CN" altLang="en-US" sz="3200" b="1" dirty="0">
                <a:latin typeface="微软雅黑" panose="020B0503020204020204" pitchFamily="34" charset="-122"/>
                <a:ea typeface="微软雅黑" panose="020B0503020204020204" pitchFamily="34" charset="-122"/>
              </a:rPr>
              <a:t>多处理机操作系统目前主要有三种类型：</a:t>
            </a:r>
            <a:endParaRPr lang="en-US" altLang="zh-CN" sz="3200" b="1" dirty="0">
              <a:solidFill>
                <a:srgbClr val="FF0000"/>
              </a:solidFill>
              <a:latin typeface="微软雅黑" panose="020B0503020204020204" pitchFamily="34" charset="-122"/>
              <a:ea typeface="微软雅黑" panose="020B0503020204020204" pitchFamily="34" charset="-122"/>
            </a:endParaRPr>
          </a:p>
        </p:txBody>
      </p:sp>
      <p:sp>
        <p:nvSpPr>
          <p:cNvPr id="14" name="矩形 13"/>
          <p:cNvSpPr/>
          <p:nvPr/>
        </p:nvSpPr>
        <p:spPr>
          <a:xfrm>
            <a:off x="1296536" y="1385610"/>
            <a:ext cx="9896364" cy="1126462"/>
          </a:xfrm>
          <a:prstGeom prst="rect">
            <a:avLst/>
          </a:prstGeom>
        </p:spPr>
        <p:txBody>
          <a:bodyPr wrap="square">
            <a:spAutoFit/>
          </a:bodyPr>
          <a:lstStyle/>
          <a:p>
            <a:pPr lvl="1">
              <a:lnSpc>
                <a:spcPct val="120000"/>
              </a:lnSpc>
            </a:pPr>
            <a:r>
              <a:rPr lang="zh-CN" altLang="en-US" sz="2800" b="1" dirty="0">
                <a:solidFill>
                  <a:srgbClr val="FF0000"/>
                </a:solidFill>
                <a:latin typeface="微软雅黑" panose="020B0503020204020204" pitchFamily="34" charset="-122"/>
                <a:ea typeface="微软雅黑" panose="020B0503020204020204" pitchFamily="34" charset="-122"/>
              </a:rPr>
              <a:t>主从式操作系统</a:t>
            </a:r>
            <a:r>
              <a:rPr lang="en-US" altLang="zh-CN" sz="2800" b="1" dirty="0">
                <a:latin typeface="微软雅黑" panose="020B0503020204020204" pitchFamily="34" charset="-122"/>
                <a:ea typeface="微软雅黑" panose="020B0503020204020204" pitchFamily="34" charset="-122"/>
              </a:rPr>
              <a:t>(master-slave)</a:t>
            </a:r>
            <a:r>
              <a:rPr lang="zh-CN" altLang="en-US" sz="2800" b="1" dirty="0">
                <a:latin typeface="微软雅黑" panose="020B0503020204020204" pitchFamily="34" charset="-122"/>
                <a:ea typeface="微软雅黑" panose="020B0503020204020204" pitchFamily="34" charset="-122"/>
              </a:rPr>
              <a:t>由一台主处理机记录、控制其他从处理机的状态，并分配任务给从处理机。 </a:t>
            </a:r>
            <a:endParaRPr lang="en-US" altLang="zh-CN" sz="2800" b="1" dirty="0">
              <a:latin typeface="微软雅黑" panose="020B0503020204020204" pitchFamily="34" charset="-122"/>
              <a:ea typeface="微软雅黑" panose="020B0503020204020204" pitchFamily="34" charset="-122"/>
            </a:endParaRPr>
          </a:p>
        </p:txBody>
      </p:sp>
      <p:sp>
        <p:nvSpPr>
          <p:cNvPr id="15" name="矩形 14"/>
          <p:cNvSpPr/>
          <p:nvPr/>
        </p:nvSpPr>
        <p:spPr>
          <a:xfrm>
            <a:off x="1296536" y="2900834"/>
            <a:ext cx="9689515" cy="1643527"/>
          </a:xfrm>
          <a:prstGeom prst="rect">
            <a:avLst/>
          </a:prstGeom>
        </p:spPr>
        <p:txBody>
          <a:bodyPr wrap="square">
            <a:spAutoFit/>
          </a:bodyPr>
          <a:lstStyle/>
          <a:p>
            <a:pPr lvl="1">
              <a:lnSpc>
                <a:spcPct val="120000"/>
              </a:lnSpc>
            </a:pPr>
            <a:r>
              <a:rPr lang="zh-CN" altLang="en-US" sz="2800" b="1" dirty="0">
                <a:solidFill>
                  <a:srgbClr val="FF0000"/>
                </a:solidFill>
                <a:latin typeface="微软雅黑" panose="020B0503020204020204" pitchFamily="34" charset="-122"/>
                <a:ea typeface="微软雅黑" panose="020B0503020204020204" pitchFamily="34" charset="-122"/>
              </a:rPr>
              <a:t>独立监督式操作系统</a:t>
            </a:r>
            <a:r>
              <a:rPr lang="en-US" altLang="zh-CN" sz="2800" b="1" dirty="0">
                <a:latin typeface="微软雅黑" panose="020B0503020204020204" pitchFamily="34" charset="-122"/>
                <a:ea typeface="微软雅黑" panose="020B0503020204020204" pitchFamily="34" charset="-122"/>
              </a:rPr>
              <a:t>(separate supervisor)</a:t>
            </a:r>
            <a:r>
              <a:rPr lang="zh-CN" altLang="en-US" sz="2800" b="1" dirty="0">
                <a:latin typeface="微软雅黑" panose="020B0503020204020204" pitchFamily="34" charset="-122"/>
                <a:ea typeface="微软雅黑" panose="020B0503020204020204" pitchFamily="34" charset="-122"/>
              </a:rPr>
              <a:t> 中，每一个处理机均有各自的管理程序（核心）。每个处理机将按自身的需要及分配给它的任务的需要来执行各种管理功能。 </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4269721"/>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874756" y="-38111"/>
            <a:ext cx="10515600" cy="1325563"/>
          </a:xfrm>
        </p:spPr>
        <p:txBody>
          <a:bodyPr>
            <a:normAutofit/>
          </a:bodyPr>
          <a:lstStyle/>
          <a:p>
            <a:pPr algn="l">
              <a:lnSpc>
                <a:spcPct val="120000"/>
              </a:lnSpc>
            </a:pPr>
            <a:r>
              <a:rPr lang="zh-CN" altLang="en-US" sz="3200" b="1" dirty="0">
                <a:latin typeface="微软雅黑" panose="020B0503020204020204" pitchFamily="34" charset="-122"/>
                <a:ea typeface="微软雅黑" panose="020B0503020204020204" pitchFamily="34" charset="-122"/>
              </a:rPr>
              <a:t>多处理机的并行性实现</a:t>
            </a:r>
          </a:p>
        </p:txBody>
      </p:sp>
      <p:sp>
        <p:nvSpPr>
          <p:cNvPr id="155651" name="Rectangle 3"/>
          <p:cNvSpPr>
            <a:spLocks noGrp="1" noChangeArrowheads="1"/>
          </p:cNvSpPr>
          <p:nvPr>
            <p:ph type="body" idx="1"/>
          </p:nvPr>
        </p:nvSpPr>
        <p:spPr>
          <a:xfrm>
            <a:off x="874756" y="1287452"/>
            <a:ext cx="9263743" cy="3933825"/>
          </a:xfrm>
        </p:spPr>
        <p:txBody>
          <a:bodyPr>
            <a:normAutofit/>
          </a:bodyPr>
          <a:lstStyle/>
          <a:p>
            <a:pPr marL="0" indent="0">
              <a:lnSpc>
                <a:spcPct val="120000"/>
              </a:lnSpc>
              <a:buNone/>
            </a:pPr>
            <a:r>
              <a:rPr lang="zh-CN" altLang="en-US" b="1" dirty="0">
                <a:latin typeface="微软雅黑" panose="020B0503020204020204" pitchFamily="34" charset="-122"/>
                <a:ea typeface="微软雅黑" panose="020B0503020204020204" pitchFamily="34" charset="-122"/>
              </a:rPr>
              <a:t>并行算法及其分类</a:t>
            </a:r>
          </a:p>
          <a:p>
            <a:pPr>
              <a:lnSpc>
                <a:spcPct val="120000"/>
              </a:lnSpc>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）按运算基本对象分为：</a:t>
            </a:r>
          </a:p>
          <a:p>
            <a:pPr lvl="2">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数值型</a:t>
            </a:r>
            <a:r>
              <a:rPr lang="zh-CN" altLang="en-US" sz="2800" b="1" dirty="0">
                <a:latin typeface="微软雅黑" panose="020B0503020204020204" pitchFamily="34" charset="-122"/>
                <a:ea typeface="微软雅黑" panose="020B0503020204020204" pitchFamily="34" charset="-122"/>
              </a:rPr>
              <a:t>（基于代数运算）：矩阵运算、线性方程组求解等均为典型的数值型并行算法；</a:t>
            </a:r>
          </a:p>
          <a:p>
            <a:pPr lvl="2">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非数值型</a:t>
            </a:r>
            <a:r>
              <a:rPr lang="zh-CN" altLang="en-US" sz="2800" b="1" dirty="0">
                <a:latin typeface="微软雅黑" panose="020B0503020204020204" pitchFamily="34" charset="-122"/>
                <a:ea typeface="微软雅黑" panose="020B0503020204020204" pitchFamily="34" charset="-122"/>
              </a:rPr>
              <a:t>（基于关系运算）：非数值型并行算法主要是对符号操作的，以排序、选择、查找、字符处理的并行为主要代表。</a:t>
            </a:r>
          </a:p>
        </p:txBody>
      </p:sp>
      <p:grpSp>
        <p:nvGrpSpPr>
          <p:cNvPr id="4" name="组合 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340405774"/>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838200" y="-115753"/>
            <a:ext cx="10515600" cy="1325563"/>
          </a:xfrm>
        </p:spPr>
        <p:txBody>
          <a:bodyPr>
            <a:normAutofit/>
          </a:bodyPr>
          <a:lstStyle/>
          <a:p>
            <a:pPr algn="l">
              <a:lnSpc>
                <a:spcPct val="150000"/>
              </a:lnSpc>
            </a:pPr>
            <a:r>
              <a:rPr lang="zh-CN" altLang="en-US" sz="2800" b="1" dirty="0">
                <a:latin typeface="微软雅黑" panose="020B0503020204020204" pitchFamily="34" charset="-122"/>
                <a:ea typeface="微软雅黑" panose="020B0503020204020204" pitchFamily="34" charset="-122"/>
              </a:rPr>
              <a:t>并行算法分类</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续</a:t>
            </a:r>
            <a:r>
              <a:rPr lang="en-US" altLang="zh-CN" sz="2800" b="1" dirty="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p:txBody>
      </p:sp>
      <p:sp>
        <p:nvSpPr>
          <p:cNvPr id="156675" name="Rectangle 3"/>
          <p:cNvSpPr>
            <a:spLocks noGrp="1" noChangeArrowheads="1"/>
          </p:cNvSpPr>
          <p:nvPr>
            <p:ph type="body" idx="1"/>
          </p:nvPr>
        </p:nvSpPr>
        <p:spPr>
          <a:xfrm>
            <a:off x="986470" y="5158139"/>
            <a:ext cx="10688170" cy="4005263"/>
          </a:xfrm>
        </p:spPr>
        <p:txBody>
          <a:bodyPr>
            <a:normAutofit/>
          </a:bodyPr>
          <a:lstStyle/>
          <a:p>
            <a:pPr marL="914400" lvl="2" indent="0">
              <a:lnSpc>
                <a:spcPct val="150000"/>
              </a:lnSpc>
              <a:buNone/>
            </a:pPr>
            <a:r>
              <a:rPr lang="zh-CN" altLang="en-US" sz="2800" b="1" dirty="0">
                <a:solidFill>
                  <a:srgbClr val="FF0000"/>
                </a:solidFill>
                <a:latin typeface="微软雅黑" panose="020B0503020204020204" pitchFamily="34" charset="-122"/>
                <a:ea typeface="微软雅黑" panose="020B0503020204020204" pitchFamily="34" charset="-122"/>
              </a:rPr>
              <a:t>独立型</a:t>
            </a:r>
            <a:r>
              <a:rPr lang="zh-CN" altLang="en-US" sz="2800" b="1" dirty="0">
                <a:latin typeface="微软雅黑" panose="020B0503020204020204" pitchFamily="34" charset="-122"/>
                <a:ea typeface="微软雅黑" panose="020B0503020204020204" pitchFamily="34" charset="-122"/>
              </a:rPr>
              <a:t>：独立型并行算法则意味着各个进程间完全独立，进程间无需通信。</a:t>
            </a:r>
          </a:p>
        </p:txBody>
      </p:sp>
      <p:grpSp>
        <p:nvGrpSpPr>
          <p:cNvPr id="4" name="组合 3"/>
          <p:cNvGrpSpPr/>
          <p:nvPr/>
        </p:nvGrpSpPr>
        <p:grpSpPr>
          <a:xfrm>
            <a:off x="260229" y="295787"/>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395955" y="883142"/>
            <a:ext cx="6750566" cy="738664"/>
          </a:xfrm>
          <a:prstGeom prst="rect">
            <a:avLst/>
          </a:prstGeom>
        </p:spPr>
        <p:txBody>
          <a:bodyPr wrap="none">
            <a:spAutoFit/>
          </a:bodyPr>
          <a:lstStyle/>
          <a:p>
            <a:pPr lvl="1">
              <a:lnSpc>
                <a:spcPct val="150000"/>
              </a:lnSpc>
              <a:buFont typeface="Wingdings 2" panose="05020102010507070707" pitchFamily="18" charset="2"/>
              <a:buNone/>
            </a:pPr>
            <a:r>
              <a:rPr lang="zh-CN" altLang="en-US" sz="2800" b="1" dirty="0">
                <a:latin typeface="微软雅黑" panose="020B0503020204020204" pitchFamily="34" charset="-122"/>
                <a:ea typeface="微软雅黑" panose="020B0503020204020204" pitchFamily="34" charset="-122"/>
              </a:rPr>
              <a:t>按并行进程间的操作顺序不同又分为：</a:t>
            </a:r>
          </a:p>
        </p:txBody>
      </p:sp>
      <p:sp>
        <p:nvSpPr>
          <p:cNvPr id="9" name="Oval 5"/>
          <p:cNvSpPr>
            <a:spLocks noChangeArrowheads="1"/>
          </p:cNvSpPr>
          <p:nvPr/>
        </p:nvSpPr>
        <p:spPr bwMode="auto">
          <a:xfrm>
            <a:off x="526276" y="1807394"/>
            <a:ext cx="920388" cy="909131"/>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Oval 6"/>
          <p:cNvSpPr>
            <a:spLocks noChangeArrowheads="1"/>
          </p:cNvSpPr>
          <p:nvPr/>
        </p:nvSpPr>
        <p:spPr bwMode="auto">
          <a:xfrm>
            <a:off x="526276" y="5415757"/>
            <a:ext cx="920388" cy="909131"/>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Oval 5"/>
          <p:cNvSpPr>
            <a:spLocks noChangeArrowheads="1"/>
          </p:cNvSpPr>
          <p:nvPr/>
        </p:nvSpPr>
        <p:spPr bwMode="auto">
          <a:xfrm>
            <a:off x="526276" y="3582374"/>
            <a:ext cx="920388" cy="909131"/>
          </a:xfrm>
          <a:prstGeom prst="ellipse">
            <a:avLst/>
          </a:prstGeom>
          <a:solidFill>
            <a:schemeClr val="accent4"/>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 name="文本框 2"/>
          <p:cNvSpPr txBox="1"/>
          <p:nvPr/>
        </p:nvSpPr>
        <p:spPr>
          <a:xfrm>
            <a:off x="703987" y="1902954"/>
            <a:ext cx="532263" cy="830997"/>
          </a:xfrm>
          <a:prstGeom prst="rect">
            <a:avLst/>
          </a:prstGeom>
          <a:noFill/>
        </p:spPr>
        <p:txBody>
          <a:bodyPr wrap="square" rtlCol="0">
            <a:spAutoFit/>
          </a:bodyPr>
          <a:lstStyle/>
          <a:p>
            <a:r>
              <a:rPr lang="en-US" altLang="zh-CN" sz="4800" b="1" dirty="0">
                <a:solidFill>
                  <a:schemeClr val="bg1"/>
                </a:solidFill>
                <a:latin typeface="微软雅黑" panose="020B0503020204020204" pitchFamily="34" charset="-122"/>
                <a:ea typeface="微软雅黑" panose="020B0503020204020204" pitchFamily="34" charset="-122"/>
              </a:rPr>
              <a:t>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98581" y="3660508"/>
            <a:ext cx="532263" cy="830997"/>
          </a:xfrm>
          <a:prstGeom prst="rect">
            <a:avLst/>
          </a:prstGeom>
          <a:noFill/>
        </p:spPr>
        <p:txBody>
          <a:bodyPr wrap="square" rtlCol="0">
            <a:spAutoFit/>
          </a:bodyPr>
          <a:lstStyle/>
          <a:p>
            <a:r>
              <a:rPr lang="en-US" altLang="zh-CN" sz="4800" b="1" dirty="0">
                <a:solidFill>
                  <a:schemeClr val="bg1"/>
                </a:solidFill>
                <a:latin typeface="微软雅黑" panose="020B0503020204020204" pitchFamily="34" charset="-122"/>
                <a:ea typeface="微软雅黑" panose="020B0503020204020204" pitchFamily="34" charset="-122"/>
              </a:rPr>
              <a:t>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687479" y="5493891"/>
            <a:ext cx="532263" cy="830997"/>
          </a:xfrm>
          <a:prstGeom prst="rect">
            <a:avLst/>
          </a:prstGeom>
          <a:noFill/>
        </p:spPr>
        <p:txBody>
          <a:bodyPr wrap="square" rtlCol="0">
            <a:spAutoFit/>
          </a:bodyPr>
          <a:lstStyle/>
          <a:p>
            <a:r>
              <a:rPr lang="en-US" altLang="zh-CN" sz="4800" b="1" dirty="0">
                <a:solidFill>
                  <a:schemeClr val="bg1"/>
                </a:solidFill>
                <a:latin typeface="微软雅黑" panose="020B0503020204020204" pitchFamily="34" charset="-122"/>
                <a:ea typeface="微软雅黑" panose="020B0503020204020204" pitchFamily="34" charset="-122"/>
              </a:rPr>
              <a:t>3</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38200" y="1644655"/>
            <a:ext cx="10515600" cy="1384995"/>
          </a:xfrm>
          <a:prstGeom prst="rect">
            <a:avLst/>
          </a:prstGeom>
        </p:spPr>
        <p:txBody>
          <a:bodyPr wrap="square">
            <a:spAutoFit/>
          </a:bodyPr>
          <a:lstStyle/>
          <a:p>
            <a:pPr lvl="2">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同步型</a:t>
            </a:r>
            <a:r>
              <a:rPr lang="zh-CN" altLang="en-US" sz="2800" b="1" dirty="0">
                <a:latin typeface="微软雅黑" panose="020B0503020204020204" pitchFamily="34" charset="-122"/>
                <a:ea typeface="微软雅黑" panose="020B0503020204020204" pitchFamily="34" charset="-122"/>
              </a:rPr>
              <a:t>：同步型并行算法意味着并行的各个进程间由于相关而必须依序等待；</a:t>
            </a:r>
          </a:p>
        </p:txBody>
      </p:sp>
      <p:sp>
        <p:nvSpPr>
          <p:cNvPr id="12" name="矩形 11"/>
          <p:cNvSpPr/>
          <p:nvPr/>
        </p:nvSpPr>
        <p:spPr>
          <a:xfrm>
            <a:off x="838200" y="3338299"/>
            <a:ext cx="10803340" cy="1384995"/>
          </a:xfrm>
          <a:prstGeom prst="rect">
            <a:avLst/>
          </a:prstGeom>
        </p:spPr>
        <p:txBody>
          <a:bodyPr wrap="square">
            <a:spAutoFit/>
          </a:bodyPr>
          <a:lstStyle/>
          <a:p>
            <a:pPr lvl="2">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异步型</a:t>
            </a:r>
            <a:r>
              <a:rPr lang="zh-CN" altLang="en-US" sz="2800" b="1" dirty="0">
                <a:latin typeface="微软雅黑" panose="020B0503020204020204" pitchFamily="34" charset="-122"/>
                <a:ea typeface="微软雅黑" panose="020B0503020204020204" pitchFamily="34" charset="-122"/>
              </a:rPr>
              <a:t>：异步型并行算法则是各个进程间相互独立，没有关联，无需因关联而等待，进程的中止或继续执行取决于执行情况；</a:t>
            </a:r>
          </a:p>
        </p:txBody>
      </p:sp>
    </p:spTree>
    <p:extLst>
      <p:ext uri="{BB962C8B-B14F-4D97-AF65-F5344CB8AC3E}">
        <p14:creationId xmlns:p14="http://schemas.microsoft.com/office/powerpoint/2010/main" val="484873132"/>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698061" y="295783"/>
            <a:ext cx="5974331" cy="523178"/>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b="1" dirty="0">
                <a:latin typeface="微软雅黑" panose="020B0503020204020204" pitchFamily="34" charset="-122"/>
                <a:ea typeface="微软雅黑" panose="020B0503020204020204" pitchFamily="34" charset="-122"/>
              </a:rPr>
              <a:t>并行算法分类</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续</a:t>
            </a:r>
            <a:r>
              <a:rPr lang="en-US" altLang="zh-CN" sz="2800" b="1" dirty="0">
                <a:latin typeface="微软雅黑" panose="020B0503020204020204" pitchFamily="34" charset="-122"/>
                <a:ea typeface="微软雅黑" panose="020B0503020204020204" pitchFamily="34" charset="-122"/>
              </a:rPr>
              <a:t>)</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Oval 5"/>
          <p:cNvSpPr>
            <a:spLocks noChangeArrowheads="1"/>
          </p:cNvSpPr>
          <p:nvPr/>
        </p:nvSpPr>
        <p:spPr bwMode="auto">
          <a:xfrm>
            <a:off x="4296516" y="1682424"/>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4966237" y="3150662"/>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2800" b="1">
              <a:latin typeface="微软雅黑" panose="020B0503020204020204" pitchFamily="34" charset="-122"/>
              <a:ea typeface="微软雅黑" panose="020B0503020204020204" pitchFamily="34" charset="-122"/>
            </a:endParaRPr>
          </a:p>
        </p:txBody>
      </p:sp>
      <p:sp>
        <p:nvSpPr>
          <p:cNvPr id="10" name="Oval 7"/>
          <p:cNvSpPr>
            <a:spLocks noChangeArrowheads="1"/>
          </p:cNvSpPr>
          <p:nvPr/>
        </p:nvSpPr>
        <p:spPr bwMode="auto">
          <a:xfrm>
            <a:off x="4296516" y="4616560"/>
            <a:ext cx="1573899" cy="1563688"/>
          </a:xfrm>
          <a:prstGeom prst="ellipse">
            <a:avLst/>
          </a:prstGeom>
          <a:solidFill>
            <a:srgbClr val="92D050"/>
          </a:solidFill>
          <a:ln w="38100" cap="flat">
            <a:solidFill>
              <a:srgbClr val="92D05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5962146" y="2290930"/>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4521753" y="3728778"/>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12"/>
          <p:cNvSpPr>
            <a:spLocks noEditPoints="1"/>
          </p:cNvSpPr>
          <p:nvPr/>
        </p:nvSpPr>
        <p:spPr bwMode="auto">
          <a:xfrm>
            <a:off x="5962146" y="5234486"/>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4532953" y="2002784"/>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5211125" y="3471022"/>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16" name="TextBox 15"/>
          <p:cNvSpPr txBox="1"/>
          <p:nvPr/>
        </p:nvSpPr>
        <p:spPr>
          <a:xfrm flipH="1">
            <a:off x="4545433" y="4954483"/>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03</a:t>
            </a: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698061" y="936460"/>
            <a:ext cx="5211683" cy="523220"/>
          </a:xfrm>
          <a:prstGeom prst="rect">
            <a:avLst/>
          </a:prstGeom>
        </p:spPr>
        <p:txBody>
          <a:bodyPr wrap="none">
            <a:spAutoFit/>
          </a:bodyPr>
          <a:lstStyle/>
          <a:p>
            <a:pPr>
              <a:buFont typeface="Wingdings" panose="05000000000000000000" pitchFamily="2" charset="2"/>
              <a:buNone/>
            </a:pPr>
            <a:r>
              <a:rPr lang="zh-CN" altLang="en-US" sz="2800" b="1" dirty="0">
                <a:latin typeface="微软雅黑" panose="020B0503020204020204" pitchFamily="34" charset="-122"/>
                <a:ea typeface="微软雅黑" panose="020B0503020204020204" pitchFamily="34" charset="-122"/>
              </a:rPr>
              <a:t>按计算任务的大小还可以分为：</a:t>
            </a:r>
          </a:p>
        </p:txBody>
      </p:sp>
      <p:sp>
        <p:nvSpPr>
          <p:cNvPr id="3" name="矩形 2"/>
          <p:cNvSpPr/>
          <p:nvPr/>
        </p:nvSpPr>
        <p:spPr>
          <a:xfrm>
            <a:off x="6527586" y="1718052"/>
            <a:ext cx="5399781" cy="1384995"/>
          </a:xfrm>
          <a:prstGeom prst="rect">
            <a:avLst/>
          </a:prstGeom>
        </p:spPr>
        <p:txBody>
          <a:bodyPr wrap="square">
            <a:spAutoFit/>
          </a:bodyPr>
          <a:lstStyle/>
          <a:p>
            <a:pPr>
              <a:lnSpc>
                <a:spcPct val="150000"/>
              </a:lnSpc>
              <a:buFont typeface="Wingdings" panose="05000000000000000000" pitchFamily="2" charset="2"/>
              <a:buNone/>
            </a:pPr>
            <a:r>
              <a:rPr lang="zh-CN" altLang="en-US" sz="2800" b="1" dirty="0">
                <a:solidFill>
                  <a:srgbClr val="FF0000"/>
                </a:solidFill>
                <a:latin typeface="微软雅黑" panose="020B0503020204020204" pitchFamily="34" charset="-122"/>
                <a:ea typeface="微软雅黑" panose="020B0503020204020204" pitchFamily="34" charset="-122"/>
              </a:rPr>
              <a:t>细粒度</a:t>
            </a:r>
            <a:r>
              <a:rPr lang="zh-CN" altLang="en-US" sz="2800" b="1" dirty="0">
                <a:latin typeface="微软雅黑" panose="020B0503020204020204" pitchFamily="34" charset="-122"/>
                <a:ea typeface="微软雅黑" panose="020B0503020204020204" pitchFamily="34" charset="-122"/>
              </a:rPr>
              <a:t>：细粒度并行算法的典型代表是向量或循环级的并行；</a:t>
            </a:r>
          </a:p>
        </p:txBody>
      </p:sp>
      <p:sp>
        <p:nvSpPr>
          <p:cNvPr id="4" name="矩形 3"/>
          <p:cNvSpPr/>
          <p:nvPr/>
        </p:nvSpPr>
        <p:spPr>
          <a:xfrm>
            <a:off x="646185" y="3103047"/>
            <a:ext cx="3662881" cy="1643527"/>
          </a:xfrm>
          <a:prstGeom prst="rect">
            <a:avLst/>
          </a:prstGeom>
        </p:spPr>
        <p:txBody>
          <a:bodyPr wrap="square">
            <a:spAutoFit/>
          </a:bodyPr>
          <a:lstStyle/>
          <a:p>
            <a:pPr>
              <a:lnSpc>
                <a:spcPct val="120000"/>
              </a:lnSpc>
              <a:buFont typeface="Wingdings" panose="05000000000000000000" pitchFamily="2" charset="2"/>
              <a:buNone/>
            </a:pPr>
            <a:r>
              <a:rPr lang="zh-CN" altLang="en-US" sz="2800" b="1" dirty="0">
                <a:solidFill>
                  <a:srgbClr val="FF0000"/>
                </a:solidFill>
                <a:latin typeface="微软雅黑" panose="020B0503020204020204" pitchFamily="34" charset="-122"/>
                <a:ea typeface="微软雅黑" panose="020B0503020204020204" pitchFamily="34" charset="-122"/>
              </a:rPr>
              <a:t>中粒度</a:t>
            </a:r>
            <a:r>
              <a:rPr lang="zh-CN" altLang="en-US" sz="2800" b="1" dirty="0">
                <a:latin typeface="微软雅黑" panose="020B0503020204020204" pitchFamily="34" charset="-122"/>
                <a:ea typeface="微软雅黑" panose="020B0503020204020204" pitchFamily="34" charset="-122"/>
              </a:rPr>
              <a:t>：较大的循环级并行一般就属于中粒度并行算法了；</a:t>
            </a:r>
          </a:p>
        </p:txBody>
      </p:sp>
      <p:sp>
        <p:nvSpPr>
          <p:cNvPr id="24" name="矩形 23"/>
          <p:cNvSpPr/>
          <p:nvPr/>
        </p:nvSpPr>
        <p:spPr>
          <a:xfrm>
            <a:off x="6611146" y="4746574"/>
            <a:ext cx="5257759" cy="1384995"/>
          </a:xfrm>
          <a:prstGeom prst="rect">
            <a:avLst/>
          </a:prstGeom>
        </p:spPr>
        <p:txBody>
          <a:bodyPr wrap="square">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粗粒度</a:t>
            </a:r>
            <a:r>
              <a:rPr lang="zh-CN" altLang="en-US" sz="2800" b="1" dirty="0">
                <a:latin typeface="微软雅黑" panose="020B0503020204020204" pitchFamily="34" charset="-122"/>
                <a:ea typeface="微软雅黑" panose="020B0503020204020204" pitchFamily="34" charset="-122"/>
              </a:rPr>
              <a:t>：粗粒度并行算法一般指子任务级的并行。</a:t>
            </a:r>
          </a:p>
        </p:txBody>
      </p:sp>
    </p:spTree>
    <p:extLst>
      <p:ext uri="{BB962C8B-B14F-4D97-AF65-F5344CB8AC3E}">
        <p14:creationId xmlns:p14="http://schemas.microsoft.com/office/powerpoint/2010/main" val="846041394"/>
      </p:ext>
    </p:extLst>
  </p:cSld>
  <p:clrMapOvr>
    <a:masterClrMapping/>
  </p:clrMapOvr>
  <mc:AlternateContent xmlns:mc="http://schemas.openxmlformats.org/markup-compatibility/2006" xmlns:p14="http://schemas.microsoft.com/office/powerpoint/2010/main">
    <mc:Choice Requires="p14">
      <p:transition spd="slow" advTm="8899">
        <p14:conveyor dir="l"/>
      </p:transition>
    </mc:Choice>
    <mc:Fallback xmlns="">
      <p:transition spd="slow" advTm="8899">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707937" y="-75380"/>
            <a:ext cx="10515600" cy="1325563"/>
          </a:xfrm>
        </p:spPr>
        <p:txBody>
          <a:bodyPr>
            <a:normAutofit/>
          </a:bodyPr>
          <a:lstStyle/>
          <a:p>
            <a:pPr algn="l"/>
            <a:r>
              <a:rPr lang="zh-CN" altLang="en-US" sz="3200" b="1" dirty="0">
                <a:latin typeface="微软雅黑" panose="020B0503020204020204" pitchFamily="34" charset="-122"/>
                <a:ea typeface="微软雅黑" panose="020B0503020204020204" pitchFamily="34" charset="-122"/>
              </a:rPr>
              <a:t>并行算法思路</a:t>
            </a:r>
          </a:p>
        </p:txBody>
      </p:sp>
      <mc:AlternateContent xmlns:mc="http://schemas.openxmlformats.org/markup-compatibility/2006">
        <mc:Choice xmlns:a14="http://schemas.microsoft.com/office/drawing/2010/main" Requires="a14">
          <p:sp>
            <p:nvSpPr>
              <p:cNvPr id="158723" name="Rectangle 3"/>
              <p:cNvSpPr>
                <a:spLocks noGrp="1" noChangeArrowheads="1"/>
              </p:cNvSpPr>
              <p:nvPr>
                <p:ph type="body" idx="1"/>
              </p:nvPr>
            </p:nvSpPr>
            <p:spPr>
              <a:xfrm>
                <a:off x="572679" y="2104105"/>
                <a:ext cx="11383972" cy="4082143"/>
              </a:xfrm>
            </p:spPr>
            <p:txBody>
              <a:bodyPr>
                <a:noAutofit/>
              </a:bodyPr>
              <a:lstStyle/>
              <a:p>
                <a:pPr>
                  <a:lnSpc>
                    <a:spcPct val="120000"/>
                  </a:lnSpc>
                </a:pPr>
                <a:r>
                  <a:rPr lang="zh-CN" altLang="en-US" b="1" dirty="0">
                    <a:latin typeface="微软雅黑" panose="020B0503020204020204" pitchFamily="34" charset="-122"/>
                    <a:ea typeface="微软雅黑" panose="020B0503020204020204" pitchFamily="34" charset="-122"/>
                  </a:rPr>
                  <a:t>思路：</a:t>
                </a:r>
                <a:endParaRPr lang="en-US" altLang="zh-CN"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将大的程序</a:t>
                </a:r>
                <a:r>
                  <a:rPr lang="zh-CN" altLang="en-US" sz="2800" b="1" dirty="0">
                    <a:solidFill>
                      <a:srgbClr val="0000FF"/>
                    </a:solidFill>
                    <a:latin typeface="微软雅黑" panose="020B0503020204020204" pitchFamily="34" charset="-122"/>
                    <a:ea typeface="微软雅黑" panose="020B0503020204020204" pitchFamily="34" charset="-122"/>
                  </a:rPr>
                  <a:t>分解</a:t>
                </a:r>
                <a:r>
                  <a:rPr lang="zh-CN" altLang="en-US" sz="2800" b="1" dirty="0">
                    <a:latin typeface="微软雅黑" panose="020B0503020204020204" pitchFamily="34" charset="-122"/>
                    <a:ea typeface="微软雅黑" panose="020B0503020204020204" pitchFamily="34" charset="-122"/>
                  </a:rPr>
                  <a:t>成一定数量的</a:t>
                </a:r>
                <a:r>
                  <a:rPr lang="zh-CN" altLang="en-US" sz="2800" b="1" dirty="0">
                    <a:solidFill>
                      <a:srgbClr val="0000FF"/>
                    </a:solidFill>
                    <a:latin typeface="微软雅黑" panose="020B0503020204020204" pitchFamily="34" charset="-122"/>
                    <a:ea typeface="微软雅黑" panose="020B0503020204020204" pitchFamily="34" charset="-122"/>
                  </a:rPr>
                  <a:t>可并行处理的子过程</a:t>
                </a:r>
                <a:r>
                  <a:rPr lang="zh-CN" altLang="en-US" sz="2800" b="1" dirty="0">
                    <a:latin typeface="微软雅黑" panose="020B0503020204020204" pitchFamily="34" charset="-122"/>
                    <a:ea typeface="微软雅黑" panose="020B0503020204020204" pitchFamily="34" charset="-122"/>
                  </a:rPr>
                  <a:t>（进程、任务或程序段），把每个过程看成一个节点，将过程之间的关联用节点组成的</a:t>
                </a:r>
                <a:r>
                  <a:rPr lang="zh-CN" altLang="en-US" sz="2800" b="1" dirty="0">
                    <a:solidFill>
                      <a:srgbClr val="FF0000"/>
                    </a:solidFill>
                    <a:latin typeface="微软雅黑" panose="020B0503020204020204" pitchFamily="34" charset="-122"/>
                    <a:ea typeface="微软雅黑" panose="020B0503020204020204" pitchFamily="34" charset="-122"/>
                  </a:rPr>
                  <a:t>树</a:t>
                </a:r>
                <a:r>
                  <a:rPr lang="zh-CN" altLang="en-US" sz="2800" b="1" dirty="0">
                    <a:latin typeface="微软雅黑" panose="020B0503020204020204" pitchFamily="34" charset="-122"/>
                    <a:ea typeface="微软雅黑" panose="020B0503020204020204" pitchFamily="34" charset="-122"/>
                  </a:rPr>
                  <a:t>来描述。</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程序内各过程之间的关系当成算术表达式中各项之间的运算关系来处理，表达式中的每一项看成是一个程序段的运行结果。</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b="1" dirty="0">
                    <a:latin typeface="微软雅黑" panose="020B0503020204020204" pitchFamily="34" charset="-122"/>
                    <a:ea typeface="微软雅黑" panose="020B0503020204020204" pitchFamily="34" charset="-122"/>
                  </a:rPr>
                  <a:t>实质：</a:t>
                </a:r>
                <a:endParaRPr lang="en-US" altLang="zh-CN"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程序段之间的并行性问题  </a:t>
                </a:r>
                <a14:m>
                  <m:oMath xmlns:m="http://schemas.openxmlformats.org/officeDocument/2006/math">
                    <m:groupChr>
                      <m:groupChrPr>
                        <m:chr m:val="⇔"/>
                        <m:vertJc m:val="bot"/>
                        <m:ctrlPr>
                          <a:rPr lang="zh-CN" altLang="en-US" sz="2800" b="1" i="1" smtClean="0">
                            <a:latin typeface="Cambria Math" panose="02040503050406030204" pitchFamily="18" charset="0"/>
                            <a:ea typeface="宋体" panose="02010600030101010101" pitchFamily="2" charset="-122"/>
                          </a:rPr>
                        </m:ctrlPr>
                      </m:groupChrPr>
                      <m:e>
                        <m:r>
                          <m:rPr>
                            <m:brk m:alnAt="2"/>
                          </m:rPr>
                          <a:rPr lang="zh-CN" altLang="en-US" sz="2800" b="1" i="0" smtClean="0">
                            <a:solidFill>
                              <a:srgbClr val="FF0000"/>
                            </a:solidFill>
                            <a:latin typeface="Cambria Math" panose="02040503050406030204" pitchFamily="18" charset="0"/>
                            <a:ea typeface="宋体" panose="02010600030101010101" pitchFamily="2" charset="-122"/>
                          </a:rPr>
                          <m:t>变</m:t>
                        </m:r>
                        <m:r>
                          <a:rPr lang="zh-CN" altLang="en-US" sz="2800" b="1" i="0" smtClean="0">
                            <a:solidFill>
                              <a:srgbClr val="FF0000"/>
                            </a:solidFill>
                            <a:latin typeface="Cambria Math" panose="02040503050406030204" pitchFamily="18" charset="0"/>
                            <a:ea typeface="宋体" panose="02010600030101010101" pitchFamily="2" charset="-122"/>
                          </a:rPr>
                          <m:t>换</m:t>
                        </m:r>
                      </m:e>
                    </m:groupChr>
                    <m:r>
                      <a:rPr lang="en-US" altLang="zh-CN" sz="2800" b="1" i="1" smtClean="0">
                        <a:latin typeface="Cambria Math" panose="02040503050406030204" pitchFamily="18" charset="0"/>
                        <a:ea typeface="宋体" panose="02010600030101010101" pitchFamily="2" charset="-122"/>
                      </a:rPr>
                      <m:t>  </m:t>
                    </m:r>
                  </m:oMath>
                </a14:m>
                <a:r>
                  <a:rPr lang="zh-CN" altLang="en-US" sz="2800" b="1" dirty="0">
                    <a:latin typeface="微软雅黑" panose="020B0503020204020204" pitchFamily="34" charset="-122"/>
                    <a:ea typeface="微软雅黑" panose="020B0503020204020204" pitchFamily="34" charset="-122"/>
                  </a:rPr>
                  <a:t>算术表达式并行运算问题</a:t>
                </a:r>
              </a:p>
            </p:txBody>
          </p:sp>
        </mc:Choice>
        <mc:Fallback>
          <p:sp>
            <p:nvSpPr>
              <p:cNvPr id="158723" name="Rectangle 3"/>
              <p:cNvSpPr>
                <a:spLocks noGrp="1" noRot="1" noChangeAspect="1" noMove="1" noResize="1" noEditPoints="1" noAdjustHandles="1" noChangeArrowheads="1" noChangeShapeType="1" noTextEdit="1"/>
              </p:cNvSpPr>
              <p:nvPr>
                <p:ph type="body" idx="1"/>
              </p:nvPr>
            </p:nvSpPr>
            <p:spPr>
              <a:xfrm>
                <a:off x="572679" y="2104105"/>
                <a:ext cx="11383972" cy="4082143"/>
              </a:xfrm>
              <a:blipFill rotWithShape="0">
                <a:blip r:embed="rId2"/>
                <a:stretch>
                  <a:fillRect l="-964" t="-448" b="-19552"/>
                </a:stretch>
              </a:blipFill>
            </p:spPr>
            <p:txBody>
              <a:bodyPr/>
              <a:lstStyle/>
              <a:p>
                <a:r>
                  <a:rPr lang="zh-CN" altLang="en-US">
                    <a:noFill/>
                  </a:rPr>
                  <a:t> </a:t>
                </a:r>
              </a:p>
            </p:txBody>
          </p:sp>
        </mc:Fallback>
      </mc:AlternateContent>
      <p:sp>
        <p:nvSpPr>
          <p:cNvPr id="2" name="文本框 1"/>
          <p:cNvSpPr txBox="1"/>
          <p:nvPr/>
        </p:nvSpPr>
        <p:spPr>
          <a:xfrm>
            <a:off x="702011" y="885309"/>
            <a:ext cx="7527706" cy="609398"/>
          </a:xfrm>
          <a:prstGeom prst="rect">
            <a:avLst/>
          </a:prstGeom>
          <a:noFill/>
        </p:spPr>
        <p:txBody>
          <a:bodyPr wrap="square" rtlCol="0">
            <a:spAutoFit/>
          </a:bodyPr>
          <a:lstStyle/>
          <a:p>
            <a:pPr>
              <a:lnSpc>
                <a:spcPct val="120000"/>
              </a:lnSpc>
            </a:pPr>
            <a:r>
              <a:rPr lang="en-US" altLang="zh-CN" sz="2800" b="1" dirty="0">
                <a:solidFill>
                  <a:srgbClr val="FF0000"/>
                </a:solidFill>
                <a:latin typeface="微软雅黑" panose="020B0503020204020204" pitchFamily="34" charset="-122"/>
                <a:ea typeface="微软雅黑" panose="020B0503020204020204" pitchFamily="34" charset="-122"/>
              </a:rPr>
              <a:t>Q</a:t>
            </a:r>
            <a:r>
              <a:rPr lang="zh-CN" altLang="en-US" sz="2800" b="1" dirty="0">
                <a:latin typeface="微软雅黑" panose="020B0503020204020204" pitchFamily="34" charset="-122"/>
                <a:ea typeface="微软雅黑" panose="020B0503020204020204" pitchFamily="34" charset="-122"/>
              </a:rPr>
              <a:t>：用什么方法来表示这样的并行性？</a:t>
            </a:r>
          </a:p>
        </p:txBody>
      </p:sp>
      <p:sp>
        <p:nvSpPr>
          <p:cNvPr id="5" name="文本框 4"/>
          <p:cNvSpPr txBox="1"/>
          <p:nvPr/>
        </p:nvSpPr>
        <p:spPr>
          <a:xfrm>
            <a:off x="729345" y="1494707"/>
            <a:ext cx="5377543" cy="609398"/>
          </a:xfrm>
          <a:prstGeom prst="rect">
            <a:avLst/>
          </a:prstGeom>
          <a:noFill/>
        </p:spPr>
        <p:txBody>
          <a:bodyPr wrap="square" rtlCol="0">
            <a:spAutoFit/>
          </a:bodyPr>
          <a:lstStyle/>
          <a:p>
            <a:pPr>
              <a:lnSpc>
                <a:spcPct val="120000"/>
              </a:lnSpc>
            </a:pPr>
            <a:r>
              <a:rPr lang="en-US" altLang="zh-CN" sz="2800" b="1" dirty="0">
                <a:solidFill>
                  <a:srgbClr val="FF0000"/>
                </a:solidFill>
                <a:latin typeface="微软雅黑" panose="020B0503020204020204" pitchFamily="34" charset="-122"/>
                <a:ea typeface="微软雅黑" panose="020B0503020204020204" pitchFamily="34" charset="-122"/>
              </a:rPr>
              <a:t>A</a:t>
            </a:r>
            <a:r>
              <a:rPr lang="zh-CN" altLang="en-US" sz="2800" b="1" dirty="0">
                <a:latin typeface="微软雅黑" panose="020B0503020204020204" pitchFamily="34" charset="-122"/>
                <a:ea typeface="微软雅黑" panose="020B0503020204020204" pitchFamily="34" charset="-122"/>
              </a:rPr>
              <a:t>：图形学  </a:t>
            </a:r>
            <a:r>
              <a:rPr lang="en-US" altLang="zh-CN" sz="2800" b="1" dirty="0">
                <a:latin typeface="微软雅黑" panose="020B0503020204020204" pitchFamily="34" charset="-122"/>
                <a:ea typeface="微软雅黑" panose="020B0503020204020204" pitchFamily="34" charset="-122"/>
              </a:rPr>
              <a:t>— </a:t>
            </a:r>
            <a:r>
              <a:rPr lang="zh-CN" altLang="en-US" sz="2800" b="1" dirty="0">
                <a:solidFill>
                  <a:srgbClr val="FF0000"/>
                </a:solidFill>
                <a:latin typeface="微软雅黑" panose="020B0503020204020204" pitchFamily="34" charset="-122"/>
                <a:ea typeface="微软雅黑" panose="020B0503020204020204" pitchFamily="34" charset="-122"/>
              </a:rPr>
              <a:t>树</a:t>
            </a:r>
          </a:p>
        </p:txBody>
      </p:sp>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67193917"/>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02620" y="269251"/>
            <a:ext cx="6290144"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b="1" dirty="0">
                <a:latin typeface="微软雅黑" panose="020B0503020204020204" pitchFamily="34" charset="-122"/>
                <a:ea typeface="微软雅黑" panose="020B0503020204020204" pitchFamily="34" charset="-122"/>
              </a:rPr>
              <a:t>并行算法性能评价标准</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椭圆 10"/>
          <p:cNvSpPr/>
          <p:nvPr/>
        </p:nvSpPr>
        <p:spPr bwMode="auto">
          <a:xfrm>
            <a:off x="265635" y="2990605"/>
            <a:ext cx="1701657" cy="1701657"/>
          </a:xfrm>
          <a:prstGeom prst="ellipse">
            <a:avLst/>
          </a:prstGeom>
          <a:solidFill>
            <a:srgbClr val="04BE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dirty="0"/>
          </a:p>
        </p:txBody>
      </p:sp>
      <p:sp>
        <p:nvSpPr>
          <p:cNvPr id="8" name="Freeform 5"/>
          <p:cNvSpPr>
            <a:spLocks noEditPoints="1"/>
          </p:cNvSpPr>
          <p:nvPr/>
        </p:nvSpPr>
        <p:spPr bwMode="auto">
          <a:xfrm>
            <a:off x="678258" y="3330137"/>
            <a:ext cx="981483" cy="1121812"/>
          </a:xfrm>
          <a:custGeom>
            <a:avLst/>
            <a:gdLst>
              <a:gd name="T0" fmla="*/ 1232 w 1933"/>
              <a:gd name="T1" fmla="*/ 274 h 2183"/>
              <a:gd name="T2" fmla="*/ 958 w 1933"/>
              <a:gd name="T3" fmla="*/ 547 h 2183"/>
              <a:gd name="T4" fmla="*/ 684 w 1933"/>
              <a:gd name="T5" fmla="*/ 547 h 2183"/>
              <a:gd name="T6" fmla="*/ 411 w 1933"/>
              <a:gd name="T7" fmla="*/ 274 h 2183"/>
              <a:gd name="T8" fmla="*/ 684 w 1933"/>
              <a:gd name="T9" fmla="*/ 0 h 2183"/>
              <a:gd name="T10" fmla="*/ 958 w 1933"/>
              <a:gd name="T11" fmla="*/ 0 h 2183"/>
              <a:gd name="T12" fmla="*/ 1232 w 1933"/>
              <a:gd name="T13" fmla="*/ 274 h 2183"/>
              <a:gd name="T14" fmla="*/ 1362 w 1933"/>
              <a:gd name="T15" fmla="*/ 274 h 2183"/>
              <a:gd name="T16" fmla="*/ 1368 w 1933"/>
              <a:gd name="T17" fmla="*/ 336 h 2183"/>
              <a:gd name="T18" fmla="*/ 1026 w 1933"/>
              <a:gd name="T19" fmla="*/ 678 h 2183"/>
              <a:gd name="T20" fmla="*/ 616 w 1933"/>
              <a:gd name="T21" fmla="*/ 678 h 2183"/>
              <a:gd name="T22" fmla="*/ 274 w 1933"/>
              <a:gd name="T23" fmla="*/ 336 h 2183"/>
              <a:gd name="T24" fmla="*/ 280 w 1933"/>
              <a:gd name="T25" fmla="*/ 274 h 2183"/>
              <a:gd name="T26" fmla="*/ 0 w 1933"/>
              <a:gd name="T27" fmla="*/ 610 h 2183"/>
              <a:gd name="T28" fmla="*/ 0 w 1933"/>
              <a:gd name="T29" fmla="*/ 1841 h 2183"/>
              <a:gd name="T30" fmla="*/ 342 w 1933"/>
              <a:gd name="T31" fmla="*/ 2183 h 2183"/>
              <a:gd name="T32" fmla="*/ 1253 w 1933"/>
              <a:gd name="T33" fmla="*/ 2183 h 2183"/>
              <a:gd name="T34" fmla="*/ 881 w 1933"/>
              <a:gd name="T35" fmla="*/ 1620 h 2183"/>
              <a:gd name="T36" fmla="*/ 1492 w 1933"/>
              <a:gd name="T37" fmla="*/ 1009 h 2183"/>
              <a:gd name="T38" fmla="*/ 1642 w 1933"/>
              <a:gd name="T39" fmla="*/ 1028 h 2183"/>
              <a:gd name="T40" fmla="*/ 1642 w 1933"/>
              <a:gd name="T41" fmla="*/ 610 h 2183"/>
              <a:gd name="T42" fmla="*/ 1362 w 1933"/>
              <a:gd name="T43" fmla="*/ 274 h 2183"/>
              <a:gd name="T44" fmla="*/ 770 w 1933"/>
              <a:gd name="T45" fmla="*/ 1368 h 2183"/>
              <a:gd name="T46" fmla="*/ 770 w 1933"/>
              <a:gd name="T47" fmla="*/ 1368 h 2183"/>
              <a:gd name="T48" fmla="*/ 342 w 1933"/>
              <a:gd name="T49" fmla="*/ 1368 h 2183"/>
              <a:gd name="T50" fmla="*/ 274 w 1933"/>
              <a:gd name="T51" fmla="*/ 1300 h 2183"/>
              <a:gd name="T52" fmla="*/ 342 w 1933"/>
              <a:gd name="T53" fmla="*/ 1232 h 2183"/>
              <a:gd name="T54" fmla="*/ 770 w 1933"/>
              <a:gd name="T55" fmla="*/ 1232 h 2183"/>
              <a:gd name="T56" fmla="*/ 838 w 1933"/>
              <a:gd name="T57" fmla="*/ 1300 h 2183"/>
              <a:gd name="T58" fmla="*/ 770 w 1933"/>
              <a:gd name="T59" fmla="*/ 1368 h 2183"/>
              <a:gd name="T60" fmla="*/ 907 w 1933"/>
              <a:gd name="T61" fmla="*/ 1095 h 2183"/>
              <a:gd name="T62" fmla="*/ 907 w 1933"/>
              <a:gd name="T63" fmla="*/ 1095 h 2183"/>
              <a:gd name="T64" fmla="*/ 342 w 1933"/>
              <a:gd name="T65" fmla="*/ 1095 h 2183"/>
              <a:gd name="T66" fmla="*/ 274 w 1933"/>
              <a:gd name="T67" fmla="*/ 1026 h 2183"/>
              <a:gd name="T68" fmla="*/ 342 w 1933"/>
              <a:gd name="T69" fmla="*/ 958 h 2183"/>
              <a:gd name="T70" fmla="*/ 907 w 1933"/>
              <a:gd name="T71" fmla="*/ 958 h 2183"/>
              <a:gd name="T72" fmla="*/ 975 w 1933"/>
              <a:gd name="T73" fmla="*/ 1026 h 2183"/>
              <a:gd name="T74" fmla="*/ 907 w 1933"/>
              <a:gd name="T75" fmla="*/ 1095 h 2183"/>
              <a:gd name="T76" fmla="*/ 1605 w 1933"/>
              <a:gd name="T77" fmla="*/ 1197 h 2183"/>
              <a:gd name="T78" fmla="*/ 1497 w 1933"/>
              <a:gd name="T79" fmla="*/ 1183 h 2183"/>
              <a:gd name="T80" fmla="*/ 1060 w 1933"/>
              <a:gd name="T81" fmla="*/ 1619 h 2183"/>
              <a:gd name="T82" fmla="*/ 1405 w 1933"/>
              <a:gd name="T83" fmla="*/ 2045 h 2183"/>
              <a:gd name="T84" fmla="*/ 1497 w 1933"/>
              <a:gd name="T85" fmla="*/ 2055 h 2183"/>
              <a:gd name="T86" fmla="*/ 1933 w 1933"/>
              <a:gd name="T87" fmla="*/ 1619 h 2183"/>
              <a:gd name="T88" fmla="*/ 1605 w 1933"/>
              <a:gd name="T89" fmla="*/ 1197 h 2183"/>
              <a:gd name="T90" fmla="*/ 1743 w 1933"/>
              <a:gd name="T91" fmla="*/ 1557 h 2183"/>
              <a:gd name="T92" fmla="*/ 1743 w 1933"/>
              <a:gd name="T93" fmla="*/ 1557 h 2183"/>
              <a:gd name="T94" fmla="*/ 1605 w 1933"/>
              <a:gd name="T95" fmla="*/ 1695 h 2183"/>
              <a:gd name="T96" fmla="*/ 1497 w 1933"/>
              <a:gd name="T97" fmla="*/ 1804 h 2183"/>
              <a:gd name="T98" fmla="*/ 1373 w 1933"/>
              <a:gd name="T99" fmla="*/ 1804 h 2183"/>
              <a:gd name="T100" fmla="*/ 1250 w 1933"/>
              <a:gd name="T101" fmla="*/ 1681 h 2183"/>
              <a:gd name="T102" fmla="*/ 1250 w 1933"/>
              <a:gd name="T103" fmla="*/ 1557 h 2183"/>
              <a:gd name="T104" fmla="*/ 1373 w 1933"/>
              <a:gd name="T105" fmla="*/ 1557 h 2183"/>
              <a:gd name="T106" fmla="*/ 1435 w 1933"/>
              <a:gd name="T107" fmla="*/ 1619 h 2183"/>
              <a:gd name="T108" fmla="*/ 1605 w 1933"/>
              <a:gd name="T109" fmla="*/ 1448 h 2183"/>
              <a:gd name="T110" fmla="*/ 1620 w 1933"/>
              <a:gd name="T111" fmla="*/ 1434 h 2183"/>
              <a:gd name="T112" fmla="*/ 1743 w 1933"/>
              <a:gd name="T113" fmla="*/ 1434 h 2183"/>
              <a:gd name="T114" fmla="*/ 1743 w 1933"/>
              <a:gd name="T115" fmla="*/ 1557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33" h="2183">
                <a:moveTo>
                  <a:pt x="1232" y="274"/>
                </a:moveTo>
                <a:cubicBezTo>
                  <a:pt x="1232" y="425"/>
                  <a:pt x="1109" y="547"/>
                  <a:pt x="958" y="547"/>
                </a:cubicBezTo>
                <a:lnTo>
                  <a:pt x="684" y="547"/>
                </a:lnTo>
                <a:cubicBezTo>
                  <a:pt x="533" y="547"/>
                  <a:pt x="411" y="425"/>
                  <a:pt x="411" y="274"/>
                </a:cubicBezTo>
                <a:cubicBezTo>
                  <a:pt x="411" y="122"/>
                  <a:pt x="533" y="0"/>
                  <a:pt x="684" y="0"/>
                </a:cubicBezTo>
                <a:lnTo>
                  <a:pt x="958" y="0"/>
                </a:lnTo>
                <a:cubicBezTo>
                  <a:pt x="1109" y="0"/>
                  <a:pt x="1232" y="122"/>
                  <a:pt x="1232" y="274"/>
                </a:cubicBezTo>
                <a:close/>
                <a:moveTo>
                  <a:pt x="1362" y="274"/>
                </a:moveTo>
                <a:cubicBezTo>
                  <a:pt x="1366" y="294"/>
                  <a:pt x="1368" y="315"/>
                  <a:pt x="1368" y="336"/>
                </a:cubicBezTo>
                <a:cubicBezTo>
                  <a:pt x="1368" y="525"/>
                  <a:pt x="1215" y="678"/>
                  <a:pt x="1026" y="678"/>
                </a:cubicBezTo>
                <a:lnTo>
                  <a:pt x="616" y="678"/>
                </a:lnTo>
                <a:cubicBezTo>
                  <a:pt x="427" y="678"/>
                  <a:pt x="274" y="525"/>
                  <a:pt x="274" y="336"/>
                </a:cubicBezTo>
                <a:cubicBezTo>
                  <a:pt x="274" y="315"/>
                  <a:pt x="276" y="294"/>
                  <a:pt x="280" y="274"/>
                </a:cubicBezTo>
                <a:cubicBezTo>
                  <a:pt x="121" y="303"/>
                  <a:pt x="0" y="442"/>
                  <a:pt x="0" y="610"/>
                </a:cubicBezTo>
                <a:lnTo>
                  <a:pt x="0" y="1841"/>
                </a:lnTo>
                <a:cubicBezTo>
                  <a:pt x="0" y="2030"/>
                  <a:pt x="153" y="2183"/>
                  <a:pt x="342" y="2183"/>
                </a:cubicBezTo>
                <a:lnTo>
                  <a:pt x="1253" y="2183"/>
                </a:lnTo>
                <a:cubicBezTo>
                  <a:pt x="1034" y="2090"/>
                  <a:pt x="881" y="1873"/>
                  <a:pt x="881" y="1620"/>
                </a:cubicBezTo>
                <a:cubicBezTo>
                  <a:pt x="881" y="1283"/>
                  <a:pt x="1155" y="1009"/>
                  <a:pt x="1492" y="1009"/>
                </a:cubicBezTo>
                <a:cubicBezTo>
                  <a:pt x="1544" y="1009"/>
                  <a:pt x="1594" y="1016"/>
                  <a:pt x="1642" y="1028"/>
                </a:cubicBezTo>
                <a:lnTo>
                  <a:pt x="1642" y="610"/>
                </a:lnTo>
                <a:cubicBezTo>
                  <a:pt x="1642" y="442"/>
                  <a:pt x="1521" y="303"/>
                  <a:pt x="1362" y="274"/>
                </a:cubicBezTo>
                <a:close/>
                <a:moveTo>
                  <a:pt x="770" y="1368"/>
                </a:moveTo>
                <a:lnTo>
                  <a:pt x="770" y="1368"/>
                </a:lnTo>
                <a:lnTo>
                  <a:pt x="342" y="1368"/>
                </a:lnTo>
                <a:cubicBezTo>
                  <a:pt x="304" y="1368"/>
                  <a:pt x="274" y="1338"/>
                  <a:pt x="274" y="1300"/>
                </a:cubicBezTo>
                <a:cubicBezTo>
                  <a:pt x="274" y="1262"/>
                  <a:pt x="304" y="1232"/>
                  <a:pt x="342" y="1232"/>
                </a:cubicBezTo>
                <a:lnTo>
                  <a:pt x="770" y="1232"/>
                </a:lnTo>
                <a:cubicBezTo>
                  <a:pt x="807" y="1232"/>
                  <a:pt x="838" y="1262"/>
                  <a:pt x="838" y="1300"/>
                </a:cubicBezTo>
                <a:cubicBezTo>
                  <a:pt x="838" y="1338"/>
                  <a:pt x="807" y="1368"/>
                  <a:pt x="770" y="1368"/>
                </a:cubicBezTo>
                <a:close/>
                <a:moveTo>
                  <a:pt x="907" y="1095"/>
                </a:moveTo>
                <a:lnTo>
                  <a:pt x="907" y="1095"/>
                </a:lnTo>
                <a:lnTo>
                  <a:pt x="342" y="1095"/>
                </a:lnTo>
                <a:cubicBezTo>
                  <a:pt x="304" y="1095"/>
                  <a:pt x="274" y="1064"/>
                  <a:pt x="274" y="1026"/>
                </a:cubicBezTo>
                <a:cubicBezTo>
                  <a:pt x="274" y="988"/>
                  <a:pt x="304" y="958"/>
                  <a:pt x="342" y="958"/>
                </a:cubicBezTo>
                <a:lnTo>
                  <a:pt x="907" y="958"/>
                </a:lnTo>
                <a:cubicBezTo>
                  <a:pt x="944" y="958"/>
                  <a:pt x="975" y="988"/>
                  <a:pt x="975" y="1026"/>
                </a:cubicBezTo>
                <a:cubicBezTo>
                  <a:pt x="975" y="1064"/>
                  <a:pt x="944" y="1095"/>
                  <a:pt x="907" y="1095"/>
                </a:cubicBezTo>
                <a:close/>
                <a:moveTo>
                  <a:pt x="1605" y="1197"/>
                </a:moveTo>
                <a:cubicBezTo>
                  <a:pt x="1571" y="1187"/>
                  <a:pt x="1534" y="1183"/>
                  <a:pt x="1497" y="1183"/>
                </a:cubicBezTo>
                <a:cubicBezTo>
                  <a:pt x="1256" y="1183"/>
                  <a:pt x="1060" y="1378"/>
                  <a:pt x="1060" y="1619"/>
                </a:cubicBezTo>
                <a:cubicBezTo>
                  <a:pt x="1060" y="1828"/>
                  <a:pt x="1208" y="2003"/>
                  <a:pt x="1405" y="2045"/>
                </a:cubicBezTo>
                <a:cubicBezTo>
                  <a:pt x="1434" y="2051"/>
                  <a:pt x="1465" y="2055"/>
                  <a:pt x="1497" y="2055"/>
                </a:cubicBezTo>
                <a:cubicBezTo>
                  <a:pt x="1737" y="2055"/>
                  <a:pt x="1933" y="1860"/>
                  <a:pt x="1933" y="1619"/>
                </a:cubicBezTo>
                <a:cubicBezTo>
                  <a:pt x="1933" y="1416"/>
                  <a:pt x="1794" y="1245"/>
                  <a:pt x="1605" y="1197"/>
                </a:cubicBezTo>
                <a:close/>
                <a:moveTo>
                  <a:pt x="1743" y="1557"/>
                </a:moveTo>
                <a:lnTo>
                  <a:pt x="1743" y="1557"/>
                </a:lnTo>
                <a:lnTo>
                  <a:pt x="1605" y="1695"/>
                </a:lnTo>
                <a:lnTo>
                  <a:pt x="1497" y="1804"/>
                </a:lnTo>
                <a:cubicBezTo>
                  <a:pt x="1462" y="1838"/>
                  <a:pt x="1407" y="1838"/>
                  <a:pt x="1373" y="1804"/>
                </a:cubicBezTo>
                <a:lnTo>
                  <a:pt x="1250" y="1681"/>
                </a:lnTo>
                <a:cubicBezTo>
                  <a:pt x="1216" y="1646"/>
                  <a:pt x="1216" y="1591"/>
                  <a:pt x="1250" y="1557"/>
                </a:cubicBezTo>
                <a:cubicBezTo>
                  <a:pt x="1284" y="1523"/>
                  <a:pt x="1339" y="1523"/>
                  <a:pt x="1373" y="1557"/>
                </a:cubicBezTo>
                <a:lnTo>
                  <a:pt x="1435" y="1619"/>
                </a:lnTo>
                <a:lnTo>
                  <a:pt x="1605" y="1448"/>
                </a:lnTo>
                <a:lnTo>
                  <a:pt x="1620" y="1434"/>
                </a:lnTo>
                <a:cubicBezTo>
                  <a:pt x="1654" y="1400"/>
                  <a:pt x="1709" y="1400"/>
                  <a:pt x="1743" y="1434"/>
                </a:cubicBezTo>
                <a:cubicBezTo>
                  <a:pt x="1777" y="1468"/>
                  <a:pt x="1777" y="1523"/>
                  <a:pt x="1743" y="1557"/>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0" name="椭圆 29"/>
          <p:cNvSpPr>
            <a:spLocks noChangeAspect="1"/>
          </p:cNvSpPr>
          <p:nvPr/>
        </p:nvSpPr>
        <p:spPr bwMode="auto">
          <a:xfrm>
            <a:off x="2486204" y="1588670"/>
            <a:ext cx="417437" cy="417437"/>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2486204" y="2573168"/>
            <a:ext cx="417437" cy="417437"/>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2486204" y="3597891"/>
            <a:ext cx="417437" cy="417437"/>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2486204" y="4575286"/>
            <a:ext cx="417437" cy="417437"/>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38" name="椭圆 37"/>
          <p:cNvSpPr>
            <a:spLocks noChangeAspect="1"/>
          </p:cNvSpPr>
          <p:nvPr/>
        </p:nvSpPr>
        <p:spPr bwMode="auto">
          <a:xfrm>
            <a:off x="2486204" y="5552053"/>
            <a:ext cx="417437" cy="417437"/>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5</a:t>
            </a:r>
            <a:endParaRPr lang="zh-CN" altLang="en-US" sz="1599" b="1" dirty="0">
              <a:solidFill>
                <a:schemeClr val="bg1"/>
              </a:solidFill>
              <a:latin typeface="+mn-ea"/>
            </a:endParaRPr>
          </a:p>
        </p:txBody>
      </p:sp>
      <p:sp>
        <p:nvSpPr>
          <p:cNvPr id="19"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2694922" y="1568892"/>
            <a:ext cx="6970178" cy="523220"/>
          </a:xfrm>
          <a:prstGeom prst="rect">
            <a:avLst/>
          </a:prstGeom>
        </p:spPr>
        <p:txBody>
          <a:bodyPr wrap="none">
            <a:spAutoFit/>
          </a:bodyPr>
          <a:lstStyle/>
          <a:p>
            <a:pPr lvl="1"/>
            <a:r>
              <a:rPr lang="en-US" altLang="zh-CN" sz="2800" b="1" dirty="0">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：表示可以并行处理的</a:t>
            </a:r>
            <a:r>
              <a:rPr lang="zh-CN" altLang="en-US" sz="2800" b="1" dirty="0">
                <a:solidFill>
                  <a:srgbClr val="0000FF"/>
                </a:solidFill>
                <a:latin typeface="微软雅黑" panose="020B0503020204020204" pitchFamily="34" charset="-122"/>
                <a:ea typeface="微软雅黑" panose="020B0503020204020204" pitchFamily="34" charset="-122"/>
              </a:rPr>
              <a:t>处理机的数量</a:t>
            </a:r>
            <a:r>
              <a:rPr lang="zh-CN" altLang="en-US" sz="2800" b="1" dirty="0">
                <a:latin typeface="微软雅黑" panose="020B0503020204020204" pitchFamily="34" charset="-122"/>
                <a:ea typeface="微软雅黑" panose="020B0503020204020204" pitchFamily="34" charset="-122"/>
              </a:rPr>
              <a:t>；</a:t>
            </a:r>
          </a:p>
        </p:txBody>
      </p:sp>
      <p:sp>
        <p:nvSpPr>
          <p:cNvPr id="4" name="矩形 3"/>
          <p:cNvSpPr/>
          <p:nvPr/>
        </p:nvSpPr>
        <p:spPr>
          <a:xfrm>
            <a:off x="2694922" y="2514944"/>
            <a:ext cx="6737742" cy="523220"/>
          </a:xfrm>
          <a:prstGeom prst="rect">
            <a:avLst/>
          </a:prstGeom>
        </p:spPr>
        <p:txBody>
          <a:bodyPr wrap="none">
            <a:spAutoFit/>
          </a:bodyPr>
          <a:lstStyle/>
          <a:p>
            <a:pPr lvl="1"/>
            <a:r>
              <a:rPr lang="en-US" altLang="zh-CN" sz="2800" b="1" dirty="0">
                <a:latin typeface="微软雅黑" panose="020B0503020204020204" pitchFamily="34" charset="-122"/>
                <a:ea typeface="微软雅黑" panose="020B0503020204020204" pitchFamily="34" charset="-122"/>
              </a:rPr>
              <a:t>T</a:t>
            </a:r>
            <a:r>
              <a:rPr lang="en-US" altLang="zh-CN" sz="2800" b="1" baseline="-25000"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：表示</a:t>
            </a:r>
            <a:r>
              <a:rPr lang="zh-CN" altLang="en-US" sz="2800" b="1" dirty="0">
                <a:solidFill>
                  <a:srgbClr val="0000FF"/>
                </a:solidFill>
                <a:latin typeface="微软雅黑" panose="020B0503020204020204" pitchFamily="34" charset="-122"/>
                <a:ea typeface="微软雅黑" panose="020B0503020204020204" pitchFamily="34" charset="-122"/>
              </a:rPr>
              <a:t>单台</a:t>
            </a:r>
            <a:r>
              <a:rPr lang="zh-CN" altLang="en-US" sz="2800" b="1" dirty="0">
                <a:latin typeface="微软雅黑" panose="020B0503020204020204" pitchFamily="34" charset="-122"/>
                <a:ea typeface="微软雅黑" panose="020B0503020204020204" pitchFamily="34" charset="-122"/>
              </a:rPr>
              <a:t>处理机</a:t>
            </a:r>
            <a:r>
              <a:rPr lang="zh-CN" altLang="en-US" sz="2800" b="1" dirty="0">
                <a:solidFill>
                  <a:srgbClr val="0000FF"/>
                </a:solidFill>
                <a:latin typeface="微软雅黑" panose="020B0503020204020204" pitchFamily="34" charset="-122"/>
                <a:ea typeface="微软雅黑" panose="020B0503020204020204" pitchFamily="34" charset="-122"/>
              </a:rPr>
              <a:t>顺序运算</a:t>
            </a:r>
            <a:r>
              <a:rPr lang="zh-CN" altLang="en-US" sz="2800" b="1" dirty="0">
                <a:latin typeface="微软雅黑" panose="020B0503020204020204" pitchFamily="34" charset="-122"/>
                <a:ea typeface="微软雅黑" panose="020B0503020204020204" pitchFamily="34" charset="-122"/>
              </a:rPr>
              <a:t>的</a:t>
            </a:r>
            <a:r>
              <a:rPr lang="zh-CN" altLang="en-US" sz="2800" b="1" dirty="0">
                <a:solidFill>
                  <a:srgbClr val="0000FF"/>
                </a:solidFill>
                <a:latin typeface="微软雅黑" panose="020B0503020204020204" pitchFamily="34" charset="-122"/>
                <a:ea typeface="微软雅黑" panose="020B0503020204020204" pitchFamily="34" charset="-122"/>
              </a:rPr>
              <a:t>级数</a:t>
            </a:r>
            <a:r>
              <a:rPr lang="zh-CN" altLang="en-US" sz="2800" b="1" dirty="0">
                <a:latin typeface="微软雅黑" panose="020B0503020204020204" pitchFamily="34" charset="-122"/>
                <a:ea typeface="微软雅黑" panose="020B0503020204020204" pitchFamily="34" charset="-122"/>
              </a:rPr>
              <a:t>；</a:t>
            </a:r>
          </a:p>
        </p:txBody>
      </p:sp>
      <p:sp>
        <p:nvSpPr>
          <p:cNvPr id="9" name="矩形 8"/>
          <p:cNvSpPr/>
          <p:nvPr/>
        </p:nvSpPr>
        <p:spPr>
          <a:xfrm>
            <a:off x="2698411" y="5276992"/>
            <a:ext cx="10831773" cy="1384995"/>
          </a:xfrm>
          <a:prstGeom prst="rect">
            <a:avLst/>
          </a:prstGeom>
        </p:spPr>
        <p:txBody>
          <a:bodyPr wrap="square">
            <a:spAutoFit/>
          </a:bodyPr>
          <a:lstStyle/>
          <a:p>
            <a:pPr lvl="1">
              <a:lnSpc>
                <a:spcPct val="150000"/>
              </a:lnSpc>
            </a:pPr>
            <a:r>
              <a:rPr lang="en-US" altLang="zh-CN" sz="2800" b="1" dirty="0">
                <a:latin typeface="微软雅黑" panose="020B0503020204020204" pitchFamily="34" charset="-122"/>
                <a:ea typeface="微软雅黑" panose="020B0503020204020204" pitchFamily="34" charset="-122"/>
              </a:rPr>
              <a:t>E</a:t>
            </a:r>
            <a:r>
              <a:rPr lang="en-US" altLang="zh-CN" sz="2800" b="1" baseline="-25000" dirty="0">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：表示</a:t>
            </a:r>
            <a:r>
              <a:rPr lang="en-US" altLang="zh-CN" sz="2800" b="1" dirty="0">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台处理机的</a:t>
            </a:r>
            <a:r>
              <a:rPr lang="zh-CN" altLang="en-US" sz="2800" b="1" dirty="0">
                <a:solidFill>
                  <a:srgbClr val="0000FF"/>
                </a:solidFill>
                <a:latin typeface="微软雅黑" panose="020B0503020204020204" pitchFamily="34" charset="-122"/>
                <a:ea typeface="微软雅黑" panose="020B0503020204020204" pitchFamily="34" charset="-122"/>
              </a:rPr>
              <a:t>设备利用率</a:t>
            </a:r>
            <a:r>
              <a:rPr lang="zh-CN" altLang="en-US" sz="2800" b="1" dirty="0">
                <a:latin typeface="微软雅黑" panose="020B0503020204020204" pitchFamily="34" charset="-122"/>
                <a:ea typeface="微软雅黑" panose="020B0503020204020204" pitchFamily="34" charset="-122"/>
              </a:rPr>
              <a:t>（使用效率），</a:t>
            </a:r>
            <a:endParaRPr lang="en-US" altLang="zh-CN" sz="2800" b="1" dirty="0">
              <a:latin typeface="微软雅黑" panose="020B0503020204020204" pitchFamily="34" charset="-122"/>
              <a:ea typeface="微软雅黑" panose="020B0503020204020204" pitchFamily="34" charset="-122"/>
            </a:endParaRPr>
          </a:p>
          <a:p>
            <a:pPr lvl="1">
              <a:lnSpc>
                <a:spcPct val="150000"/>
              </a:lnSpc>
            </a:pPr>
            <a:r>
              <a:rPr lang="en-US" altLang="zh-CN" sz="2800" b="1" dirty="0">
                <a:latin typeface="微软雅黑" panose="020B0503020204020204" pitchFamily="34" charset="-122"/>
                <a:ea typeface="微软雅黑" panose="020B0503020204020204" pitchFamily="34" charset="-122"/>
              </a:rPr>
              <a:t> </a:t>
            </a:r>
            <a:r>
              <a:rPr lang="en-US" altLang="zh-CN" sz="2800" b="1" dirty="0">
                <a:solidFill>
                  <a:srgbClr val="0000FF"/>
                </a:solidFill>
                <a:latin typeface="微软雅黑" panose="020B0503020204020204" pitchFamily="34" charset="-122"/>
                <a:ea typeface="微软雅黑" panose="020B0503020204020204" pitchFamily="34" charset="-122"/>
              </a:rPr>
              <a:t>E</a:t>
            </a:r>
            <a:r>
              <a:rPr lang="en-US" altLang="zh-CN" sz="2800" b="1" baseline="-25000" dirty="0">
                <a:solidFill>
                  <a:srgbClr val="0000FF"/>
                </a:solidFill>
                <a:latin typeface="微软雅黑" panose="020B0503020204020204" pitchFamily="34" charset="-122"/>
                <a:ea typeface="微软雅黑" panose="020B0503020204020204" pitchFamily="34" charset="-122"/>
              </a:rPr>
              <a:t>p </a:t>
            </a:r>
            <a:r>
              <a:rPr lang="zh-CN" altLang="en-US" sz="2800" b="1" dirty="0">
                <a:solidFill>
                  <a:srgbClr val="0000FF"/>
                </a:solidFill>
                <a:latin typeface="微软雅黑" panose="020B0503020204020204" pitchFamily="34" charset="-122"/>
                <a:ea typeface="微软雅黑" panose="020B0503020204020204" pitchFamily="34" charset="-122"/>
              </a:rPr>
              <a:t>＝</a:t>
            </a:r>
            <a:r>
              <a:rPr lang="en-US" altLang="zh-CN" sz="2800" b="1" dirty="0">
                <a:solidFill>
                  <a:srgbClr val="0000FF"/>
                </a:solidFill>
                <a:latin typeface="微软雅黑" panose="020B0503020204020204" pitchFamily="34" charset="-122"/>
                <a:ea typeface="微软雅黑" panose="020B0503020204020204" pitchFamily="34" charset="-122"/>
              </a:rPr>
              <a:t> </a:t>
            </a:r>
            <a:r>
              <a:rPr lang="en-US" altLang="zh-CN" sz="2800" b="1" dirty="0" err="1">
                <a:solidFill>
                  <a:srgbClr val="0000FF"/>
                </a:solidFill>
                <a:latin typeface="微软雅黑" panose="020B0503020204020204" pitchFamily="34" charset="-122"/>
                <a:ea typeface="微软雅黑" panose="020B0503020204020204" pitchFamily="34" charset="-122"/>
              </a:rPr>
              <a:t>S</a:t>
            </a:r>
            <a:r>
              <a:rPr lang="en-US" altLang="zh-CN" sz="2800" b="1" baseline="-25000" dirty="0" err="1">
                <a:solidFill>
                  <a:srgbClr val="0000FF"/>
                </a:solidFill>
                <a:latin typeface="微软雅黑" panose="020B0503020204020204" pitchFamily="34" charset="-122"/>
                <a:ea typeface="微软雅黑" panose="020B0503020204020204" pitchFamily="34" charset="-122"/>
              </a:rPr>
              <a:t>p</a:t>
            </a:r>
            <a:r>
              <a:rPr lang="en-US" altLang="zh-CN" sz="2800" b="1" baseline="-25000" dirty="0">
                <a:solidFill>
                  <a:srgbClr val="0000FF"/>
                </a:solidFill>
                <a:latin typeface="微软雅黑" panose="020B0503020204020204" pitchFamily="34" charset="-122"/>
                <a:ea typeface="微软雅黑" panose="020B0503020204020204" pitchFamily="34" charset="-122"/>
              </a:rPr>
              <a:t> </a:t>
            </a:r>
            <a:r>
              <a:rPr lang="en-US" altLang="zh-CN" sz="2800" b="1" dirty="0">
                <a:solidFill>
                  <a:srgbClr val="0000FF"/>
                </a:solidFill>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a:t>
            </a:r>
          </a:p>
        </p:txBody>
      </p:sp>
      <p:sp>
        <p:nvSpPr>
          <p:cNvPr id="24" name="Rectangle 3"/>
          <p:cNvSpPr txBox="1">
            <a:spLocks noChangeArrowheads="1"/>
          </p:cNvSpPr>
          <p:nvPr/>
        </p:nvSpPr>
        <p:spPr>
          <a:xfrm>
            <a:off x="2694922" y="36454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US" altLang="zh-CN" sz="2800" b="1" dirty="0" err="1">
                <a:latin typeface="微软雅黑" panose="020B0503020204020204" pitchFamily="34" charset="-122"/>
                <a:ea typeface="微软雅黑" panose="020B0503020204020204" pitchFamily="34" charset="-122"/>
              </a:rPr>
              <a:t>T</a:t>
            </a:r>
            <a:r>
              <a:rPr lang="en-US" altLang="zh-CN" sz="2800" b="1" baseline="-25000" dirty="0" err="1">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：表示</a:t>
            </a:r>
            <a:r>
              <a:rPr lang="en-US" altLang="zh-CN" sz="2800" b="1" dirty="0">
                <a:solidFill>
                  <a:srgbClr val="0000FF"/>
                </a:solidFill>
                <a:latin typeface="微软雅黑" panose="020B0503020204020204" pitchFamily="34" charset="-122"/>
                <a:ea typeface="微软雅黑" panose="020B0503020204020204" pitchFamily="34" charset="-122"/>
              </a:rPr>
              <a:t>P</a:t>
            </a:r>
            <a:r>
              <a:rPr lang="zh-CN" altLang="en-US" sz="2800" b="1" dirty="0">
                <a:solidFill>
                  <a:srgbClr val="0000FF"/>
                </a:solidFill>
                <a:latin typeface="微软雅黑" panose="020B0503020204020204" pitchFamily="34" charset="-122"/>
                <a:ea typeface="微软雅黑" panose="020B0503020204020204" pitchFamily="34" charset="-122"/>
              </a:rPr>
              <a:t>台</a:t>
            </a:r>
            <a:r>
              <a:rPr lang="zh-CN" altLang="en-US" sz="2800" b="1" dirty="0">
                <a:latin typeface="微软雅黑" panose="020B0503020204020204" pitchFamily="34" charset="-122"/>
                <a:ea typeface="微软雅黑" panose="020B0503020204020204" pitchFamily="34" charset="-122"/>
              </a:rPr>
              <a:t>处理机</a:t>
            </a:r>
            <a:r>
              <a:rPr lang="zh-CN" altLang="en-US" sz="2800" b="1" dirty="0">
                <a:solidFill>
                  <a:srgbClr val="0000FF"/>
                </a:solidFill>
                <a:latin typeface="微软雅黑" panose="020B0503020204020204" pitchFamily="34" charset="-122"/>
                <a:ea typeface="微软雅黑" panose="020B0503020204020204" pitchFamily="34" charset="-122"/>
              </a:rPr>
              <a:t>运算</a:t>
            </a:r>
            <a:r>
              <a:rPr lang="zh-CN" altLang="en-US" sz="2800" b="1" dirty="0">
                <a:latin typeface="微软雅黑" panose="020B0503020204020204" pitchFamily="34" charset="-122"/>
                <a:ea typeface="微软雅黑" panose="020B0503020204020204" pitchFamily="34" charset="-122"/>
              </a:rPr>
              <a:t>的</a:t>
            </a:r>
            <a:r>
              <a:rPr lang="zh-CN" altLang="en-US" sz="2800" b="1" dirty="0">
                <a:solidFill>
                  <a:srgbClr val="0000FF"/>
                </a:solidFill>
                <a:latin typeface="微软雅黑" panose="020B0503020204020204" pitchFamily="34" charset="-122"/>
                <a:ea typeface="微软雅黑" panose="020B0503020204020204" pitchFamily="34" charset="-122"/>
              </a:rPr>
              <a:t>级数</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树</a:t>
            </a:r>
            <a:r>
              <a:rPr lang="zh-CN" altLang="en-US" sz="2800" b="1" dirty="0">
                <a:latin typeface="微软雅黑" panose="020B0503020204020204" pitchFamily="34" charset="-122"/>
                <a:ea typeface="微软雅黑" panose="020B0503020204020204" pitchFamily="34" charset="-122"/>
              </a:rPr>
              <a:t>的</a:t>
            </a:r>
            <a:r>
              <a:rPr lang="zh-CN" altLang="en-US" sz="2800" b="1" dirty="0">
                <a:solidFill>
                  <a:srgbClr val="0000FF"/>
                </a:solidFill>
                <a:latin typeface="微软雅黑" panose="020B0503020204020204" pitchFamily="34" charset="-122"/>
                <a:ea typeface="微软雅黑" panose="020B0503020204020204" pitchFamily="34" charset="-122"/>
              </a:rPr>
              <a:t>高度</a:t>
            </a:r>
            <a:r>
              <a:rPr lang="zh-CN" altLang="en-US" sz="2800" b="1" dirty="0">
                <a:latin typeface="微软雅黑" panose="020B0503020204020204" pitchFamily="34" charset="-122"/>
                <a:ea typeface="微软雅黑" panose="020B0503020204020204" pitchFamily="34" charset="-122"/>
              </a:rPr>
              <a:t>）；</a:t>
            </a:r>
          </a:p>
          <a:p>
            <a:pPr marL="457200" lvl="1" indent="0">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457200" lvl="1" indent="0">
              <a:buFont typeface="Arial" panose="020B0604020202020204" pitchFamily="34" charset="0"/>
              <a:buNone/>
            </a:pPr>
            <a:r>
              <a:rPr lang="en-US" altLang="zh-CN" sz="2800" b="1" dirty="0" err="1">
                <a:latin typeface="微软雅黑" panose="020B0503020204020204" pitchFamily="34" charset="-122"/>
                <a:ea typeface="微软雅黑" panose="020B0503020204020204" pitchFamily="34" charset="-122"/>
              </a:rPr>
              <a:t>S</a:t>
            </a:r>
            <a:r>
              <a:rPr lang="en-US" altLang="zh-CN" sz="2800" b="1" baseline="-25000" dirty="0" err="1">
                <a:latin typeface="微软雅黑" panose="020B0503020204020204" pitchFamily="34" charset="-122"/>
                <a:ea typeface="微软雅黑" panose="020B0503020204020204" pitchFamily="34" charset="-122"/>
              </a:rPr>
              <a:t>p</a:t>
            </a:r>
            <a:r>
              <a:rPr lang="zh-CN" altLang="en-US" sz="2800" b="1" dirty="0">
                <a:latin typeface="微软雅黑" panose="020B0503020204020204" pitchFamily="34" charset="-122"/>
                <a:ea typeface="微软雅黑" panose="020B0503020204020204" pitchFamily="34" charset="-122"/>
              </a:rPr>
              <a:t>：此处指多处理机的</a:t>
            </a:r>
            <a:r>
              <a:rPr lang="zh-CN" altLang="en-US" sz="2800" b="1" dirty="0">
                <a:solidFill>
                  <a:srgbClr val="0000FF"/>
                </a:solidFill>
                <a:latin typeface="微软雅黑" panose="020B0503020204020204" pitchFamily="34" charset="-122"/>
                <a:ea typeface="微软雅黑" panose="020B0503020204020204" pitchFamily="34" charset="-122"/>
              </a:rPr>
              <a:t>加速比</a:t>
            </a:r>
            <a:r>
              <a:rPr lang="zh-CN" altLang="en-US" sz="2800" b="1" dirty="0">
                <a:latin typeface="微软雅黑" panose="020B0503020204020204" pitchFamily="34" charset="-122"/>
                <a:ea typeface="微软雅黑" panose="020B0503020204020204" pitchFamily="34" charset="-122"/>
              </a:rPr>
              <a:t>；表示</a:t>
            </a:r>
            <a:r>
              <a:rPr lang="en-US" altLang="zh-CN" sz="2800" b="1" dirty="0">
                <a:solidFill>
                  <a:srgbClr val="0000FF"/>
                </a:solidFill>
                <a:latin typeface="微软雅黑" panose="020B0503020204020204" pitchFamily="34" charset="-122"/>
                <a:ea typeface="微软雅黑" panose="020B0503020204020204" pitchFamily="34" charset="-122"/>
              </a:rPr>
              <a:t>T</a:t>
            </a:r>
            <a:r>
              <a:rPr lang="en-US" altLang="zh-CN" sz="2800" b="1" baseline="-25000" dirty="0">
                <a:solidFill>
                  <a:srgbClr val="0000FF"/>
                </a:solidFill>
                <a:latin typeface="微软雅黑" panose="020B0503020204020204" pitchFamily="34" charset="-122"/>
                <a:ea typeface="微软雅黑" panose="020B0503020204020204" pitchFamily="34" charset="-122"/>
              </a:rPr>
              <a:t>1</a:t>
            </a:r>
            <a:r>
              <a:rPr lang="zh-CN" altLang="en-US" sz="2800" b="1" dirty="0">
                <a:solidFill>
                  <a:srgbClr val="0000FF"/>
                </a:solidFill>
                <a:latin typeface="微软雅黑" panose="020B0503020204020204" pitchFamily="34" charset="-122"/>
                <a:ea typeface="微软雅黑" panose="020B0503020204020204" pitchFamily="34" charset="-122"/>
              </a:rPr>
              <a:t>与</a:t>
            </a:r>
            <a:r>
              <a:rPr lang="en-US" altLang="zh-CN" sz="2800" b="1" dirty="0" err="1">
                <a:solidFill>
                  <a:srgbClr val="0000FF"/>
                </a:solidFill>
                <a:latin typeface="微软雅黑" panose="020B0503020204020204" pitchFamily="34" charset="-122"/>
                <a:ea typeface="微软雅黑" panose="020B0503020204020204" pitchFamily="34" charset="-122"/>
              </a:rPr>
              <a:t>T</a:t>
            </a:r>
            <a:r>
              <a:rPr lang="en-US" altLang="zh-CN" sz="2800" b="1" baseline="-25000" dirty="0" err="1">
                <a:solidFill>
                  <a:srgbClr val="0000FF"/>
                </a:solidFill>
                <a:latin typeface="微软雅黑" panose="020B0503020204020204" pitchFamily="34" charset="-122"/>
                <a:ea typeface="微软雅黑" panose="020B0503020204020204" pitchFamily="34" charset="-122"/>
              </a:rPr>
              <a:t>p</a:t>
            </a:r>
            <a:r>
              <a:rPr lang="zh-CN" altLang="en-US" sz="2800" b="1" dirty="0">
                <a:solidFill>
                  <a:srgbClr val="0000FF"/>
                </a:solidFill>
                <a:latin typeface="微软雅黑" panose="020B0503020204020204" pitchFamily="34" charset="-122"/>
                <a:ea typeface="微软雅黑" panose="020B0503020204020204" pitchFamily="34" charset="-122"/>
              </a:rPr>
              <a:t>之比</a:t>
            </a:r>
            <a:r>
              <a:rPr lang="zh-CN" altLang="en-US" sz="28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602595233"/>
      </p:ext>
    </p:extLst>
  </p:cSld>
  <p:clrMapOvr>
    <a:masterClrMapping/>
  </p:clrMapOvr>
  <mc:AlternateContent xmlns:mc="http://schemas.openxmlformats.org/markup-compatibility/2006" xmlns:p14="http://schemas.microsoft.com/office/powerpoint/2010/main">
    <mc:Choice Requires="p14">
      <p:transition spd="slow" advTm="5214">
        <p14:conveyor dir="l"/>
      </p:transition>
    </mc:Choice>
    <mc:Fallback xmlns="">
      <p:transition spd="slow" advTm="5214">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a:stretch>
            <a:fillRect/>
          </a:stretch>
        </p:blipFill>
        <p:spPr>
          <a:xfrm>
            <a:off x="2012572" y="2826331"/>
            <a:ext cx="8247706" cy="4021278"/>
          </a:xfrm>
          <a:prstGeom prst="rect">
            <a:avLst/>
          </a:prstGeom>
        </p:spPr>
      </p:pic>
      <p:sp>
        <p:nvSpPr>
          <p:cNvPr id="6" name="矩形 5"/>
          <p:cNvSpPr/>
          <p:nvPr/>
        </p:nvSpPr>
        <p:spPr>
          <a:xfrm>
            <a:off x="790843" y="863625"/>
            <a:ext cx="7355406"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算术表达式</a:t>
            </a:r>
            <a:r>
              <a:rPr lang="en-US" altLang="zh-CN" sz="2800" b="1" dirty="0">
                <a:solidFill>
                  <a:srgbClr val="FF0000"/>
                </a:solidFill>
                <a:latin typeface="微软雅黑" panose="020B0503020204020204" pitchFamily="34" charset="-122"/>
                <a:ea typeface="微软雅黑" panose="020B0503020204020204" pitchFamily="34" charset="-122"/>
              </a:rPr>
              <a:t>F</a:t>
            </a:r>
            <a:r>
              <a:rPr lang="en-US" altLang="zh-CN" sz="2800" b="1" baseline="-25000" dirty="0">
                <a:solidFill>
                  <a:srgbClr val="FF0000"/>
                </a:solidFill>
                <a:latin typeface="微软雅黑" panose="020B0503020204020204" pitchFamily="34" charset="-122"/>
                <a:ea typeface="微软雅黑" panose="020B0503020204020204" pitchFamily="34" charset="-122"/>
              </a:rPr>
              <a:t>1</a:t>
            </a:r>
            <a:r>
              <a:rPr lang="zh-CN" altLang="en-US" sz="2800" b="1" dirty="0">
                <a:solidFill>
                  <a:srgbClr val="FF0000"/>
                </a:solidFill>
                <a:latin typeface="微软雅黑" panose="020B0503020204020204" pitchFamily="34" charset="-122"/>
                <a:ea typeface="微软雅黑" panose="020B0503020204020204" pitchFamily="34" charset="-122"/>
              </a:rPr>
              <a:t>＝</a:t>
            </a:r>
            <a:r>
              <a:rPr lang="en-US" altLang="zh-CN" sz="2800" b="1" dirty="0">
                <a:solidFill>
                  <a:srgbClr val="FF0000"/>
                </a:solidFill>
                <a:latin typeface="微软雅黑" panose="020B0503020204020204" pitchFamily="34" charset="-122"/>
                <a:ea typeface="微软雅黑" panose="020B0503020204020204" pitchFamily="34" charset="-122"/>
              </a:rPr>
              <a:t>a+b·x+c·x</a:t>
            </a:r>
            <a:r>
              <a:rPr lang="en-US" altLang="zh-CN" sz="2800" b="1" baseline="30000" dirty="0">
                <a:solidFill>
                  <a:srgbClr val="FF0000"/>
                </a:solidFill>
                <a:latin typeface="微软雅黑" panose="020B0503020204020204" pitchFamily="34" charset="-122"/>
                <a:ea typeface="微软雅黑" panose="020B0503020204020204" pitchFamily="34" charset="-122"/>
              </a:rPr>
              <a:t>2</a:t>
            </a:r>
            <a:r>
              <a:rPr lang="en-US" altLang="zh-CN" sz="2800" b="1" dirty="0">
                <a:solidFill>
                  <a:srgbClr val="FF0000"/>
                </a:solidFill>
                <a:latin typeface="微软雅黑" panose="020B0503020204020204" pitchFamily="34" charset="-122"/>
                <a:ea typeface="微软雅黑" panose="020B0503020204020204" pitchFamily="34" charset="-122"/>
              </a:rPr>
              <a:t>+d·x</a:t>
            </a:r>
            <a:r>
              <a:rPr lang="en-US" altLang="zh-CN" sz="2800" b="1" baseline="30000" dirty="0">
                <a:solidFill>
                  <a:srgbClr val="FF0000"/>
                </a:solidFill>
                <a:latin typeface="微软雅黑" panose="020B0503020204020204" pitchFamily="34" charset="-122"/>
                <a:ea typeface="微软雅黑" panose="020B0503020204020204" pitchFamily="34" charset="-122"/>
              </a:rPr>
              <a:t>3</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8" name="矩形 7"/>
          <p:cNvSpPr/>
          <p:nvPr/>
        </p:nvSpPr>
        <p:spPr>
          <a:xfrm>
            <a:off x="1190370" y="1783453"/>
            <a:ext cx="5727265" cy="1015663"/>
          </a:xfrm>
          <a:prstGeom prst="rect">
            <a:avLst/>
          </a:prstGeom>
        </p:spPr>
        <p:txBody>
          <a:bodyPr wrap="square">
            <a:spAutoFit/>
          </a:bodyPr>
          <a:lstStyle/>
          <a:p>
            <a:pPr lvl="1">
              <a:buFont typeface="Wingdings 2" panose="05020102010507070707" pitchFamily="18" charset="2"/>
              <a:buNone/>
            </a:pPr>
            <a:r>
              <a:rPr lang="zh-CN" altLang="en-US" sz="2000" b="1" dirty="0">
                <a:latin typeface="微软雅黑" panose="020B0503020204020204" pitchFamily="34" charset="-122"/>
                <a:ea typeface="微软雅黑" panose="020B0503020204020204" pitchFamily="34" charset="-122"/>
              </a:rPr>
              <a:t>霍纳变换：</a:t>
            </a:r>
            <a:r>
              <a:rPr lang="en-US" altLang="zh-CN" sz="2000" b="1" dirty="0">
                <a:latin typeface="微软雅黑" panose="020B0503020204020204" pitchFamily="34" charset="-122"/>
                <a:ea typeface="微软雅黑" panose="020B0503020204020204" pitchFamily="34" charset="-122"/>
              </a:rPr>
              <a:t>F</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a+x</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b+x</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c+x</a:t>
            </a:r>
            <a:r>
              <a:rPr lang="en-US" altLang="zh-CN" sz="2000" b="1" dirty="0">
                <a:latin typeface="微软雅黑" panose="020B0503020204020204" pitchFamily="34" charset="-122"/>
                <a:ea typeface="微软雅黑" panose="020B0503020204020204" pitchFamily="34" charset="-122"/>
              </a:rPr>
              <a:t>(d)))</a:t>
            </a:r>
          </a:p>
          <a:p>
            <a:pPr lvl="1">
              <a:buFont typeface="Wingdings 2" panose="05020102010507070707" pitchFamily="18" charset="2"/>
              <a:buNone/>
            </a:pPr>
            <a:r>
              <a:rPr lang="en-US" altLang="zh-CN" sz="2000" b="1" dirty="0">
                <a:solidFill>
                  <a:srgbClr val="0000FF"/>
                </a:solidFill>
                <a:latin typeface="微软雅黑" panose="020B0503020204020204" pitchFamily="34" charset="-122"/>
                <a:ea typeface="微软雅黑" panose="020B0503020204020204" pitchFamily="34" charset="-122"/>
              </a:rPr>
              <a:t>3</a:t>
            </a:r>
            <a:r>
              <a:rPr lang="zh-CN" altLang="en-US" sz="2000" b="1" dirty="0">
                <a:solidFill>
                  <a:srgbClr val="0000FF"/>
                </a:solidFill>
                <a:latin typeface="微软雅黑" panose="020B0503020204020204" pitchFamily="34" charset="-122"/>
                <a:ea typeface="微软雅黑" panose="020B0503020204020204" pitchFamily="34" charset="-122"/>
              </a:rPr>
              <a:t>个乘加循环，</a:t>
            </a:r>
            <a:r>
              <a:rPr lang="en-US" altLang="zh-CN" sz="2000" b="1" dirty="0">
                <a:solidFill>
                  <a:srgbClr val="0000FF"/>
                </a:solidFill>
                <a:latin typeface="微软雅黑" panose="020B0503020204020204" pitchFamily="34" charset="-122"/>
                <a:ea typeface="微软雅黑" panose="020B0503020204020204" pitchFamily="34" charset="-122"/>
              </a:rPr>
              <a:t>6</a:t>
            </a:r>
            <a:r>
              <a:rPr lang="zh-CN" altLang="en-US" sz="2000" b="1" dirty="0">
                <a:solidFill>
                  <a:srgbClr val="0000FF"/>
                </a:solidFill>
                <a:latin typeface="微软雅黑" panose="020B0503020204020204" pitchFamily="34" charset="-122"/>
                <a:ea typeface="微软雅黑" panose="020B0503020204020204" pitchFamily="34" charset="-122"/>
              </a:rPr>
              <a:t>级运算</a:t>
            </a:r>
            <a:endParaRPr lang="en-US" altLang="zh-CN" sz="2000" b="1" dirty="0">
              <a:solidFill>
                <a:srgbClr val="0000FF"/>
              </a:solidFill>
              <a:latin typeface="微软雅黑" panose="020B0503020204020204" pitchFamily="34" charset="-122"/>
              <a:ea typeface="微软雅黑" panose="020B0503020204020204" pitchFamily="34" charset="-122"/>
            </a:endParaRPr>
          </a:p>
          <a:p>
            <a:pPr lvl="1">
              <a:buFont typeface="Wingdings 2" panose="05020102010507070707" pitchFamily="18" charset="2"/>
              <a:buNone/>
            </a:pPr>
            <a:r>
              <a:rPr lang="zh-CN" altLang="en-US" sz="2000" b="1" dirty="0">
                <a:latin typeface="微软雅黑" panose="020B0503020204020204" pitchFamily="34" charset="-122"/>
                <a:ea typeface="微软雅黑" panose="020B0503020204020204" pitchFamily="34" charset="-122"/>
              </a:rPr>
              <a:t>即</a:t>
            </a:r>
            <a:r>
              <a:rPr lang="en-US" altLang="zh-CN" sz="2000" b="1" dirty="0">
                <a:latin typeface="微软雅黑" panose="020B0503020204020204" pitchFamily="34" charset="-122"/>
                <a:ea typeface="微软雅黑" panose="020B0503020204020204" pitchFamily="34" charset="-122"/>
              </a:rPr>
              <a:t>P</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 T</a:t>
            </a:r>
            <a:r>
              <a:rPr lang="en-US" altLang="zh-CN" sz="2000" b="1" baseline="-25000" dirty="0">
                <a:latin typeface="微软雅黑" panose="020B0503020204020204" pitchFamily="34" charset="-122"/>
                <a:ea typeface="微软雅黑" panose="020B0503020204020204" pitchFamily="34" charset="-122"/>
              </a:rPr>
              <a:t>1 </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，适合于单处理机</a:t>
            </a:r>
          </a:p>
        </p:txBody>
      </p:sp>
      <p:sp>
        <p:nvSpPr>
          <p:cNvPr id="9" name="矩形 8"/>
          <p:cNvSpPr/>
          <p:nvPr/>
        </p:nvSpPr>
        <p:spPr>
          <a:xfrm>
            <a:off x="6816427" y="1594687"/>
            <a:ext cx="2977931"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不变换：</a:t>
            </a:r>
            <a:r>
              <a:rPr lang="en-US" altLang="zh-CN" sz="2000" b="1" dirty="0">
                <a:latin typeface="微软雅黑" panose="020B0503020204020204" pitchFamily="34" charset="-122"/>
                <a:ea typeface="微软雅黑" panose="020B0503020204020204" pitchFamily="34" charset="-122"/>
              </a:rPr>
              <a:t>P</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T</a:t>
            </a:r>
            <a:r>
              <a:rPr lang="en-US" altLang="zh-CN" sz="2000" b="1" baseline="-25000" dirty="0" err="1">
                <a:latin typeface="微软雅黑" panose="020B0503020204020204" pitchFamily="34" charset="-122"/>
                <a:ea typeface="微软雅黑" panose="020B0503020204020204" pitchFamily="34" charset="-122"/>
              </a:rPr>
              <a:t>p</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10" name="矩形 9"/>
              <p:cNvSpPr/>
              <p:nvPr/>
            </p:nvSpPr>
            <p:spPr>
              <a:xfrm>
                <a:off x="6771896" y="2056352"/>
                <a:ext cx="3088474" cy="573683"/>
              </a:xfrm>
              <a:prstGeom prst="rect">
                <a:avLst/>
              </a:prstGeom>
            </p:spPr>
            <p:txBody>
              <a:bodyPr wrap="none">
                <a:spAutoFit/>
              </a:bodyPr>
              <a:lstStyle/>
              <a:p>
                <a14:m>
                  <m:oMath xmlns:m="http://schemas.openxmlformats.org/officeDocument/2006/math">
                    <m:sSub>
                      <m:sSubPr>
                        <m:ctrlPr>
                          <a:rPr lang="en-US" altLang="zh-CN" sz="2000" b="1" i="1">
                            <a:latin typeface="Cambria Math" panose="02040503050406030204" pitchFamily="18" charset="0"/>
                            <a:ea typeface="宋体" panose="02010600030101010101" pitchFamily="2" charset="-122"/>
                          </a:rPr>
                        </m:ctrlPr>
                      </m:sSubPr>
                      <m:e>
                        <m:r>
                          <a:rPr lang="en-US" altLang="zh-CN" sz="2000" b="1" i="1" smtClean="0">
                            <a:latin typeface="Cambria Math" panose="02040503050406030204" pitchFamily="18" charset="0"/>
                            <a:ea typeface="宋体" panose="02010600030101010101" pitchFamily="2" charset="-122"/>
                          </a:rPr>
                          <m:t>𝑺</m:t>
                        </m:r>
                      </m:e>
                      <m:sub>
                        <m:r>
                          <a:rPr lang="en-US" altLang="zh-CN" sz="2000" b="1" i="1" smtClean="0">
                            <a:latin typeface="Cambria Math" panose="02040503050406030204" pitchFamily="18" charset="0"/>
                            <a:ea typeface="宋体" panose="02010600030101010101" pitchFamily="2" charset="-122"/>
                          </a:rPr>
                          <m:t>𝒑</m:t>
                        </m:r>
                      </m:sub>
                    </m:sSub>
                    <m:r>
                      <a:rPr lang="en-US" altLang="zh-CN" sz="2000" b="1" smtClean="0">
                        <a:latin typeface="Cambria Math" panose="02040503050406030204" pitchFamily="18" charset="0"/>
                        <a:ea typeface="宋体" panose="02010600030101010101" pitchFamily="2" charset="-122"/>
                      </a:rPr>
                      <m:t>=</m:t>
                    </m:r>
                    <m:f>
                      <m:fPr>
                        <m:ctrlPr>
                          <a:rPr lang="en-US" altLang="zh-CN" sz="2000" b="1" i="1">
                            <a:latin typeface="Cambria Math" panose="02040503050406030204" pitchFamily="18" charset="0"/>
                            <a:ea typeface="宋体" panose="02010600030101010101" pitchFamily="2" charset="-122"/>
                          </a:rPr>
                        </m:ctrlPr>
                      </m:fPr>
                      <m:num>
                        <m:sSub>
                          <m:sSubPr>
                            <m:ctrlPr>
                              <a:rPr lang="en-US" altLang="zh-CN" sz="2000" b="1" i="1">
                                <a:latin typeface="Cambria Math" panose="02040503050406030204" pitchFamily="18" charset="0"/>
                                <a:ea typeface="宋体" panose="02010600030101010101" pitchFamily="2" charset="-122"/>
                              </a:rPr>
                            </m:ctrlPr>
                          </m:sSubPr>
                          <m:e>
                            <m:r>
                              <a:rPr lang="en-US" altLang="zh-CN" sz="2000" b="1" i="1" smtClean="0">
                                <a:latin typeface="Cambria Math" panose="02040503050406030204" pitchFamily="18" charset="0"/>
                                <a:ea typeface="宋体" panose="02010600030101010101" pitchFamily="2" charset="-122"/>
                              </a:rPr>
                              <m:t>𝑻</m:t>
                            </m:r>
                          </m:e>
                          <m:sub>
                            <m:r>
                              <a:rPr lang="en-US" altLang="zh-CN" sz="2000" b="1" i="1" smtClean="0">
                                <a:latin typeface="Cambria Math" panose="02040503050406030204" pitchFamily="18" charset="0"/>
                                <a:ea typeface="宋体" panose="02010600030101010101" pitchFamily="2" charset="-122"/>
                              </a:rPr>
                              <m:t>𝟏</m:t>
                            </m:r>
                          </m:sub>
                        </m:sSub>
                      </m:num>
                      <m:den>
                        <m:sSub>
                          <m:sSubPr>
                            <m:ctrlPr>
                              <a:rPr lang="en-US" altLang="zh-CN" sz="2000" b="1" i="1">
                                <a:latin typeface="Cambria Math" panose="02040503050406030204" pitchFamily="18" charset="0"/>
                                <a:ea typeface="宋体" panose="02010600030101010101" pitchFamily="2" charset="-122"/>
                              </a:rPr>
                            </m:ctrlPr>
                          </m:sSubPr>
                          <m:e>
                            <m:r>
                              <a:rPr lang="en-US" altLang="zh-CN" sz="2000" b="1" i="1" smtClean="0">
                                <a:latin typeface="Cambria Math" panose="02040503050406030204" pitchFamily="18" charset="0"/>
                                <a:ea typeface="宋体" panose="02010600030101010101" pitchFamily="2" charset="-122"/>
                              </a:rPr>
                              <m:t>𝑻</m:t>
                            </m:r>
                          </m:e>
                          <m:sub>
                            <m:r>
                              <a:rPr lang="en-US" altLang="zh-CN" sz="2000" b="1" i="1" smtClean="0">
                                <a:latin typeface="Cambria Math" panose="02040503050406030204" pitchFamily="18" charset="0"/>
                                <a:ea typeface="宋体" panose="02010600030101010101" pitchFamily="2" charset="-122"/>
                              </a:rPr>
                              <m:t>𝑷</m:t>
                            </m:r>
                          </m:sub>
                        </m:sSub>
                      </m:den>
                    </m:f>
                    <m:r>
                      <a:rPr lang="en-US" altLang="zh-CN" sz="2000" b="1" i="1" smtClean="0">
                        <a:latin typeface="Cambria Math" panose="02040503050406030204" pitchFamily="18" charset="0"/>
                        <a:ea typeface="宋体" panose="02010600030101010101" pitchFamily="2" charset="-122"/>
                      </a:rPr>
                      <m:t>=</m:t>
                    </m:r>
                    <m:f>
                      <m:fPr>
                        <m:ctrlPr>
                          <a:rPr lang="en-US" altLang="zh-CN" sz="2000" b="1" i="1">
                            <a:latin typeface="Cambria Math" panose="02040503050406030204" pitchFamily="18" charset="0"/>
                            <a:ea typeface="宋体" panose="02010600030101010101" pitchFamily="2" charset="-122"/>
                          </a:rPr>
                        </m:ctrlPr>
                      </m:fPr>
                      <m:num>
                        <m:r>
                          <a:rPr lang="en-US" altLang="zh-CN" sz="2000" b="1" i="1" smtClean="0">
                            <a:latin typeface="Cambria Math" panose="02040503050406030204" pitchFamily="18" charset="0"/>
                            <a:ea typeface="宋体" panose="02010600030101010101" pitchFamily="2" charset="-122"/>
                          </a:rPr>
                          <m:t>𝟑</m:t>
                        </m:r>
                      </m:num>
                      <m:den>
                        <m:r>
                          <a:rPr lang="en-US" altLang="zh-CN" sz="2000" b="1" i="1" smtClean="0">
                            <a:latin typeface="Cambria Math" panose="02040503050406030204" pitchFamily="18" charset="0"/>
                            <a:ea typeface="宋体" panose="02010600030101010101" pitchFamily="2" charset="-122"/>
                          </a:rPr>
                          <m:t>𝟐</m:t>
                        </m:r>
                      </m:den>
                    </m:f>
                  </m:oMath>
                </a14:m>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b="1" i="1">
                            <a:latin typeface="Cambria Math" panose="02040503050406030204" pitchFamily="18" charset="0"/>
                            <a:ea typeface="宋体" panose="02010600030101010101" pitchFamily="2" charset="-122"/>
                          </a:rPr>
                        </m:ctrlPr>
                      </m:sSubPr>
                      <m:e>
                        <m:r>
                          <a:rPr lang="en-US" altLang="zh-CN" sz="2000" b="1" i="1" smtClean="0">
                            <a:latin typeface="Cambria Math" panose="02040503050406030204" pitchFamily="18" charset="0"/>
                            <a:ea typeface="宋体" panose="02010600030101010101" pitchFamily="2" charset="-122"/>
                          </a:rPr>
                          <m:t>𝑬</m:t>
                        </m:r>
                      </m:e>
                      <m:sub>
                        <m:r>
                          <a:rPr lang="en-US" altLang="zh-CN" sz="2000" b="1" i="1" smtClean="0">
                            <a:latin typeface="Cambria Math" panose="02040503050406030204" pitchFamily="18" charset="0"/>
                            <a:ea typeface="宋体" panose="02010600030101010101" pitchFamily="2" charset="-122"/>
                          </a:rPr>
                          <m:t>𝒑</m:t>
                        </m:r>
                      </m:sub>
                    </m:sSub>
                    <m:r>
                      <a:rPr lang="en-US" altLang="zh-CN" sz="2000" b="1" smtClean="0">
                        <a:latin typeface="Cambria Math" panose="02040503050406030204" pitchFamily="18" charset="0"/>
                        <a:ea typeface="宋体" panose="02010600030101010101" pitchFamily="2" charset="-122"/>
                      </a:rPr>
                      <m:t>=</m:t>
                    </m:r>
                    <m:f>
                      <m:fPr>
                        <m:ctrlPr>
                          <a:rPr lang="en-US" altLang="zh-CN" sz="2000" b="1" i="1">
                            <a:latin typeface="Cambria Math" panose="02040503050406030204" pitchFamily="18" charset="0"/>
                            <a:ea typeface="宋体" panose="02010600030101010101" pitchFamily="2" charset="-122"/>
                          </a:rPr>
                        </m:ctrlPr>
                      </m:fPr>
                      <m:num>
                        <m:sSub>
                          <m:sSubPr>
                            <m:ctrlPr>
                              <a:rPr lang="en-US" altLang="zh-CN" sz="2000" b="1" i="1">
                                <a:latin typeface="Cambria Math" panose="02040503050406030204" pitchFamily="18" charset="0"/>
                                <a:ea typeface="宋体" panose="02010600030101010101" pitchFamily="2" charset="-122"/>
                              </a:rPr>
                            </m:ctrlPr>
                          </m:sSubPr>
                          <m:e>
                            <m:r>
                              <a:rPr lang="en-US" altLang="zh-CN" sz="2000" b="1" i="1" smtClean="0">
                                <a:latin typeface="Cambria Math" panose="02040503050406030204" pitchFamily="18" charset="0"/>
                                <a:ea typeface="宋体" panose="02010600030101010101" pitchFamily="2" charset="-122"/>
                              </a:rPr>
                              <m:t>𝑺</m:t>
                            </m:r>
                          </m:e>
                          <m:sub>
                            <m:r>
                              <a:rPr lang="en-US" altLang="zh-CN" sz="2000" b="1" i="1" smtClean="0">
                                <a:latin typeface="Cambria Math" panose="02040503050406030204" pitchFamily="18" charset="0"/>
                                <a:ea typeface="宋体" panose="02010600030101010101" pitchFamily="2" charset="-122"/>
                              </a:rPr>
                              <m:t>𝒑</m:t>
                            </m:r>
                          </m:sub>
                        </m:sSub>
                      </m:num>
                      <m:den>
                        <m:r>
                          <a:rPr lang="en-US" altLang="zh-CN" sz="2000" b="1" i="1" smtClean="0">
                            <a:latin typeface="Cambria Math" panose="02040503050406030204" pitchFamily="18" charset="0"/>
                            <a:ea typeface="宋体" panose="02010600030101010101" pitchFamily="2" charset="-122"/>
                          </a:rPr>
                          <m:t>𝑷</m:t>
                        </m:r>
                      </m:den>
                    </m:f>
                    <m:r>
                      <a:rPr lang="en-US" altLang="zh-CN" sz="2000" b="1" i="1" smtClean="0">
                        <a:latin typeface="Cambria Math" panose="02040503050406030204" pitchFamily="18" charset="0"/>
                        <a:ea typeface="宋体" panose="02010600030101010101" pitchFamily="2" charset="-122"/>
                      </a:rPr>
                      <m:t>=</m:t>
                    </m:r>
                    <m:f>
                      <m:fPr>
                        <m:ctrlPr>
                          <a:rPr lang="en-US" altLang="zh-CN" sz="2000" b="1" i="1">
                            <a:latin typeface="Cambria Math" panose="02040503050406030204" pitchFamily="18" charset="0"/>
                            <a:ea typeface="宋体" panose="02010600030101010101" pitchFamily="2" charset="-122"/>
                          </a:rPr>
                        </m:ctrlPr>
                      </m:fPr>
                      <m:num>
                        <m:r>
                          <a:rPr lang="en-US" altLang="zh-CN" sz="2000" b="1" i="1" smtClean="0">
                            <a:latin typeface="Cambria Math" panose="02040503050406030204" pitchFamily="18" charset="0"/>
                            <a:ea typeface="宋体" panose="02010600030101010101" pitchFamily="2" charset="-122"/>
                          </a:rPr>
                          <m:t>𝟏</m:t>
                        </m:r>
                      </m:num>
                      <m:den>
                        <m:r>
                          <a:rPr lang="en-US" altLang="zh-CN" sz="2000" b="1" i="1" smtClean="0">
                            <a:latin typeface="Cambria Math" panose="02040503050406030204" pitchFamily="18" charset="0"/>
                            <a:ea typeface="宋体" panose="02010600030101010101" pitchFamily="2" charset="-122"/>
                          </a:rPr>
                          <m:t>𝟐</m:t>
                        </m:r>
                      </m:den>
                    </m:f>
                  </m:oMath>
                </a14:m>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6771896" y="2056352"/>
                <a:ext cx="3088474" cy="573683"/>
              </a:xfrm>
              <a:prstGeom prst="rect">
                <a:avLst/>
              </a:prstGeom>
              <a:blipFill>
                <a:blip r:embed="rId4"/>
                <a:stretch>
                  <a:fillRect b="-1064"/>
                </a:stretch>
              </a:blipFill>
            </p:spPr>
            <p:txBody>
              <a:bodyPr/>
              <a:lstStyle/>
              <a:p>
                <a:r>
                  <a:rPr lang="zh-CN" altLang="en-US">
                    <a:noFill/>
                  </a:rPr>
                  <a:t> </a:t>
                </a:r>
              </a:p>
            </p:txBody>
          </p:sp>
        </mc:Fallback>
      </mc:AlternateContent>
      <p:cxnSp>
        <p:nvCxnSpPr>
          <p:cNvPr id="12" name="直接箭头连接符 11"/>
          <p:cNvCxnSpPr/>
          <p:nvPr/>
        </p:nvCxnSpPr>
        <p:spPr bwMode="auto">
          <a:xfrm>
            <a:off x="10556395" y="3373452"/>
            <a:ext cx="0" cy="1704109"/>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0000FF"/>
            </a:solidFill>
            <a:prstDash val="solid"/>
            <a:round/>
            <a:headEnd type="triangle"/>
            <a:tailEnd type="triangle"/>
          </a:ln>
          <a:effectLst>
            <a:outerShdw dist="109250" dir="3267739" algn="ctr" rotWithShape="0">
              <a:schemeClr val="bg1">
                <a:alpha val="50000"/>
              </a:schemeClr>
            </a:outerShdw>
          </a:effectLst>
        </p:spPr>
      </p:cxnSp>
      <p:sp>
        <p:nvSpPr>
          <p:cNvPr id="16" name="矩形 15"/>
          <p:cNvSpPr/>
          <p:nvPr/>
        </p:nvSpPr>
        <p:spPr>
          <a:xfrm>
            <a:off x="10621759" y="4040840"/>
            <a:ext cx="733983" cy="369332"/>
          </a:xfrm>
          <a:prstGeom prst="rect">
            <a:avLst/>
          </a:prstGeom>
        </p:spPr>
        <p:txBody>
          <a:bodyPr wrap="none">
            <a:spAutoFit/>
          </a:bodyPr>
          <a:lstStyle/>
          <a:p>
            <a:r>
              <a:rPr lang="en-US" altLang="zh-CN" b="1" dirty="0" err="1">
                <a:solidFill>
                  <a:srgbClr val="0000FF"/>
                </a:solidFill>
                <a:latin typeface="微软雅黑" panose="020B0503020204020204" pitchFamily="34" charset="-122"/>
                <a:ea typeface="微软雅黑" panose="020B0503020204020204" pitchFamily="34" charset="-122"/>
              </a:rPr>
              <a:t>T</a:t>
            </a:r>
            <a:r>
              <a:rPr lang="en-US" altLang="zh-CN" b="1" baseline="-25000" dirty="0" err="1">
                <a:solidFill>
                  <a:srgbClr val="0000FF"/>
                </a:solidFill>
                <a:latin typeface="微软雅黑" panose="020B0503020204020204" pitchFamily="34" charset="-122"/>
                <a:ea typeface="微软雅黑" panose="020B0503020204020204" pitchFamily="34" charset="-122"/>
              </a:rPr>
              <a:t>p</a:t>
            </a:r>
            <a:r>
              <a:rPr lang="en-US" altLang="zh-CN" b="1" dirty="0">
                <a:solidFill>
                  <a:srgbClr val="0000FF"/>
                </a:solidFill>
                <a:latin typeface="微软雅黑" panose="020B0503020204020204" pitchFamily="34" charset="-122"/>
                <a:ea typeface="微软雅黑" panose="020B0503020204020204" pitchFamily="34" charset="-122"/>
              </a:rPr>
              <a:t>=4</a:t>
            </a:r>
            <a:endParaRPr lang="zh-CN" altLang="en-US" b="1" dirty="0">
              <a:solidFill>
                <a:srgbClr val="0000FF"/>
              </a:solidFill>
              <a:latin typeface="微软雅黑" panose="020B0503020204020204" pitchFamily="34" charset="-122"/>
              <a:ea typeface="微软雅黑" panose="020B0503020204020204" pitchFamily="34" charset="-122"/>
            </a:endParaRPr>
          </a:p>
        </p:txBody>
      </p:sp>
      <p:cxnSp>
        <p:nvCxnSpPr>
          <p:cNvPr id="17" name="直接箭头连接符 16"/>
          <p:cNvCxnSpPr/>
          <p:nvPr/>
        </p:nvCxnSpPr>
        <p:spPr bwMode="auto">
          <a:xfrm>
            <a:off x="1857663" y="3318164"/>
            <a:ext cx="24244" cy="2815937"/>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0000FF"/>
            </a:solidFill>
            <a:prstDash val="solid"/>
            <a:round/>
            <a:headEnd type="triangle"/>
            <a:tailEnd type="triangle"/>
          </a:ln>
          <a:effectLst>
            <a:outerShdw dist="109250" dir="3267739" algn="ctr" rotWithShape="0">
              <a:schemeClr val="bg1">
                <a:alpha val="50000"/>
              </a:schemeClr>
            </a:outerShdw>
          </a:effectLst>
        </p:spPr>
      </p:cxnSp>
      <p:sp>
        <p:nvSpPr>
          <p:cNvPr id="19" name="矩形 18"/>
          <p:cNvSpPr/>
          <p:nvPr/>
        </p:nvSpPr>
        <p:spPr>
          <a:xfrm>
            <a:off x="1108731" y="4652304"/>
            <a:ext cx="673582" cy="369332"/>
          </a:xfrm>
          <a:prstGeom prst="rect">
            <a:avLst/>
          </a:prstGeom>
        </p:spPr>
        <p:txBody>
          <a:bodyPr wrap="none">
            <a:spAutoFit/>
          </a:bodyPr>
          <a:lstStyle/>
          <a:p>
            <a:r>
              <a:rPr lang="en-US" altLang="zh-CN" b="1" dirty="0">
                <a:solidFill>
                  <a:srgbClr val="0000FF"/>
                </a:solidFill>
                <a:ea typeface="宋体" panose="02010600030101010101" pitchFamily="2" charset="-122"/>
              </a:rPr>
              <a:t>T</a:t>
            </a:r>
            <a:r>
              <a:rPr lang="en-US" altLang="zh-CN" b="1" baseline="-25000" dirty="0">
                <a:solidFill>
                  <a:srgbClr val="0000FF"/>
                </a:solidFill>
                <a:ea typeface="宋体" panose="02010600030101010101" pitchFamily="2" charset="-122"/>
              </a:rPr>
              <a:t>1</a:t>
            </a:r>
            <a:r>
              <a:rPr lang="en-US" altLang="zh-CN" b="1" dirty="0">
                <a:solidFill>
                  <a:srgbClr val="0000FF"/>
                </a:solidFill>
                <a:ea typeface="宋体" panose="02010600030101010101" pitchFamily="2" charset="-122"/>
              </a:rPr>
              <a:t>=6</a:t>
            </a:r>
            <a:endParaRPr lang="zh-CN" altLang="en-US" b="1" dirty="0">
              <a:solidFill>
                <a:srgbClr val="0000FF"/>
              </a:solidFill>
            </a:endParaRPr>
          </a:p>
        </p:txBody>
      </p:sp>
      <p:sp>
        <p:nvSpPr>
          <p:cNvPr id="22" name="矩形 21"/>
          <p:cNvSpPr/>
          <p:nvPr/>
        </p:nvSpPr>
        <p:spPr>
          <a:xfrm>
            <a:off x="8362240" y="5915933"/>
            <a:ext cx="655949" cy="369332"/>
          </a:xfrm>
          <a:prstGeom prst="rect">
            <a:avLst/>
          </a:prstGeom>
        </p:spPr>
        <p:txBody>
          <a:bodyPr wrap="none">
            <a:spAutoFit/>
          </a:bodyPr>
          <a:lstStyle/>
          <a:p>
            <a:r>
              <a:rPr lang="en-US" altLang="zh-CN" b="1" dirty="0">
                <a:solidFill>
                  <a:srgbClr val="0000FF"/>
                </a:solidFill>
                <a:latin typeface="微软雅黑" panose="020B0503020204020204" pitchFamily="34" charset="-122"/>
                <a:ea typeface="微软雅黑" panose="020B0503020204020204" pitchFamily="34" charset="-122"/>
              </a:rPr>
              <a:t>P=3</a:t>
            </a:r>
            <a:endParaRPr lang="zh-CN" altLang="en-US" b="1" dirty="0">
              <a:solidFill>
                <a:srgbClr val="0000FF"/>
              </a:solidFill>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a:blip r:embed="rId5"/>
          <a:stretch>
            <a:fillRect/>
          </a:stretch>
        </p:blipFill>
        <p:spPr>
          <a:xfrm>
            <a:off x="7067650" y="5054460"/>
            <a:ext cx="3405867" cy="68257"/>
          </a:xfrm>
          <a:prstGeom prst="rect">
            <a:avLst/>
          </a:prstGeom>
        </p:spPr>
      </p:pic>
      <p:sp>
        <p:nvSpPr>
          <p:cNvPr id="27" name="Rectangle 2"/>
          <p:cNvSpPr>
            <a:spLocks noGrp="1" noChangeArrowheads="1"/>
          </p:cNvSpPr>
          <p:nvPr>
            <p:ph type="title"/>
          </p:nvPr>
        </p:nvSpPr>
        <p:spPr>
          <a:xfrm>
            <a:off x="790843" y="275186"/>
            <a:ext cx="8432800" cy="533400"/>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并行算法性能评价标准举例</a:t>
            </a:r>
          </a:p>
        </p:txBody>
      </p:sp>
      <p:sp>
        <p:nvSpPr>
          <p:cNvPr id="28" name="文本框 27"/>
          <p:cNvSpPr txBox="1"/>
          <p:nvPr/>
        </p:nvSpPr>
        <p:spPr>
          <a:xfrm>
            <a:off x="10486213" y="2367987"/>
            <a:ext cx="1118766" cy="369332"/>
          </a:xfrm>
          <a:prstGeom prst="rect">
            <a:avLst/>
          </a:prstGeom>
          <a:noFill/>
        </p:spPr>
        <p:txBody>
          <a:bodyPr wrap="squar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降低树高</a:t>
            </a:r>
          </a:p>
        </p:txBody>
      </p:sp>
      <p:pic>
        <p:nvPicPr>
          <p:cNvPr id="20" name="图片 19"/>
          <p:cNvPicPr>
            <a:picLocks noChangeAspect="1"/>
          </p:cNvPicPr>
          <p:nvPr/>
        </p:nvPicPr>
        <p:blipFill>
          <a:blip r:embed="rId5"/>
          <a:stretch>
            <a:fillRect/>
          </a:stretch>
        </p:blipFill>
        <p:spPr>
          <a:xfrm>
            <a:off x="3460667" y="4891785"/>
            <a:ext cx="1546576" cy="325349"/>
          </a:xfrm>
          <a:prstGeom prst="rect">
            <a:avLst/>
          </a:prstGeom>
        </p:spPr>
      </p:pic>
      <p:pic>
        <p:nvPicPr>
          <p:cNvPr id="25" name="图片 24"/>
          <p:cNvPicPr>
            <a:picLocks noChangeAspect="1"/>
          </p:cNvPicPr>
          <p:nvPr/>
        </p:nvPicPr>
        <p:blipFill>
          <a:blip r:embed="rId5"/>
          <a:stretch>
            <a:fillRect/>
          </a:stretch>
        </p:blipFill>
        <p:spPr>
          <a:xfrm>
            <a:off x="2371289" y="3762314"/>
            <a:ext cx="1546576" cy="325349"/>
          </a:xfrm>
          <a:prstGeom prst="rect">
            <a:avLst/>
          </a:prstGeom>
        </p:spPr>
      </p:pic>
      <p:pic>
        <p:nvPicPr>
          <p:cNvPr id="26" name="图片 25"/>
          <p:cNvPicPr>
            <a:picLocks noChangeAspect="1"/>
          </p:cNvPicPr>
          <p:nvPr/>
        </p:nvPicPr>
        <p:blipFill>
          <a:blip r:embed="rId5"/>
          <a:stretch>
            <a:fillRect/>
          </a:stretch>
        </p:blipFill>
        <p:spPr>
          <a:xfrm>
            <a:off x="6355597" y="4079234"/>
            <a:ext cx="3405867" cy="68257"/>
          </a:xfrm>
          <a:prstGeom prst="rect">
            <a:avLst/>
          </a:prstGeom>
        </p:spPr>
      </p:pic>
      <p:pic>
        <p:nvPicPr>
          <p:cNvPr id="30" name="图片 29"/>
          <p:cNvPicPr>
            <a:picLocks noChangeAspect="1"/>
          </p:cNvPicPr>
          <p:nvPr/>
        </p:nvPicPr>
        <p:blipFill>
          <a:blip r:embed="rId5"/>
          <a:stretch>
            <a:fillRect/>
          </a:stretch>
        </p:blipFill>
        <p:spPr>
          <a:xfrm>
            <a:off x="7518712" y="3415810"/>
            <a:ext cx="1546576" cy="325349"/>
          </a:xfrm>
          <a:prstGeom prst="rect">
            <a:avLst/>
          </a:prstGeom>
        </p:spPr>
      </p:pic>
      <p:pic>
        <p:nvPicPr>
          <p:cNvPr id="32" name="图片 31"/>
          <p:cNvPicPr>
            <a:picLocks noChangeAspect="1"/>
          </p:cNvPicPr>
          <p:nvPr/>
        </p:nvPicPr>
        <p:blipFill>
          <a:blip r:embed="rId5"/>
          <a:stretch>
            <a:fillRect/>
          </a:stretch>
        </p:blipFill>
        <p:spPr>
          <a:xfrm>
            <a:off x="6136425" y="4589595"/>
            <a:ext cx="3405867" cy="68257"/>
          </a:xfrm>
          <a:prstGeom prst="rect">
            <a:avLst/>
          </a:prstGeom>
        </p:spPr>
      </p:pic>
      <p:grpSp>
        <p:nvGrpSpPr>
          <p:cNvPr id="21" name="组合 20"/>
          <p:cNvGrpSpPr/>
          <p:nvPr/>
        </p:nvGrpSpPr>
        <p:grpSpPr>
          <a:xfrm>
            <a:off x="265635" y="269251"/>
            <a:ext cx="438352" cy="621987"/>
            <a:chOff x="265635" y="269251"/>
            <a:chExt cx="438352" cy="621987"/>
          </a:xfrm>
        </p:grpSpPr>
        <p:sp>
          <p:nvSpPr>
            <p:cNvPr id="29"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1"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84779344"/>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4"/>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32"/>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6"/>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30"/>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000"/>
                                        <p:tgtEl>
                                          <p:spTgt spid="28"/>
                                        </p:tgtEl>
                                      </p:cBhvr>
                                    </p:animEffect>
                                    <p:anim calcmode="lin" valueType="num">
                                      <p:cBhvr>
                                        <p:cTn id="24" dur="1000" fill="hold"/>
                                        <p:tgtEl>
                                          <p:spTgt spid="28"/>
                                        </p:tgtEl>
                                        <p:attrNameLst>
                                          <p:attrName>ppt_x</p:attrName>
                                        </p:attrNameLst>
                                      </p:cBhvr>
                                      <p:tavLst>
                                        <p:tav tm="0">
                                          <p:val>
                                            <p:strVal val="#ppt_x"/>
                                          </p:val>
                                        </p:tav>
                                        <p:tav tm="100000">
                                          <p:val>
                                            <p:strVal val="#ppt_x"/>
                                          </p:val>
                                        </p:tav>
                                      </p:tavLst>
                                    </p:anim>
                                    <p:anim calcmode="lin" valueType="num">
                                      <p:cBhvr>
                                        <p:cTn id="2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p:cNvSpPr>
            <a:spLocks noGrp="1" noChangeArrowheads="1"/>
          </p:cNvSpPr>
          <p:nvPr>
            <p:ph type="body" idx="1"/>
          </p:nvPr>
        </p:nvSpPr>
        <p:spPr>
          <a:xfrm>
            <a:off x="2083777" y="1595141"/>
            <a:ext cx="8785225" cy="4947356"/>
          </a:xfrm>
        </p:spPr>
        <p:txBody>
          <a:bodyPr>
            <a:normAutofit lnSpcReduction="10000"/>
          </a:bodyPr>
          <a:lstStyle/>
          <a:p>
            <a:pPr>
              <a:lnSpc>
                <a:spcPct val="80000"/>
              </a:lnSpc>
            </a:pPr>
            <a:r>
              <a:rPr lang="zh-CN" altLang="en-US" sz="2000" b="1" dirty="0">
                <a:latin typeface="微软雅黑" panose="020B0503020204020204" pitchFamily="34" charset="-122"/>
                <a:ea typeface="微软雅黑" panose="020B0503020204020204" pitchFamily="34" charset="-122"/>
              </a:rPr>
              <a:t>算术表达式</a:t>
            </a:r>
            <a:r>
              <a:rPr lang="en-US" altLang="zh-CN" sz="2000" b="1" dirty="0">
                <a:latin typeface="微软雅黑" panose="020B0503020204020204" pitchFamily="34" charset="-122"/>
                <a:ea typeface="微软雅黑" panose="020B0503020204020204" pitchFamily="34" charset="-122"/>
              </a:rPr>
              <a:t>Z</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M+A*B*C/D+N</a:t>
            </a:r>
            <a:r>
              <a:rPr lang="zh-CN" altLang="en-US" sz="2000" b="1" dirty="0">
                <a:latin typeface="微软雅黑" panose="020B0503020204020204" pitchFamily="34" charset="-122"/>
                <a:ea typeface="微软雅黑" panose="020B0503020204020204" pitchFamily="34" charset="-122"/>
              </a:rPr>
              <a:t>，利用</a:t>
            </a:r>
            <a:r>
              <a:rPr lang="zh-CN" altLang="en-US" sz="2000" b="1" dirty="0">
                <a:solidFill>
                  <a:srgbClr val="0000FF"/>
                </a:solidFill>
                <a:latin typeface="微软雅黑" panose="020B0503020204020204" pitchFamily="34" charset="-122"/>
                <a:ea typeface="微软雅黑" panose="020B0503020204020204" pitchFamily="34" charset="-122"/>
              </a:rPr>
              <a:t>串行编译算法</a:t>
            </a:r>
            <a:r>
              <a:rPr lang="zh-CN" altLang="en-US" sz="2000" b="1" dirty="0">
                <a:latin typeface="微软雅黑" panose="020B0503020204020204" pitchFamily="34" charset="-122"/>
                <a:ea typeface="微软雅黑" panose="020B0503020204020204" pitchFamily="34" charset="-122"/>
              </a:rPr>
              <a:t>，产生三元指令组为：</a:t>
            </a:r>
          </a:p>
          <a:p>
            <a:pPr lvl="1">
              <a:lnSpc>
                <a:spcPct val="80000"/>
              </a:lnSpc>
            </a:pPr>
            <a:r>
              <a:rPr lang="en-US" altLang="zh-CN" sz="2000" b="1" dirty="0">
                <a:solidFill>
                  <a:srgbClr val="FF0000"/>
                </a:solidFill>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 	A	B</a:t>
            </a:r>
          </a:p>
          <a:p>
            <a:pPr lvl="1">
              <a:lnSpc>
                <a:spcPct val="80000"/>
              </a:lnSpc>
            </a:pPr>
            <a:r>
              <a:rPr lang="en-US" altLang="zh-CN" sz="2000" b="1" dirty="0">
                <a:solidFill>
                  <a:srgbClr val="0000FF"/>
                </a:solidFill>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    * 	</a:t>
            </a:r>
            <a:r>
              <a:rPr lang="en-US" altLang="zh-CN" sz="2000" b="1" dirty="0">
                <a:solidFill>
                  <a:srgbClr val="FF0000"/>
                </a:solidFill>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C</a:t>
            </a:r>
          </a:p>
          <a:p>
            <a:pPr lvl="1">
              <a:lnSpc>
                <a:spcPct val="80000"/>
              </a:lnSpc>
            </a:pPr>
            <a:r>
              <a:rPr lang="en-US" altLang="zh-CN" sz="2000" b="1" dirty="0">
                <a:latin typeface="微软雅黑" panose="020B0503020204020204" pitchFamily="34" charset="-122"/>
                <a:ea typeface="微软雅黑" panose="020B0503020204020204" pitchFamily="34" charset="-122"/>
              </a:rPr>
              <a:t>3    /  	</a:t>
            </a:r>
            <a:r>
              <a:rPr lang="en-US" altLang="zh-CN" sz="2000" b="1" dirty="0">
                <a:solidFill>
                  <a:srgbClr val="0000FF"/>
                </a:solidFill>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 	D</a:t>
            </a:r>
          </a:p>
          <a:p>
            <a:pPr lvl="1">
              <a:lnSpc>
                <a:spcPct val="80000"/>
              </a:lnSpc>
            </a:pPr>
            <a:r>
              <a:rPr lang="en-US" altLang="zh-CN" sz="2000" b="1" dirty="0">
                <a:latin typeface="微软雅黑" panose="020B0503020204020204" pitchFamily="34" charset="-122"/>
                <a:ea typeface="微软雅黑" panose="020B0503020204020204" pitchFamily="34" charset="-122"/>
              </a:rPr>
              <a:t>4    + 	3 	M</a:t>
            </a:r>
          </a:p>
          <a:p>
            <a:pPr lvl="1">
              <a:lnSpc>
                <a:spcPct val="80000"/>
              </a:lnSpc>
            </a:pPr>
            <a:r>
              <a:rPr lang="en-US" altLang="zh-CN" sz="2000" b="1" dirty="0">
                <a:latin typeface="微软雅黑" panose="020B0503020204020204" pitchFamily="34" charset="-122"/>
                <a:ea typeface="微软雅黑" panose="020B0503020204020204" pitchFamily="34" charset="-122"/>
              </a:rPr>
              <a:t>5    + 	4 	N</a:t>
            </a:r>
          </a:p>
          <a:p>
            <a:pPr lvl="1">
              <a:lnSpc>
                <a:spcPct val="80000"/>
              </a:lnSpc>
            </a:pPr>
            <a:r>
              <a:rPr lang="en-US" altLang="zh-CN" sz="2000" b="1" dirty="0">
                <a:latin typeface="微软雅黑" panose="020B0503020204020204" pitchFamily="34" charset="-122"/>
                <a:ea typeface="微软雅黑" panose="020B0503020204020204" pitchFamily="34" charset="-122"/>
              </a:rPr>
              <a:t>6    =  	5 	Z</a:t>
            </a:r>
          </a:p>
          <a:p>
            <a:pPr lvl="1">
              <a:lnSpc>
                <a:spcPct val="80000"/>
              </a:lnSpc>
              <a:buFont typeface="Wingdings 2" panose="05020102010507070707" pitchFamily="18" charset="2"/>
              <a:buNone/>
            </a:pPr>
            <a:r>
              <a:rPr lang="zh-CN" altLang="en-US" sz="2000" b="1" dirty="0">
                <a:solidFill>
                  <a:srgbClr val="FF0000"/>
                </a:solidFill>
                <a:latin typeface="微软雅黑" panose="020B0503020204020204" pitchFamily="34" charset="-122"/>
                <a:ea typeface="微软雅黑" panose="020B0503020204020204" pitchFamily="34" charset="-122"/>
              </a:rPr>
              <a:t>指令之间都是相关</a:t>
            </a:r>
            <a:r>
              <a:rPr lang="zh-CN" altLang="en-US" sz="2000" b="1" dirty="0">
                <a:latin typeface="微软雅黑" panose="020B0503020204020204" pitchFamily="34" charset="-122"/>
                <a:ea typeface="微软雅黑" panose="020B0503020204020204" pitchFamily="34" charset="-122"/>
              </a:rPr>
              <a:t>的，需</a:t>
            </a:r>
            <a:r>
              <a:rPr lang="en-US" altLang="zh-CN" sz="2000" b="1" dirty="0">
                <a:solidFill>
                  <a:srgbClr val="FF0000"/>
                </a:solidFill>
                <a:latin typeface="微软雅黑" panose="020B0503020204020204" pitchFamily="34" charset="-122"/>
                <a:ea typeface="微软雅黑" panose="020B0503020204020204" pitchFamily="34" charset="-122"/>
              </a:rPr>
              <a:t>5</a:t>
            </a:r>
            <a:r>
              <a:rPr lang="zh-CN" altLang="en-US" sz="2000" b="1" dirty="0">
                <a:solidFill>
                  <a:srgbClr val="FF0000"/>
                </a:solidFill>
                <a:latin typeface="微软雅黑" panose="020B0503020204020204" pitchFamily="34" charset="-122"/>
                <a:ea typeface="微软雅黑" panose="020B0503020204020204" pitchFamily="34" charset="-122"/>
              </a:rPr>
              <a:t>级</a:t>
            </a:r>
            <a:r>
              <a:rPr lang="zh-CN" altLang="en-US" sz="2000" b="1" dirty="0">
                <a:latin typeface="微软雅黑" panose="020B0503020204020204" pitchFamily="34" charset="-122"/>
                <a:ea typeface="微软雅黑" panose="020B0503020204020204" pitchFamily="34" charset="-122"/>
              </a:rPr>
              <a:t>运算。</a:t>
            </a:r>
          </a:p>
          <a:p>
            <a:pPr>
              <a:lnSpc>
                <a:spcPct val="80000"/>
              </a:lnSpc>
            </a:pPr>
            <a:r>
              <a:rPr lang="zh-CN" altLang="en-US" sz="2000" b="1" dirty="0">
                <a:latin typeface="微软雅黑" panose="020B0503020204020204" pitchFamily="34" charset="-122"/>
                <a:ea typeface="微软雅黑" panose="020B0503020204020204" pitchFamily="34" charset="-122"/>
              </a:rPr>
              <a:t>但如果利用</a:t>
            </a:r>
            <a:r>
              <a:rPr lang="zh-CN" altLang="en-US" sz="2000" b="1" dirty="0">
                <a:solidFill>
                  <a:srgbClr val="0000FF"/>
                </a:solidFill>
                <a:latin typeface="微软雅黑" panose="020B0503020204020204" pitchFamily="34" charset="-122"/>
                <a:ea typeface="微软雅黑" panose="020B0503020204020204" pitchFamily="34" charset="-122"/>
              </a:rPr>
              <a:t>并行编译算法</a:t>
            </a:r>
            <a:r>
              <a:rPr lang="zh-CN" altLang="en-US" sz="2000" b="1" dirty="0">
                <a:latin typeface="微软雅黑" panose="020B0503020204020204" pitchFamily="34" charset="-122"/>
                <a:ea typeface="微软雅黑" panose="020B0503020204020204" pitchFamily="34" charset="-122"/>
              </a:rPr>
              <a:t>，其三元指令组为：</a:t>
            </a:r>
          </a:p>
          <a:p>
            <a:pPr lvl="1">
              <a:lnSpc>
                <a:spcPct val="80000"/>
              </a:lnSpc>
            </a:pPr>
            <a:r>
              <a:rPr lang="en-US" altLang="zh-CN" sz="2000" b="1" dirty="0">
                <a:solidFill>
                  <a:schemeClr val="tx2"/>
                </a:solidFill>
                <a:latin typeface="微软雅黑" panose="020B0503020204020204" pitchFamily="34" charset="-122"/>
                <a:ea typeface="微软雅黑" panose="020B0503020204020204" pitchFamily="34" charset="-122"/>
              </a:rPr>
              <a:t>1    * 	A	B				</a:t>
            </a:r>
          </a:p>
          <a:p>
            <a:pPr lvl="1">
              <a:lnSpc>
                <a:spcPct val="80000"/>
              </a:lnSpc>
            </a:pPr>
            <a:r>
              <a:rPr lang="en-US" altLang="zh-CN" sz="2000" b="1" dirty="0">
                <a:solidFill>
                  <a:schemeClr val="tx2"/>
                </a:solidFill>
                <a:latin typeface="微软雅黑" panose="020B0503020204020204" pitchFamily="34" charset="-122"/>
                <a:ea typeface="微软雅黑" panose="020B0503020204020204" pitchFamily="34" charset="-122"/>
              </a:rPr>
              <a:t>2    /  	C	D				</a:t>
            </a:r>
          </a:p>
          <a:p>
            <a:pPr lvl="1">
              <a:lnSpc>
                <a:spcPct val="80000"/>
              </a:lnSpc>
            </a:pPr>
            <a:r>
              <a:rPr lang="en-US" altLang="zh-CN" sz="2000" b="1" dirty="0">
                <a:solidFill>
                  <a:schemeClr val="tx2"/>
                </a:solidFill>
                <a:latin typeface="微软雅黑" panose="020B0503020204020204" pitchFamily="34" charset="-122"/>
                <a:ea typeface="微软雅黑" panose="020B0503020204020204" pitchFamily="34" charset="-122"/>
              </a:rPr>
              <a:t>3    * 	1 	2</a:t>
            </a:r>
          </a:p>
          <a:p>
            <a:pPr lvl="1">
              <a:lnSpc>
                <a:spcPct val="80000"/>
              </a:lnSpc>
            </a:pPr>
            <a:r>
              <a:rPr lang="en-US" altLang="zh-CN" sz="2000" b="1" dirty="0">
                <a:solidFill>
                  <a:schemeClr val="tx2"/>
                </a:solidFill>
                <a:latin typeface="微软雅黑" panose="020B0503020204020204" pitchFamily="34" charset="-122"/>
                <a:ea typeface="微软雅黑" panose="020B0503020204020204" pitchFamily="34" charset="-122"/>
              </a:rPr>
              <a:t>4    + 	M 	N</a:t>
            </a:r>
          </a:p>
          <a:p>
            <a:pPr lvl="1">
              <a:lnSpc>
                <a:spcPct val="80000"/>
              </a:lnSpc>
            </a:pPr>
            <a:r>
              <a:rPr lang="en-US" altLang="zh-CN" sz="2000" b="1" dirty="0">
                <a:solidFill>
                  <a:schemeClr val="tx2"/>
                </a:solidFill>
                <a:latin typeface="微软雅黑" panose="020B0503020204020204" pitchFamily="34" charset="-122"/>
                <a:ea typeface="微软雅黑" panose="020B0503020204020204" pitchFamily="34" charset="-122"/>
              </a:rPr>
              <a:t>5    + 	3 	4</a:t>
            </a:r>
          </a:p>
          <a:p>
            <a:pPr lvl="1">
              <a:lnSpc>
                <a:spcPct val="80000"/>
              </a:lnSpc>
            </a:pPr>
            <a:r>
              <a:rPr lang="en-US" altLang="zh-CN" sz="2000" b="1" dirty="0">
                <a:solidFill>
                  <a:schemeClr val="tx2"/>
                </a:solidFill>
                <a:latin typeface="微软雅黑" panose="020B0503020204020204" pitchFamily="34" charset="-122"/>
                <a:ea typeface="微软雅黑" panose="020B0503020204020204" pitchFamily="34" charset="-122"/>
              </a:rPr>
              <a:t>6    =  	5 	Z</a:t>
            </a:r>
          </a:p>
          <a:p>
            <a:pPr lvl="1">
              <a:lnSpc>
                <a:spcPct val="80000"/>
              </a:lnSpc>
              <a:buFont typeface="Wingdings 2" panose="05020102010507070707" pitchFamily="18" charset="2"/>
              <a:buNone/>
            </a:pPr>
            <a:r>
              <a:rPr lang="zh-CN" altLang="en-US" sz="2000" b="1" dirty="0">
                <a:latin typeface="微软雅黑" panose="020B0503020204020204" pitchFamily="34" charset="-122"/>
                <a:ea typeface="微软雅黑" panose="020B0503020204020204" pitchFamily="34" charset="-122"/>
              </a:rPr>
              <a:t>两个处理机并行处理的话，则</a:t>
            </a:r>
            <a:r>
              <a:rPr lang="en-US" altLang="zh-CN" sz="2000" b="1" dirty="0">
                <a:solidFill>
                  <a:srgbClr val="0000FF"/>
                </a:solidFill>
                <a:latin typeface="微软雅黑" panose="020B0503020204020204" pitchFamily="34" charset="-122"/>
                <a:ea typeface="微软雅黑" panose="020B0503020204020204" pitchFamily="34" charset="-122"/>
              </a:rPr>
              <a:t>3</a:t>
            </a:r>
            <a:r>
              <a:rPr lang="zh-CN" altLang="en-US" sz="2000" b="1" dirty="0">
                <a:solidFill>
                  <a:srgbClr val="0000FF"/>
                </a:solidFill>
                <a:latin typeface="微软雅黑" panose="020B0503020204020204" pitchFamily="34" charset="-122"/>
                <a:ea typeface="微软雅黑" panose="020B0503020204020204" pitchFamily="34" charset="-122"/>
              </a:rPr>
              <a:t>级</a:t>
            </a:r>
            <a:r>
              <a:rPr lang="zh-CN" altLang="en-US" sz="2000" b="1" dirty="0">
                <a:latin typeface="微软雅黑" panose="020B0503020204020204" pitchFamily="34" charset="-122"/>
                <a:ea typeface="微软雅黑" panose="020B0503020204020204" pitchFamily="34" charset="-122"/>
              </a:rPr>
              <a:t>运算就够了。</a:t>
            </a:r>
            <a:r>
              <a:rPr lang="zh-CN" altLang="en-US" sz="1600" b="1" dirty="0">
                <a:latin typeface="微软雅黑" panose="020B0503020204020204" pitchFamily="34" charset="-122"/>
                <a:ea typeface="微软雅黑" panose="020B0503020204020204" pitchFamily="34" charset="-122"/>
              </a:rPr>
              <a:t> </a:t>
            </a:r>
          </a:p>
        </p:txBody>
      </p:sp>
      <p:sp>
        <p:nvSpPr>
          <p:cNvPr id="163842" name="Rectangle 2"/>
          <p:cNvSpPr>
            <a:spLocks noGrp="1" noChangeArrowheads="1"/>
          </p:cNvSpPr>
          <p:nvPr>
            <p:ph type="title"/>
          </p:nvPr>
        </p:nvSpPr>
        <p:spPr>
          <a:xfrm>
            <a:off x="824948" y="-38111"/>
            <a:ext cx="10515600" cy="1325563"/>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并行语言和并行编译 </a:t>
            </a:r>
          </a:p>
        </p:txBody>
      </p:sp>
      <p:sp>
        <p:nvSpPr>
          <p:cNvPr id="4" name="右大括号 3"/>
          <p:cNvSpPr/>
          <p:nvPr/>
        </p:nvSpPr>
        <p:spPr bwMode="auto">
          <a:xfrm>
            <a:off x="5234346" y="4160729"/>
            <a:ext cx="166255" cy="457063"/>
          </a:xfrm>
          <a:prstGeom prst="rightBrace">
            <a:avLst/>
          </a:prstGeom>
          <a:noFill/>
          <a:ln w="38100" cap="flat" cmpd="sng" algn="ctr">
            <a:solidFill>
              <a:srgbClr val="0000FF"/>
            </a:solidFill>
            <a:prstDash val="solid"/>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7" name="右大括号 6"/>
          <p:cNvSpPr/>
          <p:nvPr/>
        </p:nvSpPr>
        <p:spPr bwMode="auto">
          <a:xfrm>
            <a:off x="5234346" y="4728916"/>
            <a:ext cx="166255" cy="457063"/>
          </a:xfrm>
          <a:prstGeom prst="rightBrace">
            <a:avLst/>
          </a:prstGeom>
          <a:noFill/>
          <a:ln w="38100" cap="flat" cmpd="sng" algn="ctr">
            <a:solidFill>
              <a:srgbClr val="0000FF"/>
            </a:solidFill>
            <a:prstDash val="solid"/>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8" name="右大括号 7"/>
          <p:cNvSpPr/>
          <p:nvPr/>
        </p:nvSpPr>
        <p:spPr bwMode="auto">
          <a:xfrm>
            <a:off x="5220292" y="5258514"/>
            <a:ext cx="166255" cy="457063"/>
          </a:xfrm>
          <a:prstGeom prst="rightBrace">
            <a:avLst/>
          </a:prstGeom>
          <a:noFill/>
          <a:ln w="38100" cap="flat" cmpd="sng" algn="ctr">
            <a:solidFill>
              <a:srgbClr val="0000FF"/>
            </a:solidFill>
            <a:prstDash val="solid"/>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cxnSp>
        <p:nvCxnSpPr>
          <p:cNvPr id="6" name="曲线连接符 5"/>
          <p:cNvCxnSpPr/>
          <p:nvPr/>
        </p:nvCxnSpPr>
        <p:spPr bwMode="auto">
          <a:xfrm>
            <a:off x="3060343" y="2061836"/>
            <a:ext cx="921199" cy="281196"/>
          </a:xfrm>
          <a:prstGeom prst="curvedConnector3">
            <a:avLst/>
          </a:prstGeom>
          <a:gradFill rotWithShape="1">
            <a:gsLst>
              <a:gs pos="0">
                <a:schemeClr val="accent1"/>
              </a:gs>
              <a:gs pos="100000">
                <a:schemeClr val="accent1">
                  <a:gamma/>
                  <a:shade val="46275"/>
                  <a:invGamma/>
                </a:schemeClr>
              </a:gs>
            </a:gsLst>
            <a:lin ang="0" scaled="1"/>
          </a:gradFill>
          <a:ln w="1905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12" name="曲线连接符 11"/>
          <p:cNvCxnSpPr/>
          <p:nvPr/>
        </p:nvCxnSpPr>
        <p:spPr bwMode="auto">
          <a:xfrm>
            <a:off x="3071631" y="2310687"/>
            <a:ext cx="921199" cy="281196"/>
          </a:xfrm>
          <a:prstGeom prst="curvedConnector3">
            <a:avLst/>
          </a:prstGeom>
          <a:gradFill rotWithShape="1">
            <a:gsLst>
              <a:gs pos="0">
                <a:schemeClr val="accent1"/>
              </a:gs>
              <a:gs pos="100000">
                <a:schemeClr val="accent1">
                  <a:gamma/>
                  <a:shade val="46275"/>
                  <a:invGamma/>
                </a:schemeClr>
              </a:gs>
            </a:gsLst>
            <a:lin ang="0" scaled="1"/>
          </a:gradFill>
          <a:ln w="1905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16" name="直接箭头连接符 15"/>
          <p:cNvCxnSpPr>
            <a:cxnSpLocks/>
          </p:cNvCxnSpPr>
          <p:nvPr/>
        </p:nvCxnSpPr>
        <p:spPr bwMode="auto">
          <a:xfrm>
            <a:off x="5505542" y="4398336"/>
            <a:ext cx="675802" cy="1317241"/>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0000FF"/>
            </a:solidFill>
            <a:prstDash val="solid"/>
            <a:round/>
            <a:headEnd type="none" w="med" len="med"/>
            <a:tailEnd type="triangle"/>
          </a:ln>
          <a:effectLst>
            <a:outerShdw dist="109250" dir="3267739" algn="ctr" rotWithShape="0">
              <a:schemeClr val="bg1">
                <a:alpha val="50000"/>
              </a:schemeClr>
            </a:outerShdw>
          </a:effectLst>
        </p:spPr>
      </p:cxnSp>
      <p:cxnSp>
        <p:nvCxnSpPr>
          <p:cNvPr id="20" name="直接箭头连接符 19"/>
          <p:cNvCxnSpPr>
            <a:cxnSpLocks/>
          </p:cNvCxnSpPr>
          <p:nvPr/>
        </p:nvCxnSpPr>
        <p:spPr bwMode="auto">
          <a:xfrm>
            <a:off x="5452872" y="4979075"/>
            <a:ext cx="606552" cy="736502"/>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0000FF"/>
            </a:solidFill>
            <a:prstDash val="solid"/>
            <a:round/>
            <a:headEnd type="none" w="med" len="med"/>
            <a:tailEnd type="triangle"/>
          </a:ln>
          <a:effectLst>
            <a:outerShdw dist="109250" dir="3267739" algn="ctr" rotWithShape="0">
              <a:schemeClr val="bg1">
                <a:alpha val="50000"/>
              </a:schemeClr>
            </a:outerShdw>
          </a:effectLst>
        </p:spPr>
      </p:cxnSp>
      <p:cxnSp>
        <p:nvCxnSpPr>
          <p:cNvPr id="23" name="直接箭头连接符 22"/>
          <p:cNvCxnSpPr>
            <a:cxnSpLocks/>
          </p:cNvCxnSpPr>
          <p:nvPr/>
        </p:nvCxnSpPr>
        <p:spPr bwMode="auto">
          <a:xfrm>
            <a:off x="5464246" y="5528131"/>
            <a:ext cx="491615" cy="187446"/>
          </a:xfrm>
          <a:prstGeom prst="straightConnector1">
            <a:avLst/>
          </a:prstGeom>
          <a:gradFill rotWithShape="1">
            <a:gsLst>
              <a:gs pos="0">
                <a:schemeClr val="accent1"/>
              </a:gs>
              <a:gs pos="100000">
                <a:schemeClr val="accent1">
                  <a:gamma/>
                  <a:shade val="46275"/>
                  <a:invGamma/>
                </a:schemeClr>
              </a:gs>
            </a:gsLst>
            <a:lin ang="0" scaled="1"/>
          </a:gradFill>
          <a:ln w="38100" cap="flat" cmpd="sng" algn="ctr">
            <a:solidFill>
              <a:srgbClr val="0000FF"/>
            </a:solidFill>
            <a:prstDash val="solid"/>
            <a:round/>
            <a:headEnd type="none" w="med" len="med"/>
            <a:tailEnd type="triangle"/>
          </a:ln>
          <a:effectLst>
            <a:outerShdw dist="109250" dir="3267739" algn="ctr" rotWithShape="0">
              <a:schemeClr val="bg1">
                <a:alpha val="50000"/>
              </a:schemeClr>
            </a:outerShdw>
          </a:effectLst>
        </p:spPr>
      </p:cxnSp>
      <p:cxnSp>
        <p:nvCxnSpPr>
          <p:cNvPr id="13" name="曲线连接符 12"/>
          <p:cNvCxnSpPr/>
          <p:nvPr/>
        </p:nvCxnSpPr>
        <p:spPr bwMode="auto">
          <a:xfrm>
            <a:off x="3060342" y="2669129"/>
            <a:ext cx="921199" cy="281196"/>
          </a:xfrm>
          <a:prstGeom prst="curvedConnector3">
            <a:avLst/>
          </a:prstGeom>
          <a:gradFill rotWithShape="1">
            <a:gsLst>
              <a:gs pos="0">
                <a:schemeClr val="accent1"/>
              </a:gs>
              <a:gs pos="100000">
                <a:schemeClr val="accent1">
                  <a:gamma/>
                  <a:shade val="46275"/>
                  <a:invGamma/>
                </a:schemeClr>
              </a:gs>
            </a:gsLst>
            <a:lin ang="0" scaled="1"/>
          </a:gradFill>
          <a:ln w="1905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14" name="曲线连接符 13"/>
          <p:cNvCxnSpPr/>
          <p:nvPr/>
        </p:nvCxnSpPr>
        <p:spPr bwMode="auto">
          <a:xfrm>
            <a:off x="3071631" y="2902309"/>
            <a:ext cx="921199" cy="281196"/>
          </a:xfrm>
          <a:prstGeom prst="curvedConnector3">
            <a:avLst/>
          </a:prstGeom>
          <a:gradFill rotWithShape="1">
            <a:gsLst>
              <a:gs pos="0">
                <a:schemeClr val="accent1"/>
              </a:gs>
              <a:gs pos="100000">
                <a:schemeClr val="accent1">
                  <a:gamma/>
                  <a:shade val="46275"/>
                  <a:invGamma/>
                </a:schemeClr>
              </a:gs>
            </a:gsLst>
            <a:lin ang="0" scaled="1"/>
          </a:gradFill>
          <a:ln w="1905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cxnSp>
        <p:nvCxnSpPr>
          <p:cNvPr id="15" name="曲线连接符 14"/>
          <p:cNvCxnSpPr/>
          <p:nvPr/>
        </p:nvCxnSpPr>
        <p:spPr bwMode="auto">
          <a:xfrm>
            <a:off x="3071631" y="3183505"/>
            <a:ext cx="921199" cy="281196"/>
          </a:xfrm>
          <a:prstGeom prst="curvedConnector3">
            <a:avLst/>
          </a:prstGeom>
          <a:gradFill rotWithShape="1">
            <a:gsLst>
              <a:gs pos="0">
                <a:schemeClr val="accent1"/>
              </a:gs>
              <a:gs pos="100000">
                <a:schemeClr val="accent1">
                  <a:gamma/>
                  <a:shade val="46275"/>
                  <a:invGamma/>
                </a:schemeClr>
              </a:gs>
            </a:gsLst>
            <a:lin ang="0" scaled="1"/>
          </a:gradFill>
          <a:ln w="19050" cap="flat" cmpd="sng" algn="ctr">
            <a:solidFill>
              <a:srgbClr val="FF0000"/>
            </a:solidFill>
            <a:prstDash val="solid"/>
            <a:round/>
            <a:headEnd type="none" w="med" len="med"/>
            <a:tailEnd type="triangle"/>
          </a:ln>
          <a:effectLst>
            <a:outerShdw dist="109250" dir="3267739" algn="ctr" rotWithShape="0">
              <a:schemeClr val="bg1">
                <a:alpha val="50000"/>
              </a:schemeClr>
            </a:outerShdw>
          </a:effectLst>
        </p:spPr>
      </p:cxnSp>
      <p:grpSp>
        <p:nvGrpSpPr>
          <p:cNvPr id="17" name="组合 16"/>
          <p:cNvGrpSpPr/>
          <p:nvPr/>
        </p:nvGrpSpPr>
        <p:grpSpPr>
          <a:xfrm>
            <a:off x="265635" y="269251"/>
            <a:ext cx="438352" cy="621987"/>
            <a:chOff x="265635" y="269251"/>
            <a:chExt cx="438352" cy="621987"/>
          </a:xfrm>
        </p:grpSpPr>
        <p:sp>
          <p:nvSpPr>
            <p:cNvPr id="1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1"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937969478"/>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1000"/>
                                        <p:tgtEl>
                                          <p:spTgt spid="23"/>
                                        </p:tgtEl>
                                      </p:cBhvr>
                                    </p:animEffect>
                                    <p:anim calcmode="lin" valueType="num">
                                      <p:cBhvr>
                                        <p:cTn id="42" dur="1000" fill="hold"/>
                                        <p:tgtEl>
                                          <p:spTgt spid="23"/>
                                        </p:tgtEl>
                                        <p:attrNameLst>
                                          <p:attrName>ppt_x</p:attrName>
                                        </p:attrNameLst>
                                      </p:cBhvr>
                                      <p:tavLst>
                                        <p:tav tm="0">
                                          <p:val>
                                            <p:strVal val="#ppt_x"/>
                                          </p:val>
                                        </p:tav>
                                        <p:tav tm="100000">
                                          <p:val>
                                            <p:strVal val="#ppt_x"/>
                                          </p:val>
                                        </p:tav>
                                      </p:tavLst>
                                    </p:anim>
                                    <p:anim calcmode="lin" valueType="num">
                                      <p:cBhvr>
                                        <p:cTn id="4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819845" y="-60532"/>
            <a:ext cx="10515600" cy="1325563"/>
          </a:xfrm>
        </p:spPr>
        <p:txBody>
          <a:bodyPr/>
          <a:lstStyle/>
          <a:p>
            <a:pPr algn="l"/>
            <a:r>
              <a:rPr lang="zh-CN" altLang="en-US" sz="3200" b="1" dirty="0">
                <a:latin typeface="微软雅黑" panose="020B0503020204020204" pitchFamily="34" charset="-122"/>
                <a:ea typeface="微软雅黑" panose="020B0503020204020204" pitchFamily="34" charset="-122"/>
              </a:rPr>
              <a:t>并行语言和并行编译</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续</a:t>
            </a:r>
            <a:r>
              <a:rPr lang="en-US" altLang="zh-CN" sz="3200" b="1" dirty="0">
                <a:latin typeface="微软雅黑" panose="020B0503020204020204" pitchFamily="34" charset="-122"/>
                <a:ea typeface="微软雅黑" panose="020B0503020204020204" pitchFamily="34" charset="-122"/>
              </a:rPr>
              <a:t>)</a:t>
            </a:r>
          </a:p>
        </p:txBody>
      </p:sp>
      <p:sp>
        <p:nvSpPr>
          <p:cNvPr id="164867" name="Rectangle 3"/>
          <p:cNvSpPr>
            <a:spLocks noGrp="1" noChangeArrowheads="1"/>
          </p:cNvSpPr>
          <p:nvPr>
            <p:ph type="body" idx="1"/>
          </p:nvPr>
        </p:nvSpPr>
        <p:spPr>
          <a:xfrm>
            <a:off x="572679" y="1274303"/>
            <a:ext cx="10515600" cy="4351338"/>
          </a:xfrm>
        </p:spPr>
        <p:txBody>
          <a:bodyPr/>
          <a:lstStyle/>
          <a:p>
            <a:pPr>
              <a:lnSpc>
                <a:spcPct val="90000"/>
              </a:lnSpc>
            </a:pPr>
            <a:r>
              <a:rPr lang="zh-CN" altLang="en-US" sz="2400" b="1" dirty="0">
                <a:latin typeface="微软雅黑" panose="020B0503020204020204" pitchFamily="34" charset="-122"/>
                <a:ea typeface="微软雅黑" panose="020B0503020204020204" pitchFamily="34" charset="-122"/>
              </a:rPr>
              <a:t>根据这个并行编译的结果，</a:t>
            </a:r>
            <a:r>
              <a:rPr lang="en-US" altLang="zh-CN" sz="2400" b="1" dirty="0">
                <a:latin typeface="微软雅黑" panose="020B0503020204020204" pitchFamily="34" charset="-122"/>
                <a:ea typeface="微软雅黑" panose="020B0503020204020204" pitchFamily="34" charset="-122"/>
              </a:rPr>
              <a:t> Z</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 + </a:t>
            </a:r>
            <a:r>
              <a:rPr lang="en-US" altLang="zh-CN" sz="2400" b="1" u="sng" dirty="0">
                <a:latin typeface="微软雅黑" panose="020B0503020204020204" pitchFamily="34" charset="-122"/>
                <a:ea typeface="微软雅黑" panose="020B0503020204020204" pitchFamily="34" charset="-122"/>
              </a:rPr>
              <a:t>A*B</a:t>
            </a:r>
            <a:r>
              <a:rPr lang="en-US" altLang="zh-CN" sz="2400" b="1" dirty="0">
                <a:latin typeface="微软雅黑" panose="020B0503020204020204" pitchFamily="34" charset="-122"/>
                <a:ea typeface="微软雅黑" panose="020B0503020204020204" pitchFamily="34" charset="-122"/>
              </a:rPr>
              <a:t> * </a:t>
            </a:r>
            <a:r>
              <a:rPr lang="en-US" altLang="zh-CN" sz="2400" b="1" u="sng" dirty="0">
                <a:latin typeface="微软雅黑" panose="020B0503020204020204" pitchFamily="34" charset="-122"/>
                <a:ea typeface="微软雅黑" panose="020B0503020204020204" pitchFamily="34" charset="-122"/>
              </a:rPr>
              <a:t>C/D</a:t>
            </a:r>
            <a:r>
              <a:rPr lang="en-US" altLang="zh-CN" sz="2400" b="1" dirty="0">
                <a:latin typeface="微软雅黑" panose="020B0503020204020204" pitchFamily="34" charset="-122"/>
                <a:ea typeface="微软雅黑" panose="020B0503020204020204" pitchFamily="34" charset="-122"/>
              </a:rPr>
              <a:t> + N </a:t>
            </a:r>
            <a:r>
              <a:rPr lang="zh-CN" altLang="en-US" sz="2400" b="1" dirty="0">
                <a:latin typeface="微软雅黑" panose="020B0503020204020204" pitchFamily="34" charset="-122"/>
                <a:ea typeface="微软雅黑" panose="020B0503020204020204" pitchFamily="34" charset="-122"/>
              </a:rPr>
              <a:t>得到如下程序：</a:t>
            </a:r>
          </a:p>
          <a:p>
            <a:pPr lvl="1">
              <a:lnSpc>
                <a:spcPct val="90000"/>
              </a:lnSpc>
            </a:pPr>
            <a:r>
              <a:rPr lang="en-US" altLang="zh-CN" sz="2000" b="1" dirty="0">
                <a:solidFill>
                  <a:srgbClr val="0000FF"/>
                </a:solidFill>
                <a:latin typeface="微软雅黑" panose="020B0503020204020204" pitchFamily="34" charset="-122"/>
                <a:ea typeface="微软雅黑" panose="020B0503020204020204" pitchFamily="34" charset="-122"/>
              </a:rPr>
              <a:t>S</a:t>
            </a:r>
            <a:r>
              <a:rPr lang="en-US" altLang="zh-CN" sz="2000" b="1" baseline="-25000" dirty="0">
                <a:solidFill>
                  <a:srgbClr val="0000FF"/>
                </a:solidFill>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G</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A * B</a:t>
            </a:r>
          </a:p>
          <a:p>
            <a:pPr lvl="1">
              <a:lnSpc>
                <a:spcPct val="90000"/>
              </a:lnSpc>
            </a:pPr>
            <a:r>
              <a:rPr lang="en-US" altLang="zh-CN" sz="2000" b="1" dirty="0">
                <a:solidFill>
                  <a:srgbClr val="0000FF"/>
                </a:solidFill>
                <a:latin typeface="微软雅黑" panose="020B0503020204020204" pitchFamily="34" charset="-122"/>
                <a:ea typeface="微软雅黑" panose="020B0503020204020204" pitchFamily="34" charset="-122"/>
              </a:rPr>
              <a:t>S</a:t>
            </a:r>
            <a:r>
              <a:rPr lang="en-US" altLang="zh-CN" sz="2000" b="1" baseline="-25000" dirty="0">
                <a:solidFill>
                  <a:srgbClr val="0000FF"/>
                </a:solidFill>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H</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C / D</a:t>
            </a:r>
          </a:p>
          <a:p>
            <a:pPr lvl="1">
              <a:lnSpc>
                <a:spcPct val="90000"/>
              </a:lnSpc>
            </a:pPr>
            <a:r>
              <a:rPr lang="en-US" altLang="zh-CN" sz="2000" b="1" dirty="0">
                <a:solidFill>
                  <a:srgbClr val="0000FF"/>
                </a:solidFill>
                <a:latin typeface="微软雅黑" panose="020B0503020204020204" pitchFamily="34" charset="-122"/>
                <a:ea typeface="微软雅黑" panose="020B0503020204020204" pitchFamily="34" charset="-122"/>
              </a:rPr>
              <a:t>S</a:t>
            </a:r>
            <a:r>
              <a:rPr lang="en-US" altLang="zh-CN" sz="2000" b="1" baseline="-25000" dirty="0">
                <a:solidFill>
                  <a:srgbClr val="0000FF"/>
                </a:solidFill>
                <a:latin typeface="微软雅黑" panose="020B0503020204020204" pitchFamily="34" charset="-122"/>
                <a:ea typeface="微软雅黑" panose="020B0503020204020204" pitchFamily="34" charset="-122"/>
              </a:rPr>
              <a:t>4</a:t>
            </a:r>
            <a:r>
              <a:rPr lang="en-US" altLang="zh-CN" sz="2000" b="1" dirty="0">
                <a:latin typeface="微软雅黑" panose="020B0503020204020204" pitchFamily="34" charset="-122"/>
                <a:ea typeface="微软雅黑" panose="020B0503020204020204" pitchFamily="34" charset="-122"/>
              </a:rPr>
              <a:t>	J</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M + N</a:t>
            </a:r>
          </a:p>
          <a:p>
            <a:pPr lvl="1">
              <a:lnSpc>
                <a:spcPct val="90000"/>
              </a:lnSpc>
            </a:pPr>
            <a:r>
              <a:rPr lang="en-US" altLang="zh-CN" sz="2000" b="1" dirty="0">
                <a:latin typeface="微软雅黑" panose="020B0503020204020204" pitchFamily="34" charset="-122"/>
                <a:ea typeface="微软雅黑" panose="020B0503020204020204" pitchFamily="34" charset="-122"/>
              </a:rPr>
              <a:t>S</a:t>
            </a:r>
            <a:r>
              <a:rPr lang="en-US" altLang="zh-CN" sz="2000" b="1" baseline="-25000" dirty="0">
                <a:latin typeface="微软雅黑" panose="020B0503020204020204" pitchFamily="34" charset="-122"/>
                <a:ea typeface="微软雅黑" panose="020B0503020204020204" pitchFamily="34" charset="-122"/>
              </a:rPr>
              <a:t>3</a:t>
            </a:r>
            <a:r>
              <a:rPr lang="en-US" altLang="zh-CN" sz="2000" b="1" dirty="0">
                <a:latin typeface="微软雅黑" panose="020B0503020204020204" pitchFamily="34" charset="-122"/>
                <a:ea typeface="微软雅黑" panose="020B0503020204020204" pitchFamily="34" charset="-122"/>
              </a:rPr>
              <a:t>	I</a:t>
            </a:r>
            <a:r>
              <a:rPr lang="zh-CN" altLang="en-US" sz="2000" b="1" dirty="0">
                <a:latin typeface="微软雅黑" panose="020B0503020204020204" pitchFamily="34" charset="-122"/>
                <a:ea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rPr>
              <a:t>G</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H</a:t>
            </a:r>
            <a:endParaRPr lang="en-US" altLang="zh-CN" sz="2000" b="1" dirty="0">
              <a:latin typeface="微软雅黑" panose="020B0503020204020204" pitchFamily="34" charset="-122"/>
              <a:ea typeface="微软雅黑" panose="020B0503020204020204" pitchFamily="34" charset="-122"/>
            </a:endParaRPr>
          </a:p>
          <a:p>
            <a:pPr lvl="1">
              <a:lnSpc>
                <a:spcPct val="90000"/>
              </a:lnSpc>
            </a:pPr>
            <a:r>
              <a:rPr lang="en-US" altLang="zh-CN" sz="2000" b="1" dirty="0">
                <a:latin typeface="微软雅黑" panose="020B0503020204020204" pitchFamily="34" charset="-122"/>
                <a:ea typeface="微软雅黑" panose="020B0503020204020204" pitchFamily="34" charset="-122"/>
              </a:rPr>
              <a:t>S</a:t>
            </a:r>
            <a:r>
              <a:rPr lang="en-US" altLang="zh-CN" sz="2000" b="1" baseline="-25000" dirty="0">
                <a:latin typeface="微软雅黑" panose="020B0503020204020204" pitchFamily="34" charset="-122"/>
                <a:ea typeface="微软雅黑" panose="020B0503020204020204" pitchFamily="34" charset="-122"/>
              </a:rPr>
              <a:t>5</a:t>
            </a:r>
            <a:r>
              <a:rPr lang="en-US" altLang="zh-CN" sz="2000" b="1" dirty="0">
                <a:latin typeface="微软雅黑" panose="020B0503020204020204" pitchFamily="34" charset="-122"/>
                <a:ea typeface="微软雅黑" panose="020B0503020204020204" pitchFamily="34" charset="-122"/>
              </a:rPr>
              <a:t>	Z</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I + J</a:t>
            </a:r>
          </a:p>
          <a:p>
            <a:pPr>
              <a:lnSpc>
                <a:spcPct val="90000"/>
              </a:lnSpc>
            </a:pPr>
            <a:r>
              <a:rPr lang="zh-CN" altLang="en-US" sz="2400" b="1" dirty="0">
                <a:latin typeface="微软雅黑" panose="020B0503020204020204" pitchFamily="34" charset="-122"/>
                <a:ea typeface="微软雅黑" panose="020B0503020204020204" pitchFamily="34" charset="-122"/>
              </a:rPr>
              <a:t>算术表达式</a:t>
            </a:r>
            <a:r>
              <a:rPr lang="en-US" altLang="zh-CN" sz="2400" b="1" dirty="0">
                <a:latin typeface="微软雅黑" panose="020B0503020204020204" pitchFamily="34" charset="-122"/>
                <a:ea typeface="微软雅黑" panose="020B0503020204020204" pitchFamily="34" charset="-122"/>
              </a:rPr>
              <a:t>Z</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M+A*B*C/D+N</a:t>
            </a:r>
            <a:r>
              <a:rPr lang="zh-CN" altLang="en-US" sz="2400" b="1" dirty="0">
                <a:latin typeface="微软雅黑" panose="020B0503020204020204" pitchFamily="34" charset="-122"/>
                <a:ea typeface="微软雅黑" panose="020B0503020204020204" pitchFamily="34" charset="-122"/>
              </a:rPr>
              <a:t>对应的并行控制程序如下：</a:t>
            </a:r>
          </a:p>
          <a:p>
            <a:pPr lvl="1">
              <a:lnSpc>
                <a:spcPct val="90000"/>
              </a:lnSpc>
            </a:pPr>
            <a:r>
              <a:rPr lang="en-US" altLang="zh-CN" sz="2000" b="1" dirty="0">
                <a:latin typeface="微软雅黑" panose="020B0503020204020204" pitchFamily="34" charset="-122"/>
                <a:ea typeface="微软雅黑" panose="020B0503020204020204" pitchFamily="34" charset="-122"/>
              </a:rPr>
              <a:t>Begin</a:t>
            </a:r>
          </a:p>
          <a:p>
            <a:pPr lvl="1">
              <a:lnSpc>
                <a:spcPct val="90000"/>
              </a:lnSpc>
            </a:pPr>
            <a:r>
              <a:rPr lang="en-US" altLang="zh-CN" sz="2000" b="1" i="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a:p>
            <a:pPr lvl="1">
              <a:lnSpc>
                <a:spcPct val="90000"/>
              </a:lnSpc>
            </a:pPr>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a:t>
            </a:r>
          </a:p>
          <a:p>
            <a:pPr lvl="1">
              <a:lnSpc>
                <a:spcPct val="90000"/>
              </a:lnSpc>
            </a:pPr>
            <a:r>
              <a:rPr lang="en-US" altLang="zh-CN" sz="2000" b="1" dirty="0">
                <a:latin typeface="微软雅黑" panose="020B0503020204020204" pitchFamily="34" charset="-122"/>
                <a:ea typeface="微软雅黑" panose="020B0503020204020204" pitchFamily="34" charset="-122"/>
              </a:rPr>
              <a:t>S5</a:t>
            </a:r>
            <a:r>
              <a:rPr lang="zh-CN" altLang="en-US" sz="2000" b="1" dirty="0">
                <a:latin typeface="微软雅黑" panose="020B0503020204020204" pitchFamily="34" charset="-122"/>
                <a:ea typeface="微软雅黑" panose="020B0503020204020204" pitchFamily="34" charset="-122"/>
              </a:rPr>
              <a:t>；</a:t>
            </a:r>
          </a:p>
          <a:p>
            <a:pPr lvl="1">
              <a:lnSpc>
                <a:spcPct val="90000"/>
              </a:lnSpc>
            </a:pPr>
            <a:r>
              <a:rPr lang="en-US" altLang="zh-CN" sz="2000" b="1" dirty="0">
                <a:latin typeface="微软雅黑" panose="020B0503020204020204" pitchFamily="34" charset="-122"/>
                <a:ea typeface="微软雅黑" panose="020B0503020204020204" pitchFamily="34" charset="-122"/>
              </a:rPr>
              <a:t>end</a:t>
            </a:r>
            <a:endParaRPr lang="zh-CN" altLang="en-US" sz="2000" b="1" dirty="0">
              <a:latin typeface="微软雅黑" panose="020B0503020204020204" pitchFamily="34" charset="-122"/>
              <a:ea typeface="微软雅黑" panose="020B0503020204020204" pitchFamily="34" charset="-122"/>
            </a:endParaRPr>
          </a:p>
        </p:txBody>
      </p:sp>
      <p:sp>
        <p:nvSpPr>
          <p:cNvPr id="2" name="矩形 1"/>
          <p:cNvSpPr/>
          <p:nvPr/>
        </p:nvSpPr>
        <p:spPr>
          <a:xfrm>
            <a:off x="1306862" y="4091001"/>
            <a:ext cx="1107996" cy="369332"/>
          </a:xfrm>
          <a:prstGeom prst="rect">
            <a:avLst/>
          </a:prstGeom>
        </p:spPr>
        <p:txBody>
          <a:bodyPr wrap="none">
            <a:spAutoFit/>
          </a:bodyPr>
          <a:lstStyle/>
          <a:p>
            <a:r>
              <a:rPr lang="en-US" altLang="zh-CN" b="1" i="1" dirty="0" err="1">
                <a:ea typeface="宋体" panose="02010600030101010101" pitchFamily="2" charset="-122"/>
              </a:rPr>
              <a:t>Cobegin</a:t>
            </a:r>
            <a:endParaRPr lang="zh-CN" altLang="en-US" b="1" i="1" dirty="0"/>
          </a:p>
        </p:txBody>
      </p:sp>
      <p:sp>
        <p:nvSpPr>
          <p:cNvPr id="3" name="矩形 2"/>
          <p:cNvSpPr/>
          <p:nvPr/>
        </p:nvSpPr>
        <p:spPr>
          <a:xfrm>
            <a:off x="3915683" y="4124868"/>
            <a:ext cx="1446230" cy="369332"/>
          </a:xfrm>
          <a:prstGeom prst="rect">
            <a:avLst/>
          </a:prstGeom>
        </p:spPr>
        <p:txBody>
          <a:bodyPr wrap="none">
            <a:spAutoFit/>
          </a:bodyPr>
          <a:lstStyle/>
          <a:p>
            <a:pPr lvl="1">
              <a:lnSpc>
                <a:spcPct val="90000"/>
              </a:lnSpc>
            </a:pPr>
            <a:r>
              <a:rPr lang="en-US" altLang="zh-CN" sz="2000" b="1" i="1" dirty="0" err="1">
                <a:ea typeface="宋体" panose="02010600030101010101" pitchFamily="2" charset="-122"/>
              </a:rPr>
              <a:t>Coend</a:t>
            </a:r>
            <a:endParaRPr lang="en-US" altLang="zh-CN" sz="2000" b="1" i="1" dirty="0">
              <a:ea typeface="宋体" panose="02010600030101010101" pitchFamily="2" charset="-122"/>
            </a:endParaRPr>
          </a:p>
        </p:txBody>
      </p:sp>
      <p:sp>
        <p:nvSpPr>
          <p:cNvPr id="4" name="椭圆形标注 3"/>
          <p:cNvSpPr/>
          <p:nvPr/>
        </p:nvSpPr>
        <p:spPr bwMode="auto">
          <a:xfrm>
            <a:off x="3747910" y="5424279"/>
            <a:ext cx="2269067" cy="519351"/>
          </a:xfrm>
          <a:prstGeom prst="wedgeEllipseCallout">
            <a:avLst>
              <a:gd name="adj1" fmla="val -52176"/>
              <a:gd name="adj2" fmla="val -217440"/>
            </a:avLst>
          </a:prstGeom>
          <a:noFill/>
          <a:ln w="12700" cap="flat" cmpd="sng" algn="ctr">
            <a:solidFill>
              <a:srgbClr val="FF0000"/>
            </a:solidFill>
            <a:prstDash val="solid"/>
            <a:round/>
            <a:headEnd type="none" w="med" len="med"/>
            <a:tailEnd type="none" w="med" len="med"/>
          </a:ln>
          <a:effectLst>
            <a:outerShdw dist="109250" dir="3267739" algn="ctr" rotWithShape="0">
              <a:schemeClr val="bg1">
                <a:alpha val="5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solidFill>
                  <a:srgbClr val="FF0000"/>
                </a:solidFill>
              </a:ln>
              <a:solidFill>
                <a:schemeClr val="bg1"/>
              </a:solidFill>
              <a:effectLst/>
              <a:latin typeface="Arial" panose="020B0604020202020204" pitchFamily="34" charset="0"/>
              <a:ea typeface="宋体" panose="02010600030101010101" pitchFamily="2" charset="-122"/>
            </a:endParaRPr>
          </a:p>
        </p:txBody>
      </p:sp>
      <p:sp>
        <p:nvSpPr>
          <p:cNvPr id="5" name="矩形 4"/>
          <p:cNvSpPr/>
          <p:nvPr/>
        </p:nvSpPr>
        <p:spPr>
          <a:xfrm>
            <a:off x="2659353" y="4124868"/>
            <a:ext cx="1657826" cy="369332"/>
          </a:xfrm>
          <a:prstGeom prst="rect">
            <a:avLst/>
          </a:prstGeom>
          <a:ln>
            <a:solidFill>
              <a:srgbClr val="FF0000"/>
            </a:solidFill>
            <a:prstDash val="dash"/>
          </a:ln>
        </p:spPr>
        <p:txBody>
          <a:bodyPr wrap="none">
            <a:spAutoFit/>
          </a:bodyPr>
          <a:lstStyle/>
          <a:p>
            <a:r>
              <a:rPr lang="en-US" altLang="zh-CN" b="1" dirty="0">
                <a:latin typeface="微软雅黑" panose="020B0503020204020204" pitchFamily="34" charset="-122"/>
                <a:ea typeface="微软雅黑" panose="020B0503020204020204" pitchFamily="34" charset="-122"/>
              </a:rPr>
              <a:t> </a:t>
            </a:r>
            <a:r>
              <a:rPr lang="en-US" altLang="zh-CN" b="1" dirty="0">
                <a:solidFill>
                  <a:srgbClr val="0000FF"/>
                </a:solidFill>
                <a:latin typeface="微软雅黑" panose="020B0503020204020204" pitchFamily="34" charset="-122"/>
                <a:ea typeface="微软雅黑" panose="020B0503020204020204" pitchFamily="34" charset="-122"/>
              </a:rPr>
              <a:t>S</a:t>
            </a:r>
            <a:r>
              <a:rPr lang="en-US" altLang="zh-CN" b="1" baseline="-25000" dirty="0">
                <a:solidFill>
                  <a:srgbClr val="0000FF"/>
                </a:solidFill>
                <a:latin typeface="微软雅黑" panose="020B0503020204020204" pitchFamily="34" charset="-122"/>
                <a:ea typeface="微软雅黑" panose="020B0503020204020204" pitchFamily="34" charset="-122"/>
              </a:rPr>
              <a:t>1</a:t>
            </a:r>
            <a:r>
              <a:rPr lang="zh-CN" altLang="en-US" b="1" dirty="0">
                <a:solidFill>
                  <a:srgbClr val="0000FF"/>
                </a:solidFill>
                <a:latin typeface="微软雅黑" panose="020B0503020204020204" pitchFamily="34" charset="-122"/>
                <a:ea typeface="微软雅黑" panose="020B0503020204020204" pitchFamily="34" charset="-122"/>
              </a:rPr>
              <a:t>；</a:t>
            </a:r>
            <a:r>
              <a:rPr lang="en-US" altLang="zh-CN" b="1" dirty="0">
                <a:solidFill>
                  <a:srgbClr val="0000FF"/>
                </a:solidFill>
                <a:latin typeface="微软雅黑" panose="020B0503020204020204" pitchFamily="34" charset="-122"/>
                <a:ea typeface="微软雅黑" panose="020B0503020204020204" pitchFamily="34" charset="-122"/>
              </a:rPr>
              <a:t>S</a:t>
            </a:r>
            <a:r>
              <a:rPr lang="en-US" altLang="zh-CN" b="1" baseline="-25000" dirty="0">
                <a:solidFill>
                  <a:srgbClr val="0000FF"/>
                </a:solidFill>
                <a:latin typeface="微软雅黑" panose="020B0503020204020204" pitchFamily="34" charset="-122"/>
                <a:ea typeface="微软雅黑" panose="020B0503020204020204" pitchFamily="34" charset="-122"/>
              </a:rPr>
              <a:t>2</a:t>
            </a:r>
            <a:r>
              <a:rPr lang="zh-CN" altLang="en-US" b="1" dirty="0">
                <a:solidFill>
                  <a:srgbClr val="0000FF"/>
                </a:solidFill>
                <a:latin typeface="微软雅黑" panose="020B0503020204020204" pitchFamily="34" charset="-122"/>
                <a:ea typeface="微软雅黑" panose="020B0503020204020204" pitchFamily="34" charset="-122"/>
              </a:rPr>
              <a:t>；</a:t>
            </a:r>
            <a:r>
              <a:rPr lang="en-US" altLang="zh-CN" b="1" dirty="0">
                <a:solidFill>
                  <a:srgbClr val="0000FF"/>
                </a:solidFill>
                <a:latin typeface="微软雅黑" panose="020B0503020204020204" pitchFamily="34" charset="-122"/>
                <a:ea typeface="微软雅黑" panose="020B0503020204020204" pitchFamily="34" charset="-122"/>
              </a:rPr>
              <a:t>S</a:t>
            </a:r>
            <a:r>
              <a:rPr lang="en-US" altLang="zh-CN" b="1" baseline="-25000" dirty="0">
                <a:solidFill>
                  <a:srgbClr val="0000FF"/>
                </a:solidFill>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a:t>
            </a:r>
          </a:p>
        </p:txBody>
      </p:sp>
      <p:sp>
        <p:nvSpPr>
          <p:cNvPr id="6" name="文本框 5"/>
          <p:cNvSpPr txBox="1"/>
          <p:nvPr/>
        </p:nvSpPr>
        <p:spPr>
          <a:xfrm>
            <a:off x="3847950" y="5486399"/>
            <a:ext cx="2281916"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并行执行的</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条语句</a:t>
            </a:r>
          </a:p>
        </p:txBody>
      </p:sp>
      <p:sp>
        <p:nvSpPr>
          <p:cNvPr id="11" name="右大括号 10"/>
          <p:cNvSpPr/>
          <p:nvPr/>
        </p:nvSpPr>
        <p:spPr bwMode="auto">
          <a:xfrm>
            <a:off x="3780216" y="1778212"/>
            <a:ext cx="214490" cy="795655"/>
          </a:xfrm>
          <a:prstGeom prst="rightBrace">
            <a:avLst/>
          </a:prstGeom>
          <a:noFill/>
          <a:ln w="38100" cap="flat" cmpd="sng" algn="ctr">
            <a:solidFill>
              <a:srgbClr val="0000FF"/>
            </a:solidFill>
            <a:prstDash val="solid"/>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12" name="文本框 11"/>
          <p:cNvSpPr txBox="1"/>
          <p:nvPr/>
        </p:nvSpPr>
        <p:spPr>
          <a:xfrm>
            <a:off x="3960839" y="2000114"/>
            <a:ext cx="1107996" cy="369332"/>
          </a:xfrm>
          <a:prstGeom prst="rect">
            <a:avLst/>
          </a:prstGeom>
          <a:noFill/>
        </p:spPr>
        <p:txBody>
          <a:bodyPr wrap="non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并行执行</a:t>
            </a:r>
          </a:p>
        </p:txBody>
      </p:sp>
      <p:sp>
        <p:nvSpPr>
          <p:cNvPr id="13" name="文本框 12"/>
          <p:cNvSpPr txBox="1"/>
          <p:nvPr/>
        </p:nvSpPr>
        <p:spPr>
          <a:xfrm>
            <a:off x="6536266" y="2000114"/>
            <a:ext cx="2810934" cy="1200329"/>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注意：</a:t>
            </a:r>
            <a:endParaRPr lang="en-US" altLang="zh-CN" b="1" dirty="0">
              <a:latin typeface="微软雅黑" panose="020B0503020204020204" pitchFamily="34" charset="-122"/>
              <a:ea typeface="微软雅黑" panose="020B0503020204020204" pitchFamily="34" charset="-122"/>
            </a:endParaRPr>
          </a:p>
          <a:p>
            <a:r>
              <a:rPr lang="en-US" altLang="zh-CN" b="1" dirty="0">
                <a:solidFill>
                  <a:srgbClr val="FF0000"/>
                </a:solidFill>
                <a:latin typeface="微软雅黑" panose="020B0503020204020204" pitchFamily="34" charset="-122"/>
                <a:ea typeface="微软雅黑" panose="020B0503020204020204" pitchFamily="34" charset="-122"/>
              </a:rPr>
              <a:t>S</a:t>
            </a:r>
            <a:r>
              <a:rPr lang="en-US" altLang="zh-CN" b="1" baseline="-25000"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和</a:t>
            </a:r>
            <a:r>
              <a:rPr lang="en-US" altLang="zh-CN" b="1" dirty="0">
                <a:solidFill>
                  <a:srgbClr val="FF0000"/>
                </a:solidFill>
                <a:latin typeface="微软雅黑" panose="020B0503020204020204" pitchFamily="34" charset="-122"/>
                <a:ea typeface="微软雅黑" panose="020B0503020204020204" pitchFamily="34" charset="-122"/>
              </a:rPr>
              <a:t>S</a:t>
            </a:r>
            <a:r>
              <a:rPr lang="en-US" altLang="zh-CN" b="1" baseline="-25000" dirty="0">
                <a:solidFill>
                  <a:srgbClr val="FF0000"/>
                </a:solidFill>
                <a:latin typeface="微软雅黑" panose="020B0503020204020204" pitchFamily="34" charset="-122"/>
                <a:ea typeface="微软雅黑" panose="020B0503020204020204" pitchFamily="34" charset="-122"/>
              </a:rPr>
              <a:t>4</a:t>
            </a:r>
            <a:r>
              <a:rPr lang="zh-CN" altLang="en-US" b="1" dirty="0">
                <a:solidFill>
                  <a:srgbClr val="FF0000"/>
                </a:solidFill>
                <a:latin typeface="微软雅黑" panose="020B0503020204020204" pitchFamily="34" charset="-122"/>
                <a:ea typeface="微软雅黑" panose="020B0503020204020204" pitchFamily="34" charset="-122"/>
              </a:rPr>
              <a:t>执行顺序无关</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因为无相关性，</a:t>
            </a:r>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所以不影响执行结果！</a:t>
            </a:r>
          </a:p>
        </p:txBody>
      </p:sp>
      <p:sp>
        <p:nvSpPr>
          <p:cNvPr id="14" name="矩形 13"/>
          <p:cNvSpPr/>
          <p:nvPr/>
        </p:nvSpPr>
        <p:spPr bwMode="auto">
          <a:xfrm>
            <a:off x="1080609" y="2369446"/>
            <a:ext cx="2654449" cy="689843"/>
          </a:xfrm>
          <a:prstGeom prst="rect">
            <a:avLst/>
          </a:prstGeom>
          <a:noFill/>
          <a:ln w="25400" cap="flat" cmpd="sng" algn="ctr">
            <a:solidFill>
              <a:srgbClr val="FF0000"/>
            </a:solidFill>
            <a:prstDash val="dash"/>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grpSp>
        <p:nvGrpSpPr>
          <p:cNvPr id="15" name="组合 14"/>
          <p:cNvGrpSpPr/>
          <p:nvPr/>
        </p:nvGrpSpPr>
        <p:grpSpPr>
          <a:xfrm>
            <a:off x="265635" y="269251"/>
            <a:ext cx="438352" cy="621987"/>
            <a:chOff x="265635" y="269251"/>
            <a:chExt cx="438352" cy="621987"/>
          </a:xfrm>
        </p:grpSpPr>
        <p:sp>
          <p:nvSpPr>
            <p:cNvPr id="16"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3568416928"/>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ppt_w</p:attrName>
                                        </p:attrNameLst>
                                      </p:cBhvr>
                                      <p:tavLst>
                                        <p:tav tm="0">
                                          <p:val>
                                            <p:fltVal val="0"/>
                                          </p:val>
                                        </p:tav>
                                        <p:tav tm="100000">
                                          <p:val>
                                            <p:strVal val="#ppt_w"/>
                                          </p:val>
                                        </p:tav>
                                      </p:tavLst>
                                    </p:anim>
                                    <p:anim calcmode="lin" valueType="num">
                                      <p:cBhvr>
                                        <p:cTn id="20" dur="1000" fill="hold"/>
                                        <p:tgtEl>
                                          <p:spTgt spid="13"/>
                                        </p:tgtEl>
                                        <p:attrNameLst>
                                          <p:attrName>ppt_h</p:attrName>
                                        </p:attrNameLst>
                                      </p:cBhvr>
                                      <p:tavLst>
                                        <p:tav tm="0">
                                          <p:val>
                                            <p:fltVal val="0"/>
                                          </p:val>
                                        </p:tav>
                                        <p:tav tm="100000">
                                          <p:val>
                                            <p:strVal val="#ppt_h"/>
                                          </p:val>
                                        </p:tav>
                                      </p:tavLst>
                                    </p:anim>
                                    <p:anim calcmode="lin" valueType="num">
                                      <p:cBhvr>
                                        <p:cTn id="21" dur="1000" fill="hold"/>
                                        <p:tgtEl>
                                          <p:spTgt spid="13"/>
                                        </p:tgtEl>
                                        <p:attrNameLst>
                                          <p:attrName>style.rotation</p:attrName>
                                        </p:attrNameLst>
                                      </p:cBhvr>
                                      <p:tavLst>
                                        <p:tav tm="0">
                                          <p:val>
                                            <p:fltVal val="90"/>
                                          </p:val>
                                        </p:tav>
                                        <p:tav tm="100000">
                                          <p:val>
                                            <p:fltVal val="0"/>
                                          </p:val>
                                        </p:tav>
                                      </p:tavLst>
                                    </p:anim>
                                    <p:animEffect transition="in" filter="fade">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1000" fill="hold"/>
                                        <p:tgtEl>
                                          <p:spTgt spid="14"/>
                                        </p:tgtEl>
                                        <p:attrNameLst>
                                          <p:attrName>ppt_w</p:attrName>
                                        </p:attrNameLst>
                                      </p:cBhvr>
                                      <p:tavLst>
                                        <p:tav tm="0">
                                          <p:val>
                                            <p:fltVal val="0"/>
                                          </p:val>
                                        </p:tav>
                                        <p:tav tm="100000">
                                          <p:val>
                                            <p:strVal val="#ppt_w"/>
                                          </p:val>
                                        </p:tav>
                                      </p:tavLst>
                                    </p:anim>
                                    <p:anim calcmode="lin" valueType="num">
                                      <p:cBhvr>
                                        <p:cTn id="28" dur="1000" fill="hold"/>
                                        <p:tgtEl>
                                          <p:spTgt spid="14"/>
                                        </p:tgtEl>
                                        <p:attrNameLst>
                                          <p:attrName>ppt_h</p:attrName>
                                        </p:attrNameLst>
                                      </p:cBhvr>
                                      <p:tavLst>
                                        <p:tav tm="0">
                                          <p:val>
                                            <p:fltVal val="0"/>
                                          </p:val>
                                        </p:tav>
                                        <p:tav tm="100000">
                                          <p:val>
                                            <p:strVal val="#ppt_h"/>
                                          </p:val>
                                        </p:tav>
                                      </p:tavLst>
                                    </p:anim>
                                    <p:anim calcmode="lin" valueType="num">
                                      <p:cBhvr>
                                        <p:cTn id="29" dur="1000" fill="hold"/>
                                        <p:tgtEl>
                                          <p:spTgt spid="14"/>
                                        </p:tgtEl>
                                        <p:attrNameLst>
                                          <p:attrName>style.rotation</p:attrName>
                                        </p:attrNameLst>
                                      </p:cBhvr>
                                      <p:tavLst>
                                        <p:tav tm="0">
                                          <p:val>
                                            <p:fltVal val="90"/>
                                          </p:val>
                                        </p:tav>
                                        <p:tav tm="100000">
                                          <p:val>
                                            <p:fltVal val="0"/>
                                          </p:val>
                                        </p:tav>
                                      </p:tavLst>
                                    </p:anim>
                                    <p:animEffect transition="in" filter="fade">
                                      <p:cBhvr>
                                        <p:cTn id="3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882865" y="-105363"/>
            <a:ext cx="10515600" cy="1325563"/>
          </a:xfrm>
        </p:spPr>
        <p:txBody>
          <a:bodyPr>
            <a:normAutofit/>
          </a:bodyPr>
          <a:lstStyle/>
          <a:p>
            <a:pPr algn="l">
              <a:lnSpc>
                <a:spcPct val="150000"/>
              </a:lnSpc>
            </a:pPr>
            <a:r>
              <a:rPr lang="zh-CN" altLang="en-US" sz="3200" b="1" dirty="0">
                <a:latin typeface="微软雅黑" panose="020B0503020204020204" pitchFamily="34" charset="-122"/>
                <a:ea typeface="微软雅黑" panose="020B0503020204020204" pitchFamily="34" charset="-122"/>
              </a:rPr>
              <a:t>机群系统</a:t>
            </a:r>
          </a:p>
        </p:txBody>
      </p:sp>
      <p:sp>
        <p:nvSpPr>
          <p:cNvPr id="165891" name="Rectangle 3"/>
          <p:cNvSpPr>
            <a:spLocks noGrp="1" noChangeArrowheads="1"/>
          </p:cNvSpPr>
          <p:nvPr>
            <p:ph type="body" idx="1"/>
          </p:nvPr>
        </p:nvSpPr>
        <p:spPr>
          <a:xfrm>
            <a:off x="1520588" y="3148091"/>
            <a:ext cx="9870785" cy="4351338"/>
          </a:xfrm>
        </p:spPr>
        <p:txBody>
          <a:bodyPr>
            <a:normAutofit/>
          </a:bodyPr>
          <a:lstStyle/>
          <a:p>
            <a:pPr marL="0" indent="0">
              <a:lnSpc>
                <a:spcPct val="150000"/>
              </a:lnSpc>
              <a:buNone/>
            </a:pPr>
            <a:r>
              <a:rPr lang="zh-CN" altLang="en-US" b="1" dirty="0">
                <a:latin typeface="微软雅黑" panose="020B0503020204020204" pitchFamily="34" charset="-122"/>
                <a:ea typeface="微软雅黑" panose="020B0503020204020204" pitchFamily="34" charset="-122"/>
              </a:rPr>
              <a:t>机群是一组</a:t>
            </a:r>
            <a:r>
              <a:rPr lang="zh-CN" altLang="en-US" b="1" dirty="0">
                <a:solidFill>
                  <a:srgbClr val="0000FF"/>
                </a:solidFill>
                <a:latin typeface="微软雅黑" panose="020B0503020204020204" pitchFamily="34" charset="-122"/>
                <a:ea typeface="微软雅黑" panose="020B0503020204020204" pitchFamily="34" charset="-122"/>
              </a:rPr>
              <a:t>独立</a:t>
            </a:r>
            <a:r>
              <a:rPr lang="zh-CN" altLang="en-US" b="1" dirty="0">
                <a:latin typeface="微软雅黑" panose="020B0503020204020204" pitchFamily="34" charset="-122"/>
                <a:ea typeface="微软雅黑" panose="020B0503020204020204" pitchFamily="34" charset="-122"/>
              </a:rPr>
              <a:t>的计算机结点的集合体，但机群对用户和应用来说它只是一个单一的系统，结点间通过高性能的互连网络连接。各结点除了可以作为一个单一的计算资源供交互式用户使用外，还可以协同工作并表现为一个单一的、集中的计算资源供并行计算任务使用。 </a:t>
            </a:r>
          </a:p>
        </p:txBody>
      </p:sp>
      <p:grpSp>
        <p:nvGrpSpPr>
          <p:cNvPr id="4" name="组合 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7"/>
          <p:cNvSpPr>
            <a:spLocks noChangeArrowheads="1"/>
          </p:cNvSpPr>
          <p:nvPr/>
        </p:nvSpPr>
        <p:spPr bwMode="auto">
          <a:xfrm>
            <a:off x="452808" y="4343696"/>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441371" y="1668863"/>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TextBox 36"/>
          <p:cNvSpPr txBox="1"/>
          <p:nvPr/>
        </p:nvSpPr>
        <p:spPr>
          <a:xfrm>
            <a:off x="537300" y="1792354"/>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11" name="TextBox 38"/>
          <p:cNvSpPr txBox="1"/>
          <p:nvPr/>
        </p:nvSpPr>
        <p:spPr>
          <a:xfrm>
            <a:off x="537300" y="4471562"/>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2" name="矩形 1"/>
          <p:cNvSpPr/>
          <p:nvPr/>
        </p:nvSpPr>
        <p:spPr>
          <a:xfrm>
            <a:off x="1520588" y="1343630"/>
            <a:ext cx="10214357" cy="1384995"/>
          </a:xfrm>
          <a:prstGeom prst="rect">
            <a:avLst/>
          </a:prstGeom>
        </p:spPr>
        <p:txBody>
          <a:bodyPr wrap="square">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机群系统</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Cluster</a:t>
            </a:r>
            <a:r>
              <a:rPr lang="zh-CN" altLang="en-US" sz="2800" b="1" dirty="0">
                <a:latin typeface="微软雅黑" panose="020B0503020204020204" pitchFamily="34" charset="-122"/>
                <a:ea typeface="微软雅黑" panose="020B0503020204020204" pitchFamily="34" charset="-122"/>
              </a:rPr>
              <a:t>）是指一组完整的计算机互连，它们作为一个统一的计算机资源一起工作，并能产生一台机器的印象。 </a:t>
            </a:r>
          </a:p>
        </p:txBody>
      </p:sp>
    </p:spTree>
    <p:extLst>
      <p:ext uri="{BB962C8B-B14F-4D97-AF65-F5344CB8AC3E}">
        <p14:creationId xmlns:p14="http://schemas.microsoft.com/office/powerpoint/2010/main" val="3302852488"/>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type="body" idx="1"/>
          </p:nvPr>
        </p:nvSpPr>
        <p:spPr>
          <a:xfrm>
            <a:off x="-136477" y="1155684"/>
            <a:ext cx="12192000" cy="5549915"/>
          </a:xfrm>
        </p:spPr>
        <p:txBody>
          <a:bodyPr>
            <a:noAutofit/>
          </a:bodyPr>
          <a:lstStyle/>
          <a:p>
            <a:pPr lvl="1">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高性能的计算结点机</a:t>
            </a:r>
            <a:r>
              <a:rPr lang="zh-CN" altLang="en-US" sz="2800" b="1" dirty="0">
                <a:latin typeface="微软雅黑" panose="020B0503020204020204" pitchFamily="34" charset="-122"/>
                <a:ea typeface="微软雅黑" panose="020B0503020204020204" pitchFamily="34" charset="-122"/>
              </a:rPr>
              <a:t>。机群的结点可以是一个工作站，或者是一台个人计算机，但也可以是一台规模相当大的对称多处理机</a:t>
            </a:r>
            <a:r>
              <a:rPr lang="en-US" altLang="zh-CN" sz="2800" b="1" dirty="0">
                <a:latin typeface="微软雅黑" panose="020B0503020204020204" pitchFamily="34" charset="-122"/>
                <a:ea typeface="微软雅黑" panose="020B0503020204020204" pitchFamily="34" charset="-122"/>
              </a:rPr>
              <a:t>(SMP)</a:t>
            </a:r>
            <a:r>
              <a:rPr lang="zh-CN" altLang="en-US" sz="2800" b="1" dirty="0">
                <a:latin typeface="微软雅黑" panose="020B0503020204020204" pitchFamily="34" charset="-122"/>
                <a:ea typeface="微软雅黑" panose="020B0503020204020204" pitchFamily="34" charset="-122"/>
              </a:rPr>
              <a:t>。</a:t>
            </a:r>
          </a:p>
          <a:p>
            <a:pPr lvl="1">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高速交换网络</a:t>
            </a:r>
            <a:r>
              <a:rPr lang="zh-CN" altLang="en-US" sz="2800" b="1" dirty="0">
                <a:latin typeface="微软雅黑" panose="020B0503020204020204" pitchFamily="34" charset="-122"/>
                <a:ea typeface="微软雅黑" panose="020B0503020204020204" pitchFamily="34" charset="-122"/>
              </a:rPr>
              <a:t>。结点间的互连可以通过普通的商用网络</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如以太网、</a:t>
            </a:r>
            <a:r>
              <a:rPr lang="en-US" altLang="zh-CN" sz="2800" b="1" dirty="0">
                <a:latin typeface="微软雅黑" panose="020B0503020204020204" pitchFamily="34" charset="-122"/>
                <a:ea typeface="微软雅黑" panose="020B0503020204020204" pitchFamily="34" charset="-122"/>
              </a:rPr>
              <a:t>FDDI</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ATM</a:t>
            </a:r>
            <a:r>
              <a:rPr lang="zh-CN" altLang="en-US" sz="2800" b="1" dirty="0">
                <a:latin typeface="微软雅黑" panose="020B0503020204020204" pitchFamily="34" charset="-122"/>
                <a:ea typeface="微软雅黑" panose="020B0503020204020204" pitchFamily="34" charset="-122"/>
              </a:rPr>
              <a:t>等</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和使用标准的网络通信协议，也</a:t>
            </a:r>
            <a:r>
              <a:rPr lang="zh-CN" altLang="en-US" sz="2800" b="1" dirty="0" smtClean="0">
                <a:latin typeface="微软雅黑" panose="020B0503020204020204" pitchFamily="34" charset="-122"/>
                <a:ea typeface="微软雅黑" panose="020B0503020204020204" pitchFamily="34" charset="-122"/>
              </a:rPr>
              <a:t>可使用</a:t>
            </a:r>
            <a:r>
              <a:rPr lang="zh-CN" altLang="en-US" sz="2800" b="1" dirty="0">
                <a:latin typeface="微软雅黑" panose="020B0503020204020204" pitchFamily="34" charset="-122"/>
                <a:ea typeface="微软雅黑" panose="020B0503020204020204" pitchFamily="34" charset="-122"/>
              </a:rPr>
              <a:t>专门设计的网络。</a:t>
            </a:r>
          </a:p>
          <a:p>
            <a:pPr lvl="1">
              <a:lnSpc>
                <a:spcPct val="120000"/>
              </a:lnSpc>
            </a:pPr>
            <a:r>
              <a:rPr lang="zh-CN" altLang="en-US" sz="2800" b="1" dirty="0">
                <a:latin typeface="微软雅黑" panose="020B0503020204020204" pitchFamily="34" charset="-122"/>
                <a:ea typeface="微软雅黑" panose="020B0503020204020204" pitchFamily="34" charset="-122"/>
              </a:rPr>
              <a:t>具有较强</a:t>
            </a:r>
            <a:r>
              <a:rPr lang="zh-CN" altLang="en-US" sz="2800" b="1" dirty="0">
                <a:solidFill>
                  <a:srgbClr val="0000FF"/>
                </a:solidFill>
                <a:latin typeface="微软雅黑" panose="020B0503020204020204" pitchFamily="34" charset="-122"/>
                <a:ea typeface="微软雅黑" panose="020B0503020204020204" pitchFamily="34" charset="-122"/>
              </a:rPr>
              <a:t>网络功能的操作系统</a:t>
            </a:r>
            <a:r>
              <a:rPr lang="zh-CN" altLang="en-US" sz="2800" b="1" dirty="0">
                <a:latin typeface="微软雅黑" panose="020B0503020204020204" pitchFamily="34" charset="-122"/>
                <a:ea typeface="微软雅黑" panose="020B0503020204020204" pitchFamily="34" charset="-122"/>
              </a:rPr>
              <a:t>。</a:t>
            </a:r>
          </a:p>
          <a:p>
            <a:pPr marL="457200" lvl="1" indent="0">
              <a:lnSpc>
                <a:spcPct val="120000"/>
              </a:lnSpc>
              <a:buNone/>
            </a:pPr>
            <a:r>
              <a:rPr lang="zh-CN" altLang="en-US" sz="2800" b="1" dirty="0">
                <a:solidFill>
                  <a:srgbClr val="0000FF"/>
                </a:solidFill>
                <a:latin typeface="微软雅黑" panose="020B0503020204020204" pitchFamily="34" charset="-122"/>
                <a:ea typeface="微软雅黑" panose="020B0503020204020204" pitchFamily="34" charset="-122"/>
              </a:rPr>
              <a:t>机群中间件</a:t>
            </a:r>
            <a:r>
              <a:rPr lang="zh-CN" altLang="en-US" sz="2800" b="1" dirty="0">
                <a:latin typeface="微软雅黑" panose="020B0503020204020204" pitchFamily="34" charset="-122"/>
                <a:ea typeface="微软雅黑" panose="020B0503020204020204" pitchFamily="34" charset="-122"/>
              </a:rPr>
              <a:t>。支持分布共享存储器及为用户提供单一系统映象的资源管理和调度软件等。 </a:t>
            </a:r>
          </a:p>
          <a:p>
            <a:pPr lvl="1">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并行程序设计环境与工具</a:t>
            </a:r>
            <a:r>
              <a:rPr lang="zh-CN" altLang="en-US" sz="2800" b="1" dirty="0">
                <a:latin typeface="微软雅黑" panose="020B0503020204020204" pitchFamily="34" charset="-122"/>
                <a:ea typeface="微软雅黑" panose="020B0503020204020204" pitchFamily="34" charset="-122"/>
              </a:rPr>
              <a:t>，如编译器、语言环境、并行虚拟机（</a:t>
            </a:r>
            <a:r>
              <a:rPr lang="en-US" altLang="zh-CN" sz="2800" b="1" dirty="0">
                <a:latin typeface="微软雅黑" panose="020B0503020204020204" pitchFamily="34" charset="-122"/>
                <a:ea typeface="微软雅黑" panose="020B0503020204020204" pitchFamily="34" charset="-122"/>
              </a:rPr>
              <a:t>PVM</a:t>
            </a:r>
            <a:r>
              <a:rPr lang="zh-CN" altLang="en-US" sz="2800" b="1" dirty="0">
                <a:latin typeface="微软雅黑" panose="020B0503020204020204" pitchFamily="34" charset="-122"/>
                <a:ea typeface="微软雅黑" panose="020B0503020204020204" pitchFamily="34" charset="-122"/>
              </a:rPr>
              <a:t>）和消息传递接口（</a:t>
            </a:r>
            <a:r>
              <a:rPr lang="en-US" altLang="zh-CN" sz="2800" b="1" dirty="0">
                <a:latin typeface="微软雅黑" panose="020B0503020204020204" pitchFamily="34" charset="-122"/>
                <a:ea typeface="微软雅黑" panose="020B0503020204020204" pitchFamily="34" charset="-122"/>
              </a:rPr>
              <a:t>MPI</a:t>
            </a:r>
            <a:r>
              <a:rPr lang="zh-CN" altLang="en-US" sz="2800" b="1" dirty="0">
                <a:latin typeface="微软雅黑" panose="020B0503020204020204" pitchFamily="34" charset="-122"/>
                <a:ea typeface="微软雅黑" panose="020B0503020204020204" pitchFamily="34" charset="-122"/>
              </a:rPr>
              <a:t>）等。 </a:t>
            </a:r>
          </a:p>
          <a:p>
            <a:pPr lvl="1">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应用</a:t>
            </a:r>
            <a:r>
              <a:rPr lang="zh-CN" altLang="en-US" sz="2800" b="1" dirty="0">
                <a:latin typeface="微软雅黑" panose="020B0503020204020204" pitchFamily="34" charset="-122"/>
                <a:ea typeface="微软雅黑" panose="020B0503020204020204" pitchFamily="34" charset="-122"/>
              </a:rPr>
              <a:t>，包括串行和并行应用程序。</a:t>
            </a:r>
          </a:p>
        </p:txBody>
      </p:sp>
      <p:grpSp>
        <p:nvGrpSpPr>
          <p:cNvPr id="4" name="组合 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875773" y="258051"/>
            <a:ext cx="6051657" cy="633187"/>
          </a:xfrm>
          <a:prstGeom prst="rect">
            <a:avLst/>
          </a:prstGeom>
        </p:spPr>
        <p:txBody>
          <a:bodyPr wrap="none">
            <a:spAutoFit/>
          </a:bodyPr>
          <a:lstStyle/>
          <a:p>
            <a:pPr>
              <a:lnSpc>
                <a:spcPct val="120000"/>
              </a:lnSpc>
            </a:pPr>
            <a:r>
              <a:rPr lang="zh-CN" altLang="en-US" sz="3200" b="1" dirty="0">
                <a:latin typeface="微软雅黑" panose="020B0503020204020204" pitchFamily="34" charset="-122"/>
                <a:ea typeface="微软雅黑" panose="020B0503020204020204" pitchFamily="34" charset="-122"/>
                <a:cs typeface="+mj-cs"/>
              </a:rPr>
              <a:t>机群系统中主要包括下列组件： </a:t>
            </a:r>
          </a:p>
        </p:txBody>
      </p:sp>
    </p:spTree>
    <p:extLst>
      <p:ext uri="{BB962C8B-B14F-4D97-AF65-F5344CB8AC3E}">
        <p14:creationId xmlns:p14="http://schemas.microsoft.com/office/powerpoint/2010/main" val="432355961"/>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8" name="Rectangle 8"/>
          <p:cNvSpPr>
            <a:spLocks noGrp="1" noChangeArrowheads="1"/>
          </p:cNvSpPr>
          <p:nvPr>
            <p:ph type="title"/>
          </p:nvPr>
        </p:nvSpPr>
        <p:spPr>
          <a:xfrm>
            <a:off x="875773" y="-38111"/>
            <a:ext cx="10515600" cy="1325563"/>
          </a:xfrm>
        </p:spPr>
        <p:txBody>
          <a:bodyPr/>
          <a:lstStyle/>
          <a:p>
            <a:pPr algn="l"/>
            <a:r>
              <a:rPr lang="zh-CN" altLang="en-US" sz="3200" b="1" dirty="0">
                <a:latin typeface="微软雅黑" panose="020B0503020204020204" pitchFamily="34" charset="-122"/>
                <a:ea typeface="微软雅黑" panose="020B0503020204020204" pitchFamily="34" charset="-122"/>
              </a:rPr>
              <a:t>机群系统的组成</a:t>
            </a:r>
            <a:endParaRPr lang="en-US" altLang="zh-CN" sz="3200" b="1" dirty="0">
              <a:latin typeface="微软雅黑" panose="020B0503020204020204" pitchFamily="34" charset="-122"/>
              <a:ea typeface="微软雅黑" panose="020B0503020204020204" pitchFamily="34" charset="-122"/>
            </a:endParaRPr>
          </a:p>
        </p:txBody>
      </p:sp>
      <p:sp>
        <p:nvSpPr>
          <p:cNvPr id="168970" name="Text Box 10"/>
          <p:cNvSpPr txBox="1">
            <a:spLocks noChangeArrowheads="1"/>
          </p:cNvSpPr>
          <p:nvPr/>
        </p:nvSpPr>
        <p:spPr bwMode="auto">
          <a:xfrm>
            <a:off x="3935414" y="6353882"/>
            <a:ext cx="41052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2400" b="1" dirty="0">
                <a:latin typeface="微软雅黑" panose="020B0503020204020204" pitchFamily="34" charset="-122"/>
                <a:ea typeface="微软雅黑" panose="020B0503020204020204" pitchFamily="34" charset="-122"/>
              </a:rPr>
              <a:t>机群系统组成结构图 </a:t>
            </a:r>
          </a:p>
        </p:txBody>
      </p:sp>
      <p:pic>
        <p:nvPicPr>
          <p:cNvPr id="3" name="图片 2"/>
          <p:cNvPicPr>
            <a:picLocks noChangeAspect="1"/>
          </p:cNvPicPr>
          <p:nvPr/>
        </p:nvPicPr>
        <p:blipFill>
          <a:blip r:embed="rId3"/>
          <a:stretch>
            <a:fillRect/>
          </a:stretch>
        </p:blipFill>
        <p:spPr>
          <a:xfrm>
            <a:off x="1290841" y="711550"/>
            <a:ext cx="9162501" cy="5642332"/>
          </a:xfrm>
          <a:prstGeom prst="rect">
            <a:avLst/>
          </a:prstGeom>
        </p:spPr>
      </p:pic>
      <p:grpSp>
        <p:nvGrpSpPr>
          <p:cNvPr id="5" name="组合 4"/>
          <p:cNvGrpSpPr/>
          <p:nvPr/>
        </p:nvGrpSpPr>
        <p:grpSpPr>
          <a:xfrm>
            <a:off x="265635" y="269251"/>
            <a:ext cx="438352" cy="621987"/>
            <a:chOff x="265635" y="269251"/>
            <a:chExt cx="438352" cy="621987"/>
          </a:xfrm>
        </p:grpSpPr>
        <p:sp>
          <p:nvSpPr>
            <p:cNvPr id="6"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735017681"/>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84365"/>
            <a:ext cx="5974331" cy="683222"/>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b="1" dirty="0">
                <a:latin typeface="微软雅黑" panose="020B0503020204020204" pitchFamily="34" charset="-122"/>
                <a:ea typeface="微软雅黑" panose="020B0503020204020204" pitchFamily="34" charset="-122"/>
              </a:rPr>
              <a:t>多核处理器产生的背景</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9" name="Oval 7"/>
          <p:cNvSpPr>
            <a:spLocks noChangeArrowheads="1"/>
          </p:cNvSpPr>
          <p:nvPr/>
        </p:nvSpPr>
        <p:spPr bwMode="auto">
          <a:xfrm>
            <a:off x="2255224" y="2617926"/>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6"/>
          <p:cNvSpPr>
            <a:spLocks noChangeArrowheads="1"/>
          </p:cNvSpPr>
          <p:nvPr/>
        </p:nvSpPr>
        <p:spPr bwMode="auto">
          <a:xfrm>
            <a:off x="1739487" y="1424589"/>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3"/>
          <p:cNvSpPr>
            <a:spLocks/>
          </p:cNvSpPr>
          <p:nvPr/>
        </p:nvSpPr>
        <p:spPr bwMode="auto">
          <a:xfrm>
            <a:off x="2299655" y="1918109"/>
            <a:ext cx="30151" cy="3174"/>
          </a:xfrm>
          <a:custGeom>
            <a:avLst/>
            <a:gdLst>
              <a:gd name="T0" fmla="*/ 0 w 43"/>
              <a:gd name="T1" fmla="*/ 0 h 5"/>
              <a:gd name="T2" fmla="*/ 1 w 43"/>
              <a:gd name="T3" fmla="*/ 5 h 5"/>
              <a:gd name="T4" fmla="*/ 43 w 43"/>
              <a:gd name="T5" fmla="*/ 3 h 5"/>
              <a:gd name="T6" fmla="*/ 0 w 43"/>
              <a:gd name="T7" fmla="*/ 0 h 5"/>
            </a:gdLst>
            <a:ahLst/>
            <a:cxnLst>
              <a:cxn ang="0">
                <a:pos x="T0" y="T1"/>
              </a:cxn>
              <a:cxn ang="0">
                <a:pos x="T2" y="T3"/>
              </a:cxn>
              <a:cxn ang="0">
                <a:pos x="T4" y="T5"/>
              </a:cxn>
              <a:cxn ang="0">
                <a:pos x="T6" y="T7"/>
              </a:cxn>
            </a:cxnLst>
            <a:rect l="0" t="0" r="r" b="b"/>
            <a:pathLst>
              <a:path w="43" h="5">
                <a:moveTo>
                  <a:pt x="0" y="0"/>
                </a:moveTo>
                <a:lnTo>
                  <a:pt x="1" y="5"/>
                </a:lnTo>
                <a:lnTo>
                  <a:pt x="4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Oval 9"/>
          <p:cNvSpPr>
            <a:spLocks noChangeArrowheads="1"/>
          </p:cNvSpPr>
          <p:nvPr/>
        </p:nvSpPr>
        <p:spPr bwMode="auto">
          <a:xfrm>
            <a:off x="2255224" y="4073090"/>
            <a:ext cx="831525" cy="831526"/>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3" name="Oval 8"/>
          <p:cNvSpPr>
            <a:spLocks noChangeArrowheads="1"/>
          </p:cNvSpPr>
          <p:nvPr/>
        </p:nvSpPr>
        <p:spPr bwMode="auto">
          <a:xfrm>
            <a:off x="1729515" y="5412311"/>
            <a:ext cx="831525" cy="829939"/>
          </a:xfrm>
          <a:prstGeom prst="ellipse">
            <a:avLst/>
          </a:pr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6" name="Oval 5"/>
          <p:cNvSpPr>
            <a:spLocks noChangeArrowheads="1"/>
          </p:cNvSpPr>
          <p:nvPr/>
        </p:nvSpPr>
        <p:spPr bwMode="auto">
          <a:xfrm>
            <a:off x="265635" y="2671717"/>
            <a:ext cx="1800482" cy="1800480"/>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6" name="Freeform 5"/>
          <p:cNvSpPr>
            <a:spLocks noEditPoints="1"/>
          </p:cNvSpPr>
          <p:nvPr/>
        </p:nvSpPr>
        <p:spPr bwMode="auto">
          <a:xfrm>
            <a:off x="703987" y="3038095"/>
            <a:ext cx="927140" cy="1175561"/>
          </a:xfrm>
          <a:custGeom>
            <a:avLst/>
            <a:gdLst>
              <a:gd name="T0" fmla="*/ 622 w 794"/>
              <a:gd name="T1" fmla="*/ 491 h 1018"/>
              <a:gd name="T2" fmla="*/ 481 w 794"/>
              <a:gd name="T3" fmla="*/ 612 h 1018"/>
              <a:gd name="T4" fmla="*/ 667 w 794"/>
              <a:gd name="T5" fmla="*/ 641 h 1018"/>
              <a:gd name="T6" fmla="*/ 672 w 794"/>
              <a:gd name="T7" fmla="*/ 487 h 1018"/>
              <a:gd name="T8" fmla="*/ 794 w 794"/>
              <a:gd name="T9" fmla="*/ 420 h 1018"/>
              <a:gd name="T10" fmla="*/ 747 w 794"/>
              <a:gd name="T11" fmla="*/ 487 h 1018"/>
              <a:gd name="T12" fmla="*/ 713 w 794"/>
              <a:gd name="T13" fmla="*/ 679 h 1018"/>
              <a:gd name="T14" fmla="*/ 631 w 794"/>
              <a:gd name="T15" fmla="*/ 709 h 1018"/>
              <a:gd name="T16" fmla="*/ 442 w 794"/>
              <a:gd name="T17" fmla="*/ 719 h 1018"/>
              <a:gd name="T18" fmla="*/ 627 w 794"/>
              <a:gd name="T19" fmla="*/ 911 h 1018"/>
              <a:gd name="T20" fmla="*/ 659 w 794"/>
              <a:gd name="T21" fmla="*/ 971 h 1018"/>
              <a:gd name="T22" fmla="*/ 565 w 794"/>
              <a:gd name="T23" fmla="*/ 971 h 1018"/>
              <a:gd name="T24" fmla="*/ 428 w 794"/>
              <a:gd name="T25" fmla="*/ 906 h 1018"/>
              <a:gd name="T26" fmla="*/ 456 w 794"/>
              <a:gd name="T27" fmla="*/ 971 h 1018"/>
              <a:gd name="T28" fmla="*/ 361 w 794"/>
              <a:gd name="T29" fmla="*/ 971 h 1018"/>
              <a:gd name="T30" fmla="*/ 381 w 794"/>
              <a:gd name="T31" fmla="*/ 905 h 1018"/>
              <a:gd name="T32" fmla="*/ 243 w 794"/>
              <a:gd name="T33" fmla="*/ 971 h 1018"/>
              <a:gd name="T34" fmla="*/ 148 w 794"/>
              <a:gd name="T35" fmla="*/ 971 h 1018"/>
              <a:gd name="T36" fmla="*/ 173 w 794"/>
              <a:gd name="T37" fmla="*/ 911 h 1018"/>
              <a:gd name="T38" fmla="*/ 346 w 794"/>
              <a:gd name="T39" fmla="*/ 719 h 1018"/>
              <a:gd name="T40" fmla="*/ 154 w 794"/>
              <a:gd name="T41" fmla="*/ 706 h 1018"/>
              <a:gd name="T42" fmla="*/ 81 w 794"/>
              <a:gd name="T43" fmla="*/ 679 h 1018"/>
              <a:gd name="T44" fmla="*/ 47 w 794"/>
              <a:gd name="T45" fmla="*/ 487 h 1018"/>
              <a:gd name="T46" fmla="*/ 0 w 794"/>
              <a:gd name="T47" fmla="*/ 420 h 1018"/>
              <a:gd name="T48" fmla="*/ 122 w 794"/>
              <a:gd name="T49" fmla="*/ 487 h 1018"/>
              <a:gd name="T50" fmla="*/ 127 w 794"/>
              <a:gd name="T51" fmla="*/ 641 h 1018"/>
              <a:gd name="T52" fmla="*/ 316 w 794"/>
              <a:gd name="T53" fmla="*/ 611 h 1018"/>
              <a:gd name="T54" fmla="*/ 168 w 794"/>
              <a:gd name="T55" fmla="*/ 491 h 1018"/>
              <a:gd name="T56" fmla="*/ 591 w 794"/>
              <a:gd name="T57" fmla="*/ 126 h 1018"/>
              <a:gd name="T58" fmla="*/ 494 w 794"/>
              <a:gd name="T59" fmla="*/ 168 h 1018"/>
              <a:gd name="T60" fmla="*/ 297 w 794"/>
              <a:gd name="T61" fmla="*/ 194 h 1018"/>
              <a:gd name="T62" fmla="*/ 287 w 794"/>
              <a:gd name="T63" fmla="*/ 273 h 1018"/>
              <a:gd name="T64" fmla="*/ 504 w 794"/>
              <a:gd name="T65" fmla="*/ 299 h 1018"/>
              <a:gd name="T66" fmla="*/ 287 w 794"/>
              <a:gd name="T67" fmla="*/ 273 h 1018"/>
              <a:gd name="T68" fmla="*/ 514 w 794"/>
              <a:gd name="T69" fmla="*/ 383 h 1018"/>
              <a:gd name="T70" fmla="*/ 277 w 794"/>
              <a:gd name="T71" fmla="*/ 409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4" h="1018">
                <a:moveTo>
                  <a:pt x="591" y="126"/>
                </a:moveTo>
                <a:cubicBezTo>
                  <a:pt x="601" y="248"/>
                  <a:pt x="611" y="370"/>
                  <a:pt x="622" y="491"/>
                </a:cubicBezTo>
                <a:cubicBezTo>
                  <a:pt x="607" y="518"/>
                  <a:pt x="550" y="536"/>
                  <a:pt x="481" y="544"/>
                </a:cubicBezTo>
                <a:lnTo>
                  <a:pt x="481" y="612"/>
                </a:lnTo>
                <a:cubicBezTo>
                  <a:pt x="548" y="619"/>
                  <a:pt x="604" y="634"/>
                  <a:pt x="624" y="657"/>
                </a:cubicBezTo>
                <a:lnTo>
                  <a:pt x="667" y="641"/>
                </a:lnTo>
                <a:lnTo>
                  <a:pt x="695" y="487"/>
                </a:lnTo>
                <a:lnTo>
                  <a:pt x="672" y="487"/>
                </a:lnTo>
                <a:lnTo>
                  <a:pt x="654" y="420"/>
                </a:lnTo>
                <a:lnTo>
                  <a:pt x="794" y="420"/>
                </a:lnTo>
                <a:lnTo>
                  <a:pt x="776" y="487"/>
                </a:lnTo>
                <a:lnTo>
                  <a:pt x="747" y="487"/>
                </a:lnTo>
                <a:lnTo>
                  <a:pt x="715" y="665"/>
                </a:lnTo>
                <a:lnTo>
                  <a:pt x="713" y="679"/>
                </a:lnTo>
                <a:lnTo>
                  <a:pt x="699" y="684"/>
                </a:lnTo>
                <a:lnTo>
                  <a:pt x="631" y="709"/>
                </a:lnTo>
                <a:lnTo>
                  <a:pt x="631" y="719"/>
                </a:lnTo>
                <a:lnTo>
                  <a:pt x="442" y="719"/>
                </a:lnTo>
                <a:lnTo>
                  <a:pt x="442" y="866"/>
                </a:lnTo>
                <a:cubicBezTo>
                  <a:pt x="504" y="871"/>
                  <a:pt x="565" y="887"/>
                  <a:pt x="627" y="911"/>
                </a:cubicBezTo>
                <a:lnTo>
                  <a:pt x="621" y="925"/>
                </a:lnTo>
                <a:cubicBezTo>
                  <a:pt x="643" y="929"/>
                  <a:pt x="659" y="948"/>
                  <a:pt x="659" y="971"/>
                </a:cubicBezTo>
                <a:cubicBezTo>
                  <a:pt x="659" y="997"/>
                  <a:pt x="638" y="1018"/>
                  <a:pt x="612" y="1018"/>
                </a:cubicBezTo>
                <a:cubicBezTo>
                  <a:pt x="586" y="1018"/>
                  <a:pt x="565" y="997"/>
                  <a:pt x="565" y="971"/>
                </a:cubicBezTo>
                <a:cubicBezTo>
                  <a:pt x="565" y="958"/>
                  <a:pt x="570" y="946"/>
                  <a:pt x="579" y="938"/>
                </a:cubicBezTo>
                <a:cubicBezTo>
                  <a:pt x="528" y="920"/>
                  <a:pt x="478" y="910"/>
                  <a:pt x="428" y="906"/>
                </a:cubicBezTo>
                <a:lnTo>
                  <a:pt x="430" y="929"/>
                </a:lnTo>
                <a:cubicBezTo>
                  <a:pt x="445" y="937"/>
                  <a:pt x="456" y="953"/>
                  <a:pt x="456" y="971"/>
                </a:cubicBezTo>
                <a:cubicBezTo>
                  <a:pt x="456" y="997"/>
                  <a:pt x="434" y="1018"/>
                  <a:pt x="408" y="1018"/>
                </a:cubicBezTo>
                <a:cubicBezTo>
                  <a:pt x="382" y="1018"/>
                  <a:pt x="361" y="997"/>
                  <a:pt x="361" y="971"/>
                </a:cubicBezTo>
                <a:cubicBezTo>
                  <a:pt x="361" y="954"/>
                  <a:pt x="370" y="940"/>
                  <a:pt x="383" y="931"/>
                </a:cubicBezTo>
                <a:lnTo>
                  <a:pt x="381" y="905"/>
                </a:lnTo>
                <a:cubicBezTo>
                  <a:pt x="330" y="907"/>
                  <a:pt x="278" y="916"/>
                  <a:pt x="226" y="935"/>
                </a:cubicBezTo>
                <a:cubicBezTo>
                  <a:pt x="236" y="943"/>
                  <a:pt x="243" y="956"/>
                  <a:pt x="243" y="971"/>
                </a:cubicBezTo>
                <a:cubicBezTo>
                  <a:pt x="243" y="997"/>
                  <a:pt x="222" y="1018"/>
                  <a:pt x="196" y="1018"/>
                </a:cubicBezTo>
                <a:cubicBezTo>
                  <a:pt x="170" y="1018"/>
                  <a:pt x="148" y="997"/>
                  <a:pt x="148" y="971"/>
                </a:cubicBezTo>
                <a:cubicBezTo>
                  <a:pt x="148" y="950"/>
                  <a:pt x="162" y="933"/>
                  <a:pt x="180" y="927"/>
                </a:cubicBezTo>
                <a:lnTo>
                  <a:pt x="173" y="911"/>
                </a:lnTo>
                <a:cubicBezTo>
                  <a:pt x="231" y="886"/>
                  <a:pt x="288" y="871"/>
                  <a:pt x="346" y="866"/>
                </a:cubicBezTo>
                <a:lnTo>
                  <a:pt x="346" y="719"/>
                </a:lnTo>
                <a:lnTo>
                  <a:pt x="154" y="719"/>
                </a:lnTo>
                <a:lnTo>
                  <a:pt x="154" y="706"/>
                </a:lnTo>
                <a:lnTo>
                  <a:pt x="95" y="684"/>
                </a:lnTo>
                <a:lnTo>
                  <a:pt x="81" y="679"/>
                </a:lnTo>
                <a:lnTo>
                  <a:pt x="78" y="665"/>
                </a:lnTo>
                <a:lnTo>
                  <a:pt x="47" y="487"/>
                </a:lnTo>
                <a:lnTo>
                  <a:pt x="17" y="487"/>
                </a:lnTo>
                <a:lnTo>
                  <a:pt x="0" y="420"/>
                </a:lnTo>
                <a:lnTo>
                  <a:pt x="139" y="420"/>
                </a:lnTo>
                <a:lnTo>
                  <a:pt x="122" y="487"/>
                </a:lnTo>
                <a:lnTo>
                  <a:pt x="99" y="487"/>
                </a:lnTo>
                <a:lnTo>
                  <a:pt x="127" y="641"/>
                </a:lnTo>
                <a:lnTo>
                  <a:pt x="163" y="654"/>
                </a:lnTo>
                <a:cubicBezTo>
                  <a:pt x="186" y="631"/>
                  <a:pt x="246" y="617"/>
                  <a:pt x="316" y="611"/>
                </a:cubicBezTo>
                <a:lnTo>
                  <a:pt x="316" y="546"/>
                </a:lnTo>
                <a:cubicBezTo>
                  <a:pt x="240" y="539"/>
                  <a:pt x="178" y="521"/>
                  <a:pt x="168" y="491"/>
                </a:cubicBezTo>
                <a:cubicBezTo>
                  <a:pt x="178" y="370"/>
                  <a:pt x="189" y="248"/>
                  <a:pt x="199" y="126"/>
                </a:cubicBezTo>
                <a:cubicBezTo>
                  <a:pt x="219" y="6"/>
                  <a:pt x="561" y="0"/>
                  <a:pt x="591" y="126"/>
                </a:cubicBezTo>
                <a:close/>
                <a:moveTo>
                  <a:pt x="297" y="168"/>
                </a:moveTo>
                <a:lnTo>
                  <a:pt x="494" y="168"/>
                </a:lnTo>
                <a:lnTo>
                  <a:pt x="494" y="194"/>
                </a:lnTo>
                <a:lnTo>
                  <a:pt x="297" y="194"/>
                </a:lnTo>
                <a:lnTo>
                  <a:pt x="297" y="168"/>
                </a:lnTo>
                <a:close/>
                <a:moveTo>
                  <a:pt x="287" y="273"/>
                </a:moveTo>
                <a:lnTo>
                  <a:pt x="504" y="273"/>
                </a:lnTo>
                <a:lnTo>
                  <a:pt x="504" y="299"/>
                </a:lnTo>
                <a:lnTo>
                  <a:pt x="287" y="299"/>
                </a:lnTo>
                <a:lnTo>
                  <a:pt x="287" y="273"/>
                </a:lnTo>
                <a:close/>
                <a:moveTo>
                  <a:pt x="277" y="383"/>
                </a:moveTo>
                <a:lnTo>
                  <a:pt x="514" y="383"/>
                </a:lnTo>
                <a:lnTo>
                  <a:pt x="514" y="409"/>
                </a:lnTo>
                <a:lnTo>
                  <a:pt x="277" y="409"/>
                </a:lnTo>
                <a:lnTo>
                  <a:pt x="277" y="383"/>
                </a:ln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7" name="TextBox 36"/>
          <p:cNvSpPr txBox="1"/>
          <p:nvPr/>
        </p:nvSpPr>
        <p:spPr>
          <a:xfrm>
            <a:off x="1835416" y="1548080"/>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39" name="TextBox 38"/>
          <p:cNvSpPr txBox="1"/>
          <p:nvPr/>
        </p:nvSpPr>
        <p:spPr>
          <a:xfrm>
            <a:off x="2339716" y="2745792"/>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40" name="TextBox 39"/>
          <p:cNvSpPr txBox="1"/>
          <p:nvPr/>
        </p:nvSpPr>
        <p:spPr>
          <a:xfrm>
            <a:off x="2323956" y="4179894"/>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03</a:t>
            </a:r>
            <a:endParaRPr lang="zh-CN" altLang="en-US" sz="3199" b="1" dirty="0">
              <a:solidFill>
                <a:schemeClr val="bg1"/>
              </a:solidFill>
              <a:latin typeface="微软雅黑" pitchFamily="34" charset="-122"/>
              <a:ea typeface="微软雅黑" pitchFamily="34" charset="-122"/>
            </a:endParaRPr>
          </a:p>
        </p:txBody>
      </p:sp>
      <p:sp>
        <p:nvSpPr>
          <p:cNvPr id="41" name="TextBox 40"/>
          <p:cNvSpPr txBox="1"/>
          <p:nvPr/>
        </p:nvSpPr>
        <p:spPr>
          <a:xfrm>
            <a:off x="1809684" y="5529841"/>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04</a:t>
            </a:r>
            <a:endParaRPr lang="zh-CN" altLang="en-US" sz="3199" b="1" dirty="0">
              <a:solidFill>
                <a:schemeClr val="bg1"/>
              </a:solidFill>
              <a:latin typeface="微软雅黑" pitchFamily="34" charset="-122"/>
              <a:ea typeface="微软雅黑" pitchFamily="34" charset="-122"/>
            </a:endParaRPr>
          </a:p>
        </p:txBody>
      </p:sp>
      <p:sp>
        <p:nvSpPr>
          <p:cNvPr id="38"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8" name="矩形 7"/>
          <p:cNvSpPr/>
          <p:nvPr/>
        </p:nvSpPr>
        <p:spPr>
          <a:xfrm>
            <a:off x="2794045" y="1256421"/>
            <a:ext cx="8525301"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过去：</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设计者主要通过</a:t>
            </a:r>
            <a:r>
              <a:rPr lang="zh-CN" altLang="en-US" sz="2800" b="1" dirty="0">
                <a:solidFill>
                  <a:srgbClr val="0000FF"/>
                </a:solidFill>
                <a:latin typeface="微软雅黑" panose="020B0503020204020204" pitchFamily="34" charset="-122"/>
                <a:ea typeface="微软雅黑" panose="020B0503020204020204" pitchFamily="34" charset="-122"/>
              </a:rPr>
              <a:t>提高时钟速度</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优化指令执行</a:t>
            </a:r>
            <a:r>
              <a:rPr lang="zh-CN" altLang="en-US" sz="2800" b="1" dirty="0">
                <a:latin typeface="微软雅黑" panose="020B0503020204020204" pitchFamily="34" charset="-122"/>
                <a:ea typeface="微软雅黑" panose="020B0503020204020204" pitchFamily="34" charset="-122"/>
              </a:rPr>
              <a:t>和</a:t>
            </a:r>
            <a:r>
              <a:rPr lang="zh-CN" altLang="en-US" sz="2800" b="1" dirty="0">
                <a:solidFill>
                  <a:srgbClr val="0000FF"/>
                </a:solidFill>
                <a:latin typeface="微软雅黑" panose="020B0503020204020204" pitchFamily="34" charset="-122"/>
                <a:ea typeface="微软雅黑" panose="020B0503020204020204" pitchFamily="34" charset="-122"/>
              </a:rPr>
              <a:t>增大片内高速缓存</a:t>
            </a:r>
            <a:r>
              <a:rPr lang="zh-CN" altLang="en-US" sz="2800" b="1" dirty="0">
                <a:latin typeface="微软雅黑" panose="020B0503020204020204" pitchFamily="34" charset="-122"/>
                <a:ea typeface="微软雅黑" panose="020B0503020204020204" pitchFamily="34" charset="-122"/>
              </a:rPr>
              <a:t>三个方面来提高</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性能。</a:t>
            </a:r>
            <a:endParaRPr lang="en-US" altLang="zh-CN" sz="2800" b="1" dirty="0">
              <a:latin typeface="微软雅黑" panose="020B0503020204020204" pitchFamily="34" charset="-122"/>
              <a:ea typeface="微软雅黑" panose="020B0503020204020204" pitchFamily="34" charset="-122"/>
            </a:endParaRPr>
          </a:p>
        </p:txBody>
      </p:sp>
      <p:sp>
        <p:nvSpPr>
          <p:cNvPr id="10" name="矩形 9"/>
          <p:cNvSpPr/>
          <p:nvPr/>
        </p:nvSpPr>
        <p:spPr>
          <a:xfrm>
            <a:off x="3275856" y="2575101"/>
            <a:ext cx="8538538"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瓶颈问题：降低功耗和设计复杂度、提升晶体管数量但同时要解决散热、流水提升带来的负面问题</a:t>
            </a:r>
            <a:r>
              <a:rPr lang="en-US" altLang="zh-CN" sz="2800" b="1" dirty="0">
                <a:latin typeface="微软雅黑" panose="020B0503020204020204" pitchFamily="34" charset="-122"/>
                <a:ea typeface="微软雅黑" panose="020B0503020204020204" pitchFamily="34" charset="-122"/>
              </a:rPr>
              <a:t>……</a:t>
            </a:r>
          </a:p>
        </p:txBody>
      </p:sp>
      <p:sp>
        <p:nvSpPr>
          <p:cNvPr id="11" name="矩形 10"/>
          <p:cNvSpPr/>
          <p:nvPr/>
        </p:nvSpPr>
        <p:spPr>
          <a:xfrm>
            <a:off x="3275856" y="4073090"/>
            <a:ext cx="8353006"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可行办法：</a:t>
            </a:r>
            <a:r>
              <a:rPr lang="en-US" altLang="zh-CN" sz="2800" b="1" dirty="0">
                <a:latin typeface="微软雅黑" panose="020B0503020204020204" pitchFamily="34" charset="-122"/>
                <a:ea typeface="微软雅黑" panose="020B0503020204020204" pitchFamily="34" charset="-122"/>
              </a:rPr>
              <a:t>CMP</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Chip Multi-</a:t>
            </a:r>
            <a:r>
              <a:rPr lang="en-US" altLang="zh-CN" sz="2800" b="1" dirty="0" err="1">
                <a:latin typeface="微软雅黑" panose="020B0503020204020204" pitchFamily="34" charset="-122"/>
                <a:ea typeface="微软雅黑" panose="020B0503020204020204" pitchFamily="34" charset="-122"/>
              </a:rPr>
              <a:t>Processre</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多核</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架构，即</a:t>
            </a:r>
            <a:r>
              <a:rPr lang="zh-CN" altLang="en-US" sz="2800" b="1" dirty="0">
                <a:solidFill>
                  <a:srgbClr val="0000FF"/>
                </a:solidFill>
                <a:latin typeface="微软雅黑" panose="020B0503020204020204" pitchFamily="34" charset="-122"/>
                <a:ea typeface="微软雅黑" panose="020B0503020204020204" pitchFamily="34" charset="-122"/>
              </a:rPr>
              <a:t>一颗芯片内集成多个处理器核</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p:txBody>
      </p:sp>
      <p:sp>
        <p:nvSpPr>
          <p:cNvPr id="12" name="矩形 11"/>
          <p:cNvSpPr/>
          <p:nvPr/>
        </p:nvSpPr>
        <p:spPr>
          <a:xfrm>
            <a:off x="2895878" y="5354038"/>
            <a:ext cx="8732984"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比如，英特尔</a:t>
            </a: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酷睿™ </a:t>
            </a:r>
            <a:r>
              <a:rPr lang="en-US" altLang="zh-CN" sz="2800" b="1" dirty="0">
                <a:latin typeface="微软雅黑" panose="020B0503020204020204" pitchFamily="34" charset="-122"/>
                <a:ea typeface="微软雅黑" panose="020B0503020204020204" pitchFamily="34" charset="-122"/>
              </a:rPr>
              <a:t>i7-7920HQ </a:t>
            </a:r>
            <a:r>
              <a:rPr lang="zh-CN" altLang="en-US" sz="2800" b="1" dirty="0">
                <a:latin typeface="微软雅黑" panose="020B0503020204020204" pitchFamily="34" charset="-122"/>
                <a:ea typeface="微软雅黑" panose="020B0503020204020204" pitchFamily="34" charset="-122"/>
              </a:rPr>
              <a:t>处理器，内核数：</a:t>
            </a:r>
            <a:r>
              <a:rPr lang="en-US" altLang="zh-CN" sz="2800" b="1" dirty="0">
                <a:latin typeface="微软雅黑" panose="020B0503020204020204" pitchFamily="34" charset="-122"/>
                <a:ea typeface="微软雅黑" panose="020B0503020204020204" pitchFamily="34" charset="-122"/>
              </a:rPr>
              <a:t>4</a:t>
            </a:r>
            <a:r>
              <a:rPr lang="zh-CN" altLang="en-US" sz="2800" b="1" dirty="0">
                <a:latin typeface="微软雅黑" panose="020B0503020204020204" pitchFamily="34" charset="-122"/>
                <a:ea typeface="微软雅黑" panose="020B0503020204020204" pitchFamily="34" charset="-122"/>
              </a:rPr>
              <a:t>，线程数：</a:t>
            </a:r>
            <a:r>
              <a:rPr lang="en-US" altLang="zh-CN" sz="2800" b="1" dirty="0">
                <a:latin typeface="微软雅黑" panose="020B0503020204020204" pitchFamily="34" charset="-122"/>
                <a:ea typeface="微软雅黑" panose="020B0503020204020204" pitchFamily="34" charset="-122"/>
              </a:rPr>
              <a:t>8</a:t>
            </a:r>
            <a:r>
              <a:rPr lang="zh-CN" altLang="en-US" sz="2800" b="1" dirty="0">
                <a:latin typeface="微软雅黑" panose="020B0503020204020204" pitchFamily="34" charset="-122"/>
                <a:ea typeface="微软雅黑" panose="020B0503020204020204" pitchFamily="34" charset="-122"/>
              </a:rPr>
              <a:t>，缓存：</a:t>
            </a:r>
            <a:r>
              <a:rPr lang="en-US" altLang="zh-CN" sz="2800" b="1" dirty="0">
                <a:latin typeface="微软雅黑" panose="020B0503020204020204" pitchFamily="34" charset="-122"/>
                <a:ea typeface="微软雅黑" panose="020B0503020204020204" pitchFamily="34" charset="-122"/>
              </a:rPr>
              <a:t>8M</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81021537"/>
      </p:ext>
    </p:extLst>
  </p:cSld>
  <p:clrMapOvr>
    <a:masterClrMapping/>
  </p:clrMapOvr>
  <mc:AlternateContent xmlns:mc="http://schemas.openxmlformats.org/markup-compatibility/2006" xmlns:p14="http://schemas.microsoft.com/office/powerpoint/2010/main">
    <mc:Choice Requires="p14">
      <p:transition spd="slow" advTm="9389">
        <p14:conveyor dir="l"/>
      </p:transition>
    </mc:Choice>
    <mc:Fallback xmlns="">
      <p:transition spd="slow" advTm="9389">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8327" y="471828"/>
            <a:ext cx="10937553" cy="4337756"/>
          </a:xfrm>
        </p:spPr>
        <p:txBody>
          <a:bodyPr>
            <a:noAutofit/>
          </a:bodyPr>
          <a:lstStyle/>
          <a:p>
            <a:pPr>
              <a:lnSpc>
                <a:spcPct val="120000"/>
              </a:lnSpc>
            </a:pPr>
            <a:r>
              <a:rPr lang="zh-CN" altLang="en-US" b="1" dirty="0">
                <a:latin typeface="微软雅黑" panose="020B0503020204020204" pitchFamily="34" charset="-122"/>
                <a:ea typeface="微软雅黑" panose="020B0503020204020204" pitchFamily="34" charset="-122"/>
              </a:rPr>
              <a:t>多核处理器也称为片上多处理器</a:t>
            </a:r>
            <a:r>
              <a:rPr lang="en-US" altLang="zh-CN" b="1" dirty="0">
                <a:latin typeface="微软雅黑" panose="020B0503020204020204" pitchFamily="34" charset="-122"/>
                <a:ea typeface="微软雅黑" panose="020B0503020204020204" pitchFamily="34" charset="-122"/>
              </a:rPr>
              <a:t>(Chip Multi-Processor</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CMP)</a:t>
            </a:r>
            <a:r>
              <a:rPr lang="zh-CN" altLang="en-US" b="1" dirty="0">
                <a:latin typeface="微软雅黑" panose="020B0503020204020204" pitchFamily="34" charset="-122"/>
                <a:ea typeface="微软雅黑" panose="020B0503020204020204" pitchFamily="34" charset="-122"/>
              </a:rPr>
              <a:t>，或单芯片多处理器。</a:t>
            </a:r>
            <a:endParaRPr lang="en-US" altLang="zh-CN" b="1" dirty="0">
              <a:latin typeface="微软雅黑" panose="020B0503020204020204" pitchFamily="34" charset="-122"/>
              <a:ea typeface="微软雅黑" panose="020B0503020204020204" pitchFamily="34" charset="-122"/>
            </a:endParaRPr>
          </a:p>
          <a:p>
            <a:pPr lvl="1">
              <a:lnSpc>
                <a:spcPct val="120000"/>
              </a:lnSpc>
            </a:pPr>
            <a:r>
              <a:rPr lang="en-US" altLang="zh-CN" sz="2800" b="1" dirty="0">
                <a:latin typeface="微软雅黑" panose="020B0503020204020204" pitchFamily="34" charset="-122"/>
                <a:ea typeface="微软雅黑" panose="020B0503020204020204" pitchFamily="34" charset="-122"/>
              </a:rPr>
              <a:t>1996</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美国斯坦福大学，首次提出片上多处理器</a:t>
            </a:r>
            <a:r>
              <a:rPr lang="en-US" altLang="zh-CN" sz="2800" b="1" dirty="0">
                <a:latin typeface="微软雅黑" panose="020B0503020204020204" pitchFamily="34" charset="-122"/>
                <a:ea typeface="微软雅黑" panose="020B0503020204020204" pitchFamily="34" charset="-122"/>
              </a:rPr>
              <a:t>(CMP)</a:t>
            </a:r>
            <a:r>
              <a:rPr lang="zh-CN" altLang="en-US" sz="2800" b="1" dirty="0">
                <a:latin typeface="微软雅黑" panose="020B0503020204020204" pitchFamily="34" charset="-122"/>
                <a:ea typeface="微软雅黑" panose="020B0503020204020204" pitchFamily="34" charset="-122"/>
              </a:rPr>
              <a:t>思想和首个多核结构原型；</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en-US" altLang="zh-CN" sz="2800" b="1" dirty="0">
                <a:latin typeface="微软雅黑" panose="020B0503020204020204" pitchFamily="34" charset="-122"/>
                <a:ea typeface="微软雅黑" panose="020B0503020204020204" pitchFamily="34" charset="-122"/>
              </a:rPr>
              <a:t>2001</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IBM</a:t>
            </a:r>
            <a:r>
              <a:rPr lang="zh-CN" altLang="en-US" sz="2800" b="1" dirty="0">
                <a:latin typeface="微软雅黑" panose="020B0503020204020204" pitchFamily="34" charset="-122"/>
                <a:ea typeface="微软雅黑" panose="020B0503020204020204" pitchFamily="34" charset="-122"/>
              </a:rPr>
              <a:t>推出第一个商用多核处理器</a:t>
            </a:r>
            <a:r>
              <a:rPr lang="en-US" altLang="zh-CN" sz="2800" b="1" dirty="0">
                <a:solidFill>
                  <a:srgbClr val="0000FF"/>
                </a:solidFill>
                <a:latin typeface="微软雅黑" panose="020B0503020204020204" pitchFamily="34" charset="-122"/>
                <a:ea typeface="微软雅黑" panose="020B0503020204020204" pitchFamily="34" charset="-122"/>
              </a:rPr>
              <a:t>POWER4</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en-US" altLang="zh-CN" sz="2800" b="1" dirty="0">
                <a:latin typeface="微软雅黑" panose="020B0503020204020204" pitchFamily="34" charset="-122"/>
                <a:ea typeface="微软雅黑" panose="020B0503020204020204" pitchFamily="34" charset="-122"/>
              </a:rPr>
              <a:t>2005</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Intel</a:t>
            </a:r>
            <a:r>
              <a:rPr lang="zh-CN" altLang="en-US" sz="2800" b="1" dirty="0">
                <a:latin typeface="微软雅黑" panose="020B0503020204020204" pitchFamily="34" charset="-122"/>
                <a:ea typeface="微软雅黑" panose="020B0503020204020204" pitchFamily="34" charset="-122"/>
              </a:rPr>
              <a:t>和</a:t>
            </a:r>
            <a:r>
              <a:rPr lang="en-US" altLang="zh-CN" sz="2800" b="1" dirty="0">
                <a:latin typeface="微软雅黑" panose="020B0503020204020204" pitchFamily="34" charset="-122"/>
                <a:ea typeface="微软雅黑" panose="020B0503020204020204" pitchFamily="34" charset="-122"/>
              </a:rPr>
              <a:t>AMD</a:t>
            </a:r>
            <a:r>
              <a:rPr lang="zh-CN" altLang="en-US" sz="2800" b="1" dirty="0">
                <a:latin typeface="微软雅黑" panose="020B0503020204020204" pitchFamily="34" charset="-122"/>
                <a:ea typeface="微软雅黑" panose="020B0503020204020204" pitchFamily="34" charset="-122"/>
              </a:rPr>
              <a:t>多核处理器大规模应用；</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现在，多核成为市场主流。</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b="1" dirty="0">
                <a:latin typeface="微软雅黑" panose="020B0503020204020204" pitchFamily="34" charset="-122"/>
                <a:ea typeface="微软雅黑" panose="020B0503020204020204" pitchFamily="34" charset="-122"/>
              </a:rPr>
              <a:t>多核处理器的应用范围：多媒体计算、嵌入式设备、个人计算机、商用服务器和高性能计算机等众多领域，多核技术及其相关研究也迅速发展，比如多</a:t>
            </a:r>
            <a:r>
              <a:rPr lang="zh-CN" altLang="en-US" b="1" dirty="0">
                <a:solidFill>
                  <a:srgbClr val="0000FF"/>
                </a:solidFill>
                <a:latin typeface="微软雅黑" panose="020B0503020204020204" pitchFamily="34" charset="-122"/>
                <a:ea typeface="微软雅黑" panose="020B0503020204020204" pitchFamily="34" charset="-122"/>
              </a:rPr>
              <a:t>核结构设计方法、片上互连技术、可重构技术、下一代众核技术</a:t>
            </a:r>
            <a:r>
              <a:rPr lang="zh-CN" altLang="en-US" b="1" dirty="0">
                <a:latin typeface="微软雅黑" panose="020B0503020204020204" pitchFamily="34" charset="-122"/>
                <a:ea typeface="微软雅黑" panose="020B0503020204020204" pitchFamily="34" charset="-122"/>
              </a:rPr>
              <a:t>等。</a:t>
            </a:r>
          </a:p>
        </p:txBody>
      </p:sp>
    </p:spTree>
    <p:extLst>
      <p:ext uri="{BB962C8B-B14F-4D97-AF65-F5344CB8AC3E}">
        <p14:creationId xmlns:p14="http://schemas.microsoft.com/office/powerpoint/2010/main" val="1421007343"/>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9018" y="447202"/>
            <a:ext cx="10885226" cy="6171962"/>
          </a:xfrm>
          <a:ln w="28575">
            <a:solidFill>
              <a:srgbClr val="01C0B0"/>
            </a:solidFill>
          </a:ln>
        </p:spPr>
        <p:txBody>
          <a:bodyPr>
            <a:noAutofit/>
          </a:bodyPr>
          <a:lstStyle/>
          <a:p>
            <a:pPr>
              <a:lnSpc>
                <a:spcPct val="120000"/>
              </a:lnSpc>
            </a:pPr>
            <a:r>
              <a:rPr lang="zh-CN" altLang="en-US" b="1" dirty="0">
                <a:latin typeface="微软雅黑" panose="020B0503020204020204" pitchFamily="34" charset="-122"/>
                <a:ea typeface="微软雅黑" panose="020B0503020204020204" pitchFamily="34" charset="-122"/>
              </a:rPr>
              <a:t>多核处理器：将多个完全功能的核心集成在</a:t>
            </a:r>
            <a:r>
              <a:rPr lang="zh-CN" altLang="en-US" b="1" dirty="0">
                <a:solidFill>
                  <a:srgbClr val="0000FF"/>
                </a:solidFill>
                <a:latin typeface="微软雅黑" panose="020B0503020204020204" pitchFamily="34" charset="-122"/>
                <a:ea typeface="微软雅黑" panose="020B0503020204020204" pitchFamily="34" charset="-122"/>
              </a:rPr>
              <a:t>同一个芯片</a:t>
            </a:r>
            <a:r>
              <a:rPr lang="zh-CN" altLang="en-US" b="1" dirty="0">
                <a:latin typeface="微软雅黑" panose="020B0503020204020204" pitchFamily="34" charset="-122"/>
                <a:ea typeface="微软雅黑" panose="020B0503020204020204" pitchFamily="34" charset="-122"/>
              </a:rPr>
              <a:t>内，整个芯片作为一个统一的结构对外提供服务，输出性能。</a:t>
            </a:r>
            <a:endParaRPr lang="en-US" altLang="zh-CN"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首先，通过集成多个单线程处理核心，或者集成多个同时多线程处理核心，使得整个处理器</a:t>
            </a:r>
            <a:r>
              <a:rPr lang="zh-CN" altLang="en-US" sz="2800" b="1" dirty="0">
                <a:solidFill>
                  <a:srgbClr val="0000FF"/>
                </a:solidFill>
                <a:latin typeface="微软雅黑" panose="020B0503020204020204" pitchFamily="34" charset="-122"/>
                <a:ea typeface="微软雅黑" panose="020B0503020204020204" pitchFamily="34" charset="-122"/>
              </a:rPr>
              <a:t>可同时执行的线程数或任务数是单处理器的数倍</a:t>
            </a:r>
            <a:r>
              <a:rPr lang="zh-CN" altLang="en-US" sz="2800" b="1" dirty="0">
                <a:latin typeface="微软雅黑" panose="020B0503020204020204" pitchFamily="34" charset="-122"/>
                <a:ea typeface="微软雅黑" panose="020B0503020204020204" pitchFamily="34" charset="-122"/>
              </a:rPr>
              <a:t>，提升了处理器的并行性能。</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其次，多个核集成在片内，极大地缩短了核间的互连线，核间通信延迟变小，提高了通信效率，数据传输带宽也得到提高。</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第三，多核结构有效共享资源，片上资源的利用率得到了提高，功耗也随着器件的减少得到了降低。</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最后，多核结构简单，易于优化设计，扩展性强。</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b="1" dirty="0">
                <a:latin typeface="微软雅黑" panose="020B0503020204020204" pitchFamily="34" charset="-122"/>
                <a:ea typeface="微软雅黑" panose="020B0503020204020204" pitchFamily="34" charset="-122"/>
              </a:rPr>
              <a:t>这些优势最终推动了多核的发展并逐渐取代单处理器成为主流。</a:t>
            </a:r>
          </a:p>
        </p:txBody>
      </p:sp>
      <p:grpSp>
        <p:nvGrpSpPr>
          <p:cNvPr id="10" name="组合 9"/>
          <p:cNvGrpSpPr/>
          <p:nvPr/>
        </p:nvGrpSpPr>
        <p:grpSpPr>
          <a:xfrm rot="13499334">
            <a:off x="509843" y="136209"/>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grpSp>
        <p:nvGrpSpPr>
          <p:cNvPr id="14" name="组合 13"/>
          <p:cNvGrpSpPr/>
          <p:nvPr/>
        </p:nvGrpSpPr>
        <p:grpSpPr>
          <a:xfrm rot="2680109">
            <a:off x="11395066" y="6235322"/>
            <a:ext cx="438352" cy="621987"/>
            <a:chOff x="265635" y="269251"/>
            <a:chExt cx="438352" cy="621987"/>
          </a:xfrm>
        </p:grpSpPr>
        <p:sp>
          <p:nvSpPr>
            <p:cNvPr id="1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356420105"/>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99530" y="284081"/>
            <a:ext cx="5974331" cy="633144"/>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b="1" dirty="0">
                <a:latin typeface="微软雅黑" panose="020B0503020204020204" pitchFamily="34" charset="-122"/>
                <a:ea typeface="微软雅黑" panose="020B0503020204020204" pitchFamily="34" charset="-122"/>
              </a:rPr>
              <a:t>多核处理器结构</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9" name="Line 5"/>
          <p:cNvSpPr>
            <a:spLocks noChangeShapeType="1"/>
          </p:cNvSpPr>
          <p:nvPr/>
        </p:nvSpPr>
        <p:spPr bwMode="auto">
          <a:xfrm>
            <a:off x="1293308" y="1600897"/>
            <a:ext cx="0" cy="5031915"/>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0" name="Oval 6"/>
          <p:cNvSpPr>
            <a:spLocks noChangeArrowheads="1"/>
          </p:cNvSpPr>
          <p:nvPr/>
        </p:nvSpPr>
        <p:spPr bwMode="auto">
          <a:xfrm>
            <a:off x="1174293" y="4502567"/>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1" name="Oval 7"/>
          <p:cNvSpPr>
            <a:spLocks noChangeArrowheads="1"/>
          </p:cNvSpPr>
          <p:nvPr/>
        </p:nvSpPr>
        <p:spPr bwMode="auto">
          <a:xfrm>
            <a:off x="1174293" y="5113136"/>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629727" y="1521550"/>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613673" y="2811021"/>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912405" y="1349701"/>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896351" y="2648523"/>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4" name="Oval 7"/>
          <p:cNvSpPr>
            <a:spLocks noChangeArrowheads="1"/>
          </p:cNvSpPr>
          <p:nvPr/>
        </p:nvSpPr>
        <p:spPr bwMode="auto">
          <a:xfrm>
            <a:off x="1174293" y="5867470"/>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909018" y="1086987"/>
            <a:ext cx="9466997"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在整体结构设计上，多核处理器与传统的单处理器相比，多核内部结构</a:t>
            </a:r>
            <a:r>
              <a:rPr lang="zh-CN" altLang="en-US" sz="2800" b="1" dirty="0">
                <a:solidFill>
                  <a:srgbClr val="0000FF"/>
                </a:solidFill>
                <a:latin typeface="微软雅黑" panose="020B0503020204020204" pitchFamily="34" charset="-122"/>
                <a:ea typeface="微软雅黑" panose="020B0503020204020204" pitchFamily="34" charset="-122"/>
              </a:rPr>
              <a:t>没有固定的组织形式</a:t>
            </a:r>
            <a:r>
              <a:rPr lang="zh-CN" altLang="en-US" sz="2800" b="1" dirty="0">
                <a:latin typeface="微软雅黑" panose="020B0503020204020204" pitchFamily="34" charset="-122"/>
                <a:ea typeface="微软雅黑" panose="020B0503020204020204" pitchFamily="34" charset="-122"/>
              </a:rPr>
              <a:t>，可以有很多种实现方式。</a:t>
            </a:r>
            <a:endParaRPr lang="en-US" altLang="zh-CN" sz="2800" b="1" dirty="0">
              <a:latin typeface="微软雅黑" panose="020B0503020204020204" pitchFamily="34" charset="-122"/>
              <a:ea typeface="微软雅黑" panose="020B0503020204020204" pitchFamily="34" charset="-122"/>
            </a:endParaRPr>
          </a:p>
        </p:txBody>
      </p:sp>
      <p:sp>
        <p:nvSpPr>
          <p:cNvPr id="3" name="矩形 2"/>
          <p:cNvSpPr/>
          <p:nvPr/>
        </p:nvSpPr>
        <p:spPr>
          <a:xfrm>
            <a:off x="1909018" y="2368019"/>
            <a:ext cx="9580728"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各个研究机构和厂商</a:t>
            </a:r>
            <a:r>
              <a:rPr lang="zh-CN" altLang="en-US" sz="2800" b="1" dirty="0">
                <a:solidFill>
                  <a:srgbClr val="0000FF"/>
                </a:solidFill>
                <a:latin typeface="微软雅黑" panose="020B0503020204020204" pitchFamily="34" charset="-122"/>
                <a:ea typeface="微软雅黑" panose="020B0503020204020204" pitchFamily="34" charset="-122"/>
              </a:rPr>
              <a:t>根据自己的应用目标设计</a:t>
            </a:r>
            <a:r>
              <a:rPr lang="zh-CN" altLang="en-US" sz="2800" b="1" dirty="0">
                <a:latin typeface="微软雅黑" panose="020B0503020204020204" pitchFamily="34" charset="-122"/>
                <a:ea typeface="微软雅黑" panose="020B0503020204020204" pitchFamily="34" charset="-122"/>
              </a:rPr>
              <a:t>出结构完全不同的多核结构。</a:t>
            </a:r>
            <a:endParaRPr lang="en-US" altLang="zh-CN" sz="2800" b="1" dirty="0">
              <a:latin typeface="微软雅黑" panose="020B0503020204020204" pitchFamily="34" charset="-122"/>
              <a:ea typeface="微软雅黑" panose="020B0503020204020204" pitchFamily="34" charset="-122"/>
            </a:endParaRPr>
          </a:p>
        </p:txBody>
      </p:sp>
      <p:sp>
        <p:nvSpPr>
          <p:cNvPr id="4" name="矩形 3"/>
          <p:cNvSpPr/>
          <p:nvPr/>
        </p:nvSpPr>
        <p:spPr>
          <a:xfrm>
            <a:off x="1937580" y="3658598"/>
            <a:ext cx="5929828" cy="609398"/>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多核处理器中几种比较典型的结构：</a:t>
            </a:r>
            <a:endParaRPr lang="en-US" altLang="zh-CN" sz="2800" b="1" dirty="0">
              <a:latin typeface="微软雅黑" panose="020B0503020204020204" pitchFamily="34" charset="-122"/>
              <a:ea typeface="微软雅黑" panose="020B0503020204020204" pitchFamily="34" charset="-122"/>
            </a:endParaRPr>
          </a:p>
        </p:txBody>
      </p:sp>
      <p:sp>
        <p:nvSpPr>
          <p:cNvPr id="31" name="Freeform 9"/>
          <p:cNvSpPr>
            <a:spLocks/>
          </p:cNvSpPr>
          <p:nvPr/>
        </p:nvSpPr>
        <p:spPr bwMode="auto">
          <a:xfrm>
            <a:off x="1629725" y="3823581"/>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2B9E7"/>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32" name="组合 31"/>
          <p:cNvGrpSpPr/>
          <p:nvPr/>
        </p:nvGrpSpPr>
        <p:grpSpPr>
          <a:xfrm>
            <a:off x="912403" y="3651732"/>
            <a:ext cx="717324" cy="523092"/>
            <a:chOff x="912759" y="1007596"/>
            <a:chExt cx="717604" cy="523296"/>
          </a:xfrm>
          <a:solidFill>
            <a:srgbClr val="02B9E7"/>
          </a:solidFill>
        </p:grpSpPr>
        <p:sp>
          <p:nvSpPr>
            <p:cNvPr id="33"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34" name="TextBox 14"/>
            <p:cNvSpPr txBox="1"/>
            <p:nvPr/>
          </p:nvSpPr>
          <p:spPr>
            <a:xfrm>
              <a:off x="912759" y="1007596"/>
              <a:ext cx="717604" cy="523296"/>
            </a:xfrm>
            <a:prstGeom prst="rect">
              <a:avLst/>
            </a:prstGeom>
            <a:grpFill/>
          </p:spPr>
          <p:txBody>
            <a:bodyPr wrap="square" rtlCol="0">
              <a:spAutoFit/>
            </a:bodyPr>
            <a:lstStyle/>
            <a:p>
              <a:pPr algn="ctr"/>
              <a:r>
                <a:rPr lang="en-US" altLang="zh-CN" sz="2799" dirty="0">
                  <a:solidFill>
                    <a:schemeClr val="bg1"/>
                  </a:solidFill>
                  <a:latin typeface="+mn-ea"/>
                </a:rPr>
                <a:t>03</a:t>
              </a:r>
              <a:endParaRPr lang="zh-CN" altLang="en-US" sz="2799" dirty="0">
                <a:solidFill>
                  <a:schemeClr val="bg1"/>
                </a:solidFill>
                <a:latin typeface="+mn-ea"/>
              </a:endParaRPr>
            </a:p>
          </p:txBody>
        </p:sp>
      </p:grpSp>
      <p:sp>
        <p:nvSpPr>
          <p:cNvPr id="8" name="矩形 7"/>
          <p:cNvSpPr/>
          <p:nvPr/>
        </p:nvSpPr>
        <p:spPr>
          <a:xfrm>
            <a:off x="1531340" y="4293515"/>
            <a:ext cx="8731236" cy="609398"/>
          </a:xfrm>
          <a:prstGeom prst="rect">
            <a:avLst/>
          </a:prstGeom>
        </p:spPr>
        <p:txBody>
          <a:bodyPr wrap="none">
            <a:spAutoFit/>
          </a:bodyPr>
          <a:lstStyle/>
          <a:p>
            <a:pPr lvl="1">
              <a:lnSpc>
                <a:spcPct val="120000"/>
              </a:lnSpc>
            </a:pPr>
            <a:r>
              <a:rPr lang="en-US" altLang="zh-CN" sz="2800" b="1" dirty="0">
                <a:latin typeface="微软雅黑" panose="020B0503020204020204" pitchFamily="34" charset="-122"/>
                <a:ea typeface="微软雅黑" panose="020B0503020204020204" pitchFamily="34" charset="-122"/>
              </a:rPr>
              <a:t>Hydra</a:t>
            </a:r>
            <a:r>
              <a:rPr lang="zh-CN" altLang="en-US" sz="2800" b="1" dirty="0">
                <a:latin typeface="微软雅黑" panose="020B0503020204020204" pitchFamily="34" charset="-122"/>
                <a:ea typeface="微软雅黑" panose="020B0503020204020204" pitchFamily="34" charset="-122"/>
              </a:rPr>
              <a:t>处理器（</a:t>
            </a:r>
            <a:r>
              <a:rPr lang="en-US" altLang="zh-CN" sz="2800" b="1" dirty="0">
                <a:latin typeface="微软雅黑" panose="020B0503020204020204" pitchFamily="34" charset="-122"/>
                <a:ea typeface="微软雅黑" panose="020B0503020204020204" pitchFamily="34" charset="-122"/>
              </a:rPr>
              <a:t>1996</a:t>
            </a:r>
            <a:r>
              <a:rPr lang="zh-CN" altLang="en-US" sz="2800" b="1" dirty="0">
                <a:latin typeface="微软雅黑" panose="020B0503020204020204" pitchFamily="34" charset="-122"/>
                <a:ea typeface="微软雅黑" panose="020B0503020204020204" pitchFamily="34" charset="-122"/>
              </a:rPr>
              <a:t>年，美国，斯坦福大学研制）</a:t>
            </a:r>
            <a:endParaRPr lang="en-US" altLang="zh-CN" sz="2800" b="1" dirty="0">
              <a:latin typeface="微软雅黑" panose="020B0503020204020204" pitchFamily="34" charset="-122"/>
              <a:ea typeface="微软雅黑" panose="020B0503020204020204" pitchFamily="34" charset="-122"/>
            </a:endParaRPr>
          </a:p>
        </p:txBody>
      </p:sp>
      <p:sp>
        <p:nvSpPr>
          <p:cNvPr id="9" name="矩形 8"/>
          <p:cNvSpPr/>
          <p:nvPr/>
        </p:nvSpPr>
        <p:spPr>
          <a:xfrm>
            <a:off x="1531340" y="4981090"/>
            <a:ext cx="9868855" cy="609398"/>
          </a:xfrm>
          <a:prstGeom prst="rect">
            <a:avLst/>
          </a:prstGeom>
        </p:spPr>
        <p:txBody>
          <a:bodyPr wrap="none">
            <a:spAutoFit/>
          </a:bodyPr>
          <a:lstStyle/>
          <a:p>
            <a:pPr lvl="1">
              <a:lnSpc>
                <a:spcPct val="120000"/>
              </a:lnSpc>
            </a:pPr>
            <a:r>
              <a:rPr lang="en-US" altLang="zh-CN" sz="2800" b="1" dirty="0">
                <a:latin typeface="微软雅黑" panose="020B0503020204020204" pitchFamily="34" charset="-122"/>
                <a:ea typeface="微软雅黑" panose="020B0503020204020204" pitchFamily="34" charset="-122"/>
              </a:rPr>
              <a:t>Cell</a:t>
            </a:r>
            <a:r>
              <a:rPr lang="zh-CN" altLang="en-US" sz="2800" b="1" dirty="0">
                <a:latin typeface="微软雅黑" panose="020B0503020204020204" pitchFamily="34" charset="-122"/>
                <a:ea typeface="微软雅黑" panose="020B0503020204020204" pitchFamily="34" charset="-122"/>
              </a:rPr>
              <a:t>处理器（</a:t>
            </a:r>
            <a:r>
              <a:rPr lang="en-US" altLang="zh-CN" sz="2800" b="1" dirty="0">
                <a:latin typeface="微软雅黑" panose="020B0503020204020204" pitchFamily="34" charset="-122"/>
                <a:ea typeface="微软雅黑" panose="020B0503020204020204" pitchFamily="34" charset="-122"/>
              </a:rPr>
              <a:t>2001</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IBM</a:t>
            </a:r>
            <a:r>
              <a:rPr lang="zh-CN" altLang="en-US" sz="2800" b="1" dirty="0">
                <a:latin typeface="微软雅黑" panose="020B0503020204020204" pitchFamily="34" charset="-122"/>
                <a:ea typeface="微软雅黑" panose="020B0503020204020204" pitchFamily="34" charset="-122"/>
              </a:rPr>
              <a:t>与</a:t>
            </a:r>
            <a:r>
              <a:rPr lang="en-US" altLang="zh-CN" sz="2800" b="1" dirty="0">
                <a:latin typeface="微软雅黑" panose="020B0503020204020204" pitchFamily="34" charset="-122"/>
                <a:ea typeface="微软雅黑" panose="020B0503020204020204" pitchFamily="34" charset="-122"/>
              </a:rPr>
              <a:t>Sony</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Toshiba</a:t>
            </a:r>
            <a:r>
              <a:rPr lang="zh-CN" altLang="en-US" sz="2800" b="1" dirty="0">
                <a:latin typeface="微软雅黑" panose="020B0503020204020204" pitchFamily="34" charset="-122"/>
                <a:ea typeface="微软雅黑" panose="020B0503020204020204" pitchFamily="34" charset="-122"/>
              </a:rPr>
              <a:t>合作开发）</a:t>
            </a:r>
            <a:endParaRPr lang="en-US" altLang="zh-CN" sz="2800" b="1" dirty="0">
              <a:latin typeface="微软雅黑" panose="020B0503020204020204" pitchFamily="34" charset="-122"/>
              <a:ea typeface="微软雅黑" panose="020B0503020204020204" pitchFamily="34" charset="-122"/>
            </a:endParaRPr>
          </a:p>
        </p:txBody>
      </p:sp>
      <p:sp>
        <p:nvSpPr>
          <p:cNvPr id="10" name="矩形 9"/>
          <p:cNvSpPr/>
          <p:nvPr/>
        </p:nvSpPr>
        <p:spPr>
          <a:xfrm>
            <a:off x="1531340" y="5773715"/>
            <a:ext cx="7279557" cy="609398"/>
          </a:xfrm>
          <a:prstGeom prst="rect">
            <a:avLst/>
          </a:prstGeom>
        </p:spPr>
        <p:txBody>
          <a:bodyPr wrap="none">
            <a:spAutoFit/>
          </a:bodyPr>
          <a:lstStyle/>
          <a:p>
            <a:pPr lvl="1">
              <a:lnSpc>
                <a:spcPct val="120000"/>
              </a:lnSpc>
            </a:pPr>
            <a:r>
              <a:rPr lang="en-US" altLang="zh-CN" sz="2800" b="1" dirty="0">
                <a:latin typeface="微软雅黑" panose="020B0503020204020204" pitchFamily="34" charset="-122"/>
                <a:ea typeface="微软雅黑" panose="020B0503020204020204" pitchFamily="34" charset="-122"/>
              </a:rPr>
              <a:t>RAW</a:t>
            </a:r>
            <a:r>
              <a:rPr lang="zh-CN" altLang="en-US" sz="2800" b="1" dirty="0">
                <a:latin typeface="微软雅黑" panose="020B0503020204020204" pitchFamily="34" charset="-122"/>
                <a:ea typeface="微软雅黑" panose="020B0503020204020204" pitchFamily="34" charset="-122"/>
              </a:rPr>
              <a:t>处理器（美国、</a:t>
            </a:r>
            <a:r>
              <a:rPr lang="en-US" altLang="zh-CN" sz="2800" b="1" dirty="0">
                <a:latin typeface="微软雅黑" panose="020B0503020204020204" pitchFamily="34" charset="-122"/>
                <a:ea typeface="微软雅黑" panose="020B0503020204020204" pitchFamily="34" charset="-122"/>
              </a:rPr>
              <a:t>MIT</a:t>
            </a:r>
            <a:r>
              <a:rPr lang="zh-CN" altLang="en-US" sz="2800" b="1" dirty="0">
                <a:latin typeface="微软雅黑" panose="020B0503020204020204" pitchFamily="34" charset="-122"/>
                <a:ea typeface="微软雅黑" panose="020B0503020204020204" pitchFamily="34" charset="-122"/>
              </a:rPr>
              <a:t>研发、可重构）</a:t>
            </a:r>
          </a:p>
        </p:txBody>
      </p:sp>
    </p:spTree>
    <p:extLst>
      <p:ext uri="{BB962C8B-B14F-4D97-AF65-F5344CB8AC3E}">
        <p14:creationId xmlns:p14="http://schemas.microsoft.com/office/powerpoint/2010/main" val="3019069091"/>
      </p:ext>
    </p:extLst>
  </p:cSld>
  <p:clrMapOvr>
    <a:masterClrMapping/>
  </p:clrMapOvr>
  <mc:AlternateContent xmlns:mc="http://schemas.openxmlformats.org/markup-compatibility/2006" xmlns:p14="http://schemas.microsoft.com/office/powerpoint/2010/main">
    <mc:Choice Requires="p14">
      <p:transition spd="slow" advTm="8826">
        <p14:conveyor dir="l"/>
      </p:transition>
    </mc:Choice>
    <mc:Fallback xmlns="">
      <p:transition spd="slow" advTm="8826">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3"/>
          <p:cNvSpPr txBox="1">
            <a:spLocks noChangeArrowheads="1"/>
          </p:cNvSpPr>
          <p:nvPr/>
        </p:nvSpPr>
        <p:spPr bwMode="auto">
          <a:xfrm>
            <a:off x="4483441" y="2541722"/>
            <a:ext cx="3868499"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6600" b="1" dirty="0">
                <a:solidFill>
                  <a:schemeClr val="bg1"/>
                </a:solidFill>
                <a:latin typeface="微软雅黑" panose="020B0503020204020204" pitchFamily="34" charset="-122"/>
                <a:ea typeface="微软雅黑" panose="020B0503020204020204" pitchFamily="34" charset="-122"/>
              </a:rPr>
              <a:t>谢谢！</a:t>
            </a:r>
            <a:endParaRPr lang="en-US" altLang="zh-CN" sz="66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255176408"/>
      </p:ext>
    </p:extLst>
  </p:cSld>
  <p:clrMapOvr>
    <a:masterClrMapping/>
  </p:clrMapOvr>
  <mc:AlternateContent xmlns:mc="http://schemas.openxmlformats.org/markup-compatibility/2006" xmlns:p14="http://schemas.microsoft.com/office/powerpoint/2010/main">
    <mc:Choice Requires="p14">
      <p:transition spd="slow">
        <p14:conveyor dir="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TotalTime>
  <Words>2716</Words>
  <Application>Microsoft Office PowerPoint</Application>
  <PresentationFormat>宽屏</PresentationFormat>
  <Paragraphs>243</Paragraphs>
  <Slides>29</Slides>
  <Notes>13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39" baseType="lpstr">
      <vt:lpstr>宋体</vt:lpstr>
      <vt:lpstr>微软雅黑</vt:lpstr>
      <vt:lpstr>Arial</vt:lpstr>
      <vt:lpstr>Calibri</vt:lpstr>
      <vt:lpstr>Calibri Light</vt:lpstr>
      <vt:lpstr>Cambria Math</vt:lpstr>
      <vt:lpstr>Wingdings</vt:lpstr>
      <vt:lpstr>Wingdings 2</vt:lpstr>
      <vt:lpstr>第一PPT，www.1ppt.com</vt:lpstr>
      <vt:lpstr>Microsoft Visio 绘图</vt:lpstr>
      <vt:lpstr>PowerPoint 演示文稿</vt:lpstr>
      <vt:lpstr>多处理机系统分类</vt:lpstr>
      <vt:lpstr>PowerPoint 演示文稿</vt:lpstr>
      <vt:lpstr>对称式共享存储器多处理机SMP</vt:lpstr>
      <vt:lpstr> 分布式共享存储器多处理机DSM </vt:lpstr>
      <vt:lpstr>PowerPoint 演示文稿</vt:lpstr>
      <vt:lpstr>PowerPoint 演示文稿</vt:lpstr>
      <vt:lpstr>软件方法</vt:lpstr>
      <vt:lpstr>硬件方法</vt:lpstr>
      <vt:lpstr>PowerPoint 演示文稿</vt:lpstr>
      <vt:lpstr>写作废协议</vt:lpstr>
      <vt:lpstr>PowerPoint 演示文稿</vt:lpstr>
      <vt:lpstr>PowerPoint 演示文稿</vt:lpstr>
      <vt:lpstr>多处理机的并行性实现</vt:lpstr>
      <vt:lpstr>并行算法分类(续)</vt:lpstr>
      <vt:lpstr>PowerPoint 演示文稿</vt:lpstr>
      <vt:lpstr>并行算法思路</vt:lpstr>
      <vt:lpstr>PowerPoint 演示文稿</vt:lpstr>
      <vt:lpstr>并行算法性能评价标准举例</vt:lpstr>
      <vt:lpstr>并行语言和并行编译 </vt:lpstr>
      <vt:lpstr>并行语言和并行编译(续)</vt:lpstr>
      <vt:lpstr>机群系统</vt:lpstr>
      <vt:lpstr>PowerPoint 演示文稿</vt:lpstr>
      <vt:lpstr>机群系统的组成</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yhw</cp:lastModifiedBy>
  <cp:revision>34</cp:revision>
  <dcterms:created xsi:type="dcterms:W3CDTF">2016-06-01T05:10:04Z</dcterms:created>
  <dcterms:modified xsi:type="dcterms:W3CDTF">2017-06-03T02:31:00Z</dcterms:modified>
</cp:coreProperties>
</file>