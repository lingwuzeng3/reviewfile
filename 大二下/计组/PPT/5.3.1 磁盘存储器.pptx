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9" r:id="rId2"/>
    <p:sldId id="309" r:id="rId3"/>
    <p:sldId id="310" r:id="rId4"/>
    <p:sldId id="293" r:id="rId5"/>
    <p:sldId id="294" r:id="rId6"/>
    <p:sldId id="295" r:id="rId7"/>
    <p:sldId id="321" r:id="rId8"/>
    <p:sldId id="296" r:id="rId9"/>
    <p:sldId id="297" r:id="rId10"/>
    <p:sldId id="311" r:id="rId11"/>
    <p:sldId id="312" r:id="rId12"/>
    <p:sldId id="313" r:id="rId13"/>
    <p:sldId id="323" r:id="rId14"/>
    <p:sldId id="301" r:id="rId15"/>
    <p:sldId id="303" r:id="rId16"/>
    <p:sldId id="316" r:id="rId17"/>
    <p:sldId id="319" r:id="rId18"/>
    <p:sldId id="320" r:id="rId19"/>
    <p:sldId id="317" r:id="rId20"/>
    <p:sldId id="32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4B0BE"/>
    <a:srgbClr val="FBFEFE"/>
    <a:srgbClr val="02B9E7"/>
    <a:srgbClr val="01C0B0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66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431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11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582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682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156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117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453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835728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110704" y="2610279"/>
            <a:ext cx="614337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磁盘存储器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443434" y="1068635"/>
            <a:ext cx="0" cy="52557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779853" y="989288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779853" y="2370313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1062531" y="817439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062531" y="2207815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296779" y="797785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9" name="Oval 6"/>
          <p:cNvSpPr>
            <a:spLocks noChangeArrowheads="1"/>
          </p:cNvSpPr>
          <p:nvPr/>
        </p:nvSpPr>
        <p:spPr bwMode="auto">
          <a:xfrm>
            <a:off x="1324418" y="4415990"/>
            <a:ext cx="238032" cy="234859"/>
          </a:xfrm>
          <a:prstGeom prst="ellipse">
            <a:avLst/>
          </a:prstGeom>
          <a:solidFill>
            <a:srgbClr val="92D05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30" name="Freeform 11"/>
          <p:cNvSpPr>
            <a:spLocks/>
          </p:cNvSpPr>
          <p:nvPr/>
        </p:nvSpPr>
        <p:spPr bwMode="auto">
          <a:xfrm>
            <a:off x="1751289" y="3682651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31" name="组合 30"/>
          <p:cNvGrpSpPr/>
          <p:nvPr/>
        </p:nvGrpSpPr>
        <p:grpSpPr>
          <a:xfrm>
            <a:off x="1033967" y="3520155"/>
            <a:ext cx="717324" cy="523092"/>
            <a:chOff x="912759" y="1884191"/>
            <a:chExt cx="717604" cy="523296"/>
          </a:xfrm>
        </p:grpSpPr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3" name="TextBox 19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03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2189048" y="723897"/>
            <a:ext cx="952055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外部存储器（简称外存）又称为辅助存储器（又称辅存）。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89048" y="1776863"/>
            <a:ext cx="91525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计算机对用户信息采用的是文件的方式进行管理的，外部存储器主要用于存储这些 “文件”。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89048" y="3368691"/>
            <a:ext cx="736611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从构成外部存储器的介质看，主要有两大类：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79852" y="4141214"/>
            <a:ext cx="351891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一是磁介质存储器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val 6"/>
          <p:cNvSpPr>
            <a:spLocks noChangeArrowheads="1"/>
          </p:cNvSpPr>
          <p:nvPr/>
        </p:nvSpPr>
        <p:spPr bwMode="auto">
          <a:xfrm>
            <a:off x="1324418" y="5135337"/>
            <a:ext cx="238032" cy="234859"/>
          </a:xfrm>
          <a:prstGeom prst="ellipse">
            <a:avLst/>
          </a:prstGeom>
          <a:solidFill>
            <a:srgbClr val="92D05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矩形 9"/>
          <p:cNvSpPr/>
          <p:nvPr/>
        </p:nvSpPr>
        <p:spPr>
          <a:xfrm>
            <a:off x="1779852" y="4879878"/>
            <a:ext cx="315983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二是光盘存储器</a:t>
            </a:r>
          </a:p>
        </p:txBody>
      </p:sp>
    </p:spTree>
    <p:extLst>
      <p:ext uri="{BB962C8B-B14F-4D97-AF65-F5344CB8AC3E}">
        <p14:creationId xmlns:p14="http://schemas.microsoft.com/office/powerpoint/2010/main" val="2552504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121546" y="328163"/>
            <a:ext cx="5974331" cy="535489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磁盘存储器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11408" y="287879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1463679" y="1821498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 dirty="0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8828553" y="4377029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3129309" y="2430004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8384069" y="4955145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TextBox 13"/>
          <p:cNvSpPr txBox="1"/>
          <p:nvPr/>
        </p:nvSpPr>
        <p:spPr>
          <a:xfrm flipH="1">
            <a:off x="1700116" y="2141858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9073441" y="4697389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4545433" y="4954483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03</a:t>
            </a:r>
          </a:p>
        </p:txBody>
      </p:sp>
      <p:sp>
        <p:nvSpPr>
          <p:cNvPr id="2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4306452" y="157129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磁盘是在一定的基质上涂上一层磁性材料而构成的圆盘，在磁盘表面利用磁存储原理来存储信息。</a:t>
            </a:r>
          </a:p>
        </p:txBody>
      </p:sp>
      <p:sp>
        <p:nvSpPr>
          <p:cNvPr id="4" name="矩形 3"/>
          <p:cNvSpPr/>
          <p:nvPr/>
        </p:nvSpPr>
        <p:spPr>
          <a:xfrm>
            <a:off x="1700116" y="3820045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磁盘分为硬盘和软盘两种，硬盘和软盘在构成上以及容量和访问速度上有所不同，但从信息的存储原理来讲，它们是完全相同的。 </a:t>
            </a:r>
          </a:p>
        </p:txBody>
      </p:sp>
    </p:spTree>
    <p:extLst>
      <p:ext uri="{BB962C8B-B14F-4D97-AF65-F5344CB8AC3E}">
        <p14:creationId xmlns:p14="http://schemas.microsoft.com/office/powerpoint/2010/main" val="2243515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75773" y="-38111"/>
            <a:ext cx="10515600" cy="1325563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磁记录原理和读写方式 </a:t>
            </a:r>
          </a:p>
        </p:txBody>
      </p:sp>
      <p:graphicFrame>
        <p:nvGraphicFramePr>
          <p:cNvPr id="6147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193201"/>
              </p:ext>
            </p:extLst>
          </p:nvPr>
        </p:nvGraphicFramePr>
        <p:xfrm>
          <a:off x="1085756" y="1867044"/>
          <a:ext cx="9926769" cy="3987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Visio" r:id="rId3" imgW="3070964" imgH="1171536" progId="Visio.Drawing.11">
                  <p:embed/>
                </p:oleObj>
              </mc:Choice>
              <mc:Fallback>
                <p:oleObj name="Visio" r:id="rId3" imgW="3070964" imgH="1171536" progId="Visio.Drawing.11">
                  <p:embed/>
                  <p:pic>
                    <p:nvPicPr>
                      <p:cNvPr id="614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756" y="1867044"/>
                        <a:ext cx="9926769" cy="3987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90745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222">
        <p14:doors dir="vert"/>
      </p:transition>
    </mc:Choice>
    <mc:Fallback xmlns="">
      <p:transition spd="slow" advTm="9222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6353758" y="2031466"/>
            <a:ext cx="4367251" cy="399358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5" name="矩形 4"/>
          <p:cNvSpPr/>
          <p:nvPr/>
        </p:nvSpPr>
        <p:spPr bwMode="auto">
          <a:xfrm>
            <a:off x="1469455" y="2037467"/>
            <a:ext cx="4108174" cy="39935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600" dirty="0"/>
          </a:p>
        </p:txBody>
      </p:sp>
      <p:grpSp>
        <p:nvGrpSpPr>
          <p:cNvPr id="6" name="组合 5"/>
          <p:cNvGrpSpPr/>
          <p:nvPr/>
        </p:nvGrpSpPr>
        <p:grpSpPr>
          <a:xfrm>
            <a:off x="2891691" y="1545555"/>
            <a:ext cx="1010843" cy="1010844"/>
            <a:chOff x="1230014" y="1296938"/>
            <a:chExt cx="1011238" cy="1011238"/>
          </a:xfrm>
        </p:grpSpPr>
        <p:sp>
          <p:nvSpPr>
            <p:cNvPr id="7" name="Oval 13"/>
            <p:cNvSpPr>
              <a:spLocks noChangeArrowheads="1"/>
            </p:cNvSpPr>
            <p:nvPr/>
          </p:nvSpPr>
          <p:spPr bwMode="auto">
            <a:xfrm>
              <a:off x="1230014" y="1296938"/>
              <a:ext cx="1011238" cy="10112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TextBox 14"/>
            <p:cNvSpPr txBox="1"/>
            <p:nvPr/>
          </p:nvSpPr>
          <p:spPr>
            <a:xfrm>
              <a:off x="1282081" y="1429117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995845" y="1545555"/>
            <a:ext cx="1010843" cy="1010844"/>
            <a:chOff x="6470754" y="1296938"/>
            <a:chExt cx="1011238" cy="1011238"/>
          </a:xfrm>
        </p:grpSpPr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6470754" y="1296938"/>
              <a:ext cx="1011238" cy="101123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TextBox 19"/>
            <p:cNvSpPr txBox="1"/>
            <p:nvPr/>
          </p:nvSpPr>
          <p:spPr>
            <a:xfrm>
              <a:off x="6522821" y="1429117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7076" y="54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磁盘存储器的物理构成 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矩形 1"/>
          <p:cNvSpPr/>
          <p:nvPr/>
        </p:nvSpPr>
        <p:spPr>
          <a:xfrm>
            <a:off x="1760068" y="2649782"/>
            <a:ext cx="3741156" cy="25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磁盘存储器主要由磁盘片、磁盘驱动器和磁盘控制器等组成。</a:t>
            </a:r>
          </a:p>
        </p:txBody>
      </p:sp>
      <p:sp>
        <p:nvSpPr>
          <p:cNvPr id="3" name="矩形 2"/>
          <p:cNvSpPr/>
          <p:nvPr/>
        </p:nvSpPr>
        <p:spPr>
          <a:xfrm>
            <a:off x="6430163" y="2781910"/>
            <a:ext cx="41422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软盘是由单个盘片构成，而硬盘则由多个盘片构成，通常称为盘片组。</a:t>
            </a:r>
          </a:p>
        </p:txBody>
      </p:sp>
    </p:spTree>
    <p:extLst>
      <p:ext uri="{BB962C8B-B14F-4D97-AF65-F5344CB8AC3E}">
        <p14:creationId xmlns:p14="http://schemas.microsoft.com/office/powerpoint/2010/main" val="255726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222">
        <p14:doors dir="vert"/>
      </p:transition>
    </mc:Choice>
    <mc:Fallback xmlns="">
      <p:transition spd="slow" advTm="9222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101" y="364681"/>
            <a:ext cx="8229600" cy="693738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磁盘存储器组成示意图：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1524001" y="23108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50000"/>
              <a:buFont typeface="Wingdings 2" panose="05020102010507070707" pitchFamily="18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 2" panose="05020102010507070707" pitchFamily="18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819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266459"/>
              </p:ext>
            </p:extLst>
          </p:nvPr>
        </p:nvGraphicFramePr>
        <p:xfrm>
          <a:off x="1708732" y="1351723"/>
          <a:ext cx="8607620" cy="468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Visio" r:id="rId3" imgW="3037820" imgH="1653014" progId="Visio.Drawing.11">
                  <p:embed/>
                </p:oleObj>
              </mc:Choice>
              <mc:Fallback>
                <p:oleObj name="Visio" r:id="rId3" imgW="3037820" imgH="1653014" progId="Visio.Drawing.11">
                  <p:embed/>
                  <p:pic>
                    <p:nvPicPr>
                      <p:cNvPr id="819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1351723"/>
                        <a:ext cx="8607620" cy="4684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5358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222">
        <p14:doors dir="vert"/>
      </p:transition>
    </mc:Choice>
    <mc:Fallback xmlns="">
      <p:transition spd="slow" advTm="9222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87" y="904875"/>
            <a:ext cx="60674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6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887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磁盘存储器的数据组织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0100" y="4266370"/>
            <a:ext cx="9870252" cy="2079891"/>
          </a:xfrm>
          <a:ln w="28575">
            <a:solidFill>
              <a:srgbClr val="FFC000"/>
            </a:solidFill>
          </a:ln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磁道又进一步被分割成一个个等长的圆弧，每一段圆弧称为一个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扇区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。一个扇区可以存储若干位信息，它也是磁盘与主机之间交换信息的基本单位 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Freeform 14"/>
          <p:cNvSpPr>
            <a:spLocks/>
          </p:cNvSpPr>
          <p:nvPr/>
        </p:nvSpPr>
        <p:spPr bwMode="auto">
          <a:xfrm>
            <a:off x="526288" y="1350468"/>
            <a:ext cx="950170" cy="949548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auto">
          <a:xfrm>
            <a:off x="441371" y="3083722"/>
            <a:ext cx="950170" cy="949548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10" name="Freeform 14"/>
          <p:cNvSpPr>
            <a:spLocks/>
          </p:cNvSpPr>
          <p:nvPr/>
        </p:nvSpPr>
        <p:spPr bwMode="auto">
          <a:xfrm>
            <a:off x="441371" y="4831542"/>
            <a:ext cx="950170" cy="949548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4059" y="1388338"/>
            <a:ext cx="1241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8154" y="3109940"/>
            <a:ext cx="1241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2886" y="4856447"/>
            <a:ext cx="1241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63091" y="1325563"/>
            <a:ext cx="9122961" cy="954107"/>
          </a:xfrm>
          <a:prstGeom prst="rect">
            <a:avLst/>
          </a:prstGeom>
          <a:ln w="28575">
            <a:solidFill>
              <a:srgbClr val="04B0BE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磁盘是以“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盘面∣磁道∣扇区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”的方式来进行数据组织的。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910100" y="3083722"/>
            <a:ext cx="9936157" cy="738664"/>
          </a:xfrm>
          <a:prstGeom prst="rect">
            <a:avLst/>
          </a:prstGeom>
          <a:ln w="28575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磁盘的盘面由一个个同心圆环组成，每一个圆环称为一个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磁道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0456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222">
        <p14:doors dir="vert"/>
      </p:transition>
    </mc:Choice>
    <mc:Fallback xmlns="">
      <p:transition spd="slow" advTm="9222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1524001" y="21156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50000"/>
              <a:buFont typeface="Wingdings 2" panose="05020102010507070707" pitchFamily="18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 2" panose="05020102010507070707" pitchFamily="18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02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039545"/>
              </p:ext>
            </p:extLst>
          </p:nvPr>
        </p:nvGraphicFramePr>
        <p:xfrm>
          <a:off x="1708732" y="848138"/>
          <a:ext cx="8207030" cy="522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Visio" r:id="rId3" imgW="3609305" imgH="2371449" progId="Visio.Drawing.11">
                  <p:embed/>
                </p:oleObj>
              </mc:Choice>
              <mc:Fallback>
                <p:oleObj name="Visio" r:id="rId3" imgW="3609305" imgH="2371449" progId="Visio.Drawing.11">
                  <p:embed/>
                  <p:pic>
                    <p:nvPicPr>
                      <p:cNvPr id="1024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848138"/>
                        <a:ext cx="8207030" cy="5221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11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222">
        <p14:doors dir="vert"/>
      </p:transition>
    </mc:Choice>
    <mc:Fallback xmlns="">
      <p:transition spd="slow" advTm="922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97509" y="325160"/>
            <a:ext cx="5974331" cy="535489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磁盘存储器的性能参数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Oval 6"/>
          <p:cNvSpPr>
            <a:spLocks noChangeAspect="1" noChangeArrowheads="1"/>
          </p:cNvSpPr>
          <p:nvPr/>
        </p:nvSpPr>
        <p:spPr bwMode="auto">
          <a:xfrm>
            <a:off x="6129468" y="4076979"/>
            <a:ext cx="1435755" cy="1439438"/>
          </a:xfrm>
          <a:prstGeom prst="ellipse">
            <a:avLst/>
          </a:pr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Oval 7"/>
          <p:cNvSpPr>
            <a:spLocks noChangeAspect="1" noChangeArrowheads="1"/>
          </p:cNvSpPr>
          <p:nvPr/>
        </p:nvSpPr>
        <p:spPr bwMode="auto">
          <a:xfrm>
            <a:off x="8124834" y="2709201"/>
            <a:ext cx="1437597" cy="143943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8"/>
          <p:cNvSpPr>
            <a:spLocks noChangeAspect="1" noChangeArrowheads="1"/>
          </p:cNvSpPr>
          <p:nvPr/>
        </p:nvSpPr>
        <p:spPr bwMode="auto">
          <a:xfrm>
            <a:off x="10056895" y="1341743"/>
            <a:ext cx="1437597" cy="14394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5664121" y="2836734"/>
            <a:ext cx="6581779" cy="4019931"/>
          </a:xfrm>
          <a:custGeom>
            <a:avLst/>
            <a:gdLst/>
            <a:ahLst/>
            <a:cxnLst/>
            <a:rect l="l" t="t" r="r" b="b"/>
            <a:pathLst>
              <a:path w="5358466" h="3767155">
                <a:moveTo>
                  <a:pt x="3479568" y="0"/>
                </a:moveTo>
                <a:lnTo>
                  <a:pt x="3618115" y="0"/>
                </a:lnTo>
                <a:lnTo>
                  <a:pt x="5358466" y="0"/>
                </a:lnTo>
                <a:lnTo>
                  <a:pt x="5358466" y="138769"/>
                </a:lnTo>
                <a:lnTo>
                  <a:pt x="3618115" y="138769"/>
                </a:lnTo>
                <a:lnTo>
                  <a:pt x="3618115" y="1287028"/>
                </a:lnTo>
                <a:lnTo>
                  <a:pt x="3618115" y="1425797"/>
                </a:lnTo>
                <a:lnTo>
                  <a:pt x="3479568" y="1425797"/>
                </a:lnTo>
                <a:lnTo>
                  <a:pt x="1878331" y="1425797"/>
                </a:lnTo>
                <a:lnTo>
                  <a:pt x="1878331" y="2574055"/>
                </a:lnTo>
                <a:lnTo>
                  <a:pt x="1878331" y="2712824"/>
                </a:lnTo>
                <a:lnTo>
                  <a:pt x="1739784" y="2712824"/>
                </a:lnTo>
                <a:lnTo>
                  <a:pt x="138547" y="2712824"/>
                </a:lnTo>
                <a:lnTo>
                  <a:pt x="138547" y="3767155"/>
                </a:lnTo>
                <a:lnTo>
                  <a:pt x="0" y="3767155"/>
                </a:lnTo>
                <a:lnTo>
                  <a:pt x="0" y="2712824"/>
                </a:lnTo>
                <a:lnTo>
                  <a:pt x="0" y="2574055"/>
                </a:lnTo>
                <a:lnTo>
                  <a:pt x="138547" y="2574055"/>
                </a:lnTo>
                <a:lnTo>
                  <a:pt x="1739784" y="2574055"/>
                </a:lnTo>
                <a:lnTo>
                  <a:pt x="1739784" y="1425797"/>
                </a:lnTo>
                <a:lnTo>
                  <a:pt x="1739784" y="1287028"/>
                </a:lnTo>
                <a:lnTo>
                  <a:pt x="1878331" y="1287028"/>
                </a:lnTo>
                <a:lnTo>
                  <a:pt x="3479568" y="1287028"/>
                </a:lnTo>
                <a:lnTo>
                  <a:pt x="3479568" y="1387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4800363" y="4792654"/>
            <a:ext cx="1114472" cy="0"/>
          </a:xfrm>
          <a:prstGeom prst="line">
            <a:avLst/>
          </a:prstGeom>
          <a:noFill/>
          <a:ln w="38100" cap="flat">
            <a:solidFill>
              <a:schemeClr val="accent1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5914833" y="3428920"/>
            <a:ext cx="2052640" cy="0"/>
          </a:xfrm>
          <a:prstGeom prst="line">
            <a:avLst/>
          </a:prstGeom>
          <a:noFill/>
          <a:ln w="38100" cap="flat">
            <a:solidFill>
              <a:srgbClr val="92D050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H="1">
            <a:off x="6847344" y="2061462"/>
            <a:ext cx="3063587" cy="0"/>
          </a:xfrm>
          <a:prstGeom prst="line">
            <a:avLst/>
          </a:prstGeom>
          <a:noFill/>
          <a:ln w="38100" cap="flat">
            <a:solidFill>
              <a:srgbClr val="FFC000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4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388624" y="1507464"/>
            <a:ext cx="7252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468607" y="2926102"/>
            <a:ext cx="7252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84720" y="4292701"/>
            <a:ext cx="7252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81500" y="1798595"/>
            <a:ext cx="2287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存储密度</a:t>
            </a:r>
            <a:endParaRPr lang="en-US" altLang="zh-CN" sz="32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48054" y="3142889"/>
            <a:ext cx="2287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存储容量</a:t>
            </a:r>
            <a:endParaRPr lang="en-US" altLang="zh-CN" sz="32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06743" y="4531044"/>
            <a:ext cx="2287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访问速度</a:t>
            </a:r>
          </a:p>
        </p:txBody>
      </p:sp>
    </p:spTree>
    <p:extLst>
      <p:ext uri="{BB962C8B-B14F-4D97-AF65-F5344CB8AC3E}">
        <p14:creationId xmlns:p14="http://schemas.microsoft.com/office/powerpoint/2010/main" val="371408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8"/>
          <p:cNvSpPr>
            <a:spLocks noChangeArrowheads="1"/>
          </p:cNvSpPr>
          <p:nvPr/>
        </p:nvSpPr>
        <p:spPr bwMode="auto">
          <a:xfrm>
            <a:off x="1409605" y="889303"/>
            <a:ext cx="1887640" cy="615523"/>
          </a:xfrm>
          <a:prstGeom prst="rect">
            <a:avLst/>
          </a:prstGeom>
          <a:noFill/>
          <a:ln w="9525">
            <a:noFill/>
            <a:bevel/>
            <a:headEnd/>
            <a:tailEnd/>
          </a:ln>
        </p:spPr>
        <p:txBody>
          <a:bodyPr wrap="none" lIns="121892" tIns="60945" rIns="121892" bIns="60945">
            <a:spAutoFit/>
          </a:bodyPr>
          <a:lstStyle/>
          <a:p>
            <a:pPr defTabSz="1218804">
              <a:defRPr/>
            </a:pPr>
            <a:r>
              <a:rPr lang="zh-CN" altLang="en-US" sz="3200" b="1" dirty="0">
                <a:solidFill>
                  <a:srgbClr val="02B9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存储密度</a:t>
            </a:r>
            <a:endParaRPr lang="zh-CN" altLang="en-US" sz="1200" b="1" kern="0" dirty="0">
              <a:solidFill>
                <a:srgbClr val="02B9E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延迟符</a:t>
            </a:r>
          </a:p>
        </p:txBody>
      </p:sp>
      <p:sp>
        <p:nvSpPr>
          <p:cNvPr id="26" name="TextBox 1"/>
          <p:cNvSpPr txBox="1"/>
          <p:nvPr/>
        </p:nvSpPr>
        <p:spPr>
          <a:xfrm>
            <a:off x="1626547" y="1912382"/>
            <a:ext cx="8929941" cy="3970312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磁盘表面的存储密度主要分为道密度和位密度。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道密度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是指沿磁盘径向单位长度上的磁道数，单位为道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英寸（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）或道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毫米（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位密度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是指磁道单位长度上能记录的二进制代码位数，单位为位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英寸（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BPI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）或位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毫米（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BPM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>
              <a:lnSpc>
                <a:spcPct val="150000"/>
              </a:lnSpc>
            </a:pP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475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 bwMode="auto">
          <a:xfrm>
            <a:off x="1823604" y="3751172"/>
            <a:ext cx="0" cy="114354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TextBox 54"/>
          <p:cNvSpPr txBox="1"/>
          <p:nvPr/>
        </p:nvSpPr>
        <p:spPr>
          <a:xfrm>
            <a:off x="746787" y="283528"/>
            <a:ext cx="5974331" cy="535489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存储容量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9" name="椭圆 8"/>
          <p:cNvSpPr/>
          <p:nvPr/>
        </p:nvSpPr>
        <p:spPr bwMode="auto">
          <a:xfrm>
            <a:off x="1417307" y="1395811"/>
            <a:ext cx="799664" cy="799664"/>
          </a:xfrm>
          <a:prstGeom prst="ellipse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TextBox 9"/>
          <p:cNvSpPr txBox="1"/>
          <p:nvPr/>
        </p:nvSpPr>
        <p:spPr>
          <a:xfrm>
            <a:off x="1471670" y="1503373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1417307" y="2943368"/>
            <a:ext cx="799664" cy="799664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2" name="TextBox 11"/>
          <p:cNvSpPr txBox="1"/>
          <p:nvPr/>
        </p:nvSpPr>
        <p:spPr>
          <a:xfrm>
            <a:off x="1471670" y="3050929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1417307" y="4322942"/>
            <a:ext cx="799664" cy="799664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4" name="TextBox 13"/>
          <p:cNvSpPr txBox="1"/>
          <p:nvPr/>
        </p:nvSpPr>
        <p:spPr>
          <a:xfrm>
            <a:off x="1471670" y="4430505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9" name="直接连接符 18"/>
          <p:cNvCxnSpPr>
            <a:endCxn id="11" idx="0"/>
          </p:cNvCxnSpPr>
          <p:nvPr/>
        </p:nvCxnSpPr>
        <p:spPr bwMode="auto">
          <a:xfrm flipH="1">
            <a:off x="1817139" y="2087978"/>
            <a:ext cx="6465" cy="8553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2543033" y="1230220"/>
            <a:ext cx="91940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一个磁盘存储器所能存储的字节总数，称为磁盘存储器的存储容量。存储容量有格式化容量和非格式化容量之分。</a:t>
            </a:r>
          </a:p>
        </p:txBody>
      </p:sp>
      <p:sp>
        <p:nvSpPr>
          <p:cNvPr id="4" name="矩形 3"/>
          <p:cNvSpPr/>
          <p:nvPr/>
        </p:nvSpPr>
        <p:spPr>
          <a:xfrm>
            <a:off x="2543033" y="2772555"/>
            <a:ext cx="91940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格式化容量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是指按照某种特定的记录格式所能存储信息的总量，也就是用户可以真正使用的容量。</a:t>
            </a:r>
          </a:p>
        </p:txBody>
      </p:sp>
      <p:sp>
        <p:nvSpPr>
          <p:cNvPr id="8" name="矩形 7"/>
          <p:cNvSpPr/>
          <p:nvPr/>
        </p:nvSpPr>
        <p:spPr>
          <a:xfrm>
            <a:off x="2543033" y="4293012"/>
            <a:ext cx="134378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非格式化容量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是磁记录表面可以利用的磁化单元总数。 </a:t>
            </a:r>
          </a:p>
        </p:txBody>
      </p:sp>
    </p:spTree>
    <p:extLst>
      <p:ext uri="{BB962C8B-B14F-4D97-AF65-F5344CB8AC3E}">
        <p14:creationId xmlns:p14="http://schemas.microsoft.com/office/powerpoint/2010/main" val="397470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4"/>
          <p:cNvSpPr txBox="1"/>
          <p:nvPr/>
        </p:nvSpPr>
        <p:spPr>
          <a:xfrm>
            <a:off x="923460" y="370713"/>
            <a:ext cx="5974331" cy="535489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非格式化容量的计算：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9" name="Freeform 5"/>
          <p:cNvSpPr>
            <a:spLocks/>
          </p:cNvSpPr>
          <p:nvPr/>
        </p:nvSpPr>
        <p:spPr bwMode="auto">
          <a:xfrm>
            <a:off x="1186989" y="1413566"/>
            <a:ext cx="304681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1186989" y="1892805"/>
            <a:ext cx="304681" cy="3829143"/>
          </a:xfrm>
          <a:custGeom>
            <a:avLst/>
            <a:gdLst>
              <a:gd name="T0" fmla="*/ 175 w 351"/>
              <a:gd name="T1" fmla="*/ 0 h 4397"/>
              <a:gd name="T2" fmla="*/ 175 w 351"/>
              <a:gd name="T3" fmla="*/ 0 h 4397"/>
              <a:gd name="T4" fmla="*/ 351 w 351"/>
              <a:gd name="T5" fmla="*/ 143 h 4397"/>
              <a:gd name="T6" fmla="*/ 351 w 351"/>
              <a:gd name="T7" fmla="*/ 4254 h 4397"/>
              <a:gd name="T8" fmla="*/ 175 w 351"/>
              <a:gd name="T9" fmla="*/ 4397 h 4397"/>
              <a:gd name="T10" fmla="*/ 175 w 351"/>
              <a:gd name="T11" fmla="*/ 4397 h 4397"/>
              <a:gd name="T12" fmla="*/ 0 w 351"/>
              <a:gd name="T13" fmla="*/ 4254 h 4397"/>
              <a:gd name="T14" fmla="*/ 0 w 351"/>
              <a:gd name="T15" fmla="*/ 143 h 4397"/>
              <a:gd name="T16" fmla="*/ 175 w 351"/>
              <a:gd name="T17" fmla="*/ 0 h 4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397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4"/>
                  <a:pt x="351" y="143"/>
                </a:cubicBezTo>
                <a:lnTo>
                  <a:pt x="351" y="4254"/>
                </a:lnTo>
                <a:cubicBezTo>
                  <a:pt x="351" y="4332"/>
                  <a:pt x="272" y="4397"/>
                  <a:pt x="175" y="4397"/>
                </a:cubicBezTo>
                <a:lnTo>
                  <a:pt x="175" y="4397"/>
                </a:lnTo>
                <a:cubicBezTo>
                  <a:pt x="79" y="4397"/>
                  <a:pt x="0" y="4332"/>
                  <a:pt x="0" y="4254"/>
                </a:cubicBezTo>
                <a:lnTo>
                  <a:pt x="0" y="143"/>
                </a:lnTo>
                <a:cubicBezTo>
                  <a:pt x="0" y="64"/>
                  <a:pt x="79" y="0"/>
                  <a:pt x="175" y="0"/>
                </a:cubicBezTo>
                <a:close/>
              </a:path>
            </a:pathLst>
          </a:cu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>
            <a:off x="1056865" y="5353789"/>
            <a:ext cx="585559" cy="585559"/>
          </a:xfrm>
          <a:prstGeom prst="ellipse">
            <a:avLst/>
          </a:pr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2361453" y="1413566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2361453" y="2389499"/>
            <a:ext cx="306268" cy="3332449"/>
          </a:xfrm>
          <a:custGeom>
            <a:avLst/>
            <a:gdLst>
              <a:gd name="T0" fmla="*/ 175 w 351"/>
              <a:gd name="T1" fmla="*/ 0 h 3828"/>
              <a:gd name="T2" fmla="*/ 175 w 351"/>
              <a:gd name="T3" fmla="*/ 0 h 3828"/>
              <a:gd name="T4" fmla="*/ 351 w 351"/>
              <a:gd name="T5" fmla="*/ 124 h 3828"/>
              <a:gd name="T6" fmla="*/ 351 w 351"/>
              <a:gd name="T7" fmla="*/ 3703 h 3828"/>
              <a:gd name="T8" fmla="*/ 175 w 351"/>
              <a:gd name="T9" fmla="*/ 3828 h 3828"/>
              <a:gd name="T10" fmla="*/ 175 w 351"/>
              <a:gd name="T11" fmla="*/ 3828 h 3828"/>
              <a:gd name="T12" fmla="*/ 0 w 351"/>
              <a:gd name="T13" fmla="*/ 3703 h 3828"/>
              <a:gd name="T14" fmla="*/ 0 w 351"/>
              <a:gd name="T15" fmla="*/ 124 h 3828"/>
              <a:gd name="T16" fmla="*/ 175 w 351"/>
              <a:gd name="T17" fmla="*/ 0 h 3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82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56"/>
                  <a:pt x="351" y="124"/>
                </a:cubicBezTo>
                <a:lnTo>
                  <a:pt x="351" y="3703"/>
                </a:lnTo>
                <a:cubicBezTo>
                  <a:pt x="351" y="3772"/>
                  <a:pt x="272" y="3828"/>
                  <a:pt x="175" y="3828"/>
                </a:cubicBezTo>
                <a:lnTo>
                  <a:pt x="175" y="3828"/>
                </a:lnTo>
                <a:cubicBezTo>
                  <a:pt x="79" y="3828"/>
                  <a:pt x="0" y="3772"/>
                  <a:pt x="0" y="3703"/>
                </a:cubicBezTo>
                <a:lnTo>
                  <a:pt x="0" y="124"/>
                </a:lnTo>
                <a:cubicBezTo>
                  <a:pt x="0" y="56"/>
                  <a:pt x="79" y="0"/>
                  <a:pt x="175" y="0"/>
                </a:cubicBezTo>
                <a:close/>
              </a:path>
            </a:pathLst>
          </a:cu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2231329" y="5353789"/>
            <a:ext cx="585559" cy="585559"/>
          </a:xfrm>
          <a:prstGeom prst="ellipse">
            <a:avLst/>
          </a:pr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516464" y="1413566"/>
            <a:ext cx="306268" cy="4308380"/>
          </a:xfrm>
          <a:custGeom>
            <a:avLst/>
            <a:gdLst>
              <a:gd name="T0" fmla="*/ 176 w 352"/>
              <a:gd name="T1" fmla="*/ 0 h 4948"/>
              <a:gd name="T2" fmla="*/ 176 w 352"/>
              <a:gd name="T3" fmla="*/ 0 h 4948"/>
              <a:gd name="T4" fmla="*/ 352 w 352"/>
              <a:gd name="T5" fmla="*/ 176 h 4948"/>
              <a:gd name="T6" fmla="*/ 352 w 352"/>
              <a:gd name="T7" fmla="*/ 4772 h 4948"/>
              <a:gd name="T8" fmla="*/ 176 w 352"/>
              <a:gd name="T9" fmla="*/ 4948 h 4948"/>
              <a:gd name="T10" fmla="*/ 176 w 352"/>
              <a:gd name="T11" fmla="*/ 4948 h 4948"/>
              <a:gd name="T12" fmla="*/ 0 w 352"/>
              <a:gd name="T13" fmla="*/ 4772 h 4948"/>
              <a:gd name="T14" fmla="*/ 0 w 352"/>
              <a:gd name="T15" fmla="*/ 176 h 4948"/>
              <a:gd name="T16" fmla="*/ 176 w 352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948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79"/>
                  <a:pt x="352" y="176"/>
                </a:cubicBezTo>
                <a:lnTo>
                  <a:pt x="352" y="4772"/>
                </a:lnTo>
                <a:cubicBezTo>
                  <a:pt x="352" y="4869"/>
                  <a:pt x="273" y="4948"/>
                  <a:pt x="176" y="4948"/>
                </a:cubicBezTo>
                <a:lnTo>
                  <a:pt x="176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6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3516464" y="2061387"/>
            <a:ext cx="306268" cy="3660561"/>
          </a:xfrm>
          <a:custGeom>
            <a:avLst/>
            <a:gdLst>
              <a:gd name="T0" fmla="*/ 176 w 352"/>
              <a:gd name="T1" fmla="*/ 0 h 4581"/>
              <a:gd name="T2" fmla="*/ 176 w 352"/>
              <a:gd name="T3" fmla="*/ 0 h 4581"/>
              <a:gd name="T4" fmla="*/ 352 w 352"/>
              <a:gd name="T5" fmla="*/ 149 h 4581"/>
              <a:gd name="T6" fmla="*/ 352 w 352"/>
              <a:gd name="T7" fmla="*/ 4432 h 4581"/>
              <a:gd name="T8" fmla="*/ 176 w 352"/>
              <a:gd name="T9" fmla="*/ 4581 h 4581"/>
              <a:gd name="T10" fmla="*/ 176 w 352"/>
              <a:gd name="T11" fmla="*/ 4581 h 4581"/>
              <a:gd name="T12" fmla="*/ 0 w 352"/>
              <a:gd name="T13" fmla="*/ 4432 h 4581"/>
              <a:gd name="T14" fmla="*/ 0 w 352"/>
              <a:gd name="T15" fmla="*/ 149 h 4581"/>
              <a:gd name="T16" fmla="*/ 176 w 352"/>
              <a:gd name="T17" fmla="*/ 0 h 4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581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67"/>
                  <a:pt x="352" y="149"/>
                </a:cubicBezTo>
                <a:lnTo>
                  <a:pt x="352" y="4432"/>
                </a:lnTo>
                <a:cubicBezTo>
                  <a:pt x="352" y="4514"/>
                  <a:pt x="273" y="4581"/>
                  <a:pt x="176" y="4581"/>
                </a:cubicBezTo>
                <a:lnTo>
                  <a:pt x="176" y="4581"/>
                </a:lnTo>
                <a:cubicBezTo>
                  <a:pt x="79" y="4581"/>
                  <a:pt x="0" y="4514"/>
                  <a:pt x="0" y="4432"/>
                </a:cubicBezTo>
                <a:lnTo>
                  <a:pt x="0" y="149"/>
                </a:lnTo>
                <a:cubicBezTo>
                  <a:pt x="0" y="67"/>
                  <a:pt x="79" y="0"/>
                  <a:pt x="17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387929" y="5353789"/>
            <a:ext cx="585559" cy="585559"/>
          </a:xfrm>
          <a:prstGeom prst="ellipse">
            <a:avLst/>
          </a:pr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8" name="矩形 83"/>
          <p:cNvSpPr>
            <a:spLocks noChangeArrowheads="1"/>
          </p:cNvSpPr>
          <p:nvPr/>
        </p:nvSpPr>
        <p:spPr bwMode="auto">
          <a:xfrm>
            <a:off x="4452261" y="1235962"/>
            <a:ext cx="6873224" cy="4981870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9" name="TextBox 84"/>
          <p:cNvSpPr txBox="1">
            <a:spLocks noChangeArrowheads="1"/>
          </p:cNvSpPr>
          <p:nvPr/>
        </p:nvSpPr>
        <p:spPr bwMode="auto">
          <a:xfrm>
            <a:off x="4544530" y="1544551"/>
            <a:ext cx="6955186" cy="4278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98" tIns="45699" rIns="91398" bIns="4569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磁盘存储器总容量＝盘面数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每面容量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面容量＝磁道数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每道容量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磁道数＝道密度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径向有效距离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道容量＝位密度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磁道周长</a:t>
            </a:r>
          </a:p>
          <a:p>
            <a:pPr algn="just">
              <a:lnSpc>
                <a:spcPct val="200000"/>
              </a:lnSpc>
            </a:pP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20" name="Freeform 12"/>
          <p:cNvSpPr>
            <a:spLocks/>
          </p:cNvSpPr>
          <p:nvPr/>
        </p:nvSpPr>
        <p:spPr bwMode="auto">
          <a:xfrm>
            <a:off x="4301505" y="1114662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1" name="Freeform 12"/>
          <p:cNvSpPr>
            <a:spLocks/>
          </p:cNvSpPr>
          <p:nvPr/>
        </p:nvSpPr>
        <p:spPr bwMode="auto">
          <a:xfrm flipH="1" flipV="1">
            <a:off x="10904816" y="5802770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2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91376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9991" y="1957854"/>
            <a:ext cx="10515600" cy="4351338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	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磁盘存储器总容量＝盘面数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每面容量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面容量＝磁道数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每道容量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道容量＝扇区数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每扇区容量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矩形 1"/>
          <p:cNvSpPr/>
          <p:nvPr/>
        </p:nvSpPr>
        <p:spPr>
          <a:xfrm>
            <a:off x="875773" y="402534"/>
            <a:ext cx="3877985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格式化容量的计算：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9479055" y="2297276"/>
            <a:ext cx="2712945" cy="25284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10299984" y="2985684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 dirty="0"/>
          </a:p>
        </p:txBody>
      </p:sp>
      <p:sp>
        <p:nvSpPr>
          <p:cNvPr id="13" name="Freeform 11"/>
          <p:cNvSpPr>
            <a:spLocks noEditPoints="1"/>
          </p:cNvSpPr>
          <p:nvPr/>
        </p:nvSpPr>
        <p:spPr bwMode="auto">
          <a:xfrm>
            <a:off x="10509424" y="3173550"/>
            <a:ext cx="681355" cy="732353"/>
          </a:xfrm>
          <a:custGeom>
            <a:avLst/>
            <a:gdLst>
              <a:gd name="T0" fmla="*/ 203 w 675"/>
              <a:gd name="T1" fmla="*/ 110 h 720"/>
              <a:gd name="T2" fmla="*/ 442 w 675"/>
              <a:gd name="T3" fmla="*/ 80 h 720"/>
              <a:gd name="T4" fmla="*/ 356 w 675"/>
              <a:gd name="T5" fmla="*/ 50 h 720"/>
              <a:gd name="T6" fmla="*/ 258 w 675"/>
              <a:gd name="T7" fmla="*/ 50 h 720"/>
              <a:gd name="T8" fmla="*/ 172 w 675"/>
              <a:gd name="T9" fmla="*/ 80 h 720"/>
              <a:gd name="T10" fmla="*/ 555 w 675"/>
              <a:gd name="T11" fmla="*/ 624 h 720"/>
              <a:gd name="T12" fmla="*/ 564 w 675"/>
              <a:gd name="T13" fmla="*/ 602 h 720"/>
              <a:gd name="T14" fmla="*/ 526 w 675"/>
              <a:gd name="T15" fmla="*/ 467 h 720"/>
              <a:gd name="T16" fmla="*/ 500 w 675"/>
              <a:gd name="T17" fmla="*/ 467 h 720"/>
              <a:gd name="T18" fmla="*/ 501 w 675"/>
              <a:gd name="T19" fmla="*/ 571 h 720"/>
              <a:gd name="T20" fmla="*/ 501 w 675"/>
              <a:gd name="T21" fmla="*/ 573 h 720"/>
              <a:gd name="T22" fmla="*/ 502 w 675"/>
              <a:gd name="T23" fmla="*/ 576 h 720"/>
              <a:gd name="T24" fmla="*/ 504 w 675"/>
              <a:gd name="T25" fmla="*/ 578 h 720"/>
              <a:gd name="T26" fmla="*/ 642 w 675"/>
              <a:gd name="T27" fmla="*/ 475 h 720"/>
              <a:gd name="T28" fmla="*/ 513 w 675"/>
              <a:gd name="T29" fmla="*/ 407 h 720"/>
              <a:gd name="T30" fmla="*/ 484 w 675"/>
              <a:gd name="T31" fmla="*/ 717 h 720"/>
              <a:gd name="T32" fmla="*/ 667 w 675"/>
              <a:gd name="T33" fmla="*/ 593 h 720"/>
              <a:gd name="T34" fmla="*/ 643 w 675"/>
              <a:gd name="T35" fmla="*/ 588 h 720"/>
              <a:gd name="T36" fmla="*/ 513 w 675"/>
              <a:gd name="T37" fmla="*/ 696 h 720"/>
              <a:gd name="T38" fmla="*/ 383 w 675"/>
              <a:gd name="T39" fmla="*/ 538 h 720"/>
              <a:gd name="T40" fmla="*/ 538 w 675"/>
              <a:gd name="T41" fmla="*/ 433 h 720"/>
              <a:gd name="T42" fmla="*/ 643 w 675"/>
              <a:gd name="T43" fmla="*/ 588 h 720"/>
              <a:gd name="T44" fmla="*/ 226 w 675"/>
              <a:gd name="T45" fmla="*/ 587 h 720"/>
              <a:gd name="T46" fmla="*/ 386 w 675"/>
              <a:gd name="T47" fmla="*/ 428 h 720"/>
              <a:gd name="T48" fmla="*/ 419 w 675"/>
              <a:gd name="T49" fmla="*/ 403 h 720"/>
              <a:gd name="T50" fmla="*/ 582 w 675"/>
              <a:gd name="T51" fmla="*/ 244 h 720"/>
              <a:gd name="T52" fmla="*/ 589 w 675"/>
              <a:gd name="T53" fmla="*/ 394 h 720"/>
              <a:gd name="T54" fmla="*/ 614 w 675"/>
              <a:gd name="T55" fmla="*/ 403 h 720"/>
              <a:gd name="T56" fmla="*/ 614 w 675"/>
              <a:gd name="T57" fmla="*/ 166 h 720"/>
              <a:gd name="T58" fmla="*/ 32 w 675"/>
              <a:gd name="T59" fmla="*/ 134 h 720"/>
              <a:gd name="T60" fmla="*/ 0 w 675"/>
              <a:gd name="T61" fmla="*/ 251 h 720"/>
              <a:gd name="T62" fmla="*/ 0 w 675"/>
              <a:gd name="T63" fmla="*/ 428 h 720"/>
              <a:gd name="T64" fmla="*/ 0 w 675"/>
              <a:gd name="T65" fmla="*/ 599 h 720"/>
              <a:gd name="T66" fmla="*/ 340 w 675"/>
              <a:gd name="T67" fmla="*/ 631 h 720"/>
              <a:gd name="T68" fmla="*/ 25 w 675"/>
              <a:gd name="T69" fmla="*/ 251 h 720"/>
              <a:gd name="T70" fmla="*/ 32 w 675"/>
              <a:gd name="T71" fmla="*/ 244 h 720"/>
              <a:gd name="T72" fmla="*/ 201 w 675"/>
              <a:gd name="T73" fmla="*/ 403 h 720"/>
              <a:gd name="T74" fmla="*/ 25 w 675"/>
              <a:gd name="T75" fmla="*/ 251 h 720"/>
              <a:gd name="T76" fmla="*/ 201 w 675"/>
              <a:gd name="T77" fmla="*/ 428 h 720"/>
              <a:gd name="T78" fmla="*/ 32 w 675"/>
              <a:gd name="T79" fmla="*/ 587 h 720"/>
              <a:gd name="T80" fmla="*/ 25 w 675"/>
              <a:gd name="T81" fmla="*/ 428 h 720"/>
              <a:gd name="T82" fmla="*/ 226 w 675"/>
              <a:gd name="T83" fmla="*/ 403 h 720"/>
              <a:gd name="T84" fmla="*/ 226 w 675"/>
              <a:gd name="T85" fmla="*/ 244 h 720"/>
              <a:gd name="T86" fmla="*/ 394 w 675"/>
              <a:gd name="T87" fmla="*/ 403 h 720"/>
              <a:gd name="T88" fmla="*/ 406 w 675"/>
              <a:gd name="T89" fmla="*/ 166 h 720"/>
              <a:gd name="T90" fmla="*/ 428 w 675"/>
              <a:gd name="T91" fmla="*/ 188 h 720"/>
              <a:gd name="T92" fmla="*/ 385 w 675"/>
              <a:gd name="T93" fmla="*/ 188 h 720"/>
              <a:gd name="T94" fmla="*/ 213 w 675"/>
              <a:gd name="T95" fmla="*/ 166 h 720"/>
              <a:gd name="T96" fmla="*/ 235 w 675"/>
              <a:gd name="T97" fmla="*/ 188 h 720"/>
              <a:gd name="T98" fmla="*/ 192 w 675"/>
              <a:gd name="T99" fmla="*/ 188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675" h="720">
                <a:moveTo>
                  <a:pt x="172" y="80"/>
                </a:moveTo>
                <a:cubicBezTo>
                  <a:pt x="172" y="97"/>
                  <a:pt x="186" y="110"/>
                  <a:pt x="203" y="110"/>
                </a:cubicBezTo>
                <a:lnTo>
                  <a:pt x="411" y="110"/>
                </a:lnTo>
                <a:cubicBezTo>
                  <a:pt x="428" y="110"/>
                  <a:pt x="442" y="97"/>
                  <a:pt x="442" y="80"/>
                </a:cubicBezTo>
                <a:cubicBezTo>
                  <a:pt x="442" y="63"/>
                  <a:pt x="428" y="50"/>
                  <a:pt x="411" y="50"/>
                </a:cubicBezTo>
                <a:lnTo>
                  <a:pt x="356" y="50"/>
                </a:lnTo>
                <a:cubicBezTo>
                  <a:pt x="356" y="22"/>
                  <a:pt x="334" y="0"/>
                  <a:pt x="307" y="0"/>
                </a:cubicBezTo>
                <a:cubicBezTo>
                  <a:pt x="280" y="0"/>
                  <a:pt x="258" y="22"/>
                  <a:pt x="258" y="50"/>
                </a:cubicBezTo>
                <a:lnTo>
                  <a:pt x="203" y="50"/>
                </a:lnTo>
                <a:cubicBezTo>
                  <a:pt x="186" y="50"/>
                  <a:pt x="172" y="63"/>
                  <a:pt x="172" y="80"/>
                </a:cubicBezTo>
                <a:close/>
                <a:moveTo>
                  <a:pt x="546" y="620"/>
                </a:moveTo>
                <a:cubicBezTo>
                  <a:pt x="549" y="622"/>
                  <a:pt x="552" y="624"/>
                  <a:pt x="555" y="624"/>
                </a:cubicBezTo>
                <a:cubicBezTo>
                  <a:pt x="558" y="624"/>
                  <a:pt x="562" y="622"/>
                  <a:pt x="564" y="620"/>
                </a:cubicBezTo>
                <a:cubicBezTo>
                  <a:pt x="569" y="615"/>
                  <a:pt x="569" y="607"/>
                  <a:pt x="564" y="602"/>
                </a:cubicBezTo>
                <a:lnTo>
                  <a:pt x="526" y="563"/>
                </a:lnTo>
                <a:lnTo>
                  <a:pt x="526" y="467"/>
                </a:lnTo>
                <a:cubicBezTo>
                  <a:pt x="526" y="460"/>
                  <a:pt x="520" y="455"/>
                  <a:pt x="513" y="455"/>
                </a:cubicBezTo>
                <a:cubicBezTo>
                  <a:pt x="506" y="455"/>
                  <a:pt x="500" y="460"/>
                  <a:pt x="500" y="467"/>
                </a:cubicBezTo>
                <a:lnTo>
                  <a:pt x="500" y="569"/>
                </a:lnTo>
                <a:cubicBezTo>
                  <a:pt x="500" y="570"/>
                  <a:pt x="500" y="570"/>
                  <a:pt x="501" y="571"/>
                </a:cubicBezTo>
                <a:cubicBezTo>
                  <a:pt x="501" y="572"/>
                  <a:pt x="501" y="572"/>
                  <a:pt x="501" y="572"/>
                </a:cubicBezTo>
                <a:cubicBezTo>
                  <a:pt x="501" y="573"/>
                  <a:pt x="501" y="573"/>
                  <a:pt x="501" y="573"/>
                </a:cubicBezTo>
                <a:cubicBezTo>
                  <a:pt x="502" y="574"/>
                  <a:pt x="502" y="574"/>
                  <a:pt x="502" y="575"/>
                </a:cubicBezTo>
                <a:cubicBezTo>
                  <a:pt x="502" y="575"/>
                  <a:pt x="502" y="575"/>
                  <a:pt x="502" y="576"/>
                </a:cubicBezTo>
                <a:cubicBezTo>
                  <a:pt x="503" y="576"/>
                  <a:pt x="503" y="577"/>
                  <a:pt x="504" y="577"/>
                </a:cubicBezTo>
                <a:cubicBezTo>
                  <a:pt x="504" y="577"/>
                  <a:pt x="504" y="578"/>
                  <a:pt x="504" y="578"/>
                </a:cubicBezTo>
                <a:lnTo>
                  <a:pt x="546" y="620"/>
                </a:lnTo>
                <a:close/>
                <a:moveTo>
                  <a:pt x="642" y="475"/>
                </a:moveTo>
                <a:cubicBezTo>
                  <a:pt x="619" y="441"/>
                  <a:pt x="583" y="417"/>
                  <a:pt x="542" y="410"/>
                </a:cubicBezTo>
                <a:cubicBezTo>
                  <a:pt x="533" y="408"/>
                  <a:pt x="523" y="407"/>
                  <a:pt x="513" y="407"/>
                </a:cubicBezTo>
                <a:cubicBezTo>
                  <a:pt x="438" y="407"/>
                  <a:pt x="373" y="460"/>
                  <a:pt x="359" y="534"/>
                </a:cubicBezTo>
                <a:cubicBezTo>
                  <a:pt x="343" y="619"/>
                  <a:pt x="399" y="701"/>
                  <a:pt x="484" y="717"/>
                </a:cubicBezTo>
                <a:cubicBezTo>
                  <a:pt x="493" y="719"/>
                  <a:pt x="503" y="720"/>
                  <a:pt x="513" y="720"/>
                </a:cubicBezTo>
                <a:cubicBezTo>
                  <a:pt x="588" y="720"/>
                  <a:pt x="653" y="666"/>
                  <a:pt x="667" y="593"/>
                </a:cubicBezTo>
                <a:cubicBezTo>
                  <a:pt x="675" y="552"/>
                  <a:pt x="666" y="510"/>
                  <a:pt x="642" y="475"/>
                </a:cubicBezTo>
                <a:close/>
                <a:moveTo>
                  <a:pt x="643" y="588"/>
                </a:moveTo>
                <a:lnTo>
                  <a:pt x="643" y="588"/>
                </a:lnTo>
                <a:cubicBezTo>
                  <a:pt x="631" y="650"/>
                  <a:pt x="576" y="696"/>
                  <a:pt x="513" y="696"/>
                </a:cubicBezTo>
                <a:cubicBezTo>
                  <a:pt x="505" y="696"/>
                  <a:pt x="496" y="695"/>
                  <a:pt x="488" y="693"/>
                </a:cubicBezTo>
                <a:cubicBezTo>
                  <a:pt x="416" y="680"/>
                  <a:pt x="369" y="610"/>
                  <a:pt x="383" y="538"/>
                </a:cubicBezTo>
                <a:cubicBezTo>
                  <a:pt x="395" y="476"/>
                  <a:pt x="449" y="431"/>
                  <a:pt x="513" y="431"/>
                </a:cubicBezTo>
                <a:cubicBezTo>
                  <a:pt x="521" y="431"/>
                  <a:pt x="529" y="432"/>
                  <a:pt x="538" y="433"/>
                </a:cubicBezTo>
                <a:cubicBezTo>
                  <a:pt x="573" y="440"/>
                  <a:pt x="603" y="460"/>
                  <a:pt x="622" y="489"/>
                </a:cubicBezTo>
                <a:cubicBezTo>
                  <a:pt x="642" y="518"/>
                  <a:pt x="650" y="553"/>
                  <a:pt x="643" y="588"/>
                </a:cubicBezTo>
                <a:close/>
                <a:moveTo>
                  <a:pt x="329" y="587"/>
                </a:moveTo>
                <a:lnTo>
                  <a:pt x="226" y="587"/>
                </a:lnTo>
                <a:lnTo>
                  <a:pt x="226" y="428"/>
                </a:lnTo>
                <a:lnTo>
                  <a:pt x="386" y="428"/>
                </a:lnTo>
                <a:cubicBezTo>
                  <a:pt x="396" y="418"/>
                  <a:pt x="407" y="410"/>
                  <a:pt x="419" y="403"/>
                </a:cubicBezTo>
                <a:lnTo>
                  <a:pt x="419" y="403"/>
                </a:lnTo>
                <a:lnTo>
                  <a:pt x="419" y="244"/>
                </a:lnTo>
                <a:lnTo>
                  <a:pt x="582" y="244"/>
                </a:lnTo>
                <a:cubicBezTo>
                  <a:pt x="586" y="244"/>
                  <a:pt x="589" y="247"/>
                  <a:pt x="589" y="251"/>
                </a:cubicBezTo>
                <a:lnTo>
                  <a:pt x="589" y="394"/>
                </a:lnTo>
                <a:cubicBezTo>
                  <a:pt x="598" y="398"/>
                  <a:pt x="606" y="403"/>
                  <a:pt x="614" y="408"/>
                </a:cubicBezTo>
                <a:lnTo>
                  <a:pt x="614" y="403"/>
                </a:lnTo>
                <a:lnTo>
                  <a:pt x="614" y="251"/>
                </a:lnTo>
                <a:lnTo>
                  <a:pt x="614" y="166"/>
                </a:lnTo>
                <a:cubicBezTo>
                  <a:pt x="614" y="148"/>
                  <a:pt x="600" y="134"/>
                  <a:pt x="582" y="134"/>
                </a:cubicBezTo>
                <a:lnTo>
                  <a:pt x="32" y="134"/>
                </a:lnTo>
                <a:cubicBezTo>
                  <a:pt x="14" y="134"/>
                  <a:pt x="0" y="148"/>
                  <a:pt x="0" y="166"/>
                </a:cubicBezTo>
                <a:lnTo>
                  <a:pt x="0" y="251"/>
                </a:lnTo>
                <a:lnTo>
                  <a:pt x="0" y="403"/>
                </a:lnTo>
                <a:lnTo>
                  <a:pt x="0" y="428"/>
                </a:lnTo>
                <a:lnTo>
                  <a:pt x="0" y="580"/>
                </a:lnTo>
                <a:lnTo>
                  <a:pt x="0" y="599"/>
                </a:lnTo>
                <a:cubicBezTo>
                  <a:pt x="0" y="617"/>
                  <a:pt x="14" y="631"/>
                  <a:pt x="32" y="631"/>
                </a:cubicBezTo>
                <a:lnTo>
                  <a:pt x="340" y="631"/>
                </a:lnTo>
                <a:cubicBezTo>
                  <a:pt x="334" y="617"/>
                  <a:pt x="330" y="602"/>
                  <a:pt x="329" y="587"/>
                </a:cubicBezTo>
                <a:close/>
                <a:moveTo>
                  <a:pt x="25" y="251"/>
                </a:moveTo>
                <a:lnTo>
                  <a:pt x="25" y="251"/>
                </a:lnTo>
                <a:cubicBezTo>
                  <a:pt x="25" y="247"/>
                  <a:pt x="28" y="244"/>
                  <a:pt x="32" y="244"/>
                </a:cubicBezTo>
                <a:lnTo>
                  <a:pt x="201" y="244"/>
                </a:lnTo>
                <a:lnTo>
                  <a:pt x="201" y="403"/>
                </a:lnTo>
                <a:lnTo>
                  <a:pt x="25" y="403"/>
                </a:lnTo>
                <a:lnTo>
                  <a:pt x="25" y="251"/>
                </a:lnTo>
                <a:close/>
                <a:moveTo>
                  <a:pt x="201" y="428"/>
                </a:moveTo>
                <a:lnTo>
                  <a:pt x="201" y="428"/>
                </a:lnTo>
                <a:lnTo>
                  <a:pt x="201" y="587"/>
                </a:lnTo>
                <a:lnTo>
                  <a:pt x="32" y="587"/>
                </a:lnTo>
                <a:cubicBezTo>
                  <a:pt x="28" y="587"/>
                  <a:pt x="25" y="584"/>
                  <a:pt x="25" y="580"/>
                </a:cubicBezTo>
                <a:lnTo>
                  <a:pt x="25" y="428"/>
                </a:lnTo>
                <a:lnTo>
                  <a:pt x="201" y="428"/>
                </a:lnTo>
                <a:close/>
                <a:moveTo>
                  <a:pt x="226" y="403"/>
                </a:moveTo>
                <a:lnTo>
                  <a:pt x="226" y="403"/>
                </a:lnTo>
                <a:lnTo>
                  <a:pt x="226" y="244"/>
                </a:lnTo>
                <a:lnTo>
                  <a:pt x="394" y="244"/>
                </a:lnTo>
                <a:lnTo>
                  <a:pt x="394" y="403"/>
                </a:lnTo>
                <a:lnTo>
                  <a:pt x="226" y="403"/>
                </a:lnTo>
                <a:close/>
                <a:moveTo>
                  <a:pt x="406" y="166"/>
                </a:moveTo>
                <a:lnTo>
                  <a:pt x="406" y="166"/>
                </a:lnTo>
                <a:cubicBezTo>
                  <a:pt x="418" y="166"/>
                  <a:pt x="428" y="176"/>
                  <a:pt x="428" y="188"/>
                </a:cubicBezTo>
                <a:cubicBezTo>
                  <a:pt x="428" y="200"/>
                  <a:pt x="418" y="209"/>
                  <a:pt x="406" y="209"/>
                </a:cubicBezTo>
                <a:cubicBezTo>
                  <a:pt x="394" y="209"/>
                  <a:pt x="385" y="200"/>
                  <a:pt x="385" y="188"/>
                </a:cubicBezTo>
                <a:cubicBezTo>
                  <a:pt x="385" y="176"/>
                  <a:pt x="394" y="166"/>
                  <a:pt x="406" y="166"/>
                </a:cubicBezTo>
                <a:close/>
                <a:moveTo>
                  <a:pt x="213" y="166"/>
                </a:moveTo>
                <a:lnTo>
                  <a:pt x="213" y="166"/>
                </a:lnTo>
                <a:cubicBezTo>
                  <a:pt x="225" y="166"/>
                  <a:pt x="235" y="176"/>
                  <a:pt x="235" y="188"/>
                </a:cubicBezTo>
                <a:cubicBezTo>
                  <a:pt x="235" y="200"/>
                  <a:pt x="225" y="209"/>
                  <a:pt x="213" y="209"/>
                </a:cubicBezTo>
                <a:cubicBezTo>
                  <a:pt x="201" y="209"/>
                  <a:pt x="192" y="200"/>
                  <a:pt x="192" y="188"/>
                </a:cubicBezTo>
                <a:cubicBezTo>
                  <a:pt x="192" y="176"/>
                  <a:pt x="201" y="166"/>
                  <a:pt x="213" y="16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18640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222">
        <p14:doors dir="vert"/>
      </p:transition>
    </mc:Choice>
    <mc:Fallback xmlns="">
      <p:transition spd="slow" advTm="9222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3590" y="-38111"/>
            <a:ext cx="10515600" cy="1325563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访问时间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4726" y="1829170"/>
            <a:ext cx="6813803" cy="435133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200000"/>
              </a:lnSpc>
              <a:buNone/>
            </a:pPr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磁盘存储器的访问时间主要由寻道时间、旋转延时和传送时间三部分组成。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000540" y="3071192"/>
            <a:ext cx="8435975" cy="5026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-22289" y="2164754"/>
            <a:ext cx="2735237" cy="2528499"/>
          </a:xfrm>
          <a:prstGeom prst="rect">
            <a:avLst/>
          </a:pr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69489" y="2896757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40"/>
          <p:cNvSpPr>
            <a:spLocks noEditPoints="1"/>
          </p:cNvSpPr>
          <p:nvPr/>
        </p:nvSpPr>
        <p:spPr bwMode="auto">
          <a:xfrm>
            <a:off x="927247" y="3188714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191260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222">
        <p14:doors dir="vert"/>
      </p:transition>
    </mc:Choice>
    <mc:Fallback xmlns="">
      <p:transition spd="slow" advTm="9222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83"/>
          <p:cNvSpPr>
            <a:spLocks noChangeArrowheads="1"/>
          </p:cNvSpPr>
          <p:nvPr/>
        </p:nvSpPr>
        <p:spPr bwMode="auto">
          <a:xfrm>
            <a:off x="646061" y="625648"/>
            <a:ext cx="6500463" cy="5420045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631111" y="543761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 flipH="1" flipV="1">
            <a:off x="6746818" y="5623618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2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956153" y="625648"/>
            <a:ext cx="603535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寻道时间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磁头定位到需读写的磁道所花的时间。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由于寻道时间是不确定的，因此一个磁盘存储器的寻道时间一般取平均寻道时间。平均寻道时间是最大寻道时间与最小寻道时间的平均值，目前平均寻道时间为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20ms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，一些高速硬盘的平均寻道时间小于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810759" y="1533056"/>
            <a:ext cx="5420045" cy="367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83"/>
          <p:cNvSpPr>
            <a:spLocks noChangeArrowheads="1"/>
          </p:cNvSpPr>
          <p:nvPr/>
        </p:nvSpPr>
        <p:spPr bwMode="auto">
          <a:xfrm>
            <a:off x="754998" y="490243"/>
            <a:ext cx="6127601" cy="5931695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6" name="Freeform 12"/>
          <p:cNvSpPr>
            <a:spLocks/>
          </p:cNvSpPr>
          <p:nvPr/>
        </p:nvSpPr>
        <p:spPr bwMode="auto">
          <a:xfrm>
            <a:off x="618266" y="394160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 flipH="1" flipV="1">
            <a:off x="6490899" y="5988003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8" name="矩形 7"/>
          <p:cNvSpPr/>
          <p:nvPr/>
        </p:nvSpPr>
        <p:spPr>
          <a:xfrm>
            <a:off x="909192" y="490243"/>
            <a:ext cx="53908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旋转延时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需读写的扇区旋转到磁头下所花的时间。</a:t>
            </a:r>
          </a:p>
        </p:txBody>
      </p:sp>
      <p:sp>
        <p:nvSpPr>
          <p:cNvPr id="9" name="矩形 8"/>
          <p:cNvSpPr/>
          <p:nvPr/>
        </p:nvSpPr>
        <p:spPr>
          <a:xfrm>
            <a:off x="882482" y="1712957"/>
            <a:ext cx="58192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每次对一个磁道上某个扇区的访问，旋转延时也是不同的，因此旋转延时也取平均值。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平均旋转延时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磁盘旋转半周的时间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443" y="3660950"/>
            <a:ext cx="4179829" cy="276098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443" y="490243"/>
            <a:ext cx="4179829" cy="271972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909192" y="4390613"/>
            <a:ext cx="52432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寻道时间和旋转延时的总和称为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存取时间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，即定位到读写位置的时间。</a:t>
            </a:r>
          </a:p>
        </p:txBody>
      </p:sp>
    </p:spTree>
    <p:extLst>
      <p:ext uri="{BB962C8B-B14F-4D97-AF65-F5344CB8AC3E}">
        <p14:creationId xmlns:p14="http://schemas.microsoft.com/office/powerpoint/2010/main" val="321728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04726" y="2057628"/>
            <a:ext cx="79303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从所访问的扇区头开始，整个扇区从磁头下经过，即完成了该扇区的数据传送，这部分时间称为传送时间。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13590" y="-38111"/>
            <a:ext cx="10515600" cy="1325563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传送时间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-22289" y="2164754"/>
            <a:ext cx="2735237" cy="2528499"/>
          </a:xfrm>
          <a:prstGeom prst="rect">
            <a:avLst/>
          </a:pr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769489" y="2896757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Freeform 40"/>
          <p:cNvSpPr>
            <a:spLocks noEditPoints="1"/>
          </p:cNvSpPr>
          <p:nvPr/>
        </p:nvSpPr>
        <p:spPr bwMode="auto">
          <a:xfrm>
            <a:off x="927247" y="3188714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428361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3346211" y="3839984"/>
            <a:ext cx="831525" cy="82993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6"/>
          <p:cNvSpPr>
            <a:spLocks noChangeArrowheads="1"/>
          </p:cNvSpPr>
          <p:nvPr/>
        </p:nvSpPr>
        <p:spPr bwMode="auto">
          <a:xfrm>
            <a:off x="3346211" y="2169395"/>
            <a:ext cx="831525" cy="83152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4384051" y="2885605"/>
            <a:ext cx="30151" cy="3174"/>
          </a:xfrm>
          <a:custGeom>
            <a:avLst/>
            <a:gdLst>
              <a:gd name="T0" fmla="*/ 0 w 43"/>
              <a:gd name="T1" fmla="*/ 0 h 5"/>
              <a:gd name="T2" fmla="*/ 1 w 43"/>
              <a:gd name="T3" fmla="*/ 5 h 5"/>
              <a:gd name="T4" fmla="*/ 43 w 43"/>
              <a:gd name="T5" fmla="*/ 3 h 5"/>
              <a:gd name="T6" fmla="*/ 0 w 43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" h="5">
                <a:moveTo>
                  <a:pt x="0" y="0"/>
                </a:moveTo>
                <a:lnTo>
                  <a:pt x="1" y="5"/>
                </a:lnTo>
                <a:lnTo>
                  <a:pt x="4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6" name="Oval 5"/>
          <p:cNvSpPr>
            <a:spLocks noChangeArrowheads="1"/>
          </p:cNvSpPr>
          <p:nvPr/>
        </p:nvSpPr>
        <p:spPr bwMode="auto">
          <a:xfrm>
            <a:off x="779399" y="2147611"/>
            <a:ext cx="2376931" cy="2376928"/>
          </a:xfrm>
          <a:prstGeom prst="ellipse">
            <a:avLst/>
          </a:pr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36" name="Freeform 5"/>
          <p:cNvSpPr>
            <a:spLocks noEditPoints="1"/>
          </p:cNvSpPr>
          <p:nvPr/>
        </p:nvSpPr>
        <p:spPr bwMode="auto">
          <a:xfrm>
            <a:off x="1504294" y="2657569"/>
            <a:ext cx="927140" cy="1175561"/>
          </a:xfrm>
          <a:custGeom>
            <a:avLst/>
            <a:gdLst>
              <a:gd name="T0" fmla="*/ 622 w 794"/>
              <a:gd name="T1" fmla="*/ 491 h 1018"/>
              <a:gd name="T2" fmla="*/ 481 w 794"/>
              <a:gd name="T3" fmla="*/ 612 h 1018"/>
              <a:gd name="T4" fmla="*/ 667 w 794"/>
              <a:gd name="T5" fmla="*/ 641 h 1018"/>
              <a:gd name="T6" fmla="*/ 672 w 794"/>
              <a:gd name="T7" fmla="*/ 487 h 1018"/>
              <a:gd name="T8" fmla="*/ 794 w 794"/>
              <a:gd name="T9" fmla="*/ 420 h 1018"/>
              <a:gd name="T10" fmla="*/ 747 w 794"/>
              <a:gd name="T11" fmla="*/ 487 h 1018"/>
              <a:gd name="T12" fmla="*/ 713 w 794"/>
              <a:gd name="T13" fmla="*/ 679 h 1018"/>
              <a:gd name="T14" fmla="*/ 631 w 794"/>
              <a:gd name="T15" fmla="*/ 709 h 1018"/>
              <a:gd name="T16" fmla="*/ 442 w 794"/>
              <a:gd name="T17" fmla="*/ 719 h 1018"/>
              <a:gd name="T18" fmla="*/ 627 w 794"/>
              <a:gd name="T19" fmla="*/ 911 h 1018"/>
              <a:gd name="T20" fmla="*/ 659 w 794"/>
              <a:gd name="T21" fmla="*/ 971 h 1018"/>
              <a:gd name="T22" fmla="*/ 565 w 794"/>
              <a:gd name="T23" fmla="*/ 971 h 1018"/>
              <a:gd name="T24" fmla="*/ 428 w 794"/>
              <a:gd name="T25" fmla="*/ 906 h 1018"/>
              <a:gd name="T26" fmla="*/ 456 w 794"/>
              <a:gd name="T27" fmla="*/ 971 h 1018"/>
              <a:gd name="T28" fmla="*/ 361 w 794"/>
              <a:gd name="T29" fmla="*/ 971 h 1018"/>
              <a:gd name="T30" fmla="*/ 381 w 794"/>
              <a:gd name="T31" fmla="*/ 905 h 1018"/>
              <a:gd name="T32" fmla="*/ 243 w 794"/>
              <a:gd name="T33" fmla="*/ 971 h 1018"/>
              <a:gd name="T34" fmla="*/ 148 w 794"/>
              <a:gd name="T35" fmla="*/ 971 h 1018"/>
              <a:gd name="T36" fmla="*/ 173 w 794"/>
              <a:gd name="T37" fmla="*/ 911 h 1018"/>
              <a:gd name="T38" fmla="*/ 346 w 794"/>
              <a:gd name="T39" fmla="*/ 719 h 1018"/>
              <a:gd name="T40" fmla="*/ 154 w 794"/>
              <a:gd name="T41" fmla="*/ 706 h 1018"/>
              <a:gd name="T42" fmla="*/ 81 w 794"/>
              <a:gd name="T43" fmla="*/ 679 h 1018"/>
              <a:gd name="T44" fmla="*/ 47 w 794"/>
              <a:gd name="T45" fmla="*/ 487 h 1018"/>
              <a:gd name="T46" fmla="*/ 0 w 794"/>
              <a:gd name="T47" fmla="*/ 420 h 1018"/>
              <a:gd name="T48" fmla="*/ 122 w 794"/>
              <a:gd name="T49" fmla="*/ 487 h 1018"/>
              <a:gd name="T50" fmla="*/ 127 w 794"/>
              <a:gd name="T51" fmla="*/ 641 h 1018"/>
              <a:gd name="T52" fmla="*/ 316 w 794"/>
              <a:gd name="T53" fmla="*/ 611 h 1018"/>
              <a:gd name="T54" fmla="*/ 168 w 794"/>
              <a:gd name="T55" fmla="*/ 491 h 1018"/>
              <a:gd name="T56" fmla="*/ 591 w 794"/>
              <a:gd name="T57" fmla="*/ 126 h 1018"/>
              <a:gd name="T58" fmla="*/ 494 w 794"/>
              <a:gd name="T59" fmla="*/ 168 h 1018"/>
              <a:gd name="T60" fmla="*/ 297 w 794"/>
              <a:gd name="T61" fmla="*/ 194 h 1018"/>
              <a:gd name="T62" fmla="*/ 287 w 794"/>
              <a:gd name="T63" fmla="*/ 273 h 1018"/>
              <a:gd name="T64" fmla="*/ 504 w 794"/>
              <a:gd name="T65" fmla="*/ 299 h 1018"/>
              <a:gd name="T66" fmla="*/ 287 w 794"/>
              <a:gd name="T67" fmla="*/ 273 h 1018"/>
              <a:gd name="T68" fmla="*/ 514 w 794"/>
              <a:gd name="T69" fmla="*/ 383 h 1018"/>
              <a:gd name="T70" fmla="*/ 277 w 794"/>
              <a:gd name="T71" fmla="*/ 409 h 10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94" h="1018">
                <a:moveTo>
                  <a:pt x="591" y="126"/>
                </a:moveTo>
                <a:cubicBezTo>
                  <a:pt x="601" y="248"/>
                  <a:pt x="611" y="370"/>
                  <a:pt x="622" y="491"/>
                </a:cubicBezTo>
                <a:cubicBezTo>
                  <a:pt x="607" y="518"/>
                  <a:pt x="550" y="536"/>
                  <a:pt x="481" y="544"/>
                </a:cubicBezTo>
                <a:lnTo>
                  <a:pt x="481" y="612"/>
                </a:lnTo>
                <a:cubicBezTo>
                  <a:pt x="548" y="619"/>
                  <a:pt x="604" y="634"/>
                  <a:pt x="624" y="657"/>
                </a:cubicBezTo>
                <a:lnTo>
                  <a:pt x="667" y="641"/>
                </a:lnTo>
                <a:lnTo>
                  <a:pt x="695" y="487"/>
                </a:lnTo>
                <a:lnTo>
                  <a:pt x="672" y="487"/>
                </a:lnTo>
                <a:lnTo>
                  <a:pt x="654" y="420"/>
                </a:lnTo>
                <a:lnTo>
                  <a:pt x="794" y="420"/>
                </a:lnTo>
                <a:lnTo>
                  <a:pt x="776" y="487"/>
                </a:lnTo>
                <a:lnTo>
                  <a:pt x="747" y="487"/>
                </a:lnTo>
                <a:lnTo>
                  <a:pt x="715" y="665"/>
                </a:lnTo>
                <a:lnTo>
                  <a:pt x="713" y="679"/>
                </a:lnTo>
                <a:lnTo>
                  <a:pt x="699" y="684"/>
                </a:lnTo>
                <a:lnTo>
                  <a:pt x="631" y="709"/>
                </a:lnTo>
                <a:lnTo>
                  <a:pt x="631" y="719"/>
                </a:lnTo>
                <a:lnTo>
                  <a:pt x="442" y="719"/>
                </a:lnTo>
                <a:lnTo>
                  <a:pt x="442" y="866"/>
                </a:lnTo>
                <a:cubicBezTo>
                  <a:pt x="504" y="871"/>
                  <a:pt x="565" y="887"/>
                  <a:pt x="627" y="911"/>
                </a:cubicBezTo>
                <a:lnTo>
                  <a:pt x="621" y="925"/>
                </a:lnTo>
                <a:cubicBezTo>
                  <a:pt x="643" y="929"/>
                  <a:pt x="659" y="948"/>
                  <a:pt x="659" y="971"/>
                </a:cubicBezTo>
                <a:cubicBezTo>
                  <a:pt x="659" y="997"/>
                  <a:pt x="638" y="1018"/>
                  <a:pt x="612" y="1018"/>
                </a:cubicBezTo>
                <a:cubicBezTo>
                  <a:pt x="586" y="1018"/>
                  <a:pt x="565" y="997"/>
                  <a:pt x="565" y="971"/>
                </a:cubicBezTo>
                <a:cubicBezTo>
                  <a:pt x="565" y="958"/>
                  <a:pt x="570" y="946"/>
                  <a:pt x="579" y="938"/>
                </a:cubicBezTo>
                <a:cubicBezTo>
                  <a:pt x="528" y="920"/>
                  <a:pt x="478" y="910"/>
                  <a:pt x="428" y="906"/>
                </a:cubicBezTo>
                <a:lnTo>
                  <a:pt x="430" y="929"/>
                </a:lnTo>
                <a:cubicBezTo>
                  <a:pt x="445" y="937"/>
                  <a:pt x="456" y="953"/>
                  <a:pt x="456" y="971"/>
                </a:cubicBezTo>
                <a:cubicBezTo>
                  <a:pt x="456" y="997"/>
                  <a:pt x="434" y="1018"/>
                  <a:pt x="408" y="1018"/>
                </a:cubicBezTo>
                <a:cubicBezTo>
                  <a:pt x="382" y="1018"/>
                  <a:pt x="361" y="997"/>
                  <a:pt x="361" y="971"/>
                </a:cubicBezTo>
                <a:cubicBezTo>
                  <a:pt x="361" y="954"/>
                  <a:pt x="370" y="940"/>
                  <a:pt x="383" y="931"/>
                </a:cubicBezTo>
                <a:lnTo>
                  <a:pt x="381" y="905"/>
                </a:lnTo>
                <a:cubicBezTo>
                  <a:pt x="330" y="907"/>
                  <a:pt x="278" y="916"/>
                  <a:pt x="226" y="935"/>
                </a:cubicBezTo>
                <a:cubicBezTo>
                  <a:pt x="236" y="943"/>
                  <a:pt x="243" y="956"/>
                  <a:pt x="243" y="971"/>
                </a:cubicBezTo>
                <a:cubicBezTo>
                  <a:pt x="243" y="997"/>
                  <a:pt x="222" y="1018"/>
                  <a:pt x="196" y="1018"/>
                </a:cubicBezTo>
                <a:cubicBezTo>
                  <a:pt x="170" y="1018"/>
                  <a:pt x="148" y="997"/>
                  <a:pt x="148" y="971"/>
                </a:cubicBezTo>
                <a:cubicBezTo>
                  <a:pt x="148" y="950"/>
                  <a:pt x="162" y="933"/>
                  <a:pt x="180" y="927"/>
                </a:cubicBezTo>
                <a:lnTo>
                  <a:pt x="173" y="911"/>
                </a:lnTo>
                <a:cubicBezTo>
                  <a:pt x="231" y="886"/>
                  <a:pt x="288" y="871"/>
                  <a:pt x="346" y="866"/>
                </a:cubicBezTo>
                <a:lnTo>
                  <a:pt x="346" y="719"/>
                </a:lnTo>
                <a:lnTo>
                  <a:pt x="154" y="719"/>
                </a:lnTo>
                <a:lnTo>
                  <a:pt x="154" y="706"/>
                </a:lnTo>
                <a:lnTo>
                  <a:pt x="95" y="684"/>
                </a:lnTo>
                <a:lnTo>
                  <a:pt x="81" y="679"/>
                </a:lnTo>
                <a:lnTo>
                  <a:pt x="78" y="665"/>
                </a:lnTo>
                <a:lnTo>
                  <a:pt x="47" y="487"/>
                </a:lnTo>
                <a:lnTo>
                  <a:pt x="17" y="487"/>
                </a:lnTo>
                <a:lnTo>
                  <a:pt x="0" y="420"/>
                </a:lnTo>
                <a:lnTo>
                  <a:pt x="139" y="420"/>
                </a:lnTo>
                <a:lnTo>
                  <a:pt x="122" y="487"/>
                </a:lnTo>
                <a:lnTo>
                  <a:pt x="99" y="487"/>
                </a:lnTo>
                <a:lnTo>
                  <a:pt x="127" y="641"/>
                </a:lnTo>
                <a:lnTo>
                  <a:pt x="163" y="654"/>
                </a:lnTo>
                <a:cubicBezTo>
                  <a:pt x="186" y="631"/>
                  <a:pt x="246" y="617"/>
                  <a:pt x="316" y="611"/>
                </a:cubicBezTo>
                <a:lnTo>
                  <a:pt x="316" y="546"/>
                </a:lnTo>
                <a:cubicBezTo>
                  <a:pt x="240" y="539"/>
                  <a:pt x="178" y="521"/>
                  <a:pt x="168" y="491"/>
                </a:cubicBezTo>
                <a:cubicBezTo>
                  <a:pt x="178" y="370"/>
                  <a:pt x="189" y="248"/>
                  <a:pt x="199" y="126"/>
                </a:cubicBezTo>
                <a:cubicBezTo>
                  <a:pt x="219" y="6"/>
                  <a:pt x="561" y="0"/>
                  <a:pt x="591" y="126"/>
                </a:cubicBezTo>
                <a:close/>
                <a:moveTo>
                  <a:pt x="297" y="168"/>
                </a:moveTo>
                <a:lnTo>
                  <a:pt x="494" y="168"/>
                </a:lnTo>
                <a:lnTo>
                  <a:pt x="494" y="194"/>
                </a:lnTo>
                <a:lnTo>
                  <a:pt x="297" y="194"/>
                </a:lnTo>
                <a:lnTo>
                  <a:pt x="297" y="168"/>
                </a:lnTo>
                <a:close/>
                <a:moveTo>
                  <a:pt x="287" y="273"/>
                </a:moveTo>
                <a:lnTo>
                  <a:pt x="504" y="273"/>
                </a:lnTo>
                <a:lnTo>
                  <a:pt x="504" y="299"/>
                </a:lnTo>
                <a:lnTo>
                  <a:pt x="287" y="299"/>
                </a:lnTo>
                <a:lnTo>
                  <a:pt x="287" y="273"/>
                </a:lnTo>
                <a:close/>
                <a:moveTo>
                  <a:pt x="277" y="383"/>
                </a:moveTo>
                <a:lnTo>
                  <a:pt x="514" y="383"/>
                </a:lnTo>
                <a:lnTo>
                  <a:pt x="514" y="409"/>
                </a:lnTo>
                <a:lnTo>
                  <a:pt x="277" y="409"/>
                </a:lnTo>
                <a:lnTo>
                  <a:pt x="277" y="3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37" name="TextBox 36"/>
          <p:cNvSpPr txBox="1"/>
          <p:nvPr/>
        </p:nvSpPr>
        <p:spPr>
          <a:xfrm>
            <a:off x="3442140" y="2292886"/>
            <a:ext cx="691130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430703" y="3967850"/>
            <a:ext cx="691130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26"/>
          <p:cNvSpPr txBox="1"/>
          <p:nvPr/>
        </p:nvSpPr>
        <p:spPr>
          <a:xfrm>
            <a:off x="14160301" y="797785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4" name="矩形 3"/>
          <p:cNvSpPr/>
          <p:nvPr/>
        </p:nvSpPr>
        <p:spPr>
          <a:xfrm>
            <a:off x="4545353" y="1965071"/>
            <a:ext cx="66126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数据传输率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：磁盘存储器单位时间内向主机传送数据的字节数，称为数据传输率。</a:t>
            </a:r>
          </a:p>
        </p:txBody>
      </p:sp>
      <p:sp>
        <p:nvSpPr>
          <p:cNvPr id="8" name="矩形 7"/>
          <p:cNvSpPr/>
          <p:nvPr/>
        </p:nvSpPr>
        <p:spPr>
          <a:xfrm>
            <a:off x="4545353" y="3562455"/>
            <a:ext cx="763511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假设磁盘旋转速度为每秒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转，每条磁道容量为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个字节，则数据传输率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（字节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</a:p>
        </p:txBody>
      </p:sp>
    </p:spTree>
    <p:extLst>
      <p:ext uri="{BB962C8B-B14F-4D97-AF65-F5344CB8AC3E}">
        <p14:creationId xmlns:p14="http://schemas.microsoft.com/office/powerpoint/2010/main" val="382705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98285" y="2541722"/>
            <a:ext cx="467853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2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42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735</Words>
  <Application>Microsoft Office PowerPoint</Application>
  <PresentationFormat>宽屏</PresentationFormat>
  <Paragraphs>91</Paragraphs>
  <Slides>20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宋体</vt:lpstr>
      <vt:lpstr>微软雅黑</vt:lpstr>
      <vt:lpstr>Arial</vt:lpstr>
      <vt:lpstr>Calibri</vt:lpstr>
      <vt:lpstr>Calibri Light</vt:lpstr>
      <vt:lpstr>Wingdings</vt:lpstr>
      <vt:lpstr>第一PPT，www.1ppt.com</vt:lpstr>
      <vt:lpstr>Visio</vt:lpstr>
      <vt:lpstr>PowerPoint 演示文稿</vt:lpstr>
      <vt:lpstr>PowerPoint 演示文稿</vt:lpstr>
      <vt:lpstr>PowerPoint 演示文稿</vt:lpstr>
      <vt:lpstr>磁记录原理和读写方式 </vt:lpstr>
      <vt:lpstr>磁盘存储器的物理构成 </vt:lpstr>
      <vt:lpstr>PowerPoint 演示文稿</vt:lpstr>
      <vt:lpstr>PowerPoint 演示文稿</vt:lpstr>
      <vt:lpstr>磁盘存储器的数据组织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访问时间</vt:lpstr>
      <vt:lpstr>PowerPoint 演示文稿</vt:lpstr>
      <vt:lpstr>PowerPoint 演示文稿</vt:lpstr>
      <vt:lpstr>传送时间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文光</cp:lastModifiedBy>
  <cp:revision>43</cp:revision>
  <dcterms:created xsi:type="dcterms:W3CDTF">2016-06-01T05:10:04Z</dcterms:created>
  <dcterms:modified xsi:type="dcterms:W3CDTF">2017-05-26T05:44:46Z</dcterms:modified>
</cp:coreProperties>
</file>