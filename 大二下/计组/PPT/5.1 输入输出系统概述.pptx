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emf" ContentType="image/x-e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7"/>
  </p:notesMasterIdLst>
  <p:sldIdLst>
    <p:sldId id="289" r:id="rId2"/>
    <p:sldId id="317" r:id="rId3"/>
    <p:sldId id="334" r:id="rId4"/>
    <p:sldId id="335" r:id="rId5"/>
    <p:sldId id="294" r:id="rId6"/>
    <p:sldId id="336" r:id="rId7"/>
    <p:sldId id="337" r:id="rId8"/>
    <p:sldId id="297" r:id="rId9"/>
    <p:sldId id="345" r:id="rId10"/>
    <p:sldId id="299" r:id="rId11"/>
    <p:sldId id="338" r:id="rId12"/>
    <p:sldId id="346" r:id="rId13"/>
    <p:sldId id="339" r:id="rId14"/>
    <p:sldId id="305" r:id="rId15"/>
    <p:sldId id="340" r:id="rId16"/>
    <p:sldId id="307" r:id="rId17"/>
    <p:sldId id="308" r:id="rId18"/>
    <p:sldId id="341" r:id="rId19"/>
    <p:sldId id="344" r:id="rId20"/>
    <p:sldId id="342" r:id="rId21"/>
    <p:sldId id="329" r:id="rId22"/>
    <p:sldId id="343" r:id="rId23"/>
    <p:sldId id="332" r:id="rId24"/>
    <p:sldId id="333" r:id="rId25"/>
    <p:sldId id="348" r:id="rId26"/>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2880" userDrawn="1">
          <p15:clr>
            <a:srgbClr val="A4A3A4"/>
          </p15:clr>
        </p15:guide>
        <p15:guide id="2" pos="2160"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2B9E7"/>
    <a:srgbClr val="04BEB0"/>
    <a:srgbClr val="ACEAE5"/>
    <a:srgbClr val="01C0B0"/>
    <a:srgbClr val="04B0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122" autoAdjust="0"/>
    <p:restoredTop sz="94660"/>
  </p:normalViewPr>
  <p:slideViewPr>
    <p:cSldViewPr snapToGrid="0" showGuides="1">
      <p:cViewPr varScale="1">
        <p:scale>
          <a:sx n="77" d="100"/>
          <a:sy n="77" d="100"/>
        </p:scale>
        <p:origin x="54" y="54"/>
      </p:cViewPr>
      <p:guideLst>
        <p:guide orient="horz" pos="2160"/>
        <p:guide pos="3840"/>
      </p:guideLst>
    </p:cSldViewPr>
  </p:slideViewPr>
  <p:notesTextViewPr>
    <p:cViewPr>
      <p:scale>
        <a:sx n="1" d="1"/>
        <a:sy n="1" d="1"/>
      </p:scale>
      <p:origin x="0" y="0"/>
    </p:cViewPr>
  </p:notesTextViewPr>
  <p:sorterViewPr>
    <p:cViewPr>
      <p:scale>
        <a:sx n="60" d="100"/>
        <a:sy n="60" d="100"/>
      </p:scale>
      <p:origin x="0" y="0"/>
    </p:cViewPr>
  </p:sorterViewPr>
  <p:notesViewPr>
    <p:cSldViewPr snapToGrid="0" showGuides="1">
      <p:cViewPr varScale="1">
        <p:scale>
          <a:sx n="57" d="100"/>
          <a:sy n="57" d="100"/>
        </p:scale>
        <p:origin x="2808" y="36"/>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1.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22.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E0E8A95-114D-4BB9-A729-058920B2735F}" type="datetimeFigureOut">
              <a:rPr lang="zh-CN" altLang="en-US" smtClean="0"/>
              <a:pPr/>
              <a:t>2017/5/27</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6D8029B-87F6-42DD-8185-B8A2A8D30728}" type="slidenum">
              <a:rPr lang="zh-CN" altLang="en-US" smtClean="0"/>
              <a:pPr/>
              <a:t>‹#›</a:t>
            </a:fld>
            <a:endParaRPr lang="zh-CN" altLang="en-US"/>
          </a:p>
        </p:txBody>
      </p:sp>
    </p:spTree>
    <p:extLst>
      <p:ext uri="{BB962C8B-B14F-4D97-AF65-F5344CB8AC3E}">
        <p14:creationId xmlns:p14="http://schemas.microsoft.com/office/powerpoint/2010/main" val="29233895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96D8029B-87F6-42DD-8185-B8A2A8D30728}" type="slidenum">
              <a:rPr lang="zh-CN" altLang="en-US" smtClean="0"/>
              <a:pPr/>
              <a:t>1</a:t>
            </a:fld>
            <a:endParaRPr lang="zh-CN" altLang="en-US"/>
          </a:p>
        </p:txBody>
      </p:sp>
    </p:spTree>
    <p:extLst>
      <p:ext uri="{BB962C8B-B14F-4D97-AF65-F5344CB8AC3E}">
        <p14:creationId xmlns:p14="http://schemas.microsoft.com/office/powerpoint/2010/main" val="140966677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E1689F0-D8FB-450F-A36F-553F26501FEE}" type="slidenum">
              <a:rPr lang="zh-CN" altLang="en-US" smtClean="0">
                <a:solidFill>
                  <a:prstClr val="black"/>
                </a:solidFill>
              </a:rPr>
              <a:pPr/>
              <a:t>2</a:t>
            </a:fld>
            <a:endParaRPr lang="en-US">
              <a:solidFill>
                <a:prstClr val="black"/>
              </a:solidFill>
            </a:endParaRPr>
          </a:p>
        </p:txBody>
      </p:sp>
    </p:spTree>
    <p:extLst>
      <p:ext uri="{BB962C8B-B14F-4D97-AF65-F5344CB8AC3E}">
        <p14:creationId xmlns:p14="http://schemas.microsoft.com/office/powerpoint/2010/main" val="355583718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E1689F0-D8FB-450F-A36F-553F26501FEE}" type="slidenum">
              <a:rPr lang="zh-CN" altLang="en-US" smtClean="0">
                <a:solidFill>
                  <a:prstClr val="black"/>
                </a:solidFill>
              </a:rPr>
              <a:pPr/>
              <a:t>3</a:t>
            </a:fld>
            <a:endParaRPr lang="en-US">
              <a:solidFill>
                <a:prstClr val="black"/>
              </a:solidFill>
            </a:endParaRPr>
          </a:p>
        </p:txBody>
      </p:sp>
    </p:spTree>
    <p:extLst>
      <p:ext uri="{BB962C8B-B14F-4D97-AF65-F5344CB8AC3E}">
        <p14:creationId xmlns:p14="http://schemas.microsoft.com/office/powerpoint/2010/main" val="18433645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E1689F0-D8FB-450F-A36F-553F26501FEE}" type="slidenum">
              <a:rPr lang="zh-CN" altLang="en-US" smtClean="0">
                <a:solidFill>
                  <a:prstClr val="black"/>
                </a:solidFill>
              </a:rPr>
              <a:pPr/>
              <a:t>4</a:t>
            </a:fld>
            <a:endParaRPr lang="en-US">
              <a:solidFill>
                <a:prstClr val="black"/>
              </a:solidFill>
            </a:endParaRPr>
          </a:p>
        </p:txBody>
      </p:sp>
    </p:spTree>
    <p:extLst>
      <p:ext uri="{BB962C8B-B14F-4D97-AF65-F5344CB8AC3E}">
        <p14:creationId xmlns:p14="http://schemas.microsoft.com/office/powerpoint/2010/main" val="41347428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E1689F0-D8FB-450F-A36F-553F26501FEE}" type="slidenum">
              <a:rPr lang="zh-CN" altLang="en-US" smtClean="0">
                <a:solidFill>
                  <a:prstClr val="black"/>
                </a:solidFill>
              </a:rPr>
              <a:pPr/>
              <a:t>6</a:t>
            </a:fld>
            <a:endParaRPr lang="en-US">
              <a:solidFill>
                <a:prstClr val="black"/>
              </a:solidFill>
            </a:endParaRPr>
          </a:p>
        </p:txBody>
      </p:sp>
    </p:spTree>
    <p:extLst>
      <p:ext uri="{BB962C8B-B14F-4D97-AF65-F5344CB8AC3E}">
        <p14:creationId xmlns:p14="http://schemas.microsoft.com/office/powerpoint/2010/main" val="379082915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E1689F0-D8FB-450F-A36F-553F26501FEE}" type="slidenum">
              <a:rPr lang="zh-CN" altLang="en-US" smtClean="0">
                <a:solidFill>
                  <a:prstClr val="black"/>
                </a:solidFill>
              </a:rPr>
              <a:pPr/>
              <a:t>7</a:t>
            </a:fld>
            <a:endParaRPr lang="en-US">
              <a:solidFill>
                <a:prstClr val="black"/>
              </a:solidFill>
            </a:endParaRPr>
          </a:p>
        </p:txBody>
      </p:sp>
    </p:spTree>
    <p:extLst>
      <p:ext uri="{BB962C8B-B14F-4D97-AF65-F5344CB8AC3E}">
        <p14:creationId xmlns:p14="http://schemas.microsoft.com/office/powerpoint/2010/main" val="38441814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E1689F0-D8FB-450F-A36F-553F26501FEE}" type="slidenum">
              <a:rPr lang="zh-CN" altLang="en-US" smtClean="0">
                <a:solidFill>
                  <a:prstClr val="black"/>
                </a:solidFill>
              </a:rPr>
              <a:pPr/>
              <a:t>9</a:t>
            </a:fld>
            <a:endParaRPr lang="en-US">
              <a:solidFill>
                <a:prstClr val="black"/>
              </a:solidFill>
            </a:endParaRPr>
          </a:p>
        </p:txBody>
      </p:sp>
    </p:spTree>
    <p:extLst>
      <p:ext uri="{BB962C8B-B14F-4D97-AF65-F5344CB8AC3E}">
        <p14:creationId xmlns:p14="http://schemas.microsoft.com/office/powerpoint/2010/main" val="13730778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E1689F0-D8FB-450F-A36F-553F26501FEE}" type="slidenum">
              <a:rPr lang="zh-CN" altLang="en-US" smtClean="0">
                <a:solidFill>
                  <a:prstClr val="black"/>
                </a:solidFill>
              </a:rPr>
              <a:pPr/>
              <a:t>11</a:t>
            </a:fld>
            <a:endParaRPr lang="en-US">
              <a:solidFill>
                <a:prstClr val="black"/>
              </a:solidFill>
            </a:endParaRPr>
          </a:p>
        </p:txBody>
      </p:sp>
    </p:spTree>
    <p:extLst>
      <p:ext uri="{BB962C8B-B14F-4D97-AF65-F5344CB8AC3E}">
        <p14:creationId xmlns:p14="http://schemas.microsoft.com/office/powerpoint/2010/main" val="11534523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E1689F0-D8FB-450F-A36F-553F26501FEE}" type="slidenum">
              <a:rPr lang="zh-CN" altLang="en-US" smtClean="0">
                <a:solidFill>
                  <a:prstClr val="black"/>
                </a:solidFill>
              </a:rPr>
              <a:pPr/>
              <a:t>13</a:t>
            </a:fld>
            <a:endParaRPr lang="en-US">
              <a:solidFill>
                <a:prstClr val="black"/>
              </a:solidFill>
            </a:endParaRPr>
          </a:p>
        </p:txBody>
      </p:sp>
    </p:spTree>
    <p:extLst>
      <p:ext uri="{BB962C8B-B14F-4D97-AF65-F5344CB8AC3E}">
        <p14:creationId xmlns:p14="http://schemas.microsoft.com/office/powerpoint/2010/main" val="370423143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85800" y="1143000"/>
            <a:ext cx="5486400" cy="30861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621F41D1-EB0D-4857-8E93-8C1C831E6153}" type="slidenum">
              <a:rPr lang="zh-CN" altLang="en-US" smtClean="0"/>
              <a:t>15</a:t>
            </a:fld>
            <a:endParaRPr lang="zh-CN" altLang="en-US"/>
          </a:p>
        </p:txBody>
      </p:sp>
    </p:spTree>
    <p:extLst>
      <p:ext uri="{BB962C8B-B14F-4D97-AF65-F5344CB8AC3E}">
        <p14:creationId xmlns:p14="http://schemas.microsoft.com/office/powerpoint/2010/main" val="382419932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E1689F0-D8FB-450F-A36F-553F26501FEE}" type="slidenum">
              <a:rPr lang="zh-CN" altLang="en-US" smtClean="0">
                <a:solidFill>
                  <a:prstClr val="black"/>
                </a:solidFill>
              </a:rPr>
              <a:pPr/>
              <a:t>18</a:t>
            </a:fld>
            <a:endParaRPr lang="en-US">
              <a:solidFill>
                <a:prstClr val="black"/>
              </a:solidFill>
            </a:endParaRPr>
          </a:p>
        </p:txBody>
      </p:sp>
    </p:spTree>
    <p:extLst>
      <p:ext uri="{BB962C8B-B14F-4D97-AF65-F5344CB8AC3E}">
        <p14:creationId xmlns:p14="http://schemas.microsoft.com/office/powerpoint/2010/main" val="221802328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E1689F0-D8FB-450F-A36F-553F26501FEE}" type="slidenum">
              <a:rPr lang="zh-CN" altLang="en-US" smtClean="0">
                <a:solidFill>
                  <a:prstClr val="black"/>
                </a:solidFill>
              </a:rPr>
              <a:pPr/>
              <a:t>19</a:t>
            </a:fld>
            <a:endParaRPr lang="en-US">
              <a:solidFill>
                <a:prstClr val="black"/>
              </a:solidFill>
            </a:endParaRPr>
          </a:p>
        </p:txBody>
      </p:sp>
    </p:spTree>
    <p:extLst>
      <p:ext uri="{BB962C8B-B14F-4D97-AF65-F5344CB8AC3E}">
        <p14:creationId xmlns:p14="http://schemas.microsoft.com/office/powerpoint/2010/main" val="337993312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E1689F0-D8FB-450F-A36F-553F26501FEE}" type="slidenum">
              <a:rPr lang="zh-CN" altLang="en-US" smtClean="0">
                <a:solidFill>
                  <a:prstClr val="black"/>
                </a:solidFill>
              </a:rPr>
              <a:pPr/>
              <a:t>20</a:t>
            </a:fld>
            <a:endParaRPr lang="en-US">
              <a:solidFill>
                <a:prstClr val="black"/>
              </a:solidFill>
            </a:endParaRPr>
          </a:p>
        </p:txBody>
      </p:sp>
    </p:spTree>
    <p:extLst>
      <p:ext uri="{BB962C8B-B14F-4D97-AF65-F5344CB8AC3E}">
        <p14:creationId xmlns:p14="http://schemas.microsoft.com/office/powerpoint/2010/main" val="300651753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E1689F0-D8FB-450F-A36F-553F26501FEE}" type="slidenum">
              <a:rPr lang="zh-CN" altLang="en-US" smtClean="0">
                <a:solidFill>
                  <a:prstClr val="black"/>
                </a:solidFill>
              </a:rPr>
              <a:pPr/>
              <a:t>21</a:t>
            </a:fld>
            <a:endParaRPr lang="en-US">
              <a:solidFill>
                <a:prstClr val="black"/>
              </a:solidFill>
            </a:endParaRPr>
          </a:p>
        </p:txBody>
      </p:sp>
    </p:spTree>
    <p:extLst>
      <p:ext uri="{BB962C8B-B14F-4D97-AF65-F5344CB8AC3E}">
        <p14:creationId xmlns:p14="http://schemas.microsoft.com/office/powerpoint/2010/main" val="237194182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E1689F0-D8FB-450F-A36F-553F26501FEE}" type="slidenum">
              <a:rPr lang="zh-CN" altLang="en-US" smtClean="0">
                <a:solidFill>
                  <a:prstClr val="black"/>
                </a:solidFill>
              </a:rPr>
              <a:pPr/>
              <a:t>22</a:t>
            </a:fld>
            <a:endParaRPr lang="en-US">
              <a:solidFill>
                <a:prstClr val="black"/>
              </a:solidFill>
            </a:endParaRPr>
          </a:p>
        </p:txBody>
      </p:sp>
    </p:spTree>
    <p:extLst>
      <p:ext uri="{BB962C8B-B14F-4D97-AF65-F5344CB8AC3E}">
        <p14:creationId xmlns:p14="http://schemas.microsoft.com/office/powerpoint/2010/main" val="65220505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9CAAD024-C6D2-498C-B6F9-0F94E70CC562}" type="datetimeFigureOut">
              <a:rPr lang="zh-CN" altLang="en-US" smtClean="0"/>
              <a:pPr/>
              <a:t>2017/5/27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E9CCF6A-2F56-44E6-80EA-DDB34B141F0F}" type="slidenum">
              <a:rPr lang="zh-CN" altLang="en-US" smtClean="0"/>
              <a:pPr/>
              <a:t>‹#›</a:t>
            </a:fld>
            <a:endParaRPr lang="zh-CN" altLang="en-US"/>
          </a:p>
        </p:txBody>
      </p:sp>
    </p:spTree>
    <p:extLst>
      <p:ext uri="{BB962C8B-B14F-4D97-AF65-F5344CB8AC3E}">
        <p14:creationId xmlns:p14="http://schemas.microsoft.com/office/powerpoint/2010/main" val="2953354890"/>
      </p:ext>
    </p:extLst>
  </p:cSld>
  <p:clrMapOvr>
    <a:masterClrMapping/>
  </p:clrMapOvr>
  <mc:AlternateContent xmlns:mc="http://schemas.openxmlformats.org/markup-compatibility/2006" xmlns:p14="http://schemas.microsoft.com/office/powerpoint/2010/main">
    <mc:Choice Requires="p14">
      <p:transition spd="slow" p14:dur="59000" advTm="9222">
        <p:push dir="u"/>
      </p:transition>
    </mc:Choice>
    <mc:Fallback xmlns="">
      <p:transition spd="slow" advTm="9222">
        <p:push dir="u"/>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9CAAD024-C6D2-498C-B6F9-0F94E70CC562}" type="datetimeFigureOut">
              <a:rPr lang="zh-CN" altLang="en-US" smtClean="0"/>
              <a:pPr/>
              <a:t>2017/5/27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E9CCF6A-2F56-44E6-80EA-DDB34B141F0F}" type="slidenum">
              <a:rPr lang="zh-CN" altLang="en-US" smtClean="0"/>
              <a:pPr/>
              <a:t>‹#›</a:t>
            </a:fld>
            <a:endParaRPr lang="zh-CN" altLang="en-US"/>
          </a:p>
        </p:txBody>
      </p:sp>
    </p:spTree>
    <p:extLst>
      <p:ext uri="{BB962C8B-B14F-4D97-AF65-F5344CB8AC3E}">
        <p14:creationId xmlns:p14="http://schemas.microsoft.com/office/powerpoint/2010/main" val="133343571"/>
      </p:ext>
    </p:extLst>
  </p:cSld>
  <p:clrMapOvr>
    <a:masterClrMapping/>
  </p:clrMapOvr>
  <mc:AlternateContent xmlns:mc="http://schemas.openxmlformats.org/markup-compatibility/2006" xmlns:p14="http://schemas.microsoft.com/office/powerpoint/2010/main">
    <mc:Choice Requires="p14">
      <p:transition spd="slow" p14:dur="59000" advTm="9222">
        <p:push dir="u"/>
      </p:transition>
    </mc:Choice>
    <mc:Fallback xmlns="">
      <p:transition spd="slow" advTm="9222">
        <p:push dir="u"/>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1" y="1709740"/>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1" y="4589465"/>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9CAAD024-C6D2-498C-B6F9-0F94E70CC562}" type="datetimeFigureOut">
              <a:rPr lang="zh-CN" altLang="en-US" smtClean="0"/>
              <a:pPr/>
              <a:t>2017/5/27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E9CCF6A-2F56-44E6-80EA-DDB34B141F0F}" type="slidenum">
              <a:rPr lang="zh-CN" altLang="en-US" smtClean="0"/>
              <a:pPr/>
              <a:t>‹#›</a:t>
            </a:fld>
            <a:endParaRPr lang="zh-CN" altLang="en-US"/>
          </a:p>
        </p:txBody>
      </p:sp>
    </p:spTree>
    <p:extLst>
      <p:ext uri="{BB962C8B-B14F-4D97-AF65-F5344CB8AC3E}">
        <p14:creationId xmlns:p14="http://schemas.microsoft.com/office/powerpoint/2010/main" val="3018862345"/>
      </p:ext>
    </p:extLst>
  </p:cSld>
  <p:clrMapOvr>
    <a:masterClrMapping/>
  </p:clrMapOvr>
  <mc:AlternateContent xmlns:mc="http://schemas.openxmlformats.org/markup-compatibility/2006" xmlns:p14="http://schemas.microsoft.com/office/powerpoint/2010/main">
    <mc:Choice Requires="p14">
      <p:transition spd="slow" p14:dur="59000" advTm="9222">
        <p:push dir="u"/>
      </p:transition>
    </mc:Choice>
    <mc:Fallback xmlns="">
      <p:transition spd="slow" advTm="9222">
        <p:push dir="u"/>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p>
            <a:fld id="{9CAAD024-C6D2-498C-B6F9-0F94E70CC562}" type="datetimeFigureOut">
              <a:rPr lang="zh-CN" altLang="en-US" smtClean="0"/>
              <a:pPr/>
              <a:t>2017/5/27</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9E9CCF6A-2F56-44E6-80EA-DDB34B141F0F}" type="slidenum">
              <a:rPr lang="zh-CN" altLang="en-US" smtClean="0"/>
              <a:pPr/>
              <a:t>‹#›</a:t>
            </a:fld>
            <a:endParaRPr lang="zh-CN" altLang="en-US"/>
          </a:p>
        </p:txBody>
      </p:sp>
    </p:spTree>
    <p:extLst>
      <p:ext uri="{BB962C8B-B14F-4D97-AF65-F5344CB8AC3E}">
        <p14:creationId xmlns:p14="http://schemas.microsoft.com/office/powerpoint/2010/main" val="3676858996"/>
      </p:ext>
    </p:extLst>
  </p:cSld>
  <p:clrMapOvr>
    <a:masterClrMapping/>
  </p:clrMapOvr>
  <mc:AlternateContent xmlns:mc="http://schemas.openxmlformats.org/markup-compatibility/2006" xmlns:p14="http://schemas.microsoft.com/office/powerpoint/2010/main">
    <mc:Choice Requires="p14">
      <p:transition spd="slow" p14:dur="59000" advTm="9222">
        <p:push dir="u"/>
      </p:transition>
    </mc:Choice>
    <mc:Fallback xmlns="">
      <p:transition spd="slow" advTm="9222">
        <p:push dir="u"/>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7"/>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9"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9" y="2505075"/>
            <a:ext cx="515778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72201"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1" y="2505075"/>
            <a:ext cx="51831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p>
            <a:fld id="{9CAAD024-C6D2-498C-B6F9-0F94E70CC562}" type="datetimeFigureOut">
              <a:rPr lang="zh-CN" altLang="en-US" smtClean="0"/>
              <a:pPr/>
              <a:t>2017/5/27</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9E9CCF6A-2F56-44E6-80EA-DDB34B141F0F}" type="slidenum">
              <a:rPr lang="zh-CN" altLang="en-US" smtClean="0"/>
              <a:pPr/>
              <a:t>‹#›</a:t>
            </a:fld>
            <a:endParaRPr lang="zh-CN" altLang="en-US"/>
          </a:p>
        </p:txBody>
      </p:sp>
    </p:spTree>
    <p:extLst>
      <p:ext uri="{BB962C8B-B14F-4D97-AF65-F5344CB8AC3E}">
        <p14:creationId xmlns:p14="http://schemas.microsoft.com/office/powerpoint/2010/main" val="277365401"/>
      </p:ext>
    </p:extLst>
  </p:cSld>
  <p:clrMapOvr>
    <a:masterClrMapping/>
  </p:clrMapOvr>
  <mc:AlternateContent xmlns:mc="http://schemas.openxmlformats.org/markup-compatibility/2006" xmlns:p14="http://schemas.microsoft.com/office/powerpoint/2010/main">
    <mc:Choice Requires="p14">
      <p:transition spd="slow" p14:dur="59000" advTm="9222">
        <p:push dir="u"/>
      </p:transition>
    </mc:Choice>
    <mc:Fallback xmlns="">
      <p:transition spd="slow" advTm="9222">
        <p:push dir="u"/>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9CAAD024-C6D2-498C-B6F9-0F94E70CC562}" type="datetimeFigureOut">
              <a:rPr lang="zh-CN" altLang="en-US" smtClean="0"/>
              <a:pPr/>
              <a:t>2017/5/27</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9E9CCF6A-2F56-44E6-80EA-DDB34B141F0F}" type="slidenum">
              <a:rPr lang="zh-CN" altLang="en-US" smtClean="0"/>
              <a:pPr/>
              <a:t>‹#›</a:t>
            </a:fld>
            <a:endParaRPr lang="zh-CN" altLang="en-US"/>
          </a:p>
        </p:txBody>
      </p:sp>
    </p:spTree>
    <p:extLst>
      <p:ext uri="{BB962C8B-B14F-4D97-AF65-F5344CB8AC3E}">
        <p14:creationId xmlns:p14="http://schemas.microsoft.com/office/powerpoint/2010/main" val="3739278484"/>
      </p:ext>
    </p:extLst>
  </p:cSld>
  <p:clrMapOvr>
    <a:masterClrMapping/>
  </p:clrMapOvr>
  <mc:AlternateContent xmlns:mc="http://schemas.openxmlformats.org/markup-compatibility/2006" xmlns:p14="http://schemas.microsoft.com/office/powerpoint/2010/main">
    <mc:Choice Requires="p14">
      <p:transition spd="slow" p14:dur="59000" advTm="9222">
        <p:push dir="u"/>
      </p:transition>
    </mc:Choice>
    <mc:Fallback xmlns="">
      <p:transition spd="slow" advTm="9222">
        <p:push dir="u"/>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9CAAD024-C6D2-498C-B6F9-0F94E70CC562}" type="datetimeFigureOut">
              <a:rPr lang="zh-CN" altLang="en-US" smtClean="0"/>
              <a:pPr/>
              <a:t>2017/5/27</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9E9CCF6A-2F56-44E6-80EA-DDB34B141F0F}" type="slidenum">
              <a:rPr lang="zh-CN" altLang="en-US" smtClean="0"/>
              <a:pPr/>
              <a:t>‹#›</a:t>
            </a:fld>
            <a:endParaRPr lang="zh-CN" altLang="en-US"/>
          </a:p>
        </p:txBody>
      </p:sp>
    </p:spTree>
    <p:extLst>
      <p:ext uri="{BB962C8B-B14F-4D97-AF65-F5344CB8AC3E}">
        <p14:creationId xmlns:p14="http://schemas.microsoft.com/office/powerpoint/2010/main" val="1473886793"/>
      </p:ext>
    </p:extLst>
  </p:cSld>
  <p:clrMapOvr>
    <a:masterClrMapping/>
  </p:clrMapOvr>
  <mc:AlternateContent xmlns:mc="http://schemas.openxmlformats.org/markup-compatibility/2006" xmlns:p14="http://schemas.microsoft.com/office/powerpoint/2010/main">
    <mc:Choice Requires="p14">
      <p:transition spd="slow" p14:dur="59000" advTm="9222">
        <p:push dir="u"/>
      </p:transition>
    </mc:Choice>
    <mc:Fallback xmlns="">
      <p:transition spd="slow" advTm="9222">
        <p:push dir="u"/>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7"/>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9CAAD024-C6D2-498C-B6F9-0F94E70CC562}" type="datetimeFigureOut">
              <a:rPr lang="zh-CN" altLang="en-US" smtClean="0"/>
              <a:pPr/>
              <a:t>2017/5/27</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9E9CCF6A-2F56-44E6-80EA-DDB34B141F0F}" type="slidenum">
              <a:rPr lang="zh-CN" altLang="en-US" smtClean="0"/>
              <a:pPr/>
              <a:t>‹#›</a:t>
            </a:fld>
            <a:endParaRPr lang="zh-CN" altLang="en-US"/>
          </a:p>
        </p:txBody>
      </p:sp>
    </p:spTree>
    <p:extLst>
      <p:ext uri="{BB962C8B-B14F-4D97-AF65-F5344CB8AC3E}">
        <p14:creationId xmlns:p14="http://schemas.microsoft.com/office/powerpoint/2010/main" val="1383394598"/>
      </p:ext>
    </p:extLst>
  </p:cSld>
  <p:clrMapOvr>
    <a:masterClrMapping/>
  </p:clrMapOvr>
  <mc:AlternateContent xmlns:mc="http://schemas.openxmlformats.org/markup-compatibility/2006" xmlns:p14="http://schemas.microsoft.com/office/powerpoint/2010/main">
    <mc:Choice Requires="p14">
      <p:transition spd="slow" p14:dur="59000" advTm="9222">
        <p:push dir="u"/>
      </p:transition>
    </mc:Choice>
    <mc:Fallback xmlns="">
      <p:transition spd="slow" advTm="9222">
        <p:push dir="u"/>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7"/>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9CAAD024-C6D2-498C-B6F9-0F94E70CC562}" type="datetimeFigureOut">
              <a:rPr lang="zh-CN" altLang="en-US" smtClean="0"/>
              <a:pPr/>
              <a:t>2017/5/27</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9E9CCF6A-2F56-44E6-80EA-DDB34B141F0F}" type="slidenum">
              <a:rPr lang="zh-CN" altLang="en-US" smtClean="0"/>
              <a:pPr/>
              <a:t>‹#›</a:t>
            </a:fld>
            <a:endParaRPr lang="zh-CN" altLang="en-US"/>
          </a:p>
        </p:txBody>
      </p:sp>
    </p:spTree>
    <p:extLst>
      <p:ext uri="{BB962C8B-B14F-4D97-AF65-F5344CB8AC3E}">
        <p14:creationId xmlns:p14="http://schemas.microsoft.com/office/powerpoint/2010/main" val="2827041094"/>
      </p:ext>
    </p:extLst>
  </p:cSld>
  <p:clrMapOvr>
    <a:masterClrMapping/>
  </p:clrMapOvr>
  <mc:AlternateContent xmlns:mc="http://schemas.openxmlformats.org/markup-compatibility/2006" xmlns:p14="http://schemas.microsoft.com/office/powerpoint/2010/main">
    <mc:Choice Requires="p14">
      <p:transition spd="slow" p14:dur="59000" advTm="9222">
        <p:push dir="u"/>
      </p:transition>
    </mc:Choice>
    <mc:Fallback xmlns="">
      <p:transition spd="slow" advTm="9222">
        <p:push dir="u"/>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9CAAD024-C6D2-498C-B6F9-0F94E70CC562}" type="datetimeFigureOut">
              <a:rPr lang="zh-CN" altLang="en-US" smtClean="0"/>
              <a:pPr/>
              <a:t>2017/5/27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E9CCF6A-2F56-44E6-80EA-DDB34B141F0F}" type="slidenum">
              <a:rPr lang="zh-CN" altLang="en-US" smtClean="0"/>
              <a:pPr/>
              <a:t>‹#›</a:t>
            </a:fld>
            <a:endParaRPr lang="zh-CN" altLang="en-US"/>
          </a:p>
        </p:txBody>
      </p:sp>
    </p:spTree>
    <p:extLst>
      <p:ext uri="{BB962C8B-B14F-4D97-AF65-F5344CB8AC3E}">
        <p14:creationId xmlns:p14="http://schemas.microsoft.com/office/powerpoint/2010/main" val="3303071220"/>
      </p:ext>
    </p:extLst>
  </p:cSld>
  <p:clrMapOvr>
    <a:masterClrMapping/>
  </p:clrMapOvr>
  <mc:AlternateContent xmlns:mc="http://schemas.openxmlformats.org/markup-compatibility/2006" xmlns:p14="http://schemas.microsoft.com/office/powerpoint/2010/main">
    <mc:Choice Requires="p14">
      <p:transition spd="slow" p14:dur="59000" advTm="9222">
        <p:push dir="u"/>
      </p:transition>
    </mc:Choice>
    <mc:Fallback xmlns="">
      <p:transition spd="slow" advTm="9222">
        <p:push dir="u"/>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1"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1" y="365125"/>
            <a:ext cx="7734300"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p>
            <a:fld id="{9CAAD024-C6D2-498C-B6F9-0F94E70CC562}" type="datetimeFigureOut">
              <a:rPr lang="zh-CN" altLang="en-US" smtClean="0"/>
              <a:pPr/>
              <a:t>2017/5/27</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9E9CCF6A-2F56-44E6-80EA-DDB34B141F0F}" type="slidenum">
              <a:rPr lang="zh-CN" altLang="en-US" smtClean="0"/>
              <a:pPr/>
              <a:t>‹#›</a:t>
            </a:fld>
            <a:endParaRPr lang="zh-CN" altLang="en-US"/>
          </a:p>
        </p:txBody>
      </p:sp>
    </p:spTree>
    <p:extLst>
      <p:ext uri="{BB962C8B-B14F-4D97-AF65-F5344CB8AC3E}">
        <p14:creationId xmlns:p14="http://schemas.microsoft.com/office/powerpoint/2010/main" val="1104753532"/>
      </p:ext>
    </p:extLst>
  </p:cSld>
  <p:clrMapOvr>
    <a:masterClrMapping/>
  </p:clrMapOvr>
  <mc:AlternateContent xmlns:mc="http://schemas.openxmlformats.org/markup-compatibility/2006" xmlns:p14="http://schemas.microsoft.com/office/powerpoint/2010/main">
    <mc:Choice Requires="p14">
      <p:transition spd="slow" p14:dur="59000" advTm="9222">
        <p:push dir="u"/>
      </p:transition>
    </mc:Choice>
    <mc:Fallback xmlns="">
      <p:transition spd="slow" advTm="9222">
        <p:push dir="u"/>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3352800" y="228600"/>
            <a:ext cx="8432800" cy="533400"/>
          </a:xfrm>
        </p:spPr>
        <p:txBody>
          <a:bodyPr/>
          <a:lstStyle/>
          <a:p>
            <a:r>
              <a:rPr lang="zh-CN" altLang="en-US"/>
              <a:t>单击此处编辑母版标题样式</a:t>
            </a:r>
          </a:p>
        </p:txBody>
      </p:sp>
      <p:sp>
        <p:nvSpPr>
          <p:cNvPr id="3" name="文本占位符 2"/>
          <p:cNvSpPr>
            <a:spLocks noGrp="1"/>
          </p:cNvSpPr>
          <p:nvPr>
            <p:ph type="body" sz="half" idx="1"/>
          </p:nvPr>
        </p:nvSpPr>
        <p:spPr>
          <a:xfrm>
            <a:off x="609600" y="1295400"/>
            <a:ext cx="5384800" cy="502602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97600" y="1295400"/>
            <a:ext cx="5384800" cy="502602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fld id="{7847A750-2025-4D26-BFEF-B6B1B4031394}" type="slidenum">
              <a:rPr lang="zh-CN" altLang="en-US"/>
              <a:pPr/>
              <a:t>‹#›</a:t>
            </a:fld>
            <a:endParaRPr lang="en-US" altLang="zh-C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7"/>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2"/>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CAAD024-C6D2-498C-B6F9-0F94E70CC562}" type="datetimeFigureOut">
              <a:rPr lang="zh-CN" altLang="en-US" smtClean="0"/>
              <a:pPr/>
              <a:t>2017/5/27</a:t>
            </a:fld>
            <a:endParaRPr lang="zh-CN" altLang="en-US"/>
          </a:p>
        </p:txBody>
      </p:sp>
      <p:sp>
        <p:nvSpPr>
          <p:cNvPr id="5" name="页脚占位符 4"/>
          <p:cNvSpPr>
            <a:spLocks noGrp="1"/>
          </p:cNvSpPr>
          <p:nvPr>
            <p:ph type="ftr" sz="quarter" idx="3"/>
          </p:nvPr>
        </p:nvSpPr>
        <p:spPr>
          <a:xfrm>
            <a:off x="4038600" y="6356352"/>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2"/>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E9CCF6A-2F56-44E6-80EA-DDB34B141F0F}" type="slidenum">
              <a:rPr lang="zh-CN" altLang="en-US" smtClean="0"/>
              <a:pPr/>
              <a:t>‹#›</a:t>
            </a:fld>
            <a:endParaRPr lang="zh-CN" altLang="en-US"/>
          </a:p>
        </p:txBody>
      </p:sp>
    </p:spTree>
    <p:extLst>
      <p:ext uri="{BB962C8B-B14F-4D97-AF65-F5344CB8AC3E}">
        <p14:creationId xmlns:p14="http://schemas.microsoft.com/office/powerpoint/2010/main" val="172053072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mc:AlternateContent xmlns:mc="http://schemas.openxmlformats.org/markup-compatibility/2006" xmlns:p14="http://schemas.microsoft.com/office/powerpoint/2010/main">
    <mc:Choice Requires="p14">
      <p:transition spd="slow" p14:dur="59000" advTm="9222">
        <p:push dir="u"/>
      </p:transition>
    </mc:Choice>
    <mc:Fallback xmlns="">
      <p:transition spd="slow" advTm="9222">
        <p:push dir="u"/>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12.xml"/><Relationship Id="rId6" Type="http://schemas.openxmlformats.org/officeDocument/2006/relationships/image" Target="../media/image5.jpeg"/><Relationship Id="rId5" Type="http://schemas.openxmlformats.org/officeDocument/2006/relationships/image" Target="../media/image4.jpeg"/><Relationship Id="rId4" Type="http://schemas.openxmlformats.org/officeDocument/2006/relationships/image" Target="../media/image3.jpe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7.jpeg"/></Relationships>
</file>

<file path=ppt/slides/_rels/slide8.xml.rels><?xml version="1.0" encoding="UTF-8" standalone="yes"?>
<Relationships xmlns="http://schemas.openxmlformats.org/package/2006/relationships"><Relationship Id="rId3" Type="http://schemas.openxmlformats.org/officeDocument/2006/relationships/image" Target="../media/image9.jpeg"/><Relationship Id="rId7" Type="http://schemas.openxmlformats.org/officeDocument/2006/relationships/image" Target="../media/image13.jpeg"/><Relationship Id="rId2" Type="http://schemas.openxmlformats.org/officeDocument/2006/relationships/image" Target="../media/image8.jpeg"/><Relationship Id="rId1" Type="http://schemas.openxmlformats.org/officeDocument/2006/relationships/slideLayout" Target="../slideLayouts/slideLayout2.xml"/><Relationship Id="rId6" Type="http://schemas.openxmlformats.org/officeDocument/2006/relationships/image" Target="../media/image12.jpeg"/><Relationship Id="rId5" Type="http://schemas.openxmlformats.org/officeDocument/2006/relationships/image" Target="../media/image11.jpeg"/><Relationship Id="rId4" Type="http://schemas.openxmlformats.org/officeDocument/2006/relationships/image" Target="../media/image10.jpe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 Id="rId5" Type="http://schemas.openxmlformats.org/officeDocument/2006/relationships/image" Target="../media/image18.png"/><Relationship Id="rId4" Type="http://schemas.openxmlformats.org/officeDocument/2006/relationships/image" Target="../media/image17.png"/></Relationships>
</file>

<file path=ppt/slides/_rels/slide15.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16.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21.emf"/></Relationships>
</file>

<file path=ppt/slides/_rels/slide17.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2.xml"/><Relationship Id="rId1" Type="http://schemas.openxmlformats.org/officeDocument/2006/relationships/vmlDrawing" Target="../drawings/vmlDrawing2.vml"/><Relationship Id="rId4" Type="http://schemas.openxmlformats.org/officeDocument/2006/relationships/image" Target="../media/image22.emf"/></Relationships>
</file>

<file path=ppt/slides/_rels/slide18.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7.jpeg"/></Relationships>
</file>

<file path=ppt/slides/_rels/slide19.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24.jpe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2947757" y="2340487"/>
            <a:ext cx="6598050" cy="1698614"/>
          </a:xfrm>
          <a:prstGeom prst="rect">
            <a:avLst/>
          </a:prstGeom>
          <a:solidFill>
            <a:srgbClr val="02B9E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Freeform 7"/>
          <p:cNvSpPr>
            <a:spLocks/>
          </p:cNvSpPr>
          <p:nvPr/>
        </p:nvSpPr>
        <p:spPr bwMode="auto">
          <a:xfrm>
            <a:off x="10799813" y="5496958"/>
            <a:ext cx="1079283" cy="1080463"/>
          </a:xfrm>
          <a:custGeom>
            <a:avLst/>
            <a:gdLst>
              <a:gd name="T0" fmla="*/ 2199 w 2504"/>
              <a:gd name="T1" fmla="*/ 0 h 2504"/>
              <a:gd name="T2" fmla="*/ 2504 w 2504"/>
              <a:gd name="T3" fmla="*/ 0 h 2504"/>
              <a:gd name="T4" fmla="*/ 2504 w 2504"/>
              <a:gd name="T5" fmla="*/ 2504 h 2504"/>
              <a:gd name="T6" fmla="*/ 0 w 2504"/>
              <a:gd name="T7" fmla="*/ 2504 h 2504"/>
              <a:gd name="T8" fmla="*/ 0 w 2504"/>
              <a:gd name="T9" fmla="*/ 2199 h 2504"/>
              <a:gd name="T10" fmla="*/ 1970 w 2504"/>
              <a:gd name="T11" fmla="*/ 2199 h 2504"/>
              <a:gd name="T12" fmla="*/ 87 w 2504"/>
              <a:gd name="T13" fmla="*/ 315 h 2504"/>
              <a:gd name="T14" fmla="*/ 303 w 2504"/>
              <a:gd name="T15" fmla="*/ 99 h 2504"/>
              <a:gd name="T16" fmla="*/ 2199 w 2504"/>
              <a:gd name="T17" fmla="*/ 1996 h 2504"/>
              <a:gd name="T18" fmla="*/ 2199 w 2504"/>
              <a:gd name="T19" fmla="*/ 0 h 25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04" h="2504">
                <a:moveTo>
                  <a:pt x="2199" y="0"/>
                </a:moveTo>
                <a:lnTo>
                  <a:pt x="2504" y="0"/>
                </a:lnTo>
                <a:lnTo>
                  <a:pt x="2504" y="2504"/>
                </a:lnTo>
                <a:lnTo>
                  <a:pt x="0" y="2504"/>
                </a:lnTo>
                <a:lnTo>
                  <a:pt x="0" y="2199"/>
                </a:lnTo>
                <a:lnTo>
                  <a:pt x="1970" y="2199"/>
                </a:lnTo>
                <a:lnTo>
                  <a:pt x="87" y="315"/>
                </a:lnTo>
                <a:lnTo>
                  <a:pt x="303" y="99"/>
                </a:lnTo>
                <a:lnTo>
                  <a:pt x="2199" y="1996"/>
                </a:lnTo>
                <a:lnTo>
                  <a:pt x="2199" y="0"/>
                </a:lnTo>
                <a:close/>
              </a:path>
            </a:pathLst>
          </a:custGeom>
          <a:solidFill>
            <a:schemeClr val="bg1">
              <a:lumMod val="75000"/>
            </a:schemeClr>
          </a:solidFill>
          <a:ln>
            <a:noFill/>
          </a:ln>
        </p:spPr>
        <p:txBody>
          <a:bodyPr vert="horz" wrap="square" lIns="91434" tIns="45717" rIns="91434" bIns="45717" numCol="1" anchor="t" anchorCtr="0" compatLnSpc="1">
            <a:prstTxWarp prst="textNoShape">
              <a:avLst/>
            </a:prstTxWarp>
          </a:bodyPr>
          <a:lstStyle/>
          <a:p>
            <a:endParaRPr lang="zh-CN" altLang="en-US">
              <a:solidFill>
                <a:srgbClr val="294A5A"/>
              </a:solidFill>
            </a:endParaRPr>
          </a:p>
        </p:txBody>
      </p:sp>
      <p:sp>
        <p:nvSpPr>
          <p:cNvPr id="6" name="Rectangle 3"/>
          <p:cNvSpPr txBox="1">
            <a:spLocks noChangeArrowheads="1"/>
          </p:cNvSpPr>
          <p:nvPr/>
        </p:nvSpPr>
        <p:spPr bwMode="auto">
          <a:xfrm>
            <a:off x="2835079" y="2541722"/>
            <a:ext cx="7020067" cy="129614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34" tIns="45717" rIns="91434" bIns="45717" numCol="1" anchor="ctr" anchorCtr="0" compatLnSpc="1">
            <a:prstTxWarp prst="textNoShape">
              <a:avLst/>
            </a:prstTxWarp>
          </a:bodyPr>
          <a:lstStyle>
            <a:lvl1pPr algn="l" rtl="0" fontAlgn="base">
              <a:spcBef>
                <a:spcPct val="0"/>
              </a:spcBef>
              <a:spcAft>
                <a:spcPct val="0"/>
              </a:spcAft>
              <a:defRPr sz="2400">
                <a:solidFill>
                  <a:schemeClr val="accent2"/>
                </a:solidFill>
                <a:latin typeface="+mj-lt"/>
                <a:ea typeface="+mj-ea"/>
                <a:cs typeface="+mj-cs"/>
              </a:defRPr>
            </a:lvl1pPr>
            <a:lvl2pPr algn="l" rtl="0" fontAlgn="base">
              <a:spcBef>
                <a:spcPct val="0"/>
              </a:spcBef>
              <a:spcAft>
                <a:spcPct val="0"/>
              </a:spcAft>
              <a:defRPr sz="2400">
                <a:solidFill>
                  <a:schemeClr val="tx2"/>
                </a:solidFill>
                <a:latin typeface="Arial" pitchFamily="34" charset="0"/>
                <a:ea typeface="微软雅黑" pitchFamily="34" charset="-122"/>
              </a:defRPr>
            </a:lvl2pPr>
            <a:lvl3pPr algn="l" rtl="0" fontAlgn="base">
              <a:spcBef>
                <a:spcPct val="0"/>
              </a:spcBef>
              <a:spcAft>
                <a:spcPct val="0"/>
              </a:spcAft>
              <a:defRPr sz="2400">
                <a:solidFill>
                  <a:schemeClr val="tx2"/>
                </a:solidFill>
                <a:latin typeface="Arial" pitchFamily="34" charset="0"/>
                <a:ea typeface="微软雅黑" pitchFamily="34" charset="-122"/>
              </a:defRPr>
            </a:lvl3pPr>
            <a:lvl4pPr algn="l" rtl="0" fontAlgn="base">
              <a:spcBef>
                <a:spcPct val="0"/>
              </a:spcBef>
              <a:spcAft>
                <a:spcPct val="0"/>
              </a:spcAft>
              <a:defRPr sz="2400">
                <a:solidFill>
                  <a:schemeClr val="tx2"/>
                </a:solidFill>
                <a:latin typeface="Arial" pitchFamily="34" charset="0"/>
                <a:ea typeface="微软雅黑" pitchFamily="34" charset="-122"/>
              </a:defRPr>
            </a:lvl4pPr>
            <a:lvl5pPr algn="l" rtl="0" fontAlgn="base">
              <a:spcBef>
                <a:spcPct val="0"/>
              </a:spcBef>
              <a:spcAft>
                <a:spcPct val="0"/>
              </a:spcAft>
              <a:defRPr sz="2400">
                <a:solidFill>
                  <a:schemeClr val="tx2"/>
                </a:solidFill>
                <a:latin typeface="Arial" pitchFamily="34" charset="0"/>
                <a:ea typeface="微软雅黑" pitchFamily="34" charset="-122"/>
              </a:defRPr>
            </a:lvl5pPr>
            <a:lvl6pPr marL="457200" algn="l" rtl="0" fontAlgn="base">
              <a:spcBef>
                <a:spcPct val="0"/>
              </a:spcBef>
              <a:spcAft>
                <a:spcPct val="0"/>
              </a:spcAft>
              <a:defRPr sz="2400">
                <a:solidFill>
                  <a:schemeClr val="tx2"/>
                </a:solidFill>
                <a:latin typeface="Arial" pitchFamily="34" charset="0"/>
                <a:ea typeface="微软雅黑" pitchFamily="34" charset="-122"/>
              </a:defRPr>
            </a:lvl6pPr>
            <a:lvl7pPr marL="914400" algn="l" rtl="0" fontAlgn="base">
              <a:spcBef>
                <a:spcPct val="0"/>
              </a:spcBef>
              <a:spcAft>
                <a:spcPct val="0"/>
              </a:spcAft>
              <a:defRPr sz="2400">
                <a:solidFill>
                  <a:schemeClr val="tx2"/>
                </a:solidFill>
                <a:latin typeface="Arial" pitchFamily="34" charset="0"/>
                <a:ea typeface="微软雅黑" pitchFamily="34" charset="-122"/>
              </a:defRPr>
            </a:lvl7pPr>
            <a:lvl8pPr marL="1371600" algn="l" rtl="0" fontAlgn="base">
              <a:spcBef>
                <a:spcPct val="0"/>
              </a:spcBef>
              <a:spcAft>
                <a:spcPct val="0"/>
              </a:spcAft>
              <a:defRPr sz="2400">
                <a:solidFill>
                  <a:schemeClr val="tx2"/>
                </a:solidFill>
                <a:latin typeface="Arial" pitchFamily="34" charset="0"/>
                <a:ea typeface="微软雅黑" pitchFamily="34" charset="-122"/>
              </a:defRPr>
            </a:lvl8pPr>
            <a:lvl9pPr marL="1828800" algn="l" rtl="0" fontAlgn="base">
              <a:spcBef>
                <a:spcPct val="0"/>
              </a:spcBef>
              <a:spcAft>
                <a:spcPct val="0"/>
              </a:spcAft>
              <a:defRPr sz="2400">
                <a:solidFill>
                  <a:schemeClr val="tx2"/>
                </a:solidFill>
                <a:latin typeface="Arial" pitchFamily="34" charset="0"/>
                <a:ea typeface="微软雅黑" pitchFamily="34" charset="-122"/>
              </a:defRPr>
            </a:lvl9pPr>
          </a:lstStyle>
          <a:p>
            <a:endParaRPr lang="en-US" altLang="zh-CN" sz="6000" b="1" dirty="0">
              <a:solidFill>
                <a:schemeClr val="bg1"/>
              </a:solidFill>
              <a:latin typeface="微软雅黑" panose="020B0503020204020204" pitchFamily="34" charset="-122"/>
              <a:ea typeface="微软雅黑" panose="020B0503020204020204" pitchFamily="34" charset="-122"/>
            </a:endParaRPr>
          </a:p>
          <a:p>
            <a:r>
              <a:rPr lang="en-US" altLang="zh-CN" sz="6000" b="1" dirty="0">
                <a:solidFill>
                  <a:schemeClr val="bg1"/>
                </a:solidFill>
                <a:latin typeface="微软雅黑" panose="020B0503020204020204" pitchFamily="34" charset="-122"/>
                <a:ea typeface="微软雅黑" panose="020B0503020204020204" pitchFamily="34" charset="-122"/>
              </a:rPr>
              <a:t> </a:t>
            </a:r>
            <a:r>
              <a:rPr lang="zh-CN" altLang="en-US" sz="6000" b="1" dirty="0">
                <a:solidFill>
                  <a:schemeClr val="bg1"/>
                </a:solidFill>
                <a:latin typeface="微软雅黑" panose="020B0503020204020204" pitchFamily="34" charset="-122"/>
                <a:ea typeface="微软雅黑" panose="020B0503020204020204" pitchFamily="34" charset="-122"/>
              </a:rPr>
              <a:t>输入输出系统概述</a:t>
            </a:r>
          </a:p>
          <a:p>
            <a:endParaRPr lang="en-US" altLang="zh-CN" sz="6000" b="1" dirty="0">
              <a:solidFill>
                <a:schemeClr val="bg1"/>
              </a:solidFill>
              <a:latin typeface="微软雅黑" panose="020B0503020204020204" pitchFamily="34" charset="-122"/>
              <a:ea typeface="微软雅黑" panose="020B0503020204020204" pitchFamily="34" charset="-122"/>
            </a:endParaRPr>
          </a:p>
        </p:txBody>
      </p:sp>
      <p:sp>
        <p:nvSpPr>
          <p:cNvPr id="7" name="Rectangle 6"/>
          <p:cNvSpPr>
            <a:spLocks noChangeArrowheads="1"/>
          </p:cNvSpPr>
          <p:nvPr/>
        </p:nvSpPr>
        <p:spPr bwMode="auto">
          <a:xfrm>
            <a:off x="6353950" y="5153618"/>
            <a:ext cx="2835079" cy="81520"/>
          </a:xfrm>
          <a:prstGeom prst="rect">
            <a:avLst/>
          </a:prstGeom>
          <a:solidFill>
            <a:srgbClr val="01C0B0"/>
          </a:solidFill>
          <a:ln>
            <a:noFill/>
          </a:ln>
        </p:spPr>
        <p:txBody>
          <a:bodyPr vert="horz" wrap="square" lIns="91434" tIns="45717" rIns="91434" bIns="45717" numCol="1" anchor="t" anchorCtr="0" compatLnSpc="1">
            <a:prstTxWarp prst="textNoShape">
              <a:avLst/>
            </a:prstTxWarp>
          </a:bodyPr>
          <a:lstStyle/>
          <a:p>
            <a:endParaRPr lang="zh-CN" altLang="en-US">
              <a:solidFill>
                <a:srgbClr val="294A5A"/>
              </a:solidFill>
            </a:endParaRPr>
          </a:p>
        </p:txBody>
      </p:sp>
      <p:sp>
        <p:nvSpPr>
          <p:cNvPr id="8" name="Rectangle 7"/>
          <p:cNvSpPr>
            <a:spLocks noChangeArrowheads="1"/>
          </p:cNvSpPr>
          <p:nvPr/>
        </p:nvSpPr>
        <p:spPr bwMode="auto">
          <a:xfrm>
            <a:off x="7620664" y="5153618"/>
            <a:ext cx="2831571" cy="81520"/>
          </a:xfrm>
          <a:prstGeom prst="rect">
            <a:avLst/>
          </a:prstGeom>
          <a:solidFill>
            <a:srgbClr val="FFC000"/>
          </a:solidFill>
          <a:ln>
            <a:noFill/>
          </a:ln>
        </p:spPr>
        <p:txBody>
          <a:bodyPr vert="horz" wrap="square" lIns="91434" tIns="45717" rIns="91434" bIns="45717" numCol="1" anchor="t" anchorCtr="0" compatLnSpc="1">
            <a:prstTxWarp prst="textNoShape">
              <a:avLst/>
            </a:prstTxWarp>
          </a:bodyPr>
          <a:lstStyle/>
          <a:p>
            <a:endParaRPr lang="zh-CN" altLang="en-US">
              <a:solidFill>
                <a:srgbClr val="294A5A"/>
              </a:solidFill>
            </a:endParaRPr>
          </a:p>
        </p:txBody>
      </p:sp>
      <p:sp>
        <p:nvSpPr>
          <p:cNvPr id="9" name="Rectangle 8"/>
          <p:cNvSpPr>
            <a:spLocks noChangeArrowheads="1"/>
          </p:cNvSpPr>
          <p:nvPr/>
        </p:nvSpPr>
        <p:spPr bwMode="auto">
          <a:xfrm>
            <a:off x="8885806" y="5153618"/>
            <a:ext cx="2835079" cy="81520"/>
          </a:xfrm>
          <a:prstGeom prst="rect">
            <a:avLst/>
          </a:prstGeom>
          <a:solidFill>
            <a:srgbClr val="92D050"/>
          </a:solidFill>
          <a:ln>
            <a:noFill/>
          </a:ln>
        </p:spPr>
        <p:txBody>
          <a:bodyPr vert="horz" wrap="square" lIns="91434" tIns="45717" rIns="91434" bIns="45717" numCol="1" anchor="t" anchorCtr="0" compatLnSpc="1">
            <a:prstTxWarp prst="textNoShape">
              <a:avLst/>
            </a:prstTxWarp>
          </a:bodyPr>
          <a:lstStyle/>
          <a:p>
            <a:endParaRPr lang="zh-CN" altLang="en-US">
              <a:solidFill>
                <a:srgbClr val="294A5A"/>
              </a:solidFill>
            </a:endParaRPr>
          </a:p>
        </p:txBody>
      </p:sp>
      <p:sp>
        <p:nvSpPr>
          <p:cNvPr id="10" name="Rectangle 9"/>
          <p:cNvSpPr>
            <a:spLocks noChangeArrowheads="1"/>
          </p:cNvSpPr>
          <p:nvPr/>
        </p:nvSpPr>
        <p:spPr bwMode="auto">
          <a:xfrm>
            <a:off x="10152517" y="5153618"/>
            <a:ext cx="2039483" cy="81520"/>
          </a:xfrm>
          <a:prstGeom prst="rect">
            <a:avLst/>
          </a:prstGeom>
          <a:solidFill>
            <a:srgbClr val="FFFF00"/>
          </a:solidFill>
          <a:ln>
            <a:noFill/>
          </a:ln>
        </p:spPr>
        <p:txBody>
          <a:bodyPr vert="horz" wrap="square" lIns="91434" tIns="45717" rIns="91434" bIns="45717" numCol="1" anchor="t" anchorCtr="0" compatLnSpc="1">
            <a:prstTxWarp prst="textNoShape">
              <a:avLst/>
            </a:prstTxWarp>
          </a:bodyPr>
          <a:lstStyle/>
          <a:p>
            <a:endParaRPr lang="zh-CN" altLang="en-US">
              <a:solidFill>
                <a:srgbClr val="294A5A"/>
              </a:solidFill>
            </a:endParaRPr>
          </a:p>
        </p:txBody>
      </p:sp>
      <p:sp>
        <p:nvSpPr>
          <p:cNvPr id="12" name="Freeform 9"/>
          <p:cNvSpPr>
            <a:spLocks noEditPoints="1"/>
          </p:cNvSpPr>
          <p:nvPr/>
        </p:nvSpPr>
        <p:spPr bwMode="auto">
          <a:xfrm>
            <a:off x="10057335" y="4692974"/>
            <a:ext cx="373115" cy="374683"/>
          </a:xfrm>
          <a:custGeom>
            <a:avLst/>
            <a:gdLst>
              <a:gd name="T0" fmla="*/ 358 w 490"/>
              <a:gd name="T1" fmla="*/ 250 h 490"/>
              <a:gd name="T2" fmla="*/ 358 w 490"/>
              <a:gd name="T3" fmla="*/ 183 h 490"/>
              <a:gd name="T4" fmla="*/ 328 w 490"/>
              <a:gd name="T5" fmla="*/ 183 h 490"/>
              <a:gd name="T6" fmla="*/ 328 w 490"/>
              <a:gd name="T7" fmla="*/ 250 h 490"/>
              <a:gd name="T8" fmla="*/ 247 w 490"/>
              <a:gd name="T9" fmla="*/ 330 h 490"/>
              <a:gd name="T10" fmla="*/ 246 w 490"/>
              <a:gd name="T11" fmla="*/ 330 h 490"/>
              <a:gd name="T12" fmla="*/ 245 w 490"/>
              <a:gd name="T13" fmla="*/ 330 h 490"/>
              <a:gd name="T14" fmla="*/ 245 w 490"/>
              <a:gd name="T15" fmla="*/ 330 h 490"/>
              <a:gd name="T16" fmla="*/ 243 w 490"/>
              <a:gd name="T17" fmla="*/ 330 h 490"/>
              <a:gd name="T18" fmla="*/ 162 w 490"/>
              <a:gd name="T19" fmla="*/ 250 h 490"/>
              <a:gd name="T20" fmla="*/ 162 w 490"/>
              <a:gd name="T21" fmla="*/ 183 h 490"/>
              <a:gd name="T22" fmla="*/ 132 w 490"/>
              <a:gd name="T23" fmla="*/ 183 h 490"/>
              <a:gd name="T24" fmla="*/ 132 w 490"/>
              <a:gd name="T25" fmla="*/ 250 h 490"/>
              <a:gd name="T26" fmla="*/ 227 w 490"/>
              <a:gd name="T27" fmla="*/ 359 h 490"/>
              <a:gd name="T28" fmla="*/ 227 w 490"/>
              <a:gd name="T29" fmla="*/ 407 h 490"/>
              <a:gd name="T30" fmla="*/ 160 w 490"/>
              <a:gd name="T31" fmla="*/ 426 h 490"/>
              <a:gd name="T32" fmla="*/ 331 w 490"/>
              <a:gd name="T33" fmla="*/ 426 h 490"/>
              <a:gd name="T34" fmla="*/ 263 w 490"/>
              <a:gd name="T35" fmla="*/ 407 h 490"/>
              <a:gd name="T36" fmla="*/ 263 w 490"/>
              <a:gd name="T37" fmla="*/ 360 h 490"/>
              <a:gd name="T38" fmla="*/ 358 w 490"/>
              <a:gd name="T39" fmla="*/ 250 h 490"/>
              <a:gd name="T40" fmla="*/ 244 w 490"/>
              <a:gd name="T41" fmla="*/ 302 h 490"/>
              <a:gd name="T42" fmla="*/ 245 w 490"/>
              <a:gd name="T43" fmla="*/ 302 h 490"/>
              <a:gd name="T44" fmla="*/ 246 w 490"/>
              <a:gd name="T45" fmla="*/ 302 h 490"/>
              <a:gd name="T46" fmla="*/ 300 w 490"/>
              <a:gd name="T47" fmla="*/ 248 h 490"/>
              <a:gd name="T48" fmla="*/ 300 w 490"/>
              <a:gd name="T49" fmla="*/ 118 h 490"/>
              <a:gd name="T50" fmla="*/ 246 w 490"/>
              <a:gd name="T51" fmla="*/ 64 h 490"/>
              <a:gd name="T52" fmla="*/ 245 w 490"/>
              <a:gd name="T53" fmla="*/ 64 h 490"/>
              <a:gd name="T54" fmla="*/ 244 w 490"/>
              <a:gd name="T55" fmla="*/ 64 h 490"/>
              <a:gd name="T56" fmla="*/ 190 w 490"/>
              <a:gd name="T57" fmla="*/ 118 h 490"/>
              <a:gd name="T58" fmla="*/ 190 w 490"/>
              <a:gd name="T59" fmla="*/ 248 h 490"/>
              <a:gd name="T60" fmla="*/ 244 w 490"/>
              <a:gd name="T61" fmla="*/ 302 h 490"/>
              <a:gd name="T62" fmla="*/ 245 w 490"/>
              <a:gd name="T63" fmla="*/ 0 h 490"/>
              <a:gd name="T64" fmla="*/ 490 w 490"/>
              <a:gd name="T65" fmla="*/ 245 h 490"/>
              <a:gd name="T66" fmla="*/ 245 w 490"/>
              <a:gd name="T67" fmla="*/ 490 h 490"/>
              <a:gd name="T68" fmla="*/ 0 w 490"/>
              <a:gd name="T69" fmla="*/ 245 h 490"/>
              <a:gd name="T70" fmla="*/ 245 w 490"/>
              <a:gd name="T71" fmla="*/ 0 h 4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490" h="490">
                <a:moveTo>
                  <a:pt x="358" y="250"/>
                </a:moveTo>
                <a:lnTo>
                  <a:pt x="358" y="183"/>
                </a:lnTo>
                <a:cubicBezTo>
                  <a:pt x="358" y="165"/>
                  <a:pt x="328" y="164"/>
                  <a:pt x="328" y="183"/>
                </a:cubicBezTo>
                <a:lnTo>
                  <a:pt x="328" y="250"/>
                </a:lnTo>
                <a:cubicBezTo>
                  <a:pt x="328" y="294"/>
                  <a:pt x="292" y="330"/>
                  <a:pt x="247" y="330"/>
                </a:cubicBezTo>
                <a:cubicBezTo>
                  <a:pt x="247" y="330"/>
                  <a:pt x="246" y="330"/>
                  <a:pt x="246" y="330"/>
                </a:cubicBezTo>
                <a:lnTo>
                  <a:pt x="245" y="330"/>
                </a:lnTo>
                <a:lnTo>
                  <a:pt x="245" y="330"/>
                </a:lnTo>
                <a:cubicBezTo>
                  <a:pt x="244" y="330"/>
                  <a:pt x="244" y="330"/>
                  <a:pt x="243" y="330"/>
                </a:cubicBezTo>
                <a:cubicBezTo>
                  <a:pt x="198" y="330"/>
                  <a:pt x="162" y="294"/>
                  <a:pt x="162" y="250"/>
                </a:cubicBezTo>
                <a:lnTo>
                  <a:pt x="162" y="183"/>
                </a:lnTo>
                <a:cubicBezTo>
                  <a:pt x="162" y="165"/>
                  <a:pt x="132" y="164"/>
                  <a:pt x="132" y="183"/>
                </a:cubicBezTo>
                <a:cubicBezTo>
                  <a:pt x="132" y="192"/>
                  <a:pt x="132" y="250"/>
                  <a:pt x="132" y="250"/>
                </a:cubicBezTo>
                <a:cubicBezTo>
                  <a:pt x="132" y="306"/>
                  <a:pt x="173" y="352"/>
                  <a:pt x="227" y="359"/>
                </a:cubicBezTo>
                <a:lnTo>
                  <a:pt x="227" y="407"/>
                </a:lnTo>
                <a:lnTo>
                  <a:pt x="160" y="426"/>
                </a:lnTo>
                <a:lnTo>
                  <a:pt x="331" y="426"/>
                </a:lnTo>
                <a:lnTo>
                  <a:pt x="263" y="407"/>
                </a:lnTo>
                <a:lnTo>
                  <a:pt x="263" y="360"/>
                </a:lnTo>
                <a:cubicBezTo>
                  <a:pt x="317" y="352"/>
                  <a:pt x="358" y="306"/>
                  <a:pt x="358" y="250"/>
                </a:cubicBezTo>
                <a:close/>
                <a:moveTo>
                  <a:pt x="244" y="302"/>
                </a:moveTo>
                <a:cubicBezTo>
                  <a:pt x="244" y="302"/>
                  <a:pt x="245" y="302"/>
                  <a:pt x="245" y="302"/>
                </a:cubicBezTo>
                <a:cubicBezTo>
                  <a:pt x="245" y="302"/>
                  <a:pt x="246" y="302"/>
                  <a:pt x="246" y="302"/>
                </a:cubicBezTo>
                <a:cubicBezTo>
                  <a:pt x="276" y="302"/>
                  <a:pt x="300" y="278"/>
                  <a:pt x="300" y="248"/>
                </a:cubicBezTo>
                <a:lnTo>
                  <a:pt x="300" y="118"/>
                </a:lnTo>
                <a:cubicBezTo>
                  <a:pt x="300" y="88"/>
                  <a:pt x="276" y="64"/>
                  <a:pt x="246" y="64"/>
                </a:cubicBezTo>
                <a:cubicBezTo>
                  <a:pt x="246" y="64"/>
                  <a:pt x="245" y="64"/>
                  <a:pt x="245" y="64"/>
                </a:cubicBezTo>
                <a:cubicBezTo>
                  <a:pt x="245" y="64"/>
                  <a:pt x="244" y="64"/>
                  <a:pt x="244" y="64"/>
                </a:cubicBezTo>
                <a:cubicBezTo>
                  <a:pt x="214" y="64"/>
                  <a:pt x="190" y="88"/>
                  <a:pt x="190" y="118"/>
                </a:cubicBezTo>
                <a:lnTo>
                  <a:pt x="190" y="248"/>
                </a:lnTo>
                <a:cubicBezTo>
                  <a:pt x="190" y="278"/>
                  <a:pt x="214" y="302"/>
                  <a:pt x="244" y="302"/>
                </a:cubicBezTo>
                <a:close/>
                <a:moveTo>
                  <a:pt x="245" y="0"/>
                </a:moveTo>
                <a:cubicBezTo>
                  <a:pt x="381" y="0"/>
                  <a:pt x="490" y="110"/>
                  <a:pt x="490" y="245"/>
                </a:cubicBezTo>
                <a:cubicBezTo>
                  <a:pt x="490" y="381"/>
                  <a:pt x="381" y="490"/>
                  <a:pt x="245" y="490"/>
                </a:cubicBezTo>
                <a:cubicBezTo>
                  <a:pt x="110" y="490"/>
                  <a:pt x="0" y="381"/>
                  <a:pt x="0" y="245"/>
                </a:cubicBezTo>
                <a:cubicBezTo>
                  <a:pt x="0" y="110"/>
                  <a:pt x="110" y="0"/>
                  <a:pt x="245" y="0"/>
                </a:cubicBezTo>
                <a:close/>
              </a:path>
            </a:pathLst>
          </a:custGeom>
          <a:solidFill>
            <a:schemeClr val="bg1"/>
          </a:solidFill>
          <a:ln>
            <a:noFill/>
          </a:ln>
          <a:extLst/>
        </p:spPr>
        <p:txBody>
          <a:bodyPr vert="horz" wrap="square" lIns="91434" tIns="45717" rIns="91434" bIns="45717" numCol="1" anchor="t" anchorCtr="0" compatLnSpc="1">
            <a:prstTxWarp prst="textNoShape">
              <a:avLst/>
            </a:prstTxWarp>
          </a:bodyPr>
          <a:lstStyle/>
          <a:p>
            <a:endParaRPr lang="zh-CN" altLang="en-US">
              <a:solidFill>
                <a:srgbClr val="484849"/>
              </a:solidFill>
            </a:endParaRPr>
          </a:p>
        </p:txBody>
      </p:sp>
      <p:sp>
        <p:nvSpPr>
          <p:cNvPr id="13" name="Rectangle 4"/>
          <p:cNvSpPr txBox="1">
            <a:spLocks noChangeArrowheads="1"/>
          </p:cNvSpPr>
          <p:nvPr/>
        </p:nvSpPr>
        <p:spPr bwMode="auto">
          <a:xfrm>
            <a:off x="10466453" y="4703232"/>
            <a:ext cx="1899476" cy="35393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34" tIns="45717" rIns="91434" bIns="45717" rtlCol="0">
            <a:spAutoFit/>
          </a:bodyPr>
          <a:lstStyle>
            <a:defPPr>
              <a:defRPr lang="zh-CN"/>
            </a:defPPr>
            <a:lvl1pPr>
              <a:defRPr sz="2400" b="1">
                <a:latin typeface="+mj-ea"/>
                <a:ea typeface="+mj-ea"/>
              </a:defRPr>
            </a:lvl1pPr>
          </a:lstStyle>
          <a:p>
            <a:r>
              <a:rPr lang="zh-CN" altLang="en-US" sz="1700" dirty="0">
                <a:solidFill>
                  <a:schemeClr val="bg1"/>
                </a:solidFill>
              </a:rPr>
              <a:t>汇报人：代用名</a:t>
            </a:r>
          </a:p>
        </p:txBody>
      </p:sp>
      <p:sp>
        <p:nvSpPr>
          <p:cNvPr id="14" name="Freeform 10"/>
          <p:cNvSpPr>
            <a:spLocks noChangeAspect="1" noEditPoints="1"/>
          </p:cNvSpPr>
          <p:nvPr/>
        </p:nvSpPr>
        <p:spPr bwMode="auto">
          <a:xfrm>
            <a:off x="6417691" y="4693112"/>
            <a:ext cx="372836" cy="374400"/>
          </a:xfrm>
          <a:custGeom>
            <a:avLst/>
            <a:gdLst>
              <a:gd name="T0" fmla="*/ 245 w 490"/>
              <a:gd name="T1" fmla="*/ 0 h 490"/>
              <a:gd name="T2" fmla="*/ 490 w 490"/>
              <a:gd name="T3" fmla="*/ 245 h 490"/>
              <a:gd name="T4" fmla="*/ 245 w 490"/>
              <a:gd name="T5" fmla="*/ 490 h 490"/>
              <a:gd name="T6" fmla="*/ 0 w 490"/>
              <a:gd name="T7" fmla="*/ 245 h 490"/>
              <a:gd name="T8" fmla="*/ 245 w 490"/>
              <a:gd name="T9" fmla="*/ 0 h 490"/>
              <a:gd name="T10" fmla="*/ 436 w 490"/>
              <a:gd name="T11" fmla="*/ 250 h 490"/>
              <a:gd name="T12" fmla="*/ 427 w 490"/>
              <a:gd name="T13" fmla="*/ 256 h 490"/>
              <a:gd name="T14" fmla="*/ 394 w 490"/>
              <a:gd name="T15" fmla="*/ 256 h 490"/>
              <a:gd name="T16" fmla="*/ 386 w 490"/>
              <a:gd name="T17" fmla="*/ 253 h 490"/>
              <a:gd name="T18" fmla="*/ 245 w 490"/>
              <a:gd name="T19" fmla="*/ 105 h 490"/>
              <a:gd name="T20" fmla="*/ 104 w 490"/>
              <a:gd name="T21" fmla="*/ 253 h 490"/>
              <a:gd name="T22" fmla="*/ 96 w 490"/>
              <a:gd name="T23" fmla="*/ 256 h 490"/>
              <a:gd name="T24" fmla="*/ 63 w 490"/>
              <a:gd name="T25" fmla="*/ 256 h 490"/>
              <a:gd name="T26" fmla="*/ 54 w 490"/>
              <a:gd name="T27" fmla="*/ 250 h 490"/>
              <a:gd name="T28" fmla="*/ 56 w 490"/>
              <a:gd name="T29" fmla="*/ 239 h 490"/>
              <a:gd name="T30" fmla="*/ 236 w 490"/>
              <a:gd name="T31" fmla="*/ 52 h 490"/>
              <a:gd name="T32" fmla="*/ 245 w 490"/>
              <a:gd name="T33" fmla="*/ 48 h 490"/>
              <a:gd name="T34" fmla="*/ 254 w 490"/>
              <a:gd name="T35" fmla="*/ 52 h 490"/>
              <a:gd name="T36" fmla="*/ 434 w 490"/>
              <a:gd name="T37" fmla="*/ 239 h 490"/>
              <a:gd name="T38" fmla="*/ 436 w 490"/>
              <a:gd name="T39" fmla="*/ 250 h 490"/>
              <a:gd name="T40" fmla="*/ 113 w 490"/>
              <a:gd name="T41" fmla="*/ 267 h 490"/>
              <a:gd name="T42" fmla="*/ 113 w 490"/>
              <a:gd name="T43" fmla="*/ 267 h 490"/>
              <a:gd name="T44" fmla="*/ 113 w 490"/>
              <a:gd name="T45" fmla="*/ 379 h 490"/>
              <a:gd name="T46" fmla="*/ 129 w 490"/>
              <a:gd name="T47" fmla="*/ 398 h 490"/>
              <a:gd name="T48" fmla="*/ 202 w 490"/>
              <a:gd name="T49" fmla="*/ 398 h 490"/>
              <a:gd name="T50" fmla="*/ 202 w 490"/>
              <a:gd name="T51" fmla="*/ 276 h 490"/>
              <a:gd name="T52" fmla="*/ 221 w 490"/>
              <a:gd name="T53" fmla="*/ 257 h 490"/>
              <a:gd name="T54" fmla="*/ 269 w 490"/>
              <a:gd name="T55" fmla="*/ 257 h 490"/>
              <a:gd name="T56" fmla="*/ 288 w 490"/>
              <a:gd name="T57" fmla="*/ 276 h 490"/>
              <a:gd name="T58" fmla="*/ 288 w 490"/>
              <a:gd name="T59" fmla="*/ 398 h 490"/>
              <a:gd name="T60" fmla="*/ 361 w 490"/>
              <a:gd name="T61" fmla="*/ 398 h 490"/>
              <a:gd name="T62" fmla="*/ 377 w 490"/>
              <a:gd name="T63" fmla="*/ 379 h 490"/>
              <a:gd name="T64" fmla="*/ 377 w 490"/>
              <a:gd name="T65" fmla="*/ 268 h 490"/>
              <a:gd name="T66" fmla="*/ 245 w 490"/>
              <a:gd name="T67" fmla="*/ 130 h 490"/>
              <a:gd name="T68" fmla="*/ 113 w 490"/>
              <a:gd name="T69" fmla="*/ 267 h 4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490" h="490">
                <a:moveTo>
                  <a:pt x="245" y="0"/>
                </a:moveTo>
                <a:cubicBezTo>
                  <a:pt x="380" y="0"/>
                  <a:pt x="490" y="110"/>
                  <a:pt x="490" y="245"/>
                </a:cubicBezTo>
                <a:cubicBezTo>
                  <a:pt x="490" y="381"/>
                  <a:pt x="380" y="490"/>
                  <a:pt x="245" y="490"/>
                </a:cubicBezTo>
                <a:cubicBezTo>
                  <a:pt x="110" y="490"/>
                  <a:pt x="0" y="381"/>
                  <a:pt x="0" y="245"/>
                </a:cubicBezTo>
                <a:cubicBezTo>
                  <a:pt x="0" y="110"/>
                  <a:pt x="110" y="0"/>
                  <a:pt x="245" y="0"/>
                </a:cubicBezTo>
                <a:close/>
                <a:moveTo>
                  <a:pt x="436" y="250"/>
                </a:moveTo>
                <a:cubicBezTo>
                  <a:pt x="435" y="254"/>
                  <a:pt x="431" y="256"/>
                  <a:pt x="427" y="256"/>
                </a:cubicBezTo>
                <a:lnTo>
                  <a:pt x="394" y="256"/>
                </a:lnTo>
                <a:cubicBezTo>
                  <a:pt x="391" y="256"/>
                  <a:pt x="388" y="255"/>
                  <a:pt x="386" y="253"/>
                </a:cubicBezTo>
                <a:lnTo>
                  <a:pt x="245" y="105"/>
                </a:lnTo>
                <a:lnTo>
                  <a:pt x="104" y="253"/>
                </a:lnTo>
                <a:cubicBezTo>
                  <a:pt x="102" y="255"/>
                  <a:pt x="99" y="256"/>
                  <a:pt x="96" y="256"/>
                </a:cubicBezTo>
                <a:lnTo>
                  <a:pt x="63" y="256"/>
                </a:lnTo>
                <a:cubicBezTo>
                  <a:pt x="59" y="256"/>
                  <a:pt x="55" y="254"/>
                  <a:pt x="54" y="250"/>
                </a:cubicBezTo>
                <a:cubicBezTo>
                  <a:pt x="52" y="246"/>
                  <a:pt x="53" y="242"/>
                  <a:pt x="56" y="239"/>
                </a:cubicBezTo>
                <a:lnTo>
                  <a:pt x="236" y="52"/>
                </a:lnTo>
                <a:cubicBezTo>
                  <a:pt x="238" y="49"/>
                  <a:pt x="242" y="48"/>
                  <a:pt x="245" y="48"/>
                </a:cubicBezTo>
                <a:cubicBezTo>
                  <a:pt x="248" y="48"/>
                  <a:pt x="252" y="49"/>
                  <a:pt x="254" y="52"/>
                </a:cubicBezTo>
                <a:lnTo>
                  <a:pt x="434" y="239"/>
                </a:lnTo>
                <a:cubicBezTo>
                  <a:pt x="437" y="242"/>
                  <a:pt x="438" y="246"/>
                  <a:pt x="436" y="250"/>
                </a:cubicBezTo>
                <a:close/>
                <a:moveTo>
                  <a:pt x="113" y="267"/>
                </a:moveTo>
                <a:lnTo>
                  <a:pt x="113" y="267"/>
                </a:lnTo>
                <a:lnTo>
                  <a:pt x="113" y="379"/>
                </a:lnTo>
                <a:cubicBezTo>
                  <a:pt x="113" y="389"/>
                  <a:pt x="120" y="398"/>
                  <a:pt x="129" y="398"/>
                </a:cubicBezTo>
                <a:lnTo>
                  <a:pt x="202" y="398"/>
                </a:lnTo>
                <a:lnTo>
                  <a:pt x="202" y="276"/>
                </a:lnTo>
                <a:cubicBezTo>
                  <a:pt x="202" y="266"/>
                  <a:pt x="211" y="257"/>
                  <a:pt x="221" y="257"/>
                </a:cubicBezTo>
                <a:lnTo>
                  <a:pt x="269" y="257"/>
                </a:lnTo>
                <a:cubicBezTo>
                  <a:pt x="279" y="257"/>
                  <a:pt x="288" y="266"/>
                  <a:pt x="288" y="276"/>
                </a:cubicBezTo>
                <a:lnTo>
                  <a:pt x="288" y="398"/>
                </a:lnTo>
                <a:lnTo>
                  <a:pt x="361" y="398"/>
                </a:lnTo>
                <a:cubicBezTo>
                  <a:pt x="370" y="398"/>
                  <a:pt x="377" y="389"/>
                  <a:pt x="377" y="379"/>
                </a:cubicBezTo>
                <a:lnTo>
                  <a:pt x="377" y="268"/>
                </a:lnTo>
                <a:lnTo>
                  <a:pt x="245" y="130"/>
                </a:lnTo>
                <a:lnTo>
                  <a:pt x="113" y="267"/>
                </a:lnTo>
                <a:close/>
              </a:path>
            </a:pathLst>
          </a:custGeom>
          <a:solidFill>
            <a:schemeClr val="bg1"/>
          </a:solidFill>
          <a:ln>
            <a:noFill/>
          </a:ln>
          <a:extLst/>
        </p:spPr>
        <p:txBody>
          <a:bodyPr vert="horz" wrap="square" lIns="91434" tIns="45717" rIns="91434" bIns="45717" numCol="1" anchor="t" anchorCtr="0" compatLnSpc="1">
            <a:prstTxWarp prst="textNoShape">
              <a:avLst/>
            </a:prstTxWarp>
          </a:bodyPr>
          <a:lstStyle/>
          <a:p>
            <a:endParaRPr lang="zh-CN" altLang="en-US">
              <a:solidFill>
                <a:srgbClr val="294A5A"/>
              </a:solidFill>
            </a:endParaRPr>
          </a:p>
        </p:txBody>
      </p:sp>
      <p:grpSp>
        <p:nvGrpSpPr>
          <p:cNvPr id="15" name="组合 14"/>
          <p:cNvGrpSpPr/>
          <p:nvPr/>
        </p:nvGrpSpPr>
        <p:grpSpPr>
          <a:xfrm>
            <a:off x="262818" y="198604"/>
            <a:ext cx="473877" cy="484825"/>
            <a:chOff x="702608" y="-1899592"/>
            <a:chExt cx="1054013" cy="1078364"/>
          </a:xfrm>
        </p:grpSpPr>
        <p:sp>
          <p:nvSpPr>
            <p:cNvPr id="16" name="Oval 5"/>
            <p:cNvSpPr>
              <a:spLocks noChangeArrowheads="1"/>
            </p:cNvSpPr>
            <p:nvPr/>
          </p:nvSpPr>
          <p:spPr bwMode="auto">
            <a:xfrm>
              <a:off x="702608" y="-1899592"/>
              <a:ext cx="1054013" cy="1078364"/>
            </a:xfrm>
            <a:prstGeom prst="ellipse">
              <a:avLst/>
            </a:prstGeom>
            <a:solidFill>
              <a:schemeClr val="accent4"/>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7" name="Freeform 9"/>
            <p:cNvSpPr>
              <a:spLocks noEditPoints="1"/>
            </p:cNvSpPr>
            <p:nvPr/>
          </p:nvSpPr>
          <p:spPr bwMode="auto">
            <a:xfrm>
              <a:off x="904366" y="-1555211"/>
              <a:ext cx="650496" cy="445260"/>
            </a:xfrm>
            <a:custGeom>
              <a:avLst/>
              <a:gdLst>
                <a:gd name="T0" fmla="*/ 380 w 394"/>
                <a:gd name="T1" fmla="*/ 19 h 263"/>
                <a:gd name="T2" fmla="*/ 380 w 394"/>
                <a:gd name="T3" fmla="*/ 216 h 263"/>
                <a:gd name="T4" fmla="*/ 374 w 394"/>
                <a:gd name="T5" fmla="*/ 216 h 263"/>
                <a:gd name="T6" fmla="*/ 362 w 394"/>
                <a:gd name="T7" fmla="*/ 215 h 263"/>
                <a:gd name="T8" fmla="*/ 199 w 394"/>
                <a:gd name="T9" fmla="*/ 256 h 263"/>
                <a:gd name="T10" fmla="*/ 197 w 394"/>
                <a:gd name="T11" fmla="*/ 257 h 263"/>
                <a:gd name="T12" fmla="*/ 195 w 394"/>
                <a:gd name="T13" fmla="*/ 256 h 263"/>
                <a:gd name="T14" fmla="*/ 33 w 394"/>
                <a:gd name="T15" fmla="*/ 215 h 263"/>
                <a:gd name="T16" fmla="*/ 20 w 394"/>
                <a:gd name="T17" fmla="*/ 216 h 263"/>
                <a:gd name="T18" fmla="*/ 14 w 394"/>
                <a:gd name="T19" fmla="*/ 216 h 263"/>
                <a:gd name="T20" fmla="*/ 14 w 394"/>
                <a:gd name="T21" fmla="*/ 19 h 263"/>
                <a:gd name="T22" fmla="*/ 0 w 394"/>
                <a:gd name="T23" fmla="*/ 19 h 263"/>
                <a:gd name="T24" fmla="*/ 0 w 394"/>
                <a:gd name="T25" fmla="*/ 223 h 263"/>
                <a:gd name="T26" fmla="*/ 197 w 394"/>
                <a:gd name="T27" fmla="*/ 263 h 263"/>
                <a:gd name="T28" fmla="*/ 394 w 394"/>
                <a:gd name="T29" fmla="*/ 223 h 263"/>
                <a:gd name="T30" fmla="*/ 394 w 394"/>
                <a:gd name="T31" fmla="*/ 19 h 263"/>
                <a:gd name="T32" fmla="*/ 380 w 394"/>
                <a:gd name="T33" fmla="*/ 19 h 263"/>
                <a:gd name="T34" fmla="*/ 191 w 394"/>
                <a:gd name="T35" fmla="*/ 223 h 263"/>
                <a:gd name="T36" fmla="*/ 191 w 394"/>
                <a:gd name="T37" fmla="*/ 44 h 263"/>
                <a:gd name="T38" fmla="*/ 54 w 394"/>
                <a:gd name="T39" fmla="*/ 2 h 263"/>
                <a:gd name="T40" fmla="*/ 54 w 394"/>
                <a:gd name="T41" fmla="*/ 188 h 263"/>
                <a:gd name="T42" fmla="*/ 59 w 394"/>
                <a:gd name="T43" fmla="*/ 188 h 263"/>
                <a:gd name="T44" fmla="*/ 191 w 394"/>
                <a:gd name="T45" fmla="*/ 223 h 263"/>
                <a:gd name="T46" fmla="*/ 340 w 394"/>
                <a:gd name="T47" fmla="*/ 188 h 263"/>
                <a:gd name="T48" fmla="*/ 340 w 394"/>
                <a:gd name="T49" fmla="*/ 2 h 263"/>
                <a:gd name="T50" fmla="*/ 204 w 394"/>
                <a:gd name="T51" fmla="*/ 44 h 263"/>
                <a:gd name="T52" fmla="*/ 204 w 394"/>
                <a:gd name="T53" fmla="*/ 223 h 263"/>
                <a:gd name="T54" fmla="*/ 335 w 394"/>
                <a:gd name="T55" fmla="*/ 188 h 263"/>
                <a:gd name="T56" fmla="*/ 340 w 394"/>
                <a:gd name="T57" fmla="*/ 188 h 263"/>
                <a:gd name="T58" fmla="*/ 197 w 394"/>
                <a:gd name="T59" fmla="*/ 252 h 263"/>
                <a:gd name="T60" fmla="*/ 371 w 394"/>
                <a:gd name="T61" fmla="*/ 211 h 263"/>
                <a:gd name="T62" fmla="*/ 371 w 394"/>
                <a:gd name="T63" fmla="*/ 4 h 263"/>
                <a:gd name="T64" fmla="*/ 350 w 394"/>
                <a:gd name="T65" fmla="*/ 4 h 263"/>
                <a:gd name="T66" fmla="*/ 350 w 394"/>
                <a:gd name="T67" fmla="*/ 198 h 263"/>
                <a:gd name="T68" fmla="*/ 344 w 394"/>
                <a:gd name="T69" fmla="*/ 197 h 263"/>
                <a:gd name="T70" fmla="*/ 334 w 394"/>
                <a:gd name="T71" fmla="*/ 197 h 263"/>
                <a:gd name="T72" fmla="*/ 201 w 394"/>
                <a:gd name="T73" fmla="*/ 235 h 263"/>
                <a:gd name="T74" fmla="*/ 197 w 394"/>
                <a:gd name="T75" fmla="*/ 237 h 263"/>
                <a:gd name="T76" fmla="*/ 194 w 394"/>
                <a:gd name="T77" fmla="*/ 235 h 263"/>
                <a:gd name="T78" fmla="*/ 60 w 394"/>
                <a:gd name="T79" fmla="*/ 197 h 263"/>
                <a:gd name="T80" fmla="*/ 50 w 394"/>
                <a:gd name="T81" fmla="*/ 197 h 263"/>
                <a:gd name="T82" fmla="*/ 45 w 394"/>
                <a:gd name="T83" fmla="*/ 198 h 263"/>
                <a:gd name="T84" fmla="*/ 45 w 394"/>
                <a:gd name="T85" fmla="*/ 4 h 263"/>
                <a:gd name="T86" fmla="*/ 24 w 394"/>
                <a:gd name="T87" fmla="*/ 4 h 263"/>
                <a:gd name="T88" fmla="*/ 24 w 394"/>
                <a:gd name="T89" fmla="*/ 211 h 263"/>
                <a:gd name="T90" fmla="*/ 197 w 394"/>
                <a:gd name="T91" fmla="*/ 252 h 2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94" h="263">
                  <a:moveTo>
                    <a:pt x="380" y="19"/>
                  </a:moveTo>
                  <a:lnTo>
                    <a:pt x="380" y="216"/>
                  </a:lnTo>
                  <a:lnTo>
                    <a:pt x="374" y="216"/>
                  </a:lnTo>
                  <a:cubicBezTo>
                    <a:pt x="370" y="215"/>
                    <a:pt x="366" y="215"/>
                    <a:pt x="362" y="215"/>
                  </a:cubicBezTo>
                  <a:cubicBezTo>
                    <a:pt x="307" y="215"/>
                    <a:pt x="250" y="230"/>
                    <a:pt x="199" y="256"/>
                  </a:cubicBezTo>
                  <a:lnTo>
                    <a:pt x="197" y="257"/>
                  </a:lnTo>
                  <a:lnTo>
                    <a:pt x="195" y="256"/>
                  </a:lnTo>
                  <a:cubicBezTo>
                    <a:pt x="145" y="230"/>
                    <a:pt x="87" y="215"/>
                    <a:pt x="33" y="215"/>
                  </a:cubicBezTo>
                  <a:cubicBezTo>
                    <a:pt x="28" y="215"/>
                    <a:pt x="24" y="215"/>
                    <a:pt x="20" y="216"/>
                  </a:cubicBezTo>
                  <a:lnTo>
                    <a:pt x="14" y="216"/>
                  </a:lnTo>
                  <a:lnTo>
                    <a:pt x="14" y="19"/>
                  </a:lnTo>
                  <a:cubicBezTo>
                    <a:pt x="10" y="19"/>
                    <a:pt x="5" y="19"/>
                    <a:pt x="0" y="19"/>
                  </a:cubicBezTo>
                  <a:lnTo>
                    <a:pt x="0" y="223"/>
                  </a:lnTo>
                  <a:cubicBezTo>
                    <a:pt x="66" y="222"/>
                    <a:pt x="136" y="236"/>
                    <a:pt x="197" y="263"/>
                  </a:cubicBezTo>
                  <a:cubicBezTo>
                    <a:pt x="259" y="236"/>
                    <a:pt x="328" y="222"/>
                    <a:pt x="394" y="223"/>
                  </a:cubicBezTo>
                  <a:lnTo>
                    <a:pt x="394" y="19"/>
                  </a:lnTo>
                  <a:cubicBezTo>
                    <a:pt x="389" y="19"/>
                    <a:pt x="385" y="19"/>
                    <a:pt x="380" y="19"/>
                  </a:cubicBezTo>
                  <a:close/>
                  <a:moveTo>
                    <a:pt x="191" y="223"/>
                  </a:moveTo>
                  <a:lnTo>
                    <a:pt x="191" y="44"/>
                  </a:lnTo>
                  <a:cubicBezTo>
                    <a:pt x="148" y="16"/>
                    <a:pt x="100" y="0"/>
                    <a:pt x="54" y="2"/>
                  </a:cubicBezTo>
                  <a:lnTo>
                    <a:pt x="54" y="188"/>
                  </a:lnTo>
                  <a:cubicBezTo>
                    <a:pt x="56" y="188"/>
                    <a:pt x="58" y="188"/>
                    <a:pt x="59" y="188"/>
                  </a:cubicBezTo>
                  <a:cubicBezTo>
                    <a:pt x="103" y="188"/>
                    <a:pt x="150" y="200"/>
                    <a:pt x="191" y="223"/>
                  </a:cubicBezTo>
                  <a:close/>
                  <a:moveTo>
                    <a:pt x="340" y="188"/>
                  </a:moveTo>
                  <a:lnTo>
                    <a:pt x="340" y="2"/>
                  </a:lnTo>
                  <a:cubicBezTo>
                    <a:pt x="295" y="0"/>
                    <a:pt x="246" y="16"/>
                    <a:pt x="204" y="44"/>
                  </a:cubicBezTo>
                  <a:lnTo>
                    <a:pt x="204" y="223"/>
                  </a:lnTo>
                  <a:cubicBezTo>
                    <a:pt x="245" y="200"/>
                    <a:pt x="291" y="188"/>
                    <a:pt x="335" y="188"/>
                  </a:cubicBezTo>
                  <a:cubicBezTo>
                    <a:pt x="337" y="188"/>
                    <a:pt x="339" y="188"/>
                    <a:pt x="340" y="188"/>
                  </a:cubicBezTo>
                  <a:close/>
                  <a:moveTo>
                    <a:pt x="197" y="252"/>
                  </a:moveTo>
                  <a:cubicBezTo>
                    <a:pt x="253" y="222"/>
                    <a:pt x="315" y="209"/>
                    <a:pt x="371" y="211"/>
                  </a:cubicBezTo>
                  <a:lnTo>
                    <a:pt x="371" y="4"/>
                  </a:lnTo>
                  <a:cubicBezTo>
                    <a:pt x="364" y="4"/>
                    <a:pt x="357" y="4"/>
                    <a:pt x="350" y="4"/>
                  </a:cubicBezTo>
                  <a:lnTo>
                    <a:pt x="350" y="198"/>
                  </a:lnTo>
                  <a:lnTo>
                    <a:pt x="344" y="197"/>
                  </a:lnTo>
                  <a:cubicBezTo>
                    <a:pt x="341" y="197"/>
                    <a:pt x="337" y="197"/>
                    <a:pt x="334" y="197"/>
                  </a:cubicBezTo>
                  <a:cubicBezTo>
                    <a:pt x="289" y="197"/>
                    <a:pt x="242" y="211"/>
                    <a:pt x="201" y="235"/>
                  </a:cubicBezTo>
                  <a:lnTo>
                    <a:pt x="197" y="237"/>
                  </a:lnTo>
                  <a:lnTo>
                    <a:pt x="194" y="235"/>
                  </a:lnTo>
                  <a:cubicBezTo>
                    <a:pt x="153" y="211"/>
                    <a:pt x="105" y="197"/>
                    <a:pt x="60" y="197"/>
                  </a:cubicBezTo>
                  <a:cubicBezTo>
                    <a:pt x="57" y="197"/>
                    <a:pt x="54" y="197"/>
                    <a:pt x="50" y="197"/>
                  </a:cubicBezTo>
                  <a:lnTo>
                    <a:pt x="45" y="198"/>
                  </a:lnTo>
                  <a:lnTo>
                    <a:pt x="45" y="4"/>
                  </a:lnTo>
                  <a:cubicBezTo>
                    <a:pt x="38" y="4"/>
                    <a:pt x="31" y="4"/>
                    <a:pt x="24" y="4"/>
                  </a:cubicBezTo>
                  <a:lnTo>
                    <a:pt x="24" y="211"/>
                  </a:lnTo>
                  <a:cubicBezTo>
                    <a:pt x="79" y="209"/>
                    <a:pt x="142" y="222"/>
                    <a:pt x="197" y="252"/>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18" name="组合 17"/>
          <p:cNvGrpSpPr/>
          <p:nvPr/>
        </p:nvGrpSpPr>
        <p:grpSpPr>
          <a:xfrm>
            <a:off x="868029" y="198604"/>
            <a:ext cx="472312" cy="484825"/>
            <a:chOff x="2014036" y="-1899592"/>
            <a:chExt cx="1050534" cy="1078364"/>
          </a:xfrm>
        </p:grpSpPr>
        <p:sp>
          <p:nvSpPr>
            <p:cNvPr id="19" name="Oval 6"/>
            <p:cNvSpPr>
              <a:spLocks noChangeArrowheads="1"/>
            </p:cNvSpPr>
            <p:nvPr/>
          </p:nvSpPr>
          <p:spPr bwMode="auto">
            <a:xfrm>
              <a:off x="2014036" y="-1899592"/>
              <a:ext cx="1050534" cy="1078364"/>
            </a:xfrm>
            <a:prstGeom prst="ellipse">
              <a:avLst/>
            </a:prstGeom>
            <a:solidFill>
              <a:srgbClr val="92D050"/>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0" name="Freeform 10"/>
            <p:cNvSpPr>
              <a:spLocks noEditPoints="1"/>
            </p:cNvSpPr>
            <p:nvPr/>
          </p:nvSpPr>
          <p:spPr bwMode="auto">
            <a:xfrm>
              <a:off x="2313195" y="-1670005"/>
              <a:ext cx="553096" cy="640061"/>
            </a:xfrm>
            <a:custGeom>
              <a:avLst/>
              <a:gdLst>
                <a:gd name="T0" fmla="*/ 214 w 336"/>
                <a:gd name="T1" fmla="*/ 48 h 380"/>
                <a:gd name="T2" fmla="*/ 167 w 336"/>
                <a:gd name="T3" fmla="*/ 95 h 380"/>
                <a:gd name="T4" fmla="*/ 119 w 336"/>
                <a:gd name="T5" fmla="*/ 95 h 380"/>
                <a:gd name="T6" fmla="*/ 72 w 336"/>
                <a:gd name="T7" fmla="*/ 48 h 380"/>
                <a:gd name="T8" fmla="*/ 119 w 336"/>
                <a:gd name="T9" fmla="*/ 0 h 380"/>
                <a:gd name="T10" fmla="*/ 167 w 336"/>
                <a:gd name="T11" fmla="*/ 0 h 380"/>
                <a:gd name="T12" fmla="*/ 214 w 336"/>
                <a:gd name="T13" fmla="*/ 48 h 380"/>
                <a:gd name="T14" fmla="*/ 237 w 336"/>
                <a:gd name="T15" fmla="*/ 48 h 380"/>
                <a:gd name="T16" fmla="*/ 238 w 336"/>
                <a:gd name="T17" fmla="*/ 59 h 380"/>
                <a:gd name="T18" fmla="*/ 179 w 336"/>
                <a:gd name="T19" fmla="*/ 118 h 380"/>
                <a:gd name="T20" fmla="*/ 107 w 336"/>
                <a:gd name="T21" fmla="*/ 118 h 380"/>
                <a:gd name="T22" fmla="*/ 48 w 336"/>
                <a:gd name="T23" fmla="*/ 59 h 380"/>
                <a:gd name="T24" fmla="*/ 49 w 336"/>
                <a:gd name="T25" fmla="*/ 48 h 380"/>
                <a:gd name="T26" fmla="*/ 0 w 336"/>
                <a:gd name="T27" fmla="*/ 106 h 380"/>
                <a:gd name="T28" fmla="*/ 0 w 336"/>
                <a:gd name="T29" fmla="*/ 320 h 380"/>
                <a:gd name="T30" fmla="*/ 60 w 336"/>
                <a:gd name="T31" fmla="*/ 380 h 380"/>
                <a:gd name="T32" fmla="*/ 218 w 336"/>
                <a:gd name="T33" fmla="*/ 380 h 380"/>
                <a:gd name="T34" fmla="*/ 153 w 336"/>
                <a:gd name="T35" fmla="*/ 282 h 380"/>
                <a:gd name="T36" fmla="*/ 260 w 336"/>
                <a:gd name="T37" fmla="*/ 176 h 380"/>
                <a:gd name="T38" fmla="*/ 286 w 336"/>
                <a:gd name="T39" fmla="*/ 179 h 380"/>
                <a:gd name="T40" fmla="*/ 286 w 336"/>
                <a:gd name="T41" fmla="*/ 106 h 380"/>
                <a:gd name="T42" fmla="*/ 237 w 336"/>
                <a:gd name="T43" fmla="*/ 48 h 380"/>
                <a:gd name="T44" fmla="*/ 134 w 336"/>
                <a:gd name="T45" fmla="*/ 238 h 380"/>
                <a:gd name="T46" fmla="*/ 134 w 336"/>
                <a:gd name="T47" fmla="*/ 238 h 380"/>
                <a:gd name="T48" fmla="*/ 60 w 336"/>
                <a:gd name="T49" fmla="*/ 238 h 380"/>
                <a:gd name="T50" fmla="*/ 48 w 336"/>
                <a:gd name="T51" fmla="*/ 226 h 380"/>
                <a:gd name="T52" fmla="*/ 60 w 336"/>
                <a:gd name="T53" fmla="*/ 214 h 380"/>
                <a:gd name="T54" fmla="*/ 134 w 336"/>
                <a:gd name="T55" fmla="*/ 214 h 380"/>
                <a:gd name="T56" fmla="*/ 146 w 336"/>
                <a:gd name="T57" fmla="*/ 226 h 380"/>
                <a:gd name="T58" fmla="*/ 134 w 336"/>
                <a:gd name="T59" fmla="*/ 238 h 380"/>
                <a:gd name="T60" fmla="*/ 158 w 336"/>
                <a:gd name="T61" fmla="*/ 190 h 380"/>
                <a:gd name="T62" fmla="*/ 158 w 336"/>
                <a:gd name="T63" fmla="*/ 190 h 380"/>
                <a:gd name="T64" fmla="*/ 60 w 336"/>
                <a:gd name="T65" fmla="*/ 190 h 380"/>
                <a:gd name="T66" fmla="*/ 48 w 336"/>
                <a:gd name="T67" fmla="*/ 178 h 380"/>
                <a:gd name="T68" fmla="*/ 60 w 336"/>
                <a:gd name="T69" fmla="*/ 167 h 380"/>
                <a:gd name="T70" fmla="*/ 158 w 336"/>
                <a:gd name="T71" fmla="*/ 167 h 380"/>
                <a:gd name="T72" fmla="*/ 170 w 336"/>
                <a:gd name="T73" fmla="*/ 178 h 380"/>
                <a:gd name="T74" fmla="*/ 158 w 336"/>
                <a:gd name="T75" fmla="*/ 190 h 380"/>
                <a:gd name="T76" fmla="*/ 279 w 336"/>
                <a:gd name="T77" fmla="*/ 208 h 380"/>
                <a:gd name="T78" fmla="*/ 260 w 336"/>
                <a:gd name="T79" fmla="*/ 206 h 380"/>
                <a:gd name="T80" fmla="*/ 184 w 336"/>
                <a:gd name="T81" fmla="*/ 281 h 380"/>
                <a:gd name="T82" fmla="*/ 244 w 336"/>
                <a:gd name="T83" fmla="*/ 356 h 380"/>
                <a:gd name="T84" fmla="*/ 260 w 336"/>
                <a:gd name="T85" fmla="*/ 357 h 380"/>
                <a:gd name="T86" fmla="*/ 336 w 336"/>
                <a:gd name="T87" fmla="*/ 281 h 380"/>
                <a:gd name="T88" fmla="*/ 279 w 336"/>
                <a:gd name="T89" fmla="*/ 208 h 380"/>
                <a:gd name="T90" fmla="*/ 303 w 336"/>
                <a:gd name="T91" fmla="*/ 271 h 380"/>
                <a:gd name="T92" fmla="*/ 303 w 336"/>
                <a:gd name="T93" fmla="*/ 271 h 380"/>
                <a:gd name="T94" fmla="*/ 279 w 336"/>
                <a:gd name="T95" fmla="*/ 295 h 380"/>
                <a:gd name="T96" fmla="*/ 260 w 336"/>
                <a:gd name="T97" fmla="*/ 314 h 380"/>
                <a:gd name="T98" fmla="*/ 239 w 336"/>
                <a:gd name="T99" fmla="*/ 314 h 380"/>
                <a:gd name="T100" fmla="*/ 217 w 336"/>
                <a:gd name="T101" fmla="*/ 292 h 380"/>
                <a:gd name="T102" fmla="*/ 217 w 336"/>
                <a:gd name="T103" fmla="*/ 271 h 380"/>
                <a:gd name="T104" fmla="*/ 239 w 336"/>
                <a:gd name="T105" fmla="*/ 271 h 380"/>
                <a:gd name="T106" fmla="*/ 250 w 336"/>
                <a:gd name="T107" fmla="*/ 281 h 380"/>
                <a:gd name="T108" fmla="*/ 279 w 336"/>
                <a:gd name="T109" fmla="*/ 252 h 380"/>
                <a:gd name="T110" fmla="*/ 282 w 336"/>
                <a:gd name="T111" fmla="*/ 249 h 380"/>
                <a:gd name="T112" fmla="*/ 303 w 336"/>
                <a:gd name="T113" fmla="*/ 249 h 380"/>
                <a:gd name="T114" fmla="*/ 303 w 336"/>
                <a:gd name="T115" fmla="*/ 271 h 3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336" h="380">
                  <a:moveTo>
                    <a:pt x="214" y="48"/>
                  </a:moveTo>
                  <a:cubicBezTo>
                    <a:pt x="214" y="74"/>
                    <a:pt x="193" y="95"/>
                    <a:pt x="167" y="95"/>
                  </a:cubicBezTo>
                  <a:lnTo>
                    <a:pt x="119" y="95"/>
                  </a:lnTo>
                  <a:cubicBezTo>
                    <a:pt x="93" y="95"/>
                    <a:pt x="72" y="74"/>
                    <a:pt x="72" y="48"/>
                  </a:cubicBezTo>
                  <a:cubicBezTo>
                    <a:pt x="72" y="21"/>
                    <a:pt x="93" y="0"/>
                    <a:pt x="119" y="0"/>
                  </a:cubicBezTo>
                  <a:lnTo>
                    <a:pt x="167" y="0"/>
                  </a:lnTo>
                  <a:cubicBezTo>
                    <a:pt x="193" y="0"/>
                    <a:pt x="214" y="21"/>
                    <a:pt x="214" y="48"/>
                  </a:cubicBezTo>
                  <a:close/>
                  <a:moveTo>
                    <a:pt x="237" y="48"/>
                  </a:moveTo>
                  <a:cubicBezTo>
                    <a:pt x="238" y="51"/>
                    <a:pt x="238" y="55"/>
                    <a:pt x="238" y="59"/>
                  </a:cubicBezTo>
                  <a:cubicBezTo>
                    <a:pt x="238" y="91"/>
                    <a:pt x="211" y="118"/>
                    <a:pt x="179" y="118"/>
                  </a:cubicBezTo>
                  <a:lnTo>
                    <a:pt x="107" y="118"/>
                  </a:lnTo>
                  <a:cubicBezTo>
                    <a:pt x="74" y="118"/>
                    <a:pt x="48" y="91"/>
                    <a:pt x="48" y="59"/>
                  </a:cubicBezTo>
                  <a:cubicBezTo>
                    <a:pt x="48" y="55"/>
                    <a:pt x="48" y="51"/>
                    <a:pt x="49" y="48"/>
                  </a:cubicBezTo>
                  <a:cubicBezTo>
                    <a:pt x="21" y="53"/>
                    <a:pt x="0" y="77"/>
                    <a:pt x="0" y="106"/>
                  </a:cubicBezTo>
                  <a:lnTo>
                    <a:pt x="0" y="320"/>
                  </a:lnTo>
                  <a:cubicBezTo>
                    <a:pt x="0" y="353"/>
                    <a:pt x="27" y="380"/>
                    <a:pt x="60" y="380"/>
                  </a:cubicBezTo>
                  <a:lnTo>
                    <a:pt x="218" y="380"/>
                  </a:lnTo>
                  <a:cubicBezTo>
                    <a:pt x="180" y="363"/>
                    <a:pt x="153" y="326"/>
                    <a:pt x="153" y="282"/>
                  </a:cubicBezTo>
                  <a:cubicBezTo>
                    <a:pt x="153" y="223"/>
                    <a:pt x="201" y="176"/>
                    <a:pt x="260" y="176"/>
                  </a:cubicBezTo>
                  <a:cubicBezTo>
                    <a:pt x="269" y="176"/>
                    <a:pt x="277" y="177"/>
                    <a:pt x="286" y="179"/>
                  </a:cubicBezTo>
                  <a:lnTo>
                    <a:pt x="286" y="106"/>
                  </a:lnTo>
                  <a:cubicBezTo>
                    <a:pt x="286" y="77"/>
                    <a:pt x="265" y="53"/>
                    <a:pt x="237" y="48"/>
                  </a:cubicBezTo>
                  <a:close/>
                  <a:moveTo>
                    <a:pt x="134" y="238"/>
                  </a:moveTo>
                  <a:lnTo>
                    <a:pt x="134" y="238"/>
                  </a:lnTo>
                  <a:lnTo>
                    <a:pt x="60" y="238"/>
                  </a:lnTo>
                  <a:cubicBezTo>
                    <a:pt x="53" y="238"/>
                    <a:pt x="48" y="233"/>
                    <a:pt x="48" y="226"/>
                  </a:cubicBezTo>
                  <a:cubicBezTo>
                    <a:pt x="48" y="219"/>
                    <a:pt x="53" y="214"/>
                    <a:pt x="60" y="214"/>
                  </a:cubicBezTo>
                  <a:lnTo>
                    <a:pt x="134" y="214"/>
                  </a:lnTo>
                  <a:cubicBezTo>
                    <a:pt x="141" y="214"/>
                    <a:pt x="146" y="219"/>
                    <a:pt x="146" y="226"/>
                  </a:cubicBezTo>
                  <a:cubicBezTo>
                    <a:pt x="146" y="233"/>
                    <a:pt x="141" y="238"/>
                    <a:pt x="134" y="238"/>
                  </a:cubicBezTo>
                  <a:close/>
                  <a:moveTo>
                    <a:pt x="158" y="190"/>
                  </a:moveTo>
                  <a:lnTo>
                    <a:pt x="158" y="190"/>
                  </a:lnTo>
                  <a:lnTo>
                    <a:pt x="60" y="190"/>
                  </a:lnTo>
                  <a:cubicBezTo>
                    <a:pt x="53" y="190"/>
                    <a:pt x="48" y="185"/>
                    <a:pt x="48" y="178"/>
                  </a:cubicBezTo>
                  <a:cubicBezTo>
                    <a:pt x="48" y="172"/>
                    <a:pt x="53" y="167"/>
                    <a:pt x="60" y="167"/>
                  </a:cubicBezTo>
                  <a:lnTo>
                    <a:pt x="158" y="167"/>
                  </a:lnTo>
                  <a:cubicBezTo>
                    <a:pt x="164" y="167"/>
                    <a:pt x="170" y="172"/>
                    <a:pt x="170" y="178"/>
                  </a:cubicBezTo>
                  <a:cubicBezTo>
                    <a:pt x="170" y="185"/>
                    <a:pt x="164" y="190"/>
                    <a:pt x="158" y="190"/>
                  </a:cubicBezTo>
                  <a:close/>
                  <a:moveTo>
                    <a:pt x="279" y="208"/>
                  </a:moveTo>
                  <a:cubicBezTo>
                    <a:pt x="273" y="207"/>
                    <a:pt x="267" y="206"/>
                    <a:pt x="260" y="206"/>
                  </a:cubicBezTo>
                  <a:cubicBezTo>
                    <a:pt x="218" y="206"/>
                    <a:pt x="184" y="240"/>
                    <a:pt x="184" y="281"/>
                  </a:cubicBezTo>
                  <a:cubicBezTo>
                    <a:pt x="184" y="318"/>
                    <a:pt x="210" y="348"/>
                    <a:pt x="244" y="356"/>
                  </a:cubicBezTo>
                  <a:cubicBezTo>
                    <a:pt x="249" y="357"/>
                    <a:pt x="255" y="357"/>
                    <a:pt x="260" y="357"/>
                  </a:cubicBezTo>
                  <a:cubicBezTo>
                    <a:pt x="302" y="357"/>
                    <a:pt x="336" y="323"/>
                    <a:pt x="336" y="281"/>
                  </a:cubicBezTo>
                  <a:cubicBezTo>
                    <a:pt x="336" y="246"/>
                    <a:pt x="312" y="216"/>
                    <a:pt x="279" y="208"/>
                  </a:cubicBezTo>
                  <a:close/>
                  <a:moveTo>
                    <a:pt x="303" y="271"/>
                  </a:moveTo>
                  <a:lnTo>
                    <a:pt x="303" y="271"/>
                  </a:lnTo>
                  <a:lnTo>
                    <a:pt x="279" y="295"/>
                  </a:lnTo>
                  <a:lnTo>
                    <a:pt x="260" y="314"/>
                  </a:lnTo>
                  <a:cubicBezTo>
                    <a:pt x="254" y="320"/>
                    <a:pt x="245" y="320"/>
                    <a:pt x="239" y="314"/>
                  </a:cubicBezTo>
                  <a:lnTo>
                    <a:pt x="217" y="292"/>
                  </a:lnTo>
                  <a:cubicBezTo>
                    <a:pt x="211" y="286"/>
                    <a:pt x="211" y="277"/>
                    <a:pt x="217" y="271"/>
                  </a:cubicBezTo>
                  <a:cubicBezTo>
                    <a:pt x="223" y="265"/>
                    <a:pt x="233" y="265"/>
                    <a:pt x="239" y="271"/>
                  </a:cubicBezTo>
                  <a:lnTo>
                    <a:pt x="250" y="281"/>
                  </a:lnTo>
                  <a:lnTo>
                    <a:pt x="279" y="252"/>
                  </a:lnTo>
                  <a:lnTo>
                    <a:pt x="282" y="249"/>
                  </a:lnTo>
                  <a:cubicBezTo>
                    <a:pt x="288" y="243"/>
                    <a:pt x="297" y="243"/>
                    <a:pt x="303" y="249"/>
                  </a:cubicBezTo>
                  <a:cubicBezTo>
                    <a:pt x="309" y="255"/>
                    <a:pt x="309" y="265"/>
                    <a:pt x="303" y="271"/>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21" name="组合 20"/>
          <p:cNvGrpSpPr/>
          <p:nvPr/>
        </p:nvGrpSpPr>
        <p:grpSpPr>
          <a:xfrm>
            <a:off x="1471677" y="198604"/>
            <a:ext cx="472312" cy="484825"/>
            <a:chOff x="3252414" y="-1899592"/>
            <a:chExt cx="1050534" cy="1078364"/>
          </a:xfrm>
        </p:grpSpPr>
        <p:sp>
          <p:nvSpPr>
            <p:cNvPr id="22" name="Oval 7"/>
            <p:cNvSpPr>
              <a:spLocks noChangeArrowheads="1"/>
            </p:cNvSpPr>
            <p:nvPr/>
          </p:nvSpPr>
          <p:spPr bwMode="auto">
            <a:xfrm>
              <a:off x="3252414" y="-1899592"/>
              <a:ext cx="1050534" cy="1078364"/>
            </a:xfrm>
            <a:prstGeom prst="ellipse">
              <a:avLst/>
            </a:prstGeom>
            <a:solidFill>
              <a:schemeClr val="tx2"/>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3" name="Freeform 11"/>
            <p:cNvSpPr>
              <a:spLocks noEditPoints="1"/>
            </p:cNvSpPr>
            <p:nvPr/>
          </p:nvSpPr>
          <p:spPr bwMode="auto">
            <a:xfrm>
              <a:off x="3450694" y="-1683919"/>
              <a:ext cx="594839" cy="647018"/>
            </a:xfrm>
            <a:custGeom>
              <a:avLst/>
              <a:gdLst>
                <a:gd name="T0" fmla="*/ 136 w 360"/>
                <a:gd name="T1" fmla="*/ 238 h 383"/>
                <a:gd name="T2" fmla="*/ 130 w 360"/>
                <a:gd name="T3" fmla="*/ 217 h 383"/>
                <a:gd name="T4" fmla="*/ 157 w 360"/>
                <a:gd name="T5" fmla="*/ 104 h 383"/>
                <a:gd name="T6" fmla="*/ 187 w 360"/>
                <a:gd name="T7" fmla="*/ 195 h 383"/>
                <a:gd name="T8" fmla="*/ 223 w 360"/>
                <a:gd name="T9" fmla="*/ 90 h 383"/>
                <a:gd name="T10" fmla="*/ 142 w 360"/>
                <a:gd name="T11" fmla="*/ 179 h 383"/>
                <a:gd name="T12" fmla="*/ 136 w 360"/>
                <a:gd name="T13" fmla="*/ 191 h 383"/>
                <a:gd name="T14" fmla="*/ 185 w 360"/>
                <a:gd name="T15" fmla="*/ 220 h 383"/>
                <a:gd name="T16" fmla="*/ 237 w 360"/>
                <a:gd name="T17" fmla="*/ 76 h 383"/>
                <a:gd name="T18" fmla="*/ 240 w 360"/>
                <a:gd name="T19" fmla="*/ 49 h 383"/>
                <a:gd name="T20" fmla="*/ 237 w 360"/>
                <a:gd name="T21" fmla="*/ 76 h 383"/>
                <a:gd name="T22" fmla="*/ 281 w 360"/>
                <a:gd name="T23" fmla="*/ 90 h 383"/>
                <a:gd name="T24" fmla="*/ 253 w 360"/>
                <a:gd name="T25" fmla="*/ 93 h 383"/>
                <a:gd name="T26" fmla="*/ 205 w 360"/>
                <a:gd name="T27" fmla="*/ 64 h 383"/>
                <a:gd name="T28" fmla="*/ 194 w 360"/>
                <a:gd name="T29" fmla="*/ 39 h 383"/>
                <a:gd name="T30" fmla="*/ 205 w 360"/>
                <a:gd name="T31" fmla="*/ 64 h 383"/>
                <a:gd name="T32" fmla="*/ 159 w 360"/>
                <a:gd name="T33" fmla="*/ 48 h 383"/>
                <a:gd name="T34" fmla="*/ 161 w 360"/>
                <a:gd name="T35" fmla="*/ 76 h 383"/>
                <a:gd name="T36" fmla="*/ 264 w 360"/>
                <a:gd name="T37" fmla="*/ 137 h 383"/>
                <a:gd name="T38" fmla="*/ 290 w 360"/>
                <a:gd name="T39" fmla="*/ 125 h 383"/>
                <a:gd name="T40" fmla="*/ 264 w 360"/>
                <a:gd name="T41" fmla="*/ 137 h 383"/>
                <a:gd name="T42" fmla="*/ 132 w 360"/>
                <a:gd name="T43" fmla="*/ 196 h 383"/>
                <a:gd name="T44" fmla="*/ 126 w 360"/>
                <a:gd name="T45" fmla="*/ 208 h 383"/>
                <a:gd name="T46" fmla="*/ 175 w 360"/>
                <a:gd name="T47" fmla="*/ 237 h 383"/>
                <a:gd name="T48" fmla="*/ 131 w 360"/>
                <a:gd name="T49" fmla="*/ 383 h 383"/>
                <a:gd name="T50" fmla="*/ 141 w 360"/>
                <a:gd name="T51" fmla="*/ 22 h 383"/>
                <a:gd name="T52" fmla="*/ 342 w 360"/>
                <a:gd name="T53" fmla="*/ 109 h 383"/>
                <a:gd name="T54" fmla="*/ 345 w 360"/>
                <a:gd name="T55" fmla="*/ 167 h 383"/>
                <a:gd name="T56" fmla="*/ 356 w 360"/>
                <a:gd name="T57" fmla="*/ 240 h 383"/>
                <a:gd name="T58" fmla="*/ 343 w 360"/>
                <a:gd name="T59" fmla="*/ 301 h 383"/>
                <a:gd name="T60" fmla="*/ 269 w 360"/>
                <a:gd name="T61" fmla="*/ 318 h 383"/>
                <a:gd name="T62" fmla="*/ 131 w 360"/>
                <a:gd name="T63" fmla="*/ 383 h 3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360" h="383">
                  <a:moveTo>
                    <a:pt x="130" y="217"/>
                  </a:moveTo>
                  <a:cubicBezTo>
                    <a:pt x="126" y="224"/>
                    <a:pt x="129" y="234"/>
                    <a:pt x="136" y="238"/>
                  </a:cubicBezTo>
                  <a:cubicBezTo>
                    <a:pt x="143" y="242"/>
                    <a:pt x="151" y="241"/>
                    <a:pt x="156" y="236"/>
                  </a:cubicBezTo>
                  <a:lnTo>
                    <a:pt x="130" y="217"/>
                  </a:lnTo>
                  <a:close/>
                  <a:moveTo>
                    <a:pt x="223" y="90"/>
                  </a:moveTo>
                  <a:cubicBezTo>
                    <a:pt x="199" y="76"/>
                    <a:pt x="170" y="83"/>
                    <a:pt x="157" y="104"/>
                  </a:cubicBezTo>
                  <a:cubicBezTo>
                    <a:pt x="144" y="127"/>
                    <a:pt x="161" y="151"/>
                    <a:pt x="149" y="174"/>
                  </a:cubicBezTo>
                  <a:lnTo>
                    <a:pt x="187" y="195"/>
                  </a:lnTo>
                  <a:cubicBezTo>
                    <a:pt x="201" y="174"/>
                    <a:pt x="231" y="176"/>
                    <a:pt x="243" y="154"/>
                  </a:cubicBezTo>
                  <a:cubicBezTo>
                    <a:pt x="256" y="132"/>
                    <a:pt x="247" y="104"/>
                    <a:pt x="223" y="90"/>
                  </a:cubicBezTo>
                  <a:close/>
                  <a:moveTo>
                    <a:pt x="183" y="209"/>
                  </a:moveTo>
                  <a:lnTo>
                    <a:pt x="142" y="179"/>
                  </a:lnTo>
                  <a:cubicBezTo>
                    <a:pt x="139" y="176"/>
                    <a:pt x="135" y="177"/>
                    <a:pt x="133" y="181"/>
                  </a:cubicBezTo>
                  <a:cubicBezTo>
                    <a:pt x="132" y="184"/>
                    <a:pt x="132" y="188"/>
                    <a:pt x="136" y="191"/>
                  </a:cubicBezTo>
                  <a:lnTo>
                    <a:pt x="176" y="221"/>
                  </a:lnTo>
                  <a:cubicBezTo>
                    <a:pt x="179" y="224"/>
                    <a:pt x="183" y="223"/>
                    <a:pt x="185" y="220"/>
                  </a:cubicBezTo>
                  <a:cubicBezTo>
                    <a:pt x="187" y="216"/>
                    <a:pt x="186" y="212"/>
                    <a:pt x="183" y="209"/>
                  </a:cubicBezTo>
                  <a:close/>
                  <a:moveTo>
                    <a:pt x="237" y="76"/>
                  </a:moveTo>
                  <a:lnTo>
                    <a:pt x="250" y="54"/>
                  </a:lnTo>
                  <a:lnTo>
                    <a:pt x="240" y="49"/>
                  </a:lnTo>
                  <a:lnTo>
                    <a:pt x="227" y="70"/>
                  </a:lnTo>
                  <a:lnTo>
                    <a:pt x="237" y="76"/>
                  </a:lnTo>
                  <a:close/>
                  <a:moveTo>
                    <a:pt x="259" y="103"/>
                  </a:moveTo>
                  <a:lnTo>
                    <a:pt x="281" y="90"/>
                  </a:lnTo>
                  <a:lnTo>
                    <a:pt x="275" y="80"/>
                  </a:lnTo>
                  <a:lnTo>
                    <a:pt x="253" y="93"/>
                  </a:lnTo>
                  <a:lnTo>
                    <a:pt x="259" y="103"/>
                  </a:lnTo>
                  <a:close/>
                  <a:moveTo>
                    <a:pt x="205" y="64"/>
                  </a:moveTo>
                  <a:lnTo>
                    <a:pt x="205" y="39"/>
                  </a:lnTo>
                  <a:lnTo>
                    <a:pt x="194" y="39"/>
                  </a:lnTo>
                  <a:lnTo>
                    <a:pt x="194" y="64"/>
                  </a:lnTo>
                  <a:lnTo>
                    <a:pt x="205" y="64"/>
                  </a:lnTo>
                  <a:close/>
                  <a:moveTo>
                    <a:pt x="172" y="70"/>
                  </a:moveTo>
                  <a:lnTo>
                    <a:pt x="159" y="48"/>
                  </a:lnTo>
                  <a:lnTo>
                    <a:pt x="149" y="54"/>
                  </a:lnTo>
                  <a:lnTo>
                    <a:pt x="161" y="76"/>
                  </a:lnTo>
                  <a:lnTo>
                    <a:pt x="172" y="70"/>
                  </a:lnTo>
                  <a:close/>
                  <a:moveTo>
                    <a:pt x="264" y="137"/>
                  </a:moveTo>
                  <a:lnTo>
                    <a:pt x="290" y="137"/>
                  </a:lnTo>
                  <a:lnTo>
                    <a:pt x="290" y="125"/>
                  </a:lnTo>
                  <a:lnTo>
                    <a:pt x="264" y="125"/>
                  </a:lnTo>
                  <a:lnTo>
                    <a:pt x="264" y="137"/>
                  </a:lnTo>
                  <a:close/>
                  <a:moveTo>
                    <a:pt x="173" y="227"/>
                  </a:moveTo>
                  <a:lnTo>
                    <a:pt x="132" y="196"/>
                  </a:lnTo>
                  <a:cubicBezTo>
                    <a:pt x="129" y="194"/>
                    <a:pt x="125" y="195"/>
                    <a:pt x="123" y="198"/>
                  </a:cubicBezTo>
                  <a:cubicBezTo>
                    <a:pt x="122" y="201"/>
                    <a:pt x="122" y="206"/>
                    <a:pt x="126" y="208"/>
                  </a:cubicBezTo>
                  <a:lnTo>
                    <a:pt x="166" y="239"/>
                  </a:lnTo>
                  <a:cubicBezTo>
                    <a:pt x="169" y="241"/>
                    <a:pt x="173" y="240"/>
                    <a:pt x="175" y="237"/>
                  </a:cubicBezTo>
                  <a:cubicBezTo>
                    <a:pt x="177" y="234"/>
                    <a:pt x="176" y="229"/>
                    <a:pt x="173" y="227"/>
                  </a:cubicBezTo>
                  <a:close/>
                  <a:moveTo>
                    <a:pt x="131" y="383"/>
                  </a:moveTo>
                  <a:cubicBezTo>
                    <a:pt x="136" y="353"/>
                    <a:pt x="136" y="321"/>
                    <a:pt x="127" y="293"/>
                  </a:cubicBezTo>
                  <a:cubicBezTo>
                    <a:pt x="0" y="221"/>
                    <a:pt x="34" y="56"/>
                    <a:pt x="141" y="22"/>
                  </a:cubicBezTo>
                  <a:cubicBezTo>
                    <a:pt x="197" y="0"/>
                    <a:pt x="274" y="13"/>
                    <a:pt x="323" y="63"/>
                  </a:cubicBezTo>
                  <a:cubicBezTo>
                    <a:pt x="360" y="99"/>
                    <a:pt x="342" y="109"/>
                    <a:pt x="342" y="109"/>
                  </a:cubicBezTo>
                  <a:lnTo>
                    <a:pt x="334" y="113"/>
                  </a:lnTo>
                  <a:cubicBezTo>
                    <a:pt x="339" y="131"/>
                    <a:pt x="346" y="162"/>
                    <a:pt x="345" y="167"/>
                  </a:cubicBezTo>
                  <a:cubicBezTo>
                    <a:pt x="344" y="173"/>
                    <a:pt x="337" y="179"/>
                    <a:pt x="337" y="179"/>
                  </a:cubicBezTo>
                  <a:lnTo>
                    <a:pt x="356" y="240"/>
                  </a:lnTo>
                  <a:lnTo>
                    <a:pt x="339" y="246"/>
                  </a:lnTo>
                  <a:cubicBezTo>
                    <a:pt x="343" y="266"/>
                    <a:pt x="345" y="282"/>
                    <a:pt x="343" y="301"/>
                  </a:cubicBezTo>
                  <a:cubicBezTo>
                    <a:pt x="343" y="305"/>
                    <a:pt x="332" y="314"/>
                    <a:pt x="323" y="315"/>
                  </a:cubicBezTo>
                  <a:lnTo>
                    <a:pt x="269" y="318"/>
                  </a:lnTo>
                  <a:lnTo>
                    <a:pt x="272" y="383"/>
                  </a:lnTo>
                  <a:lnTo>
                    <a:pt x="131" y="383"/>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grpSp>
        <p:nvGrpSpPr>
          <p:cNvPr id="24" name="组合 23"/>
          <p:cNvGrpSpPr/>
          <p:nvPr/>
        </p:nvGrpSpPr>
        <p:grpSpPr>
          <a:xfrm>
            <a:off x="2075327" y="198604"/>
            <a:ext cx="473877" cy="484825"/>
            <a:chOff x="4553407" y="-1899592"/>
            <a:chExt cx="1054013" cy="1078364"/>
          </a:xfrm>
        </p:grpSpPr>
        <p:sp>
          <p:nvSpPr>
            <p:cNvPr id="25" name="Oval 8"/>
            <p:cNvSpPr>
              <a:spLocks noChangeArrowheads="1"/>
            </p:cNvSpPr>
            <p:nvPr/>
          </p:nvSpPr>
          <p:spPr bwMode="auto">
            <a:xfrm>
              <a:off x="4553407" y="-1899592"/>
              <a:ext cx="1054013" cy="1078364"/>
            </a:xfrm>
            <a:prstGeom prst="ellipse">
              <a:avLst/>
            </a:prstGeom>
            <a:solidFill>
              <a:schemeClr val="accent1">
                <a:lumMod val="75000"/>
              </a:schemeClr>
            </a:solid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6" name="Freeform 12"/>
            <p:cNvSpPr>
              <a:spLocks noEditPoints="1"/>
            </p:cNvSpPr>
            <p:nvPr/>
          </p:nvSpPr>
          <p:spPr bwMode="auto">
            <a:xfrm>
              <a:off x="4824737" y="-1683919"/>
              <a:ext cx="594839" cy="650497"/>
            </a:xfrm>
            <a:custGeom>
              <a:avLst/>
              <a:gdLst>
                <a:gd name="T0" fmla="*/ 108 w 360"/>
                <a:gd name="T1" fmla="*/ 59 h 384"/>
                <a:gd name="T2" fmla="*/ 236 w 360"/>
                <a:gd name="T3" fmla="*/ 43 h 384"/>
                <a:gd name="T4" fmla="*/ 190 w 360"/>
                <a:gd name="T5" fmla="*/ 26 h 384"/>
                <a:gd name="T6" fmla="*/ 138 w 360"/>
                <a:gd name="T7" fmla="*/ 26 h 384"/>
                <a:gd name="T8" fmla="*/ 92 w 360"/>
                <a:gd name="T9" fmla="*/ 43 h 384"/>
                <a:gd name="T10" fmla="*/ 296 w 360"/>
                <a:gd name="T11" fmla="*/ 332 h 384"/>
                <a:gd name="T12" fmla="*/ 301 w 360"/>
                <a:gd name="T13" fmla="*/ 321 h 384"/>
                <a:gd name="T14" fmla="*/ 280 w 360"/>
                <a:gd name="T15" fmla="*/ 249 h 384"/>
                <a:gd name="T16" fmla="*/ 267 w 360"/>
                <a:gd name="T17" fmla="*/ 249 h 384"/>
                <a:gd name="T18" fmla="*/ 267 w 360"/>
                <a:gd name="T19" fmla="*/ 304 h 384"/>
                <a:gd name="T20" fmla="*/ 268 w 360"/>
                <a:gd name="T21" fmla="*/ 306 h 384"/>
                <a:gd name="T22" fmla="*/ 268 w 360"/>
                <a:gd name="T23" fmla="*/ 307 h 384"/>
                <a:gd name="T24" fmla="*/ 269 w 360"/>
                <a:gd name="T25" fmla="*/ 308 h 384"/>
                <a:gd name="T26" fmla="*/ 343 w 360"/>
                <a:gd name="T27" fmla="*/ 253 h 384"/>
                <a:gd name="T28" fmla="*/ 274 w 360"/>
                <a:gd name="T29" fmla="*/ 217 h 384"/>
                <a:gd name="T30" fmla="*/ 258 w 360"/>
                <a:gd name="T31" fmla="*/ 382 h 384"/>
                <a:gd name="T32" fmla="*/ 356 w 360"/>
                <a:gd name="T33" fmla="*/ 316 h 384"/>
                <a:gd name="T34" fmla="*/ 343 w 360"/>
                <a:gd name="T35" fmla="*/ 313 h 384"/>
                <a:gd name="T36" fmla="*/ 274 w 360"/>
                <a:gd name="T37" fmla="*/ 371 h 384"/>
                <a:gd name="T38" fmla="*/ 205 w 360"/>
                <a:gd name="T39" fmla="*/ 287 h 384"/>
                <a:gd name="T40" fmla="*/ 287 w 360"/>
                <a:gd name="T41" fmla="*/ 231 h 384"/>
                <a:gd name="T42" fmla="*/ 343 w 360"/>
                <a:gd name="T43" fmla="*/ 313 h 384"/>
                <a:gd name="T44" fmla="*/ 121 w 360"/>
                <a:gd name="T45" fmla="*/ 313 h 384"/>
                <a:gd name="T46" fmla="*/ 206 w 360"/>
                <a:gd name="T47" fmla="*/ 228 h 384"/>
                <a:gd name="T48" fmla="*/ 224 w 360"/>
                <a:gd name="T49" fmla="*/ 215 h 384"/>
                <a:gd name="T50" fmla="*/ 311 w 360"/>
                <a:gd name="T51" fmla="*/ 130 h 384"/>
                <a:gd name="T52" fmla="*/ 314 w 360"/>
                <a:gd name="T53" fmla="*/ 210 h 384"/>
                <a:gd name="T54" fmla="*/ 328 w 360"/>
                <a:gd name="T55" fmla="*/ 215 h 384"/>
                <a:gd name="T56" fmla="*/ 328 w 360"/>
                <a:gd name="T57" fmla="*/ 88 h 384"/>
                <a:gd name="T58" fmla="*/ 17 w 360"/>
                <a:gd name="T59" fmla="*/ 71 h 384"/>
                <a:gd name="T60" fmla="*/ 0 w 360"/>
                <a:gd name="T61" fmla="*/ 134 h 384"/>
                <a:gd name="T62" fmla="*/ 0 w 360"/>
                <a:gd name="T63" fmla="*/ 228 h 384"/>
                <a:gd name="T64" fmla="*/ 0 w 360"/>
                <a:gd name="T65" fmla="*/ 319 h 384"/>
                <a:gd name="T66" fmla="*/ 181 w 360"/>
                <a:gd name="T67" fmla="*/ 336 h 384"/>
                <a:gd name="T68" fmla="*/ 14 w 360"/>
                <a:gd name="T69" fmla="*/ 134 h 384"/>
                <a:gd name="T70" fmla="*/ 17 w 360"/>
                <a:gd name="T71" fmla="*/ 130 h 384"/>
                <a:gd name="T72" fmla="*/ 107 w 360"/>
                <a:gd name="T73" fmla="*/ 215 h 384"/>
                <a:gd name="T74" fmla="*/ 14 w 360"/>
                <a:gd name="T75" fmla="*/ 134 h 384"/>
                <a:gd name="T76" fmla="*/ 107 w 360"/>
                <a:gd name="T77" fmla="*/ 228 h 384"/>
                <a:gd name="T78" fmla="*/ 17 w 360"/>
                <a:gd name="T79" fmla="*/ 313 h 384"/>
                <a:gd name="T80" fmla="*/ 14 w 360"/>
                <a:gd name="T81" fmla="*/ 228 h 384"/>
                <a:gd name="T82" fmla="*/ 121 w 360"/>
                <a:gd name="T83" fmla="*/ 215 h 384"/>
                <a:gd name="T84" fmla="*/ 121 w 360"/>
                <a:gd name="T85" fmla="*/ 130 h 384"/>
                <a:gd name="T86" fmla="*/ 210 w 360"/>
                <a:gd name="T87" fmla="*/ 215 h 384"/>
                <a:gd name="T88" fmla="*/ 217 w 360"/>
                <a:gd name="T89" fmla="*/ 88 h 384"/>
                <a:gd name="T90" fmla="*/ 229 w 360"/>
                <a:gd name="T91" fmla="*/ 100 h 384"/>
                <a:gd name="T92" fmla="*/ 205 w 360"/>
                <a:gd name="T93" fmla="*/ 100 h 384"/>
                <a:gd name="T94" fmla="*/ 114 w 360"/>
                <a:gd name="T95" fmla="*/ 88 h 384"/>
                <a:gd name="T96" fmla="*/ 126 w 360"/>
                <a:gd name="T97" fmla="*/ 100 h 384"/>
                <a:gd name="T98" fmla="*/ 103 w 360"/>
                <a:gd name="T99" fmla="*/ 100 h 3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360" h="384">
                  <a:moveTo>
                    <a:pt x="92" y="43"/>
                  </a:moveTo>
                  <a:cubicBezTo>
                    <a:pt x="92" y="52"/>
                    <a:pt x="100" y="59"/>
                    <a:pt x="108" y="59"/>
                  </a:cubicBezTo>
                  <a:lnTo>
                    <a:pt x="220" y="59"/>
                  </a:lnTo>
                  <a:cubicBezTo>
                    <a:pt x="229" y="59"/>
                    <a:pt x="236" y="52"/>
                    <a:pt x="236" y="43"/>
                  </a:cubicBezTo>
                  <a:cubicBezTo>
                    <a:pt x="236" y="34"/>
                    <a:pt x="229" y="26"/>
                    <a:pt x="220" y="26"/>
                  </a:cubicBezTo>
                  <a:lnTo>
                    <a:pt x="190" y="26"/>
                  </a:lnTo>
                  <a:cubicBezTo>
                    <a:pt x="190" y="12"/>
                    <a:pt x="179" y="0"/>
                    <a:pt x="164" y="0"/>
                  </a:cubicBezTo>
                  <a:cubicBezTo>
                    <a:pt x="150" y="0"/>
                    <a:pt x="138" y="12"/>
                    <a:pt x="138" y="26"/>
                  </a:cubicBezTo>
                  <a:lnTo>
                    <a:pt x="108" y="26"/>
                  </a:lnTo>
                  <a:cubicBezTo>
                    <a:pt x="100" y="26"/>
                    <a:pt x="92" y="34"/>
                    <a:pt x="92" y="43"/>
                  </a:cubicBezTo>
                  <a:close/>
                  <a:moveTo>
                    <a:pt x="292" y="330"/>
                  </a:moveTo>
                  <a:cubicBezTo>
                    <a:pt x="293" y="332"/>
                    <a:pt x="295" y="332"/>
                    <a:pt x="296" y="332"/>
                  </a:cubicBezTo>
                  <a:cubicBezTo>
                    <a:pt x="298" y="332"/>
                    <a:pt x="300" y="332"/>
                    <a:pt x="301" y="330"/>
                  </a:cubicBezTo>
                  <a:cubicBezTo>
                    <a:pt x="304" y="328"/>
                    <a:pt x="304" y="323"/>
                    <a:pt x="301" y="321"/>
                  </a:cubicBezTo>
                  <a:lnTo>
                    <a:pt x="280" y="300"/>
                  </a:lnTo>
                  <a:lnTo>
                    <a:pt x="280" y="249"/>
                  </a:lnTo>
                  <a:cubicBezTo>
                    <a:pt x="280" y="245"/>
                    <a:pt x="278" y="242"/>
                    <a:pt x="274" y="242"/>
                  </a:cubicBezTo>
                  <a:cubicBezTo>
                    <a:pt x="270" y="242"/>
                    <a:pt x="267" y="245"/>
                    <a:pt x="267" y="249"/>
                  </a:cubicBezTo>
                  <a:lnTo>
                    <a:pt x="267" y="303"/>
                  </a:lnTo>
                  <a:cubicBezTo>
                    <a:pt x="267" y="303"/>
                    <a:pt x="267" y="304"/>
                    <a:pt x="267" y="304"/>
                  </a:cubicBezTo>
                  <a:cubicBezTo>
                    <a:pt x="267" y="305"/>
                    <a:pt x="267" y="305"/>
                    <a:pt x="267" y="305"/>
                  </a:cubicBezTo>
                  <a:cubicBezTo>
                    <a:pt x="267" y="305"/>
                    <a:pt x="268" y="305"/>
                    <a:pt x="268" y="306"/>
                  </a:cubicBezTo>
                  <a:cubicBezTo>
                    <a:pt x="268" y="306"/>
                    <a:pt x="268" y="306"/>
                    <a:pt x="268" y="306"/>
                  </a:cubicBezTo>
                  <a:cubicBezTo>
                    <a:pt x="268" y="306"/>
                    <a:pt x="268" y="307"/>
                    <a:pt x="268" y="307"/>
                  </a:cubicBezTo>
                  <a:cubicBezTo>
                    <a:pt x="268" y="307"/>
                    <a:pt x="269" y="307"/>
                    <a:pt x="269" y="308"/>
                  </a:cubicBezTo>
                  <a:cubicBezTo>
                    <a:pt x="269" y="308"/>
                    <a:pt x="269" y="308"/>
                    <a:pt x="269" y="308"/>
                  </a:cubicBezTo>
                  <a:lnTo>
                    <a:pt x="292" y="330"/>
                  </a:lnTo>
                  <a:close/>
                  <a:moveTo>
                    <a:pt x="343" y="253"/>
                  </a:moveTo>
                  <a:cubicBezTo>
                    <a:pt x="330" y="235"/>
                    <a:pt x="311" y="222"/>
                    <a:pt x="289" y="218"/>
                  </a:cubicBezTo>
                  <a:cubicBezTo>
                    <a:pt x="284" y="217"/>
                    <a:pt x="279" y="217"/>
                    <a:pt x="274" y="217"/>
                  </a:cubicBezTo>
                  <a:cubicBezTo>
                    <a:pt x="234" y="217"/>
                    <a:pt x="199" y="245"/>
                    <a:pt x="192" y="285"/>
                  </a:cubicBezTo>
                  <a:cubicBezTo>
                    <a:pt x="183" y="330"/>
                    <a:pt x="213" y="373"/>
                    <a:pt x="258" y="382"/>
                  </a:cubicBezTo>
                  <a:cubicBezTo>
                    <a:pt x="263" y="383"/>
                    <a:pt x="269" y="384"/>
                    <a:pt x="274" y="384"/>
                  </a:cubicBezTo>
                  <a:cubicBezTo>
                    <a:pt x="314" y="384"/>
                    <a:pt x="348" y="355"/>
                    <a:pt x="356" y="316"/>
                  </a:cubicBezTo>
                  <a:cubicBezTo>
                    <a:pt x="360" y="294"/>
                    <a:pt x="355" y="272"/>
                    <a:pt x="343" y="253"/>
                  </a:cubicBezTo>
                  <a:close/>
                  <a:moveTo>
                    <a:pt x="343" y="313"/>
                  </a:moveTo>
                  <a:lnTo>
                    <a:pt x="343" y="313"/>
                  </a:lnTo>
                  <a:cubicBezTo>
                    <a:pt x="337" y="347"/>
                    <a:pt x="308" y="371"/>
                    <a:pt x="274" y="371"/>
                  </a:cubicBezTo>
                  <a:cubicBezTo>
                    <a:pt x="269" y="371"/>
                    <a:pt x="265" y="370"/>
                    <a:pt x="261" y="369"/>
                  </a:cubicBezTo>
                  <a:cubicBezTo>
                    <a:pt x="222" y="362"/>
                    <a:pt x="197" y="325"/>
                    <a:pt x="205" y="287"/>
                  </a:cubicBezTo>
                  <a:cubicBezTo>
                    <a:pt x="211" y="254"/>
                    <a:pt x="240" y="230"/>
                    <a:pt x="274" y="230"/>
                  </a:cubicBezTo>
                  <a:cubicBezTo>
                    <a:pt x="278" y="230"/>
                    <a:pt x="283" y="230"/>
                    <a:pt x="287" y="231"/>
                  </a:cubicBezTo>
                  <a:cubicBezTo>
                    <a:pt x="306" y="234"/>
                    <a:pt x="322" y="245"/>
                    <a:pt x="332" y="261"/>
                  </a:cubicBezTo>
                  <a:cubicBezTo>
                    <a:pt x="343" y="276"/>
                    <a:pt x="347" y="295"/>
                    <a:pt x="343" y="313"/>
                  </a:cubicBezTo>
                  <a:close/>
                  <a:moveTo>
                    <a:pt x="176" y="313"/>
                  </a:moveTo>
                  <a:lnTo>
                    <a:pt x="121" y="313"/>
                  </a:lnTo>
                  <a:lnTo>
                    <a:pt x="121" y="228"/>
                  </a:lnTo>
                  <a:lnTo>
                    <a:pt x="206" y="228"/>
                  </a:lnTo>
                  <a:cubicBezTo>
                    <a:pt x="211" y="223"/>
                    <a:pt x="217" y="218"/>
                    <a:pt x="224" y="215"/>
                  </a:cubicBezTo>
                  <a:lnTo>
                    <a:pt x="224" y="215"/>
                  </a:lnTo>
                  <a:lnTo>
                    <a:pt x="224" y="130"/>
                  </a:lnTo>
                  <a:lnTo>
                    <a:pt x="311" y="130"/>
                  </a:lnTo>
                  <a:cubicBezTo>
                    <a:pt x="313" y="130"/>
                    <a:pt x="314" y="132"/>
                    <a:pt x="314" y="134"/>
                  </a:cubicBezTo>
                  <a:lnTo>
                    <a:pt x="314" y="210"/>
                  </a:lnTo>
                  <a:cubicBezTo>
                    <a:pt x="319" y="212"/>
                    <a:pt x="324" y="215"/>
                    <a:pt x="328" y="217"/>
                  </a:cubicBezTo>
                  <a:lnTo>
                    <a:pt x="328" y="215"/>
                  </a:lnTo>
                  <a:lnTo>
                    <a:pt x="328" y="134"/>
                  </a:lnTo>
                  <a:lnTo>
                    <a:pt x="328" y="88"/>
                  </a:lnTo>
                  <a:cubicBezTo>
                    <a:pt x="328" y="79"/>
                    <a:pt x="320" y="71"/>
                    <a:pt x="311" y="71"/>
                  </a:cubicBezTo>
                  <a:lnTo>
                    <a:pt x="17" y="71"/>
                  </a:lnTo>
                  <a:cubicBezTo>
                    <a:pt x="8" y="71"/>
                    <a:pt x="0" y="79"/>
                    <a:pt x="0" y="88"/>
                  </a:cubicBezTo>
                  <a:lnTo>
                    <a:pt x="0" y="134"/>
                  </a:lnTo>
                  <a:lnTo>
                    <a:pt x="0" y="215"/>
                  </a:lnTo>
                  <a:lnTo>
                    <a:pt x="0" y="228"/>
                  </a:lnTo>
                  <a:lnTo>
                    <a:pt x="0" y="309"/>
                  </a:lnTo>
                  <a:lnTo>
                    <a:pt x="0" y="319"/>
                  </a:lnTo>
                  <a:cubicBezTo>
                    <a:pt x="0" y="329"/>
                    <a:pt x="8" y="336"/>
                    <a:pt x="17" y="336"/>
                  </a:cubicBezTo>
                  <a:lnTo>
                    <a:pt x="181" y="336"/>
                  </a:lnTo>
                  <a:cubicBezTo>
                    <a:pt x="179" y="329"/>
                    <a:pt x="177" y="321"/>
                    <a:pt x="176" y="313"/>
                  </a:cubicBezTo>
                  <a:close/>
                  <a:moveTo>
                    <a:pt x="14" y="134"/>
                  </a:moveTo>
                  <a:lnTo>
                    <a:pt x="14" y="134"/>
                  </a:lnTo>
                  <a:cubicBezTo>
                    <a:pt x="14" y="132"/>
                    <a:pt x="15" y="130"/>
                    <a:pt x="17" y="130"/>
                  </a:cubicBezTo>
                  <a:lnTo>
                    <a:pt x="107" y="130"/>
                  </a:lnTo>
                  <a:lnTo>
                    <a:pt x="107" y="215"/>
                  </a:lnTo>
                  <a:lnTo>
                    <a:pt x="14" y="215"/>
                  </a:lnTo>
                  <a:lnTo>
                    <a:pt x="14" y="134"/>
                  </a:lnTo>
                  <a:close/>
                  <a:moveTo>
                    <a:pt x="107" y="228"/>
                  </a:moveTo>
                  <a:lnTo>
                    <a:pt x="107" y="228"/>
                  </a:lnTo>
                  <a:lnTo>
                    <a:pt x="107" y="313"/>
                  </a:lnTo>
                  <a:lnTo>
                    <a:pt x="17" y="313"/>
                  </a:lnTo>
                  <a:cubicBezTo>
                    <a:pt x="15" y="313"/>
                    <a:pt x="14" y="311"/>
                    <a:pt x="14" y="309"/>
                  </a:cubicBezTo>
                  <a:lnTo>
                    <a:pt x="14" y="228"/>
                  </a:lnTo>
                  <a:lnTo>
                    <a:pt x="107" y="228"/>
                  </a:lnTo>
                  <a:close/>
                  <a:moveTo>
                    <a:pt x="121" y="215"/>
                  </a:moveTo>
                  <a:lnTo>
                    <a:pt x="121" y="215"/>
                  </a:lnTo>
                  <a:lnTo>
                    <a:pt x="121" y="130"/>
                  </a:lnTo>
                  <a:lnTo>
                    <a:pt x="210" y="130"/>
                  </a:lnTo>
                  <a:lnTo>
                    <a:pt x="210" y="215"/>
                  </a:lnTo>
                  <a:lnTo>
                    <a:pt x="121" y="215"/>
                  </a:lnTo>
                  <a:close/>
                  <a:moveTo>
                    <a:pt x="217" y="88"/>
                  </a:moveTo>
                  <a:lnTo>
                    <a:pt x="217" y="88"/>
                  </a:lnTo>
                  <a:cubicBezTo>
                    <a:pt x="223" y="88"/>
                    <a:pt x="229" y="94"/>
                    <a:pt x="229" y="100"/>
                  </a:cubicBezTo>
                  <a:cubicBezTo>
                    <a:pt x="229" y="106"/>
                    <a:pt x="223" y="111"/>
                    <a:pt x="217" y="111"/>
                  </a:cubicBezTo>
                  <a:cubicBezTo>
                    <a:pt x="211" y="111"/>
                    <a:pt x="205" y="106"/>
                    <a:pt x="205" y="100"/>
                  </a:cubicBezTo>
                  <a:cubicBezTo>
                    <a:pt x="205" y="94"/>
                    <a:pt x="211" y="88"/>
                    <a:pt x="217" y="88"/>
                  </a:cubicBezTo>
                  <a:close/>
                  <a:moveTo>
                    <a:pt x="114" y="88"/>
                  </a:moveTo>
                  <a:lnTo>
                    <a:pt x="114" y="88"/>
                  </a:lnTo>
                  <a:cubicBezTo>
                    <a:pt x="120" y="88"/>
                    <a:pt x="126" y="94"/>
                    <a:pt x="126" y="100"/>
                  </a:cubicBezTo>
                  <a:cubicBezTo>
                    <a:pt x="126" y="106"/>
                    <a:pt x="120" y="111"/>
                    <a:pt x="114" y="111"/>
                  </a:cubicBezTo>
                  <a:cubicBezTo>
                    <a:pt x="108" y="111"/>
                    <a:pt x="103" y="106"/>
                    <a:pt x="103" y="100"/>
                  </a:cubicBezTo>
                  <a:cubicBezTo>
                    <a:pt x="103" y="94"/>
                    <a:pt x="108" y="88"/>
                    <a:pt x="114" y="88"/>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sp>
        <p:nvSpPr>
          <p:cNvPr id="27" name="TextBox 26"/>
          <p:cNvSpPr txBox="1"/>
          <p:nvPr/>
        </p:nvSpPr>
        <p:spPr>
          <a:xfrm>
            <a:off x="14146653" y="8510121"/>
            <a:ext cx="1107996" cy="461665"/>
          </a:xfrm>
          <a:prstGeom prst="rect">
            <a:avLst/>
          </a:prstGeom>
          <a:noFill/>
        </p:spPr>
        <p:txBody>
          <a:bodyPr wrap="none" rtlCol="0">
            <a:spAutoFit/>
          </a:bodyPr>
          <a:lstStyle/>
          <a:p>
            <a:r>
              <a:rPr lang="zh-CN" altLang="en-US" sz="2400" dirty="0"/>
              <a:t>延时符</a:t>
            </a:r>
          </a:p>
        </p:txBody>
      </p:sp>
      <p:sp>
        <p:nvSpPr>
          <p:cNvPr id="28" name="Rectangle 6"/>
          <p:cNvSpPr>
            <a:spLocks noChangeArrowheads="1"/>
          </p:cNvSpPr>
          <p:nvPr/>
        </p:nvSpPr>
        <p:spPr bwMode="auto">
          <a:xfrm>
            <a:off x="0" y="1109114"/>
            <a:ext cx="2835079" cy="81520"/>
          </a:xfrm>
          <a:prstGeom prst="rect">
            <a:avLst/>
          </a:prstGeom>
          <a:solidFill>
            <a:srgbClr val="01C0B0"/>
          </a:solidFill>
          <a:ln>
            <a:noFill/>
          </a:ln>
        </p:spPr>
        <p:txBody>
          <a:bodyPr vert="horz" wrap="square" lIns="91434" tIns="45717" rIns="91434" bIns="45717" numCol="1" anchor="t" anchorCtr="0" compatLnSpc="1">
            <a:prstTxWarp prst="textNoShape">
              <a:avLst/>
            </a:prstTxWarp>
          </a:bodyPr>
          <a:lstStyle/>
          <a:p>
            <a:endParaRPr lang="zh-CN" altLang="en-US">
              <a:solidFill>
                <a:srgbClr val="294A5A"/>
              </a:solidFill>
            </a:endParaRPr>
          </a:p>
        </p:txBody>
      </p:sp>
      <p:sp>
        <p:nvSpPr>
          <p:cNvPr id="29" name="Rectangle 7"/>
          <p:cNvSpPr>
            <a:spLocks noChangeArrowheads="1"/>
          </p:cNvSpPr>
          <p:nvPr/>
        </p:nvSpPr>
        <p:spPr bwMode="auto">
          <a:xfrm>
            <a:off x="1266714" y="1109114"/>
            <a:ext cx="2831571" cy="81520"/>
          </a:xfrm>
          <a:prstGeom prst="rect">
            <a:avLst/>
          </a:prstGeom>
          <a:solidFill>
            <a:srgbClr val="FFC000"/>
          </a:solidFill>
          <a:ln>
            <a:noFill/>
          </a:ln>
        </p:spPr>
        <p:txBody>
          <a:bodyPr vert="horz" wrap="square" lIns="91434" tIns="45717" rIns="91434" bIns="45717" numCol="1" anchor="t" anchorCtr="0" compatLnSpc="1">
            <a:prstTxWarp prst="textNoShape">
              <a:avLst/>
            </a:prstTxWarp>
          </a:bodyPr>
          <a:lstStyle/>
          <a:p>
            <a:endParaRPr lang="zh-CN" altLang="en-US">
              <a:solidFill>
                <a:srgbClr val="294A5A"/>
              </a:solidFill>
            </a:endParaRPr>
          </a:p>
        </p:txBody>
      </p:sp>
      <p:sp>
        <p:nvSpPr>
          <p:cNvPr id="30" name="Rectangle 8"/>
          <p:cNvSpPr>
            <a:spLocks noChangeArrowheads="1"/>
          </p:cNvSpPr>
          <p:nvPr/>
        </p:nvSpPr>
        <p:spPr bwMode="auto">
          <a:xfrm>
            <a:off x="2531856" y="1109114"/>
            <a:ext cx="2835079" cy="81520"/>
          </a:xfrm>
          <a:prstGeom prst="rect">
            <a:avLst/>
          </a:prstGeom>
          <a:solidFill>
            <a:srgbClr val="92D050"/>
          </a:solidFill>
          <a:ln>
            <a:noFill/>
          </a:ln>
        </p:spPr>
        <p:txBody>
          <a:bodyPr vert="horz" wrap="square" lIns="91434" tIns="45717" rIns="91434" bIns="45717" numCol="1" anchor="t" anchorCtr="0" compatLnSpc="1">
            <a:prstTxWarp prst="textNoShape">
              <a:avLst/>
            </a:prstTxWarp>
          </a:bodyPr>
          <a:lstStyle/>
          <a:p>
            <a:endParaRPr lang="zh-CN" altLang="en-US">
              <a:solidFill>
                <a:srgbClr val="294A5A"/>
              </a:solidFill>
            </a:endParaRPr>
          </a:p>
        </p:txBody>
      </p:sp>
      <p:sp>
        <p:nvSpPr>
          <p:cNvPr id="31" name="Rectangle 9"/>
          <p:cNvSpPr>
            <a:spLocks noChangeArrowheads="1"/>
          </p:cNvSpPr>
          <p:nvPr/>
        </p:nvSpPr>
        <p:spPr bwMode="auto">
          <a:xfrm>
            <a:off x="3798567" y="1109114"/>
            <a:ext cx="2039483" cy="81520"/>
          </a:xfrm>
          <a:prstGeom prst="rect">
            <a:avLst/>
          </a:prstGeom>
          <a:solidFill>
            <a:srgbClr val="FFFF00"/>
          </a:solidFill>
          <a:ln>
            <a:noFill/>
          </a:ln>
        </p:spPr>
        <p:txBody>
          <a:bodyPr vert="horz" wrap="square" lIns="91434" tIns="45717" rIns="91434" bIns="45717" numCol="1" anchor="t" anchorCtr="0" compatLnSpc="1">
            <a:prstTxWarp prst="textNoShape">
              <a:avLst/>
            </a:prstTxWarp>
          </a:bodyPr>
          <a:lstStyle/>
          <a:p>
            <a:endParaRPr lang="zh-CN" altLang="en-US">
              <a:solidFill>
                <a:srgbClr val="294A5A"/>
              </a:solidFill>
            </a:endParaRPr>
          </a:p>
        </p:txBody>
      </p:sp>
    </p:spTree>
    <p:extLst>
      <p:ext uri="{BB962C8B-B14F-4D97-AF65-F5344CB8AC3E}">
        <p14:creationId xmlns:p14="http://schemas.microsoft.com/office/powerpoint/2010/main" val="354642269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advTm="0">
        <p15:prstTrans prst="peelOff"/>
      </p:transition>
    </mc:Choice>
    <mc:Fallback xmlns="">
      <p:transition spd="slow" advTm="0">
        <p:fade/>
      </p:transition>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TextBox 54"/>
          <p:cNvSpPr txBox="1"/>
          <p:nvPr/>
        </p:nvSpPr>
        <p:spPr>
          <a:xfrm>
            <a:off x="944130" y="275697"/>
            <a:ext cx="5974331" cy="584541"/>
          </a:xfrm>
          <a:prstGeom prst="rect">
            <a:avLst/>
          </a:prstGeom>
          <a:noFill/>
        </p:spPr>
        <p:txBody>
          <a:bodyPr wrap="square" lIns="91398" tIns="45699" rIns="91398" bIns="45699" rtlCol="0">
            <a:spAutoFit/>
          </a:bodyPr>
          <a:lstStyle>
            <a:defPPr>
              <a:defRPr lang="zh-CN"/>
            </a:defPPr>
            <a:lvl1pPr>
              <a:defRPr sz="3200">
                <a:solidFill>
                  <a:schemeClr val="tx1">
                    <a:lumMod val="75000"/>
                  </a:schemeClr>
                </a:solidFill>
                <a:latin typeface="方正卡通简体" pitchFamily="65" charset="-122"/>
                <a:ea typeface="方正卡通简体" pitchFamily="65" charset="-122"/>
              </a:defRPr>
            </a:lvl1pPr>
          </a:lstStyle>
          <a:p>
            <a:pPr algn="just">
              <a:defRPr/>
            </a:pPr>
            <a:r>
              <a:rPr lang="zh-CN" altLang="en-US" b="1" kern="0" dirty="0">
                <a:latin typeface="微软雅黑" panose="020B0503020204020204" pitchFamily="34" charset="-122"/>
                <a:ea typeface="微软雅黑" panose="020B0503020204020204" pitchFamily="34" charset="-122"/>
              </a:rPr>
              <a:t>目录</a:t>
            </a:r>
            <a:endParaRPr lang="en-US" altLang="zh-CN" b="1" kern="0" dirty="0">
              <a:latin typeface="微软雅黑" panose="020B0503020204020204" pitchFamily="34" charset="-122"/>
              <a:ea typeface="微软雅黑" panose="020B0503020204020204" pitchFamily="34" charset="-122"/>
            </a:endParaRPr>
          </a:p>
        </p:txBody>
      </p:sp>
      <p:grpSp>
        <p:nvGrpSpPr>
          <p:cNvPr id="2" name="组合 1"/>
          <p:cNvGrpSpPr/>
          <p:nvPr/>
        </p:nvGrpSpPr>
        <p:grpSpPr>
          <a:xfrm>
            <a:off x="265635" y="269251"/>
            <a:ext cx="438352" cy="621987"/>
            <a:chOff x="265635" y="269251"/>
            <a:chExt cx="438352" cy="621987"/>
          </a:xfrm>
        </p:grpSpPr>
        <p:sp>
          <p:nvSpPr>
            <p:cNvPr id="5" name="Freeform 5"/>
            <p:cNvSpPr>
              <a:spLocks/>
            </p:cNvSpPr>
            <p:nvPr/>
          </p:nvSpPr>
          <p:spPr bwMode="auto">
            <a:xfrm>
              <a:off x="269585" y="269251"/>
              <a:ext cx="262616" cy="266567"/>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0BE"/>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6" name="Freeform 6"/>
            <p:cNvSpPr>
              <a:spLocks/>
            </p:cNvSpPr>
            <p:nvPr/>
          </p:nvSpPr>
          <p:spPr bwMode="auto">
            <a:xfrm>
              <a:off x="441371" y="443010"/>
              <a:ext cx="262616" cy="268540"/>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0BE"/>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7" name="Freeform 7"/>
            <p:cNvSpPr>
              <a:spLocks/>
            </p:cNvSpPr>
            <p:nvPr/>
          </p:nvSpPr>
          <p:spPr bwMode="auto">
            <a:xfrm>
              <a:off x="265635" y="624671"/>
              <a:ext cx="260640" cy="266567"/>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0BE"/>
            </a:solidFill>
            <a:ln>
              <a:noFill/>
            </a:ln>
          </p:spPr>
          <p:txBody>
            <a:bodyPr vert="horz" wrap="square" lIns="91398" tIns="45699" rIns="91398" bIns="45699" numCol="1" anchor="t" anchorCtr="0" compatLnSpc="1">
              <a:prstTxWarp prst="textNoShape">
                <a:avLst/>
              </a:prstTxWarp>
            </a:bodyPr>
            <a:lstStyle/>
            <a:p>
              <a:endParaRPr lang="zh-CN" altLang="en-US" sz="1799"/>
            </a:p>
          </p:txBody>
        </p:sp>
      </p:grpSp>
      <p:sp>
        <p:nvSpPr>
          <p:cNvPr id="16" name="矩形 15"/>
          <p:cNvSpPr/>
          <p:nvPr/>
        </p:nvSpPr>
        <p:spPr>
          <a:xfrm>
            <a:off x="888578" y="4267917"/>
            <a:ext cx="8691945" cy="523178"/>
          </a:xfrm>
          <a:prstGeom prst="rect">
            <a:avLst/>
          </a:prstGeom>
          <a:noFill/>
          <a:ln>
            <a:noFill/>
          </a:ln>
        </p:spPr>
        <p:txBody>
          <a:bodyPr wrap="square" lIns="91398" tIns="45699" rIns="91398" bIns="45699">
            <a:spAutoFit/>
          </a:bodyPr>
          <a:lstStyle/>
          <a:p>
            <a:pPr lvl="1" algn="just">
              <a:defRPr/>
            </a:pPr>
            <a:r>
              <a:rPr lang="zh-CN" altLang="en-US" sz="2800" b="1" kern="0" dirty="0">
                <a:latin typeface="微软雅黑" panose="020B0503020204020204" pitchFamily="34" charset="-122"/>
                <a:ea typeface="微软雅黑" panose="020B0503020204020204" pitchFamily="34" charset="-122"/>
              </a:rPr>
              <a:t>输入输出设备</a:t>
            </a:r>
          </a:p>
        </p:txBody>
      </p:sp>
      <p:sp>
        <p:nvSpPr>
          <p:cNvPr id="18" name="矩形 17"/>
          <p:cNvSpPr/>
          <p:nvPr/>
        </p:nvSpPr>
        <p:spPr>
          <a:xfrm>
            <a:off x="4871342" y="4144870"/>
            <a:ext cx="8691945" cy="1200158"/>
          </a:xfrm>
          <a:prstGeom prst="rect">
            <a:avLst/>
          </a:prstGeom>
          <a:noFill/>
          <a:ln>
            <a:noFill/>
          </a:ln>
        </p:spPr>
        <p:txBody>
          <a:bodyPr wrap="square" lIns="91398" tIns="45699" rIns="91398" bIns="45699">
            <a:spAutoFit/>
          </a:bodyPr>
          <a:lstStyle/>
          <a:p>
            <a:pPr marL="0" lvl="1" algn="ctr" eaLnBrk="0" hangingPunct="0"/>
            <a:r>
              <a:rPr lang="zh-CN" altLang="en-US" sz="2800" b="1" kern="0" dirty="0">
                <a:latin typeface="微软雅黑" panose="020B0503020204020204" pitchFamily="34" charset="-122"/>
                <a:ea typeface="微软雅黑" panose="020B0503020204020204" pitchFamily="34" charset="-122"/>
              </a:rPr>
              <a:t>输入输出设</a:t>
            </a:r>
            <a:endParaRPr lang="en-US" altLang="zh-CN" sz="2800" b="1" kern="0" dirty="0">
              <a:latin typeface="微软雅黑" panose="020B0503020204020204" pitchFamily="34" charset="-122"/>
              <a:ea typeface="微软雅黑" panose="020B0503020204020204" pitchFamily="34" charset="-122"/>
            </a:endParaRPr>
          </a:p>
          <a:p>
            <a:pPr marL="0" lvl="1" algn="ctr" eaLnBrk="0" hangingPunct="0"/>
            <a:r>
              <a:rPr lang="zh-CN" altLang="en-US" sz="2800" b="1" kern="0" dirty="0">
                <a:latin typeface="微软雅黑" panose="020B0503020204020204" pitchFamily="34" charset="-122"/>
                <a:ea typeface="微软雅黑" panose="020B0503020204020204" pitchFamily="34" charset="-122"/>
              </a:rPr>
              <a:t>备的编址与管理 </a:t>
            </a:r>
          </a:p>
          <a:p>
            <a:pPr algn="ctr" eaLnBrk="0" hangingPunct="0"/>
            <a:endParaRPr lang="zh-CN" altLang="en-US" sz="1599"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23" name="矩形 22"/>
          <p:cNvSpPr/>
          <p:nvPr/>
        </p:nvSpPr>
        <p:spPr>
          <a:xfrm>
            <a:off x="4690174" y="4267917"/>
            <a:ext cx="8691945" cy="954065"/>
          </a:xfrm>
          <a:prstGeom prst="rect">
            <a:avLst/>
          </a:prstGeom>
          <a:noFill/>
          <a:ln>
            <a:noFill/>
          </a:ln>
        </p:spPr>
        <p:txBody>
          <a:bodyPr wrap="square" lIns="91398" tIns="45699" rIns="91398" bIns="45699">
            <a:spAutoFit/>
          </a:bodyPr>
          <a:lstStyle/>
          <a:p>
            <a:pPr marL="0" lvl="1" algn="just" eaLnBrk="0" hangingPunct="0"/>
            <a:r>
              <a:rPr lang="zh-CN" altLang="en-US" sz="2800" b="1" kern="0" dirty="0">
                <a:latin typeface="微软雅黑" panose="020B0503020204020204" pitchFamily="34" charset="-122"/>
                <a:ea typeface="微软雅黑" panose="020B0503020204020204" pitchFamily="34" charset="-122"/>
              </a:rPr>
              <a:t>输入输出接口</a:t>
            </a:r>
          </a:p>
          <a:p>
            <a:pPr algn="just" eaLnBrk="0" hangingPunct="0"/>
            <a:endParaRPr lang="zh-CN" altLang="en-US" sz="28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sp>
        <p:nvSpPr>
          <p:cNvPr id="20" name="TextBox 26"/>
          <p:cNvSpPr txBox="1"/>
          <p:nvPr/>
        </p:nvSpPr>
        <p:spPr>
          <a:xfrm>
            <a:off x="14146653" y="8510121"/>
            <a:ext cx="1107996" cy="461665"/>
          </a:xfrm>
          <a:prstGeom prst="rect">
            <a:avLst/>
          </a:prstGeom>
          <a:noFill/>
        </p:spPr>
        <p:txBody>
          <a:bodyPr wrap="none" rtlCol="0">
            <a:spAutoFit/>
          </a:bodyPr>
          <a:lstStyle/>
          <a:p>
            <a:r>
              <a:rPr lang="zh-CN" altLang="en-US" sz="2400" dirty="0"/>
              <a:t>延时符</a:t>
            </a:r>
          </a:p>
        </p:txBody>
      </p:sp>
      <p:grpSp>
        <p:nvGrpSpPr>
          <p:cNvPr id="21" name="组合 20"/>
          <p:cNvGrpSpPr/>
          <p:nvPr/>
        </p:nvGrpSpPr>
        <p:grpSpPr>
          <a:xfrm>
            <a:off x="1894382" y="2149920"/>
            <a:ext cx="1304416" cy="1526579"/>
            <a:chOff x="1446900" y="2132856"/>
            <a:chExt cx="1304925" cy="1527175"/>
          </a:xfrm>
        </p:grpSpPr>
        <p:sp>
          <p:nvSpPr>
            <p:cNvPr id="22" name="Freeform 5"/>
            <p:cNvSpPr>
              <a:spLocks/>
            </p:cNvSpPr>
            <p:nvPr/>
          </p:nvSpPr>
          <p:spPr bwMode="auto">
            <a:xfrm>
              <a:off x="1446900" y="2132856"/>
              <a:ext cx="1304925" cy="1527175"/>
            </a:xfrm>
            <a:custGeom>
              <a:avLst/>
              <a:gdLst>
                <a:gd name="T0" fmla="*/ 827 w 1654"/>
                <a:gd name="T1" fmla="*/ 0 h 1918"/>
                <a:gd name="T2" fmla="*/ 1654 w 1654"/>
                <a:gd name="T3" fmla="*/ 827 h 1918"/>
                <a:gd name="T4" fmla="*/ 1116 w 1654"/>
                <a:gd name="T5" fmla="*/ 1602 h 1918"/>
                <a:gd name="T6" fmla="*/ 995 w 1654"/>
                <a:gd name="T7" fmla="*/ 1741 h 1918"/>
                <a:gd name="T8" fmla="*/ 870 w 1654"/>
                <a:gd name="T9" fmla="*/ 1884 h 1918"/>
                <a:gd name="T10" fmla="*/ 789 w 1654"/>
                <a:gd name="T11" fmla="*/ 1889 h 1918"/>
                <a:gd name="T12" fmla="*/ 660 w 1654"/>
                <a:gd name="T13" fmla="*/ 1741 h 1918"/>
                <a:gd name="T14" fmla="*/ 540 w 1654"/>
                <a:gd name="T15" fmla="*/ 1603 h 1918"/>
                <a:gd name="T16" fmla="*/ 0 w 1654"/>
                <a:gd name="T17" fmla="*/ 827 h 1918"/>
                <a:gd name="T18" fmla="*/ 827 w 1654"/>
                <a:gd name="T19" fmla="*/ 0 h 19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654" h="1918">
                  <a:moveTo>
                    <a:pt x="827" y="0"/>
                  </a:moveTo>
                  <a:cubicBezTo>
                    <a:pt x="1283" y="0"/>
                    <a:pt x="1654" y="370"/>
                    <a:pt x="1654" y="827"/>
                  </a:cubicBezTo>
                  <a:cubicBezTo>
                    <a:pt x="1654" y="1182"/>
                    <a:pt x="1430" y="1485"/>
                    <a:pt x="1116" y="1602"/>
                  </a:cubicBezTo>
                  <a:lnTo>
                    <a:pt x="995" y="1741"/>
                  </a:lnTo>
                  <a:cubicBezTo>
                    <a:pt x="953" y="1788"/>
                    <a:pt x="912" y="1836"/>
                    <a:pt x="870" y="1884"/>
                  </a:cubicBezTo>
                  <a:cubicBezTo>
                    <a:pt x="845" y="1916"/>
                    <a:pt x="818" y="1918"/>
                    <a:pt x="789" y="1889"/>
                  </a:cubicBezTo>
                  <a:cubicBezTo>
                    <a:pt x="746" y="1840"/>
                    <a:pt x="703" y="1790"/>
                    <a:pt x="660" y="1741"/>
                  </a:cubicBezTo>
                  <a:lnTo>
                    <a:pt x="540" y="1603"/>
                  </a:lnTo>
                  <a:cubicBezTo>
                    <a:pt x="225" y="1486"/>
                    <a:pt x="0" y="1183"/>
                    <a:pt x="0" y="827"/>
                  </a:cubicBezTo>
                  <a:cubicBezTo>
                    <a:pt x="0" y="370"/>
                    <a:pt x="370" y="0"/>
                    <a:pt x="827" y="0"/>
                  </a:cubicBezTo>
                  <a:close/>
                </a:path>
              </a:pathLst>
            </a:custGeom>
            <a:solidFill>
              <a:srgbClr val="92D050"/>
            </a:solidFill>
            <a:ln>
              <a:noFill/>
            </a:ln>
          </p:spPr>
          <p:txBody>
            <a:bodyPr vert="horz" wrap="square" lIns="91404" tIns="45702" rIns="91404" bIns="45702" numCol="1" anchor="t" anchorCtr="0" compatLnSpc="1">
              <a:prstTxWarp prst="textNoShape">
                <a:avLst/>
              </a:prstTxWarp>
            </a:bodyPr>
            <a:lstStyle/>
            <a:p>
              <a:endParaRPr lang="zh-CN" altLang="en-US" sz="1799"/>
            </a:p>
          </p:txBody>
        </p:sp>
        <p:sp>
          <p:nvSpPr>
            <p:cNvPr id="24" name="Freeform 16"/>
            <p:cNvSpPr>
              <a:spLocks noEditPoints="1"/>
            </p:cNvSpPr>
            <p:nvPr/>
          </p:nvSpPr>
          <p:spPr bwMode="auto">
            <a:xfrm>
              <a:off x="1668969" y="2542449"/>
              <a:ext cx="860788" cy="500028"/>
            </a:xfrm>
            <a:custGeom>
              <a:avLst/>
              <a:gdLst>
                <a:gd name="T0" fmla="*/ 712 w 739"/>
                <a:gd name="T1" fmla="*/ 36 h 492"/>
                <a:gd name="T2" fmla="*/ 712 w 739"/>
                <a:gd name="T3" fmla="*/ 404 h 492"/>
                <a:gd name="T4" fmla="*/ 702 w 739"/>
                <a:gd name="T5" fmla="*/ 404 h 492"/>
                <a:gd name="T6" fmla="*/ 678 w 739"/>
                <a:gd name="T7" fmla="*/ 403 h 492"/>
                <a:gd name="T8" fmla="*/ 373 w 739"/>
                <a:gd name="T9" fmla="*/ 480 h 492"/>
                <a:gd name="T10" fmla="*/ 369 w 739"/>
                <a:gd name="T11" fmla="*/ 482 h 492"/>
                <a:gd name="T12" fmla="*/ 365 w 739"/>
                <a:gd name="T13" fmla="*/ 480 h 492"/>
                <a:gd name="T14" fmla="*/ 60 w 739"/>
                <a:gd name="T15" fmla="*/ 403 h 492"/>
                <a:gd name="T16" fmla="*/ 37 w 739"/>
                <a:gd name="T17" fmla="*/ 404 h 492"/>
                <a:gd name="T18" fmla="*/ 26 w 739"/>
                <a:gd name="T19" fmla="*/ 404 h 492"/>
                <a:gd name="T20" fmla="*/ 26 w 739"/>
                <a:gd name="T21" fmla="*/ 36 h 492"/>
                <a:gd name="T22" fmla="*/ 0 w 739"/>
                <a:gd name="T23" fmla="*/ 36 h 492"/>
                <a:gd name="T24" fmla="*/ 0 w 739"/>
                <a:gd name="T25" fmla="*/ 418 h 492"/>
                <a:gd name="T26" fmla="*/ 369 w 739"/>
                <a:gd name="T27" fmla="*/ 492 h 492"/>
                <a:gd name="T28" fmla="*/ 739 w 739"/>
                <a:gd name="T29" fmla="*/ 418 h 492"/>
                <a:gd name="T30" fmla="*/ 739 w 739"/>
                <a:gd name="T31" fmla="*/ 36 h 492"/>
                <a:gd name="T32" fmla="*/ 712 w 739"/>
                <a:gd name="T33" fmla="*/ 36 h 492"/>
                <a:gd name="T34" fmla="*/ 357 w 739"/>
                <a:gd name="T35" fmla="*/ 418 h 492"/>
                <a:gd name="T36" fmla="*/ 357 w 739"/>
                <a:gd name="T37" fmla="*/ 82 h 492"/>
                <a:gd name="T38" fmla="*/ 101 w 739"/>
                <a:gd name="T39" fmla="*/ 2 h 492"/>
                <a:gd name="T40" fmla="*/ 101 w 739"/>
                <a:gd name="T41" fmla="*/ 352 h 492"/>
                <a:gd name="T42" fmla="*/ 111 w 739"/>
                <a:gd name="T43" fmla="*/ 352 h 492"/>
                <a:gd name="T44" fmla="*/ 357 w 739"/>
                <a:gd name="T45" fmla="*/ 418 h 492"/>
                <a:gd name="T46" fmla="*/ 638 w 739"/>
                <a:gd name="T47" fmla="*/ 352 h 492"/>
                <a:gd name="T48" fmla="*/ 638 w 739"/>
                <a:gd name="T49" fmla="*/ 2 h 492"/>
                <a:gd name="T50" fmla="*/ 382 w 739"/>
                <a:gd name="T51" fmla="*/ 82 h 492"/>
                <a:gd name="T52" fmla="*/ 382 w 739"/>
                <a:gd name="T53" fmla="*/ 418 h 492"/>
                <a:gd name="T54" fmla="*/ 628 w 739"/>
                <a:gd name="T55" fmla="*/ 352 h 492"/>
                <a:gd name="T56" fmla="*/ 638 w 739"/>
                <a:gd name="T57" fmla="*/ 352 h 492"/>
                <a:gd name="T58" fmla="*/ 369 w 739"/>
                <a:gd name="T59" fmla="*/ 473 h 492"/>
                <a:gd name="T60" fmla="*/ 695 w 739"/>
                <a:gd name="T61" fmla="*/ 395 h 492"/>
                <a:gd name="T62" fmla="*/ 695 w 739"/>
                <a:gd name="T63" fmla="*/ 7 h 492"/>
                <a:gd name="T64" fmla="*/ 655 w 739"/>
                <a:gd name="T65" fmla="*/ 7 h 492"/>
                <a:gd name="T66" fmla="*/ 655 w 739"/>
                <a:gd name="T67" fmla="*/ 370 h 492"/>
                <a:gd name="T68" fmla="*/ 645 w 739"/>
                <a:gd name="T69" fmla="*/ 370 h 492"/>
                <a:gd name="T70" fmla="*/ 626 w 739"/>
                <a:gd name="T71" fmla="*/ 369 h 492"/>
                <a:gd name="T72" fmla="*/ 376 w 739"/>
                <a:gd name="T73" fmla="*/ 441 h 492"/>
                <a:gd name="T74" fmla="*/ 369 w 739"/>
                <a:gd name="T75" fmla="*/ 445 h 492"/>
                <a:gd name="T76" fmla="*/ 363 w 739"/>
                <a:gd name="T77" fmla="*/ 441 h 492"/>
                <a:gd name="T78" fmla="*/ 113 w 739"/>
                <a:gd name="T79" fmla="*/ 369 h 492"/>
                <a:gd name="T80" fmla="*/ 93 w 739"/>
                <a:gd name="T81" fmla="*/ 370 h 492"/>
                <a:gd name="T82" fmla="*/ 83 w 739"/>
                <a:gd name="T83" fmla="*/ 370 h 492"/>
                <a:gd name="T84" fmla="*/ 83 w 739"/>
                <a:gd name="T85" fmla="*/ 7 h 492"/>
                <a:gd name="T86" fmla="*/ 44 w 739"/>
                <a:gd name="T87" fmla="*/ 7 h 492"/>
                <a:gd name="T88" fmla="*/ 44 w 739"/>
                <a:gd name="T89" fmla="*/ 395 h 492"/>
                <a:gd name="T90" fmla="*/ 369 w 739"/>
                <a:gd name="T91" fmla="*/ 473 h 4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739" h="492">
                  <a:moveTo>
                    <a:pt x="712" y="36"/>
                  </a:moveTo>
                  <a:lnTo>
                    <a:pt x="712" y="404"/>
                  </a:lnTo>
                  <a:lnTo>
                    <a:pt x="702" y="404"/>
                  </a:lnTo>
                  <a:cubicBezTo>
                    <a:pt x="694" y="404"/>
                    <a:pt x="686" y="403"/>
                    <a:pt x="678" y="403"/>
                  </a:cubicBezTo>
                  <a:cubicBezTo>
                    <a:pt x="576" y="403"/>
                    <a:pt x="467" y="430"/>
                    <a:pt x="373" y="480"/>
                  </a:cubicBezTo>
                  <a:lnTo>
                    <a:pt x="369" y="482"/>
                  </a:lnTo>
                  <a:lnTo>
                    <a:pt x="365" y="480"/>
                  </a:lnTo>
                  <a:cubicBezTo>
                    <a:pt x="271" y="430"/>
                    <a:pt x="163" y="403"/>
                    <a:pt x="60" y="403"/>
                  </a:cubicBezTo>
                  <a:cubicBezTo>
                    <a:pt x="52" y="403"/>
                    <a:pt x="45" y="404"/>
                    <a:pt x="37" y="404"/>
                  </a:cubicBezTo>
                  <a:lnTo>
                    <a:pt x="26" y="404"/>
                  </a:lnTo>
                  <a:lnTo>
                    <a:pt x="26" y="36"/>
                  </a:lnTo>
                  <a:cubicBezTo>
                    <a:pt x="17" y="36"/>
                    <a:pt x="9" y="36"/>
                    <a:pt x="0" y="36"/>
                  </a:cubicBezTo>
                  <a:lnTo>
                    <a:pt x="0" y="418"/>
                  </a:lnTo>
                  <a:cubicBezTo>
                    <a:pt x="123" y="415"/>
                    <a:pt x="254" y="442"/>
                    <a:pt x="369" y="492"/>
                  </a:cubicBezTo>
                  <a:cubicBezTo>
                    <a:pt x="484" y="442"/>
                    <a:pt x="616" y="415"/>
                    <a:pt x="739" y="418"/>
                  </a:cubicBezTo>
                  <a:lnTo>
                    <a:pt x="739" y="36"/>
                  </a:lnTo>
                  <a:cubicBezTo>
                    <a:pt x="730" y="36"/>
                    <a:pt x="721" y="36"/>
                    <a:pt x="712" y="36"/>
                  </a:cubicBezTo>
                  <a:close/>
                  <a:moveTo>
                    <a:pt x="357" y="418"/>
                  </a:moveTo>
                  <a:lnTo>
                    <a:pt x="357" y="82"/>
                  </a:lnTo>
                  <a:cubicBezTo>
                    <a:pt x="277" y="28"/>
                    <a:pt x="186" y="0"/>
                    <a:pt x="101" y="2"/>
                  </a:cubicBezTo>
                  <a:lnTo>
                    <a:pt x="101" y="352"/>
                  </a:lnTo>
                  <a:cubicBezTo>
                    <a:pt x="104" y="352"/>
                    <a:pt x="107" y="352"/>
                    <a:pt x="111" y="352"/>
                  </a:cubicBezTo>
                  <a:cubicBezTo>
                    <a:pt x="193" y="352"/>
                    <a:pt x="280" y="375"/>
                    <a:pt x="357" y="418"/>
                  </a:cubicBezTo>
                  <a:close/>
                  <a:moveTo>
                    <a:pt x="638" y="352"/>
                  </a:moveTo>
                  <a:lnTo>
                    <a:pt x="638" y="2"/>
                  </a:lnTo>
                  <a:cubicBezTo>
                    <a:pt x="552" y="0"/>
                    <a:pt x="461" y="28"/>
                    <a:pt x="382" y="82"/>
                  </a:cubicBezTo>
                  <a:lnTo>
                    <a:pt x="382" y="418"/>
                  </a:lnTo>
                  <a:cubicBezTo>
                    <a:pt x="459" y="375"/>
                    <a:pt x="545" y="352"/>
                    <a:pt x="628" y="352"/>
                  </a:cubicBezTo>
                  <a:cubicBezTo>
                    <a:pt x="631" y="352"/>
                    <a:pt x="635" y="352"/>
                    <a:pt x="638" y="352"/>
                  </a:cubicBezTo>
                  <a:close/>
                  <a:moveTo>
                    <a:pt x="369" y="473"/>
                  </a:moveTo>
                  <a:cubicBezTo>
                    <a:pt x="473" y="417"/>
                    <a:pt x="590" y="391"/>
                    <a:pt x="695" y="395"/>
                  </a:cubicBezTo>
                  <a:lnTo>
                    <a:pt x="695" y="7"/>
                  </a:lnTo>
                  <a:cubicBezTo>
                    <a:pt x="682" y="6"/>
                    <a:pt x="669" y="6"/>
                    <a:pt x="655" y="7"/>
                  </a:cubicBezTo>
                  <a:lnTo>
                    <a:pt x="655" y="370"/>
                  </a:lnTo>
                  <a:lnTo>
                    <a:pt x="645" y="370"/>
                  </a:lnTo>
                  <a:cubicBezTo>
                    <a:pt x="639" y="369"/>
                    <a:pt x="632" y="369"/>
                    <a:pt x="626" y="369"/>
                  </a:cubicBezTo>
                  <a:cubicBezTo>
                    <a:pt x="542" y="369"/>
                    <a:pt x="453" y="395"/>
                    <a:pt x="376" y="441"/>
                  </a:cubicBezTo>
                  <a:lnTo>
                    <a:pt x="369" y="445"/>
                  </a:lnTo>
                  <a:lnTo>
                    <a:pt x="363" y="441"/>
                  </a:lnTo>
                  <a:cubicBezTo>
                    <a:pt x="286" y="395"/>
                    <a:pt x="197" y="369"/>
                    <a:pt x="113" y="369"/>
                  </a:cubicBezTo>
                  <a:cubicBezTo>
                    <a:pt x="106" y="369"/>
                    <a:pt x="100" y="369"/>
                    <a:pt x="93" y="370"/>
                  </a:cubicBezTo>
                  <a:lnTo>
                    <a:pt x="83" y="370"/>
                  </a:lnTo>
                  <a:lnTo>
                    <a:pt x="83" y="7"/>
                  </a:lnTo>
                  <a:cubicBezTo>
                    <a:pt x="70" y="6"/>
                    <a:pt x="57" y="6"/>
                    <a:pt x="44" y="7"/>
                  </a:cubicBezTo>
                  <a:lnTo>
                    <a:pt x="44" y="395"/>
                  </a:lnTo>
                  <a:cubicBezTo>
                    <a:pt x="148" y="391"/>
                    <a:pt x="265" y="417"/>
                    <a:pt x="369" y="473"/>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4" tIns="45702" rIns="91404" bIns="45702" numCol="1" anchor="t" anchorCtr="0" compatLnSpc="1">
              <a:prstTxWarp prst="textNoShape">
                <a:avLst/>
              </a:prstTxWarp>
            </a:bodyPr>
            <a:lstStyle/>
            <a:p>
              <a:endParaRPr lang="zh-CN" altLang="en-US" sz="1799"/>
            </a:p>
          </p:txBody>
        </p:sp>
      </p:grpSp>
      <p:grpSp>
        <p:nvGrpSpPr>
          <p:cNvPr id="25" name="组合 24"/>
          <p:cNvGrpSpPr/>
          <p:nvPr/>
        </p:nvGrpSpPr>
        <p:grpSpPr>
          <a:xfrm>
            <a:off x="5229348" y="2149921"/>
            <a:ext cx="1304416" cy="1526579"/>
            <a:chOff x="4022275" y="2132856"/>
            <a:chExt cx="1304925" cy="1527175"/>
          </a:xfrm>
        </p:grpSpPr>
        <p:sp>
          <p:nvSpPr>
            <p:cNvPr id="26" name="Freeform 6"/>
            <p:cNvSpPr>
              <a:spLocks/>
            </p:cNvSpPr>
            <p:nvPr/>
          </p:nvSpPr>
          <p:spPr bwMode="auto">
            <a:xfrm>
              <a:off x="4022275" y="2132856"/>
              <a:ext cx="1304925" cy="1527175"/>
            </a:xfrm>
            <a:custGeom>
              <a:avLst/>
              <a:gdLst>
                <a:gd name="T0" fmla="*/ 827 w 1654"/>
                <a:gd name="T1" fmla="*/ 0 h 1918"/>
                <a:gd name="T2" fmla="*/ 1654 w 1654"/>
                <a:gd name="T3" fmla="*/ 827 h 1918"/>
                <a:gd name="T4" fmla="*/ 1116 w 1654"/>
                <a:gd name="T5" fmla="*/ 1602 h 1918"/>
                <a:gd name="T6" fmla="*/ 995 w 1654"/>
                <a:gd name="T7" fmla="*/ 1741 h 1918"/>
                <a:gd name="T8" fmla="*/ 870 w 1654"/>
                <a:gd name="T9" fmla="*/ 1884 h 1918"/>
                <a:gd name="T10" fmla="*/ 790 w 1654"/>
                <a:gd name="T11" fmla="*/ 1889 h 1918"/>
                <a:gd name="T12" fmla="*/ 660 w 1654"/>
                <a:gd name="T13" fmla="*/ 1741 h 1918"/>
                <a:gd name="T14" fmla="*/ 540 w 1654"/>
                <a:gd name="T15" fmla="*/ 1603 h 1918"/>
                <a:gd name="T16" fmla="*/ 0 w 1654"/>
                <a:gd name="T17" fmla="*/ 827 h 1918"/>
                <a:gd name="T18" fmla="*/ 827 w 1654"/>
                <a:gd name="T19" fmla="*/ 0 h 19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654" h="1918">
                  <a:moveTo>
                    <a:pt x="827" y="0"/>
                  </a:moveTo>
                  <a:cubicBezTo>
                    <a:pt x="1284" y="0"/>
                    <a:pt x="1654" y="370"/>
                    <a:pt x="1654" y="827"/>
                  </a:cubicBezTo>
                  <a:cubicBezTo>
                    <a:pt x="1654" y="1182"/>
                    <a:pt x="1430" y="1485"/>
                    <a:pt x="1116" y="1602"/>
                  </a:cubicBezTo>
                  <a:lnTo>
                    <a:pt x="995" y="1741"/>
                  </a:lnTo>
                  <a:cubicBezTo>
                    <a:pt x="954" y="1788"/>
                    <a:pt x="912" y="1836"/>
                    <a:pt x="870" y="1884"/>
                  </a:cubicBezTo>
                  <a:cubicBezTo>
                    <a:pt x="845" y="1916"/>
                    <a:pt x="818" y="1918"/>
                    <a:pt x="790" y="1889"/>
                  </a:cubicBezTo>
                  <a:cubicBezTo>
                    <a:pt x="747" y="1840"/>
                    <a:pt x="703" y="1790"/>
                    <a:pt x="660" y="1741"/>
                  </a:cubicBezTo>
                  <a:lnTo>
                    <a:pt x="540" y="1603"/>
                  </a:lnTo>
                  <a:cubicBezTo>
                    <a:pt x="225" y="1486"/>
                    <a:pt x="0" y="1183"/>
                    <a:pt x="0" y="827"/>
                  </a:cubicBezTo>
                  <a:cubicBezTo>
                    <a:pt x="0" y="370"/>
                    <a:pt x="371" y="0"/>
                    <a:pt x="827" y="0"/>
                  </a:cubicBezTo>
                  <a:close/>
                </a:path>
              </a:pathLst>
            </a:custGeom>
            <a:solidFill>
              <a:schemeClr val="accent4"/>
            </a:solidFill>
            <a:ln>
              <a:noFill/>
            </a:ln>
          </p:spPr>
          <p:txBody>
            <a:bodyPr vert="horz" wrap="square" lIns="91404" tIns="45702" rIns="91404" bIns="45702" numCol="1" anchor="t" anchorCtr="0" compatLnSpc="1">
              <a:prstTxWarp prst="textNoShape">
                <a:avLst/>
              </a:prstTxWarp>
            </a:bodyPr>
            <a:lstStyle/>
            <a:p>
              <a:endParaRPr lang="zh-CN" altLang="en-US" sz="1799"/>
            </a:p>
          </p:txBody>
        </p:sp>
        <p:sp>
          <p:nvSpPr>
            <p:cNvPr id="27" name="Freeform 9"/>
            <p:cNvSpPr>
              <a:spLocks noEditPoints="1"/>
            </p:cNvSpPr>
            <p:nvPr/>
          </p:nvSpPr>
          <p:spPr bwMode="auto">
            <a:xfrm>
              <a:off x="4399628" y="2380272"/>
              <a:ext cx="650316" cy="737858"/>
            </a:xfrm>
            <a:custGeom>
              <a:avLst/>
              <a:gdLst>
                <a:gd name="T0" fmla="*/ 402 w 630"/>
                <a:gd name="T1" fmla="*/ 89 h 711"/>
                <a:gd name="T2" fmla="*/ 313 w 630"/>
                <a:gd name="T3" fmla="*/ 178 h 711"/>
                <a:gd name="T4" fmla="*/ 223 w 630"/>
                <a:gd name="T5" fmla="*/ 178 h 711"/>
                <a:gd name="T6" fmla="*/ 134 w 630"/>
                <a:gd name="T7" fmla="*/ 89 h 711"/>
                <a:gd name="T8" fmla="*/ 223 w 630"/>
                <a:gd name="T9" fmla="*/ 0 h 711"/>
                <a:gd name="T10" fmla="*/ 313 w 630"/>
                <a:gd name="T11" fmla="*/ 0 h 711"/>
                <a:gd name="T12" fmla="*/ 402 w 630"/>
                <a:gd name="T13" fmla="*/ 89 h 711"/>
                <a:gd name="T14" fmla="*/ 445 w 630"/>
                <a:gd name="T15" fmla="*/ 89 h 711"/>
                <a:gd name="T16" fmla="*/ 446 w 630"/>
                <a:gd name="T17" fmla="*/ 109 h 711"/>
                <a:gd name="T18" fmla="*/ 335 w 630"/>
                <a:gd name="T19" fmla="*/ 221 h 711"/>
                <a:gd name="T20" fmla="*/ 201 w 630"/>
                <a:gd name="T21" fmla="*/ 221 h 711"/>
                <a:gd name="T22" fmla="*/ 90 w 630"/>
                <a:gd name="T23" fmla="*/ 109 h 711"/>
                <a:gd name="T24" fmla="*/ 92 w 630"/>
                <a:gd name="T25" fmla="*/ 89 h 711"/>
                <a:gd name="T26" fmla="*/ 0 w 630"/>
                <a:gd name="T27" fmla="*/ 198 h 711"/>
                <a:gd name="T28" fmla="*/ 0 w 630"/>
                <a:gd name="T29" fmla="*/ 600 h 711"/>
                <a:gd name="T30" fmla="*/ 112 w 630"/>
                <a:gd name="T31" fmla="*/ 711 h 711"/>
                <a:gd name="T32" fmla="*/ 409 w 630"/>
                <a:gd name="T33" fmla="*/ 711 h 711"/>
                <a:gd name="T34" fmla="*/ 288 w 630"/>
                <a:gd name="T35" fmla="*/ 528 h 711"/>
                <a:gd name="T36" fmla="*/ 487 w 630"/>
                <a:gd name="T37" fmla="*/ 328 h 711"/>
                <a:gd name="T38" fmla="*/ 536 w 630"/>
                <a:gd name="T39" fmla="*/ 335 h 711"/>
                <a:gd name="T40" fmla="*/ 536 w 630"/>
                <a:gd name="T41" fmla="*/ 198 h 711"/>
                <a:gd name="T42" fmla="*/ 445 w 630"/>
                <a:gd name="T43" fmla="*/ 89 h 711"/>
                <a:gd name="T44" fmla="*/ 251 w 630"/>
                <a:gd name="T45" fmla="*/ 446 h 711"/>
                <a:gd name="T46" fmla="*/ 251 w 630"/>
                <a:gd name="T47" fmla="*/ 446 h 711"/>
                <a:gd name="T48" fmla="*/ 112 w 630"/>
                <a:gd name="T49" fmla="*/ 446 h 711"/>
                <a:gd name="T50" fmla="*/ 90 w 630"/>
                <a:gd name="T51" fmla="*/ 423 h 711"/>
                <a:gd name="T52" fmla="*/ 112 w 630"/>
                <a:gd name="T53" fmla="*/ 401 h 711"/>
                <a:gd name="T54" fmla="*/ 251 w 630"/>
                <a:gd name="T55" fmla="*/ 401 h 711"/>
                <a:gd name="T56" fmla="*/ 274 w 630"/>
                <a:gd name="T57" fmla="*/ 423 h 711"/>
                <a:gd name="T58" fmla="*/ 251 w 630"/>
                <a:gd name="T59" fmla="*/ 446 h 711"/>
                <a:gd name="T60" fmla="*/ 296 w 630"/>
                <a:gd name="T61" fmla="*/ 356 h 711"/>
                <a:gd name="T62" fmla="*/ 296 w 630"/>
                <a:gd name="T63" fmla="*/ 356 h 711"/>
                <a:gd name="T64" fmla="*/ 112 w 630"/>
                <a:gd name="T65" fmla="*/ 356 h 711"/>
                <a:gd name="T66" fmla="*/ 90 w 630"/>
                <a:gd name="T67" fmla="*/ 334 h 711"/>
                <a:gd name="T68" fmla="*/ 112 w 630"/>
                <a:gd name="T69" fmla="*/ 312 h 711"/>
                <a:gd name="T70" fmla="*/ 296 w 630"/>
                <a:gd name="T71" fmla="*/ 312 h 711"/>
                <a:gd name="T72" fmla="*/ 318 w 630"/>
                <a:gd name="T73" fmla="*/ 334 h 711"/>
                <a:gd name="T74" fmla="*/ 296 w 630"/>
                <a:gd name="T75" fmla="*/ 356 h 711"/>
                <a:gd name="T76" fmla="*/ 524 w 630"/>
                <a:gd name="T77" fmla="*/ 390 h 711"/>
                <a:gd name="T78" fmla="*/ 488 w 630"/>
                <a:gd name="T79" fmla="*/ 385 h 711"/>
                <a:gd name="T80" fmla="*/ 346 w 630"/>
                <a:gd name="T81" fmla="*/ 527 h 711"/>
                <a:gd name="T82" fmla="*/ 458 w 630"/>
                <a:gd name="T83" fmla="*/ 666 h 711"/>
                <a:gd name="T84" fmla="*/ 488 w 630"/>
                <a:gd name="T85" fmla="*/ 669 h 711"/>
                <a:gd name="T86" fmla="*/ 630 w 630"/>
                <a:gd name="T87" fmla="*/ 527 h 711"/>
                <a:gd name="T88" fmla="*/ 524 w 630"/>
                <a:gd name="T89" fmla="*/ 390 h 711"/>
                <a:gd name="T90" fmla="*/ 569 w 630"/>
                <a:gd name="T91" fmla="*/ 507 h 711"/>
                <a:gd name="T92" fmla="*/ 569 w 630"/>
                <a:gd name="T93" fmla="*/ 507 h 711"/>
                <a:gd name="T94" fmla="*/ 524 w 630"/>
                <a:gd name="T95" fmla="*/ 552 h 711"/>
                <a:gd name="T96" fmla="*/ 488 w 630"/>
                <a:gd name="T97" fmla="*/ 588 h 711"/>
                <a:gd name="T98" fmla="*/ 448 w 630"/>
                <a:gd name="T99" fmla="*/ 588 h 711"/>
                <a:gd name="T100" fmla="*/ 408 w 630"/>
                <a:gd name="T101" fmla="*/ 547 h 711"/>
                <a:gd name="T102" fmla="*/ 408 w 630"/>
                <a:gd name="T103" fmla="*/ 507 h 711"/>
                <a:gd name="T104" fmla="*/ 448 w 630"/>
                <a:gd name="T105" fmla="*/ 507 h 711"/>
                <a:gd name="T106" fmla="*/ 468 w 630"/>
                <a:gd name="T107" fmla="*/ 527 h 711"/>
                <a:gd name="T108" fmla="*/ 524 w 630"/>
                <a:gd name="T109" fmla="*/ 472 h 711"/>
                <a:gd name="T110" fmla="*/ 528 w 630"/>
                <a:gd name="T111" fmla="*/ 467 h 711"/>
                <a:gd name="T112" fmla="*/ 569 w 630"/>
                <a:gd name="T113" fmla="*/ 467 h 711"/>
                <a:gd name="T114" fmla="*/ 569 w 630"/>
                <a:gd name="T115" fmla="*/ 507 h 7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630" h="711">
                  <a:moveTo>
                    <a:pt x="402" y="89"/>
                  </a:moveTo>
                  <a:cubicBezTo>
                    <a:pt x="402" y="138"/>
                    <a:pt x="362" y="178"/>
                    <a:pt x="313" y="178"/>
                  </a:cubicBezTo>
                  <a:lnTo>
                    <a:pt x="223" y="178"/>
                  </a:lnTo>
                  <a:cubicBezTo>
                    <a:pt x="174" y="178"/>
                    <a:pt x="134" y="138"/>
                    <a:pt x="134" y="89"/>
                  </a:cubicBezTo>
                  <a:cubicBezTo>
                    <a:pt x="134" y="39"/>
                    <a:pt x="174" y="0"/>
                    <a:pt x="223" y="0"/>
                  </a:cubicBezTo>
                  <a:lnTo>
                    <a:pt x="313" y="0"/>
                  </a:lnTo>
                  <a:cubicBezTo>
                    <a:pt x="362" y="0"/>
                    <a:pt x="402" y="39"/>
                    <a:pt x="402" y="89"/>
                  </a:cubicBezTo>
                  <a:close/>
                  <a:moveTo>
                    <a:pt x="445" y="89"/>
                  </a:moveTo>
                  <a:cubicBezTo>
                    <a:pt x="446" y="95"/>
                    <a:pt x="446" y="102"/>
                    <a:pt x="446" y="109"/>
                  </a:cubicBezTo>
                  <a:cubicBezTo>
                    <a:pt x="446" y="171"/>
                    <a:pt x="397" y="221"/>
                    <a:pt x="335" y="221"/>
                  </a:cubicBezTo>
                  <a:lnTo>
                    <a:pt x="201" y="221"/>
                  </a:lnTo>
                  <a:cubicBezTo>
                    <a:pt x="140" y="221"/>
                    <a:pt x="90" y="171"/>
                    <a:pt x="90" y="109"/>
                  </a:cubicBezTo>
                  <a:cubicBezTo>
                    <a:pt x="90" y="102"/>
                    <a:pt x="90" y="95"/>
                    <a:pt x="92" y="89"/>
                  </a:cubicBezTo>
                  <a:cubicBezTo>
                    <a:pt x="40" y="98"/>
                    <a:pt x="0" y="144"/>
                    <a:pt x="0" y="198"/>
                  </a:cubicBezTo>
                  <a:lnTo>
                    <a:pt x="0" y="600"/>
                  </a:lnTo>
                  <a:cubicBezTo>
                    <a:pt x="0" y="661"/>
                    <a:pt x="50" y="711"/>
                    <a:pt x="112" y="711"/>
                  </a:cubicBezTo>
                  <a:lnTo>
                    <a:pt x="409" y="711"/>
                  </a:lnTo>
                  <a:cubicBezTo>
                    <a:pt x="338" y="681"/>
                    <a:pt x="288" y="610"/>
                    <a:pt x="288" y="528"/>
                  </a:cubicBezTo>
                  <a:cubicBezTo>
                    <a:pt x="288" y="418"/>
                    <a:pt x="377" y="328"/>
                    <a:pt x="487" y="328"/>
                  </a:cubicBezTo>
                  <a:cubicBezTo>
                    <a:pt x="504" y="328"/>
                    <a:pt x="520" y="331"/>
                    <a:pt x="536" y="335"/>
                  </a:cubicBezTo>
                  <a:lnTo>
                    <a:pt x="536" y="198"/>
                  </a:lnTo>
                  <a:cubicBezTo>
                    <a:pt x="536" y="144"/>
                    <a:pt x="496" y="98"/>
                    <a:pt x="445" y="89"/>
                  </a:cubicBezTo>
                  <a:close/>
                  <a:moveTo>
                    <a:pt x="251" y="446"/>
                  </a:moveTo>
                  <a:lnTo>
                    <a:pt x="251" y="446"/>
                  </a:lnTo>
                  <a:lnTo>
                    <a:pt x="112" y="446"/>
                  </a:lnTo>
                  <a:cubicBezTo>
                    <a:pt x="100" y="446"/>
                    <a:pt x="90" y="436"/>
                    <a:pt x="90" y="423"/>
                  </a:cubicBezTo>
                  <a:cubicBezTo>
                    <a:pt x="90" y="411"/>
                    <a:pt x="100" y="401"/>
                    <a:pt x="112" y="401"/>
                  </a:cubicBezTo>
                  <a:lnTo>
                    <a:pt x="251" y="401"/>
                  </a:lnTo>
                  <a:cubicBezTo>
                    <a:pt x="264" y="401"/>
                    <a:pt x="274" y="411"/>
                    <a:pt x="274" y="423"/>
                  </a:cubicBezTo>
                  <a:cubicBezTo>
                    <a:pt x="274" y="436"/>
                    <a:pt x="264" y="446"/>
                    <a:pt x="251" y="446"/>
                  </a:cubicBezTo>
                  <a:close/>
                  <a:moveTo>
                    <a:pt x="296" y="356"/>
                  </a:moveTo>
                  <a:lnTo>
                    <a:pt x="296" y="356"/>
                  </a:lnTo>
                  <a:lnTo>
                    <a:pt x="112" y="356"/>
                  </a:lnTo>
                  <a:cubicBezTo>
                    <a:pt x="100" y="356"/>
                    <a:pt x="90" y="346"/>
                    <a:pt x="90" y="334"/>
                  </a:cubicBezTo>
                  <a:cubicBezTo>
                    <a:pt x="90" y="322"/>
                    <a:pt x="100" y="312"/>
                    <a:pt x="112" y="312"/>
                  </a:cubicBezTo>
                  <a:lnTo>
                    <a:pt x="296" y="312"/>
                  </a:lnTo>
                  <a:cubicBezTo>
                    <a:pt x="308" y="312"/>
                    <a:pt x="318" y="322"/>
                    <a:pt x="318" y="334"/>
                  </a:cubicBezTo>
                  <a:cubicBezTo>
                    <a:pt x="318" y="346"/>
                    <a:pt x="308" y="356"/>
                    <a:pt x="296" y="356"/>
                  </a:cubicBezTo>
                  <a:close/>
                  <a:moveTo>
                    <a:pt x="524" y="390"/>
                  </a:moveTo>
                  <a:cubicBezTo>
                    <a:pt x="512" y="387"/>
                    <a:pt x="501" y="385"/>
                    <a:pt x="488" y="385"/>
                  </a:cubicBezTo>
                  <a:cubicBezTo>
                    <a:pt x="410" y="385"/>
                    <a:pt x="346" y="449"/>
                    <a:pt x="346" y="527"/>
                  </a:cubicBezTo>
                  <a:cubicBezTo>
                    <a:pt x="346" y="596"/>
                    <a:pt x="394" y="652"/>
                    <a:pt x="458" y="666"/>
                  </a:cubicBezTo>
                  <a:cubicBezTo>
                    <a:pt x="468" y="668"/>
                    <a:pt x="478" y="669"/>
                    <a:pt x="488" y="669"/>
                  </a:cubicBezTo>
                  <a:cubicBezTo>
                    <a:pt x="567" y="669"/>
                    <a:pt x="630" y="606"/>
                    <a:pt x="630" y="527"/>
                  </a:cubicBezTo>
                  <a:cubicBezTo>
                    <a:pt x="630" y="461"/>
                    <a:pt x="585" y="405"/>
                    <a:pt x="524" y="390"/>
                  </a:cubicBezTo>
                  <a:close/>
                  <a:moveTo>
                    <a:pt x="569" y="507"/>
                  </a:moveTo>
                  <a:lnTo>
                    <a:pt x="569" y="507"/>
                  </a:lnTo>
                  <a:lnTo>
                    <a:pt x="524" y="552"/>
                  </a:lnTo>
                  <a:lnTo>
                    <a:pt x="488" y="588"/>
                  </a:lnTo>
                  <a:cubicBezTo>
                    <a:pt x="477" y="599"/>
                    <a:pt x="459" y="599"/>
                    <a:pt x="448" y="588"/>
                  </a:cubicBezTo>
                  <a:lnTo>
                    <a:pt x="408" y="547"/>
                  </a:lnTo>
                  <a:cubicBezTo>
                    <a:pt x="397" y="536"/>
                    <a:pt x="397" y="518"/>
                    <a:pt x="408" y="507"/>
                  </a:cubicBezTo>
                  <a:cubicBezTo>
                    <a:pt x="419" y="496"/>
                    <a:pt x="437" y="496"/>
                    <a:pt x="448" y="507"/>
                  </a:cubicBezTo>
                  <a:lnTo>
                    <a:pt x="468" y="527"/>
                  </a:lnTo>
                  <a:lnTo>
                    <a:pt x="524" y="472"/>
                  </a:lnTo>
                  <a:lnTo>
                    <a:pt x="528" y="467"/>
                  </a:lnTo>
                  <a:cubicBezTo>
                    <a:pt x="540" y="456"/>
                    <a:pt x="558" y="456"/>
                    <a:pt x="569" y="467"/>
                  </a:cubicBezTo>
                  <a:cubicBezTo>
                    <a:pt x="580" y="478"/>
                    <a:pt x="580" y="496"/>
                    <a:pt x="569" y="507"/>
                  </a:cubicBez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4" tIns="45702" rIns="91404" bIns="45702" numCol="1" anchor="t" anchorCtr="0" compatLnSpc="1">
              <a:prstTxWarp prst="textNoShape">
                <a:avLst/>
              </a:prstTxWarp>
            </a:bodyPr>
            <a:lstStyle/>
            <a:p>
              <a:endParaRPr lang="zh-CN" altLang="en-US" sz="1799"/>
            </a:p>
          </p:txBody>
        </p:sp>
      </p:grpSp>
      <p:grpSp>
        <p:nvGrpSpPr>
          <p:cNvPr id="28" name="组合 27"/>
          <p:cNvGrpSpPr/>
          <p:nvPr/>
        </p:nvGrpSpPr>
        <p:grpSpPr>
          <a:xfrm>
            <a:off x="8564314" y="2208491"/>
            <a:ext cx="1306003" cy="1526579"/>
            <a:chOff x="6560095" y="2132856"/>
            <a:chExt cx="1306513" cy="1527175"/>
          </a:xfrm>
        </p:grpSpPr>
        <p:sp>
          <p:nvSpPr>
            <p:cNvPr id="29" name="Freeform 7"/>
            <p:cNvSpPr>
              <a:spLocks/>
            </p:cNvSpPr>
            <p:nvPr/>
          </p:nvSpPr>
          <p:spPr bwMode="auto">
            <a:xfrm>
              <a:off x="6560095" y="2132856"/>
              <a:ext cx="1306513" cy="1527175"/>
            </a:xfrm>
            <a:custGeom>
              <a:avLst/>
              <a:gdLst>
                <a:gd name="T0" fmla="*/ 827 w 1654"/>
                <a:gd name="T1" fmla="*/ 0 h 1918"/>
                <a:gd name="T2" fmla="*/ 1654 w 1654"/>
                <a:gd name="T3" fmla="*/ 827 h 1918"/>
                <a:gd name="T4" fmla="*/ 1116 w 1654"/>
                <a:gd name="T5" fmla="*/ 1602 h 1918"/>
                <a:gd name="T6" fmla="*/ 995 w 1654"/>
                <a:gd name="T7" fmla="*/ 1741 h 1918"/>
                <a:gd name="T8" fmla="*/ 870 w 1654"/>
                <a:gd name="T9" fmla="*/ 1884 h 1918"/>
                <a:gd name="T10" fmla="*/ 789 w 1654"/>
                <a:gd name="T11" fmla="*/ 1889 h 1918"/>
                <a:gd name="T12" fmla="*/ 660 w 1654"/>
                <a:gd name="T13" fmla="*/ 1741 h 1918"/>
                <a:gd name="T14" fmla="*/ 540 w 1654"/>
                <a:gd name="T15" fmla="*/ 1603 h 1918"/>
                <a:gd name="T16" fmla="*/ 0 w 1654"/>
                <a:gd name="T17" fmla="*/ 827 h 1918"/>
                <a:gd name="T18" fmla="*/ 827 w 1654"/>
                <a:gd name="T19" fmla="*/ 0 h 19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654" h="1918">
                  <a:moveTo>
                    <a:pt x="827" y="0"/>
                  </a:moveTo>
                  <a:cubicBezTo>
                    <a:pt x="1283" y="0"/>
                    <a:pt x="1654" y="370"/>
                    <a:pt x="1654" y="827"/>
                  </a:cubicBezTo>
                  <a:cubicBezTo>
                    <a:pt x="1654" y="1182"/>
                    <a:pt x="1430" y="1485"/>
                    <a:pt x="1116" y="1602"/>
                  </a:cubicBezTo>
                  <a:lnTo>
                    <a:pt x="995" y="1741"/>
                  </a:lnTo>
                  <a:cubicBezTo>
                    <a:pt x="953" y="1788"/>
                    <a:pt x="912" y="1836"/>
                    <a:pt x="870" y="1884"/>
                  </a:cubicBezTo>
                  <a:cubicBezTo>
                    <a:pt x="845" y="1916"/>
                    <a:pt x="818" y="1918"/>
                    <a:pt x="789" y="1889"/>
                  </a:cubicBezTo>
                  <a:cubicBezTo>
                    <a:pt x="746" y="1840"/>
                    <a:pt x="703" y="1790"/>
                    <a:pt x="660" y="1741"/>
                  </a:cubicBezTo>
                  <a:lnTo>
                    <a:pt x="540" y="1603"/>
                  </a:lnTo>
                  <a:cubicBezTo>
                    <a:pt x="225" y="1486"/>
                    <a:pt x="0" y="1183"/>
                    <a:pt x="0" y="827"/>
                  </a:cubicBezTo>
                  <a:cubicBezTo>
                    <a:pt x="0" y="370"/>
                    <a:pt x="370" y="0"/>
                    <a:pt x="827" y="0"/>
                  </a:cubicBezTo>
                  <a:close/>
                </a:path>
              </a:pathLst>
            </a:custGeom>
            <a:solidFill>
              <a:srgbClr val="02B9E7"/>
            </a:solidFill>
            <a:ln>
              <a:noFill/>
            </a:ln>
          </p:spPr>
          <p:txBody>
            <a:bodyPr vert="horz" wrap="square" lIns="91404" tIns="45702" rIns="91404" bIns="45702" numCol="1" anchor="t" anchorCtr="0" compatLnSpc="1">
              <a:prstTxWarp prst="textNoShape">
                <a:avLst/>
              </a:prstTxWarp>
            </a:bodyPr>
            <a:lstStyle/>
            <a:p>
              <a:endParaRPr lang="zh-CN" altLang="en-US" sz="1799"/>
            </a:p>
          </p:txBody>
        </p:sp>
        <p:sp>
          <p:nvSpPr>
            <p:cNvPr id="30" name="Freeform 10"/>
            <p:cNvSpPr>
              <a:spLocks noEditPoints="1"/>
            </p:cNvSpPr>
            <p:nvPr/>
          </p:nvSpPr>
          <p:spPr bwMode="auto">
            <a:xfrm>
              <a:off x="6850001" y="2403005"/>
              <a:ext cx="726700" cy="778916"/>
            </a:xfrm>
            <a:custGeom>
              <a:avLst/>
              <a:gdLst>
                <a:gd name="T0" fmla="*/ 255 w 674"/>
                <a:gd name="T1" fmla="*/ 448 h 720"/>
                <a:gd name="T2" fmla="*/ 243 w 674"/>
                <a:gd name="T3" fmla="*/ 407 h 720"/>
                <a:gd name="T4" fmla="*/ 295 w 674"/>
                <a:gd name="T5" fmla="*/ 196 h 720"/>
                <a:gd name="T6" fmla="*/ 350 w 674"/>
                <a:gd name="T7" fmla="*/ 367 h 720"/>
                <a:gd name="T8" fmla="*/ 418 w 674"/>
                <a:gd name="T9" fmla="*/ 169 h 720"/>
                <a:gd name="T10" fmla="*/ 267 w 674"/>
                <a:gd name="T11" fmla="*/ 336 h 720"/>
                <a:gd name="T12" fmla="*/ 254 w 674"/>
                <a:gd name="T13" fmla="*/ 358 h 720"/>
                <a:gd name="T14" fmla="*/ 346 w 674"/>
                <a:gd name="T15" fmla="*/ 412 h 720"/>
                <a:gd name="T16" fmla="*/ 445 w 674"/>
                <a:gd name="T17" fmla="*/ 144 h 720"/>
                <a:gd name="T18" fmla="*/ 449 w 674"/>
                <a:gd name="T19" fmla="*/ 91 h 720"/>
                <a:gd name="T20" fmla="*/ 445 w 674"/>
                <a:gd name="T21" fmla="*/ 144 h 720"/>
                <a:gd name="T22" fmla="*/ 526 w 674"/>
                <a:gd name="T23" fmla="*/ 170 h 720"/>
                <a:gd name="T24" fmla="*/ 474 w 674"/>
                <a:gd name="T25" fmla="*/ 174 h 720"/>
                <a:gd name="T26" fmla="*/ 385 w 674"/>
                <a:gd name="T27" fmla="*/ 121 h 720"/>
                <a:gd name="T28" fmla="*/ 363 w 674"/>
                <a:gd name="T29" fmla="*/ 73 h 720"/>
                <a:gd name="T30" fmla="*/ 385 w 674"/>
                <a:gd name="T31" fmla="*/ 121 h 720"/>
                <a:gd name="T32" fmla="*/ 298 w 674"/>
                <a:gd name="T33" fmla="*/ 90 h 720"/>
                <a:gd name="T34" fmla="*/ 302 w 674"/>
                <a:gd name="T35" fmla="*/ 142 h 720"/>
                <a:gd name="T36" fmla="*/ 496 w 674"/>
                <a:gd name="T37" fmla="*/ 257 h 720"/>
                <a:gd name="T38" fmla="*/ 543 w 674"/>
                <a:gd name="T39" fmla="*/ 235 h 720"/>
                <a:gd name="T40" fmla="*/ 496 w 674"/>
                <a:gd name="T41" fmla="*/ 257 h 720"/>
                <a:gd name="T42" fmla="*/ 248 w 674"/>
                <a:gd name="T43" fmla="*/ 368 h 720"/>
                <a:gd name="T44" fmla="*/ 235 w 674"/>
                <a:gd name="T45" fmla="*/ 391 h 720"/>
                <a:gd name="T46" fmla="*/ 328 w 674"/>
                <a:gd name="T47" fmla="*/ 445 h 720"/>
                <a:gd name="T48" fmla="*/ 246 w 674"/>
                <a:gd name="T49" fmla="*/ 720 h 720"/>
                <a:gd name="T50" fmla="*/ 263 w 674"/>
                <a:gd name="T51" fmla="*/ 42 h 720"/>
                <a:gd name="T52" fmla="*/ 642 w 674"/>
                <a:gd name="T53" fmla="*/ 204 h 720"/>
                <a:gd name="T54" fmla="*/ 648 w 674"/>
                <a:gd name="T55" fmla="*/ 313 h 720"/>
                <a:gd name="T56" fmla="*/ 667 w 674"/>
                <a:gd name="T57" fmla="*/ 450 h 720"/>
                <a:gd name="T58" fmla="*/ 643 w 674"/>
                <a:gd name="T59" fmla="*/ 566 h 720"/>
                <a:gd name="T60" fmla="*/ 504 w 674"/>
                <a:gd name="T61" fmla="*/ 598 h 720"/>
                <a:gd name="T62" fmla="*/ 246 w 674"/>
                <a:gd name="T63" fmla="*/ 720 h 72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674" h="720">
                  <a:moveTo>
                    <a:pt x="243" y="407"/>
                  </a:moveTo>
                  <a:cubicBezTo>
                    <a:pt x="236" y="421"/>
                    <a:pt x="241" y="439"/>
                    <a:pt x="255" y="448"/>
                  </a:cubicBezTo>
                  <a:cubicBezTo>
                    <a:pt x="267" y="455"/>
                    <a:pt x="282" y="453"/>
                    <a:pt x="292" y="444"/>
                  </a:cubicBezTo>
                  <a:lnTo>
                    <a:pt x="243" y="407"/>
                  </a:lnTo>
                  <a:close/>
                  <a:moveTo>
                    <a:pt x="418" y="169"/>
                  </a:moveTo>
                  <a:cubicBezTo>
                    <a:pt x="373" y="143"/>
                    <a:pt x="318" y="155"/>
                    <a:pt x="295" y="196"/>
                  </a:cubicBezTo>
                  <a:cubicBezTo>
                    <a:pt x="270" y="238"/>
                    <a:pt x="302" y="284"/>
                    <a:pt x="280" y="327"/>
                  </a:cubicBezTo>
                  <a:lnTo>
                    <a:pt x="350" y="367"/>
                  </a:lnTo>
                  <a:cubicBezTo>
                    <a:pt x="376" y="327"/>
                    <a:pt x="432" y="331"/>
                    <a:pt x="456" y="289"/>
                  </a:cubicBezTo>
                  <a:cubicBezTo>
                    <a:pt x="480" y="249"/>
                    <a:pt x="462" y="195"/>
                    <a:pt x="418" y="169"/>
                  </a:cubicBezTo>
                  <a:close/>
                  <a:moveTo>
                    <a:pt x="342" y="393"/>
                  </a:moveTo>
                  <a:lnTo>
                    <a:pt x="267" y="336"/>
                  </a:lnTo>
                  <a:cubicBezTo>
                    <a:pt x="261" y="331"/>
                    <a:pt x="253" y="333"/>
                    <a:pt x="250" y="339"/>
                  </a:cubicBezTo>
                  <a:cubicBezTo>
                    <a:pt x="246" y="345"/>
                    <a:pt x="248" y="354"/>
                    <a:pt x="254" y="358"/>
                  </a:cubicBezTo>
                  <a:lnTo>
                    <a:pt x="329" y="416"/>
                  </a:lnTo>
                  <a:cubicBezTo>
                    <a:pt x="335" y="420"/>
                    <a:pt x="343" y="418"/>
                    <a:pt x="346" y="412"/>
                  </a:cubicBezTo>
                  <a:cubicBezTo>
                    <a:pt x="350" y="406"/>
                    <a:pt x="348" y="397"/>
                    <a:pt x="342" y="393"/>
                  </a:cubicBezTo>
                  <a:close/>
                  <a:moveTo>
                    <a:pt x="445" y="144"/>
                  </a:moveTo>
                  <a:lnTo>
                    <a:pt x="468" y="102"/>
                  </a:lnTo>
                  <a:lnTo>
                    <a:pt x="449" y="91"/>
                  </a:lnTo>
                  <a:lnTo>
                    <a:pt x="426" y="133"/>
                  </a:lnTo>
                  <a:lnTo>
                    <a:pt x="445" y="144"/>
                  </a:lnTo>
                  <a:close/>
                  <a:moveTo>
                    <a:pt x="485" y="193"/>
                  </a:moveTo>
                  <a:lnTo>
                    <a:pt x="526" y="170"/>
                  </a:lnTo>
                  <a:lnTo>
                    <a:pt x="515" y="150"/>
                  </a:lnTo>
                  <a:lnTo>
                    <a:pt x="474" y="174"/>
                  </a:lnTo>
                  <a:lnTo>
                    <a:pt x="485" y="193"/>
                  </a:lnTo>
                  <a:close/>
                  <a:moveTo>
                    <a:pt x="385" y="121"/>
                  </a:moveTo>
                  <a:lnTo>
                    <a:pt x="385" y="73"/>
                  </a:lnTo>
                  <a:lnTo>
                    <a:pt x="363" y="73"/>
                  </a:lnTo>
                  <a:lnTo>
                    <a:pt x="363" y="121"/>
                  </a:lnTo>
                  <a:lnTo>
                    <a:pt x="385" y="121"/>
                  </a:lnTo>
                  <a:close/>
                  <a:moveTo>
                    <a:pt x="321" y="131"/>
                  </a:moveTo>
                  <a:lnTo>
                    <a:pt x="298" y="90"/>
                  </a:lnTo>
                  <a:lnTo>
                    <a:pt x="278" y="101"/>
                  </a:lnTo>
                  <a:lnTo>
                    <a:pt x="302" y="142"/>
                  </a:lnTo>
                  <a:lnTo>
                    <a:pt x="321" y="131"/>
                  </a:lnTo>
                  <a:close/>
                  <a:moveTo>
                    <a:pt x="496" y="257"/>
                  </a:moveTo>
                  <a:lnTo>
                    <a:pt x="543" y="257"/>
                  </a:lnTo>
                  <a:lnTo>
                    <a:pt x="543" y="235"/>
                  </a:lnTo>
                  <a:lnTo>
                    <a:pt x="496" y="235"/>
                  </a:lnTo>
                  <a:lnTo>
                    <a:pt x="496" y="257"/>
                  </a:lnTo>
                  <a:close/>
                  <a:moveTo>
                    <a:pt x="324" y="426"/>
                  </a:moveTo>
                  <a:lnTo>
                    <a:pt x="248" y="368"/>
                  </a:lnTo>
                  <a:cubicBezTo>
                    <a:pt x="242" y="364"/>
                    <a:pt x="235" y="365"/>
                    <a:pt x="231" y="372"/>
                  </a:cubicBezTo>
                  <a:cubicBezTo>
                    <a:pt x="227" y="378"/>
                    <a:pt x="229" y="386"/>
                    <a:pt x="235" y="391"/>
                  </a:cubicBezTo>
                  <a:lnTo>
                    <a:pt x="311" y="448"/>
                  </a:lnTo>
                  <a:cubicBezTo>
                    <a:pt x="316" y="453"/>
                    <a:pt x="324" y="451"/>
                    <a:pt x="328" y="445"/>
                  </a:cubicBezTo>
                  <a:cubicBezTo>
                    <a:pt x="331" y="439"/>
                    <a:pt x="329" y="430"/>
                    <a:pt x="324" y="426"/>
                  </a:cubicBezTo>
                  <a:close/>
                  <a:moveTo>
                    <a:pt x="246" y="720"/>
                  </a:moveTo>
                  <a:cubicBezTo>
                    <a:pt x="254" y="663"/>
                    <a:pt x="254" y="603"/>
                    <a:pt x="239" y="550"/>
                  </a:cubicBezTo>
                  <a:cubicBezTo>
                    <a:pt x="0" y="415"/>
                    <a:pt x="62" y="105"/>
                    <a:pt x="263" y="42"/>
                  </a:cubicBezTo>
                  <a:cubicBezTo>
                    <a:pt x="369" y="0"/>
                    <a:pt x="513" y="25"/>
                    <a:pt x="606" y="119"/>
                  </a:cubicBezTo>
                  <a:cubicBezTo>
                    <a:pt x="674" y="187"/>
                    <a:pt x="642" y="204"/>
                    <a:pt x="642" y="204"/>
                  </a:cubicBezTo>
                  <a:lnTo>
                    <a:pt x="627" y="213"/>
                  </a:lnTo>
                  <a:cubicBezTo>
                    <a:pt x="635" y="245"/>
                    <a:pt x="650" y="305"/>
                    <a:pt x="648" y="313"/>
                  </a:cubicBezTo>
                  <a:cubicBezTo>
                    <a:pt x="645" y="324"/>
                    <a:pt x="633" y="336"/>
                    <a:pt x="633" y="336"/>
                  </a:cubicBezTo>
                  <a:lnTo>
                    <a:pt x="667" y="450"/>
                  </a:lnTo>
                  <a:lnTo>
                    <a:pt x="636" y="462"/>
                  </a:lnTo>
                  <a:cubicBezTo>
                    <a:pt x="643" y="499"/>
                    <a:pt x="647" y="530"/>
                    <a:pt x="643" y="566"/>
                  </a:cubicBezTo>
                  <a:cubicBezTo>
                    <a:pt x="643" y="572"/>
                    <a:pt x="622" y="590"/>
                    <a:pt x="606" y="591"/>
                  </a:cubicBezTo>
                  <a:lnTo>
                    <a:pt x="504" y="598"/>
                  </a:lnTo>
                  <a:lnTo>
                    <a:pt x="510" y="720"/>
                  </a:lnTo>
                  <a:lnTo>
                    <a:pt x="246" y="720"/>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4" tIns="45702" rIns="91404" bIns="45702" numCol="1" anchor="t" anchorCtr="0" compatLnSpc="1">
              <a:prstTxWarp prst="textNoShape">
                <a:avLst/>
              </a:prstTxWarp>
            </a:bodyPr>
            <a:lstStyle/>
            <a:p>
              <a:endParaRPr lang="zh-CN" altLang="en-US" sz="1799"/>
            </a:p>
          </p:txBody>
        </p:sp>
      </p:grpSp>
    </p:spTree>
    <p:extLst>
      <p:ext uri="{BB962C8B-B14F-4D97-AF65-F5344CB8AC3E}">
        <p14:creationId xmlns:p14="http://schemas.microsoft.com/office/powerpoint/2010/main" val="117638736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advTm="0">
        <p15:prstTrans prst="peelOff"/>
      </p:transition>
    </mc:Choice>
    <mc:Fallback xmlns="">
      <p:transition spd="slow" advTm="0">
        <p:fade/>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TextBox 54"/>
          <p:cNvSpPr txBox="1"/>
          <p:nvPr/>
        </p:nvSpPr>
        <p:spPr>
          <a:xfrm>
            <a:off x="780833" y="309638"/>
            <a:ext cx="5974331" cy="584733"/>
          </a:xfrm>
          <a:prstGeom prst="rect">
            <a:avLst/>
          </a:prstGeom>
          <a:noFill/>
        </p:spPr>
        <p:txBody>
          <a:bodyPr wrap="square" lIns="91398" tIns="45699" rIns="91398" bIns="45699" rtlCol="0">
            <a:spAutoFit/>
          </a:bodyPr>
          <a:lstStyle>
            <a:defPPr>
              <a:defRPr lang="zh-CN"/>
            </a:defPPr>
            <a:lvl1pPr>
              <a:defRPr sz="3200">
                <a:solidFill>
                  <a:schemeClr val="tx1">
                    <a:lumMod val="75000"/>
                  </a:schemeClr>
                </a:solidFill>
                <a:latin typeface="方正卡通简体" pitchFamily="65" charset="-122"/>
                <a:ea typeface="方正卡通简体" pitchFamily="65" charset="-122"/>
              </a:defRPr>
            </a:lvl1pPr>
          </a:lstStyle>
          <a:p>
            <a:pPr algn="just">
              <a:defRPr/>
            </a:pPr>
            <a:r>
              <a:rPr lang="zh-CN" altLang="en-US" b="1" kern="0" dirty="0">
                <a:latin typeface="微软雅黑" panose="020B0503020204020204" pitchFamily="34" charset="-122"/>
                <a:ea typeface="微软雅黑" panose="020B0503020204020204" pitchFamily="34" charset="-122"/>
              </a:rPr>
              <a:t>输入输出设备</a:t>
            </a:r>
          </a:p>
        </p:txBody>
      </p:sp>
      <p:grpSp>
        <p:nvGrpSpPr>
          <p:cNvPr id="2" name="组合 1"/>
          <p:cNvGrpSpPr/>
          <p:nvPr/>
        </p:nvGrpSpPr>
        <p:grpSpPr>
          <a:xfrm>
            <a:off x="265635" y="269251"/>
            <a:ext cx="438352" cy="621987"/>
            <a:chOff x="265635" y="269251"/>
            <a:chExt cx="438352" cy="621987"/>
          </a:xfrm>
        </p:grpSpPr>
        <p:sp>
          <p:nvSpPr>
            <p:cNvPr id="5" name="Freeform 5"/>
            <p:cNvSpPr>
              <a:spLocks/>
            </p:cNvSpPr>
            <p:nvPr/>
          </p:nvSpPr>
          <p:spPr bwMode="auto">
            <a:xfrm>
              <a:off x="269585" y="269251"/>
              <a:ext cx="262616" cy="266567"/>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EB0"/>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6" name="Freeform 6"/>
            <p:cNvSpPr>
              <a:spLocks/>
            </p:cNvSpPr>
            <p:nvPr/>
          </p:nvSpPr>
          <p:spPr bwMode="auto">
            <a:xfrm>
              <a:off x="441371" y="443010"/>
              <a:ext cx="262616" cy="268540"/>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EB0"/>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7" name="Freeform 7"/>
            <p:cNvSpPr>
              <a:spLocks/>
            </p:cNvSpPr>
            <p:nvPr/>
          </p:nvSpPr>
          <p:spPr bwMode="auto">
            <a:xfrm>
              <a:off x="265635" y="624671"/>
              <a:ext cx="260640" cy="266567"/>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EB0"/>
            </a:solidFill>
            <a:ln>
              <a:noFill/>
            </a:ln>
          </p:spPr>
          <p:txBody>
            <a:bodyPr vert="horz" wrap="square" lIns="91398" tIns="45699" rIns="91398" bIns="45699" numCol="1" anchor="t" anchorCtr="0" compatLnSpc="1">
              <a:prstTxWarp prst="textNoShape">
                <a:avLst/>
              </a:prstTxWarp>
            </a:bodyPr>
            <a:lstStyle/>
            <a:p>
              <a:endParaRPr lang="zh-CN" altLang="en-US" sz="1799"/>
            </a:p>
          </p:txBody>
        </p:sp>
      </p:grpSp>
      <p:sp>
        <p:nvSpPr>
          <p:cNvPr id="8" name="Freeform 5"/>
          <p:cNvSpPr>
            <a:spLocks/>
          </p:cNvSpPr>
          <p:nvPr/>
        </p:nvSpPr>
        <p:spPr bwMode="auto">
          <a:xfrm>
            <a:off x="1186989" y="1413566"/>
            <a:ext cx="304681" cy="4308380"/>
          </a:xfrm>
          <a:custGeom>
            <a:avLst/>
            <a:gdLst>
              <a:gd name="T0" fmla="*/ 175 w 351"/>
              <a:gd name="T1" fmla="*/ 0 h 4948"/>
              <a:gd name="T2" fmla="*/ 175 w 351"/>
              <a:gd name="T3" fmla="*/ 0 h 4948"/>
              <a:gd name="T4" fmla="*/ 351 w 351"/>
              <a:gd name="T5" fmla="*/ 176 h 4948"/>
              <a:gd name="T6" fmla="*/ 351 w 351"/>
              <a:gd name="T7" fmla="*/ 4772 h 4948"/>
              <a:gd name="T8" fmla="*/ 175 w 351"/>
              <a:gd name="T9" fmla="*/ 4948 h 4948"/>
              <a:gd name="T10" fmla="*/ 175 w 351"/>
              <a:gd name="T11" fmla="*/ 4948 h 4948"/>
              <a:gd name="T12" fmla="*/ 0 w 351"/>
              <a:gd name="T13" fmla="*/ 4772 h 4948"/>
              <a:gd name="T14" fmla="*/ 0 w 351"/>
              <a:gd name="T15" fmla="*/ 176 h 4948"/>
              <a:gd name="T16" fmla="*/ 175 w 351"/>
              <a:gd name="T17" fmla="*/ 0 h 49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51" h="4948">
                <a:moveTo>
                  <a:pt x="175" y="0"/>
                </a:moveTo>
                <a:lnTo>
                  <a:pt x="175" y="0"/>
                </a:lnTo>
                <a:cubicBezTo>
                  <a:pt x="272" y="0"/>
                  <a:pt x="351" y="79"/>
                  <a:pt x="351" y="176"/>
                </a:cubicBezTo>
                <a:lnTo>
                  <a:pt x="351" y="4772"/>
                </a:lnTo>
                <a:cubicBezTo>
                  <a:pt x="351" y="4869"/>
                  <a:pt x="272" y="4948"/>
                  <a:pt x="175" y="4948"/>
                </a:cubicBezTo>
                <a:lnTo>
                  <a:pt x="175" y="4948"/>
                </a:lnTo>
                <a:cubicBezTo>
                  <a:pt x="79" y="4948"/>
                  <a:pt x="0" y="4869"/>
                  <a:pt x="0" y="4772"/>
                </a:cubicBezTo>
                <a:lnTo>
                  <a:pt x="0" y="176"/>
                </a:lnTo>
                <a:cubicBezTo>
                  <a:pt x="0" y="79"/>
                  <a:pt x="79" y="0"/>
                  <a:pt x="175" y="0"/>
                </a:cubicBezTo>
                <a:close/>
              </a:path>
            </a:pathLst>
          </a:custGeom>
          <a:solidFill>
            <a:srgbClr val="C1C0C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8" tIns="45699" rIns="91398" bIns="45699" numCol="1" anchor="t" anchorCtr="0" compatLnSpc="1">
            <a:prstTxWarp prst="textNoShape">
              <a:avLst/>
            </a:prstTxWarp>
          </a:bodyPr>
          <a:lstStyle/>
          <a:p>
            <a:endParaRPr lang="zh-CN" altLang="en-US" sz="1799"/>
          </a:p>
        </p:txBody>
      </p:sp>
      <p:sp>
        <p:nvSpPr>
          <p:cNvPr id="9" name="Freeform 6"/>
          <p:cNvSpPr>
            <a:spLocks/>
          </p:cNvSpPr>
          <p:nvPr/>
        </p:nvSpPr>
        <p:spPr bwMode="auto">
          <a:xfrm>
            <a:off x="1186989" y="1892805"/>
            <a:ext cx="304681" cy="3829143"/>
          </a:xfrm>
          <a:custGeom>
            <a:avLst/>
            <a:gdLst>
              <a:gd name="T0" fmla="*/ 175 w 351"/>
              <a:gd name="T1" fmla="*/ 0 h 4397"/>
              <a:gd name="T2" fmla="*/ 175 w 351"/>
              <a:gd name="T3" fmla="*/ 0 h 4397"/>
              <a:gd name="T4" fmla="*/ 351 w 351"/>
              <a:gd name="T5" fmla="*/ 143 h 4397"/>
              <a:gd name="T6" fmla="*/ 351 w 351"/>
              <a:gd name="T7" fmla="*/ 4254 h 4397"/>
              <a:gd name="T8" fmla="*/ 175 w 351"/>
              <a:gd name="T9" fmla="*/ 4397 h 4397"/>
              <a:gd name="T10" fmla="*/ 175 w 351"/>
              <a:gd name="T11" fmla="*/ 4397 h 4397"/>
              <a:gd name="T12" fmla="*/ 0 w 351"/>
              <a:gd name="T13" fmla="*/ 4254 h 4397"/>
              <a:gd name="T14" fmla="*/ 0 w 351"/>
              <a:gd name="T15" fmla="*/ 143 h 4397"/>
              <a:gd name="T16" fmla="*/ 175 w 351"/>
              <a:gd name="T17" fmla="*/ 0 h 43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51" h="4397">
                <a:moveTo>
                  <a:pt x="175" y="0"/>
                </a:moveTo>
                <a:lnTo>
                  <a:pt x="175" y="0"/>
                </a:lnTo>
                <a:cubicBezTo>
                  <a:pt x="272" y="0"/>
                  <a:pt x="351" y="64"/>
                  <a:pt x="351" y="143"/>
                </a:cubicBezTo>
                <a:lnTo>
                  <a:pt x="351" y="4254"/>
                </a:lnTo>
                <a:cubicBezTo>
                  <a:pt x="351" y="4332"/>
                  <a:pt x="272" y="4397"/>
                  <a:pt x="175" y="4397"/>
                </a:cubicBezTo>
                <a:lnTo>
                  <a:pt x="175" y="4397"/>
                </a:lnTo>
                <a:cubicBezTo>
                  <a:pt x="79" y="4397"/>
                  <a:pt x="0" y="4332"/>
                  <a:pt x="0" y="4254"/>
                </a:cubicBezTo>
                <a:lnTo>
                  <a:pt x="0" y="143"/>
                </a:lnTo>
                <a:cubicBezTo>
                  <a:pt x="0" y="64"/>
                  <a:pt x="79" y="0"/>
                  <a:pt x="175" y="0"/>
                </a:cubicBezTo>
                <a:close/>
              </a:path>
            </a:pathLst>
          </a:custGeom>
          <a:solidFill>
            <a:srgbClr val="00A3A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8" tIns="45699" rIns="91398" bIns="45699" numCol="1" anchor="t" anchorCtr="0" compatLnSpc="1">
            <a:prstTxWarp prst="textNoShape">
              <a:avLst/>
            </a:prstTxWarp>
          </a:bodyPr>
          <a:lstStyle/>
          <a:p>
            <a:endParaRPr lang="zh-CN" altLang="en-US" sz="1799"/>
          </a:p>
        </p:txBody>
      </p:sp>
      <p:sp>
        <p:nvSpPr>
          <p:cNvPr id="10" name="Oval 7"/>
          <p:cNvSpPr>
            <a:spLocks noChangeArrowheads="1"/>
          </p:cNvSpPr>
          <p:nvPr/>
        </p:nvSpPr>
        <p:spPr bwMode="auto">
          <a:xfrm>
            <a:off x="1056865" y="5353789"/>
            <a:ext cx="585559" cy="585559"/>
          </a:xfrm>
          <a:prstGeom prst="ellipse">
            <a:avLst/>
          </a:prstGeom>
          <a:solidFill>
            <a:srgbClr val="00A3A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8" tIns="45699" rIns="91398" bIns="45699" numCol="1" anchor="t" anchorCtr="0" compatLnSpc="1">
            <a:prstTxWarp prst="textNoShape">
              <a:avLst/>
            </a:prstTxWarp>
          </a:bodyPr>
          <a:lstStyle/>
          <a:p>
            <a:endParaRPr lang="zh-CN" altLang="en-US" sz="1799"/>
          </a:p>
        </p:txBody>
      </p:sp>
      <p:sp>
        <p:nvSpPr>
          <p:cNvPr id="11" name="Freeform 8"/>
          <p:cNvSpPr>
            <a:spLocks/>
          </p:cNvSpPr>
          <p:nvPr/>
        </p:nvSpPr>
        <p:spPr bwMode="auto">
          <a:xfrm>
            <a:off x="2361453" y="1413566"/>
            <a:ext cx="306268" cy="4308380"/>
          </a:xfrm>
          <a:custGeom>
            <a:avLst/>
            <a:gdLst>
              <a:gd name="T0" fmla="*/ 175 w 351"/>
              <a:gd name="T1" fmla="*/ 0 h 4948"/>
              <a:gd name="T2" fmla="*/ 175 w 351"/>
              <a:gd name="T3" fmla="*/ 0 h 4948"/>
              <a:gd name="T4" fmla="*/ 351 w 351"/>
              <a:gd name="T5" fmla="*/ 176 h 4948"/>
              <a:gd name="T6" fmla="*/ 351 w 351"/>
              <a:gd name="T7" fmla="*/ 4772 h 4948"/>
              <a:gd name="T8" fmla="*/ 175 w 351"/>
              <a:gd name="T9" fmla="*/ 4948 h 4948"/>
              <a:gd name="T10" fmla="*/ 175 w 351"/>
              <a:gd name="T11" fmla="*/ 4948 h 4948"/>
              <a:gd name="T12" fmla="*/ 0 w 351"/>
              <a:gd name="T13" fmla="*/ 4772 h 4948"/>
              <a:gd name="T14" fmla="*/ 0 w 351"/>
              <a:gd name="T15" fmla="*/ 176 h 4948"/>
              <a:gd name="T16" fmla="*/ 175 w 351"/>
              <a:gd name="T17" fmla="*/ 0 h 49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51" h="4948">
                <a:moveTo>
                  <a:pt x="175" y="0"/>
                </a:moveTo>
                <a:lnTo>
                  <a:pt x="175" y="0"/>
                </a:lnTo>
                <a:cubicBezTo>
                  <a:pt x="272" y="0"/>
                  <a:pt x="351" y="79"/>
                  <a:pt x="351" y="176"/>
                </a:cubicBezTo>
                <a:lnTo>
                  <a:pt x="351" y="4772"/>
                </a:lnTo>
                <a:cubicBezTo>
                  <a:pt x="351" y="4869"/>
                  <a:pt x="272" y="4948"/>
                  <a:pt x="175" y="4948"/>
                </a:cubicBezTo>
                <a:lnTo>
                  <a:pt x="175" y="4948"/>
                </a:lnTo>
                <a:cubicBezTo>
                  <a:pt x="79" y="4948"/>
                  <a:pt x="0" y="4869"/>
                  <a:pt x="0" y="4772"/>
                </a:cubicBezTo>
                <a:lnTo>
                  <a:pt x="0" y="176"/>
                </a:lnTo>
                <a:cubicBezTo>
                  <a:pt x="0" y="79"/>
                  <a:pt x="79" y="0"/>
                  <a:pt x="175" y="0"/>
                </a:cubicBezTo>
                <a:close/>
              </a:path>
            </a:pathLst>
          </a:custGeom>
          <a:solidFill>
            <a:srgbClr val="C1C0C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8" tIns="45699" rIns="91398" bIns="45699" numCol="1" anchor="t" anchorCtr="0" compatLnSpc="1">
            <a:prstTxWarp prst="textNoShape">
              <a:avLst/>
            </a:prstTxWarp>
          </a:bodyPr>
          <a:lstStyle/>
          <a:p>
            <a:endParaRPr lang="zh-CN" altLang="en-US" sz="1799"/>
          </a:p>
        </p:txBody>
      </p:sp>
      <p:sp>
        <p:nvSpPr>
          <p:cNvPr id="12" name="Freeform 9"/>
          <p:cNvSpPr>
            <a:spLocks/>
          </p:cNvSpPr>
          <p:nvPr/>
        </p:nvSpPr>
        <p:spPr bwMode="auto">
          <a:xfrm>
            <a:off x="2361453" y="2389499"/>
            <a:ext cx="306268" cy="3332449"/>
          </a:xfrm>
          <a:custGeom>
            <a:avLst/>
            <a:gdLst>
              <a:gd name="T0" fmla="*/ 175 w 351"/>
              <a:gd name="T1" fmla="*/ 0 h 3828"/>
              <a:gd name="T2" fmla="*/ 175 w 351"/>
              <a:gd name="T3" fmla="*/ 0 h 3828"/>
              <a:gd name="T4" fmla="*/ 351 w 351"/>
              <a:gd name="T5" fmla="*/ 124 h 3828"/>
              <a:gd name="T6" fmla="*/ 351 w 351"/>
              <a:gd name="T7" fmla="*/ 3703 h 3828"/>
              <a:gd name="T8" fmla="*/ 175 w 351"/>
              <a:gd name="T9" fmla="*/ 3828 h 3828"/>
              <a:gd name="T10" fmla="*/ 175 w 351"/>
              <a:gd name="T11" fmla="*/ 3828 h 3828"/>
              <a:gd name="T12" fmla="*/ 0 w 351"/>
              <a:gd name="T13" fmla="*/ 3703 h 3828"/>
              <a:gd name="T14" fmla="*/ 0 w 351"/>
              <a:gd name="T15" fmla="*/ 124 h 3828"/>
              <a:gd name="T16" fmla="*/ 175 w 351"/>
              <a:gd name="T17" fmla="*/ 0 h 38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51" h="3828">
                <a:moveTo>
                  <a:pt x="175" y="0"/>
                </a:moveTo>
                <a:lnTo>
                  <a:pt x="175" y="0"/>
                </a:lnTo>
                <a:cubicBezTo>
                  <a:pt x="272" y="0"/>
                  <a:pt x="351" y="56"/>
                  <a:pt x="351" y="124"/>
                </a:cubicBezTo>
                <a:lnTo>
                  <a:pt x="351" y="3703"/>
                </a:lnTo>
                <a:cubicBezTo>
                  <a:pt x="351" y="3772"/>
                  <a:pt x="272" y="3828"/>
                  <a:pt x="175" y="3828"/>
                </a:cubicBezTo>
                <a:lnTo>
                  <a:pt x="175" y="3828"/>
                </a:lnTo>
                <a:cubicBezTo>
                  <a:pt x="79" y="3828"/>
                  <a:pt x="0" y="3772"/>
                  <a:pt x="0" y="3703"/>
                </a:cubicBezTo>
                <a:lnTo>
                  <a:pt x="0" y="124"/>
                </a:lnTo>
                <a:cubicBezTo>
                  <a:pt x="0" y="56"/>
                  <a:pt x="79" y="0"/>
                  <a:pt x="175" y="0"/>
                </a:cubicBezTo>
                <a:close/>
              </a:path>
            </a:pathLst>
          </a:custGeom>
          <a:solidFill>
            <a:srgbClr val="93CA3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8" tIns="45699" rIns="91398" bIns="45699" numCol="1" anchor="t" anchorCtr="0" compatLnSpc="1">
            <a:prstTxWarp prst="textNoShape">
              <a:avLst/>
            </a:prstTxWarp>
          </a:bodyPr>
          <a:lstStyle/>
          <a:p>
            <a:endParaRPr lang="zh-CN" altLang="en-US" sz="1799"/>
          </a:p>
        </p:txBody>
      </p:sp>
      <p:sp>
        <p:nvSpPr>
          <p:cNvPr id="13" name="Oval 10"/>
          <p:cNvSpPr>
            <a:spLocks noChangeArrowheads="1"/>
          </p:cNvSpPr>
          <p:nvPr/>
        </p:nvSpPr>
        <p:spPr bwMode="auto">
          <a:xfrm>
            <a:off x="2231329" y="5353789"/>
            <a:ext cx="585559" cy="585559"/>
          </a:xfrm>
          <a:prstGeom prst="ellipse">
            <a:avLst/>
          </a:prstGeom>
          <a:solidFill>
            <a:srgbClr val="93CA3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8" tIns="45699" rIns="91398" bIns="45699" numCol="1" anchor="t" anchorCtr="0" compatLnSpc="1">
            <a:prstTxWarp prst="textNoShape">
              <a:avLst/>
            </a:prstTxWarp>
          </a:bodyPr>
          <a:lstStyle/>
          <a:p>
            <a:endParaRPr lang="zh-CN" altLang="en-US" sz="1799"/>
          </a:p>
        </p:txBody>
      </p:sp>
      <p:sp>
        <p:nvSpPr>
          <p:cNvPr id="14" name="Freeform 11"/>
          <p:cNvSpPr>
            <a:spLocks/>
          </p:cNvSpPr>
          <p:nvPr/>
        </p:nvSpPr>
        <p:spPr bwMode="auto">
          <a:xfrm>
            <a:off x="3461731" y="1413566"/>
            <a:ext cx="306268" cy="4308380"/>
          </a:xfrm>
          <a:custGeom>
            <a:avLst/>
            <a:gdLst>
              <a:gd name="T0" fmla="*/ 175 w 351"/>
              <a:gd name="T1" fmla="*/ 0 h 4948"/>
              <a:gd name="T2" fmla="*/ 175 w 351"/>
              <a:gd name="T3" fmla="*/ 0 h 4948"/>
              <a:gd name="T4" fmla="*/ 351 w 351"/>
              <a:gd name="T5" fmla="*/ 176 h 4948"/>
              <a:gd name="T6" fmla="*/ 351 w 351"/>
              <a:gd name="T7" fmla="*/ 4772 h 4948"/>
              <a:gd name="T8" fmla="*/ 175 w 351"/>
              <a:gd name="T9" fmla="*/ 4948 h 4948"/>
              <a:gd name="T10" fmla="*/ 175 w 351"/>
              <a:gd name="T11" fmla="*/ 4948 h 4948"/>
              <a:gd name="T12" fmla="*/ 0 w 351"/>
              <a:gd name="T13" fmla="*/ 4772 h 4948"/>
              <a:gd name="T14" fmla="*/ 0 w 351"/>
              <a:gd name="T15" fmla="*/ 176 h 4948"/>
              <a:gd name="T16" fmla="*/ 175 w 351"/>
              <a:gd name="T17" fmla="*/ 0 h 49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51" h="4948">
                <a:moveTo>
                  <a:pt x="175" y="0"/>
                </a:moveTo>
                <a:lnTo>
                  <a:pt x="175" y="0"/>
                </a:lnTo>
                <a:cubicBezTo>
                  <a:pt x="272" y="0"/>
                  <a:pt x="351" y="79"/>
                  <a:pt x="351" y="176"/>
                </a:cubicBezTo>
                <a:lnTo>
                  <a:pt x="351" y="4772"/>
                </a:lnTo>
                <a:cubicBezTo>
                  <a:pt x="351" y="4869"/>
                  <a:pt x="272" y="4948"/>
                  <a:pt x="175" y="4948"/>
                </a:cubicBezTo>
                <a:lnTo>
                  <a:pt x="175" y="4948"/>
                </a:lnTo>
                <a:cubicBezTo>
                  <a:pt x="79" y="4948"/>
                  <a:pt x="0" y="4869"/>
                  <a:pt x="0" y="4772"/>
                </a:cubicBezTo>
                <a:lnTo>
                  <a:pt x="0" y="176"/>
                </a:lnTo>
                <a:cubicBezTo>
                  <a:pt x="0" y="79"/>
                  <a:pt x="79" y="0"/>
                  <a:pt x="175" y="0"/>
                </a:cubicBezTo>
                <a:close/>
              </a:path>
            </a:pathLst>
          </a:custGeom>
          <a:solidFill>
            <a:srgbClr val="C1C0C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8" tIns="45699" rIns="91398" bIns="45699" numCol="1" anchor="t" anchorCtr="0" compatLnSpc="1">
            <a:prstTxWarp prst="textNoShape">
              <a:avLst/>
            </a:prstTxWarp>
          </a:bodyPr>
          <a:lstStyle/>
          <a:p>
            <a:endParaRPr lang="zh-CN" altLang="en-US" sz="1799"/>
          </a:p>
        </p:txBody>
      </p:sp>
      <p:sp>
        <p:nvSpPr>
          <p:cNvPr id="15" name="Freeform 12"/>
          <p:cNvSpPr>
            <a:spLocks/>
          </p:cNvSpPr>
          <p:nvPr/>
        </p:nvSpPr>
        <p:spPr bwMode="auto">
          <a:xfrm>
            <a:off x="3461731" y="1591295"/>
            <a:ext cx="306268" cy="4130649"/>
          </a:xfrm>
          <a:custGeom>
            <a:avLst/>
            <a:gdLst>
              <a:gd name="T0" fmla="*/ 175 w 351"/>
              <a:gd name="T1" fmla="*/ 0 h 4744"/>
              <a:gd name="T2" fmla="*/ 175 w 351"/>
              <a:gd name="T3" fmla="*/ 0 h 4744"/>
              <a:gd name="T4" fmla="*/ 351 w 351"/>
              <a:gd name="T5" fmla="*/ 154 h 4744"/>
              <a:gd name="T6" fmla="*/ 351 w 351"/>
              <a:gd name="T7" fmla="*/ 4589 h 4744"/>
              <a:gd name="T8" fmla="*/ 175 w 351"/>
              <a:gd name="T9" fmla="*/ 4744 h 4744"/>
              <a:gd name="T10" fmla="*/ 175 w 351"/>
              <a:gd name="T11" fmla="*/ 4744 h 4744"/>
              <a:gd name="T12" fmla="*/ 0 w 351"/>
              <a:gd name="T13" fmla="*/ 4589 h 4744"/>
              <a:gd name="T14" fmla="*/ 0 w 351"/>
              <a:gd name="T15" fmla="*/ 154 h 4744"/>
              <a:gd name="T16" fmla="*/ 175 w 351"/>
              <a:gd name="T17" fmla="*/ 0 h 47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51" h="4744">
                <a:moveTo>
                  <a:pt x="175" y="0"/>
                </a:moveTo>
                <a:lnTo>
                  <a:pt x="175" y="0"/>
                </a:lnTo>
                <a:cubicBezTo>
                  <a:pt x="272" y="0"/>
                  <a:pt x="351" y="69"/>
                  <a:pt x="351" y="154"/>
                </a:cubicBezTo>
                <a:lnTo>
                  <a:pt x="351" y="4589"/>
                </a:lnTo>
                <a:cubicBezTo>
                  <a:pt x="351" y="4674"/>
                  <a:pt x="272" y="4744"/>
                  <a:pt x="175" y="4744"/>
                </a:cubicBezTo>
                <a:lnTo>
                  <a:pt x="175" y="4744"/>
                </a:lnTo>
                <a:cubicBezTo>
                  <a:pt x="79" y="4744"/>
                  <a:pt x="0" y="4674"/>
                  <a:pt x="0" y="4589"/>
                </a:cubicBezTo>
                <a:lnTo>
                  <a:pt x="0" y="154"/>
                </a:lnTo>
                <a:cubicBezTo>
                  <a:pt x="0" y="69"/>
                  <a:pt x="79" y="0"/>
                  <a:pt x="175" y="0"/>
                </a:cubicBezTo>
                <a:close/>
              </a:path>
            </a:pathLst>
          </a:custGeom>
          <a:solidFill>
            <a:schemeClr val="accent6">
              <a:lumMod val="75000"/>
            </a:schemeClr>
          </a:solidFill>
          <a:ln>
            <a:noFill/>
          </a:ln>
          <a:extLst/>
        </p:spPr>
        <p:txBody>
          <a:bodyPr vert="horz" wrap="square" lIns="91398" tIns="45699" rIns="91398" bIns="45699" numCol="1" anchor="t" anchorCtr="0" compatLnSpc="1">
            <a:prstTxWarp prst="textNoShape">
              <a:avLst/>
            </a:prstTxWarp>
          </a:bodyPr>
          <a:lstStyle/>
          <a:p>
            <a:endParaRPr lang="zh-CN" altLang="en-US" sz="1799"/>
          </a:p>
        </p:txBody>
      </p:sp>
      <p:sp>
        <p:nvSpPr>
          <p:cNvPr id="16" name="Oval 13"/>
          <p:cNvSpPr>
            <a:spLocks noChangeArrowheads="1"/>
          </p:cNvSpPr>
          <p:nvPr/>
        </p:nvSpPr>
        <p:spPr bwMode="auto">
          <a:xfrm>
            <a:off x="3331607" y="5353789"/>
            <a:ext cx="585559" cy="585559"/>
          </a:xfrm>
          <a:prstGeom prst="ellipse">
            <a:avLst/>
          </a:prstGeom>
          <a:solidFill>
            <a:schemeClr val="accent6">
              <a:lumMod val="75000"/>
            </a:schemeClr>
          </a:solidFill>
          <a:ln>
            <a:noFill/>
          </a:ln>
          <a:extLst/>
        </p:spPr>
        <p:txBody>
          <a:bodyPr vert="horz" wrap="square" lIns="91398" tIns="45699" rIns="91398" bIns="45699" numCol="1" anchor="t" anchorCtr="0" compatLnSpc="1">
            <a:prstTxWarp prst="textNoShape">
              <a:avLst/>
            </a:prstTxWarp>
          </a:bodyPr>
          <a:lstStyle/>
          <a:p>
            <a:endParaRPr lang="zh-CN" altLang="en-US" sz="1799"/>
          </a:p>
        </p:txBody>
      </p:sp>
      <p:sp>
        <p:nvSpPr>
          <p:cNvPr id="17" name="Freeform 14"/>
          <p:cNvSpPr>
            <a:spLocks/>
          </p:cNvSpPr>
          <p:nvPr/>
        </p:nvSpPr>
        <p:spPr bwMode="auto">
          <a:xfrm>
            <a:off x="4703241" y="1413566"/>
            <a:ext cx="306268" cy="4308380"/>
          </a:xfrm>
          <a:custGeom>
            <a:avLst/>
            <a:gdLst>
              <a:gd name="T0" fmla="*/ 176 w 352"/>
              <a:gd name="T1" fmla="*/ 0 h 4948"/>
              <a:gd name="T2" fmla="*/ 176 w 352"/>
              <a:gd name="T3" fmla="*/ 0 h 4948"/>
              <a:gd name="T4" fmla="*/ 352 w 352"/>
              <a:gd name="T5" fmla="*/ 176 h 4948"/>
              <a:gd name="T6" fmla="*/ 352 w 352"/>
              <a:gd name="T7" fmla="*/ 4772 h 4948"/>
              <a:gd name="T8" fmla="*/ 176 w 352"/>
              <a:gd name="T9" fmla="*/ 4948 h 4948"/>
              <a:gd name="T10" fmla="*/ 176 w 352"/>
              <a:gd name="T11" fmla="*/ 4948 h 4948"/>
              <a:gd name="T12" fmla="*/ 0 w 352"/>
              <a:gd name="T13" fmla="*/ 4772 h 4948"/>
              <a:gd name="T14" fmla="*/ 0 w 352"/>
              <a:gd name="T15" fmla="*/ 176 h 4948"/>
              <a:gd name="T16" fmla="*/ 176 w 352"/>
              <a:gd name="T17" fmla="*/ 0 h 49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52" h="4948">
                <a:moveTo>
                  <a:pt x="176" y="0"/>
                </a:moveTo>
                <a:lnTo>
                  <a:pt x="176" y="0"/>
                </a:lnTo>
                <a:cubicBezTo>
                  <a:pt x="273" y="0"/>
                  <a:pt x="352" y="79"/>
                  <a:pt x="352" y="176"/>
                </a:cubicBezTo>
                <a:lnTo>
                  <a:pt x="352" y="4772"/>
                </a:lnTo>
                <a:cubicBezTo>
                  <a:pt x="352" y="4869"/>
                  <a:pt x="273" y="4948"/>
                  <a:pt x="176" y="4948"/>
                </a:cubicBezTo>
                <a:lnTo>
                  <a:pt x="176" y="4948"/>
                </a:lnTo>
                <a:cubicBezTo>
                  <a:pt x="79" y="4948"/>
                  <a:pt x="0" y="4869"/>
                  <a:pt x="0" y="4772"/>
                </a:cubicBezTo>
                <a:lnTo>
                  <a:pt x="0" y="176"/>
                </a:lnTo>
                <a:cubicBezTo>
                  <a:pt x="0" y="79"/>
                  <a:pt x="79" y="0"/>
                  <a:pt x="176" y="0"/>
                </a:cubicBezTo>
                <a:close/>
              </a:path>
            </a:pathLst>
          </a:custGeom>
          <a:solidFill>
            <a:srgbClr val="C1C0C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8" tIns="45699" rIns="91398" bIns="45699" numCol="1" anchor="t" anchorCtr="0" compatLnSpc="1">
            <a:prstTxWarp prst="textNoShape">
              <a:avLst/>
            </a:prstTxWarp>
          </a:bodyPr>
          <a:lstStyle/>
          <a:p>
            <a:endParaRPr lang="zh-CN" altLang="en-US" sz="1799"/>
          </a:p>
        </p:txBody>
      </p:sp>
      <p:sp>
        <p:nvSpPr>
          <p:cNvPr id="18" name="Freeform 15"/>
          <p:cNvSpPr>
            <a:spLocks/>
          </p:cNvSpPr>
          <p:nvPr/>
        </p:nvSpPr>
        <p:spPr bwMode="auto">
          <a:xfrm>
            <a:off x="4703241" y="2061387"/>
            <a:ext cx="306268" cy="3660561"/>
          </a:xfrm>
          <a:custGeom>
            <a:avLst/>
            <a:gdLst>
              <a:gd name="T0" fmla="*/ 176 w 352"/>
              <a:gd name="T1" fmla="*/ 0 h 4581"/>
              <a:gd name="T2" fmla="*/ 176 w 352"/>
              <a:gd name="T3" fmla="*/ 0 h 4581"/>
              <a:gd name="T4" fmla="*/ 352 w 352"/>
              <a:gd name="T5" fmla="*/ 149 h 4581"/>
              <a:gd name="T6" fmla="*/ 352 w 352"/>
              <a:gd name="T7" fmla="*/ 4432 h 4581"/>
              <a:gd name="T8" fmla="*/ 176 w 352"/>
              <a:gd name="T9" fmla="*/ 4581 h 4581"/>
              <a:gd name="T10" fmla="*/ 176 w 352"/>
              <a:gd name="T11" fmla="*/ 4581 h 4581"/>
              <a:gd name="T12" fmla="*/ 0 w 352"/>
              <a:gd name="T13" fmla="*/ 4432 h 4581"/>
              <a:gd name="T14" fmla="*/ 0 w 352"/>
              <a:gd name="T15" fmla="*/ 149 h 4581"/>
              <a:gd name="T16" fmla="*/ 176 w 352"/>
              <a:gd name="T17" fmla="*/ 0 h 45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52" h="4581">
                <a:moveTo>
                  <a:pt x="176" y="0"/>
                </a:moveTo>
                <a:lnTo>
                  <a:pt x="176" y="0"/>
                </a:lnTo>
                <a:cubicBezTo>
                  <a:pt x="273" y="0"/>
                  <a:pt x="352" y="67"/>
                  <a:pt x="352" y="149"/>
                </a:cubicBezTo>
                <a:lnTo>
                  <a:pt x="352" y="4432"/>
                </a:lnTo>
                <a:cubicBezTo>
                  <a:pt x="352" y="4514"/>
                  <a:pt x="273" y="4581"/>
                  <a:pt x="176" y="4581"/>
                </a:cubicBezTo>
                <a:lnTo>
                  <a:pt x="176" y="4581"/>
                </a:lnTo>
                <a:cubicBezTo>
                  <a:pt x="79" y="4581"/>
                  <a:pt x="0" y="4514"/>
                  <a:pt x="0" y="4432"/>
                </a:cubicBezTo>
                <a:lnTo>
                  <a:pt x="0" y="149"/>
                </a:lnTo>
                <a:cubicBezTo>
                  <a:pt x="0" y="67"/>
                  <a:pt x="79" y="0"/>
                  <a:pt x="176" y="0"/>
                </a:cubicBezTo>
                <a:close/>
              </a:path>
            </a:pathLst>
          </a:custGeom>
          <a:solidFill>
            <a:srgbClr val="FFC000"/>
          </a:solidFill>
          <a:ln>
            <a:noFill/>
          </a:ln>
          <a:extLst/>
        </p:spPr>
        <p:txBody>
          <a:bodyPr vert="horz" wrap="square" lIns="91398" tIns="45699" rIns="91398" bIns="45699" numCol="1" anchor="t" anchorCtr="0" compatLnSpc="1">
            <a:prstTxWarp prst="textNoShape">
              <a:avLst/>
            </a:prstTxWarp>
          </a:bodyPr>
          <a:lstStyle/>
          <a:p>
            <a:endParaRPr lang="zh-CN" altLang="en-US" sz="1799"/>
          </a:p>
        </p:txBody>
      </p:sp>
      <p:sp>
        <p:nvSpPr>
          <p:cNvPr id="19" name="Oval 16"/>
          <p:cNvSpPr>
            <a:spLocks noChangeArrowheads="1"/>
          </p:cNvSpPr>
          <p:nvPr/>
        </p:nvSpPr>
        <p:spPr bwMode="auto">
          <a:xfrm>
            <a:off x="4574706" y="5353789"/>
            <a:ext cx="585559" cy="585559"/>
          </a:xfrm>
          <a:prstGeom prst="ellipse">
            <a:avLst/>
          </a:prstGeom>
          <a:solidFill>
            <a:srgbClr val="FFC000"/>
          </a:solidFill>
          <a:ln>
            <a:noFill/>
          </a:ln>
          <a:extLst/>
        </p:spPr>
        <p:txBody>
          <a:bodyPr vert="horz" wrap="square" lIns="91398" tIns="45699" rIns="91398" bIns="45699" numCol="1" anchor="t" anchorCtr="0" compatLnSpc="1">
            <a:prstTxWarp prst="textNoShape">
              <a:avLst/>
            </a:prstTxWarp>
          </a:bodyPr>
          <a:lstStyle/>
          <a:p>
            <a:endParaRPr lang="zh-CN" altLang="en-US" sz="1799"/>
          </a:p>
        </p:txBody>
      </p:sp>
      <p:sp>
        <p:nvSpPr>
          <p:cNvPr id="25" name="矩形 83"/>
          <p:cNvSpPr>
            <a:spLocks noChangeArrowheads="1"/>
          </p:cNvSpPr>
          <p:nvPr/>
        </p:nvSpPr>
        <p:spPr bwMode="auto">
          <a:xfrm>
            <a:off x="6217993" y="1235962"/>
            <a:ext cx="5107491" cy="4981870"/>
          </a:xfrm>
          <a:prstGeom prst="rect">
            <a:avLst/>
          </a:prstGeom>
          <a:solidFill>
            <a:srgbClr val="F2F2F2"/>
          </a:solidFill>
          <a:ln w="9525" cmpd="sng">
            <a:solidFill>
              <a:schemeClr val="accent1"/>
            </a:solidFill>
            <a:miter lim="800000"/>
            <a:headEnd/>
            <a:tailEnd/>
          </a:ln>
        </p:spPr>
        <p:txBody>
          <a:bodyPr lIns="91398" tIns="45699" rIns="91398" bIns="45699"/>
          <a:lstStyle/>
          <a:p>
            <a:endParaRPr lang="zh-CN" altLang="en-US" sz="1799"/>
          </a:p>
        </p:txBody>
      </p:sp>
      <p:sp>
        <p:nvSpPr>
          <p:cNvPr id="27" name="Freeform 12"/>
          <p:cNvSpPr>
            <a:spLocks/>
          </p:cNvSpPr>
          <p:nvPr/>
        </p:nvSpPr>
        <p:spPr bwMode="auto">
          <a:xfrm>
            <a:off x="6143407" y="1089971"/>
            <a:ext cx="528432" cy="530018"/>
          </a:xfrm>
          <a:custGeom>
            <a:avLst/>
            <a:gdLst>
              <a:gd name="T0" fmla="*/ 0 w 1446"/>
              <a:gd name="T1" fmla="*/ 0 h 1446"/>
              <a:gd name="T2" fmla="*/ 1446 w 1446"/>
              <a:gd name="T3" fmla="*/ 0 h 1446"/>
              <a:gd name="T4" fmla="*/ 1446 w 1446"/>
              <a:gd name="T5" fmla="*/ 458 h 1446"/>
              <a:gd name="T6" fmla="*/ 438 w 1446"/>
              <a:gd name="T7" fmla="*/ 458 h 1446"/>
              <a:gd name="T8" fmla="*/ 438 w 1446"/>
              <a:gd name="T9" fmla="*/ 1446 h 1446"/>
              <a:gd name="T10" fmla="*/ 0 w 1446"/>
              <a:gd name="T11" fmla="*/ 1446 h 1446"/>
              <a:gd name="T12" fmla="*/ 0 w 1446"/>
              <a:gd name="T13" fmla="*/ 0 h 1446"/>
            </a:gdLst>
            <a:ahLst/>
            <a:cxnLst>
              <a:cxn ang="0">
                <a:pos x="T0" y="T1"/>
              </a:cxn>
              <a:cxn ang="0">
                <a:pos x="T2" y="T3"/>
              </a:cxn>
              <a:cxn ang="0">
                <a:pos x="T4" y="T5"/>
              </a:cxn>
              <a:cxn ang="0">
                <a:pos x="T6" y="T7"/>
              </a:cxn>
              <a:cxn ang="0">
                <a:pos x="T8" y="T9"/>
              </a:cxn>
              <a:cxn ang="0">
                <a:pos x="T10" y="T11"/>
              </a:cxn>
              <a:cxn ang="0">
                <a:pos x="T12" y="T13"/>
              </a:cxn>
            </a:cxnLst>
            <a:rect l="0" t="0" r="r" b="b"/>
            <a:pathLst>
              <a:path w="1446" h="1446">
                <a:moveTo>
                  <a:pt x="0" y="0"/>
                </a:moveTo>
                <a:lnTo>
                  <a:pt x="1446" y="0"/>
                </a:lnTo>
                <a:lnTo>
                  <a:pt x="1446" y="458"/>
                </a:lnTo>
                <a:lnTo>
                  <a:pt x="438" y="458"/>
                </a:lnTo>
                <a:lnTo>
                  <a:pt x="438" y="1446"/>
                </a:lnTo>
                <a:lnTo>
                  <a:pt x="0" y="1446"/>
                </a:lnTo>
                <a:lnTo>
                  <a:pt x="0" y="0"/>
                </a:lnTo>
                <a:close/>
              </a:path>
            </a:pathLst>
          </a:custGeom>
          <a:solidFill>
            <a:srgbClr val="04BEB0"/>
          </a:solidFill>
          <a:ln>
            <a:noFill/>
          </a:ln>
          <a:extLst/>
        </p:spPr>
        <p:txBody>
          <a:bodyPr lIns="91398" tIns="45699" rIns="91398" bIns="45699"/>
          <a:lstStyle/>
          <a:p>
            <a:endParaRPr lang="zh-CN" altLang="en-US" sz="1799"/>
          </a:p>
        </p:txBody>
      </p:sp>
      <p:sp>
        <p:nvSpPr>
          <p:cNvPr id="28" name="Freeform 12"/>
          <p:cNvSpPr>
            <a:spLocks/>
          </p:cNvSpPr>
          <p:nvPr/>
        </p:nvSpPr>
        <p:spPr bwMode="auto">
          <a:xfrm flipH="1" flipV="1">
            <a:off x="10904816" y="5802770"/>
            <a:ext cx="528432" cy="530018"/>
          </a:xfrm>
          <a:custGeom>
            <a:avLst/>
            <a:gdLst>
              <a:gd name="T0" fmla="*/ 0 w 1446"/>
              <a:gd name="T1" fmla="*/ 0 h 1446"/>
              <a:gd name="T2" fmla="*/ 1446 w 1446"/>
              <a:gd name="T3" fmla="*/ 0 h 1446"/>
              <a:gd name="T4" fmla="*/ 1446 w 1446"/>
              <a:gd name="T5" fmla="*/ 458 h 1446"/>
              <a:gd name="T6" fmla="*/ 438 w 1446"/>
              <a:gd name="T7" fmla="*/ 458 h 1446"/>
              <a:gd name="T8" fmla="*/ 438 w 1446"/>
              <a:gd name="T9" fmla="*/ 1446 h 1446"/>
              <a:gd name="T10" fmla="*/ 0 w 1446"/>
              <a:gd name="T11" fmla="*/ 1446 h 1446"/>
              <a:gd name="T12" fmla="*/ 0 w 1446"/>
              <a:gd name="T13" fmla="*/ 0 h 1446"/>
            </a:gdLst>
            <a:ahLst/>
            <a:cxnLst>
              <a:cxn ang="0">
                <a:pos x="T0" y="T1"/>
              </a:cxn>
              <a:cxn ang="0">
                <a:pos x="T2" y="T3"/>
              </a:cxn>
              <a:cxn ang="0">
                <a:pos x="T4" y="T5"/>
              </a:cxn>
              <a:cxn ang="0">
                <a:pos x="T6" y="T7"/>
              </a:cxn>
              <a:cxn ang="0">
                <a:pos x="T8" y="T9"/>
              </a:cxn>
              <a:cxn ang="0">
                <a:pos x="T10" y="T11"/>
              </a:cxn>
              <a:cxn ang="0">
                <a:pos x="T12" y="T13"/>
              </a:cxn>
            </a:cxnLst>
            <a:rect l="0" t="0" r="r" b="b"/>
            <a:pathLst>
              <a:path w="1446" h="1446">
                <a:moveTo>
                  <a:pt x="0" y="0"/>
                </a:moveTo>
                <a:lnTo>
                  <a:pt x="1446" y="0"/>
                </a:lnTo>
                <a:lnTo>
                  <a:pt x="1446" y="458"/>
                </a:lnTo>
                <a:lnTo>
                  <a:pt x="438" y="458"/>
                </a:lnTo>
                <a:lnTo>
                  <a:pt x="438" y="1446"/>
                </a:lnTo>
                <a:lnTo>
                  <a:pt x="0" y="1446"/>
                </a:lnTo>
                <a:lnTo>
                  <a:pt x="0" y="0"/>
                </a:lnTo>
                <a:close/>
              </a:path>
            </a:pathLst>
          </a:custGeom>
          <a:solidFill>
            <a:srgbClr val="04BEB0"/>
          </a:solidFill>
          <a:ln>
            <a:noFill/>
          </a:ln>
          <a:extLst/>
        </p:spPr>
        <p:txBody>
          <a:bodyPr lIns="91398" tIns="45699" rIns="91398" bIns="45699"/>
          <a:lstStyle/>
          <a:p>
            <a:endParaRPr lang="zh-CN" altLang="en-US" sz="1799"/>
          </a:p>
        </p:txBody>
      </p:sp>
      <p:sp>
        <p:nvSpPr>
          <p:cNvPr id="33" name="TextBox 26"/>
          <p:cNvSpPr txBox="1"/>
          <p:nvPr/>
        </p:nvSpPr>
        <p:spPr>
          <a:xfrm>
            <a:off x="14146653" y="8510121"/>
            <a:ext cx="1107996" cy="461665"/>
          </a:xfrm>
          <a:prstGeom prst="rect">
            <a:avLst/>
          </a:prstGeom>
          <a:noFill/>
        </p:spPr>
        <p:txBody>
          <a:bodyPr wrap="none" rtlCol="0">
            <a:spAutoFit/>
          </a:bodyPr>
          <a:lstStyle/>
          <a:p>
            <a:r>
              <a:rPr lang="zh-CN" altLang="en-US" sz="2400" dirty="0"/>
              <a:t>延时符</a:t>
            </a:r>
          </a:p>
        </p:txBody>
      </p:sp>
      <p:sp>
        <p:nvSpPr>
          <p:cNvPr id="24" name="Rectangle 3"/>
          <p:cNvSpPr txBox="1">
            <a:spLocks noChangeArrowheads="1"/>
          </p:cNvSpPr>
          <p:nvPr/>
        </p:nvSpPr>
        <p:spPr>
          <a:xfrm>
            <a:off x="6320641" y="1472967"/>
            <a:ext cx="5079429" cy="222466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1">
              <a:lnSpc>
                <a:spcPct val="200000"/>
              </a:lnSpc>
              <a:buFont typeface="Arial" panose="020B0604020202020204" pitchFamily="34" charset="0"/>
              <a:buNone/>
            </a:pPr>
            <a:r>
              <a:rPr lang="zh-CN" altLang="en-US" sz="2800" b="1" dirty="0">
                <a:latin typeface="微软雅黑" panose="020B0503020204020204" pitchFamily="34" charset="-122"/>
                <a:ea typeface="微软雅黑" panose="020B0503020204020204" pitchFamily="34" charset="-122"/>
              </a:rPr>
              <a:t>       </a:t>
            </a:r>
            <a:r>
              <a:rPr lang="zh-CN" altLang="en-US" sz="2800" b="1" dirty="0" smtClean="0">
                <a:latin typeface="微软雅黑" panose="020B0503020204020204" pitchFamily="34" charset="-122"/>
                <a:ea typeface="微软雅黑" panose="020B0503020204020204" pitchFamily="34" charset="-122"/>
              </a:rPr>
              <a:t>输入输出设备</a:t>
            </a:r>
            <a:r>
              <a:rPr lang="zh-CN" altLang="en-US" sz="2800" b="1" dirty="0">
                <a:latin typeface="微软雅黑" panose="020B0503020204020204" pitchFamily="34" charset="-122"/>
                <a:ea typeface="微软雅黑" panose="020B0503020204020204" pitchFamily="34" charset="-122"/>
              </a:rPr>
              <a:t>又称外围设备（</a:t>
            </a:r>
            <a:r>
              <a:rPr lang="en-US" altLang="zh-CN" sz="2800" b="1" dirty="0">
                <a:latin typeface="微软雅黑" panose="020B0503020204020204" pitchFamily="34" charset="-122"/>
                <a:ea typeface="微软雅黑" panose="020B0503020204020204" pitchFamily="34" charset="-122"/>
              </a:rPr>
              <a:t>periphery</a:t>
            </a:r>
            <a:r>
              <a:rPr lang="zh-CN" altLang="en-US" sz="2800" b="1" dirty="0">
                <a:latin typeface="微软雅黑" panose="020B0503020204020204" pitchFamily="34" charset="-122"/>
                <a:ea typeface="微软雅黑" panose="020B0503020204020204" pitchFamily="34" charset="-122"/>
              </a:rPr>
              <a:t>）。</a:t>
            </a:r>
          </a:p>
          <a:p>
            <a:pPr marL="0" lvl="1">
              <a:lnSpc>
                <a:spcPct val="200000"/>
              </a:lnSpc>
              <a:buFont typeface="Arial" panose="020B0604020202020204" pitchFamily="34" charset="0"/>
              <a:buNone/>
            </a:pPr>
            <a:endParaRPr lang="en-US" altLang="zh-CN" sz="2800" b="1" dirty="0">
              <a:latin typeface="微软雅黑" panose="020B0503020204020204" pitchFamily="34" charset="-122"/>
              <a:ea typeface="微软雅黑" panose="020B0503020204020204" pitchFamily="34" charset="-122"/>
            </a:endParaRPr>
          </a:p>
          <a:p>
            <a:pPr marL="0" lvl="1">
              <a:lnSpc>
                <a:spcPct val="200000"/>
              </a:lnSpc>
              <a:buFont typeface="Arial" panose="020B0604020202020204" pitchFamily="34" charset="0"/>
              <a:buNone/>
            </a:pPr>
            <a:endParaRPr lang="zh-CN" altLang="en-US" sz="2800" b="1" dirty="0">
              <a:latin typeface="微软雅黑" panose="020B0503020204020204" pitchFamily="34" charset="-122"/>
              <a:ea typeface="微软雅黑" panose="020B0503020204020204" pitchFamily="34" charset="-122"/>
            </a:endParaRPr>
          </a:p>
          <a:p>
            <a:pPr marL="0" indent="0">
              <a:lnSpc>
                <a:spcPct val="200000"/>
              </a:lnSpc>
              <a:buFont typeface="Arial" panose="020B0604020202020204" pitchFamily="34" charset="0"/>
              <a:buNone/>
            </a:pPr>
            <a:endParaRPr lang="en-US" altLang="zh-CN" b="1" dirty="0">
              <a:latin typeface="微软雅黑" panose="020B0503020204020204" pitchFamily="34" charset="-122"/>
              <a:ea typeface="微软雅黑" panose="020B0503020204020204" pitchFamily="34" charset="-122"/>
            </a:endParaRPr>
          </a:p>
          <a:p>
            <a:pPr marL="0" indent="0">
              <a:lnSpc>
                <a:spcPct val="200000"/>
              </a:lnSpc>
              <a:buFont typeface="Arial" panose="020B0604020202020204" pitchFamily="34" charset="0"/>
              <a:buNone/>
            </a:pPr>
            <a:endParaRPr lang="en-US" altLang="zh-CN" b="1" dirty="0">
              <a:latin typeface="微软雅黑" panose="020B0503020204020204" pitchFamily="34" charset="-122"/>
              <a:ea typeface="微软雅黑" panose="020B0503020204020204" pitchFamily="34" charset="-122"/>
            </a:endParaRPr>
          </a:p>
        </p:txBody>
      </p:sp>
      <p:sp>
        <p:nvSpPr>
          <p:cNvPr id="29" name="矩形 28"/>
          <p:cNvSpPr/>
          <p:nvPr/>
        </p:nvSpPr>
        <p:spPr>
          <a:xfrm>
            <a:off x="6352554" y="3212933"/>
            <a:ext cx="4840366" cy="6124754"/>
          </a:xfrm>
          <a:prstGeom prst="rect">
            <a:avLst/>
          </a:prstGeom>
        </p:spPr>
        <p:txBody>
          <a:bodyPr wrap="square">
            <a:spAutoFit/>
          </a:bodyPr>
          <a:lstStyle/>
          <a:p>
            <a:pPr marL="0" lvl="1">
              <a:lnSpc>
                <a:spcPct val="200000"/>
              </a:lnSpc>
            </a:pPr>
            <a:r>
              <a:rPr lang="zh-CN" altLang="en-US" sz="2800" b="1" dirty="0">
                <a:latin typeface="微软雅黑" panose="020B0503020204020204" pitchFamily="34" charset="-122"/>
                <a:ea typeface="微软雅黑" panose="020B0503020204020204" pitchFamily="34" charset="-122"/>
              </a:rPr>
              <a:t>        除了</a:t>
            </a:r>
            <a:r>
              <a:rPr lang="en-US" altLang="zh-CN" sz="2800" b="1" dirty="0">
                <a:latin typeface="微软雅黑" panose="020B0503020204020204" pitchFamily="34" charset="-122"/>
                <a:ea typeface="微软雅黑" panose="020B0503020204020204" pitchFamily="34" charset="-122"/>
              </a:rPr>
              <a:t>CPU</a:t>
            </a:r>
            <a:r>
              <a:rPr lang="zh-CN" altLang="en-US" sz="2800" b="1" dirty="0">
                <a:latin typeface="微软雅黑" panose="020B0503020204020204" pitchFamily="34" charset="-122"/>
                <a:ea typeface="微软雅黑" panose="020B0503020204020204" pitchFamily="34" charset="-122"/>
              </a:rPr>
              <a:t>和主存外，计算机系统的其它部件都可看成是外围设备。 </a:t>
            </a:r>
          </a:p>
          <a:p>
            <a:pPr marL="0" lvl="1">
              <a:lnSpc>
                <a:spcPct val="200000"/>
              </a:lnSpc>
            </a:pPr>
            <a:endParaRPr lang="zh-CN" altLang="en-US" sz="2800" b="1" dirty="0">
              <a:latin typeface="微软雅黑" panose="020B0503020204020204" pitchFamily="34" charset="-122"/>
              <a:ea typeface="微软雅黑" panose="020B0503020204020204" pitchFamily="34" charset="-122"/>
            </a:endParaRPr>
          </a:p>
          <a:p>
            <a:pPr marL="0" lvl="1">
              <a:lnSpc>
                <a:spcPct val="200000"/>
              </a:lnSpc>
            </a:pPr>
            <a:endParaRPr lang="zh-CN" altLang="en-US" sz="2800" b="1" dirty="0">
              <a:latin typeface="微软雅黑" panose="020B0503020204020204" pitchFamily="34" charset="-122"/>
              <a:ea typeface="微软雅黑" panose="020B0503020204020204" pitchFamily="34" charset="-122"/>
            </a:endParaRPr>
          </a:p>
          <a:p>
            <a:pPr marL="0" lvl="1">
              <a:lnSpc>
                <a:spcPct val="200000"/>
              </a:lnSpc>
            </a:pPr>
            <a:endParaRPr lang="zh-CN" altLang="en-US" sz="2800" b="1" dirty="0">
              <a:latin typeface="微软雅黑" panose="020B0503020204020204" pitchFamily="34" charset="-122"/>
              <a:ea typeface="微软雅黑" panose="020B0503020204020204" pitchFamily="34" charset="-122"/>
            </a:endParaRPr>
          </a:p>
          <a:p>
            <a:pPr>
              <a:lnSpc>
                <a:spcPct val="200000"/>
              </a:lnSpc>
            </a:pPr>
            <a:endParaRPr lang="zh-CN" altLang="en-US" sz="2800" b="1"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18292534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advTm="0">
        <p15:prstTrans prst="peelOff"/>
      </p:transition>
    </mc:Choice>
    <mc:Fallback xmlns="">
      <p:transition spd="slow" advTm="0">
        <p:fad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TextBox 54"/>
          <p:cNvSpPr txBox="1"/>
          <p:nvPr/>
        </p:nvSpPr>
        <p:spPr>
          <a:xfrm>
            <a:off x="698061" y="269251"/>
            <a:ext cx="5974331" cy="584541"/>
          </a:xfrm>
          <a:prstGeom prst="rect">
            <a:avLst/>
          </a:prstGeom>
          <a:noFill/>
        </p:spPr>
        <p:txBody>
          <a:bodyPr wrap="square" lIns="91398" tIns="45699" rIns="91398" bIns="45699" rtlCol="0">
            <a:spAutoFit/>
          </a:bodyPr>
          <a:lstStyle>
            <a:defPPr>
              <a:defRPr lang="zh-CN"/>
            </a:defPPr>
            <a:lvl1pPr>
              <a:defRPr sz="3200">
                <a:solidFill>
                  <a:schemeClr val="tx1">
                    <a:lumMod val="75000"/>
                  </a:schemeClr>
                </a:solidFill>
                <a:latin typeface="方正卡通简体" pitchFamily="65" charset="-122"/>
                <a:ea typeface="方正卡通简体" pitchFamily="65" charset="-122"/>
              </a:defRPr>
            </a:lvl1pPr>
          </a:lstStyle>
          <a:p>
            <a:pPr algn="just">
              <a:defRPr/>
            </a:pPr>
            <a:r>
              <a:rPr lang="zh-CN" altLang="en-US" b="1" kern="0" dirty="0">
                <a:latin typeface="微软雅黑" panose="020B0503020204020204" pitchFamily="34" charset="-122"/>
                <a:ea typeface="微软雅黑" panose="020B0503020204020204" pitchFamily="34" charset="-122"/>
              </a:rPr>
              <a:t>计算机外围设备包括</a:t>
            </a:r>
          </a:p>
        </p:txBody>
      </p:sp>
      <p:grpSp>
        <p:nvGrpSpPr>
          <p:cNvPr id="2" name="组合 1"/>
          <p:cNvGrpSpPr/>
          <p:nvPr/>
        </p:nvGrpSpPr>
        <p:grpSpPr>
          <a:xfrm>
            <a:off x="265635" y="269251"/>
            <a:ext cx="438352" cy="621987"/>
            <a:chOff x="265635" y="269251"/>
            <a:chExt cx="438352" cy="621987"/>
          </a:xfrm>
        </p:grpSpPr>
        <p:sp>
          <p:nvSpPr>
            <p:cNvPr id="5" name="Freeform 5"/>
            <p:cNvSpPr>
              <a:spLocks/>
            </p:cNvSpPr>
            <p:nvPr/>
          </p:nvSpPr>
          <p:spPr bwMode="auto">
            <a:xfrm>
              <a:off x="269585" y="269251"/>
              <a:ext cx="262616" cy="266567"/>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EB0"/>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6" name="Freeform 6"/>
            <p:cNvSpPr>
              <a:spLocks/>
            </p:cNvSpPr>
            <p:nvPr/>
          </p:nvSpPr>
          <p:spPr bwMode="auto">
            <a:xfrm>
              <a:off x="441371" y="443010"/>
              <a:ext cx="262616" cy="268540"/>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EB0"/>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7" name="Freeform 7"/>
            <p:cNvSpPr>
              <a:spLocks/>
            </p:cNvSpPr>
            <p:nvPr/>
          </p:nvSpPr>
          <p:spPr bwMode="auto">
            <a:xfrm>
              <a:off x="265635" y="624671"/>
              <a:ext cx="260640" cy="266567"/>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EB0"/>
            </a:solidFill>
            <a:ln>
              <a:noFill/>
            </a:ln>
          </p:spPr>
          <p:txBody>
            <a:bodyPr vert="horz" wrap="square" lIns="91398" tIns="45699" rIns="91398" bIns="45699" numCol="1" anchor="t" anchorCtr="0" compatLnSpc="1">
              <a:prstTxWarp prst="textNoShape">
                <a:avLst/>
              </a:prstTxWarp>
            </a:bodyPr>
            <a:lstStyle/>
            <a:p>
              <a:endParaRPr lang="zh-CN" altLang="en-US" sz="1799"/>
            </a:p>
          </p:txBody>
        </p:sp>
      </p:grpSp>
      <p:sp>
        <p:nvSpPr>
          <p:cNvPr id="8" name="Oval 5"/>
          <p:cNvSpPr>
            <a:spLocks noChangeArrowheads="1"/>
          </p:cNvSpPr>
          <p:nvPr/>
        </p:nvSpPr>
        <p:spPr bwMode="auto">
          <a:xfrm>
            <a:off x="5161763" y="3142996"/>
            <a:ext cx="1594373" cy="1596784"/>
          </a:xfrm>
          <a:prstGeom prst="ellipse">
            <a:avLst/>
          </a:prstGeom>
          <a:solidFill>
            <a:srgbClr val="04BEB0"/>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9" name="Oval 6"/>
          <p:cNvSpPr>
            <a:spLocks noChangeArrowheads="1"/>
          </p:cNvSpPr>
          <p:nvPr/>
        </p:nvSpPr>
        <p:spPr bwMode="auto">
          <a:xfrm>
            <a:off x="3714879" y="1831622"/>
            <a:ext cx="4416288" cy="4425810"/>
          </a:xfrm>
          <a:prstGeom prst="ellipse">
            <a:avLst/>
          </a:prstGeom>
          <a:noFill/>
          <a:ln w="12700" cap="flat">
            <a:solidFill>
              <a:srgbClr val="2E2C2C"/>
            </a:solidFill>
            <a:prstDash val="dash"/>
            <a:miter lim="800000"/>
            <a:headEnd/>
            <a:tailEnd/>
          </a:ln>
          <a:extLst>
            <a:ext uri="{909E8E84-426E-40DD-AFC4-6F175D3DCCD1}">
              <a14:hiddenFill xmlns:a14="http://schemas.microsoft.com/office/drawing/2010/main">
                <a:solidFill>
                  <a:srgbClr val="FFFFFF"/>
                </a:solidFill>
              </a14:hiddenFill>
            </a:ext>
          </a:extLst>
        </p:spPr>
        <p:txBody>
          <a:bodyPr vert="horz" wrap="square" lIns="91398" tIns="45699" rIns="91398" bIns="45699" numCol="1" anchor="t" anchorCtr="0" compatLnSpc="1">
            <a:prstTxWarp prst="textNoShape">
              <a:avLst/>
            </a:prstTxWarp>
          </a:bodyPr>
          <a:lstStyle/>
          <a:p>
            <a:endParaRPr lang="zh-CN" altLang="en-US" sz="1799"/>
          </a:p>
        </p:txBody>
      </p:sp>
      <p:sp>
        <p:nvSpPr>
          <p:cNvPr id="10" name="Oval 7"/>
          <p:cNvSpPr>
            <a:spLocks noChangeArrowheads="1"/>
          </p:cNvSpPr>
          <p:nvPr/>
        </p:nvSpPr>
        <p:spPr bwMode="auto">
          <a:xfrm>
            <a:off x="5169608" y="1076250"/>
            <a:ext cx="1434377" cy="1439623"/>
          </a:xfrm>
          <a:prstGeom prst="ellipse">
            <a:avLst/>
          </a:prstGeom>
          <a:solidFill>
            <a:schemeClr val="accent4"/>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11" name="Oval 8"/>
          <p:cNvSpPr>
            <a:spLocks noChangeArrowheads="1"/>
          </p:cNvSpPr>
          <p:nvPr/>
        </p:nvSpPr>
        <p:spPr bwMode="auto">
          <a:xfrm>
            <a:off x="7270636" y="2606588"/>
            <a:ext cx="1434377" cy="1436999"/>
          </a:xfrm>
          <a:prstGeom prst="ellipse">
            <a:avLst/>
          </a:prstGeom>
          <a:solidFill>
            <a:srgbClr val="92D050"/>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12" name="Oval 9"/>
          <p:cNvSpPr>
            <a:spLocks noChangeArrowheads="1"/>
          </p:cNvSpPr>
          <p:nvPr/>
        </p:nvSpPr>
        <p:spPr bwMode="auto">
          <a:xfrm>
            <a:off x="6467675" y="5078360"/>
            <a:ext cx="1434377" cy="1439623"/>
          </a:xfrm>
          <a:prstGeom prst="ellipse">
            <a:avLst/>
          </a:prstGeom>
          <a:solidFill>
            <a:schemeClr val="accent6">
              <a:lumMod val="75000"/>
            </a:schemeClr>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13" name="Oval 10"/>
          <p:cNvSpPr>
            <a:spLocks noChangeArrowheads="1"/>
          </p:cNvSpPr>
          <p:nvPr/>
        </p:nvSpPr>
        <p:spPr bwMode="auto">
          <a:xfrm>
            <a:off x="3871540" y="5078360"/>
            <a:ext cx="1434377" cy="1439623"/>
          </a:xfrm>
          <a:prstGeom prst="ellipse">
            <a:avLst/>
          </a:prstGeom>
          <a:solidFill>
            <a:schemeClr val="accent1">
              <a:lumMod val="75000"/>
            </a:schemeClr>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14" name="Oval 11"/>
          <p:cNvSpPr>
            <a:spLocks noChangeArrowheads="1"/>
          </p:cNvSpPr>
          <p:nvPr/>
        </p:nvSpPr>
        <p:spPr bwMode="auto">
          <a:xfrm>
            <a:off x="3067994" y="2604415"/>
            <a:ext cx="1436999" cy="1439623"/>
          </a:xfrm>
          <a:prstGeom prst="ellipse">
            <a:avLst/>
          </a:prstGeom>
          <a:solidFill>
            <a:srgbClr val="00B0F0"/>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15" name="Line 12"/>
          <p:cNvSpPr>
            <a:spLocks noChangeShapeType="1"/>
          </p:cNvSpPr>
          <p:nvPr/>
        </p:nvSpPr>
        <p:spPr bwMode="auto">
          <a:xfrm flipV="1">
            <a:off x="6704731" y="3630506"/>
            <a:ext cx="606188" cy="196774"/>
          </a:xfrm>
          <a:prstGeom prst="line">
            <a:avLst/>
          </a:prstGeom>
          <a:noFill/>
          <a:ln w="12700" cap="flat">
            <a:solidFill>
              <a:srgbClr val="2E2C2C"/>
            </a:solidFill>
            <a:prstDash val="solid"/>
            <a:miter lim="800000"/>
            <a:headEnd type="none" w="med" len="med"/>
            <a:tailEnd type="triangle" w="lg" len="lg"/>
          </a:ln>
          <a:extLst>
            <a:ext uri="{909E8E84-426E-40DD-AFC4-6F175D3DCCD1}">
              <a14:hiddenFill xmlns:a14="http://schemas.microsoft.com/office/drawing/2010/main">
                <a:noFill/>
              </a14:hiddenFill>
            </a:ext>
          </a:extLst>
        </p:spPr>
        <p:txBody>
          <a:bodyPr vert="horz" wrap="square" lIns="91398" tIns="45699" rIns="91398" bIns="45699" numCol="1" anchor="t" anchorCtr="0" compatLnSpc="1">
            <a:prstTxWarp prst="textNoShape">
              <a:avLst/>
            </a:prstTxWarp>
          </a:bodyPr>
          <a:lstStyle/>
          <a:p>
            <a:endParaRPr lang="zh-CN" altLang="en-US" sz="1799"/>
          </a:p>
        </p:txBody>
      </p:sp>
      <p:sp>
        <p:nvSpPr>
          <p:cNvPr id="16" name="Line 13"/>
          <p:cNvSpPr>
            <a:spLocks noChangeShapeType="1"/>
          </p:cNvSpPr>
          <p:nvPr/>
        </p:nvSpPr>
        <p:spPr bwMode="auto">
          <a:xfrm flipV="1">
            <a:off x="5923023" y="2505070"/>
            <a:ext cx="0" cy="637926"/>
          </a:xfrm>
          <a:prstGeom prst="line">
            <a:avLst/>
          </a:prstGeom>
          <a:noFill/>
          <a:ln w="12700" cap="flat">
            <a:solidFill>
              <a:srgbClr val="2E2C2C"/>
            </a:solidFill>
            <a:prstDash val="solid"/>
            <a:miter lim="800000"/>
            <a:headEnd type="none" w="med" len="med"/>
            <a:tailEnd type="triangle" w="lg" len="lg"/>
          </a:ln>
          <a:extLst>
            <a:ext uri="{909E8E84-426E-40DD-AFC4-6F175D3DCCD1}">
              <a14:hiddenFill xmlns:a14="http://schemas.microsoft.com/office/drawing/2010/main">
                <a:noFill/>
              </a14:hiddenFill>
            </a:ext>
          </a:extLst>
        </p:spPr>
        <p:txBody>
          <a:bodyPr vert="horz" wrap="square" lIns="91398" tIns="45699" rIns="91398" bIns="45699" numCol="1" anchor="t" anchorCtr="0" compatLnSpc="1">
            <a:prstTxWarp prst="textNoShape">
              <a:avLst/>
            </a:prstTxWarp>
          </a:bodyPr>
          <a:lstStyle/>
          <a:p>
            <a:endParaRPr lang="zh-CN" altLang="en-US" sz="1799"/>
          </a:p>
        </p:txBody>
      </p:sp>
      <p:sp>
        <p:nvSpPr>
          <p:cNvPr id="17" name="Line 14"/>
          <p:cNvSpPr>
            <a:spLocks noChangeShapeType="1"/>
          </p:cNvSpPr>
          <p:nvPr/>
        </p:nvSpPr>
        <p:spPr bwMode="auto">
          <a:xfrm flipH="1" flipV="1">
            <a:off x="4545412" y="3630506"/>
            <a:ext cx="606188" cy="196774"/>
          </a:xfrm>
          <a:prstGeom prst="line">
            <a:avLst/>
          </a:prstGeom>
          <a:noFill/>
          <a:ln w="12700" cap="flat">
            <a:solidFill>
              <a:srgbClr val="2E2C2C"/>
            </a:solidFill>
            <a:prstDash val="solid"/>
            <a:miter lim="800000"/>
            <a:headEnd type="none" w="med" len="med"/>
            <a:tailEnd type="triangle" w="lg" len="lg"/>
          </a:ln>
          <a:extLst>
            <a:ext uri="{909E8E84-426E-40DD-AFC4-6F175D3DCCD1}">
              <a14:hiddenFill xmlns:a14="http://schemas.microsoft.com/office/drawing/2010/main">
                <a:noFill/>
              </a14:hiddenFill>
            </a:ext>
          </a:extLst>
        </p:spPr>
        <p:txBody>
          <a:bodyPr vert="horz" wrap="square" lIns="91398" tIns="45699" rIns="91398" bIns="45699" numCol="1" anchor="t" anchorCtr="0" compatLnSpc="1">
            <a:prstTxWarp prst="textNoShape">
              <a:avLst/>
            </a:prstTxWarp>
          </a:bodyPr>
          <a:lstStyle/>
          <a:p>
            <a:endParaRPr lang="zh-CN" altLang="en-US" sz="1799"/>
          </a:p>
        </p:txBody>
      </p:sp>
      <p:sp>
        <p:nvSpPr>
          <p:cNvPr id="18" name="Line 15"/>
          <p:cNvSpPr>
            <a:spLocks noChangeShapeType="1"/>
          </p:cNvSpPr>
          <p:nvPr/>
        </p:nvSpPr>
        <p:spPr bwMode="auto">
          <a:xfrm flipH="1">
            <a:off x="5114507" y="4617879"/>
            <a:ext cx="374504" cy="515738"/>
          </a:xfrm>
          <a:prstGeom prst="line">
            <a:avLst/>
          </a:prstGeom>
          <a:noFill/>
          <a:ln w="12700" cap="flat">
            <a:solidFill>
              <a:srgbClr val="2E2C2C"/>
            </a:solidFill>
            <a:prstDash val="solid"/>
            <a:miter lim="800000"/>
            <a:headEnd type="none" w="med" len="med"/>
            <a:tailEnd type="triangle" w="lg" len="lg"/>
          </a:ln>
          <a:extLst>
            <a:ext uri="{909E8E84-426E-40DD-AFC4-6F175D3DCCD1}">
              <a14:hiddenFill xmlns:a14="http://schemas.microsoft.com/office/drawing/2010/main">
                <a:noFill/>
              </a14:hiddenFill>
            </a:ext>
          </a:extLst>
        </p:spPr>
        <p:txBody>
          <a:bodyPr vert="horz" wrap="square" lIns="91398" tIns="45699" rIns="91398" bIns="45699" numCol="1" anchor="t" anchorCtr="0" compatLnSpc="1">
            <a:prstTxWarp prst="textNoShape">
              <a:avLst/>
            </a:prstTxWarp>
          </a:bodyPr>
          <a:lstStyle/>
          <a:p>
            <a:endParaRPr lang="zh-CN" altLang="en-US" sz="1799"/>
          </a:p>
        </p:txBody>
      </p:sp>
      <p:sp>
        <p:nvSpPr>
          <p:cNvPr id="19" name="Line 16"/>
          <p:cNvSpPr>
            <a:spLocks noChangeShapeType="1"/>
          </p:cNvSpPr>
          <p:nvPr/>
        </p:nvSpPr>
        <p:spPr bwMode="auto">
          <a:xfrm>
            <a:off x="6348379" y="4617879"/>
            <a:ext cx="372917" cy="515738"/>
          </a:xfrm>
          <a:prstGeom prst="line">
            <a:avLst/>
          </a:prstGeom>
          <a:noFill/>
          <a:ln w="12700" cap="flat">
            <a:solidFill>
              <a:srgbClr val="2E2C2C"/>
            </a:solidFill>
            <a:prstDash val="solid"/>
            <a:miter lim="800000"/>
            <a:headEnd type="none" w="med" len="med"/>
            <a:tailEnd type="triangle" w="lg" len="lg"/>
          </a:ln>
          <a:extLst>
            <a:ext uri="{909E8E84-426E-40DD-AFC4-6F175D3DCCD1}">
              <a14:hiddenFill xmlns:a14="http://schemas.microsoft.com/office/drawing/2010/main">
                <a:noFill/>
              </a14:hiddenFill>
            </a:ext>
          </a:extLst>
        </p:spPr>
        <p:txBody>
          <a:bodyPr vert="horz" wrap="square" lIns="91398" tIns="45699" rIns="91398" bIns="45699" numCol="1" anchor="t" anchorCtr="0" compatLnSpc="1">
            <a:prstTxWarp prst="textNoShape">
              <a:avLst/>
            </a:prstTxWarp>
          </a:bodyPr>
          <a:lstStyle/>
          <a:p>
            <a:endParaRPr lang="zh-CN" altLang="en-US" sz="1799"/>
          </a:p>
        </p:txBody>
      </p:sp>
      <p:sp>
        <p:nvSpPr>
          <p:cNvPr id="20" name="TextBox 19"/>
          <p:cNvSpPr txBox="1"/>
          <p:nvPr/>
        </p:nvSpPr>
        <p:spPr>
          <a:xfrm>
            <a:off x="5486346" y="3440929"/>
            <a:ext cx="2019056" cy="954065"/>
          </a:xfrm>
          <a:prstGeom prst="rect">
            <a:avLst/>
          </a:prstGeom>
          <a:noFill/>
        </p:spPr>
        <p:txBody>
          <a:bodyPr wrap="square" lIns="91398" tIns="45699" rIns="91398" bIns="45699" rtlCol="0">
            <a:spAutoFit/>
          </a:bodyPr>
          <a:lstStyle/>
          <a:p>
            <a:r>
              <a:rPr lang="zh-CN" altLang="en-US" sz="2800" b="1" dirty="0">
                <a:solidFill>
                  <a:schemeClr val="bg1"/>
                </a:solidFill>
                <a:latin typeface="微软雅黑" panose="020B0503020204020204" pitchFamily="34" charset="-122"/>
                <a:ea typeface="微软雅黑" panose="020B0503020204020204" pitchFamily="34" charset="-122"/>
              </a:rPr>
              <a:t>外围</a:t>
            </a:r>
            <a:endParaRPr lang="en-US" altLang="zh-CN" sz="2800" b="1" dirty="0">
              <a:solidFill>
                <a:schemeClr val="bg1"/>
              </a:solidFill>
              <a:latin typeface="微软雅黑" panose="020B0503020204020204" pitchFamily="34" charset="-122"/>
              <a:ea typeface="微软雅黑" panose="020B0503020204020204" pitchFamily="34" charset="-122"/>
            </a:endParaRPr>
          </a:p>
          <a:p>
            <a:r>
              <a:rPr lang="zh-CN" altLang="en-US" sz="2800" b="1" dirty="0">
                <a:solidFill>
                  <a:schemeClr val="bg1"/>
                </a:solidFill>
                <a:latin typeface="微软雅黑" panose="020B0503020204020204" pitchFamily="34" charset="-122"/>
                <a:ea typeface="微软雅黑" panose="020B0503020204020204" pitchFamily="34" charset="-122"/>
              </a:rPr>
              <a:t>设备</a:t>
            </a:r>
          </a:p>
        </p:txBody>
      </p:sp>
      <p:sp>
        <p:nvSpPr>
          <p:cNvPr id="23" name="TextBox 22"/>
          <p:cNvSpPr txBox="1"/>
          <p:nvPr/>
        </p:nvSpPr>
        <p:spPr>
          <a:xfrm>
            <a:off x="5289604" y="1363049"/>
            <a:ext cx="1314381" cy="954065"/>
          </a:xfrm>
          <a:prstGeom prst="rect">
            <a:avLst/>
          </a:prstGeom>
          <a:noFill/>
        </p:spPr>
        <p:txBody>
          <a:bodyPr wrap="square" lIns="91398" tIns="45699" rIns="91398" bIns="45699" rtlCol="0">
            <a:spAutoFit/>
          </a:bodyPr>
          <a:lstStyle/>
          <a:p>
            <a:pPr algn="ctr"/>
            <a:r>
              <a:rPr lang="zh-CN" altLang="en-US" sz="2800" b="1" dirty="0">
                <a:solidFill>
                  <a:schemeClr val="bg1"/>
                </a:solidFill>
                <a:latin typeface="微软雅黑" panose="020B0503020204020204" pitchFamily="34" charset="-122"/>
                <a:ea typeface="微软雅黑" panose="020B0503020204020204" pitchFamily="34" charset="-122"/>
              </a:rPr>
              <a:t>输入</a:t>
            </a:r>
            <a:endParaRPr lang="en-US" altLang="zh-CN" sz="2800" b="1" dirty="0">
              <a:solidFill>
                <a:schemeClr val="bg1"/>
              </a:solidFill>
              <a:latin typeface="微软雅黑" panose="020B0503020204020204" pitchFamily="34" charset="-122"/>
              <a:ea typeface="微软雅黑" panose="020B0503020204020204" pitchFamily="34" charset="-122"/>
            </a:endParaRPr>
          </a:p>
          <a:p>
            <a:pPr algn="ctr"/>
            <a:r>
              <a:rPr lang="zh-CN" altLang="en-US" sz="2800" b="1" dirty="0">
                <a:solidFill>
                  <a:schemeClr val="bg1"/>
                </a:solidFill>
                <a:latin typeface="微软雅黑" panose="020B0503020204020204" pitchFamily="34" charset="-122"/>
                <a:ea typeface="微软雅黑" panose="020B0503020204020204" pitchFamily="34" charset="-122"/>
              </a:rPr>
              <a:t>设备</a:t>
            </a:r>
          </a:p>
        </p:txBody>
      </p:sp>
      <p:sp>
        <p:nvSpPr>
          <p:cNvPr id="24" name="TextBox 23"/>
          <p:cNvSpPr txBox="1"/>
          <p:nvPr/>
        </p:nvSpPr>
        <p:spPr>
          <a:xfrm>
            <a:off x="7578582" y="2872162"/>
            <a:ext cx="1314381" cy="954065"/>
          </a:xfrm>
          <a:prstGeom prst="rect">
            <a:avLst/>
          </a:prstGeom>
          <a:noFill/>
        </p:spPr>
        <p:txBody>
          <a:bodyPr wrap="square" lIns="91398" tIns="45699" rIns="91398" bIns="45699" rtlCol="0">
            <a:spAutoFit/>
          </a:bodyPr>
          <a:lstStyle/>
          <a:p>
            <a:r>
              <a:rPr lang="zh-CN" altLang="en-US" sz="2800" b="1" dirty="0">
                <a:solidFill>
                  <a:schemeClr val="bg1"/>
                </a:solidFill>
                <a:latin typeface="微软雅黑" panose="020B0503020204020204" pitchFamily="34" charset="-122"/>
                <a:ea typeface="微软雅黑" panose="020B0503020204020204" pitchFamily="34" charset="-122"/>
              </a:rPr>
              <a:t>输出</a:t>
            </a:r>
            <a:endParaRPr lang="en-US" altLang="zh-CN" sz="2800" b="1" dirty="0">
              <a:solidFill>
                <a:schemeClr val="bg1"/>
              </a:solidFill>
              <a:latin typeface="微软雅黑" panose="020B0503020204020204" pitchFamily="34" charset="-122"/>
              <a:ea typeface="微软雅黑" panose="020B0503020204020204" pitchFamily="34" charset="-122"/>
            </a:endParaRPr>
          </a:p>
          <a:p>
            <a:r>
              <a:rPr lang="zh-CN" altLang="en-US" sz="2800" b="1" dirty="0">
                <a:solidFill>
                  <a:schemeClr val="bg1"/>
                </a:solidFill>
                <a:latin typeface="微软雅黑" panose="020B0503020204020204" pitchFamily="34" charset="-122"/>
                <a:ea typeface="微软雅黑" panose="020B0503020204020204" pitchFamily="34" charset="-122"/>
              </a:rPr>
              <a:t>设备 </a:t>
            </a:r>
            <a:endParaRPr lang="en-US" altLang="zh-CN" sz="2800" b="1" dirty="0">
              <a:solidFill>
                <a:schemeClr val="bg1"/>
              </a:solidFill>
              <a:latin typeface="微软雅黑" panose="020B0503020204020204" pitchFamily="34" charset="-122"/>
              <a:ea typeface="微软雅黑" panose="020B0503020204020204" pitchFamily="34" charset="-122"/>
            </a:endParaRPr>
          </a:p>
        </p:txBody>
      </p:sp>
      <p:sp>
        <p:nvSpPr>
          <p:cNvPr id="25" name="TextBox 24"/>
          <p:cNvSpPr txBox="1"/>
          <p:nvPr/>
        </p:nvSpPr>
        <p:spPr>
          <a:xfrm>
            <a:off x="6706967" y="5346446"/>
            <a:ext cx="1314381" cy="954065"/>
          </a:xfrm>
          <a:prstGeom prst="rect">
            <a:avLst/>
          </a:prstGeom>
          <a:noFill/>
        </p:spPr>
        <p:txBody>
          <a:bodyPr wrap="square" lIns="91398" tIns="45699" rIns="91398" bIns="45699" rtlCol="0">
            <a:spAutoFit/>
          </a:bodyPr>
          <a:lstStyle/>
          <a:p>
            <a:r>
              <a:rPr lang="zh-CN" altLang="en-US" sz="2800" b="1" dirty="0">
                <a:solidFill>
                  <a:schemeClr val="bg1"/>
                </a:solidFill>
                <a:latin typeface="微软雅黑" panose="020B0503020204020204" pitchFamily="34" charset="-122"/>
                <a:ea typeface="微软雅黑" panose="020B0503020204020204" pitchFamily="34" charset="-122"/>
              </a:rPr>
              <a:t>存储</a:t>
            </a:r>
            <a:endParaRPr lang="en-US" altLang="zh-CN" sz="2800" b="1" dirty="0">
              <a:solidFill>
                <a:schemeClr val="bg1"/>
              </a:solidFill>
              <a:latin typeface="微软雅黑" panose="020B0503020204020204" pitchFamily="34" charset="-122"/>
              <a:ea typeface="微软雅黑" panose="020B0503020204020204" pitchFamily="34" charset="-122"/>
            </a:endParaRPr>
          </a:p>
          <a:p>
            <a:r>
              <a:rPr lang="zh-CN" altLang="en-US" sz="2800" b="1" dirty="0">
                <a:solidFill>
                  <a:schemeClr val="bg1"/>
                </a:solidFill>
                <a:latin typeface="微软雅黑" panose="020B0503020204020204" pitchFamily="34" charset="-122"/>
                <a:ea typeface="微软雅黑" panose="020B0503020204020204" pitchFamily="34" charset="-122"/>
              </a:rPr>
              <a:t>设备</a:t>
            </a:r>
            <a:endParaRPr lang="en-US" altLang="zh-CN" sz="2800" b="1" dirty="0">
              <a:solidFill>
                <a:schemeClr val="bg1"/>
              </a:solidFill>
              <a:latin typeface="微软雅黑" panose="020B0503020204020204" pitchFamily="34" charset="-122"/>
              <a:ea typeface="微软雅黑" panose="020B0503020204020204" pitchFamily="34" charset="-122"/>
            </a:endParaRPr>
          </a:p>
        </p:txBody>
      </p:sp>
      <p:sp>
        <p:nvSpPr>
          <p:cNvPr id="26" name="TextBox 25"/>
          <p:cNvSpPr txBox="1"/>
          <p:nvPr/>
        </p:nvSpPr>
        <p:spPr>
          <a:xfrm>
            <a:off x="3978103" y="5386185"/>
            <a:ext cx="1314381" cy="954065"/>
          </a:xfrm>
          <a:prstGeom prst="rect">
            <a:avLst/>
          </a:prstGeom>
          <a:noFill/>
        </p:spPr>
        <p:txBody>
          <a:bodyPr wrap="square" lIns="91398" tIns="45699" rIns="91398" bIns="45699" rtlCol="0">
            <a:spAutoFit/>
          </a:bodyPr>
          <a:lstStyle/>
          <a:p>
            <a:r>
              <a:rPr lang="zh-CN" altLang="en-US" sz="2800" b="1" dirty="0">
                <a:solidFill>
                  <a:schemeClr val="bg1"/>
                </a:solidFill>
                <a:latin typeface="微软雅黑" panose="020B0503020204020204" pitchFamily="34" charset="-122"/>
                <a:ea typeface="微软雅黑" panose="020B0503020204020204" pitchFamily="34" charset="-122"/>
              </a:rPr>
              <a:t>数据通信设备 </a:t>
            </a:r>
            <a:endParaRPr lang="en-US" altLang="zh-CN" sz="2800" b="1" dirty="0">
              <a:solidFill>
                <a:schemeClr val="bg1"/>
              </a:solidFill>
              <a:latin typeface="微软雅黑" panose="020B0503020204020204" pitchFamily="34" charset="-122"/>
              <a:ea typeface="微软雅黑" panose="020B0503020204020204" pitchFamily="34" charset="-122"/>
            </a:endParaRPr>
          </a:p>
        </p:txBody>
      </p:sp>
      <p:sp>
        <p:nvSpPr>
          <p:cNvPr id="27" name="TextBox 26"/>
          <p:cNvSpPr txBox="1"/>
          <p:nvPr/>
        </p:nvSpPr>
        <p:spPr>
          <a:xfrm>
            <a:off x="3134145" y="2872162"/>
            <a:ext cx="1314381" cy="954065"/>
          </a:xfrm>
          <a:prstGeom prst="rect">
            <a:avLst/>
          </a:prstGeom>
          <a:noFill/>
        </p:spPr>
        <p:txBody>
          <a:bodyPr wrap="square" lIns="91398" tIns="45699" rIns="91398" bIns="45699" rtlCol="0">
            <a:spAutoFit/>
          </a:bodyPr>
          <a:lstStyle/>
          <a:p>
            <a:r>
              <a:rPr lang="zh-CN" altLang="en-US" sz="2800" b="1" dirty="0">
                <a:solidFill>
                  <a:schemeClr val="bg1"/>
                </a:solidFill>
                <a:latin typeface="微软雅黑" panose="020B0503020204020204" pitchFamily="34" charset="-122"/>
                <a:ea typeface="微软雅黑" panose="020B0503020204020204" pitchFamily="34" charset="-122"/>
              </a:rPr>
              <a:t>过程控制设备 </a:t>
            </a:r>
          </a:p>
        </p:txBody>
      </p:sp>
      <p:sp>
        <p:nvSpPr>
          <p:cNvPr id="29" name="TextBox 26"/>
          <p:cNvSpPr txBox="1"/>
          <p:nvPr/>
        </p:nvSpPr>
        <p:spPr>
          <a:xfrm>
            <a:off x="13941936" y="8619303"/>
            <a:ext cx="1107996" cy="461665"/>
          </a:xfrm>
          <a:prstGeom prst="rect">
            <a:avLst/>
          </a:prstGeom>
          <a:noFill/>
        </p:spPr>
        <p:txBody>
          <a:bodyPr wrap="none" rtlCol="0">
            <a:spAutoFit/>
          </a:bodyPr>
          <a:lstStyle/>
          <a:p>
            <a:r>
              <a:rPr lang="zh-CN" altLang="en-US" sz="2400" dirty="0"/>
              <a:t>延时符</a:t>
            </a:r>
          </a:p>
        </p:txBody>
      </p:sp>
    </p:spTree>
    <p:extLst>
      <p:ext uri="{BB962C8B-B14F-4D97-AF65-F5344CB8AC3E}">
        <p14:creationId xmlns:p14="http://schemas.microsoft.com/office/powerpoint/2010/main" val="405626672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advTm="0">
        <p15:prstTrans prst="peelOff"/>
      </p:transition>
    </mc:Choice>
    <mc:Fallback xmlns="">
      <p:transition spd="slow" advTm="0">
        <p:fade/>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1" name="图片 3"/>
          <p:cNvPicPr>
            <a:picLocks noChangeAspect="1"/>
          </p:cNvPicPr>
          <p:nvPr/>
        </p:nvPicPr>
        <p:blipFill>
          <a:blip r:embed="rId2"/>
          <a:srcRect/>
          <a:stretch>
            <a:fillRect/>
          </a:stretch>
        </p:blipFill>
        <p:spPr bwMode="auto">
          <a:xfrm>
            <a:off x="2803270" y="4191491"/>
            <a:ext cx="2879684" cy="2087562"/>
          </a:xfrm>
          <a:prstGeom prst="rect">
            <a:avLst/>
          </a:prstGeom>
          <a:noFill/>
          <a:ln w="9525">
            <a:noFill/>
            <a:miter lim="800000"/>
            <a:headEnd/>
            <a:tailEnd/>
          </a:ln>
        </p:spPr>
      </p:pic>
      <p:pic>
        <p:nvPicPr>
          <p:cNvPr id="7172" name="图片 5"/>
          <p:cNvPicPr>
            <a:picLocks noChangeAspect="1"/>
          </p:cNvPicPr>
          <p:nvPr/>
        </p:nvPicPr>
        <p:blipFill>
          <a:blip r:embed="rId3"/>
          <a:srcRect/>
          <a:stretch>
            <a:fillRect/>
          </a:stretch>
        </p:blipFill>
        <p:spPr bwMode="auto">
          <a:xfrm>
            <a:off x="1128919" y="1342535"/>
            <a:ext cx="2885452" cy="2565400"/>
          </a:xfrm>
          <a:prstGeom prst="rect">
            <a:avLst/>
          </a:prstGeom>
          <a:noFill/>
          <a:ln w="9525">
            <a:noFill/>
            <a:miter lim="800000"/>
            <a:headEnd/>
            <a:tailEnd/>
          </a:ln>
        </p:spPr>
      </p:pic>
      <p:pic>
        <p:nvPicPr>
          <p:cNvPr id="7173" name="图片 6"/>
          <p:cNvPicPr>
            <a:picLocks noChangeAspect="1"/>
          </p:cNvPicPr>
          <p:nvPr/>
        </p:nvPicPr>
        <p:blipFill>
          <a:blip r:embed="rId4"/>
          <a:srcRect/>
          <a:stretch>
            <a:fillRect/>
          </a:stretch>
        </p:blipFill>
        <p:spPr bwMode="auto">
          <a:xfrm>
            <a:off x="8665032" y="1342535"/>
            <a:ext cx="2645187" cy="2242273"/>
          </a:xfrm>
          <a:prstGeom prst="rect">
            <a:avLst/>
          </a:prstGeom>
          <a:noFill/>
          <a:ln w="9525">
            <a:noFill/>
            <a:miter lim="800000"/>
            <a:headEnd/>
            <a:tailEnd/>
          </a:ln>
        </p:spPr>
      </p:pic>
      <p:pic>
        <p:nvPicPr>
          <p:cNvPr id="7174" name="图片 7"/>
          <p:cNvPicPr>
            <a:picLocks noChangeAspect="1"/>
          </p:cNvPicPr>
          <p:nvPr/>
        </p:nvPicPr>
        <p:blipFill>
          <a:blip r:embed="rId5"/>
          <a:srcRect/>
          <a:stretch>
            <a:fillRect/>
          </a:stretch>
        </p:blipFill>
        <p:spPr bwMode="auto">
          <a:xfrm>
            <a:off x="6699424" y="4191491"/>
            <a:ext cx="2393301" cy="1790932"/>
          </a:xfrm>
          <a:prstGeom prst="rect">
            <a:avLst/>
          </a:prstGeom>
          <a:noFill/>
          <a:ln w="9525">
            <a:noFill/>
            <a:miter lim="800000"/>
            <a:headEnd/>
            <a:tailEnd/>
          </a:ln>
        </p:spPr>
      </p:pic>
      <p:pic>
        <p:nvPicPr>
          <p:cNvPr id="7175" name="图片 8"/>
          <p:cNvPicPr>
            <a:picLocks noChangeAspect="1"/>
          </p:cNvPicPr>
          <p:nvPr/>
        </p:nvPicPr>
        <p:blipFill>
          <a:blip r:embed="rId6"/>
          <a:srcRect/>
          <a:stretch>
            <a:fillRect/>
          </a:stretch>
        </p:blipFill>
        <p:spPr bwMode="auto">
          <a:xfrm>
            <a:off x="4977185" y="1570547"/>
            <a:ext cx="3149865" cy="1582851"/>
          </a:xfrm>
          <a:prstGeom prst="rect">
            <a:avLst/>
          </a:prstGeom>
          <a:noFill/>
          <a:ln w="9525">
            <a:noFill/>
            <a:miter lim="800000"/>
            <a:headEnd/>
            <a:tailEnd/>
          </a:ln>
        </p:spPr>
      </p:pic>
      <p:grpSp>
        <p:nvGrpSpPr>
          <p:cNvPr id="9" name="组合 3"/>
          <p:cNvGrpSpPr/>
          <p:nvPr/>
        </p:nvGrpSpPr>
        <p:grpSpPr>
          <a:xfrm>
            <a:off x="518781" y="324334"/>
            <a:ext cx="438352" cy="621987"/>
            <a:chOff x="265635" y="269251"/>
            <a:chExt cx="438352" cy="621987"/>
          </a:xfrm>
        </p:grpSpPr>
        <p:sp>
          <p:nvSpPr>
            <p:cNvPr id="10" name="Freeform 5"/>
            <p:cNvSpPr>
              <a:spLocks/>
            </p:cNvSpPr>
            <p:nvPr/>
          </p:nvSpPr>
          <p:spPr bwMode="auto">
            <a:xfrm>
              <a:off x="269585" y="269251"/>
              <a:ext cx="262616" cy="266567"/>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EB0"/>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11" name="Freeform 6"/>
            <p:cNvSpPr>
              <a:spLocks/>
            </p:cNvSpPr>
            <p:nvPr/>
          </p:nvSpPr>
          <p:spPr bwMode="auto">
            <a:xfrm>
              <a:off x="441371" y="443010"/>
              <a:ext cx="262616" cy="268540"/>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EB0"/>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12" name="Freeform 7"/>
            <p:cNvSpPr>
              <a:spLocks/>
            </p:cNvSpPr>
            <p:nvPr/>
          </p:nvSpPr>
          <p:spPr bwMode="auto">
            <a:xfrm>
              <a:off x="265635" y="624671"/>
              <a:ext cx="260640" cy="266567"/>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EB0"/>
            </a:solidFill>
            <a:ln>
              <a:noFill/>
            </a:ln>
          </p:spPr>
          <p:txBody>
            <a:bodyPr vert="horz" wrap="square" lIns="91398" tIns="45699" rIns="91398" bIns="45699" numCol="1" anchor="t" anchorCtr="0" compatLnSpc="1">
              <a:prstTxWarp prst="textNoShape">
                <a:avLst/>
              </a:prstTxWarp>
            </a:bodyPr>
            <a:lstStyle/>
            <a:p>
              <a:endParaRPr lang="zh-CN" altLang="en-US" sz="1799"/>
            </a:p>
          </p:txBody>
        </p:sp>
      </p:grpSp>
      <p:sp>
        <p:nvSpPr>
          <p:cNvPr id="13" name="Rectangle 2"/>
          <p:cNvSpPr>
            <a:spLocks noGrp="1" noChangeArrowheads="1"/>
          </p:cNvSpPr>
          <p:nvPr>
            <p:ph type="title"/>
          </p:nvPr>
        </p:nvSpPr>
        <p:spPr>
          <a:xfrm>
            <a:off x="1128919" y="16972"/>
            <a:ext cx="10515600" cy="1325563"/>
          </a:xfrm>
        </p:spPr>
        <p:txBody>
          <a:bodyPr>
            <a:normAutofit/>
          </a:bodyPr>
          <a:lstStyle/>
          <a:p>
            <a:pPr algn="just">
              <a:defRPr/>
            </a:pPr>
            <a:r>
              <a:rPr lang="zh-CN" altLang="en-US" sz="3200" b="1" kern="0" dirty="0">
                <a:solidFill>
                  <a:schemeClr val="tx1">
                    <a:lumMod val="75000"/>
                  </a:schemeClr>
                </a:solidFill>
                <a:latin typeface="微软雅黑" panose="020B0503020204020204" pitchFamily="34" charset="-122"/>
                <a:ea typeface="微软雅黑" panose="020B0503020204020204" pitchFamily="34" charset="-122"/>
                <a:cs typeface="+mn-cs"/>
              </a:rPr>
              <a:t>输入输出设备</a:t>
            </a:r>
            <a:endParaRPr lang="en-US" altLang="zh-CN" sz="3200" b="1" kern="0" dirty="0">
              <a:solidFill>
                <a:schemeClr val="tx1">
                  <a:lumMod val="75000"/>
                </a:schemeClr>
              </a:solidFill>
              <a:latin typeface="微软雅黑" panose="020B0503020204020204" pitchFamily="34" charset="-122"/>
              <a:ea typeface="微软雅黑" panose="020B0503020204020204" pitchFamily="34" charset="-122"/>
              <a:cs typeface="+mn-cs"/>
            </a:endParaRP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TextBox 54"/>
          <p:cNvSpPr txBox="1"/>
          <p:nvPr/>
        </p:nvSpPr>
        <p:spPr>
          <a:xfrm>
            <a:off x="845941" y="284913"/>
            <a:ext cx="3672085" cy="584733"/>
          </a:xfrm>
          <a:prstGeom prst="rect">
            <a:avLst/>
          </a:prstGeom>
          <a:noFill/>
        </p:spPr>
        <p:txBody>
          <a:bodyPr wrap="square" lIns="91398" tIns="45699" rIns="91398" bIns="45699" rtlCol="0">
            <a:spAutoFit/>
          </a:bodyPr>
          <a:lstStyle>
            <a:defPPr>
              <a:defRPr lang="zh-CN"/>
            </a:defPPr>
            <a:lvl1pPr>
              <a:defRPr sz="3200">
                <a:solidFill>
                  <a:schemeClr val="tx1">
                    <a:lumMod val="75000"/>
                  </a:schemeClr>
                </a:solidFill>
                <a:latin typeface="方正卡通简体" pitchFamily="65" charset="-122"/>
                <a:ea typeface="方正卡通简体" pitchFamily="65" charset="-122"/>
              </a:defRPr>
            </a:lvl1pPr>
          </a:lstStyle>
          <a:p>
            <a:pPr algn="just">
              <a:defRPr/>
            </a:pPr>
            <a:r>
              <a:rPr lang="zh-CN" altLang="en-US" b="1" kern="0" dirty="0">
                <a:latin typeface="微软雅黑" panose="020B0503020204020204" pitchFamily="34" charset="-122"/>
                <a:ea typeface="微软雅黑" panose="020B0503020204020204" pitchFamily="34" charset="-122"/>
              </a:rPr>
              <a:t>输入输出接口</a:t>
            </a:r>
          </a:p>
        </p:txBody>
      </p:sp>
      <p:grpSp>
        <p:nvGrpSpPr>
          <p:cNvPr id="2" name="组合 1"/>
          <p:cNvGrpSpPr/>
          <p:nvPr/>
        </p:nvGrpSpPr>
        <p:grpSpPr>
          <a:xfrm>
            <a:off x="265635" y="269251"/>
            <a:ext cx="438352" cy="621987"/>
            <a:chOff x="265635" y="269251"/>
            <a:chExt cx="438352" cy="621987"/>
          </a:xfrm>
        </p:grpSpPr>
        <p:sp>
          <p:nvSpPr>
            <p:cNvPr id="5" name="Freeform 5"/>
            <p:cNvSpPr>
              <a:spLocks/>
            </p:cNvSpPr>
            <p:nvPr/>
          </p:nvSpPr>
          <p:spPr bwMode="auto">
            <a:xfrm>
              <a:off x="269585" y="269251"/>
              <a:ext cx="262616" cy="266567"/>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EB0"/>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6" name="Freeform 6"/>
            <p:cNvSpPr>
              <a:spLocks/>
            </p:cNvSpPr>
            <p:nvPr/>
          </p:nvSpPr>
          <p:spPr bwMode="auto">
            <a:xfrm>
              <a:off x="441371" y="443010"/>
              <a:ext cx="262616" cy="268540"/>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EB0"/>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7" name="Freeform 7"/>
            <p:cNvSpPr>
              <a:spLocks/>
            </p:cNvSpPr>
            <p:nvPr/>
          </p:nvSpPr>
          <p:spPr bwMode="auto">
            <a:xfrm>
              <a:off x="265635" y="624671"/>
              <a:ext cx="260640" cy="266567"/>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EB0"/>
            </a:solidFill>
            <a:ln>
              <a:noFill/>
            </a:ln>
          </p:spPr>
          <p:txBody>
            <a:bodyPr vert="horz" wrap="square" lIns="91398" tIns="45699" rIns="91398" bIns="45699" numCol="1" anchor="t" anchorCtr="0" compatLnSpc="1">
              <a:prstTxWarp prst="textNoShape">
                <a:avLst/>
              </a:prstTxWarp>
            </a:bodyPr>
            <a:lstStyle/>
            <a:p>
              <a:endParaRPr lang="zh-CN" altLang="en-US" sz="1799"/>
            </a:p>
          </p:txBody>
        </p:sp>
      </p:grpSp>
      <p:sp>
        <p:nvSpPr>
          <p:cNvPr id="11" name="椭圆 10"/>
          <p:cNvSpPr/>
          <p:nvPr/>
        </p:nvSpPr>
        <p:spPr bwMode="auto">
          <a:xfrm>
            <a:off x="1526491" y="2661251"/>
            <a:ext cx="2848069" cy="2848069"/>
          </a:xfrm>
          <a:prstGeom prst="ellipse">
            <a:avLst/>
          </a:prstGeom>
          <a:solidFill>
            <a:srgbClr val="04BEB0"/>
          </a:solidFill>
          <a:ln w="9525" cap="flat" cmpd="sng" algn="ctr">
            <a:noFill/>
            <a:prstDash val="solid"/>
            <a:round/>
            <a:headEnd type="none" w="med" len="med"/>
            <a:tailEnd type="none" w="med" len="med"/>
          </a:ln>
          <a:effectLst/>
          <a:extLst/>
        </p:spPr>
        <p:txBody>
          <a:bodyPr vert="horz" wrap="square" lIns="91398" tIns="45699" rIns="91398" bIns="45699" numCol="1" rtlCol="0" anchor="t" anchorCtr="0" compatLnSpc="1">
            <a:prstTxWarp prst="textNoShape">
              <a:avLst/>
            </a:prstTxWarp>
          </a:bodyPr>
          <a:lstStyle/>
          <a:p>
            <a:pPr defTabSz="913973"/>
            <a:endParaRPr lang="zh-CN" altLang="en-US" sz="1699"/>
          </a:p>
        </p:txBody>
      </p:sp>
      <p:sp>
        <p:nvSpPr>
          <p:cNvPr id="8" name="Freeform 5"/>
          <p:cNvSpPr>
            <a:spLocks noEditPoints="1"/>
          </p:cNvSpPr>
          <p:nvPr/>
        </p:nvSpPr>
        <p:spPr bwMode="auto">
          <a:xfrm>
            <a:off x="2061943" y="3104162"/>
            <a:ext cx="1642711" cy="1877580"/>
          </a:xfrm>
          <a:custGeom>
            <a:avLst/>
            <a:gdLst>
              <a:gd name="T0" fmla="*/ 1232 w 1933"/>
              <a:gd name="T1" fmla="*/ 274 h 2183"/>
              <a:gd name="T2" fmla="*/ 958 w 1933"/>
              <a:gd name="T3" fmla="*/ 547 h 2183"/>
              <a:gd name="T4" fmla="*/ 684 w 1933"/>
              <a:gd name="T5" fmla="*/ 547 h 2183"/>
              <a:gd name="T6" fmla="*/ 411 w 1933"/>
              <a:gd name="T7" fmla="*/ 274 h 2183"/>
              <a:gd name="T8" fmla="*/ 684 w 1933"/>
              <a:gd name="T9" fmla="*/ 0 h 2183"/>
              <a:gd name="T10" fmla="*/ 958 w 1933"/>
              <a:gd name="T11" fmla="*/ 0 h 2183"/>
              <a:gd name="T12" fmla="*/ 1232 w 1933"/>
              <a:gd name="T13" fmla="*/ 274 h 2183"/>
              <a:gd name="T14" fmla="*/ 1362 w 1933"/>
              <a:gd name="T15" fmla="*/ 274 h 2183"/>
              <a:gd name="T16" fmla="*/ 1368 w 1933"/>
              <a:gd name="T17" fmla="*/ 336 h 2183"/>
              <a:gd name="T18" fmla="*/ 1026 w 1933"/>
              <a:gd name="T19" fmla="*/ 678 h 2183"/>
              <a:gd name="T20" fmla="*/ 616 w 1933"/>
              <a:gd name="T21" fmla="*/ 678 h 2183"/>
              <a:gd name="T22" fmla="*/ 274 w 1933"/>
              <a:gd name="T23" fmla="*/ 336 h 2183"/>
              <a:gd name="T24" fmla="*/ 280 w 1933"/>
              <a:gd name="T25" fmla="*/ 274 h 2183"/>
              <a:gd name="T26" fmla="*/ 0 w 1933"/>
              <a:gd name="T27" fmla="*/ 610 h 2183"/>
              <a:gd name="T28" fmla="*/ 0 w 1933"/>
              <a:gd name="T29" fmla="*/ 1841 h 2183"/>
              <a:gd name="T30" fmla="*/ 342 w 1933"/>
              <a:gd name="T31" fmla="*/ 2183 h 2183"/>
              <a:gd name="T32" fmla="*/ 1253 w 1933"/>
              <a:gd name="T33" fmla="*/ 2183 h 2183"/>
              <a:gd name="T34" fmla="*/ 881 w 1933"/>
              <a:gd name="T35" fmla="*/ 1620 h 2183"/>
              <a:gd name="T36" fmla="*/ 1492 w 1933"/>
              <a:gd name="T37" fmla="*/ 1009 h 2183"/>
              <a:gd name="T38" fmla="*/ 1642 w 1933"/>
              <a:gd name="T39" fmla="*/ 1028 h 2183"/>
              <a:gd name="T40" fmla="*/ 1642 w 1933"/>
              <a:gd name="T41" fmla="*/ 610 h 2183"/>
              <a:gd name="T42" fmla="*/ 1362 w 1933"/>
              <a:gd name="T43" fmla="*/ 274 h 2183"/>
              <a:gd name="T44" fmla="*/ 770 w 1933"/>
              <a:gd name="T45" fmla="*/ 1368 h 2183"/>
              <a:gd name="T46" fmla="*/ 770 w 1933"/>
              <a:gd name="T47" fmla="*/ 1368 h 2183"/>
              <a:gd name="T48" fmla="*/ 342 w 1933"/>
              <a:gd name="T49" fmla="*/ 1368 h 2183"/>
              <a:gd name="T50" fmla="*/ 274 w 1933"/>
              <a:gd name="T51" fmla="*/ 1300 h 2183"/>
              <a:gd name="T52" fmla="*/ 342 w 1933"/>
              <a:gd name="T53" fmla="*/ 1232 h 2183"/>
              <a:gd name="T54" fmla="*/ 770 w 1933"/>
              <a:gd name="T55" fmla="*/ 1232 h 2183"/>
              <a:gd name="T56" fmla="*/ 838 w 1933"/>
              <a:gd name="T57" fmla="*/ 1300 h 2183"/>
              <a:gd name="T58" fmla="*/ 770 w 1933"/>
              <a:gd name="T59" fmla="*/ 1368 h 2183"/>
              <a:gd name="T60" fmla="*/ 907 w 1933"/>
              <a:gd name="T61" fmla="*/ 1095 h 2183"/>
              <a:gd name="T62" fmla="*/ 907 w 1933"/>
              <a:gd name="T63" fmla="*/ 1095 h 2183"/>
              <a:gd name="T64" fmla="*/ 342 w 1933"/>
              <a:gd name="T65" fmla="*/ 1095 h 2183"/>
              <a:gd name="T66" fmla="*/ 274 w 1933"/>
              <a:gd name="T67" fmla="*/ 1026 h 2183"/>
              <a:gd name="T68" fmla="*/ 342 w 1933"/>
              <a:gd name="T69" fmla="*/ 958 h 2183"/>
              <a:gd name="T70" fmla="*/ 907 w 1933"/>
              <a:gd name="T71" fmla="*/ 958 h 2183"/>
              <a:gd name="T72" fmla="*/ 975 w 1933"/>
              <a:gd name="T73" fmla="*/ 1026 h 2183"/>
              <a:gd name="T74" fmla="*/ 907 w 1933"/>
              <a:gd name="T75" fmla="*/ 1095 h 2183"/>
              <a:gd name="T76" fmla="*/ 1605 w 1933"/>
              <a:gd name="T77" fmla="*/ 1197 h 2183"/>
              <a:gd name="T78" fmla="*/ 1497 w 1933"/>
              <a:gd name="T79" fmla="*/ 1183 h 2183"/>
              <a:gd name="T80" fmla="*/ 1060 w 1933"/>
              <a:gd name="T81" fmla="*/ 1619 h 2183"/>
              <a:gd name="T82" fmla="*/ 1405 w 1933"/>
              <a:gd name="T83" fmla="*/ 2045 h 2183"/>
              <a:gd name="T84" fmla="*/ 1497 w 1933"/>
              <a:gd name="T85" fmla="*/ 2055 h 2183"/>
              <a:gd name="T86" fmla="*/ 1933 w 1933"/>
              <a:gd name="T87" fmla="*/ 1619 h 2183"/>
              <a:gd name="T88" fmla="*/ 1605 w 1933"/>
              <a:gd name="T89" fmla="*/ 1197 h 2183"/>
              <a:gd name="T90" fmla="*/ 1743 w 1933"/>
              <a:gd name="T91" fmla="*/ 1557 h 2183"/>
              <a:gd name="T92" fmla="*/ 1743 w 1933"/>
              <a:gd name="T93" fmla="*/ 1557 h 2183"/>
              <a:gd name="T94" fmla="*/ 1605 w 1933"/>
              <a:gd name="T95" fmla="*/ 1695 h 2183"/>
              <a:gd name="T96" fmla="*/ 1497 w 1933"/>
              <a:gd name="T97" fmla="*/ 1804 h 2183"/>
              <a:gd name="T98" fmla="*/ 1373 w 1933"/>
              <a:gd name="T99" fmla="*/ 1804 h 2183"/>
              <a:gd name="T100" fmla="*/ 1250 w 1933"/>
              <a:gd name="T101" fmla="*/ 1681 h 2183"/>
              <a:gd name="T102" fmla="*/ 1250 w 1933"/>
              <a:gd name="T103" fmla="*/ 1557 h 2183"/>
              <a:gd name="T104" fmla="*/ 1373 w 1933"/>
              <a:gd name="T105" fmla="*/ 1557 h 2183"/>
              <a:gd name="T106" fmla="*/ 1435 w 1933"/>
              <a:gd name="T107" fmla="*/ 1619 h 2183"/>
              <a:gd name="T108" fmla="*/ 1605 w 1933"/>
              <a:gd name="T109" fmla="*/ 1448 h 2183"/>
              <a:gd name="T110" fmla="*/ 1620 w 1933"/>
              <a:gd name="T111" fmla="*/ 1434 h 2183"/>
              <a:gd name="T112" fmla="*/ 1743 w 1933"/>
              <a:gd name="T113" fmla="*/ 1434 h 2183"/>
              <a:gd name="T114" fmla="*/ 1743 w 1933"/>
              <a:gd name="T115" fmla="*/ 1557 h 21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933" h="2183">
                <a:moveTo>
                  <a:pt x="1232" y="274"/>
                </a:moveTo>
                <a:cubicBezTo>
                  <a:pt x="1232" y="425"/>
                  <a:pt x="1109" y="547"/>
                  <a:pt x="958" y="547"/>
                </a:cubicBezTo>
                <a:lnTo>
                  <a:pt x="684" y="547"/>
                </a:lnTo>
                <a:cubicBezTo>
                  <a:pt x="533" y="547"/>
                  <a:pt x="411" y="425"/>
                  <a:pt x="411" y="274"/>
                </a:cubicBezTo>
                <a:cubicBezTo>
                  <a:pt x="411" y="122"/>
                  <a:pt x="533" y="0"/>
                  <a:pt x="684" y="0"/>
                </a:cubicBezTo>
                <a:lnTo>
                  <a:pt x="958" y="0"/>
                </a:lnTo>
                <a:cubicBezTo>
                  <a:pt x="1109" y="0"/>
                  <a:pt x="1232" y="122"/>
                  <a:pt x="1232" y="274"/>
                </a:cubicBezTo>
                <a:close/>
                <a:moveTo>
                  <a:pt x="1362" y="274"/>
                </a:moveTo>
                <a:cubicBezTo>
                  <a:pt x="1366" y="294"/>
                  <a:pt x="1368" y="315"/>
                  <a:pt x="1368" y="336"/>
                </a:cubicBezTo>
                <a:cubicBezTo>
                  <a:pt x="1368" y="525"/>
                  <a:pt x="1215" y="678"/>
                  <a:pt x="1026" y="678"/>
                </a:cubicBezTo>
                <a:lnTo>
                  <a:pt x="616" y="678"/>
                </a:lnTo>
                <a:cubicBezTo>
                  <a:pt x="427" y="678"/>
                  <a:pt x="274" y="525"/>
                  <a:pt x="274" y="336"/>
                </a:cubicBezTo>
                <a:cubicBezTo>
                  <a:pt x="274" y="315"/>
                  <a:pt x="276" y="294"/>
                  <a:pt x="280" y="274"/>
                </a:cubicBezTo>
                <a:cubicBezTo>
                  <a:pt x="121" y="303"/>
                  <a:pt x="0" y="442"/>
                  <a:pt x="0" y="610"/>
                </a:cubicBezTo>
                <a:lnTo>
                  <a:pt x="0" y="1841"/>
                </a:lnTo>
                <a:cubicBezTo>
                  <a:pt x="0" y="2030"/>
                  <a:pt x="153" y="2183"/>
                  <a:pt x="342" y="2183"/>
                </a:cubicBezTo>
                <a:lnTo>
                  <a:pt x="1253" y="2183"/>
                </a:lnTo>
                <a:cubicBezTo>
                  <a:pt x="1034" y="2090"/>
                  <a:pt x="881" y="1873"/>
                  <a:pt x="881" y="1620"/>
                </a:cubicBezTo>
                <a:cubicBezTo>
                  <a:pt x="881" y="1283"/>
                  <a:pt x="1155" y="1009"/>
                  <a:pt x="1492" y="1009"/>
                </a:cubicBezTo>
                <a:cubicBezTo>
                  <a:pt x="1544" y="1009"/>
                  <a:pt x="1594" y="1016"/>
                  <a:pt x="1642" y="1028"/>
                </a:cubicBezTo>
                <a:lnTo>
                  <a:pt x="1642" y="610"/>
                </a:lnTo>
                <a:cubicBezTo>
                  <a:pt x="1642" y="442"/>
                  <a:pt x="1521" y="303"/>
                  <a:pt x="1362" y="274"/>
                </a:cubicBezTo>
                <a:close/>
                <a:moveTo>
                  <a:pt x="770" y="1368"/>
                </a:moveTo>
                <a:lnTo>
                  <a:pt x="770" y="1368"/>
                </a:lnTo>
                <a:lnTo>
                  <a:pt x="342" y="1368"/>
                </a:lnTo>
                <a:cubicBezTo>
                  <a:pt x="304" y="1368"/>
                  <a:pt x="274" y="1338"/>
                  <a:pt x="274" y="1300"/>
                </a:cubicBezTo>
                <a:cubicBezTo>
                  <a:pt x="274" y="1262"/>
                  <a:pt x="304" y="1232"/>
                  <a:pt x="342" y="1232"/>
                </a:cubicBezTo>
                <a:lnTo>
                  <a:pt x="770" y="1232"/>
                </a:lnTo>
                <a:cubicBezTo>
                  <a:pt x="807" y="1232"/>
                  <a:pt x="838" y="1262"/>
                  <a:pt x="838" y="1300"/>
                </a:cubicBezTo>
                <a:cubicBezTo>
                  <a:pt x="838" y="1338"/>
                  <a:pt x="807" y="1368"/>
                  <a:pt x="770" y="1368"/>
                </a:cubicBezTo>
                <a:close/>
                <a:moveTo>
                  <a:pt x="907" y="1095"/>
                </a:moveTo>
                <a:lnTo>
                  <a:pt x="907" y="1095"/>
                </a:lnTo>
                <a:lnTo>
                  <a:pt x="342" y="1095"/>
                </a:lnTo>
                <a:cubicBezTo>
                  <a:pt x="304" y="1095"/>
                  <a:pt x="274" y="1064"/>
                  <a:pt x="274" y="1026"/>
                </a:cubicBezTo>
                <a:cubicBezTo>
                  <a:pt x="274" y="988"/>
                  <a:pt x="304" y="958"/>
                  <a:pt x="342" y="958"/>
                </a:cubicBezTo>
                <a:lnTo>
                  <a:pt x="907" y="958"/>
                </a:lnTo>
                <a:cubicBezTo>
                  <a:pt x="944" y="958"/>
                  <a:pt x="975" y="988"/>
                  <a:pt x="975" y="1026"/>
                </a:cubicBezTo>
                <a:cubicBezTo>
                  <a:pt x="975" y="1064"/>
                  <a:pt x="944" y="1095"/>
                  <a:pt x="907" y="1095"/>
                </a:cubicBezTo>
                <a:close/>
                <a:moveTo>
                  <a:pt x="1605" y="1197"/>
                </a:moveTo>
                <a:cubicBezTo>
                  <a:pt x="1571" y="1187"/>
                  <a:pt x="1534" y="1183"/>
                  <a:pt x="1497" y="1183"/>
                </a:cubicBezTo>
                <a:cubicBezTo>
                  <a:pt x="1256" y="1183"/>
                  <a:pt x="1060" y="1378"/>
                  <a:pt x="1060" y="1619"/>
                </a:cubicBezTo>
                <a:cubicBezTo>
                  <a:pt x="1060" y="1828"/>
                  <a:pt x="1208" y="2003"/>
                  <a:pt x="1405" y="2045"/>
                </a:cubicBezTo>
                <a:cubicBezTo>
                  <a:pt x="1434" y="2051"/>
                  <a:pt x="1465" y="2055"/>
                  <a:pt x="1497" y="2055"/>
                </a:cubicBezTo>
                <a:cubicBezTo>
                  <a:pt x="1737" y="2055"/>
                  <a:pt x="1933" y="1860"/>
                  <a:pt x="1933" y="1619"/>
                </a:cubicBezTo>
                <a:cubicBezTo>
                  <a:pt x="1933" y="1416"/>
                  <a:pt x="1794" y="1245"/>
                  <a:pt x="1605" y="1197"/>
                </a:cubicBezTo>
                <a:close/>
                <a:moveTo>
                  <a:pt x="1743" y="1557"/>
                </a:moveTo>
                <a:lnTo>
                  <a:pt x="1743" y="1557"/>
                </a:lnTo>
                <a:lnTo>
                  <a:pt x="1605" y="1695"/>
                </a:lnTo>
                <a:lnTo>
                  <a:pt x="1497" y="1804"/>
                </a:lnTo>
                <a:cubicBezTo>
                  <a:pt x="1462" y="1838"/>
                  <a:pt x="1407" y="1838"/>
                  <a:pt x="1373" y="1804"/>
                </a:cubicBezTo>
                <a:lnTo>
                  <a:pt x="1250" y="1681"/>
                </a:lnTo>
                <a:cubicBezTo>
                  <a:pt x="1216" y="1646"/>
                  <a:pt x="1216" y="1591"/>
                  <a:pt x="1250" y="1557"/>
                </a:cubicBezTo>
                <a:cubicBezTo>
                  <a:pt x="1284" y="1523"/>
                  <a:pt x="1339" y="1523"/>
                  <a:pt x="1373" y="1557"/>
                </a:cubicBezTo>
                <a:lnTo>
                  <a:pt x="1435" y="1619"/>
                </a:lnTo>
                <a:lnTo>
                  <a:pt x="1605" y="1448"/>
                </a:lnTo>
                <a:lnTo>
                  <a:pt x="1620" y="1434"/>
                </a:lnTo>
                <a:cubicBezTo>
                  <a:pt x="1654" y="1400"/>
                  <a:pt x="1709" y="1400"/>
                  <a:pt x="1743" y="1434"/>
                </a:cubicBezTo>
                <a:cubicBezTo>
                  <a:pt x="1777" y="1468"/>
                  <a:pt x="1777" y="1523"/>
                  <a:pt x="1743" y="1557"/>
                </a:cubicBezTo>
                <a:close/>
              </a:path>
            </a:pathLst>
          </a:custGeom>
          <a:solidFill>
            <a:schemeClr val="bg1"/>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30" name="椭圆 29"/>
          <p:cNvSpPr>
            <a:spLocks noChangeAspect="1"/>
          </p:cNvSpPr>
          <p:nvPr/>
        </p:nvSpPr>
        <p:spPr bwMode="auto">
          <a:xfrm>
            <a:off x="4804196" y="1703458"/>
            <a:ext cx="625485" cy="596500"/>
          </a:xfrm>
          <a:prstGeom prst="ellipse">
            <a:avLst/>
          </a:prstGeom>
          <a:solidFill>
            <a:srgbClr val="92D050"/>
          </a:solidFill>
          <a:ln w="9525" cap="flat" cmpd="sng" algn="ctr">
            <a:noFill/>
            <a:prstDash val="solid"/>
            <a:round/>
            <a:headEnd type="none" w="med" len="med"/>
            <a:tailEnd type="none" w="med" len="med"/>
          </a:ln>
          <a:effectLst/>
          <a:extLst/>
        </p:spPr>
        <p:txBody>
          <a:bodyPr vert="horz" wrap="square" lIns="91398" tIns="45699" rIns="91398" bIns="45699" numCol="1" rtlCol="0" anchor="t" anchorCtr="0" compatLnSpc="1">
            <a:prstTxWarp prst="textNoShape">
              <a:avLst/>
            </a:prstTxWarp>
          </a:bodyPr>
          <a:lstStyle/>
          <a:p>
            <a:pPr defTabSz="913973"/>
            <a:endParaRPr lang="zh-CN" altLang="en-US" sz="1599" b="1" dirty="0">
              <a:solidFill>
                <a:schemeClr val="bg1"/>
              </a:solidFill>
              <a:latin typeface="+mn-ea"/>
            </a:endParaRPr>
          </a:p>
        </p:txBody>
      </p:sp>
      <p:sp>
        <p:nvSpPr>
          <p:cNvPr id="32" name="椭圆 31"/>
          <p:cNvSpPr>
            <a:spLocks noChangeAspect="1"/>
          </p:cNvSpPr>
          <p:nvPr/>
        </p:nvSpPr>
        <p:spPr bwMode="auto">
          <a:xfrm>
            <a:off x="5379530" y="2661251"/>
            <a:ext cx="625485" cy="625485"/>
          </a:xfrm>
          <a:prstGeom prst="ellipse">
            <a:avLst/>
          </a:prstGeom>
          <a:solidFill>
            <a:srgbClr val="FFC000"/>
          </a:solidFill>
          <a:ln w="9525" cap="flat" cmpd="sng" algn="ctr">
            <a:noFill/>
            <a:prstDash val="solid"/>
            <a:round/>
            <a:headEnd type="none" w="med" len="med"/>
            <a:tailEnd type="none" w="med" len="med"/>
          </a:ln>
          <a:effectLst/>
          <a:extLst/>
        </p:spPr>
        <p:txBody>
          <a:bodyPr vert="horz" wrap="square" lIns="91398" tIns="45699" rIns="91398" bIns="45699" numCol="1" rtlCol="0" anchor="t" anchorCtr="0" compatLnSpc="1">
            <a:prstTxWarp prst="textNoShape">
              <a:avLst/>
            </a:prstTxWarp>
          </a:bodyPr>
          <a:lstStyle/>
          <a:p>
            <a:pPr defTabSz="913973"/>
            <a:endParaRPr lang="zh-CN" altLang="en-US" sz="1599" b="1" dirty="0">
              <a:solidFill>
                <a:schemeClr val="bg1"/>
              </a:solidFill>
              <a:latin typeface="+mn-ea"/>
            </a:endParaRPr>
          </a:p>
        </p:txBody>
      </p:sp>
      <p:sp>
        <p:nvSpPr>
          <p:cNvPr id="34" name="椭圆 33"/>
          <p:cNvSpPr>
            <a:spLocks noChangeAspect="1"/>
          </p:cNvSpPr>
          <p:nvPr/>
        </p:nvSpPr>
        <p:spPr bwMode="auto">
          <a:xfrm>
            <a:off x="5885522" y="3822340"/>
            <a:ext cx="625485" cy="625485"/>
          </a:xfrm>
          <a:prstGeom prst="ellipse">
            <a:avLst/>
          </a:prstGeom>
          <a:solidFill>
            <a:srgbClr val="04B0BE"/>
          </a:solidFill>
          <a:ln w="9525" cap="flat" cmpd="sng" algn="ctr">
            <a:noFill/>
            <a:prstDash val="solid"/>
            <a:round/>
            <a:headEnd type="none" w="med" len="med"/>
            <a:tailEnd type="none" w="med" len="med"/>
          </a:ln>
          <a:effectLst/>
          <a:extLst/>
        </p:spPr>
        <p:txBody>
          <a:bodyPr vert="horz" wrap="square" lIns="91398" tIns="45699" rIns="91398" bIns="45699" numCol="1" rtlCol="0" anchor="t" anchorCtr="0" compatLnSpc="1">
            <a:prstTxWarp prst="textNoShape">
              <a:avLst/>
            </a:prstTxWarp>
          </a:bodyPr>
          <a:lstStyle/>
          <a:p>
            <a:pPr defTabSz="913973"/>
            <a:endParaRPr lang="zh-CN" altLang="en-US" sz="1599" b="1" dirty="0">
              <a:solidFill>
                <a:schemeClr val="bg1"/>
              </a:solidFill>
              <a:latin typeface="+mn-ea"/>
            </a:endParaRPr>
          </a:p>
        </p:txBody>
      </p:sp>
      <p:sp>
        <p:nvSpPr>
          <p:cNvPr id="36" name="椭圆 35"/>
          <p:cNvSpPr>
            <a:spLocks noChangeAspect="1"/>
          </p:cNvSpPr>
          <p:nvPr/>
        </p:nvSpPr>
        <p:spPr bwMode="auto">
          <a:xfrm>
            <a:off x="5256569" y="4886613"/>
            <a:ext cx="625485" cy="625485"/>
          </a:xfrm>
          <a:prstGeom prst="ellipse">
            <a:avLst/>
          </a:prstGeom>
          <a:solidFill>
            <a:schemeClr val="accent6">
              <a:lumMod val="75000"/>
            </a:schemeClr>
          </a:solidFill>
          <a:ln w="9525" cap="flat" cmpd="sng" algn="ctr">
            <a:noFill/>
            <a:prstDash val="solid"/>
            <a:round/>
            <a:headEnd type="none" w="med" len="med"/>
            <a:tailEnd type="none" w="med" len="med"/>
          </a:ln>
          <a:effectLst/>
          <a:extLst/>
        </p:spPr>
        <p:txBody>
          <a:bodyPr vert="horz" wrap="square" lIns="91398" tIns="45699" rIns="91398" bIns="45699" numCol="1" rtlCol="0" anchor="t" anchorCtr="0" compatLnSpc="1">
            <a:prstTxWarp prst="textNoShape">
              <a:avLst/>
            </a:prstTxWarp>
          </a:bodyPr>
          <a:lstStyle/>
          <a:p>
            <a:pPr defTabSz="913973"/>
            <a:endParaRPr lang="zh-CN" altLang="en-US" sz="1599" b="1" dirty="0">
              <a:solidFill>
                <a:schemeClr val="bg1"/>
              </a:solidFill>
              <a:latin typeface="+mn-ea"/>
            </a:endParaRPr>
          </a:p>
        </p:txBody>
      </p:sp>
      <p:sp>
        <p:nvSpPr>
          <p:cNvPr id="38" name="椭圆 37"/>
          <p:cNvSpPr>
            <a:spLocks noChangeAspect="1"/>
          </p:cNvSpPr>
          <p:nvPr/>
        </p:nvSpPr>
        <p:spPr bwMode="auto">
          <a:xfrm>
            <a:off x="4467875" y="5940413"/>
            <a:ext cx="625485" cy="625485"/>
          </a:xfrm>
          <a:prstGeom prst="ellipse">
            <a:avLst/>
          </a:prstGeom>
          <a:solidFill>
            <a:schemeClr val="accent2">
              <a:lumMod val="75000"/>
            </a:schemeClr>
          </a:solidFill>
          <a:ln w="9525" cap="flat" cmpd="sng" algn="ctr">
            <a:noFill/>
            <a:prstDash val="solid"/>
            <a:round/>
            <a:headEnd type="none" w="med" len="med"/>
            <a:tailEnd type="none" w="med" len="med"/>
          </a:ln>
          <a:effectLst/>
          <a:extLst/>
        </p:spPr>
        <p:txBody>
          <a:bodyPr vert="horz" wrap="square" lIns="91398" tIns="45699" rIns="91398" bIns="45699" numCol="1" rtlCol="0" anchor="t" anchorCtr="0" compatLnSpc="1">
            <a:prstTxWarp prst="textNoShape">
              <a:avLst/>
            </a:prstTxWarp>
          </a:bodyPr>
          <a:lstStyle/>
          <a:p>
            <a:pPr defTabSz="913973"/>
            <a:endParaRPr lang="zh-CN" altLang="en-US" sz="1599" b="1" dirty="0">
              <a:solidFill>
                <a:schemeClr val="bg1"/>
              </a:solidFill>
              <a:latin typeface="+mn-ea"/>
            </a:endParaRPr>
          </a:p>
        </p:txBody>
      </p:sp>
      <p:sp>
        <p:nvSpPr>
          <p:cNvPr id="19" name="TextBox 26"/>
          <p:cNvSpPr txBox="1"/>
          <p:nvPr/>
        </p:nvSpPr>
        <p:spPr>
          <a:xfrm>
            <a:off x="15088349" y="8718068"/>
            <a:ext cx="1107996" cy="461665"/>
          </a:xfrm>
          <a:prstGeom prst="rect">
            <a:avLst/>
          </a:prstGeom>
          <a:noFill/>
        </p:spPr>
        <p:txBody>
          <a:bodyPr wrap="none" rtlCol="0">
            <a:spAutoFit/>
          </a:bodyPr>
          <a:lstStyle/>
          <a:p>
            <a:r>
              <a:rPr lang="zh-CN" altLang="en-US" sz="2400" dirty="0"/>
              <a:t>延时符</a:t>
            </a:r>
          </a:p>
        </p:txBody>
      </p:sp>
      <p:sp>
        <p:nvSpPr>
          <p:cNvPr id="3" name="矩形 2"/>
          <p:cNvSpPr/>
          <p:nvPr/>
        </p:nvSpPr>
        <p:spPr>
          <a:xfrm>
            <a:off x="790579" y="1031936"/>
            <a:ext cx="10303322" cy="800219"/>
          </a:xfrm>
          <a:prstGeom prst="rect">
            <a:avLst/>
          </a:prstGeom>
        </p:spPr>
        <p:txBody>
          <a:bodyPr wrap="square">
            <a:spAutoFit/>
          </a:bodyPr>
          <a:lstStyle/>
          <a:p>
            <a:pPr algn="just">
              <a:defRPr/>
            </a:pPr>
            <a:r>
              <a:rPr lang="zh-CN" altLang="en-US" sz="2800" b="1" kern="0" dirty="0">
                <a:solidFill>
                  <a:schemeClr val="tx1">
                    <a:lumMod val="75000"/>
                  </a:schemeClr>
                </a:solidFill>
                <a:latin typeface="微软雅黑" panose="020B0503020204020204" pitchFamily="34" charset="-122"/>
                <a:ea typeface="微软雅黑" panose="020B0503020204020204" pitchFamily="34" charset="-122"/>
              </a:rPr>
              <a:t>计算机外围设备之间差异很大，主要体现在以下几个方面：</a:t>
            </a:r>
            <a:endParaRPr lang="en-US" altLang="zh-CN" sz="2800" b="1" kern="0" dirty="0">
              <a:solidFill>
                <a:schemeClr val="tx1">
                  <a:lumMod val="75000"/>
                </a:schemeClr>
              </a:solidFill>
              <a:latin typeface="微软雅黑" panose="020B0503020204020204" pitchFamily="34" charset="-122"/>
              <a:ea typeface="微软雅黑" panose="020B0503020204020204" pitchFamily="34" charset="-122"/>
            </a:endParaRPr>
          </a:p>
          <a:p>
            <a:endParaRPr lang="en-US" altLang="zh-CN" dirty="0"/>
          </a:p>
        </p:txBody>
      </p:sp>
      <p:sp>
        <p:nvSpPr>
          <p:cNvPr id="4" name="文本框 3"/>
          <p:cNvSpPr txBox="1"/>
          <p:nvPr/>
        </p:nvSpPr>
        <p:spPr>
          <a:xfrm>
            <a:off x="4860915" y="1689424"/>
            <a:ext cx="1037229" cy="646331"/>
          </a:xfrm>
          <a:prstGeom prst="rect">
            <a:avLst/>
          </a:prstGeom>
          <a:noFill/>
        </p:spPr>
        <p:txBody>
          <a:bodyPr wrap="square" rtlCol="0">
            <a:spAutoFit/>
          </a:bodyPr>
          <a:lstStyle/>
          <a:p>
            <a:r>
              <a:rPr lang="en-US" altLang="zh-CN" sz="3600" b="1" dirty="0">
                <a:solidFill>
                  <a:schemeClr val="bg1"/>
                </a:solidFill>
                <a:latin typeface="微软雅黑" panose="020B0503020204020204" pitchFamily="34" charset="-122"/>
                <a:ea typeface="微软雅黑" panose="020B0503020204020204" pitchFamily="34" charset="-122"/>
              </a:rPr>
              <a:t>1</a:t>
            </a:r>
            <a:endParaRPr lang="zh-CN" altLang="en-US" sz="3600" b="1" dirty="0">
              <a:solidFill>
                <a:schemeClr val="bg1"/>
              </a:solidFill>
              <a:latin typeface="微软雅黑" panose="020B0503020204020204" pitchFamily="34" charset="-122"/>
              <a:ea typeface="微软雅黑" panose="020B0503020204020204" pitchFamily="34" charset="-122"/>
            </a:endParaRPr>
          </a:p>
        </p:txBody>
      </p:sp>
      <p:sp>
        <p:nvSpPr>
          <p:cNvPr id="23" name="文本框 22"/>
          <p:cNvSpPr txBox="1"/>
          <p:nvPr/>
        </p:nvSpPr>
        <p:spPr>
          <a:xfrm>
            <a:off x="5436249" y="2661251"/>
            <a:ext cx="1037229" cy="646331"/>
          </a:xfrm>
          <a:prstGeom prst="rect">
            <a:avLst/>
          </a:prstGeom>
          <a:noFill/>
        </p:spPr>
        <p:txBody>
          <a:bodyPr wrap="square" rtlCol="0">
            <a:spAutoFit/>
          </a:bodyPr>
          <a:lstStyle/>
          <a:p>
            <a:r>
              <a:rPr lang="en-US" altLang="zh-CN" sz="3600" b="1" dirty="0">
                <a:solidFill>
                  <a:schemeClr val="bg1"/>
                </a:solidFill>
                <a:latin typeface="微软雅黑" panose="020B0503020204020204" pitchFamily="34" charset="-122"/>
                <a:ea typeface="微软雅黑" panose="020B0503020204020204" pitchFamily="34" charset="-122"/>
              </a:rPr>
              <a:t>2</a:t>
            </a:r>
            <a:endParaRPr lang="zh-CN" altLang="en-US" sz="3600" b="1" dirty="0">
              <a:solidFill>
                <a:schemeClr val="bg1"/>
              </a:solidFill>
              <a:latin typeface="微软雅黑" panose="020B0503020204020204" pitchFamily="34" charset="-122"/>
              <a:ea typeface="微软雅黑" panose="020B0503020204020204" pitchFamily="34" charset="-122"/>
            </a:endParaRPr>
          </a:p>
        </p:txBody>
      </p:sp>
      <p:sp>
        <p:nvSpPr>
          <p:cNvPr id="24" name="文本框 23"/>
          <p:cNvSpPr txBox="1"/>
          <p:nvPr/>
        </p:nvSpPr>
        <p:spPr>
          <a:xfrm>
            <a:off x="5942240" y="3822340"/>
            <a:ext cx="1037229" cy="646331"/>
          </a:xfrm>
          <a:prstGeom prst="rect">
            <a:avLst/>
          </a:prstGeom>
          <a:noFill/>
        </p:spPr>
        <p:txBody>
          <a:bodyPr wrap="square" rtlCol="0">
            <a:spAutoFit/>
          </a:bodyPr>
          <a:lstStyle/>
          <a:p>
            <a:r>
              <a:rPr lang="en-US" altLang="zh-CN" sz="3600" b="1" dirty="0">
                <a:solidFill>
                  <a:schemeClr val="bg1"/>
                </a:solidFill>
                <a:latin typeface="微软雅黑" panose="020B0503020204020204" pitchFamily="34" charset="-122"/>
                <a:ea typeface="微软雅黑" panose="020B0503020204020204" pitchFamily="34" charset="-122"/>
              </a:rPr>
              <a:t>3</a:t>
            </a:r>
            <a:endParaRPr lang="zh-CN" altLang="en-US" sz="3600" b="1" dirty="0">
              <a:solidFill>
                <a:schemeClr val="bg1"/>
              </a:solidFill>
              <a:latin typeface="微软雅黑" panose="020B0503020204020204" pitchFamily="34" charset="-122"/>
              <a:ea typeface="微软雅黑" panose="020B0503020204020204" pitchFamily="34" charset="-122"/>
            </a:endParaRPr>
          </a:p>
        </p:txBody>
      </p:sp>
      <p:sp>
        <p:nvSpPr>
          <p:cNvPr id="25" name="文本框 24"/>
          <p:cNvSpPr txBox="1"/>
          <p:nvPr/>
        </p:nvSpPr>
        <p:spPr>
          <a:xfrm>
            <a:off x="5313287" y="4918496"/>
            <a:ext cx="1037229" cy="646331"/>
          </a:xfrm>
          <a:prstGeom prst="rect">
            <a:avLst/>
          </a:prstGeom>
          <a:noFill/>
        </p:spPr>
        <p:txBody>
          <a:bodyPr wrap="square" rtlCol="0">
            <a:spAutoFit/>
          </a:bodyPr>
          <a:lstStyle/>
          <a:p>
            <a:r>
              <a:rPr lang="en-US" altLang="zh-CN" sz="3600" b="1" dirty="0">
                <a:solidFill>
                  <a:schemeClr val="bg1"/>
                </a:solidFill>
                <a:latin typeface="微软雅黑" panose="020B0503020204020204" pitchFamily="34" charset="-122"/>
                <a:ea typeface="微软雅黑" panose="020B0503020204020204" pitchFamily="34" charset="-122"/>
              </a:rPr>
              <a:t>4</a:t>
            </a:r>
            <a:endParaRPr lang="zh-CN" altLang="en-US" sz="3600" b="1" dirty="0">
              <a:solidFill>
                <a:schemeClr val="bg1"/>
              </a:solidFill>
              <a:latin typeface="微软雅黑" panose="020B0503020204020204" pitchFamily="34" charset="-122"/>
              <a:ea typeface="微软雅黑" panose="020B0503020204020204" pitchFamily="34" charset="-122"/>
            </a:endParaRPr>
          </a:p>
        </p:txBody>
      </p:sp>
      <p:sp>
        <p:nvSpPr>
          <p:cNvPr id="26" name="文本框 25"/>
          <p:cNvSpPr txBox="1"/>
          <p:nvPr/>
        </p:nvSpPr>
        <p:spPr>
          <a:xfrm>
            <a:off x="4574745" y="5940413"/>
            <a:ext cx="1037229" cy="646331"/>
          </a:xfrm>
          <a:prstGeom prst="rect">
            <a:avLst/>
          </a:prstGeom>
          <a:noFill/>
        </p:spPr>
        <p:txBody>
          <a:bodyPr wrap="square" rtlCol="0">
            <a:spAutoFit/>
          </a:bodyPr>
          <a:lstStyle/>
          <a:p>
            <a:r>
              <a:rPr lang="en-US" altLang="zh-CN" sz="3600" b="1" dirty="0">
                <a:solidFill>
                  <a:schemeClr val="bg1"/>
                </a:solidFill>
                <a:latin typeface="微软雅黑" panose="020B0503020204020204" pitchFamily="34" charset="-122"/>
                <a:ea typeface="微软雅黑" panose="020B0503020204020204" pitchFamily="34" charset="-122"/>
              </a:rPr>
              <a:t>5</a:t>
            </a:r>
            <a:endParaRPr lang="zh-CN" altLang="en-US" sz="3600" b="1" dirty="0">
              <a:solidFill>
                <a:schemeClr val="bg1"/>
              </a:solidFill>
              <a:latin typeface="微软雅黑" panose="020B0503020204020204" pitchFamily="34" charset="-122"/>
              <a:ea typeface="微软雅黑" panose="020B0503020204020204" pitchFamily="34" charset="-122"/>
            </a:endParaRPr>
          </a:p>
        </p:txBody>
      </p:sp>
      <p:sp>
        <p:nvSpPr>
          <p:cNvPr id="9" name="矩形 8"/>
          <p:cNvSpPr/>
          <p:nvPr/>
        </p:nvSpPr>
        <p:spPr>
          <a:xfrm>
            <a:off x="5835566" y="1712416"/>
            <a:ext cx="2287806" cy="584775"/>
          </a:xfrm>
          <a:prstGeom prst="rect">
            <a:avLst/>
          </a:prstGeom>
        </p:spPr>
        <p:txBody>
          <a:bodyPr wrap="none">
            <a:spAutoFit/>
          </a:bodyPr>
          <a:lstStyle/>
          <a:p>
            <a:pPr lvl="1"/>
            <a:r>
              <a:rPr lang="zh-CN" altLang="en-US" sz="3200" b="1" dirty="0">
                <a:latin typeface="微软雅黑" panose="020B0503020204020204" pitchFamily="34" charset="-122"/>
                <a:ea typeface="微软雅黑" panose="020B0503020204020204" pitchFamily="34" charset="-122"/>
              </a:rPr>
              <a:t>物理特性</a:t>
            </a:r>
            <a:endParaRPr lang="en-US" altLang="zh-CN" sz="3200" b="1" dirty="0">
              <a:latin typeface="微软雅黑" panose="020B0503020204020204" pitchFamily="34" charset="-122"/>
              <a:ea typeface="微软雅黑" panose="020B0503020204020204" pitchFamily="34" charset="-122"/>
            </a:endParaRPr>
          </a:p>
        </p:txBody>
      </p:sp>
      <p:sp>
        <p:nvSpPr>
          <p:cNvPr id="12" name="矩形 11"/>
          <p:cNvSpPr/>
          <p:nvPr/>
        </p:nvSpPr>
        <p:spPr>
          <a:xfrm>
            <a:off x="6350516" y="2661251"/>
            <a:ext cx="2287806" cy="584775"/>
          </a:xfrm>
          <a:prstGeom prst="rect">
            <a:avLst/>
          </a:prstGeom>
        </p:spPr>
        <p:txBody>
          <a:bodyPr wrap="none">
            <a:spAutoFit/>
          </a:bodyPr>
          <a:lstStyle/>
          <a:p>
            <a:pPr lvl="1"/>
            <a:r>
              <a:rPr lang="zh-CN" altLang="en-US" sz="3200" b="1" dirty="0">
                <a:latin typeface="微软雅黑" panose="020B0503020204020204" pitchFamily="34" charset="-122"/>
                <a:ea typeface="微软雅黑" panose="020B0503020204020204" pitchFamily="34" charset="-122"/>
              </a:rPr>
              <a:t>电气特性</a:t>
            </a:r>
            <a:endParaRPr lang="en-US" altLang="zh-CN" sz="3200" b="1" dirty="0">
              <a:latin typeface="微软雅黑" panose="020B0503020204020204" pitchFamily="34" charset="-122"/>
              <a:ea typeface="微软雅黑" panose="020B0503020204020204" pitchFamily="34" charset="-122"/>
            </a:endParaRPr>
          </a:p>
        </p:txBody>
      </p:sp>
      <p:sp>
        <p:nvSpPr>
          <p:cNvPr id="13" name="矩形 12"/>
          <p:cNvSpPr/>
          <p:nvPr/>
        </p:nvSpPr>
        <p:spPr>
          <a:xfrm>
            <a:off x="6941941" y="3822340"/>
            <a:ext cx="2287806" cy="584775"/>
          </a:xfrm>
          <a:prstGeom prst="rect">
            <a:avLst/>
          </a:prstGeom>
        </p:spPr>
        <p:txBody>
          <a:bodyPr wrap="none">
            <a:spAutoFit/>
          </a:bodyPr>
          <a:lstStyle/>
          <a:p>
            <a:pPr lvl="1"/>
            <a:r>
              <a:rPr lang="zh-CN" altLang="en-US" sz="3200" b="1" dirty="0">
                <a:latin typeface="微软雅黑" panose="020B0503020204020204" pitchFamily="34" charset="-122"/>
                <a:ea typeface="微软雅黑" panose="020B0503020204020204" pitchFamily="34" charset="-122"/>
              </a:rPr>
              <a:t>功能特性</a:t>
            </a:r>
            <a:endParaRPr lang="en-US" altLang="zh-CN" sz="3200" b="1" dirty="0">
              <a:latin typeface="微软雅黑" panose="020B0503020204020204" pitchFamily="34" charset="-122"/>
              <a:ea typeface="微软雅黑" panose="020B0503020204020204" pitchFamily="34" charset="-122"/>
            </a:endParaRPr>
          </a:p>
        </p:txBody>
      </p:sp>
      <p:sp>
        <p:nvSpPr>
          <p:cNvPr id="14" name="矩形 13"/>
          <p:cNvSpPr/>
          <p:nvPr/>
        </p:nvSpPr>
        <p:spPr>
          <a:xfrm>
            <a:off x="6342331" y="4965318"/>
            <a:ext cx="2287806" cy="584775"/>
          </a:xfrm>
          <a:prstGeom prst="rect">
            <a:avLst/>
          </a:prstGeom>
        </p:spPr>
        <p:txBody>
          <a:bodyPr wrap="none">
            <a:spAutoFit/>
          </a:bodyPr>
          <a:lstStyle/>
          <a:p>
            <a:pPr lvl="1"/>
            <a:r>
              <a:rPr lang="zh-CN" altLang="en-US" sz="3200" b="1" dirty="0">
                <a:latin typeface="微软雅黑" panose="020B0503020204020204" pitchFamily="34" charset="-122"/>
                <a:ea typeface="微软雅黑" panose="020B0503020204020204" pitchFamily="34" charset="-122"/>
              </a:rPr>
              <a:t>数据格式</a:t>
            </a:r>
            <a:endParaRPr lang="en-US" altLang="zh-CN" sz="3200" b="1" dirty="0">
              <a:latin typeface="微软雅黑" panose="020B0503020204020204" pitchFamily="34" charset="-122"/>
              <a:ea typeface="微软雅黑" panose="020B0503020204020204" pitchFamily="34" charset="-122"/>
            </a:endParaRPr>
          </a:p>
        </p:txBody>
      </p:sp>
      <p:sp>
        <p:nvSpPr>
          <p:cNvPr id="15" name="矩形 14"/>
          <p:cNvSpPr/>
          <p:nvPr/>
        </p:nvSpPr>
        <p:spPr>
          <a:xfrm>
            <a:off x="5670440" y="6000118"/>
            <a:ext cx="2287806" cy="584775"/>
          </a:xfrm>
          <a:prstGeom prst="rect">
            <a:avLst/>
          </a:prstGeom>
        </p:spPr>
        <p:txBody>
          <a:bodyPr wrap="none">
            <a:spAutoFit/>
          </a:bodyPr>
          <a:lstStyle/>
          <a:p>
            <a:pPr lvl="1"/>
            <a:r>
              <a:rPr lang="zh-CN" altLang="en-US" sz="3200" b="1" dirty="0">
                <a:latin typeface="微软雅黑" panose="020B0503020204020204" pitchFamily="34" charset="-122"/>
                <a:ea typeface="微软雅黑" panose="020B0503020204020204" pitchFamily="34" charset="-122"/>
              </a:rPr>
              <a:t>传输速度</a:t>
            </a:r>
          </a:p>
        </p:txBody>
      </p:sp>
    </p:spTree>
    <p:extLst>
      <p:ext uri="{BB962C8B-B14F-4D97-AF65-F5344CB8AC3E}">
        <p14:creationId xmlns:p14="http://schemas.microsoft.com/office/powerpoint/2010/main" val="232740463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advTm="0">
        <p15:prstTrans prst="peelOff"/>
      </p:transition>
    </mc:Choice>
    <mc:Fallback xmlns="">
      <p:transition spd="slow" advTm="0">
        <p:fade/>
      </p:transition>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TextBox 54"/>
          <p:cNvSpPr txBox="1"/>
          <p:nvPr/>
        </p:nvSpPr>
        <p:spPr>
          <a:xfrm>
            <a:off x="875773" y="271747"/>
            <a:ext cx="5974331" cy="584733"/>
          </a:xfrm>
          <a:prstGeom prst="rect">
            <a:avLst/>
          </a:prstGeom>
          <a:noFill/>
        </p:spPr>
        <p:txBody>
          <a:bodyPr wrap="square" lIns="91398" tIns="45699" rIns="91398" bIns="45699" rtlCol="0">
            <a:spAutoFit/>
          </a:bodyPr>
          <a:lstStyle>
            <a:defPPr>
              <a:defRPr lang="zh-CN"/>
            </a:defPPr>
            <a:lvl1pPr>
              <a:defRPr sz="3200">
                <a:solidFill>
                  <a:schemeClr val="tx1">
                    <a:lumMod val="75000"/>
                  </a:schemeClr>
                </a:solidFill>
                <a:latin typeface="方正卡通简体" pitchFamily="65" charset="-122"/>
                <a:ea typeface="方正卡通简体" pitchFamily="65" charset="-122"/>
              </a:defRPr>
            </a:lvl1pPr>
          </a:lstStyle>
          <a:p>
            <a:pPr algn="just">
              <a:defRPr/>
            </a:pPr>
            <a:r>
              <a:rPr lang="zh-CN" altLang="en-US" b="1" kern="0" dirty="0">
                <a:latin typeface="微软雅黑" panose="020B0503020204020204" pitchFamily="34" charset="-122"/>
                <a:ea typeface="微软雅黑" panose="020B0503020204020204" pitchFamily="34" charset="-122"/>
              </a:rPr>
              <a:t>物理特性方面</a:t>
            </a:r>
          </a:p>
        </p:txBody>
      </p:sp>
      <p:grpSp>
        <p:nvGrpSpPr>
          <p:cNvPr id="2" name="组合 1"/>
          <p:cNvGrpSpPr/>
          <p:nvPr/>
        </p:nvGrpSpPr>
        <p:grpSpPr>
          <a:xfrm>
            <a:off x="265635" y="269251"/>
            <a:ext cx="438352" cy="621987"/>
            <a:chOff x="265635" y="269251"/>
            <a:chExt cx="438352" cy="621987"/>
          </a:xfrm>
        </p:grpSpPr>
        <p:sp>
          <p:nvSpPr>
            <p:cNvPr id="5" name="Freeform 5"/>
            <p:cNvSpPr>
              <a:spLocks/>
            </p:cNvSpPr>
            <p:nvPr/>
          </p:nvSpPr>
          <p:spPr bwMode="auto">
            <a:xfrm>
              <a:off x="269585" y="269251"/>
              <a:ext cx="262616" cy="266567"/>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EB0"/>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6" name="Freeform 6"/>
            <p:cNvSpPr>
              <a:spLocks/>
            </p:cNvSpPr>
            <p:nvPr/>
          </p:nvSpPr>
          <p:spPr bwMode="auto">
            <a:xfrm>
              <a:off x="441371" y="443010"/>
              <a:ext cx="262616" cy="268540"/>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EB0"/>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7" name="Freeform 7"/>
            <p:cNvSpPr>
              <a:spLocks/>
            </p:cNvSpPr>
            <p:nvPr/>
          </p:nvSpPr>
          <p:spPr bwMode="auto">
            <a:xfrm>
              <a:off x="265635" y="624671"/>
              <a:ext cx="260640" cy="266567"/>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EB0"/>
            </a:solidFill>
            <a:ln>
              <a:noFill/>
            </a:ln>
          </p:spPr>
          <p:txBody>
            <a:bodyPr vert="horz" wrap="square" lIns="91398" tIns="45699" rIns="91398" bIns="45699" numCol="1" anchor="t" anchorCtr="0" compatLnSpc="1">
              <a:prstTxWarp prst="textNoShape">
                <a:avLst/>
              </a:prstTxWarp>
            </a:bodyPr>
            <a:lstStyle/>
            <a:p>
              <a:endParaRPr lang="zh-CN" altLang="en-US" sz="1799"/>
            </a:p>
          </p:txBody>
        </p:sp>
      </p:grpSp>
      <p:pic>
        <p:nvPicPr>
          <p:cNvPr id="5122" name="Picture 2" descr="E:\我的文档\商务图片\19147185_150127007000_2.jpg"/>
          <p:cNvPicPr>
            <a:picLocks noChangeAspect="1" noChangeArrowheads="1"/>
          </p:cNvPicPr>
          <p:nvPr/>
        </p:nvPicPr>
        <p:blipFill rotWithShape="1">
          <a:blip r:embed="rId3" cstate="screen">
            <a:extLst>
              <a:ext uri="{28A0092B-C50C-407E-A947-70E740481C1C}">
                <a14:useLocalDpi xmlns:a14="http://schemas.microsoft.com/office/drawing/2010/main"/>
              </a:ext>
            </a:extLst>
          </a:blip>
          <a:srcRect/>
          <a:stretch/>
        </p:blipFill>
        <p:spPr bwMode="auto">
          <a:xfrm>
            <a:off x="1044426" y="3666022"/>
            <a:ext cx="5022365" cy="2821733"/>
          </a:xfrm>
          <a:prstGeom prst="rect">
            <a:avLst/>
          </a:prstGeom>
          <a:noFill/>
          <a:ln>
            <a:solidFill>
              <a:schemeClr val="accent1">
                <a:lumMod val="40000"/>
                <a:lumOff val="60000"/>
              </a:schemeClr>
            </a:solidFill>
          </a:ln>
          <a:extLst>
            <a:ext uri="{909E8E84-426E-40DD-AFC4-6F175D3DCCD1}">
              <a14:hiddenFill xmlns:a14="http://schemas.microsoft.com/office/drawing/2010/main">
                <a:solidFill>
                  <a:srgbClr val="FFFFFF"/>
                </a:solidFill>
              </a14:hiddenFill>
            </a:ext>
          </a:extLst>
        </p:spPr>
      </p:pic>
      <p:pic>
        <p:nvPicPr>
          <p:cNvPr id="5123" name="Picture 3" descr="E:\我的文档\商务图片\Nipic_1082507_20091207090526024812.jpg"/>
          <p:cNvPicPr>
            <a:picLocks noChangeAspect="1" noChangeArrowheads="1"/>
          </p:cNvPicPr>
          <p:nvPr/>
        </p:nvPicPr>
        <p:blipFill rotWithShape="1">
          <a:blip r:embed="rId4" cstate="screen">
            <a:extLst>
              <a:ext uri="{28A0092B-C50C-407E-A947-70E740481C1C}">
                <a14:useLocalDpi xmlns:a14="http://schemas.microsoft.com/office/drawing/2010/main"/>
              </a:ext>
            </a:extLst>
          </a:blip>
          <a:srcRect/>
          <a:stretch/>
        </p:blipFill>
        <p:spPr bwMode="auto">
          <a:xfrm>
            <a:off x="6228894" y="3661058"/>
            <a:ext cx="5110573" cy="2826697"/>
          </a:xfrm>
          <a:prstGeom prst="rect">
            <a:avLst/>
          </a:prstGeom>
          <a:noFill/>
          <a:ln>
            <a:solidFill>
              <a:schemeClr val="accent1">
                <a:lumMod val="40000"/>
                <a:lumOff val="60000"/>
              </a:schemeClr>
            </a:solidFill>
          </a:ln>
          <a:extLst>
            <a:ext uri="{909E8E84-426E-40DD-AFC4-6F175D3DCCD1}">
              <a14:hiddenFill xmlns:a14="http://schemas.microsoft.com/office/drawing/2010/main">
                <a:solidFill>
                  <a:srgbClr val="FFFFFF"/>
                </a:solidFill>
              </a14:hiddenFill>
            </a:ext>
          </a:extLst>
        </p:spPr>
      </p:pic>
      <p:sp>
        <p:nvSpPr>
          <p:cNvPr id="8" name="矩形 83"/>
          <p:cNvSpPr>
            <a:spLocks noChangeArrowheads="1"/>
          </p:cNvSpPr>
          <p:nvPr/>
        </p:nvSpPr>
        <p:spPr bwMode="auto">
          <a:xfrm>
            <a:off x="1045556" y="1289258"/>
            <a:ext cx="10222393" cy="2116756"/>
          </a:xfrm>
          <a:prstGeom prst="rect">
            <a:avLst/>
          </a:prstGeom>
          <a:solidFill>
            <a:srgbClr val="F2F2F2"/>
          </a:solidFill>
          <a:ln w="9525" cmpd="sng">
            <a:solidFill>
              <a:schemeClr val="accent1"/>
            </a:solidFill>
            <a:miter lim="800000"/>
            <a:headEnd/>
            <a:tailEnd/>
          </a:ln>
        </p:spPr>
        <p:txBody>
          <a:bodyPr lIns="91398" tIns="45699" rIns="91398" bIns="45699"/>
          <a:lstStyle/>
          <a:p>
            <a:endParaRPr lang="zh-CN" altLang="en-US" sz="1799"/>
          </a:p>
        </p:txBody>
      </p:sp>
      <p:sp>
        <p:nvSpPr>
          <p:cNvPr id="10" name="Freeform 12"/>
          <p:cNvSpPr>
            <a:spLocks/>
          </p:cNvSpPr>
          <p:nvPr/>
        </p:nvSpPr>
        <p:spPr bwMode="auto">
          <a:xfrm>
            <a:off x="970969" y="1143266"/>
            <a:ext cx="528432" cy="530018"/>
          </a:xfrm>
          <a:custGeom>
            <a:avLst/>
            <a:gdLst>
              <a:gd name="T0" fmla="*/ 0 w 1446"/>
              <a:gd name="T1" fmla="*/ 0 h 1446"/>
              <a:gd name="T2" fmla="*/ 1446 w 1446"/>
              <a:gd name="T3" fmla="*/ 0 h 1446"/>
              <a:gd name="T4" fmla="*/ 1446 w 1446"/>
              <a:gd name="T5" fmla="*/ 458 h 1446"/>
              <a:gd name="T6" fmla="*/ 438 w 1446"/>
              <a:gd name="T7" fmla="*/ 458 h 1446"/>
              <a:gd name="T8" fmla="*/ 438 w 1446"/>
              <a:gd name="T9" fmla="*/ 1446 h 1446"/>
              <a:gd name="T10" fmla="*/ 0 w 1446"/>
              <a:gd name="T11" fmla="*/ 1446 h 1446"/>
              <a:gd name="T12" fmla="*/ 0 w 1446"/>
              <a:gd name="T13" fmla="*/ 0 h 1446"/>
            </a:gdLst>
            <a:ahLst/>
            <a:cxnLst>
              <a:cxn ang="0">
                <a:pos x="T0" y="T1"/>
              </a:cxn>
              <a:cxn ang="0">
                <a:pos x="T2" y="T3"/>
              </a:cxn>
              <a:cxn ang="0">
                <a:pos x="T4" y="T5"/>
              </a:cxn>
              <a:cxn ang="0">
                <a:pos x="T6" y="T7"/>
              </a:cxn>
              <a:cxn ang="0">
                <a:pos x="T8" y="T9"/>
              </a:cxn>
              <a:cxn ang="0">
                <a:pos x="T10" y="T11"/>
              </a:cxn>
              <a:cxn ang="0">
                <a:pos x="T12" y="T13"/>
              </a:cxn>
            </a:cxnLst>
            <a:rect l="0" t="0" r="r" b="b"/>
            <a:pathLst>
              <a:path w="1446" h="1446">
                <a:moveTo>
                  <a:pt x="0" y="0"/>
                </a:moveTo>
                <a:lnTo>
                  <a:pt x="1446" y="0"/>
                </a:lnTo>
                <a:lnTo>
                  <a:pt x="1446" y="458"/>
                </a:lnTo>
                <a:lnTo>
                  <a:pt x="438" y="458"/>
                </a:lnTo>
                <a:lnTo>
                  <a:pt x="438" y="1446"/>
                </a:lnTo>
                <a:lnTo>
                  <a:pt x="0" y="1446"/>
                </a:lnTo>
                <a:lnTo>
                  <a:pt x="0" y="0"/>
                </a:lnTo>
                <a:close/>
              </a:path>
            </a:pathLst>
          </a:custGeom>
          <a:solidFill>
            <a:srgbClr val="04BEB0"/>
          </a:solidFill>
          <a:ln>
            <a:noFill/>
          </a:ln>
          <a:extLst/>
        </p:spPr>
        <p:txBody>
          <a:bodyPr lIns="91398" tIns="45699" rIns="91398" bIns="45699"/>
          <a:lstStyle/>
          <a:p>
            <a:endParaRPr lang="zh-CN" altLang="en-US" sz="1799"/>
          </a:p>
        </p:txBody>
      </p:sp>
      <p:sp>
        <p:nvSpPr>
          <p:cNvPr id="11" name="Freeform 12"/>
          <p:cNvSpPr>
            <a:spLocks/>
          </p:cNvSpPr>
          <p:nvPr/>
        </p:nvSpPr>
        <p:spPr bwMode="auto">
          <a:xfrm flipH="1" flipV="1">
            <a:off x="10811033" y="2944796"/>
            <a:ext cx="528432" cy="530018"/>
          </a:xfrm>
          <a:custGeom>
            <a:avLst/>
            <a:gdLst>
              <a:gd name="T0" fmla="*/ 0 w 1446"/>
              <a:gd name="T1" fmla="*/ 0 h 1446"/>
              <a:gd name="T2" fmla="*/ 1446 w 1446"/>
              <a:gd name="T3" fmla="*/ 0 h 1446"/>
              <a:gd name="T4" fmla="*/ 1446 w 1446"/>
              <a:gd name="T5" fmla="*/ 458 h 1446"/>
              <a:gd name="T6" fmla="*/ 438 w 1446"/>
              <a:gd name="T7" fmla="*/ 458 h 1446"/>
              <a:gd name="T8" fmla="*/ 438 w 1446"/>
              <a:gd name="T9" fmla="*/ 1446 h 1446"/>
              <a:gd name="T10" fmla="*/ 0 w 1446"/>
              <a:gd name="T11" fmla="*/ 1446 h 1446"/>
              <a:gd name="T12" fmla="*/ 0 w 1446"/>
              <a:gd name="T13" fmla="*/ 0 h 1446"/>
            </a:gdLst>
            <a:ahLst/>
            <a:cxnLst>
              <a:cxn ang="0">
                <a:pos x="T0" y="T1"/>
              </a:cxn>
              <a:cxn ang="0">
                <a:pos x="T2" y="T3"/>
              </a:cxn>
              <a:cxn ang="0">
                <a:pos x="T4" y="T5"/>
              </a:cxn>
              <a:cxn ang="0">
                <a:pos x="T6" y="T7"/>
              </a:cxn>
              <a:cxn ang="0">
                <a:pos x="T8" y="T9"/>
              </a:cxn>
              <a:cxn ang="0">
                <a:pos x="T10" y="T11"/>
              </a:cxn>
              <a:cxn ang="0">
                <a:pos x="T12" y="T13"/>
              </a:cxn>
            </a:cxnLst>
            <a:rect l="0" t="0" r="r" b="b"/>
            <a:pathLst>
              <a:path w="1446" h="1446">
                <a:moveTo>
                  <a:pt x="0" y="0"/>
                </a:moveTo>
                <a:lnTo>
                  <a:pt x="1446" y="0"/>
                </a:lnTo>
                <a:lnTo>
                  <a:pt x="1446" y="458"/>
                </a:lnTo>
                <a:lnTo>
                  <a:pt x="438" y="458"/>
                </a:lnTo>
                <a:lnTo>
                  <a:pt x="438" y="1446"/>
                </a:lnTo>
                <a:lnTo>
                  <a:pt x="0" y="1446"/>
                </a:lnTo>
                <a:lnTo>
                  <a:pt x="0" y="0"/>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lIns="91398" tIns="45699" rIns="91398" bIns="45699"/>
          <a:lstStyle/>
          <a:p>
            <a:endParaRPr lang="zh-CN" altLang="en-US" sz="1799"/>
          </a:p>
        </p:txBody>
      </p:sp>
      <p:sp>
        <p:nvSpPr>
          <p:cNvPr id="12" name="TextBox 26"/>
          <p:cNvSpPr txBox="1"/>
          <p:nvPr/>
        </p:nvSpPr>
        <p:spPr>
          <a:xfrm>
            <a:off x="14146653" y="8510121"/>
            <a:ext cx="1107996" cy="461665"/>
          </a:xfrm>
          <a:prstGeom prst="rect">
            <a:avLst/>
          </a:prstGeom>
          <a:noFill/>
        </p:spPr>
        <p:txBody>
          <a:bodyPr wrap="none" rtlCol="0">
            <a:spAutoFit/>
          </a:bodyPr>
          <a:lstStyle/>
          <a:p>
            <a:r>
              <a:rPr lang="zh-CN" altLang="en-US" sz="2400" dirty="0"/>
              <a:t>延时符</a:t>
            </a:r>
          </a:p>
        </p:txBody>
      </p:sp>
      <p:sp>
        <p:nvSpPr>
          <p:cNvPr id="14" name="Rectangle 3"/>
          <p:cNvSpPr txBox="1">
            <a:spLocks noChangeArrowheads="1"/>
          </p:cNvSpPr>
          <p:nvPr/>
        </p:nvSpPr>
        <p:spPr>
          <a:xfrm>
            <a:off x="1490648" y="1395164"/>
            <a:ext cx="8837784" cy="144851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1">
              <a:lnSpc>
                <a:spcPct val="170000"/>
              </a:lnSpc>
              <a:buFont typeface="Arial" panose="020B0604020202020204" pitchFamily="34" charset="0"/>
              <a:buNone/>
            </a:pPr>
            <a:r>
              <a:rPr lang="zh-CN" altLang="en-US" sz="2800" b="1" dirty="0">
                <a:latin typeface="微软雅黑" panose="020B0503020204020204" pitchFamily="34" charset="-122"/>
                <a:ea typeface="微软雅黑" panose="020B0503020204020204" pitchFamily="34" charset="-122"/>
              </a:rPr>
              <a:t>主要是指设备连接的方式和读写驱动方式等。</a:t>
            </a:r>
            <a:endParaRPr lang="en-US" altLang="zh-CN" sz="2800" b="1" dirty="0">
              <a:latin typeface="微软雅黑" panose="020B0503020204020204" pitchFamily="34" charset="-122"/>
              <a:ea typeface="微软雅黑" panose="020B0503020204020204" pitchFamily="34" charset="-122"/>
            </a:endParaRPr>
          </a:p>
          <a:p>
            <a:pPr marL="0" lvl="1">
              <a:lnSpc>
                <a:spcPct val="170000"/>
              </a:lnSpc>
              <a:buFont typeface="Arial" panose="020B0604020202020204" pitchFamily="34" charset="0"/>
              <a:buNone/>
            </a:pPr>
            <a:endParaRPr lang="en-US" altLang="zh-CN" sz="2800" b="1" dirty="0">
              <a:latin typeface="微软雅黑" panose="020B0503020204020204" pitchFamily="34" charset="-122"/>
              <a:ea typeface="微软雅黑" panose="020B0503020204020204" pitchFamily="34" charset="-122"/>
            </a:endParaRPr>
          </a:p>
          <a:p>
            <a:pPr marL="0" lvl="1">
              <a:lnSpc>
                <a:spcPct val="170000"/>
              </a:lnSpc>
              <a:buFont typeface="Arial" panose="020B0604020202020204" pitchFamily="34" charset="0"/>
              <a:buNone/>
            </a:pPr>
            <a:endParaRPr lang="zh-CN" altLang="en-US" sz="2800" b="1" dirty="0">
              <a:latin typeface="微软雅黑" panose="020B0503020204020204" pitchFamily="34" charset="-122"/>
              <a:ea typeface="微软雅黑" panose="020B0503020204020204" pitchFamily="34" charset="-122"/>
            </a:endParaRPr>
          </a:p>
          <a:p>
            <a:pPr marL="0" indent="0">
              <a:lnSpc>
                <a:spcPct val="150000"/>
              </a:lnSpc>
              <a:buFont typeface="Arial" panose="020B0604020202020204" pitchFamily="34" charset="0"/>
              <a:buNone/>
            </a:pPr>
            <a:endParaRPr lang="en-US" altLang="zh-CN" b="1" dirty="0">
              <a:latin typeface="微软雅黑" panose="020B0503020204020204" pitchFamily="34" charset="-122"/>
              <a:ea typeface="微软雅黑" panose="020B0503020204020204" pitchFamily="34" charset="-122"/>
            </a:endParaRPr>
          </a:p>
          <a:p>
            <a:pPr marL="0" indent="0">
              <a:lnSpc>
                <a:spcPct val="150000"/>
              </a:lnSpc>
              <a:buFont typeface="Arial" panose="020B0604020202020204" pitchFamily="34" charset="0"/>
              <a:buNone/>
            </a:pPr>
            <a:endParaRPr lang="en-US" altLang="zh-CN" b="1" dirty="0">
              <a:latin typeface="微软雅黑" panose="020B0503020204020204" pitchFamily="34" charset="-122"/>
              <a:ea typeface="微软雅黑" panose="020B0503020204020204" pitchFamily="34" charset="-122"/>
            </a:endParaRPr>
          </a:p>
        </p:txBody>
      </p:sp>
      <p:sp>
        <p:nvSpPr>
          <p:cNvPr id="15" name="矩形 14"/>
          <p:cNvSpPr/>
          <p:nvPr/>
        </p:nvSpPr>
        <p:spPr>
          <a:xfrm>
            <a:off x="1364638" y="2347636"/>
            <a:ext cx="9127314" cy="3970318"/>
          </a:xfrm>
          <a:prstGeom prst="rect">
            <a:avLst/>
          </a:prstGeom>
        </p:spPr>
        <p:txBody>
          <a:bodyPr wrap="square">
            <a:spAutoFit/>
          </a:bodyPr>
          <a:lstStyle/>
          <a:p>
            <a:pPr marL="0" lvl="1">
              <a:lnSpc>
                <a:spcPct val="150000"/>
              </a:lnSpc>
            </a:pPr>
            <a:r>
              <a:rPr lang="zh-CN" altLang="en-US" sz="2800" b="1" dirty="0">
                <a:latin typeface="微软雅黑" panose="020B0503020204020204" pitchFamily="34" charset="-122"/>
                <a:ea typeface="微软雅黑" panose="020B0503020204020204" pitchFamily="34" charset="-122"/>
              </a:rPr>
              <a:t> 如连接口的类型、机械尺寸、信号线的条数以及排列等。</a:t>
            </a:r>
          </a:p>
          <a:p>
            <a:pPr marL="0" lvl="1">
              <a:lnSpc>
                <a:spcPct val="150000"/>
              </a:lnSpc>
            </a:pPr>
            <a:endParaRPr lang="zh-CN" altLang="en-US" sz="2800" b="1" dirty="0">
              <a:latin typeface="微软雅黑" panose="020B0503020204020204" pitchFamily="34" charset="-122"/>
              <a:ea typeface="微软雅黑" panose="020B0503020204020204" pitchFamily="34" charset="-122"/>
            </a:endParaRPr>
          </a:p>
          <a:p>
            <a:pPr marL="0" lvl="1">
              <a:lnSpc>
                <a:spcPct val="150000"/>
              </a:lnSpc>
            </a:pPr>
            <a:endParaRPr lang="zh-CN" altLang="en-US" sz="2800" b="1" dirty="0">
              <a:latin typeface="微软雅黑" panose="020B0503020204020204" pitchFamily="34" charset="-122"/>
              <a:ea typeface="微软雅黑" panose="020B0503020204020204" pitchFamily="34" charset="-122"/>
            </a:endParaRPr>
          </a:p>
          <a:p>
            <a:pPr marL="0" lvl="1">
              <a:lnSpc>
                <a:spcPct val="150000"/>
              </a:lnSpc>
            </a:pPr>
            <a:endParaRPr lang="zh-CN" altLang="en-US" sz="2800" b="1" dirty="0">
              <a:latin typeface="微软雅黑" panose="020B0503020204020204" pitchFamily="34" charset="-122"/>
              <a:ea typeface="微软雅黑" panose="020B0503020204020204" pitchFamily="34" charset="-122"/>
            </a:endParaRPr>
          </a:p>
          <a:p>
            <a:pPr marL="0" lvl="1">
              <a:lnSpc>
                <a:spcPct val="150000"/>
              </a:lnSpc>
            </a:pPr>
            <a:endParaRPr lang="zh-CN" altLang="en-US" sz="2800" b="1" dirty="0">
              <a:latin typeface="微软雅黑" panose="020B0503020204020204" pitchFamily="34" charset="-122"/>
              <a:ea typeface="微软雅黑" panose="020B0503020204020204" pitchFamily="34" charset="-122"/>
            </a:endParaRPr>
          </a:p>
          <a:p>
            <a:pPr>
              <a:lnSpc>
                <a:spcPct val="150000"/>
              </a:lnSpc>
            </a:pPr>
            <a:endParaRPr lang="zh-CN" altLang="en-US" sz="2800" b="1"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37653447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advTm="0">
        <p15:prstTrans prst="peelOff"/>
      </p:transition>
    </mc:Choice>
    <mc:Fallback xmlns="">
      <p:transition spd="slow" advTm="0">
        <p:fade/>
      </p:transition>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3" name="图片 2"/>
          <p:cNvPicPr>
            <a:picLocks noChangeAspect="1"/>
          </p:cNvPicPr>
          <p:nvPr/>
        </p:nvPicPr>
        <p:blipFill>
          <a:blip r:embed="rId2"/>
          <a:srcRect/>
          <a:stretch>
            <a:fillRect/>
          </a:stretch>
        </p:blipFill>
        <p:spPr bwMode="auto">
          <a:xfrm>
            <a:off x="518585" y="1169642"/>
            <a:ext cx="3158067" cy="1778000"/>
          </a:xfrm>
          <a:prstGeom prst="rect">
            <a:avLst/>
          </a:prstGeom>
          <a:noFill/>
          <a:ln w="9525">
            <a:noFill/>
            <a:miter lim="800000"/>
            <a:headEnd/>
            <a:tailEnd/>
          </a:ln>
        </p:spPr>
      </p:pic>
      <p:pic>
        <p:nvPicPr>
          <p:cNvPr id="10244" name="图片 3"/>
          <p:cNvPicPr>
            <a:picLocks noChangeAspect="1"/>
          </p:cNvPicPr>
          <p:nvPr/>
        </p:nvPicPr>
        <p:blipFill>
          <a:blip r:embed="rId3"/>
          <a:srcRect/>
          <a:stretch>
            <a:fillRect/>
          </a:stretch>
        </p:blipFill>
        <p:spPr bwMode="auto">
          <a:xfrm>
            <a:off x="4176185" y="1169642"/>
            <a:ext cx="3602567" cy="1878012"/>
          </a:xfrm>
          <a:prstGeom prst="rect">
            <a:avLst/>
          </a:prstGeom>
          <a:noFill/>
          <a:ln w="9525">
            <a:noFill/>
            <a:miter lim="800000"/>
            <a:headEnd/>
            <a:tailEnd/>
          </a:ln>
        </p:spPr>
      </p:pic>
      <p:pic>
        <p:nvPicPr>
          <p:cNvPr id="10245" name="图片 4"/>
          <p:cNvPicPr>
            <a:picLocks noChangeAspect="1"/>
          </p:cNvPicPr>
          <p:nvPr/>
        </p:nvPicPr>
        <p:blipFill>
          <a:blip r:embed="rId4"/>
          <a:srcRect/>
          <a:stretch>
            <a:fillRect/>
          </a:stretch>
        </p:blipFill>
        <p:spPr bwMode="auto">
          <a:xfrm>
            <a:off x="411692" y="4274068"/>
            <a:ext cx="4576233" cy="1295400"/>
          </a:xfrm>
          <a:prstGeom prst="rect">
            <a:avLst/>
          </a:prstGeom>
          <a:noFill/>
          <a:ln w="9525">
            <a:noFill/>
            <a:miter lim="800000"/>
            <a:headEnd/>
            <a:tailEnd/>
          </a:ln>
        </p:spPr>
      </p:pic>
      <p:pic>
        <p:nvPicPr>
          <p:cNvPr id="10246" name="图片 5"/>
          <p:cNvPicPr>
            <a:picLocks noChangeAspect="1"/>
          </p:cNvPicPr>
          <p:nvPr/>
        </p:nvPicPr>
        <p:blipFill>
          <a:blip r:embed="rId5"/>
          <a:srcRect/>
          <a:stretch>
            <a:fillRect/>
          </a:stretch>
        </p:blipFill>
        <p:spPr bwMode="auto">
          <a:xfrm>
            <a:off x="5413398" y="3990699"/>
            <a:ext cx="2745317" cy="1862138"/>
          </a:xfrm>
          <a:prstGeom prst="rect">
            <a:avLst/>
          </a:prstGeom>
          <a:noFill/>
          <a:ln w="9525">
            <a:noFill/>
            <a:miter lim="800000"/>
            <a:headEnd/>
            <a:tailEnd/>
          </a:ln>
        </p:spPr>
      </p:pic>
      <p:pic>
        <p:nvPicPr>
          <p:cNvPr id="10247" name="图片 6"/>
          <p:cNvPicPr>
            <a:picLocks noChangeAspect="1"/>
          </p:cNvPicPr>
          <p:nvPr/>
        </p:nvPicPr>
        <p:blipFill>
          <a:blip r:embed="rId6"/>
          <a:srcRect/>
          <a:stretch>
            <a:fillRect/>
          </a:stretch>
        </p:blipFill>
        <p:spPr bwMode="auto">
          <a:xfrm>
            <a:off x="8278285" y="1169642"/>
            <a:ext cx="3507316" cy="1878013"/>
          </a:xfrm>
          <a:prstGeom prst="rect">
            <a:avLst/>
          </a:prstGeom>
          <a:noFill/>
          <a:ln w="9525">
            <a:noFill/>
            <a:miter lim="800000"/>
            <a:headEnd/>
            <a:tailEnd/>
          </a:ln>
        </p:spPr>
      </p:pic>
      <p:pic>
        <p:nvPicPr>
          <p:cNvPr id="10248" name="图片 7"/>
          <p:cNvPicPr>
            <a:picLocks noChangeAspect="1"/>
          </p:cNvPicPr>
          <p:nvPr/>
        </p:nvPicPr>
        <p:blipFill>
          <a:blip r:embed="rId7"/>
          <a:srcRect/>
          <a:stretch>
            <a:fillRect/>
          </a:stretch>
        </p:blipFill>
        <p:spPr bwMode="auto">
          <a:xfrm>
            <a:off x="8584188" y="3711299"/>
            <a:ext cx="3227917" cy="2420938"/>
          </a:xfrm>
          <a:prstGeom prst="rect">
            <a:avLst/>
          </a:prstGeom>
          <a:noFill/>
          <a:ln w="9525">
            <a:noFill/>
            <a:miter lim="800000"/>
            <a:headEnd/>
            <a:tailEnd/>
          </a:ln>
        </p:spPr>
      </p:pic>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advTm="9222">
        <p15:prstTrans prst="peelOff"/>
      </p:transition>
    </mc:Choice>
    <mc:Fallback xmlns="">
      <p:transition spd="slow" advTm="9222">
        <p:fade/>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5"/>
          <p:cNvSpPr>
            <a:spLocks noChangeArrowheads="1"/>
          </p:cNvSpPr>
          <p:nvPr/>
        </p:nvSpPr>
        <p:spPr bwMode="auto">
          <a:xfrm>
            <a:off x="-22289" y="2164754"/>
            <a:ext cx="2735237" cy="2528499"/>
          </a:xfrm>
          <a:prstGeom prst="rect">
            <a:avLst/>
          </a:prstGeom>
          <a:solidFill>
            <a:srgbClr val="02B9E7"/>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13" name="Oval 9"/>
          <p:cNvSpPr>
            <a:spLocks noChangeArrowheads="1"/>
          </p:cNvSpPr>
          <p:nvPr/>
        </p:nvSpPr>
        <p:spPr bwMode="auto">
          <a:xfrm>
            <a:off x="769489" y="2896757"/>
            <a:ext cx="1100235" cy="1108082"/>
          </a:xfrm>
          <a:prstGeom prst="ellipse">
            <a:avLst/>
          </a:prstGeom>
          <a:solidFill>
            <a:srgbClr val="FFFFFF"/>
          </a:solidFill>
          <a:ln w="10" cap="flat">
            <a:solidFill>
              <a:srgbClr val="FFFFFF"/>
            </a:solidFill>
            <a:prstDash val="solid"/>
            <a:miter lim="800000"/>
            <a:headEnd/>
            <a:tailEnd/>
          </a:ln>
        </p:spPr>
        <p:txBody>
          <a:bodyPr vert="horz" wrap="square" lIns="91398" tIns="45699" rIns="91398" bIns="45699" numCol="1" anchor="t" anchorCtr="0" compatLnSpc="1">
            <a:prstTxWarp prst="textNoShape">
              <a:avLst/>
            </a:prstTxWarp>
          </a:bodyPr>
          <a:lstStyle/>
          <a:p>
            <a:endParaRPr lang="zh-CN" altLang="en-US" sz="1799"/>
          </a:p>
        </p:txBody>
      </p:sp>
      <p:sp>
        <p:nvSpPr>
          <p:cNvPr id="53" name="Freeform 40"/>
          <p:cNvSpPr>
            <a:spLocks noEditPoints="1"/>
          </p:cNvSpPr>
          <p:nvPr/>
        </p:nvSpPr>
        <p:spPr bwMode="auto">
          <a:xfrm>
            <a:off x="927247" y="3188714"/>
            <a:ext cx="784720" cy="524170"/>
          </a:xfrm>
          <a:custGeom>
            <a:avLst/>
            <a:gdLst>
              <a:gd name="T0" fmla="*/ 544 w 564"/>
              <a:gd name="T1" fmla="*/ 27 h 376"/>
              <a:gd name="T2" fmla="*/ 544 w 564"/>
              <a:gd name="T3" fmla="*/ 309 h 376"/>
              <a:gd name="T4" fmla="*/ 536 w 564"/>
              <a:gd name="T5" fmla="*/ 309 h 376"/>
              <a:gd name="T6" fmla="*/ 518 w 564"/>
              <a:gd name="T7" fmla="*/ 308 h 376"/>
              <a:gd name="T8" fmla="*/ 285 w 564"/>
              <a:gd name="T9" fmla="*/ 367 h 376"/>
              <a:gd name="T10" fmla="*/ 282 w 564"/>
              <a:gd name="T11" fmla="*/ 368 h 376"/>
              <a:gd name="T12" fmla="*/ 279 w 564"/>
              <a:gd name="T13" fmla="*/ 367 h 376"/>
              <a:gd name="T14" fmla="*/ 46 w 564"/>
              <a:gd name="T15" fmla="*/ 308 h 376"/>
              <a:gd name="T16" fmla="*/ 28 w 564"/>
              <a:gd name="T17" fmla="*/ 309 h 376"/>
              <a:gd name="T18" fmla="*/ 20 w 564"/>
              <a:gd name="T19" fmla="*/ 309 h 376"/>
              <a:gd name="T20" fmla="*/ 20 w 564"/>
              <a:gd name="T21" fmla="*/ 27 h 376"/>
              <a:gd name="T22" fmla="*/ 0 w 564"/>
              <a:gd name="T23" fmla="*/ 27 h 376"/>
              <a:gd name="T24" fmla="*/ 0 w 564"/>
              <a:gd name="T25" fmla="*/ 320 h 376"/>
              <a:gd name="T26" fmla="*/ 282 w 564"/>
              <a:gd name="T27" fmla="*/ 376 h 376"/>
              <a:gd name="T28" fmla="*/ 564 w 564"/>
              <a:gd name="T29" fmla="*/ 320 h 376"/>
              <a:gd name="T30" fmla="*/ 564 w 564"/>
              <a:gd name="T31" fmla="*/ 27 h 376"/>
              <a:gd name="T32" fmla="*/ 544 w 564"/>
              <a:gd name="T33" fmla="*/ 27 h 376"/>
              <a:gd name="T34" fmla="*/ 272 w 564"/>
              <a:gd name="T35" fmla="*/ 319 h 376"/>
              <a:gd name="T36" fmla="*/ 272 w 564"/>
              <a:gd name="T37" fmla="*/ 63 h 376"/>
              <a:gd name="T38" fmla="*/ 77 w 564"/>
              <a:gd name="T39" fmla="*/ 1 h 376"/>
              <a:gd name="T40" fmla="*/ 77 w 564"/>
              <a:gd name="T41" fmla="*/ 269 h 376"/>
              <a:gd name="T42" fmla="*/ 84 w 564"/>
              <a:gd name="T43" fmla="*/ 269 h 376"/>
              <a:gd name="T44" fmla="*/ 272 w 564"/>
              <a:gd name="T45" fmla="*/ 319 h 376"/>
              <a:gd name="T46" fmla="*/ 487 w 564"/>
              <a:gd name="T47" fmla="*/ 269 h 376"/>
              <a:gd name="T48" fmla="*/ 487 w 564"/>
              <a:gd name="T49" fmla="*/ 1 h 376"/>
              <a:gd name="T50" fmla="*/ 292 w 564"/>
              <a:gd name="T51" fmla="*/ 63 h 376"/>
              <a:gd name="T52" fmla="*/ 292 w 564"/>
              <a:gd name="T53" fmla="*/ 319 h 376"/>
              <a:gd name="T54" fmla="*/ 480 w 564"/>
              <a:gd name="T55" fmla="*/ 269 h 376"/>
              <a:gd name="T56" fmla="*/ 487 w 564"/>
              <a:gd name="T57" fmla="*/ 269 h 376"/>
              <a:gd name="T58" fmla="*/ 282 w 564"/>
              <a:gd name="T59" fmla="*/ 361 h 376"/>
              <a:gd name="T60" fmla="*/ 531 w 564"/>
              <a:gd name="T61" fmla="*/ 302 h 376"/>
              <a:gd name="T62" fmla="*/ 531 w 564"/>
              <a:gd name="T63" fmla="*/ 5 h 376"/>
              <a:gd name="T64" fmla="*/ 501 w 564"/>
              <a:gd name="T65" fmla="*/ 5 h 376"/>
              <a:gd name="T66" fmla="*/ 501 w 564"/>
              <a:gd name="T67" fmla="*/ 283 h 376"/>
              <a:gd name="T68" fmla="*/ 493 w 564"/>
              <a:gd name="T69" fmla="*/ 282 h 376"/>
              <a:gd name="T70" fmla="*/ 478 w 564"/>
              <a:gd name="T71" fmla="*/ 282 h 376"/>
              <a:gd name="T72" fmla="*/ 287 w 564"/>
              <a:gd name="T73" fmla="*/ 337 h 376"/>
              <a:gd name="T74" fmla="*/ 282 w 564"/>
              <a:gd name="T75" fmla="*/ 340 h 376"/>
              <a:gd name="T76" fmla="*/ 277 w 564"/>
              <a:gd name="T77" fmla="*/ 337 h 376"/>
              <a:gd name="T78" fmla="*/ 86 w 564"/>
              <a:gd name="T79" fmla="*/ 282 h 376"/>
              <a:gd name="T80" fmla="*/ 71 w 564"/>
              <a:gd name="T81" fmla="*/ 282 h 376"/>
              <a:gd name="T82" fmla="*/ 63 w 564"/>
              <a:gd name="T83" fmla="*/ 283 h 376"/>
              <a:gd name="T84" fmla="*/ 63 w 564"/>
              <a:gd name="T85" fmla="*/ 5 h 376"/>
              <a:gd name="T86" fmla="*/ 33 w 564"/>
              <a:gd name="T87" fmla="*/ 5 h 376"/>
              <a:gd name="T88" fmla="*/ 33 w 564"/>
              <a:gd name="T89" fmla="*/ 302 h 376"/>
              <a:gd name="T90" fmla="*/ 282 w 564"/>
              <a:gd name="T91" fmla="*/ 361 h 3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564" h="376">
                <a:moveTo>
                  <a:pt x="544" y="27"/>
                </a:moveTo>
                <a:lnTo>
                  <a:pt x="544" y="309"/>
                </a:lnTo>
                <a:lnTo>
                  <a:pt x="536" y="309"/>
                </a:lnTo>
                <a:cubicBezTo>
                  <a:pt x="530" y="308"/>
                  <a:pt x="524" y="308"/>
                  <a:pt x="518" y="308"/>
                </a:cubicBezTo>
                <a:cubicBezTo>
                  <a:pt x="440" y="308"/>
                  <a:pt x="357" y="329"/>
                  <a:pt x="285" y="367"/>
                </a:cubicBezTo>
                <a:lnTo>
                  <a:pt x="282" y="368"/>
                </a:lnTo>
                <a:lnTo>
                  <a:pt x="279" y="367"/>
                </a:lnTo>
                <a:cubicBezTo>
                  <a:pt x="207" y="329"/>
                  <a:pt x="124" y="308"/>
                  <a:pt x="46" y="308"/>
                </a:cubicBezTo>
                <a:cubicBezTo>
                  <a:pt x="40" y="308"/>
                  <a:pt x="34" y="308"/>
                  <a:pt x="28" y="309"/>
                </a:cubicBezTo>
                <a:lnTo>
                  <a:pt x="20" y="309"/>
                </a:lnTo>
                <a:lnTo>
                  <a:pt x="20" y="27"/>
                </a:lnTo>
                <a:cubicBezTo>
                  <a:pt x="13" y="27"/>
                  <a:pt x="6" y="27"/>
                  <a:pt x="0" y="27"/>
                </a:cubicBezTo>
                <a:lnTo>
                  <a:pt x="0" y="320"/>
                </a:lnTo>
                <a:cubicBezTo>
                  <a:pt x="94" y="317"/>
                  <a:pt x="194" y="338"/>
                  <a:pt x="282" y="376"/>
                </a:cubicBezTo>
                <a:cubicBezTo>
                  <a:pt x="370" y="338"/>
                  <a:pt x="470" y="317"/>
                  <a:pt x="564" y="320"/>
                </a:cubicBezTo>
                <a:lnTo>
                  <a:pt x="564" y="27"/>
                </a:lnTo>
                <a:cubicBezTo>
                  <a:pt x="558" y="27"/>
                  <a:pt x="551" y="27"/>
                  <a:pt x="544" y="27"/>
                </a:cubicBezTo>
                <a:close/>
                <a:moveTo>
                  <a:pt x="272" y="319"/>
                </a:moveTo>
                <a:lnTo>
                  <a:pt x="272" y="63"/>
                </a:lnTo>
                <a:cubicBezTo>
                  <a:pt x="212" y="22"/>
                  <a:pt x="142" y="0"/>
                  <a:pt x="77" y="1"/>
                </a:cubicBezTo>
                <a:lnTo>
                  <a:pt x="77" y="269"/>
                </a:lnTo>
                <a:cubicBezTo>
                  <a:pt x="79" y="269"/>
                  <a:pt x="82" y="269"/>
                  <a:pt x="84" y="269"/>
                </a:cubicBezTo>
                <a:cubicBezTo>
                  <a:pt x="147" y="269"/>
                  <a:pt x="214" y="287"/>
                  <a:pt x="272" y="319"/>
                </a:cubicBezTo>
                <a:close/>
                <a:moveTo>
                  <a:pt x="487" y="269"/>
                </a:moveTo>
                <a:lnTo>
                  <a:pt x="487" y="1"/>
                </a:lnTo>
                <a:cubicBezTo>
                  <a:pt x="422" y="0"/>
                  <a:pt x="352" y="22"/>
                  <a:pt x="292" y="63"/>
                </a:cubicBezTo>
                <a:lnTo>
                  <a:pt x="292" y="319"/>
                </a:lnTo>
                <a:cubicBezTo>
                  <a:pt x="350" y="287"/>
                  <a:pt x="417" y="269"/>
                  <a:pt x="480" y="269"/>
                </a:cubicBezTo>
                <a:cubicBezTo>
                  <a:pt x="482" y="269"/>
                  <a:pt x="485" y="269"/>
                  <a:pt x="487" y="269"/>
                </a:cubicBezTo>
                <a:close/>
                <a:moveTo>
                  <a:pt x="282" y="361"/>
                </a:moveTo>
                <a:cubicBezTo>
                  <a:pt x="362" y="318"/>
                  <a:pt x="451" y="299"/>
                  <a:pt x="531" y="302"/>
                </a:cubicBezTo>
                <a:lnTo>
                  <a:pt x="531" y="5"/>
                </a:lnTo>
                <a:cubicBezTo>
                  <a:pt x="521" y="5"/>
                  <a:pt x="511" y="5"/>
                  <a:pt x="501" y="5"/>
                </a:cubicBezTo>
                <a:lnTo>
                  <a:pt x="501" y="283"/>
                </a:lnTo>
                <a:lnTo>
                  <a:pt x="493" y="282"/>
                </a:lnTo>
                <a:cubicBezTo>
                  <a:pt x="488" y="282"/>
                  <a:pt x="483" y="282"/>
                  <a:pt x="478" y="282"/>
                </a:cubicBezTo>
                <a:cubicBezTo>
                  <a:pt x="414" y="282"/>
                  <a:pt x="346" y="301"/>
                  <a:pt x="287" y="337"/>
                </a:cubicBezTo>
                <a:lnTo>
                  <a:pt x="282" y="340"/>
                </a:lnTo>
                <a:lnTo>
                  <a:pt x="277" y="337"/>
                </a:lnTo>
                <a:cubicBezTo>
                  <a:pt x="218" y="301"/>
                  <a:pt x="150" y="282"/>
                  <a:pt x="86" y="282"/>
                </a:cubicBezTo>
                <a:cubicBezTo>
                  <a:pt x="81" y="282"/>
                  <a:pt x="76" y="282"/>
                  <a:pt x="71" y="282"/>
                </a:cubicBezTo>
                <a:lnTo>
                  <a:pt x="63" y="283"/>
                </a:lnTo>
                <a:lnTo>
                  <a:pt x="63" y="5"/>
                </a:lnTo>
                <a:cubicBezTo>
                  <a:pt x="53" y="5"/>
                  <a:pt x="43" y="5"/>
                  <a:pt x="33" y="5"/>
                </a:cubicBezTo>
                <a:lnTo>
                  <a:pt x="33" y="302"/>
                </a:lnTo>
                <a:cubicBezTo>
                  <a:pt x="113" y="299"/>
                  <a:pt x="202" y="318"/>
                  <a:pt x="282" y="361"/>
                </a:cubicBezTo>
                <a:close/>
              </a:path>
            </a:pathLst>
          </a:custGeom>
          <a:solidFill>
            <a:srgbClr val="02B9E7"/>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11" name="TextBox 26"/>
          <p:cNvSpPr txBox="1"/>
          <p:nvPr/>
        </p:nvSpPr>
        <p:spPr>
          <a:xfrm>
            <a:off x="16944444" y="9111785"/>
            <a:ext cx="1107996" cy="461665"/>
          </a:xfrm>
          <a:prstGeom prst="rect">
            <a:avLst/>
          </a:prstGeom>
          <a:noFill/>
        </p:spPr>
        <p:txBody>
          <a:bodyPr wrap="none" rtlCol="0">
            <a:spAutoFit/>
          </a:bodyPr>
          <a:lstStyle/>
          <a:p>
            <a:r>
              <a:rPr lang="zh-CN" altLang="en-US" sz="2400" dirty="0"/>
              <a:t>延时符</a:t>
            </a:r>
          </a:p>
        </p:txBody>
      </p:sp>
      <p:sp>
        <p:nvSpPr>
          <p:cNvPr id="9" name="Rectangle 3"/>
          <p:cNvSpPr txBox="1">
            <a:spLocks noChangeArrowheads="1"/>
          </p:cNvSpPr>
          <p:nvPr/>
        </p:nvSpPr>
        <p:spPr>
          <a:xfrm>
            <a:off x="970736" y="316109"/>
            <a:ext cx="10972800" cy="1800225"/>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algn="just">
              <a:buFont typeface="Arial" panose="020B0604020202020204" pitchFamily="34" charset="0"/>
              <a:buNone/>
              <a:defRPr/>
            </a:pPr>
            <a:r>
              <a:rPr lang="zh-CN" altLang="en-US" sz="3200" b="1" kern="0" dirty="0">
                <a:solidFill>
                  <a:schemeClr val="tx1">
                    <a:lumMod val="75000"/>
                  </a:schemeClr>
                </a:solidFill>
                <a:latin typeface="微软雅黑" panose="020B0503020204020204" pitchFamily="34" charset="-122"/>
                <a:ea typeface="微软雅黑" panose="020B0503020204020204" pitchFamily="34" charset="-122"/>
              </a:rPr>
              <a:t>电气特性方面</a:t>
            </a:r>
            <a:endParaRPr lang="en-US" altLang="zh-CN" sz="3200" b="1" kern="0" dirty="0">
              <a:solidFill>
                <a:schemeClr val="tx1">
                  <a:lumMod val="75000"/>
                </a:schemeClr>
              </a:solidFill>
              <a:latin typeface="微软雅黑" panose="020B0503020204020204" pitchFamily="34" charset="-122"/>
              <a:ea typeface="微软雅黑" panose="020B0503020204020204" pitchFamily="34" charset="-122"/>
            </a:endParaRPr>
          </a:p>
        </p:txBody>
      </p:sp>
      <p:cxnSp>
        <p:nvCxnSpPr>
          <p:cNvPr id="10" name="直接连接符 9"/>
          <p:cNvCxnSpPr/>
          <p:nvPr/>
        </p:nvCxnSpPr>
        <p:spPr>
          <a:xfrm>
            <a:off x="4573676" y="4573589"/>
            <a:ext cx="383116" cy="0"/>
          </a:xfrm>
          <a:prstGeom prst="line">
            <a:avLst/>
          </a:prstGeom>
          <a:ln w="38100">
            <a:solidFill>
              <a:srgbClr val="02B9E7"/>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a:off x="4956791" y="4068764"/>
            <a:ext cx="0" cy="504825"/>
          </a:xfrm>
          <a:prstGeom prst="line">
            <a:avLst/>
          </a:prstGeom>
          <a:ln w="38100">
            <a:solidFill>
              <a:srgbClr val="02B9E7"/>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a:xfrm>
            <a:off x="4956792" y="4068764"/>
            <a:ext cx="385233" cy="0"/>
          </a:xfrm>
          <a:prstGeom prst="line">
            <a:avLst/>
          </a:prstGeom>
          <a:ln w="38100">
            <a:solidFill>
              <a:srgbClr val="02B9E7"/>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5342025" y="4573589"/>
            <a:ext cx="383117" cy="0"/>
          </a:xfrm>
          <a:prstGeom prst="line">
            <a:avLst/>
          </a:prstGeom>
          <a:ln w="38100">
            <a:solidFill>
              <a:srgbClr val="02B9E7"/>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a:off x="5342024" y="4068764"/>
            <a:ext cx="0" cy="504825"/>
          </a:xfrm>
          <a:prstGeom prst="line">
            <a:avLst/>
          </a:prstGeom>
          <a:ln w="38100">
            <a:solidFill>
              <a:srgbClr val="02B9E7"/>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a:off x="5725142" y="4068764"/>
            <a:ext cx="0" cy="504825"/>
          </a:xfrm>
          <a:prstGeom prst="line">
            <a:avLst/>
          </a:prstGeom>
          <a:ln w="38100">
            <a:solidFill>
              <a:srgbClr val="02B9E7"/>
            </a:solidFill>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a:xfrm>
            <a:off x="5725143" y="4068764"/>
            <a:ext cx="385233" cy="0"/>
          </a:xfrm>
          <a:prstGeom prst="line">
            <a:avLst/>
          </a:prstGeom>
          <a:ln w="38100">
            <a:solidFill>
              <a:srgbClr val="02B9E7"/>
            </a:solidFill>
          </a:ln>
        </p:spPr>
        <p:style>
          <a:lnRef idx="1">
            <a:schemeClr val="accent1"/>
          </a:lnRef>
          <a:fillRef idx="0">
            <a:schemeClr val="accent1"/>
          </a:fillRef>
          <a:effectRef idx="0">
            <a:schemeClr val="accent1"/>
          </a:effectRef>
          <a:fontRef idx="minor">
            <a:schemeClr val="tx1"/>
          </a:fontRef>
        </p:style>
      </p:cxnSp>
      <p:cxnSp>
        <p:nvCxnSpPr>
          <p:cNvPr id="19" name="直接连接符 18"/>
          <p:cNvCxnSpPr>
            <a:cxnSpLocks/>
          </p:cNvCxnSpPr>
          <p:nvPr/>
        </p:nvCxnSpPr>
        <p:spPr>
          <a:xfrm>
            <a:off x="6123076" y="4573589"/>
            <a:ext cx="561973" cy="0"/>
          </a:xfrm>
          <a:prstGeom prst="line">
            <a:avLst/>
          </a:prstGeom>
          <a:ln w="38100">
            <a:solidFill>
              <a:srgbClr val="02B9E7"/>
            </a:soli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a:cxnSpLocks/>
          </p:cNvCxnSpPr>
          <p:nvPr/>
        </p:nvCxnSpPr>
        <p:spPr>
          <a:xfrm>
            <a:off x="6685049" y="4068764"/>
            <a:ext cx="993888" cy="0"/>
          </a:xfrm>
          <a:prstGeom prst="line">
            <a:avLst/>
          </a:prstGeom>
          <a:ln w="38100">
            <a:solidFill>
              <a:srgbClr val="02B9E7"/>
            </a:solidFill>
          </a:ln>
        </p:spPr>
        <p:style>
          <a:lnRef idx="1">
            <a:schemeClr val="accent1"/>
          </a:lnRef>
          <a:fillRef idx="0">
            <a:schemeClr val="accent1"/>
          </a:fillRef>
          <a:effectRef idx="0">
            <a:schemeClr val="accent1"/>
          </a:effectRef>
          <a:fontRef idx="minor">
            <a:schemeClr val="tx1"/>
          </a:fontRef>
        </p:style>
      </p:cxnSp>
      <p:cxnSp>
        <p:nvCxnSpPr>
          <p:cNvPr id="22" name="直接连接符 21"/>
          <p:cNvCxnSpPr/>
          <p:nvPr/>
        </p:nvCxnSpPr>
        <p:spPr>
          <a:xfrm>
            <a:off x="6123075" y="4068764"/>
            <a:ext cx="0" cy="504825"/>
          </a:xfrm>
          <a:prstGeom prst="line">
            <a:avLst/>
          </a:prstGeom>
          <a:ln w="38100">
            <a:solidFill>
              <a:srgbClr val="02B9E7"/>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a:off x="6685996" y="4068764"/>
            <a:ext cx="0" cy="504825"/>
          </a:xfrm>
          <a:prstGeom prst="line">
            <a:avLst/>
          </a:prstGeom>
          <a:ln w="38100">
            <a:solidFill>
              <a:srgbClr val="02B9E7"/>
            </a:solidFill>
          </a:ln>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nvCxnSpPr>
        <p:spPr>
          <a:xfrm>
            <a:off x="8438819" y="4077722"/>
            <a:ext cx="0" cy="504825"/>
          </a:xfrm>
          <a:prstGeom prst="line">
            <a:avLst/>
          </a:prstGeom>
          <a:ln w="38100">
            <a:solidFill>
              <a:srgbClr val="02B9E7"/>
            </a:solidFill>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a:xfrm>
            <a:off x="7678937" y="4582547"/>
            <a:ext cx="383116" cy="0"/>
          </a:xfrm>
          <a:prstGeom prst="line">
            <a:avLst/>
          </a:prstGeom>
          <a:ln w="38100">
            <a:solidFill>
              <a:srgbClr val="02B9E7"/>
            </a:solidFill>
          </a:ln>
        </p:spPr>
        <p:style>
          <a:lnRef idx="1">
            <a:schemeClr val="accent1"/>
          </a:lnRef>
          <a:fillRef idx="0">
            <a:schemeClr val="accent1"/>
          </a:fillRef>
          <a:effectRef idx="0">
            <a:schemeClr val="accent1"/>
          </a:effectRef>
          <a:fontRef idx="minor">
            <a:schemeClr val="tx1"/>
          </a:fontRef>
        </p:style>
      </p:cxnSp>
      <p:cxnSp>
        <p:nvCxnSpPr>
          <p:cNvPr id="26" name="直接连接符 25"/>
          <p:cNvCxnSpPr/>
          <p:nvPr/>
        </p:nvCxnSpPr>
        <p:spPr>
          <a:xfrm>
            <a:off x="8062054" y="4077722"/>
            <a:ext cx="385233" cy="0"/>
          </a:xfrm>
          <a:prstGeom prst="line">
            <a:avLst/>
          </a:prstGeom>
          <a:ln w="38100">
            <a:solidFill>
              <a:srgbClr val="02B9E7"/>
            </a:solidFill>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a:xfrm>
            <a:off x="7678937" y="4077722"/>
            <a:ext cx="0" cy="504825"/>
          </a:xfrm>
          <a:prstGeom prst="line">
            <a:avLst/>
          </a:prstGeom>
          <a:ln w="38100">
            <a:solidFill>
              <a:srgbClr val="02B9E7"/>
            </a:solidFill>
          </a:ln>
        </p:spPr>
        <p:style>
          <a:lnRef idx="1">
            <a:schemeClr val="accent1"/>
          </a:lnRef>
          <a:fillRef idx="0">
            <a:schemeClr val="accent1"/>
          </a:fillRef>
          <a:effectRef idx="0">
            <a:schemeClr val="accent1"/>
          </a:effectRef>
          <a:fontRef idx="minor">
            <a:schemeClr val="tx1"/>
          </a:fontRef>
        </p:style>
      </p:cxnSp>
      <p:cxnSp>
        <p:nvCxnSpPr>
          <p:cNvPr id="28" name="直接连接符 27"/>
          <p:cNvCxnSpPr/>
          <p:nvPr/>
        </p:nvCxnSpPr>
        <p:spPr>
          <a:xfrm>
            <a:off x="8062053" y="4077722"/>
            <a:ext cx="0" cy="504825"/>
          </a:xfrm>
          <a:prstGeom prst="line">
            <a:avLst/>
          </a:prstGeom>
          <a:ln w="38100">
            <a:solidFill>
              <a:srgbClr val="02B9E7"/>
            </a:solidFill>
          </a:ln>
        </p:spPr>
        <p:style>
          <a:lnRef idx="1">
            <a:schemeClr val="accent1"/>
          </a:lnRef>
          <a:fillRef idx="0">
            <a:schemeClr val="accent1"/>
          </a:fillRef>
          <a:effectRef idx="0">
            <a:schemeClr val="accent1"/>
          </a:effectRef>
          <a:fontRef idx="minor">
            <a:schemeClr val="tx1"/>
          </a:fontRef>
        </p:style>
      </p:cxnSp>
      <p:sp>
        <p:nvSpPr>
          <p:cNvPr id="29" name="文本框 6"/>
          <p:cNvSpPr txBox="1">
            <a:spLocks noChangeArrowheads="1"/>
          </p:cNvSpPr>
          <p:nvPr/>
        </p:nvSpPr>
        <p:spPr bwMode="auto">
          <a:xfrm>
            <a:off x="4890733" y="4582547"/>
            <a:ext cx="4507793" cy="581057"/>
          </a:xfrm>
          <a:prstGeom prst="rect">
            <a:avLst/>
          </a:prstGeom>
          <a:noFill/>
          <a:ln w="9525">
            <a:noFill/>
            <a:miter lim="800000"/>
            <a:headEnd/>
            <a:tailEnd/>
          </a:ln>
        </p:spPr>
        <p:txBody>
          <a:bodyPr wrap="square">
            <a:spAutoFit/>
          </a:bodyPr>
          <a:lstStyle/>
          <a:p>
            <a:pPr>
              <a:lnSpc>
                <a:spcPct val="150000"/>
              </a:lnSpc>
            </a:pPr>
            <a:r>
              <a:rPr lang="en-US" altLang="zh-CN" sz="2400" b="1" dirty="0">
                <a:latin typeface="微软雅黑" panose="020B0503020204020204" pitchFamily="34" charset="-122"/>
                <a:ea typeface="微软雅黑" panose="020B0503020204020204" pitchFamily="34" charset="-122"/>
              </a:rPr>
              <a:t>1   0   1   0   1   1   0   1</a:t>
            </a:r>
            <a:endParaRPr lang="zh-CN" altLang="en-US" sz="2400" b="1" dirty="0">
              <a:latin typeface="微软雅黑" panose="020B0503020204020204" pitchFamily="34" charset="-122"/>
              <a:ea typeface="微软雅黑" panose="020B0503020204020204" pitchFamily="34" charset="-122"/>
            </a:endParaRPr>
          </a:p>
        </p:txBody>
      </p:sp>
      <p:cxnSp>
        <p:nvCxnSpPr>
          <p:cNvPr id="30" name="直接连接符 29"/>
          <p:cNvCxnSpPr/>
          <p:nvPr/>
        </p:nvCxnSpPr>
        <p:spPr>
          <a:xfrm>
            <a:off x="8438820" y="4582547"/>
            <a:ext cx="385233" cy="0"/>
          </a:xfrm>
          <a:prstGeom prst="line">
            <a:avLst/>
          </a:prstGeom>
          <a:ln w="38100">
            <a:solidFill>
              <a:srgbClr val="02B9E7"/>
            </a:solidFill>
          </a:ln>
        </p:spPr>
        <p:style>
          <a:lnRef idx="1">
            <a:schemeClr val="accent1"/>
          </a:lnRef>
          <a:fillRef idx="0">
            <a:schemeClr val="accent1"/>
          </a:fillRef>
          <a:effectRef idx="0">
            <a:schemeClr val="accent1"/>
          </a:effectRef>
          <a:fontRef idx="minor">
            <a:schemeClr val="tx1"/>
          </a:fontRef>
        </p:style>
      </p:cxnSp>
      <p:grpSp>
        <p:nvGrpSpPr>
          <p:cNvPr id="31" name="组合 3"/>
          <p:cNvGrpSpPr/>
          <p:nvPr/>
        </p:nvGrpSpPr>
        <p:grpSpPr>
          <a:xfrm>
            <a:off x="331137" y="228308"/>
            <a:ext cx="438352" cy="621987"/>
            <a:chOff x="265635" y="269251"/>
            <a:chExt cx="438352" cy="621987"/>
          </a:xfrm>
        </p:grpSpPr>
        <p:sp>
          <p:nvSpPr>
            <p:cNvPr id="32" name="Freeform 5"/>
            <p:cNvSpPr>
              <a:spLocks/>
            </p:cNvSpPr>
            <p:nvPr/>
          </p:nvSpPr>
          <p:spPr bwMode="auto">
            <a:xfrm>
              <a:off x="269585" y="269251"/>
              <a:ext cx="262616" cy="266567"/>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EB0"/>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33" name="Freeform 6"/>
            <p:cNvSpPr>
              <a:spLocks/>
            </p:cNvSpPr>
            <p:nvPr/>
          </p:nvSpPr>
          <p:spPr bwMode="auto">
            <a:xfrm>
              <a:off x="441371" y="443010"/>
              <a:ext cx="262616" cy="268540"/>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EB0"/>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34" name="Freeform 7"/>
            <p:cNvSpPr>
              <a:spLocks/>
            </p:cNvSpPr>
            <p:nvPr/>
          </p:nvSpPr>
          <p:spPr bwMode="auto">
            <a:xfrm>
              <a:off x="265635" y="624671"/>
              <a:ext cx="260640" cy="266567"/>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EB0"/>
            </a:solidFill>
            <a:ln>
              <a:noFill/>
            </a:ln>
          </p:spPr>
          <p:txBody>
            <a:bodyPr vert="horz" wrap="square" lIns="91398" tIns="45699" rIns="91398" bIns="45699" numCol="1" anchor="t" anchorCtr="0" compatLnSpc="1">
              <a:prstTxWarp prst="textNoShape">
                <a:avLst/>
              </a:prstTxWarp>
            </a:bodyPr>
            <a:lstStyle/>
            <a:p>
              <a:endParaRPr lang="zh-CN" altLang="en-US" sz="1799"/>
            </a:p>
          </p:txBody>
        </p:sp>
      </p:grpSp>
      <p:sp>
        <p:nvSpPr>
          <p:cNvPr id="2" name="矩形 1"/>
          <p:cNvSpPr/>
          <p:nvPr/>
        </p:nvSpPr>
        <p:spPr>
          <a:xfrm>
            <a:off x="3361473" y="1983646"/>
            <a:ext cx="7415504" cy="1815882"/>
          </a:xfrm>
          <a:prstGeom prst="rect">
            <a:avLst/>
          </a:prstGeom>
        </p:spPr>
        <p:txBody>
          <a:bodyPr wrap="square">
            <a:spAutoFit/>
          </a:bodyPr>
          <a:lstStyle/>
          <a:p>
            <a:pPr lvl="1">
              <a:lnSpc>
                <a:spcPct val="200000"/>
              </a:lnSpc>
            </a:pPr>
            <a:r>
              <a:rPr lang="zh-CN" altLang="en-US" sz="2800" b="1" dirty="0">
                <a:latin typeface="微软雅黑" panose="020B0503020204020204" pitchFamily="34" charset="-122"/>
                <a:ea typeface="微软雅黑" panose="020B0503020204020204" pitchFamily="34" charset="-122"/>
              </a:rPr>
              <a:t>二进制数字信号</a:t>
            </a:r>
            <a:r>
              <a:rPr lang="en-US" altLang="zh-CN" sz="2800" b="1" dirty="0">
                <a:latin typeface="微软雅黑" panose="020B0503020204020204" pitchFamily="34" charset="-122"/>
                <a:ea typeface="微软雅黑" panose="020B0503020204020204" pitchFamily="34" charset="-122"/>
              </a:rPr>
              <a:t>0</a:t>
            </a:r>
            <a:r>
              <a:rPr lang="zh-CN" altLang="en-US" sz="2800" b="1" dirty="0">
                <a:latin typeface="微软雅黑" panose="020B0503020204020204" pitchFamily="34" charset="-122"/>
                <a:ea typeface="微软雅黑" panose="020B0503020204020204" pitchFamily="34" charset="-122"/>
              </a:rPr>
              <a:t>和</a:t>
            </a:r>
            <a:r>
              <a:rPr lang="en-US" altLang="zh-CN" sz="2800" b="1" dirty="0">
                <a:latin typeface="微软雅黑" panose="020B0503020204020204" pitchFamily="34" charset="-122"/>
                <a:ea typeface="微软雅黑" panose="020B0503020204020204" pitchFamily="34" charset="-122"/>
              </a:rPr>
              <a:t>1</a:t>
            </a:r>
            <a:r>
              <a:rPr lang="zh-CN" altLang="en-US" sz="2800" b="1" dirty="0">
                <a:latin typeface="微软雅黑" panose="020B0503020204020204" pitchFamily="34" charset="-122"/>
                <a:ea typeface="微软雅黑" panose="020B0503020204020204" pitchFamily="34" charset="-122"/>
              </a:rPr>
              <a:t>的电平标准。</a:t>
            </a:r>
            <a:endParaRPr lang="en-US" altLang="zh-CN" sz="2800" b="1" dirty="0">
              <a:latin typeface="微软雅黑" panose="020B0503020204020204" pitchFamily="34" charset="-122"/>
              <a:ea typeface="微软雅黑" panose="020B0503020204020204" pitchFamily="34" charset="-122"/>
            </a:endParaRPr>
          </a:p>
          <a:p>
            <a:pPr lvl="1">
              <a:lnSpc>
                <a:spcPct val="200000"/>
              </a:lnSpc>
            </a:pPr>
            <a:r>
              <a:rPr lang="zh-CN" altLang="en-US" sz="2800" b="1" dirty="0">
                <a:latin typeface="微软雅黑" panose="020B0503020204020204" pitchFamily="34" charset="-122"/>
                <a:ea typeface="微软雅黑" panose="020B0503020204020204" pitchFamily="34" charset="-122"/>
              </a:rPr>
              <a:t>如：</a:t>
            </a:r>
            <a:r>
              <a:rPr lang="en-US" altLang="zh-CN" sz="2800" b="1" dirty="0">
                <a:latin typeface="微软雅黑" panose="020B0503020204020204" pitchFamily="34" charset="-122"/>
                <a:ea typeface="微软雅黑" panose="020B0503020204020204" pitchFamily="34" charset="-122"/>
              </a:rPr>
              <a:t>TTL</a:t>
            </a:r>
            <a:r>
              <a:rPr lang="zh-CN" altLang="en-US" sz="2800" b="1" dirty="0">
                <a:latin typeface="微软雅黑" panose="020B0503020204020204" pitchFamily="34" charset="-122"/>
                <a:ea typeface="微软雅黑" panose="020B0503020204020204" pitchFamily="34" charset="-122"/>
              </a:rPr>
              <a:t>电平标准、</a:t>
            </a:r>
            <a:r>
              <a:rPr lang="en-US" altLang="zh-CN" sz="2800" b="1" dirty="0">
                <a:latin typeface="微软雅黑" panose="020B0503020204020204" pitchFamily="34" charset="-122"/>
                <a:ea typeface="微软雅黑" panose="020B0503020204020204" pitchFamily="34" charset="-122"/>
              </a:rPr>
              <a:t>CMOS</a:t>
            </a:r>
            <a:r>
              <a:rPr lang="zh-CN" altLang="en-US" sz="2800" b="1" dirty="0">
                <a:latin typeface="微软雅黑" panose="020B0503020204020204" pitchFamily="34" charset="-122"/>
                <a:ea typeface="微软雅黑" panose="020B0503020204020204" pitchFamily="34" charset="-122"/>
              </a:rPr>
              <a:t>电平标准等。</a:t>
            </a:r>
            <a:endParaRPr lang="en-US" altLang="zh-CN" sz="2800" b="1"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37573792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advTm="0">
        <p15:prstTrans prst="peelOff"/>
      </p:transition>
    </mc:Choice>
    <mc:Fallback xmlns="">
      <p:transition spd="slow" advTm="0">
        <p:fade/>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Rectangle 3"/>
          <p:cNvSpPr>
            <a:spLocks noGrp="1" noChangeArrowheads="1"/>
          </p:cNvSpPr>
          <p:nvPr>
            <p:ph type="body" idx="1"/>
          </p:nvPr>
        </p:nvSpPr>
        <p:spPr>
          <a:xfrm>
            <a:off x="1219200" y="479674"/>
            <a:ext cx="10972800" cy="2133600"/>
          </a:xfrm>
        </p:spPr>
        <p:txBody>
          <a:bodyPr/>
          <a:lstStyle/>
          <a:p>
            <a:pPr marL="0" algn="just">
              <a:buNone/>
              <a:defRPr/>
            </a:pPr>
            <a:r>
              <a:rPr lang="zh-CN" altLang="en-US" sz="3200" b="1" kern="0" dirty="0">
                <a:solidFill>
                  <a:schemeClr val="tx1">
                    <a:lumMod val="75000"/>
                  </a:schemeClr>
                </a:solidFill>
                <a:latin typeface="微软雅黑" panose="020B0503020204020204" pitchFamily="34" charset="-122"/>
                <a:ea typeface="微软雅黑" panose="020B0503020204020204" pitchFamily="34" charset="-122"/>
              </a:rPr>
              <a:t>功能特性方面</a:t>
            </a:r>
            <a:endParaRPr lang="en-US" altLang="zh-CN" sz="3200" b="1" kern="0" dirty="0">
              <a:solidFill>
                <a:schemeClr val="tx1">
                  <a:lumMod val="75000"/>
                </a:schemeClr>
              </a:solidFill>
              <a:latin typeface="微软雅黑" panose="020B0503020204020204" pitchFamily="34" charset="-122"/>
              <a:ea typeface="微软雅黑" panose="020B0503020204020204" pitchFamily="34" charset="-122"/>
            </a:endParaRPr>
          </a:p>
        </p:txBody>
      </p:sp>
      <p:pic>
        <p:nvPicPr>
          <p:cNvPr id="12292" name="图片 1"/>
          <p:cNvPicPr>
            <a:picLocks noChangeAspect="1"/>
          </p:cNvPicPr>
          <p:nvPr/>
        </p:nvPicPr>
        <p:blipFill>
          <a:blip r:embed="rId2"/>
          <a:srcRect/>
          <a:stretch>
            <a:fillRect/>
          </a:stretch>
        </p:blipFill>
        <p:spPr bwMode="auto">
          <a:xfrm>
            <a:off x="2867901" y="2736919"/>
            <a:ext cx="5472795" cy="3427271"/>
          </a:xfrm>
          <a:prstGeom prst="rect">
            <a:avLst/>
          </a:prstGeom>
          <a:noFill/>
          <a:ln w="9525">
            <a:noFill/>
            <a:miter lim="800000"/>
            <a:headEnd/>
            <a:tailEnd/>
          </a:ln>
        </p:spPr>
      </p:pic>
      <p:grpSp>
        <p:nvGrpSpPr>
          <p:cNvPr id="5" name="组合 3"/>
          <p:cNvGrpSpPr/>
          <p:nvPr/>
        </p:nvGrpSpPr>
        <p:grpSpPr>
          <a:xfrm>
            <a:off x="594328" y="346391"/>
            <a:ext cx="438352" cy="621987"/>
            <a:chOff x="265635" y="269251"/>
            <a:chExt cx="438352" cy="621987"/>
          </a:xfrm>
        </p:grpSpPr>
        <p:sp>
          <p:nvSpPr>
            <p:cNvPr id="6" name="Freeform 5"/>
            <p:cNvSpPr>
              <a:spLocks/>
            </p:cNvSpPr>
            <p:nvPr/>
          </p:nvSpPr>
          <p:spPr bwMode="auto">
            <a:xfrm>
              <a:off x="269585" y="269251"/>
              <a:ext cx="262616" cy="266567"/>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EB0"/>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7" name="Freeform 6"/>
            <p:cNvSpPr>
              <a:spLocks/>
            </p:cNvSpPr>
            <p:nvPr/>
          </p:nvSpPr>
          <p:spPr bwMode="auto">
            <a:xfrm>
              <a:off x="441371" y="443010"/>
              <a:ext cx="262616" cy="268540"/>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EB0"/>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8" name="Freeform 7"/>
            <p:cNvSpPr>
              <a:spLocks/>
            </p:cNvSpPr>
            <p:nvPr/>
          </p:nvSpPr>
          <p:spPr bwMode="auto">
            <a:xfrm>
              <a:off x="265635" y="624671"/>
              <a:ext cx="260640" cy="266567"/>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EB0"/>
            </a:solidFill>
            <a:ln>
              <a:noFill/>
            </a:ln>
          </p:spPr>
          <p:txBody>
            <a:bodyPr vert="horz" wrap="square" lIns="91398" tIns="45699" rIns="91398" bIns="45699" numCol="1" anchor="t" anchorCtr="0" compatLnSpc="1">
              <a:prstTxWarp prst="textNoShape">
                <a:avLst/>
              </a:prstTxWarp>
            </a:bodyPr>
            <a:lstStyle/>
            <a:p>
              <a:endParaRPr lang="zh-CN" altLang="en-US" sz="1799"/>
            </a:p>
          </p:txBody>
        </p:sp>
      </p:grpSp>
      <p:sp>
        <p:nvSpPr>
          <p:cNvPr id="2" name="矩形 1"/>
          <p:cNvSpPr/>
          <p:nvPr/>
        </p:nvSpPr>
        <p:spPr>
          <a:xfrm>
            <a:off x="854968" y="1228279"/>
            <a:ext cx="10011815" cy="1384995"/>
          </a:xfrm>
          <a:prstGeom prst="rect">
            <a:avLst/>
          </a:prstGeom>
        </p:spPr>
        <p:txBody>
          <a:bodyPr wrap="square">
            <a:spAutoFit/>
          </a:bodyPr>
          <a:lstStyle/>
          <a:p>
            <a:pPr lvl="1">
              <a:lnSpc>
                <a:spcPct val="150000"/>
              </a:lnSpc>
            </a:pPr>
            <a:r>
              <a:rPr lang="zh-CN" altLang="en-US" sz="2800" b="1" dirty="0">
                <a:latin typeface="微软雅黑" panose="020B0503020204020204" pitchFamily="34" charset="-122"/>
                <a:ea typeface="微软雅黑" panose="020B0503020204020204" pitchFamily="34" charset="-122"/>
              </a:rPr>
              <a:t>定义了设备连接的每一条信号线的功能。</a:t>
            </a:r>
          </a:p>
          <a:p>
            <a:pPr lvl="1">
              <a:lnSpc>
                <a:spcPct val="150000"/>
              </a:lnSpc>
            </a:pPr>
            <a:r>
              <a:rPr lang="zh-CN" altLang="en-US" sz="2800" b="1" dirty="0">
                <a:latin typeface="微软雅黑" panose="020B0503020204020204" pitchFamily="34" charset="-122"/>
                <a:ea typeface="微软雅黑" panose="020B0503020204020204" pitchFamily="34" charset="-122"/>
              </a:rPr>
              <a:t>不同种类的外围设备，其所连接的信号线的功能会有所不同。</a:t>
            </a: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advTm="9222">
        <p15:prstTrans prst="peelOff"/>
      </p:transition>
    </mc:Choice>
    <mc:Fallback xmlns="">
      <p:transition spd="slow" advTm="9222">
        <p:fade/>
      </p:transition>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 name="Line 5"/>
          <p:cNvSpPr>
            <a:spLocks noChangeShapeType="1"/>
          </p:cNvSpPr>
          <p:nvPr/>
        </p:nvSpPr>
        <p:spPr bwMode="auto">
          <a:xfrm>
            <a:off x="1279660" y="973100"/>
            <a:ext cx="0" cy="5255767"/>
          </a:xfrm>
          <a:prstGeom prst="line">
            <a:avLst/>
          </a:prstGeom>
          <a:noFill/>
          <a:ln w="12700" cap="flat">
            <a:solidFill>
              <a:srgbClr val="2E2C2C"/>
            </a:solidFill>
            <a:prstDash val="solid"/>
            <a:miter lim="800000"/>
            <a:headEnd/>
            <a:tailEnd/>
          </a:ln>
          <a:extLst>
            <a:ext uri="{909E8E84-426E-40DD-AFC4-6F175D3DCCD1}">
              <a14:hiddenFill xmlns:a14="http://schemas.microsoft.com/office/drawing/2010/main">
                <a:noFill/>
              </a14:hiddenFill>
            </a:ext>
          </a:extLst>
        </p:spPr>
        <p:txBody>
          <a:bodyPr vert="horz" wrap="square" lIns="91398" tIns="45699" rIns="91398" bIns="45699" numCol="1" anchor="t" anchorCtr="0" compatLnSpc="1">
            <a:prstTxWarp prst="textNoShape">
              <a:avLst/>
            </a:prstTxWarp>
          </a:bodyPr>
          <a:lstStyle/>
          <a:p>
            <a:endParaRPr lang="zh-CN" altLang="en-US" sz="1799"/>
          </a:p>
        </p:txBody>
      </p:sp>
      <p:sp>
        <p:nvSpPr>
          <p:cNvPr id="70" name="Oval 6"/>
          <p:cNvSpPr>
            <a:spLocks noChangeArrowheads="1"/>
          </p:cNvSpPr>
          <p:nvPr/>
        </p:nvSpPr>
        <p:spPr bwMode="auto">
          <a:xfrm>
            <a:off x="1160644" y="4023411"/>
            <a:ext cx="238032" cy="234859"/>
          </a:xfrm>
          <a:prstGeom prst="ellipse">
            <a:avLst/>
          </a:prstGeom>
          <a:solidFill>
            <a:schemeClr val="accent4"/>
          </a:solidFill>
          <a:ln w="10" cap="flat">
            <a:solidFill>
              <a:srgbClr val="FFFFFF"/>
            </a:solidFill>
            <a:prstDash val="solid"/>
            <a:miter lim="800000"/>
            <a:headEnd/>
            <a:tailEnd/>
          </a:ln>
        </p:spPr>
        <p:txBody>
          <a:bodyPr vert="horz" wrap="square" lIns="91398" tIns="45699" rIns="91398" bIns="45699" numCol="1" anchor="t" anchorCtr="0" compatLnSpc="1">
            <a:prstTxWarp prst="textNoShape">
              <a:avLst/>
            </a:prstTxWarp>
          </a:bodyPr>
          <a:lstStyle/>
          <a:p>
            <a:endParaRPr lang="zh-CN" altLang="en-US" sz="1799"/>
          </a:p>
        </p:txBody>
      </p:sp>
      <p:sp>
        <p:nvSpPr>
          <p:cNvPr id="71" name="Oval 7"/>
          <p:cNvSpPr>
            <a:spLocks noChangeArrowheads="1"/>
          </p:cNvSpPr>
          <p:nvPr/>
        </p:nvSpPr>
        <p:spPr bwMode="auto">
          <a:xfrm>
            <a:off x="1157530" y="4744686"/>
            <a:ext cx="238032" cy="234859"/>
          </a:xfrm>
          <a:prstGeom prst="ellipse">
            <a:avLst/>
          </a:prstGeom>
          <a:solidFill>
            <a:schemeClr val="accent4"/>
          </a:solidFill>
          <a:ln w="10" cap="flat">
            <a:solidFill>
              <a:srgbClr val="FFFFFF"/>
            </a:solidFill>
            <a:prstDash val="solid"/>
            <a:miter lim="800000"/>
            <a:headEnd/>
            <a:tailEnd/>
          </a:ln>
        </p:spPr>
        <p:txBody>
          <a:bodyPr vert="horz" wrap="square" lIns="91398" tIns="45699" rIns="91398" bIns="45699" numCol="1" anchor="t" anchorCtr="0" compatLnSpc="1">
            <a:prstTxWarp prst="textNoShape">
              <a:avLst/>
            </a:prstTxWarp>
          </a:bodyPr>
          <a:lstStyle/>
          <a:p>
            <a:endParaRPr lang="zh-CN" altLang="en-US" sz="1799"/>
          </a:p>
        </p:txBody>
      </p:sp>
      <p:sp>
        <p:nvSpPr>
          <p:cNvPr id="72" name="Freeform 9"/>
          <p:cNvSpPr>
            <a:spLocks/>
          </p:cNvSpPr>
          <p:nvPr/>
        </p:nvSpPr>
        <p:spPr bwMode="auto">
          <a:xfrm>
            <a:off x="1616079" y="893753"/>
            <a:ext cx="165036" cy="207882"/>
          </a:xfrm>
          <a:custGeom>
            <a:avLst/>
            <a:gdLst>
              <a:gd name="T0" fmla="*/ 184 w 205"/>
              <a:gd name="T1" fmla="*/ 109 h 262"/>
              <a:gd name="T2" fmla="*/ 109 w 205"/>
              <a:gd name="T3" fmla="*/ 61 h 262"/>
              <a:gd name="T4" fmla="*/ 32 w 205"/>
              <a:gd name="T5" fmla="*/ 11 h 262"/>
              <a:gd name="T6" fmla="*/ 0 w 205"/>
              <a:gd name="T7" fmla="*/ 34 h 262"/>
              <a:gd name="T8" fmla="*/ 0 w 205"/>
              <a:gd name="T9" fmla="*/ 131 h 262"/>
              <a:gd name="T10" fmla="*/ 0 w 205"/>
              <a:gd name="T11" fmla="*/ 230 h 262"/>
              <a:gd name="T12" fmla="*/ 34 w 205"/>
              <a:gd name="T13" fmla="*/ 250 h 262"/>
              <a:gd name="T14" fmla="*/ 109 w 205"/>
              <a:gd name="T15" fmla="*/ 202 h 262"/>
              <a:gd name="T16" fmla="*/ 186 w 205"/>
              <a:gd name="T17" fmla="*/ 152 h 262"/>
              <a:gd name="T18" fmla="*/ 184 w 205"/>
              <a:gd name="T19" fmla="*/ 109 h 2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05" h="262">
                <a:moveTo>
                  <a:pt x="184" y="109"/>
                </a:moveTo>
                <a:lnTo>
                  <a:pt x="109" y="61"/>
                </a:lnTo>
                <a:cubicBezTo>
                  <a:pt x="83" y="44"/>
                  <a:pt x="58" y="28"/>
                  <a:pt x="32" y="11"/>
                </a:cubicBezTo>
                <a:cubicBezTo>
                  <a:pt x="11" y="0"/>
                  <a:pt x="0" y="9"/>
                  <a:pt x="0" y="34"/>
                </a:cubicBezTo>
                <a:lnTo>
                  <a:pt x="0" y="131"/>
                </a:lnTo>
                <a:cubicBezTo>
                  <a:pt x="0" y="164"/>
                  <a:pt x="0" y="197"/>
                  <a:pt x="0" y="230"/>
                </a:cubicBezTo>
                <a:cubicBezTo>
                  <a:pt x="2" y="256"/>
                  <a:pt x="14" y="262"/>
                  <a:pt x="34" y="250"/>
                </a:cubicBezTo>
                <a:lnTo>
                  <a:pt x="109" y="202"/>
                </a:lnTo>
                <a:cubicBezTo>
                  <a:pt x="135" y="185"/>
                  <a:pt x="160" y="169"/>
                  <a:pt x="186" y="152"/>
                </a:cubicBezTo>
                <a:cubicBezTo>
                  <a:pt x="205" y="137"/>
                  <a:pt x="203" y="122"/>
                  <a:pt x="184" y="109"/>
                </a:cubicBezTo>
                <a:close/>
              </a:path>
            </a:pathLst>
          </a:custGeom>
          <a:solidFill>
            <a:srgbClr val="01C0B0"/>
          </a:solidFill>
          <a:ln>
            <a:noFill/>
          </a:ln>
          <a:extLst/>
        </p:spPr>
        <p:txBody>
          <a:bodyPr vert="horz" wrap="square" lIns="91398" tIns="45699" rIns="91398" bIns="45699" numCol="1" anchor="t" anchorCtr="0" compatLnSpc="1">
            <a:prstTxWarp prst="textNoShape">
              <a:avLst/>
            </a:prstTxWarp>
          </a:bodyPr>
          <a:lstStyle/>
          <a:p>
            <a:endParaRPr lang="zh-CN" altLang="en-US" sz="1799"/>
          </a:p>
        </p:txBody>
      </p:sp>
      <p:sp>
        <p:nvSpPr>
          <p:cNvPr id="73" name="Freeform 11"/>
          <p:cNvSpPr>
            <a:spLocks/>
          </p:cNvSpPr>
          <p:nvPr/>
        </p:nvSpPr>
        <p:spPr bwMode="auto">
          <a:xfrm>
            <a:off x="1638320" y="3176401"/>
            <a:ext cx="165036" cy="206294"/>
          </a:xfrm>
          <a:custGeom>
            <a:avLst/>
            <a:gdLst>
              <a:gd name="T0" fmla="*/ 184 w 205"/>
              <a:gd name="T1" fmla="*/ 108 h 261"/>
              <a:gd name="T2" fmla="*/ 109 w 205"/>
              <a:gd name="T3" fmla="*/ 60 h 261"/>
              <a:gd name="T4" fmla="*/ 32 w 205"/>
              <a:gd name="T5" fmla="*/ 10 h 261"/>
              <a:gd name="T6" fmla="*/ 0 w 205"/>
              <a:gd name="T7" fmla="*/ 33 h 261"/>
              <a:gd name="T8" fmla="*/ 0 w 205"/>
              <a:gd name="T9" fmla="*/ 130 h 261"/>
              <a:gd name="T10" fmla="*/ 0 w 205"/>
              <a:gd name="T11" fmla="*/ 229 h 261"/>
              <a:gd name="T12" fmla="*/ 34 w 205"/>
              <a:gd name="T13" fmla="*/ 249 h 261"/>
              <a:gd name="T14" fmla="*/ 109 w 205"/>
              <a:gd name="T15" fmla="*/ 201 h 261"/>
              <a:gd name="T16" fmla="*/ 186 w 205"/>
              <a:gd name="T17" fmla="*/ 151 h 261"/>
              <a:gd name="T18" fmla="*/ 184 w 205"/>
              <a:gd name="T19" fmla="*/ 108 h 2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05" h="261">
                <a:moveTo>
                  <a:pt x="184" y="108"/>
                </a:moveTo>
                <a:lnTo>
                  <a:pt x="109" y="60"/>
                </a:lnTo>
                <a:cubicBezTo>
                  <a:pt x="83" y="43"/>
                  <a:pt x="58" y="27"/>
                  <a:pt x="32" y="10"/>
                </a:cubicBezTo>
                <a:cubicBezTo>
                  <a:pt x="11" y="0"/>
                  <a:pt x="0" y="8"/>
                  <a:pt x="0" y="33"/>
                </a:cubicBezTo>
                <a:lnTo>
                  <a:pt x="0" y="130"/>
                </a:lnTo>
                <a:cubicBezTo>
                  <a:pt x="0" y="163"/>
                  <a:pt x="0" y="196"/>
                  <a:pt x="0" y="229"/>
                </a:cubicBezTo>
                <a:cubicBezTo>
                  <a:pt x="2" y="255"/>
                  <a:pt x="14" y="261"/>
                  <a:pt x="34" y="249"/>
                </a:cubicBezTo>
                <a:lnTo>
                  <a:pt x="109" y="201"/>
                </a:lnTo>
                <a:cubicBezTo>
                  <a:pt x="135" y="184"/>
                  <a:pt x="160" y="168"/>
                  <a:pt x="186" y="151"/>
                </a:cubicBezTo>
                <a:cubicBezTo>
                  <a:pt x="205" y="136"/>
                  <a:pt x="203" y="122"/>
                  <a:pt x="184" y="108"/>
                </a:cubicBezTo>
                <a:close/>
              </a:path>
            </a:pathLst>
          </a:custGeom>
          <a:solidFill>
            <a:srgbClr val="92D050"/>
          </a:solidFill>
          <a:ln>
            <a:noFill/>
          </a:ln>
          <a:extLst/>
        </p:spPr>
        <p:txBody>
          <a:bodyPr vert="horz" wrap="square" lIns="91398" tIns="45699" rIns="91398" bIns="45699" numCol="1" anchor="t" anchorCtr="0" compatLnSpc="1">
            <a:prstTxWarp prst="textNoShape">
              <a:avLst/>
            </a:prstTxWarp>
          </a:bodyPr>
          <a:lstStyle/>
          <a:p>
            <a:endParaRPr lang="zh-CN" altLang="en-US" sz="1799"/>
          </a:p>
        </p:txBody>
      </p:sp>
      <p:grpSp>
        <p:nvGrpSpPr>
          <p:cNvPr id="74" name="组合 73"/>
          <p:cNvGrpSpPr/>
          <p:nvPr/>
        </p:nvGrpSpPr>
        <p:grpSpPr>
          <a:xfrm>
            <a:off x="898757" y="721904"/>
            <a:ext cx="717324" cy="523092"/>
            <a:chOff x="912759" y="1007596"/>
            <a:chExt cx="717604" cy="523296"/>
          </a:xfrm>
        </p:grpSpPr>
        <p:sp>
          <p:nvSpPr>
            <p:cNvPr id="75" name="Freeform 8"/>
            <p:cNvSpPr>
              <a:spLocks/>
            </p:cNvSpPr>
            <p:nvPr/>
          </p:nvSpPr>
          <p:spPr bwMode="auto">
            <a:xfrm>
              <a:off x="985838" y="1052513"/>
              <a:ext cx="615950" cy="433387"/>
            </a:xfrm>
            <a:custGeom>
              <a:avLst/>
              <a:gdLst>
                <a:gd name="T0" fmla="*/ 43 w 764"/>
                <a:gd name="T1" fmla="*/ 0 h 549"/>
                <a:gd name="T2" fmla="*/ 721 w 764"/>
                <a:gd name="T3" fmla="*/ 0 h 549"/>
                <a:gd name="T4" fmla="*/ 764 w 764"/>
                <a:gd name="T5" fmla="*/ 43 h 549"/>
                <a:gd name="T6" fmla="*/ 764 w 764"/>
                <a:gd name="T7" fmla="*/ 506 h 549"/>
                <a:gd name="T8" fmla="*/ 721 w 764"/>
                <a:gd name="T9" fmla="*/ 549 h 549"/>
                <a:gd name="T10" fmla="*/ 43 w 764"/>
                <a:gd name="T11" fmla="*/ 549 h 549"/>
                <a:gd name="T12" fmla="*/ 0 w 764"/>
                <a:gd name="T13" fmla="*/ 506 h 549"/>
                <a:gd name="T14" fmla="*/ 0 w 764"/>
                <a:gd name="T15" fmla="*/ 43 h 549"/>
                <a:gd name="T16" fmla="*/ 43 w 764"/>
                <a:gd name="T17" fmla="*/ 0 h 5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64" h="549">
                  <a:moveTo>
                    <a:pt x="43" y="0"/>
                  </a:moveTo>
                  <a:lnTo>
                    <a:pt x="721" y="0"/>
                  </a:lnTo>
                  <a:cubicBezTo>
                    <a:pt x="744" y="0"/>
                    <a:pt x="764" y="20"/>
                    <a:pt x="764" y="43"/>
                  </a:cubicBezTo>
                  <a:lnTo>
                    <a:pt x="764" y="506"/>
                  </a:lnTo>
                  <a:cubicBezTo>
                    <a:pt x="764" y="530"/>
                    <a:pt x="744" y="549"/>
                    <a:pt x="721" y="549"/>
                  </a:cubicBezTo>
                  <a:lnTo>
                    <a:pt x="43" y="549"/>
                  </a:lnTo>
                  <a:cubicBezTo>
                    <a:pt x="20" y="549"/>
                    <a:pt x="0" y="530"/>
                    <a:pt x="0" y="506"/>
                  </a:cubicBezTo>
                  <a:lnTo>
                    <a:pt x="0" y="43"/>
                  </a:lnTo>
                  <a:cubicBezTo>
                    <a:pt x="0" y="20"/>
                    <a:pt x="20" y="0"/>
                    <a:pt x="43" y="0"/>
                  </a:cubicBezTo>
                  <a:close/>
                </a:path>
              </a:pathLst>
            </a:custGeom>
            <a:solidFill>
              <a:srgbClr val="E8550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4" tIns="45702" rIns="91404" bIns="45702" numCol="1" anchor="t" anchorCtr="0" compatLnSpc="1">
              <a:prstTxWarp prst="textNoShape">
                <a:avLst/>
              </a:prstTxWarp>
            </a:bodyPr>
            <a:lstStyle/>
            <a:p>
              <a:endParaRPr lang="zh-CN" altLang="en-US" sz="1799"/>
            </a:p>
          </p:txBody>
        </p:sp>
        <p:sp>
          <p:nvSpPr>
            <p:cNvPr id="76" name="TextBox 75"/>
            <p:cNvSpPr txBox="1"/>
            <p:nvPr/>
          </p:nvSpPr>
          <p:spPr>
            <a:xfrm>
              <a:off x="912759" y="1007596"/>
              <a:ext cx="717604" cy="523296"/>
            </a:xfrm>
            <a:prstGeom prst="rect">
              <a:avLst/>
            </a:prstGeom>
            <a:solidFill>
              <a:srgbClr val="01C0B0"/>
            </a:solidFill>
          </p:spPr>
          <p:txBody>
            <a:bodyPr wrap="square" rtlCol="0">
              <a:spAutoFit/>
            </a:bodyPr>
            <a:lstStyle/>
            <a:p>
              <a:pPr algn="ctr"/>
              <a:endParaRPr lang="zh-CN" altLang="en-US" sz="2799" dirty="0">
                <a:solidFill>
                  <a:schemeClr val="bg1"/>
                </a:solidFill>
                <a:latin typeface="+mn-ea"/>
              </a:endParaRPr>
            </a:p>
          </p:txBody>
        </p:sp>
      </p:grpSp>
      <p:grpSp>
        <p:nvGrpSpPr>
          <p:cNvPr id="79" name="组合 78"/>
          <p:cNvGrpSpPr/>
          <p:nvPr/>
        </p:nvGrpSpPr>
        <p:grpSpPr>
          <a:xfrm>
            <a:off x="920998" y="3013903"/>
            <a:ext cx="717324" cy="523092"/>
            <a:chOff x="912759" y="1884191"/>
            <a:chExt cx="717604" cy="523296"/>
          </a:xfrm>
        </p:grpSpPr>
        <p:sp>
          <p:nvSpPr>
            <p:cNvPr id="80" name="Freeform 10"/>
            <p:cNvSpPr>
              <a:spLocks/>
            </p:cNvSpPr>
            <p:nvPr/>
          </p:nvSpPr>
          <p:spPr bwMode="auto">
            <a:xfrm>
              <a:off x="985838" y="1918165"/>
              <a:ext cx="615950" cy="433387"/>
            </a:xfrm>
            <a:custGeom>
              <a:avLst/>
              <a:gdLst>
                <a:gd name="T0" fmla="*/ 43 w 764"/>
                <a:gd name="T1" fmla="*/ 0 h 549"/>
                <a:gd name="T2" fmla="*/ 721 w 764"/>
                <a:gd name="T3" fmla="*/ 0 h 549"/>
                <a:gd name="T4" fmla="*/ 764 w 764"/>
                <a:gd name="T5" fmla="*/ 44 h 549"/>
                <a:gd name="T6" fmla="*/ 764 w 764"/>
                <a:gd name="T7" fmla="*/ 506 h 549"/>
                <a:gd name="T8" fmla="*/ 721 w 764"/>
                <a:gd name="T9" fmla="*/ 549 h 549"/>
                <a:gd name="T10" fmla="*/ 43 w 764"/>
                <a:gd name="T11" fmla="*/ 549 h 549"/>
                <a:gd name="T12" fmla="*/ 0 w 764"/>
                <a:gd name="T13" fmla="*/ 506 h 549"/>
                <a:gd name="T14" fmla="*/ 0 w 764"/>
                <a:gd name="T15" fmla="*/ 44 h 549"/>
                <a:gd name="T16" fmla="*/ 43 w 764"/>
                <a:gd name="T17" fmla="*/ 0 h 5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64" h="549">
                  <a:moveTo>
                    <a:pt x="43" y="0"/>
                  </a:moveTo>
                  <a:lnTo>
                    <a:pt x="721" y="0"/>
                  </a:lnTo>
                  <a:cubicBezTo>
                    <a:pt x="744" y="0"/>
                    <a:pt x="764" y="20"/>
                    <a:pt x="764" y="44"/>
                  </a:cubicBezTo>
                  <a:lnTo>
                    <a:pt x="764" y="506"/>
                  </a:lnTo>
                  <a:cubicBezTo>
                    <a:pt x="764" y="530"/>
                    <a:pt x="744" y="549"/>
                    <a:pt x="721" y="549"/>
                  </a:cubicBezTo>
                  <a:lnTo>
                    <a:pt x="43" y="549"/>
                  </a:lnTo>
                  <a:cubicBezTo>
                    <a:pt x="20" y="549"/>
                    <a:pt x="0" y="530"/>
                    <a:pt x="0" y="506"/>
                  </a:cubicBezTo>
                  <a:lnTo>
                    <a:pt x="0" y="44"/>
                  </a:lnTo>
                  <a:cubicBezTo>
                    <a:pt x="0" y="20"/>
                    <a:pt x="20" y="0"/>
                    <a:pt x="43" y="0"/>
                  </a:cubicBezTo>
                  <a:close/>
                </a:path>
              </a:pathLst>
            </a:custGeom>
            <a:solidFill>
              <a:srgbClr val="E8550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4" tIns="45702" rIns="91404" bIns="45702" numCol="1" anchor="t" anchorCtr="0" compatLnSpc="1">
              <a:prstTxWarp prst="textNoShape">
                <a:avLst/>
              </a:prstTxWarp>
            </a:bodyPr>
            <a:lstStyle/>
            <a:p>
              <a:endParaRPr lang="zh-CN" altLang="en-US" sz="1799"/>
            </a:p>
          </p:txBody>
        </p:sp>
        <p:sp>
          <p:nvSpPr>
            <p:cNvPr id="81" name="TextBox 80"/>
            <p:cNvSpPr txBox="1"/>
            <p:nvPr/>
          </p:nvSpPr>
          <p:spPr>
            <a:xfrm>
              <a:off x="912759" y="1884191"/>
              <a:ext cx="717604" cy="523296"/>
            </a:xfrm>
            <a:prstGeom prst="rect">
              <a:avLst/>
            </a:prstGeom>
            <a:solidFill>
              <a:srgbClr val="92D050"/>
            </a:solidFill>
          </p:spPr>
          <p:txBody>
            <a:bodyPr wrap="square" rtlCol="0">
              <a:spAutoFit/>
            </a:bodyPr>
            <a:lstStyle/>
            <a:p>
              <a:pPr algn="ctr"/>
              <a:endParaRPr lang="zh-CN" altLang="en-US" sz="2799" dirty="0">
                <a:solidFill>
                  <a:schemeClr val="bg1"/>
                </a:solidFill>
                <a:latin typeface="+mn-ea"/>
              </a:endParaRPr>
            </a:p>
          </p:txBody>
        </p:sp>
      </p:grpSp>
      <p:sp>
        <p:nvSpPr>
          <p:cNvPr id="90" name="Oval 6"/>
          <p:cNvSpPr>
            <a:spLocks noChangeArrowheads="1"/>
          </p:cNvSpPr>
          <p:nvPr/>
        </p:nvSpPr>
        <p:spPr bwMode="auto">
          <a:xfrm>
            <a:off x="1160645" y="1691448"/>
            <a:ext cx="238032" cy="234859"/>
          </a:xfrm>
          <a:prstGeom prst="ellipse">
            <a:avLst/>
          </a:prstGeom>
          <a:solidFill>
            <a:schemeClr val="accent4"/>
          </a:solidFill>
          <a:ln w="10" cap="flat">
            <a:solidFill>
              <a:srgbClr val="FFFFFF"/>
            </a:solidFill>
            <a:prstDash val="solid"/>
            <a:miter lim="800000"/>
            <a:headEnd/>
            <a:tailEnd/>
          </a:ln>
        </p:spPr>
        <p:txBody>
          <a:bodyPr vert="horz" wrap="square" lIns="91398" tIns="45699" rIns="91398" bIns="45699" numCol="1" anchor="t" anchorCtr="0" compatLnSpc="1">
            <a:prstTxWarp prst="textNoShape">
              <a:avLst/>
            </a:prstTxWarp>
          </a:bodyPr>
          <a:lstStyle/>
          <a:p>
            <a:endParaRPr lang="zh-CN" altLang="en-US" sz="1799"/>
          </a:p>
        </p:txBody>
      </p:sp>
      <p:sp>
        <p:nvSpPr>
          <p:cNvPr id="27" name="TextBox 26"/>
          <p:cNvSpPr txBox="1"/>
          <p:nvPr/>
        </p:nvSpPr>
        <p:spPr>
          <a:xfrm>
            <a:off x="14133005" y="7882324"/>
            <a:ext cx="1107996" cy="461665"/>
          </a:xfrm>
          <a:prstGeom prst="rect">
            <a:avLst/>
          </a:prstGeom>
          <a:noFill/>
        </p:spPr>
        <p:txBody>
          <a:bodyPr wrap="none" rtlCol="0">
            <a:spAutoFit/>
          </a:bodyPr>
          <a:lstStyle/>
          <a:p>
            <a:r>
              <a:rPr lang="zh-CN" altLang="en-US" sz="2400" dirty="0"/>
              <a:t>延时符</a:t>
            </a:r>
          </a:p>
        </p:txBody>
      </p:sp>
      <p:sp>
        <p:nvSpPr>
          <p:cNvPr id="29" name="Rectangle 2"/>
          <p:cNvSpPr txBox="1">
            <a:spLocks noChangeArrowheads="1"/>
          </p:cNvSpPr>
          <p:nvPr/>
        </p:nvSpPr>
        <p:spPr>
          <a:xfrm>
            <a:off x="2111985" y="626346"/>
            <a:ext cx="10515600" cy="693507"/>
          </a:xfrm>
          <a:prstGeom prst="rect">
            <a:avLst/>
          </a:prstGeom>
        </p:spPr>
        <p:txBody>
          <a:bodyPr>
            <a:normAutofit lnSpcReduction="10000"/>
          </a:bodyPr>
          <a:lstStyle/>
          <a:p>
            <a:pPr>
              <a:lnSpc>
                <a:spcPct val="150000"/>
              </a:lnSpc>
            </a:pPr>
            <a:r>
              <a:rPr lang="zh-CN" altLang="en-US" sz="2800" b="1" dirty="0">
                <a:latin typeface="微软雅黑" panose="020B0503020204020204" pitchFamily="34" charset="-122"/>
                <a:ea typeface="微软雅黑" panose="020B0503020204020204" pitchFamily="34" charset="-122"/>
              </a:rPr>
              <a:t>数据格式方面</a:t>
            </a:r>
            <a:endParaRPr lang="en-US" altLang="zh-CN" sz="2800" b="1" dirty="0">
              <a:latin typeface="微软雅黑" panose="020B0503020204020204" pitchFamily="34" charset="-122"/>
              <a:ea typeface="微软雅黑" panose="020B0503020204020204" pitchFamily="34" charset="-122"/>
            </a:endParaRPr>
          </a:p>
        </p:txBody>
      </p:sp>
      <p:sp>
        <p:nvSpPr>
          <p:cNvPr id="30" name="矩形 29"/>
          <p:cNvSpPr/>
          <p:nvPr/>
        </p:nvSpPr>
        <p:spPr>
          <a:xfrm>
            <a:off x="1660564" y="1428709"/>
            <a:ext cx="9592379" cy="1384995"/>
          </a:xfrm>
          <a:prstGeom prst="rect">
            <a:avLst/>
          </a:prstGeom>
        </p:spPr>
        <p:txBody>
          <a:bodyPr wrap="square">
            <a:spAutoFit/>
          </a:bodyPr>
          <a:lstStyle/>
          <a:p>
            <a:pPr lvl="1">
              <a:lnSpc>
                <a:spcPct val="150000"/>
              </a:lnSpc>
            </a:pPr>
            <a:r>
              <a:rPr lang="zh-CN" altLang="en-US" sz="2800" b="1" dirty="0">
                <a:latin typeface="微软雅黑" panose="020B0503020204020204" pitchFamily="34" charset="-122"/>
                <a:ea typeface="微软雅黑" panose="020B0503020204020204" pitchFamily="34" charset="-122"/>
              </a:rPr>
              <a:t>外围设备与主机之间的数据传送的两种形式：串行传送和并行传送。 </a:t>
            </a:r>
          </a:p>
        </p:txBody>
      </p:sp>
      <p:sp>
        <p:nvSpPr>
          <p:cNvPr id="31" name="Rectangle 2"/>
          <p:cNvSpPr>
            <a:spLocks noGrp="1" noChangeArrowheads="1"/>
          </p:cNvSpPr>
          <p:nvPr>
            <p:ph type="title"/>
          </p:nvPr>
        </p:nvSpPr>
        <p:spPr>
          <a:xfrm>
            <a:off x="2111985" y="2643621"/>
            <a:ext cx="10515600" cy="1325563"/>
          </a:xfrm>
        </p:spPr>
        <p:txBody>
          <a:bodyPr>
            <a:normAutofit/>
          </a:bodyPr>
          <a:lstStyle/>
          <a:p>
            <a:pPr>
              <a:lnSpc>
                <a:spcPct val="150000"/>
              </a:lnSpc>
            </a:pPr>
            <a:r>
              <a:rPr lang="zh-CN" altLang="en-US" sz="2800" b="1" dirty="0">
                <a:latin typeface="微软雅黑" panose="020B0503020204020204" pitchFamily="34" charset="-122"/>
                <a:ea typeface="微软雅黑" panose="020B0503020204020204" pitchFamily="34" charset="-122"/>
              </a:rPr>
              <a:t>传输速度方面</a:t>
            </a:r>
            <a:endParaRPr lang="en-US" altLang="zh-CN" sz="2800" b="1" dirty="0">
              <a:latin typeface="微软雅黑" panose="020B0503020204020204" pitchFamily="34" charset="-122"/>
              <a:ea typeface="微软雅黑" panose="020B0503020204020204" pitchFamily="34" charset="-122"/>
            </a:endParaRPr>
          </a:p>
        </p:txBody>
      </p:sp>
      <p:sp>
        <p:nvSpPr>
          <p:cNvPr id="32" name="Rectangle 3"/>
          <p:cNvSpPr txBox="1">
            <a:spLocks noChangeArrowheads="1"/>
          </p:cNvSpPr>
          <p:nvPr/>
        </p:nvSpPr>
        <p:spPr>
          <a:xfrm>
            <a:off x="2111985" y="3727388"/>
            <a:ext cx="8837784" cy="820167"/>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1">
              <a:lnSpc>
                <a:spcPct val="150000"/>
              </a:lnSpc>
              <a:buFont typeface="Arial" panose="020B0604020202020204" pitchFamily="34" charset="0"/>
              <a:buNone/>
            </a:pPr>
            <a:r>
              <a:rPr lang="zh-CN" altLang="en-US" sz="2800" b="1" dirty="0">
                <a:latin typeface="微软雅黑" panose="020B0503020204020204" pitchFamily="34" charset="-122"/>
                <a:ea typeface="微软雅黑" panose="020B0503020204020204" pitchFamily="34" charset="-122"/>
              </a:rPr>
              <a:t>不同外围设备在速度上差异很大。</a:t>
            </a:r>
            <a:endParaRPr lang="en-US" altLang="zh-CN" sz="2800" b="1" dirty="0">
              <a:latin typeface="微软雅黑" panose="020B0503020204020204" pitchFamily="34" charset="-122"/>
              <a:ea typeface="微软雅黑" panose="020B0503020204020204" pitchFamily="34" charset="-122"/>
            </a:endParaRPr>
          </a:p>
          <a:p>
            <a:pPr marL="0" lvl="1">
              <a:lnSpc>
                <a:spcPct val="150000"/>
              </a:lnSpc>
              <a:buFont typeface="Arial" panose="020B0604020202020204" pitchFamily="34" charset="0"/>
              <a:buNone/>
            </a:pPr>
            <a:endParaRPr lang="en-US" altLang="zh-CN" sz="2800" b="1" dirty="0">
              <a:latin typeface="微软雅黑" panose="020B0503020204020204" pitchFamily="34" charset="-122"/>
              <a:ea typeface="微软雅黑" panose="020B0503020204020204" pitchFamily="34" charset="-122"/>
            </a:endParaRPr>
          </a:p>
          <a:p>
            <a:pPr marL="0" lvl="1">
              <a:lnSpc>
                <a:spcPct val="150000"/>
              </a:lnSpc>
              <a:buFont typeface="Arial" panose="020B0604020202020204" pitchFamily="34" charset="0"/>
              <a:buNone/>
            </a:pPr>
            <a:endParaRPr lang="en-US" altLang="zh-CN" sz="2800" b="1" dirty="0">
              <a:latin typeface="微软雅黑" panose="020B0503020204020204" pitchFamily="34" charset="-122"/>
              <a:ea typeface="微软雅黑" panose="020B0503020204020204" pitchFamily="34" charset="-122"/>
            </a:endParaRPr>
          </a:p>
          <a:p>
            <a:pPr marL="0" lvl="1">
              <a:lnSpc>
                <a:spcPct val="150000"/>
              </a:lnSpc>
              <a:buFont typeface="Arial" panose="020B0604020202020204" pitchFamily="34" charset="0"/>
              <a:buNone/>
            </a:pPr>
            <a:endParaRPr lang="zh-CN" altLang="en-US" sz="2800" b="1" dirty="0">
              <a:latin typeface="微软雅黑" panose="020B0503020204020204" pitchFamily="34" charset="-122"/>
              <a:ea typeface="微软雅黑" panose="020B0503020204020204" pitchFamily="34" charset="-122"/>
            </a:endParaRPr>
          </a:p>
          <a:p>
            <a:pPr marL="0" indent="0">
              <a:lnSpc>
                <a:spcPct val="150000"/>
              </a:lnSpc>
              <a:buFont typeface="Arial" panose="020B0604020202020204" pitchFamily="34" charset="0"/>
              <a:buNone/>
            </a:pPr>
            <a:endParaRPr lang="en-US" altLang="zh-CN" b="1" dirty="0">
              <a:latin typeface="微软雅黑" panose="020B0503020204020204" pitchFamily="34" charset="-122"/>
              <a:ea typeface="微软雅黑" panose="020B0503020204020204" pitchFamily="34" charset="-122"/>
            </a:endParaRPr>
          </a:p>
          <a:p>
            <a:pPr marL="0" indent="0">
              <a:lnSpc>
                <a:spcPct val="150000"/>
              </a:lnSpc>
              <a:buFont typeface="Arial" panose="020B0604020202020204" pitchFamily="34" charset="0"/>
              <a:buNone/>
            </a:pPr>
            <a:endParaRPr lang="en-US" altLang="zh-CN" b="1" dirty="0">
              <a:latin typeface="微软雅黑" panose="020B0503020204020204" pitchFamily="34" charset="-122"/>
              <a:ea typeface="微软雅黑" panose="020B0503020204020204" pitchFamily="34" charset="-122"/>
            </a:endParaRPr>
          </a:p>
        </p:txBody>
      </p:sp>
      <p:sp>
        <p:nvSpPr>
          <p:cNvPr id="33" name="矩形 32"/>
          <p:cNvSpPr/>
          <p:nvPr/>
        </p:nvSpPr>
        <p:spPr>
          <a:xfrm>
            <a:off x="2019733" y="4455540"/>
            <a:ext cx="9810889" cy="2031325"/>
          </a:xfrm>
          <a:prstGeom prst="rect">
            <a:avLst/>
          </a:prstGeom>
        </p:spPr>
        <p:txBody>
          <a:bodyPr wrap="square">
            <a:spAutoFit/>
          </a:bodyPr>
          <a:lstStyle/>
          <a:p>
            <a:pPr marL="0" lvl="1">
              <a:lnSpc>
                <a:spcPct val="150000"/>
              </a:lnSpc>
            </a:pPr>
            <a:r>
              <a:rPr lang="zh-CN" altLang="en-US" sz="2800" b="1" dirty="0">
                <a:latin typeface="微软雅黑" panose="020B0503020204020204" pitchFamily="34" charset="-122"/>
                <a:ea typeface="微软雅黑" panose="020B0503020204020204" pitchFamily="34" charset="-122"/>
              </a:rPr>
              <a:t> 如有的设备的数据传输速率高达每秒几百兆字节（如磁盘），</a:t>
            </a:r>
            <a:endParaRPr lang="en-US" altLang="zh-CN" sz="2800" b="1" dirty="0">
              <a:latin typeface="微软雅黑" panose="020B0503020204020204" pitchFamily="34" charset="-122"/>
              <a:ea typeface="微软雅黑" panose="020B0503020204020204" pitchFamily="34" charset="-122"/>
            </a:endParaRPr>
          </a:p>
          <a:p>
            <a:pPr marL="0" lvl="1">
              <a:lnSpc>
                <a:spcPct val="150000"/>
              </a:lnSpc>
            </a:pPr>
            <a:r>
              <a:rPr lang="en-US" altLang="zh-CN" sz="2800" b="1" dirty="0">
                <a:latin typeface="微软雅黑" panose="020B0503020204020204" pitchFamily="34" charset="-122"/>
                <a:ea typeface="微软雅黑" panose="020B0503020204020204" pitchFamily="34" charset="-122"/>
              </a:rPr>
              <a:t> </a:t>
            </a:r>
            <a:r>
              <a:rPr lang="zh-CN" altLang="en-US" sz="2800" b="1" dirty="0">
                <a:latin typeface="微软雅黑" panose="020B0503020204020204" pitchFamily="34" charset="-122"/>
                <a:ea typeface="微软雅黑" panose="020B0503020204020204" pitchFamily="34" charset="-122"/>
              </a:rPr>
              <a:t>而有的设备则只有几十字节甚至更低（如键盘）。</a:t>
            </a:r>
          </a:p>
          <a:p>
            <a:pPr marL="0" lvl="1">
              <a:lnSpc>
                <a:spcPct val="150000"/>
              </a:lnSpc>
            </a:pPr>
            <a:endParaRPr lang="zh-CN" altLang="en-US" sz="2800" b="1"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38401462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advTm="0">
        <p15:prstTrans prst="peelOff"/>
      </p:transition>
    </mc:Choice>
    <mc:Fallback xmlns="">
      <p:transition spd="slow" advTm="0">
        <p:fade/>
      </p:transition>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5"/>
          <p:cNvSpPr>
            <a:spLocks noChangeArrowheads="1"/>
          </p:cNvSpPr>
          <p:nvPr/>
        </p:nvSpPr>
        <p:spPr bwMode="auto">
          <a:xfrm>
            <a:off x="9456763" y="2213845"/>
            <a:ext cx="2735237" cy="2528499"/>
          </a:xfrm>
          <a:prstGeom prst="rect">
            <a:avLst/>
          </a:prstGeom>
          <a:solidFill>
            <a:srgbClr val="FFC000"/>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5" name="Oval 9"/>
          <p:cNvSpPr>
            <a:spLocks noChangeArrowheads="1"/>
          </p:cNvSpPr>
          <p:nvPr/>
        </p:nvSpPr>
        <p:spPr bwMode="auto">
          <a:xfrm>
            <a:off x="10248541" y="2924054"/>
            <a:ext cx="1100235" cy="1108082"/>
          </a:xfrm>
          <a:prstGeom prst="ellipse">
            <a:avLst/>
          </a:prstGeom>
          <a:solidFill>
            <a:srgbClr val="FFFFFF"/>
          </a:solidFill>
          <a:ln w="10" cap="flat">
            <a:solidFill>
              <a:srgbClr val="FFFFFF"/>
            </a:solidFill>
            <a:prstDash val="solid"/>
            <a:miter lim="800000"/>
            <a:headEnd/>
            <a:tailEnd/>
          </a:ln>
        </p:spPr>
        <p:txBody>
          <a:bodyPr vert="horz" wrap="square" lIns="91398" tIns="45699" rIns="91398" bIns="45699" numCol="1" anchor="t" anchorCtr="0" compatLnSpc="1">
            <a:prstTxWarp prst="textNoShape">
              <a:avLst/>
            </a:prstTxWarp>
          </a:bodyPr>
          <a:lstStyle/>
          <a:p>
            <a:endParaRPr lang="zh-CN" altLang="en-US" sz="1799"/>
          </a:p>
        </p:txBody>
      </p:sp>
      <p:sp>
        <p:nvSpPr>
          <p:cNvPr id="6" name="Freeform 40"/>
          <p:cNvSpPr>
            <a:spLocks noEditPoints="1"/>
          </p:cNvSpPr>
          <p:nvPr/>
        </p:nvSpPr>
        <p:spPr bwMode="auto">
          <a:xfrm>
            <a:off x="10384010" y="3297897"/>
            <a:ext cx="784720" cy="524170"/>
          </a:xfrm>
          <a:custGeom>
            <a:avLst/>
            <a:gdLst>
              <a:gd name="T0" fmla="*/ 544 w 564"/>
              <a:gd name="T1" fmla="*/ 27 h 376"/>
              <a:gd name="T2" fmla="*/ 544 w 564"/>
              <a:gd name="T3" fmla="*/ 309 h 376"/>
              <a:gd name="T4" fmla="*/ 536 w 564"/>
              <a:gd name="T5" fmla="*/ 309 h 376"/>
              <a:gd name="T6" fmla="*/ 518 w 564"/>
              <a:gd name="T7" fmla="*/ 308 h 376"/>
              <a:gd name="T8" fmla="*/ 285 w 564"/>
              <a:gd name="T9" fmla="*/ 367 h 376"/>
              <a:gd name="T10" fmla="*/ 282 w 564"/>
              <a:gd name="T11" fmla="*/ 368 h 376"/>
              <a:gd name="T12" fmla="*/ 279 w 564"/>
              <a:gd name="T13" fmla="*/ 367 h 376"/>
              <a:gd name="T14" fmla="*/ 46 w 564"/>
              <a:gd name="T15" fmla="*/ 308 h 376"/>
              <a:gd name="T16" fmla="*/ 28 w 564"/>
              <a:gd name="T17" fmla="*/ 309 h 376"/>
              <a:gd name="T18" fmla="*/ 20 w 564"/>
              <a:gd name="T19" fmla="*/ 309 h 376"/>
              <a:gd name="T20" fmla="*/ 20 w 564"/>
              <a:gd name="T21" fmla="*/ 27 h 376"/>
              <a:gd name="T22" fmla="*/ 0 w 564"/>
              <a:gd name="T23" fmla="*/ 27 h 376"/>
              <a:gd name="T24" fmla="*/ 0 w 564"/>
              <a:gd name="T25" fmla="*/ 320 h 376"/>
              <a:gd name="T26" fmla="*/ 282 w 564"/>
              <a:gd name="T27" fmla="*/ 376 h 376"/>
              <a:gd name="T28" fmla="*/ 564 w 564"/>
              <a:gd name="T29" fmla="*/ 320 h 376"/>
              <a:gd name="T30" fmla="*/ 564 w 564"/>
              <a:gd name="T31" fmla="*/ 27 h 376"/>
              <a:gd name="T32" fmla="*/ 544 w 564"/>
              <a:gd name="T33" fmla="*/ 27 h 376"/>
              <a:gd name="T34" fmla="*/ 272 w 564"/>
              <a:gd name="T35" fmla="*/ 319 h 376"/>
              <a:gd name="T36" fmla="*/ 272 w 564"/>
              <a:gd name="T37" fmla="*/ 63 h 376"/>
              <a:gd name="T38" fmla="*/ 77 w 564"/>
              <a:gd name="T39" fmla="*/ 1 h 376"/>
              <a:gd name="T40" fmla="*/ 77 w 564"/>
              <a:gd name="T41" fmla="*/ 269 h 376"/>
              <a:gd name="T42" fmla="*/ 84 w 564"/>
              <a:gd name="T43" fmla="*/ 269 h 376"/>
              <a:gd name="T44" fmla="*/ 272 w 564"/>
              <a:gd name="T45" fmla="*/ 319 h 376"/>
              <a:gd name="T46" fmla="*/ 487 w 564"/>
              <a:gd name="T47" fmla="*/ 269 h 376"/>
              <a:gd name="T48" fmla="*/ 487 w 564"/>
              <a:gd name="T49" fmla="*/ 1 h 376"/>
              <a:gd name="T50" fmla="*/ 292 w 564"/>
              <a:gd name="T51" fmla="*/ 63 h 376"/>
              <a:gd name="T52" fmla="*/ 292 w 564"/>
              <a:gd name="T53" fmla="*/ 319 h 376"/>
              <a:gd name="T54" fmla="*/ 480 w 564"/>
              <a:gd name="T55" fmla="*/ 269 h 376"/>
              <a:gd name="T56" fmla="*/ 487 w 564"/>
              <a:gd name="T57" fmla="*/ 269 h 376"/>
              <a:gd name="T58" fmla="*/ 282 w 564"/>
              <a:gd name="T59" fmla="*/ 361 h 376"/>
              <a:gd name="T60" fmla="*/ 531 w 564"/>
              <a:gd name="T61" fmla="*/ 302 h 376"/>
              <a:gd name="T62" fmla="*/ 531 w 564"/>
              <a:gd name="T63" fmla="*/ 5 h 376"/>
              <a:gd name="T64" fmla="*/ 501 w 564"/>
              <a:gd name="T65" fmla="*/ 5 h 376"/>
              <a:gd name="T66" fmla="*/ 501 w 564"/>
              <a:gd name="T67" fmla="*/ 283 h 376"/>
              <a:gd name="T68" fmla="*/ 493 w 564"/>
              <a:gd name="T69" fmla="*/ 282 h 376"/>
              <a:gd name="T70" fmla="*/ 478 w 564"/>
              <a:gd name="T71" fmla="*/ 282 h 376"/>
              <a:gd name="T72" fmla="*/ 287 w 564"/>
              <a:gd name="T73" fmla="*/ 337 h 376"/>
              <a:gd name="T74" fmla="*/ 282 w 564"/>
              <a:gd name="T75" fmla="*/ 340 h 376"/>
              <a:gd name="T76" fmla="*/ 277 w 564"/>
              <a:gd name="T77" fmla="*/ 337 h 376"/>
              <a:gd name="T78" fmla="*/ 86 w 564"/>
              <a:gd name="T79" fmla="*/ 282 h 376"/>
              <a:gd name="T80" fmla="*/ 71 w 564"/>
              <a:gd name="T81" fmla="*/ 282 h 376"/>
              <a:gd name="T82" fmla="*/ 63 w 564"/>
              <a:gd name="T83" fmla="*/ 283 h 376"/>
              <a:gd name="T84" fmla="*/ 63 w 564"/>
              <a:gd name="T85" fmla="*/ 5 h 376"/>
              <a:gd name="T86" fmla="*/ 33 w 564"/>
              <a:gd name="T87" fmla="*/ 5 h 376"/>
              <a:gd name="T88" fmla="*/ 33 w 564"/>
              <a:gd name="T89" fmla="*/ 302 h 376"/>
              <a:gd name="T90" fmla="*/ 282 w 564"/>
              <a:gd name="T91" fmla="*/ 361 h 3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564" h="376">
                <a:moveTo>
                  <a:pt x="544" y="27"/>
                </a:moveTo>
                <a:lnTo>
                  <a:pt x="544" y="309"/>
                </a:lnTo>
                <a:lnTo>
                  <a:pt x="536" y="309"/>
                </a:lnTo>
                <a:cubicBezTo>
                  <a:pt x="530" y="308"/>
                  <a:pt x="524" y="308"/>
                  <a:pt x="518" y="308"/>
                </a:cubicBezTo>
                <a:cubicBezTo>
                  <a:pt x="440" y="308"/>
                  <a:pt x="357" y="329"/>
                  <a:pt x="285" y="367"/>
                </a:cubicBezTo>
                <a:lnTo>
                  <a:pt x="282" y="368"/>
                </a:lnTo>
                <a:lnTo>
                  <a:pt x="279" y="367"/>
                </a:lnTo>
                <a:cubicBezTo>
                  <a:pt x="207" y="329"/>
                  <a:pt x="124" y="308"/>
                  <a:pt x="46" y="308"/>
                </a:cubicBezTo>
                <a:cubicBezTo>
                  <a:pt x="40" y="308"/>
                  <a:pt x="34" y="308"/>
                  <a:pt x="28" y="309"/>
                </a:cubicBezTo>
                <a:lnTo>
                  <a:pt x="20" y="309"/>
                </a:lnTo>
                <a:lnTo>
                  <a:pt x="20" y="27"/>
                </a:lnTo>
                <a:cubicBezTo>
                  <a:pt x="13" y="27"/>
                  <a:pt x="6" y="27"/>
                  <a:pt x="0" y="27"/>
                </a:cubicBezTo>
                <a:lnTo>
                  <a:pt x="0" y="320"/>
                </a:lnTo>
                <a:cubicBezTo>
                  <a:pt x="94" y="317"/>
                  <a:pt x="194" y="338"/>
                  <a:pt x="282" y="376"/>
                </a:cubicBezTo>
                <a:cubicBezTo>
                  <a:pt x="370" y="338"/>
                  <a:pt x="470" y="317"/>
                  <a:pt x="564" y="320"/>
                </a:cubicBezTo>
                <a:lnTo>
                  <a:pt x="564" y="27"/>
                </a:lnTo>
                <a:cubicBezTo>
                  <a:pt x="558" y="27"/>
                  <a:pt x="551" y="27"/>
                  <a:pt x="544" y="27"/>
                </a:cubicBezTo>
                <a:close/>
                <a:moveTo>
                  <a:pt x="272" y="319"/>
                </a:moveTo>
                <a:lnTo>
                  <a:pt x="272" y="63"/>
                </a:lnTo>
                <a:cubicBezTo>
                  <a:pt x="212" y="22"/>
                  <a:pt x="142" y="0"/>
                  <a:pt x="77" y="1"/>
                </a:cubicBezTo>
                <a:lnTo>
                  <a:pt x="77" y="269"/>
                </a:lnTo>
                <a:cubicBezTo>
                  <a:pt x="79" y="269"/>
                  <a:pt x="82" y="269"/>
                  <a:pt x="84" y="269"/>
                </a:cubicBezTo>
                <a:cubicBezTo>
                  <a:pt x="147" y="269"/>
                  <a:pt x="214" y="287"/>
                  <a:pt x="272" y="319"/>
                </a:cubicBezTo>
                <a:close/>
                <a:moveTo>
                  <a:pt x="487" y="269"/>
                </a:moveTo>
                <a:lnTo>
                  <a:pt x="487" y="1"/>
                </a:lnTo>
                <a:cubicBezTo>
                  <a:pt x="422" y="0"/>
                  <a:pt x="352" y="22"/>
                  <a:pt x="292" y="63"/>
                </a:cubicBezTo>
                <a:lnTo>
                  <a:pt x="292" y="319"/>
                </a:lnTo>
                <a:cubicBezTo>
                  <a:pt x="350" y="287"/>
                  <a:pt x="417" y="269"/>
                  <a:pt x="480" y="269"/>
                </a:cubicBezTo>
                <a:cubicBezTo>
                  <a:pt x="482" y="269"/>
                  <a:pt x="485" y="269"/>
                  <a:pt x="487" y="269"/>
                </a:cubicBezTo>
                <a:close/>
                <a:moveTo>
                  <a:pt x="282" y="361"/>
                </a:moveTo>
                <a:cubicBezTo>
                  <a:pt x="362" y="318"/>
                  <a:pt x="451" y="299"/>
                  <a:pt x="531" y="302"/>
                </a:cubicBezTo>
                <a:lnTo>
                  <a:pt x="531" y="5"/>
                </a:lnTo>
                <a:cubicBezTo>
                  <a:pt x="521" y="5"/>
                  <a:pt x="511" y="5"/>
                  <a:pt x="501" y="5"/>
                </a:cubicBezTo>
                <a:lnTo>
                  <a:pt x="501" y="283"/>
                </a:lnTo>
                <a:lnTo>
                  <a:pt x="493" y="282"/>
                </a:lnTo>
                <a:cubicBezTo>
                  <a:pt x="488" y="282"/>
                  <a:pt x="483" y="282"/>
                  <a:pt x="478" y="282"/>
                </a:cubicBezTo>
                <a:cubicBezTo>
                  <a:pt x="414" y="282"/>
                  <a:pt x="346" y="301"/>
                  <a:pt x="287" y="337"/>
                </a:cubicBezTo>
                <a:lnTo>
                  <a:pt x="282" y="340"/>
                </a:lnTo>
                <a:lnTo>
                  <a:pt x="277" y="337"/>
                </a:lnTo>
                <a:cubicBezTo>
                  <a:pt x="218" y="301"/>
                  <a:pt x="150" y="282"/>
                  <a:pt x="86" y="282"/>
                </a:cubicBezTo>
                <a:cubicBezTo>
                  <a:pt x="81" y="282"/>
                  <a:pt x="76" y="282"/>
                  <a:pt x="71" y="282"/>
                </a:cubicBezTo>
                <a:lnTo>
                  <a:pt x="63" y="283"/>
                </a:lnTo>
                <a:lnTo>
                  <a:pt x="63" y="5"/>
                </a:lnTo>
                <a:cubicBezTo>
                  <a:pt x="53" y="5"/>
                  <a:pt x="43" y="5"/>
                  <a:pt x="33" y="5"/>
                </a:cubicBezTo>
                <a:lnTo>
                  <a:pt x="33" y="302"/>
                </a:lnTo>
                <a:cubicBezTo>
                  <a:pt x="113" y="299"/>
                  <a:pt x="202" y="318"/>
                  <a:pt x="282" y="361"/>
                </a:cubicBezTo>
                <a:close/>
              </a:path>
            </a:pathLst>
          </a:custGeom>
          <a:solidFill>
            <a:srgbClr val="FFC000"/>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7" name="TextBox 26"/>
          <p:cNvSpPr txBox="1"/>
          <p:nvPr/>
        </p:nvSpPr>
        <p:spPr>
          <a:xfrm>
            <a:off x="14146653" y="8428235"/>
            <a:ext cx="1107996" cy="461665"/>
          </a:xfrm>
          <a:prstGeom prst="rect">
            <a:avLst/>
          </a:prstGeom>
          <a:noFill/>
        </p:spPr>
        <p:txBody>
          <a:bodyPr wrap="none" rtlCol="0">
            <a:spAutoFit/>
          </a:bodyPr>
          <a:lstStyle/>
          <a:p>
            <a:r>
              <a:rPr lang="zh-CN" altLang="en-US" sz="2400" dirty="0"/>
              <a:t>延时符</a:t>
            </a:r>
          </a:p>
        </p:txBody>
      </p:sp>
      <p:sp>
        <p:nvSpPr>
          <p:cNvPr id="8" name="矩形 7"/>
          <p:cNvSpPr/>
          <p:nvPr/>
        </p:nvSpPr>
        <p:spPr>
          <a:xfrm>
            <a:off x="1073612" y="2346225"/>
            <a:ext cx="8203105" cy="1685911"/>
          </a:xfrm>
          <a:prstGeom prst="rect">
            <a:avLst/>
          </a:prstGeom>
        </p:spPr>
        <p:txBody>
          <a:bodyPr wrap="square">
            <a:spAutoFit/>
          </a:bodyPr>
          <a:lstStyle/>
          <a:p>
            <a:pPr marL="0" lvl="1">
              <a:lnSpc>
                <a:spcPct val="200000"/>
              </a:lnSpc>
              <a:buNone/>
            </a:pPr>
            <a:r>
              <a:rPr lang="zh-CN" altLang="en-US" sz="2800" b="1" dirty="0">
                <a:latin typeface="微软雅黑" panose="020B0503020204020204" pitchFamily="34" charset="-122"/>
                <a:ea typeface="微软雅黑" panose="020B0503020204020204" pitchFamily="34" charset="-122"/>
              </a:rPr>
              <a:t>既要考虑与标准配置的设备的</a:t>
            </a:r>
            <a:r>
              <a:rPr lang="zh-CN" altLang="en-US" sz="2800" b="1" dirty="0" smtClean="0">
                <a:latin typeface="微软雅黑" panose="020B0503020204020204" pitchFamily="34" charset="-122"/>
                <a:ea typeface="微软雅黑" panose="020B0503020204020204" pitchFamily="34" charset="-122"/>
              </a:rPr>
              <a:t>连接；</a:t>
            </a:r>
            <a:endParaRPr lang="en-US" altLang="zh-CN" sz="2800" b="1" dirty="0" smtClean="0">
              <a:latin typeface="微软雅黑" panose="020B0503020204020204" pitchFamily="34" charset="-122"/>
              <a:ea typeface="微软雅黑" panose="020B0503020204020204" pitchFamily="34" charset="-122"/>
            </a:endParaRPr>
          </a:p>
          <a:p>
            <a:pPr marL="0" lvl="1">
              <a:lnSpc>
                <a:spcPct val="200000"/>
              </a:lnSpc>
              <a:buNone/>
            </a:pPr>
            <a:r>
              <a:rPr lang="zh-CN" altLang="en-US" sz="2800" b="1" dirty="0" smtClean="0">
                <a:latin typeface="微软雅黑" panose="020B0503020204020204" pitchFamily="34" charset="-122"/>
                <a:ea typeface="微软雅黑" panose="020B0503020204020204" pitchFamily="34" charset="-122"/>
              </a:rPr>
              <a:t>也</a:t>
            </a:r>
            <a:r>
              <a:rPr lang="zh-CN" altLang="en-US" sz="2800" b="1" dirty="0">
                <a:latin typeface="微软雅黑" panose="020B0503020204020204" pitchFamily="34" charset="-122"/>
                <a:ea typeface="微软雅黑" panose="020B0503020204020204" pitchFamily="34" charset="-122"/>
              </a:rPr>
              <a:t>要考虑与非标准配置的设备的连接。 </a:t>
            </a:r>
          </a:p>
        </p:txBody>
      </p:sp>
      <p:sp>
        <p:nvSpPr>
          <p:cNvPr id="9" name="Rectangle 2"/>
          <p:cNvSpPr txBox="1">
            <a:spLocks noChangeArrowheads="1"/>
          </p:cNvSpPr>
          <p:nvPr/>
        </p:nvSpPr>
        <p:spPr>
          <a:xfrm>
            <a:off x="963564" y="390434"/>
            <a:ext cx="10515600" cy="1325563"/>
          </a:xfrm>
          <a:prstGeom prst="rect">
            <a:avLst/>
          </a:prstGeom>
        </p:spPr>
        <p:txBody>
          <a:bodyPr>
            <a:normAutofit/>
          </a:bodyPr>
          <a:lstStyle/>
          <a:p>
            <a:r>
              <a:rPr lang="zh-CN" altLang="en-US" sz="3200" b="1" dirty="0">
                <a:latin typeface="微软雅黑" panose="020B0503020204020204" pitchFamily="34" charset="-122"/>
                <a:ea typeface="微软雅黑" panose="020B0503020204020204" pitchFamily="34" charset="-122"/>
              </a:rPr>
              <a:t>计算机在接口设计上</a:t>
            </a:r>
            <a:endParaRPr lang="en-US" altLang="zh-CN" sz="3200" b="1" dirty="0">
              <a:latin typeface="微软雅黑" panose="020B0503020204020204" pitchFamily="34" charset="-122"/>
              <a:ea typeface="微软雅黑" panose="020B0503020204020204" pitchFamily="34" charset="-122"/>
            </a:endParaRPr>
          </a:p>
        </p:txBody>
      </p:sp>
      <p:grpSp>
        <p:nvGrpSpPr>
          <p:cNvPr id="10" name="组合 7"/>
          <p:cNvGrpSpPr/>
          <p:nvPr/>
        </p:nvGrpSpPr>
        <p:grpSpPr>
          <a:xfrm>
            <a:off x="353426" y="335487"/>
            <a:ext cx="438352" cy="621987"/>
            <a:chOff x="265635" y="269251"/>
            <a:chExt cx="438352" cy="621987"/>
          </a:xfrm>
        </p:grpSpPr>
        <p:sp>
          <p:nvSpPr>
            <p:cNvPr id="11" name="Freeform 5"/>
            <p:cNvSpPr>
              <a:spLocks/>
            </p:cNvSpPr>
            <p:nvPr/>
          </p:nvSpPr>
          <p:spPr bwMode="auto">
            <a:xfrm>
              <a:off x="269585" y="269251"/>
              <a:ext cx="262616" cy="266567"/>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EB0"/>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12" name="Freeform 6"/>
            <p:cNvSpPr>
              <a:spLocks/>
            </p:cNvSpPr>
            <p:nvPr/>
          </p:nvSpPr>
          <p:spPr bwMode="auto">
            <a:xfrm>
              <a:off x="441371" y="443010"/>
              <a:ext cx="262616" cy="268540"/>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EB0"/>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13" name="Freeform 7"/>
            <p:cNvSpPr>
              <a:spLocks/>
            </p:cNvSpPr>
            <p:nvPr/>
          </p:nvSpPr>
          <p:spPr bwMode="auto">
            <a:xfrm>
              <a:off x="265635" y="624671"/>
              <a:ext cx="260640" cy="266567"/>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EB0"/>
            </a:solidFill>
            <a:ln>
              <a:noFill/>
            </a:ln>
          </p:spPr>
          <p:txBody>
            <a:bodyPr vert="horz" wrap="square" lIns="91398" tIns="45699" rIns="91398" bIns="45699" numCol="1" anchor="t" anchorCtr="0" compatLnSpc="1">
              <a:prstTxWarp prst="textNoShape">
                <a:avLst/>
              </a:prstTxWarp>
            </a:bodyPr>
            <a:lstStyle/>
            <a:p>
              <a:endParaRPr lang="zh-CN" altLang="en-US" sz="1799"/>
            </a:p>
          </p:txBody>
        </p:sp>
      </p:grpSp>
    </p:spTree>
    <p:extLst>
      <p:ext uri="{BB962C8B-B14F-4D97-AF65-F5344CB8AC3E}">
        <p14:creationId xmlns:p14="http://schemas.microsoft.com/office/powerpoint/2010/main" val="1202815147"/>
      </p:ext>
    </p:extLst>
  </p:cSld>
  <p:clrMapOvr>
    <a:masterClrMapping/>
  </p:clrMapOvr>
  <mc:AlternateContent xmlns:mc="http://schemas.openxmlformats.org/markup-compatibility/2006" xmlns:p14="http://schemas.microsoft.com/office/powerpoint/2010/main">
    <mc:Choice Requires="p14">
      <p:transition spd="slow" p14:dur="59000" advTm="9222">
        <p:push dir="u"/>
      </p:transition>
    </mc:Choice>
    <mc:Fallback xmlns="">
      <p:transition spd="slow" advTm="9222">
        <p:push dir="u"/>
      </p:transition>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Line 5"/>
          <p:cNvSpPr>
            <a:spLocks noChangeShapeType="1"/>
          </p:cNvSpPr>
          <p:nvPr/>
        </p:nvSpPr>
        <p:spPr bwMode="auto">
          <a:xfrm>
            <a:off x="1293308" y="1339"/>
            <a:ext cx="0" cy="6855322"/>
          </a:xfrm>
          <a:prstGeom prst="line">
            <a:avLst/>
          </a:prstGeom>
          <a:noFill/>
          <a:ln w="12700" cap="flat">
            <a:solidFill>
              <a:srgbClr val="2E2C2C"/>
            </a:solidFill>
            <a:prstDash val="solid"/>
            <a:miter lim="800000"/>
            <a:headEnd/>
            <a:tailEnd/>
          </a:ln>
          <a:extLst>
            <a:ext uri="{909E8E84-426E-40DD-AFC4-6F175D3DCCD1}">
              <a14:hiddenFill xmlns:a14="http://schemas.microsoft.com/office/drawing/2010/main">
                <a:noFill/>
              </a14:hiddenFill>
            </a:ext>
          </a:extLst>
        </p:spPr>
        <p:txBody>
          <a:bodyPr vert="horz" wrap="square" lIns="91398" tIns="45699" rIns="91398" bIns="45699" numCol="1" anchor="t" anchorCtr="0" compatLnSpc="1">
            <a:prstTxWarp prst="textNoShape">
              <a:avLst/>
            </a:prstTxWarp>
          </a:bodyPr>
          <a:lstStyle/>
          <a:p>
            <a:endParaRPr lang="zh-CN" altLang="en-US" sz="1799"/>
          </a:p>
        </p:txBody>
      </p:sp>
      <p:sp>
        <p:nvSpPr>
          <p:cNvPr id="9" name="Oval 6"/>
          <p:cNvSpPr>
            <a:spLocks noChangeArrowheads="1"/>
          </p:cNvSpPr>
          <p:nvPr/>
        </p:nvSpPr>
        <p:spPr bwMode="auto">
          <a:xfrm>
            <a:off x="1174293" y="1416468"/>
            <a:ext cx="238032" cy="234859"/>
          </a:xfrm>
          <a:prstGeom prst="ellipse">
            <a:avLst/>
          </a:prstGeom>
          <a:solidFill>
            <a:srgbClr val="92D050"/>
          </a:solidFill>
          <a:ln w="10" cap="flat">
            <a:solidFill>
              <a:srgbClr val="FFFFFF"/>
            </a:solidFill>
            <a:prstDash val="solid"/>
            <a:miter lim="800000"/>
            <a:headEnd/>
            <a:tailEnd/>
          </a:ln>
        </p:spPr>
        <p:txBody>
          <a:bodyPr vert="horz" wrap="square" lIns="91398" tIns="45699" rIns="91398" bIns="45699" numCol="1" anchor="t" anchorCtr="0" compatLnSpc="1">
            <a:prstTxWarp prst="textNoShape">
              <a:avLst/>
            </a:prstTxWarp>
          </a:bodyPr>
          <a:lstStyle/>
          <a:p>
            <a:endParaRPr lang="zh-CN" altLang="en-US" sz="1799"/>
          </a:p>
        </p:txBody>
      </p:sp>
      <p:sp>
        <p:nvSpPr>
          <p:cNvPr id="11" name="Freeform 9"/>
          <p:cNvSpPr>
            <a:spLocks/>
          </p:cNvSpPr>
          <p:nvPr/>
        </p:nvSpPr>
        <p:spPr bwMode="auto">
          <a:xfrm>
            <a:off x="1618616" y="716780"/>
            <a:ext cx="165036" cy="207882"/>
          </a:xfrm>
          <a:custGeom>
            <a:avLst/>
            <a:gdLst>
              <a:gd name="T0" fmla="*/ 184 w 205"/>
              <a:gd name="T1" fmla="*/ 109 h 262"/>
              <a:gd name="T2" fmla="*/ 109 w 205"/>
              <a:gd name="T3" fmla="*/ 61 h 262"/>
              <a:gd name="T4" fmla="*/ 32 w 205"/>
              <a:gd name="T5" fmla="*/ 11 h 262"/>
              <a:gd name="T6" fmla="*/ 0 w 205"/>
              <a:gd name="T7" fmla="*/ 34 h 262"/>
              <a:gd name="T8" fmla="*/ 0 w 205"/>
              <a:gd name="T9" fmla="*/ 131 h 262"/>
              <a:gd name="T10" fmla="*/ 0 w 205"/>
              <a:gd name="T11" fmla="*/ 230 h 262"/>
              <a:gd name="T12" fmla="*/ 34 w 205"/>
              <a:gd name="T13" fmla="*/ 250 h 262"/>
              <a:gd name="T14" fmla="*/ 109 w 205"/>
              <a:gd name="T15" fmla="*/ 202 h 262"/>
              <a:gd name="T16" fmla="*/ 186 w 205"/>
              <a:gd name="T17" fmla="*/ 152 h 262"/>
              <a:gd name="T18" fmla="*/ 184 w 205"/>
              <a:gd name="T19" fmla="*/ 109 h 2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05" h="262">
                <a:moveTo>
                  <a:pt x="184" y="109"/>
                </a:moveTo>
                <a:lnTo>
                  <a:pt x="109" y="61"/>
                </a:lnTo>
                <a:cubicBezTo>
                  <a:pt x="83" y="44"/>
                  <a:pt x="58" y="28"/>
                  <a:pt x="32" y="11"/>
                </a:cubicBezTo>
                <a:cubicBezTo>
                  <a:pt x="11" y="0"/>
                  <a:pt x="0" y="9"/>
                  <a:pt x="0" y="34"/>
                </a:cubicBezTo>
                <a:lnTo>
                  <a:pt x="0" y="131"/>
                </a:lnTo>
                <a:cubicBezTo>
                  <a:pt x="0" y="164"/>
                  <a:pt x="0" y="197"/>
                  <a:pt x="0" y="230"/>
                </a:cubicBezTo>
                <a:cubicBezTo>
                  <a:pt x="2" y="256"/>
                  <a:pt x="14" y="262"/>
                  <a:pt x="34" y="250"/>
                </a:cubicBezTo>
                <a:lnTo>
                  <a:pt x="109" y="202"/>
                </a:lnTo>
                <a:cubicBezTo>
                  <a:pt x="135" y="185"/>
                  <a:pt x="160" y="169"/>
                  <a:pt x="186" y="152"/>
                </a:cubicBezTo>
                <a:cubicBezTo>
                  <a:pt x="205" y="137"/>
                  <a:pt x="203" y="122"/>
                  <a:pt x="184" y="109"/>
                </a:cubicBezTo>
                <a:close/>
              </a:path>
            </a:pathLst>
          </a:custGeom>
          <a:solidFill>
            <a:srgbClr val="01C0B0"/>
          </a:solidFill>
          <a:ln>
            <a:noFill/>
          </a:ln>
          <a:extLst/>
        </p:spPr>
        <p:txBody>
          <a:bodyPr vert="horz" wrap="square" lIns="91398" tIns="45699" rIns="91398" bIns="45699" numCol="1" anchor="t" anchorCtr="0" compatLnSpc="1">
            <a:prstTxWarp prst="textNoShape">
              <a:avLst/>
            </a:prstTxWarp>
          </a:bodyPr>
          <a:lstStyle/>
          <a:p>
            <a:endParaRPr lang="zh-CN" altLang="en-US" sz="1799"/>
          </a:p>
        </p:txBody>
      </p:sp>
      <p:sp>
        <p:nvSpPr>
          <p:cNvPr id="12" name="Freeform 11"/>
          <p:cNvSpPr>
            <a:spLocks/>
          </p:cNvSpPr>
          <p:nvPr/>
        </p:nvSpPr>
        <p:spPr bwMode="auto">
          <a:xfrm>
            <a:off x="1630675" y="2989817"/>
            <a:ext cx="165036" cy="206294"/>
          </a:xfrm>
          <a:custGeom>
            <a:avLst/>
            <a:gdLst>
              <a:gd name="T0" fmla="*/ 184 w 205"/>
              <a:gd name="T1" fmla="*/ 108 h 261"/>
              <a:gd name="T2" fmla="*/ 109 w 205"/>
              <a:gd name="T3" fmla="*/ 60 h 261"/>
              <a:gd name="T4" fmla="*/ 32 w 205"/>
              <a:gd name="T5" fmla="*/ 10 h 261"/>
              <a:gd name="T6" fmla="*/ 0 w 205"/>
              <a:gd name="T7" fmla="*/ 33 h 261"/>
              <a:gd name="T8" fmla="*/ 0 w 205"/>
              <a:gd name="T9" fmla="*/ 130 h 261"/>
              <a:gd name="T10" fmla="*/ 0 w 205"/>
              <a:gd name="T11" fmla="*/ 229 h 261"/>
              <a:gd name="T12" fmla="*/ 34 w 205"/>
              <a:gd name="T13" fmla="*/ 249 h 261"/>
              <a:gd name="T14" fmla="*/ 109 w 205"/>
              <a:gd name="T15" fmla="*/ 201 h 261"/>
              <a:gd name="T16" fmla="*/ 186 w 205"/>
              <a:gd name="T17" fmla="*/ 151 h 261"/>
              <a:gd name="T18" fmla="*/ 184 w 205"/>
              <a:gd name="T19" fmla="*/ 108 h 2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05" h="261">
                <a:moveTo>
                  <a:pt x="184" y="108"/>
                </a:moveTo>
                <a:lnTo>
                  <a:pt x="109" y="60"/>
                </a:lnTo>
                <a:cubicBezTo>
                  <a:pt x="83" y="43"/>
                  <a:pt x="58" y="27"/>
                  <a:pt x="32" y="10"/>
                </a:cubicBezTo>
                <a:cubicBezTo>
                  <a:pt x="11" y="0"/>
                  <a:pt x="0" y="8"/>
                  <a:pt x="0" y="33"/>
                </a:cubicBezTo>
                <a:lnTo>
                  <a:pt x="0" y="130"/>
                </a:lnTo>
                <a:cubicBezTo>
                  <a:pt x="0" y="163"/>
                  <a:pt x="0" y="196"/>
                  <a:pt x="0" y="229"/>
                </a:cubicBezTo>
                <a:cubicBezTo>
                  <a:pt x="2" y="255"/>
                  <a:pt x="14" y="261"/>
                  <a:pt x="34" y="249"/>
                </a:cubicBezTo>
                <a:lnTo>
                  <a:pt x="109" y="201"/>
                </a:lnTo>
                <a:cubicBezTo>
                  <a:pt x="135" y="184"/>
                  <a:pt x="160" y="168"/>
                  <a:pt x="186" y="151"/>
                </a:cubicBezTo>
                <a:cubicBezTo>
                  <a:pt x="205" y="136"/>
                  <a:pt x="203" y="122"/>
                  <a:pt x="184" y="108"/>
                </a:cubicBezTo>
                <a:close/>
              </a:path>
            </a:pathLst>
          </a:custGeom>
          <a:solidFill>
            <a:srgbClr val="FFC000"/>
          </a:solidFill>
          <a:ln>
            <a:noFill/>
          </a:ln>
          <a:extLst/>
        </p:spPr>
        <p:txBody>
          <a:bodyPr vert="horz" wrap="square" lIns="91398" tIns="45699" rIns="91398" bIns="45699" numCol="1" anchor="t" anchorCtr="0" compatLnSpc="1">
            <a:prstTxWarp prst="textNoShape">
              <a:avLst/>
            </a:prstTxWarp>
          </a:bodyPr>
          <a:lstStyle/>
          <a:p>
            <a:endParaRPr lang="zh-CN" altLang="en-US" sz="1799"/>
          </a:p>
        </p:txBody>
      </p:sp>
      <p:grpSp>
        <p:nvGrpSpPr>
          <p:cNvPr id="13" name="组合 12"/>
          <p:cNvGrpSpPr/>
          <p:nvPr/>
        </p:nvGrpSpPr>
        <p:grpSpPr>
          <a:xfrm>
            <a:off x="912402" y="559213"/>
            <a:ext cx="717324" cy="523092"/>
            <a:chOff x="912759" y="1007596"/>
            <a:chExt cx="717604" cy="523296"/>
          </a:xfrm>
        </p:grpSpPr>
        <p:sp>
          <p:nvSpPr>
            <p:cNvPr id="14" name="Freeform 8"/>
            <p:cNvSpPr>
              <a:spLocks/>
            </p:cNvSpPr>
            <p:nvPr/>
          </p:nvSpPr>
          <p:spPr bwMode="auto">
            <a:xfrm>
              <a:off x="985838" y="1052513"/>
              <a:ext cx="615950" cy="433387"/>
            </a:xfrm>
            <a:custGeom>
              <a:avLst/>
              <a:gdLst>
                <a:gd name="T0" fmla="*/ 43 w 764"/>
                <a:gd name="T1" fmla="*/ 0 h 549"/>
                <a:gd name="T2" fmla="*/ 721 w 764"/>
                <a:gd name="T3" fmla="*/ 0 h 549"/>
                <a:gd name="T4" fmla="*/ 764 w 764"/>
                <a:gd name="T5" fmla="*/ 43 h 549"/>
                <a:gd name="T6" fmla="*/ 764 w 764"/>
                <a:gd name="T7" fmla="*/ 506 h 549"/>
                <a:gd name="T8" fmla="*/ 721 w 764"/>
                <a:gd name="T9" fmla="*/ 549 h 549"/>
                <a:gd name="T10" fmla="*/ 43 w 764"/>
                <a:gd name="T11" fmla="*/ 549 h 549"/>
                <a:gd name="T12" fmla="*/ 0 w 764"/>
                <a:gd name="T13" fmla="*/ 506 h 549"/>
                <a:gd name="T14" fmla="*/ 0 w 764"/>
                <a:gd name="T15" fmla="*/ 43 h 549"/>
                <a:gd name="T16" fmla="*/ 43 w 764"/>
                <a:gd name="T17" fmla="*/ 0 h 5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64" h="549">
                  <a:moveTo>
                    <a:pt x="43" y="0"/>
                  </a:moveTo>
                  <a:lnTo>
                    <a:pt x="721" y="0"/>
                  </a:lnTo>
                  <a:cubicBezTo>
                    <a:pt x="744" y="0"/>
                    <a:pt x="764" y="20"/>
                    <a:pt x="764" y="43"/>
                  </a:cubicBezTo>
                  <a:lnTo>
                    <a:pt x="764" y="506"/>
                  </a:lnTo>
                  <a:cubicBezTo>
                    <a:pt x="764" y="530"/>
                    <a:pt x="744" y="549"/>
                    <a:pt x="721" y="549"/>
                  </a:cubicBezTo>
                  <a:lnTo>
                    <a:pt x="43" y="549"/>
                  </a:lnTo>
                  <a:cubicBezTo>
                    <a:pt x="20" y="549"/>
                    <a:pt x="0" y="530"/>
                    <a:pt x="0" y="506"/>
                  </a:cubicBezTo>
                  <a:lnTo>
                    <a:pt x="0" y="43"/>
                  </a:lnTo>
                  <a:cubicBezTo>
                    <a:pt x="0" y="20"/>
                    <a:pt x="20" y="0"/>
                    <a:pt x="43" y="0"/>
                  </a:cubicBezTo>
                  <a:close/>
                </a:path>
              </a:pathLst>
            </a:custGeom>
            <a:solidFill>
              <a:srgbClr val="E8550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4" tIns="45702" rIns="91404" bIns="45702" numCol="1" anchor="t" anchorCtr="0" compatLnSpc="1">
              <a:prstTxWarp prst="textNoShape">
                <a:avLst/>
              </a:prstTxWarp>
            </a:bodyPr>
            <a:lstStyle/>
            <a:p>
              <a:endParaRPr lang="zh-CN" altLang="en-US" sz="1799"/>
            </a:p>
          </p:txBody>
        </p:sp>
        <p:sp>
          <p:nvSpPr>
            <p:cNvPr id="15" name="TextBox 14"/>
            <p:cNvSpPr txBox="1"/>
            <p:nvPr/>
          </p:nvSpPr>
          <p:spPr>
            <a:xfrm>
              <a:off x="912759" y="1007596"/>
              <a:ext cx="717604" cy="523296"/>
            </a:xfrm>
            <a:prstGeom prst="rect">
              <a:avLst/>
            </a:prstGeom>
            <a:solidFill>
              <a:srgbClr val="01C0B0"/>
            </a:solidFill>
          </p:spPr>
          <p:txBody>
            <a:bodyPr wrap="square" rtlCol="0">
              <a:spAutoFit/>
            </a:bodyPr>
            <a:lstStyle/>
            <a:p>
              <a:pPr algn="ctr"/>
              <a:r>
                <a:rPr lang="en-US" altLang="zh-CN" sz="2799" dirty="0" smtClean="0">
                  <a:solidFill>
                    <a:schemeClr val="bg1"/>
                  </a:solidFill>
                  <a:latin typeface="+mn-ea"/>
                </a:rPr>
                <a:t>01</a:t>
              </a:r>
              <a:endParaRPr lang="zh-CN" altLang="en-US" sz="2799" dirty="0">
                <a:solidFill>
                  <a:schemeClr val="bg1"/>
                </a:solidFill>
                <a:latin typeface="+mn-ea"/>
              </a:endParaRPr>
            </a:p>
          </p:txBody>
        </p:sp>
      </p:grpSp>
      <p:sp>
        <p:nvSpPr>
          <p:cNvPr id="19" name="Freeform 10"/>
          <p:cNvSpPr>
            <a:spLocks/>
          </p:cNvSpPr>
          <p:nvPr/>
        </p:nvSpPr>
        <p:spPr bwMode="auto">
          <a:xfrm>
            <a:off x="986403" y="2861282"/>
            <a:ext cx="615710" cy="433218"/>
          </a:xfrm>
          <a:custGeom>
            <a:avLst/>
            <a:gdLst>
              <a:gd name="T0" fmla="*/ 43 w 764"/>
              <a:gd name="T1" fmla="*/ 0 h 549"/>
              <a:gd name="T2" fmla="*/ 721 w 764"/>
              <a:gd name="T3" fmla="*/ 0 h 549"/>
              <a:gd name="T4" fmla="*/ 764 w 764"/>
              <a:gd name="T5" fmla="*/ 44 h 549"/>
              <a:gd name="T6" fmla="*/ 764 w 764"/>
              <a:gd name="T7" fmla="*/ 506 h 549"/>
              <a:gd name="T8" fmla="*/ 721 w 764"/>
              <a:gd name="T9" fmla="*/ 549 h 549"/>
              <a:gd name="T10" fmla="*/ 43 w 764"/>
              <a:gd name="T11" fmla="*/ 549 h 549"/>
              <a:gd name="T12" fmla="*/ 0 w 764"/>
              <a:gd name="T13" fmla="*/ 506 h 549"/>
              <a:gd name="T14" fmla="*/ 0 w 764"/>
              <a:gd name="T15" fmla="*/ 44 h 549"/>
              <a:gd name="T16" fmla="*/ 43 w 764"/>
              <a:gd name="T17" fmla="*/ 0 h 5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64" h="549">
                <a:moveTo>
                  <a:pt x="43" y="0"/>
                </a:moveTo>
                <a:lnTo>
                  <a:pt x="721" y="0"/>
                </a:lnTo>
                <a:cubicBezTo>
                  <a:pt x="744" y="0"/>
                  <a:pt x="764" y="20"/>
                  <a:pt x="764" y="44"/>
                </a:cubicBezTo>
                <a:lnTo>
                  <a:pt x="764" y="506"/>
                </a:lnTo>
                <a:cubicBezTo>
                  <a:pt x="764" y="530"/>
                  <a:pt x="744" y="549"/>
                  <a:pt x="721" y="549"/>
                </a:cubicBezTo>
                <a:lnTo>
                  <a:pt x="43" y="549"/>
                </a:lnTo>
                <a:cubicBezTo>
                  <a:pt x="20" y="549"/>
                  <a:pt x="0" y="530"/>
                  <a:pt x="0" y="506"/>
                </a:cubicBezTo>
                <a:lnTo>
                  <a:pt x="0" y="44"/>
                </a:lnTo>
                <a:cubicBezTo>
                  <a:pt x="0" y="20"/>
                  <a:pt x="20" y="0"/>
                  <a:pt x="43" y="0"/>
                </a:cubicBezTo>
                <a:close/>
              </a:path>
            </a:pathLst>
          </a:custGeom>
          <a:solidFill>
            <a:srgbClr val="E8550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4" tIns="45702" rIns="91404" bIns="45702" numCol="1" anchor="t" anchorCtr="0" compatLnSpc="1">
            <a:prstTxWarp prst="textNoShape">
              <a:avLst/>
            </a:prstTxWarp>
          </a:bodyPr>
          <a:lstStyle/>
          <a:p>
            <a:endParaRPr lang="zh-CN" altLang="en-US" sz="1799"/>
          </a:p>
        </p:txBody>
      </p:sp>
      <p:sp>
        <p:nvSpPr>
          <p:cNvPr id="20" name="TextBox 19"/>
          <p:cNvSpPr txBox="1"/>
          <p:nvPr/>
        </p:nvSpPr>
        <p:spPr>
          <a:xfrm>
            <a:off x="913353" y="2827321"/>
            <a:ext cx="717324" cy="523092"/>
          </a:xfrm>
          <a:prstGeom prst="rect">
            <a:avLst/>
          </a:prstGeom>
          <a:solidFill>
            <a:srgbClr val="FFC000"/>
          </a:solidFill>
        </p:spPr>
        <p:txBody>
          <a:bodyPr wrap="square" rtlCol="0">
            <a:spAutoFit/>
          </a:bodyPr>
          <a:lstStyle/>
          <a:p>
            <a:pPr algn="ctr"/>
            <a:r>
              <a:rPr lang="en-US" altLang="zh-CN" sz="2799" dirty="0" smtClean="0">
                <a:solidFill>
                  <a:schemeClr val="bg1"/>
                </a:solidFill>
                <a:latin typeface="+mn-ea"/>
              </a:rPr>
              <a:t>02</a:t>
            </a:r>
            <a:endParaRPr lang="zh-CN" altLang="en-US" sz="2799" dirty="0">
              <a:solidFill>
                <a:schemeClr val="bg1"/>
              </a:solidFill>
              <a:latin typeface="+mn-ea"/>
            </a:endParaRPr>
          </a:p>
        </p:txBody>
      </p:sp>
      <p:sp>
        <p:nvSpPr>
          <p:cNvPr id="23" name="TextBox 26"/>
          <p:cNvSpPr txBox="1"/>
          <p:nvPr/>
        </p:nvSpPr>
        <p:spPr>
          <a:xfrm>
            <a:off x="14146653" y="8510121"/>
            <a:ext cx="1107996" cy="461665"/>
          </a:xfrm>
          <a:prstGeom prst="rect">
            <a:avLst/>
          </a:prstGeom>
          <a:noFill/>
        </p:spPr>
        <p:txBody>
          <a:bodyPr wrap="none" rtlCol="0">
            <a:spAutoFit/>
          </a:bodyPr>
          <a:lstStyle/>
          <a:p>
            <a:r>
              <a:rPr lang="zh-CN" altLang="en-US" sz="2400" dirty="0"/>
              <a:t>延时符</a:t>
            </a:r>
          </a:p>
        </p:txBody>
      </p:sp>
      <p:sp>
        <p:nvSpPr>
          <p:cNvPr id="26" name="矩形 25"/>
          <p:cNvSpPr/>
          <p:nvPr/>
        </p:nvSpPr>
        <p:spPr>
          <a:xfrm>
            <a:off x="1851889" y="2572916"/>
            <a:ext cx="9140958" cy="4616648"/>
          </a:xfrm>
          <a:prstGeom prst="rect">
            <a:avLst/>
          </a:prstGeom>
        </p:spPr>
        <p:txBody>
          <a:bodyPr wrap="square">
            <a:spAutoFit/>
          </a:bodyPr>
          <a:lstStyle/>
          <a:p>
            <a:pPr marL="0" lvl="1">
              <a:lnSpc>
                <a:spcPct val="150000"/>
              </a:lnSpc>
            </a:pPr>
            <a:endParaRPr lang="zh-CN" altLang="en-US" sz="2800" b="1" dirty="0">
              <a:latin typeface="微软雅黑" panose="020B0503020204020204" pitchFamily="34" charset="-122"/>
              <a:ea typeface="微软雅黑" panose="020B0503020204020204" pitchFamily="34" charset="-122"/>
            </a:endParaRPr>
          </a:p>
          <a:p>
            <a:pPr marL="0" lvl="1">
              <a:lnSpc>
                <a:spcPct val="150000"/>
              </a:lnSpc>
            </a:pPr>
            <a:endParaRPr lang="zh-CN" altLang="en-US" sz="2800" b="1" dirty="0">
              <a:latin typeface="微软雅黑" panose="020B0503020204020204" pitchFamily="34" charset="-122"/>
              <a:ea typeface="微软雅黑" panose="020B0503020204020204" pitchFamily="34" charset="-122"/>
            </a:endParaRPr>
          </a:p>
          <a:p>
            <a:pPr marL="0" lvl="1">
              <a:lnSpc>
                <a:spcPct val="150000"/>
              </a:lnSpc>
            </a:pPr>
            <a:endParaRPr lang="zh-CN" altLang="en-US" sz="2800" b="1" dirty="0">
              <a:latin typeface="微软雅黑" panose="020B0503020204020204" pitchFamily="34" charset="-122"/>
              <a:ea typeface="微软雅黑" panose="020B0503020204020204" pitchFamily="34" charset="-122"/>
            </a:endParaRPr>
          </a:p>
          <a:p>
            <a:pPr marL="0" lvl="1">
              <a:lnSpc>
                <a:spcPct val="150000"/>
              </a:lnSpc>
            </a:pPr>
            <a:endParaRPr lang="zh-CN" altLang="en-US" sz="2800" b="1" dirty="0">
              <a:latin typeface="微软雅黑" panose="020B0503020204020204" pitchFamily="34" charset="-122"/>
              <a:ea typeface="微软雅黑" panose="020B0503020204020204" pitchFamily="34" charset="-122"/>
            </a:endParaRPr>
          </a:p>
          <a:p>
            <a:pPr marL="0" lvl="1">
              <a:lnSpc>
                <a:spcPct val="150000"/>
              </a:lnSpc>
            </a:pPr>
            <a:endParaRPr lang="zh-CN" altLang="en-US" sz="2800" b="1" dirty="0">
              <a:latin typeface="微软雅黑" panose="020B0503020204020204" pitchFamily="34" charset="-122"/>
              <a:ea typeface="微软雅黑" panose="020B0503020204020204" pitchFamily="34" charset="-122"/>
            </a:endParaRPr>
          </a:p>
          <a:p>
            <a:pPr marL="0" lvl="1">
              <a:lnSpc>
                <a:spcPct val="150000"/>
              </a:lnSpc>
            </a:pPr>
            <a:endParaRPr lang="zh-CN" altLang="en-US" sz="2800" b="1" dirty="0">
              <a:latin typeface="微软雅黑" panose="020B0503020204020204" pitchFamily="34" charset="-122"/>
              <a:ea typeface="微软雅黑" panose="020B0503020204020204" pitchFamily="34" charset="-122"/>
            </a:endParaRPr>
          </a:p>
          <a:p>
            <a:pPr>
              <a:lnSpc>
                <a:spcPct val="150000"/>
              </a:lnSpc>
            </a:pPr>
            <a:endParaRPr lang="zh-CN" altLang="en-US" sz="2800" b="1" dirty="0">
              <a:latin typeface="微软雅黑" panose="020B0503020204020204" pitchFamily="34" charset="-122"/>
              <a:ea typeface="微软雅黑" panose="020B0503020204020204" pitchFamily="34" charset="-122"/>
            </a:endParaRPr>
          </a:p>
        </p:txBody>
      </p:sp>
      <p:sp>
        <p:nvSpPr>
          <p:cNvPr id="29" name="内容占位符 2"/>
          <p:cNvSpPr>
            <a:spLocks noGrp="1"/>
          </p:cNvSpPr>
          <p:nvPr>
            <p:ph idx="1"/>
          </p:nvPr>
        </p:nvSpPr>
        <p:spPr>
          <a:xfrm>
            <a:off x="1903050" y="471304"/>
            <a:ext cx="9397174" cy="698834"/>
          </a:xfrm>
        </p:spPr>
        <p:txBody>
          <a:bodyPr>
            <a:normAutofit fontScale="85000" lnSpcReduction="10000"/>
          </a:bodyPr>
          <a:lstStyle/>
          <a:p>
            <a:pPr eaLnBrk="1" hangingPunct="1">
              <a:lnSpc>
                <a:spcPct val="150000"/>
              </a:lnSpc>
              <a:buNone/>
            </a:pPr>
            <a:r>
              <a:rPr lang="zh-CN" altLang="en-US" sz="3300" b="1" dirty="0" smtClean="0">
                <a:latin typeface="微软雅黑" panose="020B0503020204020204" pitchFamily="34" charset="-122"/>
                <a:ea typeface="微软雅黑" panose="020B0503020204020204" pitchFamily="34" charset="-122"/>
              </a:rPr>
              <a:t>标准配置的设备的连接（如键盘、鼠标、显示器、磁盘等）</a:t>
            </a:r>
          </a:p>
          <a:p>
            <a:pPr>
              <a:lnSpc>
                <a:spcPct val="150000"/>
              </a:lnSpc>
            </a:pPr>
            <a:endParaRPr lang="zh-CN" altLang="en-US" b="1" dirty="0">
              <a:latin typeface="微软雅黑" panose="020B0503020204020204" pitchFamily="34" charset="-122"/>
              <a:ea typeface="微软雅黑" panose="020B0503020204020204" pitchFamily="34" charset="-122"/>
            </a:endParaRPr>
          </a:p>
        </p:txBody>
      </p:sp>
      <p:sp>
        <p:nvSpPr>
          <p:cNvPr id="3" name="矩形 2"/>
          <p:cNvSpPr/>
          <p:nvPr/>
        </p:nvSpPr>
        <p:spPr>
          <a:xfrm>
            <a:off x="1412324" y="1117793"/>
            <a:ext cx="8322029" cy="1384995"/>
          </a:xfrm>
          <a:prstGeom prst="rect">
            <a:avLst/>
          </a:prstGeom>
        </p:spPr>
        <p:txBody>
          <a:bodyPr wrap="square">
            <a:spAutoFit/>
          </a:bodyPr>
          <a:lstStyle/>
          <a:p>
            <a:pPr lvl="1">
              <a:lnSpc>
                <a:spcPct val="150000"/>
              </a:lnSpc>
            </a:pPr>
            <a:r>
              <a:rPr lang="zh-CN" altLang="en-US" sz="2800" b="1" dirty="0">
                <a:latin typeface="微软雅黑" panose="020B0503020204020204" pitchFamily="34" charset="-122"/>
                <a:ea typeface="微软雅黑" panose="020B0503020204020204" pitchFamily="34" charset="-122"/>
              </a:rPr>
              <a:t>专门在主机板上设计相应的接口电路，或使用标准接口与主机连接。</a:t>
            </a:r>
          </a:p>
        </p:txBody>
      </p:sp>
      <p:sp>
        <p:nvSpPr>
          <p:cNvPr id="30" name="Oval 7"/>
          <p:cNvSpPr>
            <a:spLocks noChangeArrowheads="1"/>
          </p:cNvSpPr>
          <p:nvPr/>
        </p:nvSpPr>
        <p:spPr bwMode="auto">
          <a:xfrm>
            <a:off x="1169276" y="3748595"/>
            <a:ext cx="238032" cy="234859"/>
          </a:xfrm>
          <a:prstGeom prst="ellipse">
            <a:avLst/>
          </a:prstGeom>
          <a:solidFill>
            <a:srgbClr val="92D050"/>
          </a:solidFill>
          <a:ln w="10" cap="flat">
            <a:solidFill>
              <a:srgbClr val="FFFFFF"/>
            </a:solidFill>
            <a:prstDash val="solid"/>
            <a:miter lim="800000"/>
            <a:headEnd/>
            <a:tailEnd/>
          </a:ln>
        </p:spPr>
        <p:txBody>
          <a:bodyPr vert="horz" wrap="square" lIns="91398" tIns="45699" rIns="91398" bIns="45699" numCol="1" anchor="t" anchorCtr="0" compatLnSpc="1">
            <a:prstTxWarp prst="textNoShape">
              <a:avLst/>
            </a:prstTxWarp>
          </a:bodyPr>
          <a:lstStyle/>
          <a:p>
            <a:endParaRPr lang="zh-CN" altLang="en-US" sz="1799"/>
          </a:p>
        </p:txBody>
      </p:sp>
      <p:sp>
        <p:nvSpPr>
          <p:cNvPr id="32" name="内容占位符 2"/>
          <p:cNvSpPr txBox="1">
            <a:spLocks/>
          </p:cNvSpPr>
          <p:nvPr/>
        </p:nvSpPr>
        <p:spPr>
          <a:xfrm>
            <a:off x="1909969" y="2739450"/>
            <a:ext cx="9397174" cy="698834"/>
          </a:xfrm>
          <a:prstGeom prst="rect">
            <a:avLst/>
          </a:prstGeom>
        </p:spPr>
        <p:txBody>
          <a:bodyPr vert="horz" lIns="91440" tIns="45720" rIns="91440" bIns="45720" rtlCol="0">
            <a:normAutofit fontScale="850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buFont typeface="Arial" panose="020B0604020202020204" pitchFamily="34" charset="0"/>
              <a:buNone/>
            </a:pPr>
            <a:r>
              <a:rPr lang="zh-CN" altLang="en-US" sz="3300" b="1" dirty="0" smtClean="0">
                <a:latin typeface="微软雅黑" panose="020B0503020204020204" pitchFamily="34" charset="-122"/>
                <a:ea typeface="微软雅黑" panose="020B0503020204020204" pitchFamily="34" charset="-122"/>
              </a:rPr>
              <a:t>非标准配置的设备的连接</a:t>
            </a:r>
          </a:p>
          <a:p>
            <a:pPr>
              <a:lnSpc>
                <a:spcPct val="150000"/>
              </a:lnSpc>
            </a:pPr>
            <a:endParaRPr lang="zh-CN" altLang="en-US" b="1" dirty="0">
              <a:latin typeface="微软雅黑" panose="020B0503020204020204" pitchFamily="34" charset="-122"/>
              <a:ea typeface="微软雅黑" panose="020B0503020204020204" pitchFamily="34" charset="-122"/>
            </a:endParaRPr>
          </a:p>
        </p:txBody>
      </p:sp>
      <p:sp>
        <p:nvSpPr>
          <p:cNvPr id="35" name="矩形 34"/>
          <p:cNvSpPr/>
          <p:nvPr/>
        </p:nvSpPr>
        <p:spPr>
          <a:xfrm>
            <a:off x="1412323" y="3470638"/>
            <a:ext cx="9054450" cy="2031325"/>
          </a:xfrm>
          <a:prstGeom prst="rect">
            <a:avLst/>
          </a:prstGeom>
        </p:spPr>
        <p:txBody>
          <a:bodyPr wrap="square">
            <a:spAutoFit/>
          </a:bodyPr>
          <a:lstStyle/>
          <a:p>
            <a:pPr lvl="1">
              <a:lnSpc>
                <a:spcPct val="150000"/>
              </a:lnSpc>
            </a:pPr>
            <a:r>
              <a:rPr lang="zh-CN" altLang="en-US" sz="2800" b="1" dirty="0">
                <a:latin typeface="微软雅黑" panose="020B0503020204020204" pitchFamily="34" charset="-122"/>
                <a:ea typeface="微软雅黑" panose="020B0503020204020204" pitchFamily="34" charset="-122"/>
              </a:rPr>
              <a:t>通过主机的标准接口（如串口、并口、</a:t>
            </a:r>
            <a:r>
              <a:rPr lang="en-US" altLang="zh-CN" sz="2800" b="1" dirty="0">
                <a:latin typeface="微软雅黑" panose="020B0503020204020204" pitchFamily="34" charset="-122"/>
                <a:ea typeface="微软雅黑" panose="020B0503020204020204" pitchFamily="34" charset="-122"/>
              </a:rPr>
              <a:t>USB</a:t>
            </a:r>
            <a:r>
              <a:rPr lang="zh-CN" altLang="en-US" sz="2800" b="1" dirty="0">
                <a:latin typeface="微软雅黑" panose="020B0503020204020204" pitchFamily="34" charset="-122"/>
                <a:ea typeface="微软雅黑" panose="020B0503020204020204" pitchFamily="34" charset="-122"/>
              </a:rPr>
              <a:t>接口等）连接，或者使用专门的设备控制适配器</a:t>
            </a:r>
            <a:r>
              <a:rPr lang="zh-CN" altLang="en-US" sz="2800" b="1" dirty="0" smtClean="0">
                <a:latin typeface="微软雅黑" panose="020B0503020204020204" pitchFamily="34" charset="-122"/>
                <a:ea typeface="微软雅黑" panose="020B0503020204020204" pitchFamily="34" charset="-122"/>
              </a:rPr>
              <a:t>连</a:t>
            </a:r>
            <a:r>
              <a:rPr lang="zh-CN" altLang="en-US" sz="2800" b="1" dirty="0">
                <a:latin typeface="微软雅黑" panose="020B0503020204020204" pitchFamily="34" charset="-122"/>
                <a:ea typeface="微软雅黑" panose="020B0503020204020204" pitchFamily="34" charset="-122"/>
              </a:rPr>
              <a:t>接</a:t>
            </a:r>
            <a:r>
              <a:rPr lang="zh-CN" altLang="en-US" sz="2800" b="1" dirty="0" smtClean="0">
                <a:latin typeface="微软雅黑" panose="020B0503020204020204" pitchFamily="34" charset="-122"/>
                <a:ea typeface="微软雅黑" panose="020B0503020204020204" pitchFamily="34" charset="-122"/>
              </a:rPr>
              <a:t>（</a:t>
            </a:r>
            <a:r>
              <a:rPr lang="zh-CN" altLang="en-US" sz="2800" b="1" dirty="0">
                <a:latin typeface="微软雅黑" panose="020B0503020204020204" pitchFamily="34" charset="-122"/>
                <a:ea typeface="微软雅黑" panose="020B0503020204020204" pitchFamily="34" charset="-122"/>
              </a:rPr>
              <a:t>如显卡、网卡等）。 </a:t>
            </a:r>
          </a:p>
        </p:txBody>
      </p:sp>
    </p:spTree>
    <p:extLst>
      <p:ext uri="{BB962C8B-B14F-4D97-AF65-F5344CB8AC3E}">
        <p14:creationId xmlns:p14="http://schemas.microsoft.com/office/powerpoint/2010/main" val="132570610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advTm="0">
        <p15:prstTrans prst="peelOff"/>
      </p:transition>
    </mc:Choice>
    <mc:Fallback xmlns="">
      <p:transition spd="slow" advTm="0">
        <p:fade/>
      </p:transition>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Rectangle 15"/>
          <p:cNvSpPr>
            <a:spLocks noChangeArrowheads="1"/>
          </p:cNvSpPr>
          <p:nvPr/>
        </p:nvSpPr>
        <p:spPr bwMode="auto">
          <a:xfrm>
            <a:off x="0" y="3244850"/>
            <a:ext cx="184731" cy="369332"/>
          </a:xfrm>
          <a:prstGeom prst="rect">
            <a:avLst/>
          </a:prstGeom>
          <a:noFill/>
          <a:ln w="9525">
            <a:noFill/>
            <a:miter lim="800000"/>
            <a:headEnd/>
            <a:tailEnd/>
          </a:ln>
        </p:spPr>
        <p:txBody>
          <a:bodyPr wrap="none" anchor="ctr">
            <a:spAutoFit/>
          </a:bodyPr>
          <a:lstStyle/>
          <a:p>
            <a:pPr eaLnBrk="1" hangingPunct="1"/>
            <a:endParaRPr lang="zh-CN" altLang="en-US"/>
          </a:p>
        </p:txBody>
      </p:sp>
      <p:sp>
        <p:nvSpPr>
          <p:cNvPr id="18436" name="Rectangle 16"/>
          <p:cNvSpPr>
            <a:spLocks noChangeArrowheads="1"/>
          </p:cNvSpPr>
          <p:nvPr/>
        </p:nvSpPr>
        <p:spPr bwMode="auto">
          <a:xfrm>
            <a:off x="0" y="3244850"/>
            <a:ext cx="184731" cy="369332"/>
          </a:xfrm>
          <a:prstGeom prst="rect">
            <a:avLst/>
          </a:prstGeom>
          <a:noFill/>
          <a:ln w="9525">
            <a:noFill/>
            <a:miter lim="800000"/>
            <a:headEnd/>
            <a:tailEnd/>
          </a:ln>
        </p:spPr>
        <p:txBody>
          <a:bodyPr wrap="none" anchor="ctr">
            <a:spAutoFit/>
          </a:bodyPr>
          <a:lstStyle/>
          <a:p>
            <a:pPr eaLnBrk="1" hangingPunct="1"/>
            <a:endParaRPr lang="zh-CN" altLang="en-US"/>
          </a:p>
        </p:txBody>
      </p:sp>
      <p:grpSp>
        <p:nvGrpSpPr>
          <p:cNvPr id="2" name="Group 17"/>
          <p:cNvGrpSpPr>
            <a:grpSpLocks noChangeAspect="1"/>
          </p:cNvGrpSpPr>
          <p:nvPr/>
        </p:nvGrpSpPr>
        <p:grpSpPr bwMode="auto">
          <a:xfrm>
            <a:off x="769121" y="855780"/>
            <a:ext cx="10357504" cy="5160459"/>
            <a:chOff x="1765" y="9565"/>
            <a:chExt cx="7169" cy="3857"/>
          </a:xfrm>
        </p:grpSpPr>
        <p:sp>
          <p:nvSpPr>
            <p:cNvPr id="18438" name="AutoShape 18"/>
            <p:cNvSpPr>
              <a:spLocks noChangeAspect="1" noChangeArrowheads="1"/>
            </p:cNvSpPr>
            <p:nvPr/>
          </p:nvSpPr>
          <p:spPr bwMode="auto">
            <a:xfrm>
              <a:off x="1765" y="9565"/>
              <a:ext cx="7169" cy="3857"/>
            </a:xfrm>
            <a:prstGeom prst="rect">
              <a:avLst/>
            </a:prstGeom>
            <a:noFill/>
            <a:ln w="9525">
              <a:noFill/>
              <a:miter lim="800000"/>
              <a:headEnd/>
              <a:tailEnd/>
            </a:ln>
          </p:spPr>
          <p:txBody>
            <a:bodyPr/>
            <a:lstStyle/>
            <a:p>
              <a:pPr eaLnBrk="1" hangingPunct="1"/>
              <a:endParaRPr lang="zh-CN" altLang="en-US"/>
            </a:p>
          </p:txBody>
        </p:sp>
        <p:sp>
          <p:nvSpPr>
            <p:cNvPr id="18439" name="Text Box 19"/>
            <p:cNvSpPr txBox="1">
              <a:spLocks noChangeArrowheads="1"/>
            </p:cNvSpPr>
            <p:nvPr/>
          </p:nvSpPr>
          <p:spPr bwMode="auto">
            <a:xfrm>
              <a:off x="3348" y="10629"/>
              <a:ext cx="4093" cy="1596"/>
            </a:xfrm>
            <a:prstGeom prst="rect">
              <a:avLst/>
            </a:prstGeom>
            <a:solidFill>
              <a:srgbClr val="FFFFFF"/>
            </a:solidFill>
            <a:ln w="9525">
              <a:miter lim="800000"/>
              <a:headEnd/>
              <a:tailEnd/>
            </a:ln>
            <a:scene3d>
              <a:camera prst="legacyObliqueTopRight"/>
              <a:lightRig rig="legacyFlat3" dir="b"/>
            </a:scene3d>
            <a:sp3d extrusionH="36500" prstMaterial="legacyMatte">
              <a:bevelT w="13500" h="13500" prst="angle"/>
              <a:bevelB w="13500" h="13500" prst="angle"/>
              <a:extrusionClr>
                <a:srgbClr val="FFFFFF"/>
              </a:extrusionClr>
            </a:sp3d>
          </p:spPr>
          <p:txBody>
            <a:bodyPr lIns="0" tIns="0" rIns="0" bIns="0">
              <a:flatTx/>
            </a:bodyPr>
            <a:lstStyle/>
            <a:p>
              <a:pPr algn="ctr" eaLnBrk="1" hangingPunct="1"/>
              <a:endParaRPr lang="zh-CN" altLang="en-US" sz="1400">
                <a:latin typeface="Times New Roman" pitchFamily="18" charset="0"/>
              </a:endParaRPr>
            </a:p>
            <a:p>
              <a:pPr algn="ctr" eaLnBrk="1" hangingPunct="1"/>
              <a:endParaRPr lang="zh-CN" altLang="en-US" sz="1400">
                <a:latin typeface="Times New Roman" pitchFamily="18" charset="0"/>
              </a:endParaRPr>
            </a:p>
            <a:p>
              <a:pPr algn="ctr" eaLnBrk="1" hangingPunct="1"/>
              <a:endParaRPr lang="zh-CN" altLang="en-US" sz="1400">
                <a:latin typeface="Times New Roman" pitchFamily="18" charset="0"/>
              </a:endParaRPr>
            </a:p>
            <a:p>
              <a:pPr algn="just" eaLnBrk="1" hangingPunct="1"/>
              <a:r>
                <a:rPr lang="zh-CN" altLang="en-US" sz="1400">
                  <a:latin typeface="Times New Roman" pitchFamily="18" charset="0"/>
                </a:rPr>
                <a:t>  </a:t>
              </a:r>
              <a:endParaRPr lang="zh-CN" altLang="en-US" sz="1400"/>
            </a:p>
          </p:txBody>
        </p:sp>
        <p:sp>
          <p:nvSpPr>
            <p:cNvPr id="18440" name="Text Box 20"/>
            <p:cNvSpPr txBox="1">
              <a:spLocks noChangeArrowheads="1"/>
            </p:cNvSpPr>
            <p:nvPr/>
          </p:nvSpPr>
          <p:spPr bwMode="auto">
            <a:xfrm>
              <a:off x="5024" y="11427"/>
              <a:ext cx="744" cy="532"/>
            </a:xfrm>
            <a:prstGeom prst="rect">
              <a:avLst/>
            </a:prstGeom>
            <a:solidFill>
              <a:srgbClr val="FFFFFF"/>
            </a:solidFill>
            <a:ln w="9525">
              <a:solidFill>
                <a:srgbClr val="000000"/>
              </a:solidFill>
              <a:miter lim="800000"/>
              <a:headEnd/>
              <a:tailEnd/>
            </a:ln>
          </p:spPr>
          <p:txBody>
            <a:bodyPr lIns="0" tIns="180000" rIns="0" bIns="0"/>
            <a:lstStyle/>
            <a:p>
              <a:pPr algn="ctr" eaLnBrk="1" hangingPunct="1"/>
              <a:r>
                <a:rPr lang="en-US" altLang="zh-CN" sz="2000" b="1" dirty="0">
                  <a:latin typeface="微软雅黑" panose="020B0503020204020204" pitchFamily="34" charset="-122"/>
                  <a:ea typeface="微软雅黑" panose="020B0503020204020204" pitchFamily="34" charset="-122"/>
                </a:rPr>
                <a:t>CPU</a:t>
              </a:r>
            </a:p>
          </p:txBody>
        </p:sp>
        <p:sp>
          <p:nvSpPr>
            <p:cNvPr id="18441" name="Text Box 21"/>
            <p:cNvSpPr txBox="1">
              <a:spLocks noChangeArrowheads="1"/>
            </p:cNvSpPr>
            <p:nvPr/>
          </p:nvSpPr>
          <p:spPr bwMode="auto">
            <a:xfrm>
              <a:off x="3534" y="10762"/>
              <a:ext cx="745" cy="266"/>
            </a:xfrm>
            <a:prstGeom prst="rect">
              <a:avLst/>
            </a:prstGeom>
            <a:solidFill>
              <a:srgbClr val="FFFFFF"/>
            </a:solidFill>
            <a:ln w="9525">
              <a:solidFill>
                <a:srgbClr val="000000"/>
              </a:solidFill>
              <a:miter lim="800000"/>
              <a:headEnd/>
              <a:tailEnd/>
            </a:ln>
          </p:spPr>
          <p:txBody>
            <a:bodyPr lIns="0" tIns="0" rIns="0" bIns="0"/>
            <a:lstStyle/>
            <a:p>
              <a:pPr algn="ctr" eaLnBrk="1" hangingPunct="1"/>
              <a:r>
                <a:rPr lang="zh-CN" altLang="en-US" sz="2000" b="1" dirty="0">
                  <a:solidFill>
                    <a:srgbClr val="FF0000"/>
                  </a:solidFill>
                  <a:latin typeface="微软雅黑" panose="020B0503020204020204" pitchFamily="34" charset="-122"/>
                  <a:ea typeface="微软雅黑" panose="020B0503020204020204" pitchFamily="34" charset="-122"/>
                </a:rPr>
                <a:t>显示接口</a:t>
              </a:r>
            </a:p>
          </p:txBody>
        </p:sp>
        <p:sp>
          <p:nvSpPr>
            <p:cNvPr id="18442" name="Text Box 22"/>
            <p:cNvSpPr txBox="1">
              <a:spLocks noChangeArrowheads="1"/>
            </p:cNvSpPr>
            <p:nvPr/>
          </p:nvSpPr>
          <p:spPr bwMode="auto">
            <a:xfrm>
              <a:off x="5024" y="10762"/>
              <a:ext cx="744" cy="266"/>
            </a:xfrm>
            <a:prstGeom prst="rect">
              <a:avLst/>
            </a:prstGeom>
            <a:solidFill>
              <a:srgbClr val="FFFFFF"/>
            </a:solidFill>
            <a:ln w="9525">
              <a:solidFill>
                <a:srgbClr val="000000"/>
              </a:solidFill>
              <a:miter lim="800000"/>
              <a:headEnd/>
              <a:tailEnd/>
            </a:ln>
          </p:spPr>
          <p:txBody>
            <a:bodyPr lIns="0" tIns="0" rIns="0" bIns="0"/>
            <a:lstStyle/>
            <a:p>
              <a:pPr algn="ctr" eaLnBrk="1" hangingPunct="1"/>
              <a:r>
                <a:rPr lang="zh-CN" altLang="en-US" sz="2000" b="1">
                  <a:solidFill>
                    <a:srgbClr val="FF0000"/>
                  </a:solidFill>
                  <a:latin typeface="微软雅黑" panose="020B0503020204020204" pitchFamily="34" charset="-122"/>
                  <a:ea typeface="微软雅黑" panose="020B0503020204020204" pitchFamily="34" charset="-122"/>
                </a:rPr>
                <a:t>键盘接口</a:t>
              </a:r>
            </a:p>
          </p:txBody>
        </p:sp>
        <p:sp>
          <p:nvSpPr>
            <p:cNvPr id="18443" name="Text Box 23"/>
            <p:cNvSpPr txBox="1">
              <a:spLocks noChangeArrowheads="1"/>
            </p:cNvSpPr>
            <p:nvPr/>
          </p:nvSpPr>
          <p:spPr bwMode="auto">
            <a:xfrm>
              <a:off x="6512" y="10762"/>
              <a:ext cx="746" cy="266"/>
            </a:xfrm>
            <a:prstGeom prst="rect">
              <a:avLst/>
            </a:prstGeom>
            <a:solidFill>
              <a:srgbClr val="FFFFFF"/>
            </a:solidFill>
            <a:ln w="9525">
              <a:solidFill>
                <a:srgbClr val="000000"/>
              </a:solidFill>
              <a:miter lim="800000"/>
              <a:headEnd/>
              <a:tailEnd/>
            </a:ln>
          </p:spPr>
          <p:txBody>
            <a:bodyPr lIns="0" tIns="0" rIns="0" bIns="0"/>
            <a:lstStyle/>
            <a:p>
              <a:pPr algn="ctr" eaLnBrk="1" hangingPunct="1"/>
              <a:r>
                <a:rPr lang="zh-CN" altLang="en-US" sz="2000" b="1">
                  <a:solidFill>
                    <a:srgbClr val="FF0000"/>
                  </a:solidFill>
                  <a:latin typeface="微软雅黑" panose="020B0503020204020204" pitchFamily="34" charset="-122"/>
                  <a:ea typeface="微软雅黑" panose="020B0503020204020204" pitchFamily="34" charset="-122"/>
                </a:rPr>
                <a:t>磁盘接口</a:t>
              </a:r>
            </a:p>
          </p:txBody>
        </p:sp>
        <p:pic>
          <p:nvPicPr>
            <p:cNvPr id="18444" name="Picture 24" descr="Image00000"/>
            <p:cNvPicPr>
              <a:picLocks noChangeAspect="1" noChangeArrowheads="1"/>
            </p:cNvPicPr>
            <p:nvPr/>
          </p:nvPicPr>
          <p:blipFill>
            <a:blip r:embed="rId2"/>
            <a:srcRect/>
            <a:stretch>
              <a:fillRect/>
            </a:stretch>
          </p:blipFill>
          <p:spPr bwMode="auto">
            <a:xfrm>
              <a:off x="3254" y="9574"/>
              <a:ext cx="1118" cy="852"/>
            </a:xfrm>
            <a:prstGeom prst="rect">
              <a:avLst/>
            </a:prstGeom>
            <a:noFill/>
            <a:ln w="9525">
              <a:noFill/>
              <a:miter lim="800000"/>
              <a:headEnd/>
              <a:tailEnd/>
            </a:ln>
          </p:spPr>
        </p:pic>
        <p:pic>
          <p:nvPicPr>
            <p:cNvPr id="18445" name="Picture 25" descr="Image00001"/>
            <p:cNvPicPr>
              <a:picLocks noChangeAspect="1" noChangeArrowheads="1"/>
            </p:cNvPicPr>
            <p:nvPr/>
          </p:nvPicPr>
          <p:blipFill>
            <a:blip r:embed="rId3"/>
            <a:srcRect/>
            <a:stretch>
              <a:fillRect/>
            </a:stretch>
          </p:blipFill>
          <p:spPr bwMode="auto">
            <a:xfrm>
              <a:off x="6141" y="9831"/>
              <a:ext cx="465" cy="431"/>
            </a:xfrm>
            <a:prstGeom prst="rect">
              <a:avLst/>
            </a:prstGeom>
            <a:noFill/>
            <a:ln w="9525">
              <a:noFill/>
              <a:miter lim="800000"/>
              <a:headEnd/>
              <a:tailEnd/>
            </a:ln>
          </p:spPr>
        </p:pic>
        <p:sp>
          <p:nvSpPr>
            <p:cNvPr id="18446" name="Text Box 26"/>
            <p:cNvSpPr txBox="1">
              <a:spLocks noChangeArrowheads="1"/>
            </p:cNvSpPr>
            <p:nvPr/>
          </p:nvSpPr>
          <p:spPr bwMode="auto">
            <a:xfrm>
              <a:off x="3534" y="12491"/>
              <a:ext cx="745" cy="266"/>
            </a:xfrm>
            <a:prstGeom prst="rect">
              <a:avLst/>
            </a:prstGeom>
            <a:solidFill>
              <a:srgbClr val="FFFFFF"/>
            </a:solidFill>
            <a:ln w="9525">
              <a:miter lim="800000"/>
              <a:headEnd/>
              <a:tailEnd/>
            </a:ln>
            <a:scene3d>
              <a:camera prst="legacyObliqueTopRight"/>
              <a:lightRig rig="legacyFlat3" dir="b"/>
            </a:scene3d>
            <a:sp3d extrusionH="100000" prstMaterial="legacyMatte">
              <a:bevelT w="13500" h="13500" prst="angle"/>
              <a:bevelB w="13500" h="13500" prst="angle"/>
              <a:extrusionClr>
                <a:srgbClr val="FFFFFF"/>
              </a:extrusionClr>
            </a:sp3d>
          </p:spPr>
          <p:txBody>
            <a:bodyPr lIns="0" tIns="0" rIns="0" bIns="0">
              <a:flatTx/>
            </a:bodyPr>
            <a:lstStyle/>
            <a:p>
              <a:pPr algn="ctr" eaLnBrk="1" hangingPunct="1"/>
              <a:r>
                <a:rPr lang="en-US" altLang="zh-CN" sz="2000" b="1">
                  <a:solidFill>
                    <a:srgbClr val="FF0000"/>
                  </a:solidFill>
                  <a:latin typeface="微软雅黑" panose="020B0503020204020204" pitchFamily="34" charset="-122"/>
                  <a:ea typeface="微软雅黑" panose="020B0503020204020204" pitchFamily="34" charset="-122"/>
                </a:rPr>
                <a:t>I/O</a:t>
              </a:r>
              <a:r>
                <a:rPr lang="zh-CN" altLang="en-US" sz="2000" b="1">
                  <a:solidFill>
                    <a:srgbClr val="FF0000"/>
                  </a:solidFill>
                  <a:latin typeface="微软雅黑" panose="020B0503020204020204" pitchFamily="34" charset="-122"/>
                  <a:ea typeface="微软雅黑" panose="020B0503020204020204" pitchFamily="34" charset="-122"/>
                </a:rPr>
                <a:t>接口</a:t>
              </a:r>
            </a:p>
          </p:txBody>
        </p:sp>
        <p:pic>
          <p:nvPicPr>
            <p:cNvPr id="18447" name="Picture 27" descr="Image00002"/>
            <p:cNvPicPr>
              <a:picLocks noChangeAspect="1" noChangeArrowheads="1"/>
            </p:cNvPicPr>
            <p:nvPr/>
          </p:nvPicPr>
          <p:blipFill>
            <a:blip r:embed="rId4"/>
            <a:srcRect/>
            <a:stretch>
              <a:fillRect/>
            </a:stretch>
          </p:blipFill>
          <p:spPr bwMode="auto">
            <a:xfrm>
              <a:off x="4651" y="9831"/>
              <a:ext cx="1490" cy="550"/>
            </a:xfrm>
            <a:prstGeom prst="rect">
              <a:avLst/>
            </a:prstGeom>
            <a:noFill/>
            <a:ln w="9525">
              <a:noFill/>
              <a:miter lim="800000"/>
              <a:headEnd/>
              <a:tailEnd/>
            </a:ln>
          </p:spPr>
        </p:pic>
        <p:pic>
          <p:nvPicPr>
            <p:cNvPr id="18448" name="Picture 28" descr="Image00003"/>
            <p:cNvPicPr>
              <a:picLocks noChangeAspect="1" noChangeArrowheads="1"/>
            </p:cNvPicPr>
            <p:nvPr/>
          </p:nvPicPr>
          <p:blipFill>
            <a:blip r:embed="rId5"/>
            <a:srcRect/>
            <a:stretch>
              <a:fillRect/>
            </a:stretch>
          </p:blipFill>
          <p:spPr bwMode="auto">
            <a:xfrm>
              <a:off x="6606" y="9565"/>
              <a:ext cx="931" cy="856"/>
            </a:xfrm>
            <a:prstGeom prst="rect">
              <a:avLst/>
            </a:prstGeom>
            <a:noFill/>
            <a:ln w="9525">
              <a:noFill/>
              <a:miter lim="800000"/>
              <a:headEnd/>
              <a:tailEnd/>
            </a:ln>
          </p:spPr>
        </p:pic>
        <p:sp>
          <p:nvSpPr>
            <p:cNvPr id="18449" name="Text Box 29"/>
            <p:cNvSpPr txBox="1">
              <a:spLocks noChangeArrowheads="1"/>
            </p:cNvSpPr>
            <p:nvPr/>
          </p:nvSpPr>
          <p:spPr bwMode="auto">
            <a:xfrm>
              <a:off x="2324" y="11560"/>
              <a:ext cx="742" cy="399"/>
            </a:xfrm>
            <a:prstGeom prst="rect">
              <a:avLst/>
            </a:prstGeom>
            <a:solidFill>
              <a:srgbClr val="FFFFFF"/>
            </a:solidFill>
            <a:ln w="9525">
              <a:miter lim="800000"/>
              <a:headEnd/>
              <a:tailEnd/>
            </a:ln>
            <a:scene3d>
              <a:camera prst="legacyObliqueTopRight"/>
              <a:lightRig rig="legacyFlat3" dir="b"/>
            </a:scene3d>
            <a:sp3d extrusionH="100000" prstMaterial="legacyMatte">
              <a:bevelT w="13500" h="13500" prst="angle"/>
              <a:bevelB w="13500" h="13500" prst="angle"/>
              <a:extrusionClr>
                <a:srgbClr val="FFFFFF"/>
              </a:extrusionClr>
            </a:sp3d>
          </p:spPr>
          <p:txBody>
            <a:bodyPr lIns="18000" tIns="46800" rIns="18000" bIns="10800">
              <a:flatTx/>
            </a:bodyPr>
            <a:lstStyle/>
            <a:p>
              <a:pPr algn="ctr" eaLnBrk="1" hangingPunct="1"/>
              <a:r>
                <a:rPr lang="zh-CN" altLang="en-US" sz="2000" b="1" dirty="0">
                  <a:latin typeface="微软雅黑" panose="020B0503020204020204" pitchFamily="34" charset="-122"/>
                  <a:ea typeface="微软雅黑" panose="020B0503020204020204" pitchFamily="34" charset="-122"/>
                </a:rPr>
                <a:t>串行设备</a:t>
              </a:r>
            </a:p>
          </p:txBody>
        </p:sp>
        <p:sp>
          <p:nvSpPr>
            <p:cNvPr id="18450" name="Text Box 30"/>
            <p:cNvSpPr txBox="1">
              <a:spLocks noChangeArrowheads="1"/>
            </p:cNvSpPr>
            <p:nvPr/>
          </p:nvSpPr>
          <p:spPr bwMode="auto">
            <a:xfrm>
              <a:off x="7724" y="11560"/>
              <a:ext cx="740" cy="399"/>
            </a:xfrm>
            <a:prstGeom prst="rect">
              <a:avLst/>
            </a:prstGeom>
            <a:solidFill>
              <a:srgbClr val="FFFFFF"/>
            </a:solidFill>
            <a:ln w="9525">
              <a:miter lim="800000"/>
              <a:headEnd/>
              <a:tailEnd/>
            </a:ln>
            <a:scene3d>
              <a:camera prst="legacyObliqueTopRight"/>
              <a:lightRig rig="legacyFlat3" dir="b"/>
            </a:scene3d>
            <a:sp3d extrusionH="100000" prstMaterial="legacyMatte">
              <a:bevelT w="13500" h="13500" prst="angle"/>
              <a:bevelB w="13500" h="13500" prst="angle"/>
              <a:extrusionClr>
                <a:srgbClr val="FFFFFF"/>
              </a:extrusionClr>
            </a:sp3d>
          </p:spPr>
          <p:txBody>
            <a:bodyPr lIns="18000" tIns="46800" rIns="18000" bIns="10800">
              <a:flatTx/>
            </a:bodyPr>
            <a:lstStyle/>
            <a:p>
              <a:pPr algn="ctr" eaLnBrk="1" hangingPunct="1"/>
              <a:r>
                <a:rPr lang="zh-CN" altLang="en-US" sz="2000" b="1">
                  <a:latin typeface="微软雅黑" panose="020B0503020204020204" pitchFamily="34" charset="-122"/>
                  <a:ea typeface="微软雅黑" panose="020B0503020204020204" pitchFamily="34" charset="-122"/>
                </a:rPr>
                <a:t>并行设备</a:t>
              </a:r>
            </a:p>
          </p:txBody>
        </p:sp>
        <p:sp>
          <p:nvSpPr>
            <p:cNvPr id="18451" name="Line 31"/>
            <p:cNvSpPr>
              <a:spLocks noChangeShapeType="1"/>
            </p:cNvSpPr>
            <p:nvPr/>
          </p:nvSpPr>
          <p:spPr bwMode="auto">
            <a:xfrm>
              <a:off x="3813" y="10363"/>
              <a:ext cx="1" cy="399"/>
            </a:xfrm>
            <a:prstGeom prst="line">
              <a:avLst/>
            </a:prstGeom>
            <a:noFill/>
            <a:ln w="19050">
              <a:solidFill>
                <a:srgbClr val="000000"/>
              </a:solidFill>
              <a:round/>
              <a:headEnd/>
              <a:tailEnd/>
            </a:ln>
          </p:spPr>
          <p:txBody>
            <a:bodyPr/>
            <a:lstStyle/>
            <a:p>
              <a:endParaRPr lang="zh-CN" altLang="en-US"/>
            </a:p>
          </p:txBody>
        </p:sp>
        <p:sp>
          <p:nvSpPr>
            <p:cNvPr id="18452" name="Line 32"/>
            <p:cNvSpPr>
              <a:spLocks noChangeShapeType="1"/>
            </p:cNvSpPr>
            <p:nvPr/>
          </p:nvSpPr>
          <p:spPr bwMode="auto">
            <a:xfrm flipV="1">
              <a:off x="3906" y="12757"/>
              <a:ext cx="1" cy="266"/>
            </a:xfrm>
            <a:prstGeom prst="line">
              <a:avLst/>
            </a:prstGeom>
            <a:noFill/>
            <a:ln w="19050">
              <a:solidFill>
                <a:srgbClr val="000000"/>
              </a:solidFill>
              <a:round/>
              <a:headEnd/>
              <a:tailEnd/>
            </a:ln>
          </p:spPr>
          <p:txBody>
            <a:bodyPr/>
            <a:lstStyle/>
            <a:p>
              <a:endParaRPr lang="zh-CN" altLang="en-US"/>
            </a:p>
          </p:txBody>
        </p:sp>
        <p:sp>
          <p:nvSpPr>
            <p:cNvPr id="18453" name="Line 33"/>
            <p:cNvSpPr>
              <a:spLocks noChangeShapeType="1"/>
            </p:cNvSpPr>
            <p:nvPr/>
          </p:nvSpPr>
          <p:spPr bwMode="auto">
            <a:xfrm flipV="1">
              <a:off x="6979" y="10363"/>
              <a:ext cx="2" cy="400"/>
            </a:xfrm>
            <a:prstGeom prst="line">
              <a:avLst/>
            </a:prstGeom>
            <a:noFill/>
            <a:ln w="19050">
              <a:solidFill>
                <a:srgbClr val="000000"/>
              </a:solidFill>
              <a:round/>
              <a:headEnd/>
              <a:tailEnd/>
            </a:ln>
          </p:spPr>
          <p:txBody>
            <a:bodyPr/>
            <a:lstStyle/>
            <a:p>
              <a:endParaRPr lang="zh-CN" altLang="en-US"/>
            </a:p>
          </p:txBody>
        </p:sp>
        <p:sp>
          <p:nvSpPr>
            <p:cNvPr id="18454" name="Line 34"/>
            <p:cNvSpPr>
              <a:spLocks noChangeShapeType="1"/>
            </p:cNvSpPr>
            <p:nvPr/>
          </p:nvSpPr>
          <p:spPr bwMode="auto">
            <a:xfrm flipV="1">
              <a:off x="5396" y="10364"/>
              <a:ext cx="1" cy="399"/>
            </a:xfrm>
            <a:prstGeom prst="line">
              <a:avLst/>
            </a:prstGeom>
            <a:noFill/>
            <a:ln w="19050">
              <a:solidFill>
                <a:srgbClr val="000000"/>
              </a:solidFill>
              <a:round/>
              <a:headEnd/>
              <a:tailEnd/>
            </a:ln>
          </p:spPr>
          <p:txBody>
            <a:bodyPr/>
            <a:lstStyle/>
            <a:p>
              <a:endParaRPr lang="zh-CN" altLang="en-US"/>
            </a:p>
          </p:txBody>
        </p:sp>
        <p:sp>
          <p:nvSpPr>
            <p:cNvPr id="18455" name="Line 35"/>
            <p:cNvSpPr>
              <a:spLocks noChangeShapeType="1"/>
            </p:cNvSpPr>
            <p:nvPr/>
          </p:nvSpPr>
          <p:spPr bwMode="auto">
            <a:xfrm>
              <a:off x="4651" y="10895"/>
              <a:ext cx="1" cy="399"/>
            </a:xfrm>
            <a:prstGeom prst="line">
              <a:avLst/>
            </a:prstGeom>
            <a:noFill/>
            <a:ln w="19050">
              <a:solidFill>
                <a:srgbClr val="000000"/>
              </a:solidFill>
              <a:round/>
              <a:headEnd/>
              <a:tailEnd/>
            </a:ln>
          </p:spPr>
          <p:txBody>
            <a:bodyPr/>
            <a:lstStyle/>
            <a:p>
              <a:endParaRPr lang="zh-CN" altLang="en-US"/>
            </a:p>
          </p:txBody>
        </p:sp>
        <p:sp>
          <p:nvSpPr>
            <p:cNvPr id="18456" name="Line 36"/>
            <p:cNvSpPr>
              <a:spLocks noChangeShapeType="1"/>
            </p:cNvSpPr>
            <p:nvPr/>
          </p:nvSpPr>
          <p:spPr bwMode="auto">
            <a:xfrm>
              <a:off x="4651" y="11294"/>
              <a:ext cx="466" cy="1"/>
            </a:xfrm>
            <a:prstGeom prst="line">
              <a:avLst/>
            </a:prstGeom>
            <a:noFill/>
            <a:ln w="19050">
              <a:solidFill>
                <a:srgbClr val="000000"/>
              </a:solidFill>
              <a:round/>
              <a:headEnd/>
              <a:tailEnd/>
            </a:ln>
          </p:spPr>
          <p:txBody>
            <a:bodyPr/>
            <a:lstStyle/>
            <a:p>
              <a:endParaRPr lang="zh-CN" altLang="en-US"/>
            </a:p>
          </p:txBody>
        </p:sp>
        <p:sp>
          <p:nvSpPr>
            <p:cNvPr id="18457" name="Line 37"/>
            <p:cNvSpPr>
              <a:spLocks noChangeShapeType="1"/>
            </p:cNvSpPr>
            <p:nvPr/>
          </p:nvSpPr>
          <p:spPr bwMode="auto">
            <a:xfrm>
              <a:off x="3906" y="12092"/>
              <a:ext cx="1211" cy="1"/>
            </a:xfrm>
            <a:prstGeom prst="line">
              <a:avLst/>
            </a:prstGeom>
            <a:noFill/>
            <a:ln w="19050">
              <a:solidFill>
                <a:srgbClr val="000000"/>
              </a:solidFill>
              <a:round/>
              <a:headEnd/>
              <a:tailEnd/>
            </a:ln>
          </p:spPr>
          <p:txBody>
            <a:bodyPr/>
            <a:lstStyle/>
            <a:p>
              <a:endParaRPr lang="zh-CN" altLang="en-US"/>
            </a:p>
          </p:txBody>
        </p:sp>
        <p:sp>
          <p:nvSpPr>
            <p:cNvPr id="18458" name="Line 38"/>
            <p:cNvSpPr>
              <a:spLocks noChangeShapeType="1"/>
            </p:cNvSpPr>
            <p:nvPr/>
          </p:nvSpPr>
          <p:spPr bwMode="auto">
            <a:xfrm>
              <a:off x="3906" y="12092"/>
              <a:ext cx="1" cy="399"/>
            </a:xfrm>
            <a:prstGeom prst="line">
              <a:avLst/>
            </a:prstGeom>
            <a:noFill/>
            <a:ln w="19050">
              <a:solidFill>
                <a:srgbClr val="000000"/>
              </a:solidFill>
              <a:round/>
              <a:headEnd/>
              <a:tailEnd/>
            </a:ln>
          </p:spPr>
          <p:txBody>
            <a:bodyPr/>
            <a:lstStyle/>
            <a:p>
              <a:endParaRPr lang="zh-CN" altLang="en-US"/>
            </a:p>
          </p:txBody>
        </p:sp>
        <p:sp>
          <p:nvSpPr>
            <p:cNvPr id="18459" name="Line 39"/>
            <p:cNvSpPr>
              <a:spLocks noChangeShapeType="1"/>
            </p:cNvSpPr>
            <p:nvPr/>
          </p:nvSpPr>
          <p:spPr bwMode="auto">
            <a:xfrm flipV="1">
              <a:off x="5396" y="11028"/>
              <a:ext cx="1" cy="399"/>
            </a:xfrm>
            <a:prstGeom prst="line">
              <a:avLst/>
            </a:prstGeom>
            <a:noFill/>
            <a:ln w="19050">
              <a:solidFill>
                <a:srgbClr val="000000"/>
              </a:solidFill>
              <a:round/>
              <a:headEnd/>
              <a:tailEnd/>
            </a:ln>
          </p:spPr>
          <p:txBody>
            <a:bodyPr/>
            <a:lstStyle/>
            <a:p>
              <a:endParaRPr lang="zh-CN" altLang="en-US"/>
            </a:p>
          </p:txBody>
        </p:sp>
        <p:sp>
          <p:nvSpPr>
            <p:cNvPr id="18460" name="Line 40"/>
            <p:cNvSpPr>
              <a:spLocks noChangeShapeType="1"/>
            </p:cNvSpPr>
            <p:nvPr/>
          </p:nvSpPr>
          <p:spPr bwMode="auto">
            <a:xfrm flipV="1">
              <a:off x="5396" y="11959"/>
              <a:ext cx="1" cy="532"/>
            </a:xfrm>
            <a:prstGeom prst="line">
              <a:avLst/>
            </a:prstGeom>
            <a:noFill/>
            <a:ln w="19050">
              <a:solidFill>
                <a:srgbClr val="000000"/>
              </a:solidFill>
              <a:round/>
              <a:headEnd/>
              <a:tailEnd/>
            </a:ln>
          </p:spPr>
          <p:txBody>
            <a:bodyPr/>
            <a:lstStyle/>
            <a:p>
              <a:endParaRPr lang="zh-CN" altLang="en-US"/>
            </a:p>
          </p:txBody>
        </p:sp>
        <p:sp>
          <p:nvSpPr>
            <p:cNvPr id="18461" name="Line 41"/>
            <p:cNvSpPr>
              <a:spLocks noChangeShapeType="1"/>
            </p:cNvSpPr>
            <p:nvPr/>
          </p:nvSpPr>
          <p:spPr bwMode="auto">
            <a:xfrm flipH="1">
              <a:off x="4279" y="10895"/>
              <a:ext cx="372" cy="1"/>
            </a:xfrm>
            <a:prstGeom prst="line">
              <a:avLst/>
            </a:prstGeom>
            <a:noFill/>
            <a:ln w="19050">
              <a:solidFill>
                <a:srgbClr val="000000"/>
              </a:solidFill>
              <a:round/>
              <a:headEnd/>
              <a:tailEnd/>
            </a:ln>
          </p:spPr>
          <p:txBody>
            <a:bodyPr/>
            <a:lstStyle/>
            <a:p>
              <a:endParaRPr lang="zh-CN" altLang="en-US"/>
            </a:p>
          </p:txBody>
        </p:sp>
        <p:sp>
          <p:nvSpPr>
            <p:cNvPr id="18462" name="Line 42"/>
            <p:cNvSpPr>
              <a:spLocks noChangeShapeType="1"/>
            </p:cNvSpPr>
            <p:nvPr/>
          </p:nvSpPr>
          <p:spPr bwMode="auto">
            <a:xfrm>
              <a:off x="5675" y="11294"/>
              <a:ext cx="466" cy="1"/>
            </a:xfrm>
            <a:prstGeom prst="line">
              <a:avLst/>
            </a:prstGeom>
            <a:noFill/>
            <a:ln w="19050">
              <a:solidFill>
                <a:srgbClr val="000000"/>
              </a:solidFill>
              <a:round/>
              <a:headEnd/>
              <a:tailEnd/>
            </a:ln>
          </p:spPr>
          <p:txBody>
            <a:bodyPr/>
            <a:lstStyle/>
            <a:p>
              <a:endParaRPr lang="zh-CN" altLang="en-US"/>
            </a:p>
          </p:txBody>
        </p:sp>
        <p:sp>
          <p:nvSpPr>
            <p:cNvPr id="18463" name="Line 43"/>
            <p:cNvSpPr>
              <a:spLocks noChangeShapeType="1"/>
            </p:cNvSpPr>
            <p:nvPr/>
          </p:nvSpPr>
          <p:spPr bwMode="auto">
            <a:xfrm flipV="1">
              <a:off x="6141" y="10895"/>
              <a:ext cx="1" cy="399"/>
            </a:xfrm>
            <a:prstGeom prst="line">
              <a:avLst/>
            </a:prstGeom>
            <a:noFill/>
            <a:ln w="19050">
              <a:solidFill>
                <a:srgbClr val="000000"/>
              </a:solidFill>
              <a:round/>
              <a:headEnd/>
              <a:tailEnd/>
            </a:ln>
          </p:spPr>
          <p:txBody>
            <a:bodyPr/>
            <a:lstStyle/>
            <a:p>
              <a:endParaRPr lang="zh-CN" altLang="en-US"/>
            </a:p>
          </p:txBody>
        </p:sp>
        <p:sp>
          <p:nvSpPr>
            <p:cNvPr id="18464" name="Line 44"/>
            <p:cNvSpPr>
              <a:spLocks noChangeShapeType="1"/>
            </p:cNvSpPr>
            <p:nvPr/>
          </p:nvSpPr>
          <p:spPr bwMode="auto">
            <a:xfrm>
              <a:off x="6141" y="10895"/>
              <a:ext cx="372" cy="1"/>
            </a:xfrm>
            <a:prstGeom prst="line">
              <a:avLst/>
            </a:prstGeom>
            <a:noFill/>
            <a:ln w="19050">
              <a:solidFill>
                <a:srgbClr val="000000"/>
              </a:solidFill>
              <a:round/>
              <a:headEnd/>
              <a:tailEnd/>
            </a:ln>
          </p:spPr>
          <p:txBody>
            <a:bodyPr/>
            <a:lstStyle/>
            <a:p>
              <a:endParaRPr lang="zh-CN" altLang="en-US"/>
            </a:p>
          </p:txBody>
        </p:sp>
        <p:sp>
          <p:nvSpPr>
            <p:cNvPr id="18465" name="Line 45"/>
            <p:cNvSpPr>
              <a:spLocks noChangeShapeType="1"/>
            </p:cNvSpPr>
            <p:nvPr/>
          </p:nvSpPr>
          <p:spPr bwMode="auto">
            <a:xfrm>
              <a:off x="5675" y="12092"/>
              <a:ext cx="1211" cy="1"/>
            </a:xfrm>
            <a:prstGeom prst="line">
              <a:avLst/>
            </a:prstGeom>
            <a:noFill/>
            <a:ln w="19050">
              <a:solidFill>
                <a:srgbClr val="000000"/>
              </a:solidFill>
              <a:round/>
              <a:headEnd/>
              <a:tailEnd/>
            </a:ln>
          </p:spPr>
          <p:txBody>
            <a:bodyPr/>
            <a:lstStyle/>
            <a:p>
              <a:endParaRPr lang="zh-CN" altLang="en-US"/>
            </a:p>
          </p:txBody>
        </p:sp>
        <p:sp>
          <p:nvSpPr>
            <p:cNvPr id="18466" name="Line 46"/>
            <p:cNvSpPr>
              <a:spLocks noChangeShapeType="1"/>
            </p:cNvSpPr>
            <p:nvPr/>
          </p:nvSpPr>
          <p:spPr bwMode="auto">
            <a:xfrm flipV="1">
              <a:off x="6886" y="12092"/>
              <a:ext cx="1" cy="399"/>
            </a:xfrm>
            <a:prstGeom prst="line">
              <a:avLst/>
            </a:prstGeom>
            <a:noFill/>
            <a:ln w="19050">
              <a:solidFill>
                <a:srgbClr val="000000"/>
              </a:solidFill>
              <a:round/>
              <a:headEnd/>
              <a:tailEnd/>
            </a:ln>
          </p:spPr>
          <p:txBody>
            <a:bodyPr/>
            <a:lstStyle/>
            <a:p>
              <a:endParaRPr lang="zh-CN" altLang="en-US"/>
            </a:p>
          </p:txBody>
        </p:sp>
        <p:sp>
          <p:nvSpPr>
            <p:cNvPr id="18467" name="Text Box 47"/>
            <p:cNvSpPr txBox="1">
              <a:spLocks noChangeArrowheads="1"/>
            </p:cNvSpPr>
            <p:nvPr/>
          </p:nvSpPr>
          <p:spPr bwMode="auto">
            <a:xfrm>
              <a:off x="3534" y="11560"/>
              <a:ext cx="742" cy="266"/>
            </a:xfrm>
            <a:prstGeom prst="rect">
              <a:avLst/>
            </a:prstGeom>
            <a:solidFill>
              <a:srgbClr val="FFFFFF"/>
            </a:solidFill>
            <a:ln w="9525">
              <a:solidFill>
                <a:srgbClr val="000000"/>
              </a:solidFill>
              <a:miter lim="800000"/>
              <a:headEnd/>
              <a:tailEnd/>
            </a:ln>
          </p:spPr>
          <p:txBody>
            <a:bodyPr lIns="0" tIns="0" rIns="0" bIns="0"/>
            <a:lstStyle/>
            <a:p>
              <a:pPr algn="ctr" eaLnBrk="1" hangingPunct="1"/>
              <a:r>
                <a:rPr lang="zh-CN" altLang="en-US" sz="2000" b="1">
                  <a:solidFill>
                    <a:srgbClr val="FF0000"/>
                  </a:solidFill>
                  <a:latin typeface="微软雅黑" panose="020B0503020204020204" pitchFamily="34" charset="-122"/>
                  <a:ea typeface="微软雅黑" panose="020B0503020204020204" pitchFamily="34" charset="-122"/>
                </a:rPr>
                <a:t>串行接口</a:t>
              </a:r>
            </a:p>
          </p:txBody>
        </p:sp>
        <p:sp>
          <p:nvSpPr>
            <p:cNvPr id="18468" name="Text Box 48"/>
            <p:cNvSpPr txBox="1">
              <a:spLocks noChangeArrowheads="1"/>
            </p:cNvSpPr>
            <p:nvPr/>
          </p:nvSpPr>
          <p:spPr bwMode="auto">
            <a:xfrm>
              <a:off x="6513" y="11560"/>
              <a:ext cx="744" cy="266"/>
            </a:xfrm>
            <a:prstGeom prst="rect">
              <a:avLst/>
            </a:prstGeom>
            <a:solidFill>
              <a:srgbClr val="FFFFFF"/>
            </a:solidFill>
            <a:ln w="9525">
              <a:solidFill>
                <a:srgbClr val="000000"/>
              </a:solidFill>
              <a:miter lim="800000"/>
              <a:headEnd/>
              <a:tailEnd/>
            </a:ln>
          </p:spPr>
          <p:txBody>
            <a:bodyPr lIns="0" tIns="0" rIns="0" bIns="0"/>
            <a:lstStyle/>
            <a:p>
              <a:pPr algn="ctr" eaLnBrk="1" hangingPunct="1"/>
              <a:r>
                <a:rPr lang="zh-CN" altLang="en-US" sz="2000" b="1">
                  <a:solidFill>
                    <a:srgbClr val="FF0000"/>
                  </a:solidFill>
                  <a:latin typeface="微软雅黑" panose="020B0503020204020204" pitchFamily="34" charset="-122"/>
                  <a:ea typeface="微软雅黑" panose="020B0503020204020204" pitchFamily="34" charset="-122"/>
                </a:rPr>
                <a:t>并行接口</a:t>
              </a:r>
            </a:p>
          </p:txBody>
        </p:sp>
        <p:sp>
          <p:nvSpPr>
            <p:cNvPr id="18469" name="Line 49"/>
            <p:cNvSpPr>
              <a:spLocks noChangeShapeType="1"/>
            </p:cNvSpPr>
            <p:nvPr/>
          </p:nvSpPr>
          <p:spPr bwMode="auto">
            <a:xfrm>
              <a:off x="5117" y="11294"/>
              <a:ext cx="1" cy="133"/>
            </a:xfrm>
            <a:prstGeom prst="line">
              <a:avLst/>
            </a:prstGeom>
            <a:noFill/>
            <a:ln w="19050">
              <a:solidFill>
                <a:srgbClr val="000000"/>
              </a:solidFill>
              <a:round/>
              <a:headEnd/>
              <a:tailEnd/>
            </a:ln>
          </p:spPr>
          <p:txBody>
            <a:bodyPr/>
            <a:lstStyle/>
            <a:p>
              <a:endParaRPr lang="zh-CN" altLang="en-US"/>
            </a:p>
          </p:txBody>
        </p:sp>
        <p:sp>
          <p:nvSpPr>
            <p:cNvPr id="18470" name="Line 50"/>
            <p:cNvSpPr>
              <a:spLocks noChangeShapeType="1"/>
            </p:cNvSpPr>
            <p:nvPr/>
          </p:nvSpPr>
          <p:spPr bwMode="auto">
            <a:xfrm>
              <a:off x="5675" y="11294"/>
              <a:ext cx="1" cy="133"/>
            </a:xfrm>
            <a:prstGeom prst="line">
              <a:avLst/>
            </a:prstGeom>
            <a:noFill/>
            <a:ln w="19050">
              <a:solidFill>
                <a:srgbClr val="000000"/>
              </a:solidFill>
              <a:round/>
              <a:headEnd/>
              <a:tailEnd/>
            </a:ln>
          </p:spPr>
          <p:txBody>
            <a:bodyPr/>
            <a:lstStyle/>
            <a:p>
              <a:endParaRPr lang="zh-CN" altLang="en-US"/>
            </a:p>
          </p:txBody>
        </p:sp>
        <p:sp>
          <p:nvSpPr>
            <p:cNvPr id="18471" name="Line 51"/>
            <p:cNvSpPr>
              <a:spLocks noChangeShapeType="1"/>
            </p:cNvSpPr>
            <p:nvPr/>
          </p:nvSpPr>
          <p:spPr bwMode="auto">
            <a:xfrm>
              <a:off x="4279" y="11693"/>
              <a:ext cx="744" cy="1"/>
            </a:xfrm>
            <a:prstGeom prst="line">
              <a:avLst/>
            </a:prstGeom>
            <a:noFill/>
            <a:ln w="19050">
              <a:solidFill>
                <a:srgbClr val="000000"/>
              </a:solidFill>
              <a:round/>
              <a:headEnd/>
              <a:tailEnd/>
            </a:ln>
          </p:spPr>
          <p:txBody>
            <a:bodyPr/>
            <a:lstStyle/>
            <a:p>
              <a:endParaRPr lang="zh-CN" altLang="en-US"/>
            </a:p>
          </p:txBody>
        </p:sp>
        <p:sp>
          <p:nvSpPr>
            <p:cNvPr id="18472" name="Line 52"/>
            <p:cNvSpPr>
              <a:spLocks noChangeShapeType="1"/>
            </p:cNvSpPr>
            <p:nvPr/>
          </p:nvSpPr>
          <p:spPr bwMode="auto">
            <a:xfrm>
              <a:off x="5768" y="11693"/>
              <a:ext cx="745" cy="1"/>
            </a:xfrm>
            <a:prstGeom prst="line">
              <a:avLst/>
            </a:prstGeom>
            <a:noFill/>
            <a:ln w="19050">
              <a:solidFill>
                <a:srgbClr val="000000"/>
              </a:solidFill>
              <a:round/>
              <a:headEnd/>
              <a:tailEnd/>
            </a:ln>
          </p:spPr>
          <p:txBody>
            <a:bodyPr/>
            <a:lstStyle/>
            <a:p>
              <a:endParaRPr lang="zh-CN" altLang="en-US"/>
            </a:p>
          </p:txBody>
        </p:sp>
        <p:sp>
          <p:nvSpPr>
            <p:cNvPr id="18473" name="Line 53"/>
            <p:cNvSpPr>
              <a:spLocks noChangeShapeType="1"/>
            </p:cNvSpPr>
            <p:nvPr/>
          </p:nvSpPr>
          <p:spPr bwMode="auto">
            <a:xfrm flipV="1">
              <a:off x="5675" y="11959"/>
              <a:ext cx="1" cy="133"/>
            </a:xfrm>
            <a:prstGeom prst="line">
              <a:avLst/>
            </a:prstGeom>
            <a:noFill/>
            <a:ln w="19050">
              <a:solidFill>
                <a:srgbClr val="000000"/>
              </a:solidFill>
              <a:round/>
              <a:headEnd/>
              <a:tailEnd/>
            </a:ln>
          </p:spPr>
          <p:txBody>
            <a:bodyPr/>
            <a:lstStyle/>
            <a:p>
              <a:endParaRPr lang="zh-CN" altLang="en-US"/>
            </a:p>
          </p:txBody>
        </p:sp>
        <p:sp>
          <p:nvSpPr>
            <p:cNvPr id="18474" name="Line 54"/>
            <p:cNvSpPr>
              <a:spLocks noChangeShapeType="1"/>
            </p:cNvSpPr>
            <p:nvPr/>
          </p:nvSpPr>
          <p:spPr bwMode="auto">
            <a:xfrm flipV="1">
              <a:off x="5117" y="11959"/>
              <a:ext cx="1" cy="133"/>
            </a:xfrm>
            <a:prstGeom prst="line">
              <a:avLst/>
            </a:prstGeom>
            <a:noFill/>
            <a:ln w="19050">
              <a:solidFill>
                <a:srgbClr val="000000"/>
              </a:solidFill>
              <a:round/>
              <a:headEnd/>
              <a:tailEnd/>
            </a:ln>
          </p:spPr>
          <p:txBody>
            <a:bodyPr/>
            <a:lstStyle/>
            <a:p>
              <a:endParaRPr lang="zh-CN" altLang="en-US"/>
            </a:p>
          </p:txBody>
        </p:sp>
        <p:sp>
          <p:nvSpPr>
            <p:cNvPr id="18475" name="Line 55"/>
            <p:cNvSpPr>
              <a:spLocks noChangeShapeType="1"/>
            </p:cNvSpPr>
            <p:nvPr/>
          </p:nvSpPr>
          <p:spPr bwMode="auto">
            <a:xfrm flipH="1">
              <a:off x="3068" y="11693"/>
              <a:ext cx="466" cy="1"/>
            </a:xfrm>
            <a:prstGeom prst="line">
              <a:avLst/>
            </a:prstGeom>
            <a:noFill/>
            <a:ln w="19050">
              <a:solidFill>
                <a:srgbClr val="000000"/>
              </a:solidFill>
              <a:round/>
              <a:headEnd/>
              <a:tailEnd/>
            </a:ln>
          </p:spPr>
          <p:txBody>
            <a:bodyPr/>
            <a:lstStyle/>
            <a:p>
              <a:endParaRPr lang="zh-CN" altLang="en-US"/>
            </a:p>
          </p:txBody>
        </p:sp>
        <p:sp>
          <p:nvSpPr>
            <p:cNvPr id="18476" name="Line 56"/>
            <p:cNvSpPr>
              <a:spLocks noChangeShapeType="1"/>
            </p:cNvSpPr>
            <p:nvPr/>
          </p:nvSpPr>
          <p:spPr bwMode="auto">
            <a:xfrm flipH="1">
              <a:off x="7258" y="11693"/>
              <a:ext cx="467" cy="1"/>
            </a:xfrm>
            <a:prstGeom prst="line">
              <a:avLst/>
            </a:prstGeom>
            <a:noFill/>
            <a:ln w="19050">
              <a:solidFill>
                <a:srgbClr val="000000"/>
              </a:solidFill>
              <a:round/>
              <a:headEnd/>
              <a:tailEnd/>
            </a:ln>
          </p:spPr>
          <p:txBody>
            <a:bodyPr/>
            <a:lstStyle/>
            <a:p>
              <a:endParaRPr lang="zh-CN" altLang="en-US"/>
            </a:p>
          </p:txBody>
        </p:sp>
        <p:sp>
          <p:nvSpPr>
            <p:cNvPr id="18477" name="Text Box 57"/>
            <p:cNvSpPr txBox="1">
              <a:spLocks noChangeArrowheads="1"/>
            </p:cNvSpPr>
            <p:nvPr/>
          </p:nvSpPr>
          <p:spPr bwMode="auto">
            <a:xfrm>
              <a:off x="3534" y="13023"/>
              <a:ext cx="743" cy="399"/>
            </a:xfrm>
            <a:prstGeom prst="rect">
              <a:avLst/>
            </a:prstGeom>
            <a:solidFill>
              <a:srgbClr val="FFFFFF"/>
            </a:solidFill>
            <a:ln w="9525">
              <a:miter lim="800000"/>
              <a:headEnd/>
              <a:tailEnd/>
            </a:ln>
            <a:scene3d>
              <a:camera prst="legacyObliqueTopRight"/>
              <a:lightRig rig="legacyFlat3" dir="b"/>
            </a:scene3d>
            <a:sp3d extrusionH="100000" prstMaterial="legacyMatte">
              <a:bevelT w="13500" h="13500" prst="angle"/>
              <a:bevelB w="13500" h="13500" prst="angle"/>
              <a:extrusionClr>
                <a:srgbClr val="FFFFFF"/>
              </a:extrusionClr>
            </a:sp3d>
          </p:spPr>
          <p:txBody>
            <a:bodyPr lIns="18000" tIns="46800" rIns="18000" bIns="10800">
              <a:flatTx/>
            </a:bodyPr>
            <a:lstStyle/>
            <a:p>
              <a:pPr algn="ctr" eaLnBrk="1" hangingPunct="1"/>
              <a:r>
                <a:rPr lang="en-US" altLang="zh-CN" sz="2000" b="1">
                  <a:latin typeface="微软雅黑" panose="020B0503020204020204" pitchFamily="34" charset="-122"/>
                  <a:ea typeface="微软雅黑" panose="020B0503020204020204" pitchFamily="34" charset="-122"/>
                </a:rPr>
                <a:t>I/O</a:t>
              </a:r>
              <a:r>
                <a:rPr lang="zh-CN" altLang="en-US" sz="2000" b="1">
                  <a:latin typeface="微软雅黑" panose="020B0503020204020204" pitchFamily="34" charset="-122"/>
                  <a:ea typeface="微软雅黑" panose="020B0503020204020204" pitchFamily="34" charset="-122"/>
                </a:rPr>
                <a:t>设备</a:t>
              </a:r>
            </a:p>
          </p:txBody>
        </p:sp>
        <p:sp>
          <p:nvSpPr>
            <p:cNvPr id="18478" name="Text Box 58"/>
            <p:cNvSpPr txBox="1">
              <a:spLocks noChangeArrowheads="1"/>
            </p:cNvSpPr>
            <p:nvPr/>
          </p:nvSpPr>
          <p:spPr bwMode="auto">
            <a:xfrm>
              <a:off x="5024" y="12491"/>
              <a:ext cx="744" cy="266"/>
            </a:xfrm>
            <a:prstGeom prst="rect">
              <a:avLst/>
            </a:prstGeom>
            <a:solidFill>
              <a:srgbClr val="FFFFFF"/>
            </a:solidFill>
            <a:ln w="9525">
              <a:miter lim="800000"/>
              <a:headEnd/>
              <a:tailEnd/>
            </a:ln>
            <a:scene3d>
              <a:camera prst="legacyObliqueTopRight"/>
              <a:lightRig rig="legacyFlat3" dir="b"/>
            </a:scene3d>
            <a:sp3d extrusionH="100000" prstMaterial="legacyMatte">
              <a:bevelT w="13500" h="13500" prst="angle"/>
              <a:bevelB w="13500" h="13500" prst="angle"/>
              <a:extrusionClr>
                <a:srgbClr val="FFFFFF"/>
              </a:extrusionClr>
            </a:sp3d>
          </p:spPr>
          <p:txBody>
            <a:bodyPr lIns="0" tIns="0" rIns="0" bIns="0">
              <a:flatTx/>
            </a:bodyPr>
            <a:lstStyle/>
            <a:p>
              <a:pPr algn="ctr" eaLnBrk="1" hangingPunct="1"/>
              <a:r>
                <a:rPr lang="en-US" altLang="zh-CN" sz="2000" b="1">
                  <a:solidFill>
                    <a:srgbClr val="FF0000"/>
                  </a:solidFill>
                  <a:latin typeface="微软雅黑" panose="020B0503020204020204" pitchFamily="34" charset="-122"/>
                  <a:ea typeface="微软雅黑" panose="020B0503020204020204" pitchFamily="34" charset="-122"/>
                </a:rPr>
                <a:t>I/O</a:t>
              </a:r>
              <a:r>
                <a:rPr lang="zh-CN" altLang="en-US" sz="2000" b="1">
                  <a:solidFill>
                    <a:srgbClr val="FF0000"/>
                  </a:solidFill>
                  <a:latin typeface="微软雅黑" panose="020B0503020204020204" pitchFamily="34" charset="-122"/>
                  <a:ea typeface="微软雅黑" panose="020B0503020204020204" pitchFamily="34" charset="-122"/>
                </a:rPr>
                <a:t>接口</a:t>
              </a:r>
            </a:p>
          </p:txBody>
        </p:sp>
        <p:sp>
          <p:nvSpPr>
            <p:cNvPr id="18479" name="Line 59"/>
            <p:cNvSpPr>
              <a:spLocks noChangeShapeType="1"/>
            </p:cNvSpPr>
            <p:nvPr/>
          </p:nvSpPr>
          <p:spPr bwMode="auto">
            <a:xfrm flipV="1">
              <a:off x="5396" y="12757"/>
              <a:ext cx="1" cy="266"/>
            </a:xfrm>
            <a:prstGeom prst="line">
              <a:avLst/>
            </a:prstGeom>
            <a:noFill/>
            <a:ln w="19050">
              <a:solidFill>
                <a:srgbClr val="000000"/>
              </a:solidFill>
              <a:round/>
              <a:headEnd/>
              <a:tailEnd/>
            </a:ln>
          </p:spPr>
          <p:txBody>
            <a:bodyPr/>
            <a:lstStyle/>
            <a:p>
              <a:endParaRPr lang="zh-CN" altLang="en-US"/>
            </a:p>
          </p:txBody>
        </p:sp>
        <p:sp>
          <p:nvSpPr>
            <p:cNvPr id="18480" name="Text Box 60"/>
            <p:cNvSpPr txBox="1">
              <a:spLocks noChangeArrowheads="1"/>
            </p:cNvSpPr>
            <p:nvPr/>
          </p:nvSpPr>
          <p:spPr bwMode="auto">
            <a:xfrm>
              <a:off x="5024" y="13023"/>
              <a:ext cx="743" cy="399"/>
            </a:xfrm>
            <a:prstGeom prst="rect">
              <a:avLst/>
            </a:prstGeom>
            <a:solidFill>
              <a:srgbClr val="FFFFFF"/>
            </a:solidFill>
            <a:ln w="9525">
              <a:miter lim="800000"/>
              <a:headEnd/>
              <a:tailEnd/>
            </a:ln>
            <a:scene3d>
              <a:camera prst="legacyObliqueTopRight"/>
              <a:lightRig rig="legacyFlat3" dir="b"/>
            </a:scene3d>
            <a:sp3d extrusionH="100000" prstMaterial="legacyMatte">
              <a:bevelT w="13500" h="13500" prst="angle"/>
              <a:bevelB w="13500" h="13500" prst="angle"/>
              <a:extrusionClr>
                <a:srgbClr val="FFFFFF"/>
              </a:extrusionClr>
            </a:sp3d>
          </p:spPr>
          <p:txBody>
            <a:bodyPr lIns="18000" tIns="46800" rIns="18000" bIns="10800">
              <a:flatTx/>
            </a:bodyPr>
            <a:lstStyle/>
            <a:p>
              <a:pPr algn="ctr" eaLnBrk="1" hangingPunct="1"/>
              <a:r>
                <a:rPr lang="en-US" altLang="zh-CN" sz="2000" b="1">
                  <a:latin typeface="微软雅黑" panose="020B0503020204020204" pitchFamily="34" charset="-122"/>
                  <a:ea typeface="微软雅黑" panose="020B0503020204020204" pitchFamily="34" charset="-122"/>
                </a:rPr>
                <a:t>I/O</a:t>
              </a:r>
              <a:r>
                <a:rPr lang="zh-CN" altLang="en-US" sz="2000" b="1">
                  <a:latin typeface="微软雅黑" panose="020B0503020204020204" pitchFamily="34" charset="-122"/>
                  <a:ea typeface="微软雅黑" panose="020B0503020204020204" pitchFamily="34" charset="-122"/>
                </a:rPr>
                <a:t>设备</a:t>
              </a:r>
            </a:p>
          </p:txBody>
        </p:sp>
        <p:sp>
          <p:nvSpPr>
            <p:cNvPr id="18481" name="Text Box 61"/>
            <p:cNvSpPr txBox="1">
              <a:spLocks noChangeArrowheads="1"/>
            </p:cNvSpPr>
            <p:nvPr/>
          </p:nvSpPr>
          <p:spPr bwMode="auto">
            <a:xfrm>
              <a:off x="6513" y="12491"/>
              <a:ext cx="745" cy="266"/>
            </a:xfrm>
            <a:prstGeom prst="rect">
              <a:avLst/>
            </a:prstGeom>
            <a:solidFill>
              <a:srgbClr val="FFFFFF"/>
            </a:solidFill>
            <a:ln w="9525">
              <a:miter lim="800000"/>
              <a:headEnd/>
              <a:tailEnd/>
            </a:ln>
            <a:scene3d>
              <a:camera prst="legacyObliqueTopRight"/>
              <a:lightRig rig="legacyFlat3" dir="b"/>
            </a:scene3d>
            <a:sp3d extrusionH="100000" prstMaterial="legacyMatte">
              <a:bevelT w="13500" h="13500" prst="angle"/>
              <a:bevelB w="13500" h="13500" prst="angle"/>
              <a:extrusionClr>
                <a:srgbClr val="FFFFFF"/>
              </a:extrusionClr>
            </a:sp3d>
          </p:spPr>
          <p:txBody>
            <a:bodyPr lIns="0" tIns="0" rIns="0" bIns="0">
              <a:flatTx/>
            </a:bodyPr>
            <a:lstStyle/>
            <a:p>
              <a:pPr algn="ctr" eaLnBrk="1" hangingPunct="1"/>
              <a:r>
                <a:rPr lang="en-US" altLang="zh-CN" sz="2000" b="1">
                  <a:solidFill>
                    <a:srgbClr val="FF0000"/>
                  </a:solidFill>
                  <a:latin typeface="微软雅黑" panose="020B0503020204020204" pitchFamily="34" charset="-122"/>
                  <a:ea typeface="微软雅黑" panose="020B0503020204020204" pitchFamily="34" charset="-122"/>
                </a:rPr>
                <a:t>I/O</a:t>
              </a:r>
              <a:r>
                <a:rPr lang="zh-CN" altLang="en-US" sz="2000" b="1">
                  <a:solidFill>
                    <a:srgbClr val="FF0000"/>
                  </a:solidFill>
                  <a:latin typeface="微软雅黑" panose="020B0503020204020204" pitchFamily="34" charset="-122"/>
                  <a:ea typeface="微软雅黑" panose="020B0503020204020204" pitchFamily="34" charset="-122"/>
                </a:rPr>
                <a:t>接口</a:t>
              </a:r>
            </a:p>
          </p:txBody>
        </p:sp>
        <p:sp>
          <p:nvSpPr>
            <p:cNvPr id="18482" name="Line 62"/>
            <p:cNvSpPr>
              <a:spLocks noChangeShapeType="1"/>
            </p:cNvSpPr>
            <p:nvPr/>
          </p:nvSpPr>
          <p:spPr bwMode="auto">
            <a:xfrm flipV="1">
              <a:off x="6886" y="12757"/>
              <a:ext cx="1" cy="266"/>
            </a:xfrm>
            <a:prstGeom prst="line">
              <a:avLst/>
            </a:prstGeom>
            <a:noFill/>
            <a:ln w="19050">
              <a:solidFill>
                <a:srgbClr val="000000"/>
              </a:solidFill>
              <a:round/>
              <a:headEnd/>
              <a:tailEnd/>
            </a:ln>
          </p:spPr>
          <p:txBody>
            <a:bodyPr/>
            <a:lstStyle/>
            <a:p>
              <a:endParaRPr lang="zh-CN" altLang="en-US"/>
            </a:p>
          </p:txBody>
        </p:sp>
        <p:sp>
          <p:nvSpPr>
            <p:cNvPr id="18483" name="Text Box 63"/>
            <p:cNvSpPr txBox="1">
              <a:spLocks noChangeArrowheads="1"/>
            </p:cNvSpPr>
            <p:nvPr/>
          </p:nvSpPr>
          <p:spPr bwMode="auto">
            <a:xfrm>
              <a:off x="6513" y="13023"/>
              <a:ext cx="743" cy="399"/>
            </a:xfrm>
            <a:prstGeom prst="rect">
              <a:avLst/>
            </a:prstGeom>
            <a:solidFill>
              <a:srgbClr val="FFFFFF"/>
            </a:solidFill>
            <a:ln w="9525">
              <a:miter lim="800000"/>
              <a:headEnd/>
              <a:tailEnd/>
            </a:ln>
            <a:scene3d>
              <a:camera prst="legacyObliqueTopRight"/>
              <a:lightRig rig="legacyFlat3" dir="b"/>
            </a:scene3d>
            <a:sp3d extrusionH="100000" prstMaterial="legacyMatte">
              <a:bevelT w="13500" h="13500" prst="angle"/>
              <a:bevelB w="13500" h="13500" prst="angle"/>
              <a:extrusionClr>
                <a:srgbClr val="FFFFFF"/>
              </a:extrusionClr>
            </a:sp3d>
          </p:spPr>
          <p:txBody>
            <a:bodyPr lIns="18000" tIns="46800" rIns="18000" bIns="10800">
              <a:flatTx/>
            </a:bodyPr>
            <a:lstStyle/>
            <a:p>
              <a:pPr algn="ctr" eaLnBrk="1" hangingPunct="1"/>
              <a:r>
                <a:rPr lang="en-US" altLang="zh-CN" sz="2000" b="1">
                  <a:latin typeface="微软雅黑" panose="020B0503020204020204" pitchFamily="34" charset="-122"/>
                  <a:ea typeface="微软雅黑" panose="020B0503020204020204" pitchFamily="34" charset="-122"/>
                </a:rPr>
                <a:t>I/O</a:t>
              </a:r>
              <a:r>
                <a:rPr lang="zh-CN" altLang="en-US" sz="2000" b="1">
                  <a:latin typeface="微软雅黑" panose="020B0503020204020204" pitchFamily="34" charset="-122"/>
                  <a:ea typeface="微软雅黑" panose="020B0503020204020204" pitchFamily="34" charset="-122"/>
                </a:rPr>
                <a:t>设备</a:t>
              </a:r>
            </a:p>
          </p:txBody>
        </p:sp>
      </p:gr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advTm="9222">
        <p15:prstTrans prst="peelOff"/>
      </p:transition>
    </mc:Choice>
    <mc:Fallback xmlns="">
      <p:transition spd="slow" advTm="9222">
        <p:fade/>
      </p:transition>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矩形 21"/>
          <p:cNvSpPr/>
          <p:nvPr/>
        </p:nvSpPr>
        <p:spPr>
          <a:xfrm>
            <a:off x="1434609" y="1833034"/>
            <a:ext cx="9313819" cy="3684587"/>
          </a:xfrm>
          <a:prstGeom prst="rect">
            <a:avLst/>
          </a:prstGeom>
          <a:solidFill>
            <a:schemeClr val="bg1">
              <a:lumMod val="50000"/>
            </a:schemeClr>
          </a:solidFill>
          <a:ln>
            <a:solidFill>
              <a:srgbClr val="0089D2"/>
            </a:solidFill>
          </a:ln>
          <a:effectLst>
            <a:outerShdw blurRad="50800" dist="38100" dir="5400000" algn="t" rotWithShape="0">
              <a:prstClr val="black">
                <a:alpha val="20000"/>
              </a:prstClr>
            </a:outerShdw>
          </a:effectLst>
        </p:spPr>
        <p:txBody>
          <a:bodyPr vert="horz" wrap="square" lIns="91440" tIns="45720" rIns="91440" bIns="45720" numCol="1" anchor="t" anchorCtr="0" compatLnSpc="1">
            <a:prstTxWarp prst="textNoShape">
              <a:avLst/>
            </a:prstTxWarp>
          </a:bodyPr>
          <a:lstStyle/>
          <a:p>
            <a:endParaRPr lang="zh-CN" altLang="en-US" sz="2400">
              <a:latin typeface="Arial" panose="020B0604020202020204" pitchFamily="34" charset="0"/>
              <a:ea typeface="微软雅黑" panose="020B0503020204020204" pitchFamily="34" charset="-122"/>
              <a:sym typeface="Arial" panose="020B0604020202020204" pitchFamily="34" charset="0"/>
            </a:endParaRPr>
          </a:p>
        </p:txBody>
      </p:sp>
      <p:sp>
        <p:nvSpPr>
          <p:cNvPr id="21" name="矩形 20"/>
          <p:cNvSpPr/>
          <p:nvPr/>
        </p:nvSpPr>
        <p:spPr>
          <a:xfrm>
            <a:off x="1409605" y="1769534"/>
            <a:ext cx="9313819" cy="3684587"/>
          </a:xfrm>
          <a:prstGeom prst="rect">
            <a:avLst/>
          </a:prstGeom>
          <a:solidFill>
            <a:srgbClr val="F9F9F9"/>
          </a:solidFill>
          <a:ln>
            <a:noFill/>
          </a:ln>
          <a:effectLst>
            <a:outerShdw blurRad="50800" dist="38100" dir="5400000" algn="t" rotWithShape="0">
              <a:prstClr val="black">
                <a:alpha val="20000"/>
              </a:prstClr>
            </a:outerShdw>
          </a:effectLst>
        </p:spPr>
        <p:txBody>
          <a:bodyPr vert="horz" wrap="square" lIns="91440" tIns="45720" rIns="91440" bIns="45720" numCol="1" anchor="t" anchorCtr="0" compatLnSpc="1">
            <a:prstTxWarp prst="textNoShape">
              <a:avLst/>
            </a:prstTxWarp>
          </a:bodyPr>
          <a:lstStyle/>
          <a:p>
            <a:endParaRPr lang="zh-CN" altLang="en-US" sz="2400">
              <a:latin typeface="Arial" panose="020B0604020202020204" pitchFamily="34" charset="0"/>
              <a:ea typeface="微软雅黑" panose="020B0503020204020204" pitchFamily="34" charset="-122"/>
              <a:sym typeface="Arial" panose="020B0604020202020204" pitchFamily="34" charset="0"/>
            </a:endParaRPr>
          </a:p>
        </p:txBody>
      </p:sp>
      <p:sp>
        <p:nvSpPr>
          <p:cNvPr id="15" name="矩形 5"/>
          <p:cNvSpPr>
            <a:spLocks noChangeArrowheads="1"/>
          </p:cNvSpPr>
          <p:nvPr/>
        </p:nvSpPr>
        <p:spPr bwMode="auto">
          <a:xfrm>
            <a:off x="1427165" y="1807634"/>
            <a:ext cx="9337675" cy="3684587"/>
          </a:xfrm>
          <a:prstGeom prst="rect">
            <a:avLst/>
          </a:prstGeom>
          <a:noFill/>
          <a:ln w="19050">
            <a:solidFill>
              <a:srgbClr val="0089D2"/>
            </a:solidFill>
            <a:bevel/>
            <a:headEnd/>
            <a:tailEnd/>
          </a:ln>
        </p:spPr>
        <p:txBody>
          <a:bodyPr lIns="91424" tIns="45713" rIns="91424" bIns="45713" anchor="ctr"/>
          <a:lstStyle/>
          <a:p>
            <a:pPr algn="ctr"/>
            <a:endParaRPr lang="zh-CN" altLang="zh-CN" sz="2400">
              <a:solidFill>
                <a:srgbClr val="FFFFFF"/>
              </a:solidFill>
              <a:latin typeface="Arial" panose="020B0604020202020204" pitchFamily="34" charset="0"/>
              <a:ea typeface="微软雅黑" panose="020B0503020204020204" pitchFamily="34" charset="-122"/>
              <a:sym typeface="Arial" panose="020B0604020202020204" pitchFamily="34" charset="0"/>
            </a:endParaRPr>
          </a:p>
        </p:txBody>
      </p:sp>
      <p:pic>
        <p:nvPicPr>
          <p:cNvPr id="18" name="Picture 6"/>
          <p:cNvPicPr>
            <a:picLocks noChangeAspect="1" noChangeArrowheads="1"/>
          </p:cNvPicPr>
          <p:nvPr/>
        </p:nvPicPr>
        <p:blipFill>
          <a:blip r:embed="rId3" cstate="screen">
            <a:extLst>
              <a:ext uri="{28A0092B-C50C-407E-A947-70E740481C1C}">
                <a14:useLocalDpi xmlns:a14="http://schemas.microsoft.com/office/drawing/2010/main"/>
              </a:ext>
            </a:extLst>
          </a:blip>
          <a:stretch>
            <a:fillRect/>
          </a:stretch>
        </p:blipFill>
        <p:spPr bwMode="auto">
          <a:xfrm rot="854817">
            <a:off x="8974774" y="5241992"/>
            <a:ext cx="1658468" cy="1050719"/>
          </a:xfrm>
          <a:prstGeom prst="rect">
            <a:avLst/>
          </a:prstGeom>
          <a:solidFill>
            <a:srgbClr val="FFFFFF">
              <a:shade val="85000"/>
            </a:srgbClr>
          </a:solidFill>
          <a:ln w="114300" cap="sq">
            <a:solidFill>
              <a:srgbClr val="FFFFFF"/>
            </a:solidFill>
            <a:miter lim="800000"/>
          </a:ln>
          <a:effectLst>
            <a:outerShdw blurRad="65000" dist="50800" dir="12900000" kx="195000" ky="145000" algn="tl" rotWithShape="0">
              <a:srgbClr val="000000">
                <a:alpha val="30000"/>
              </a:srgbClr>
            </a:outerShdw>
          </a:effectLst>
          <a:scene3d>
            <a:camera prst="orthographicFront">
              <a:rot lat="0" lon="0" rev="360000"/>
            </a:camera>
            <a:lightRig rig="twoPt" dir="t">
              <a:rot lat="0" lon="0" rev="7200000"/>
            </a:lightRig>
          </a:scene3d>
          <a:sp3d contourW="12700">
            <a:bevelT w="25400" h="19050"/>
            <a:contourClr>
              <a:srgbClr val="969696"/>
            </a:contourClr>
          </a:sp3d>
          <a:extLst/>
        </p:spPr>
      </p:pic>
      <p:pic>
        <p:nvPicPr>
          <p:cNvPr id="23" name="Picture 172"/>
          <p:cNvPicPr>
            <a:picLocks noChangeAspect="1" noChangeArrowheads="1"/>
          </p:cNvPicPr>
          <p:nvPr/>
        </p:nvPicPr>
        <p:blipFill>
          <a:blip r:embed="rId4"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9929707" y="127871"/>
            <a:ext cx="2206912" cy="9191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4" name="矩形 23"/>
          <p:cNvSpPr/>
          <p:nvPr/>
        </p:nvSpPr>
        <p:spPr>
          <a:xfrm>
            <a:off x="0" y="6748043"/>
            <a:ext cx="12192000" cy="134292"/>
          </a:xfrm>
          <a:prstGeom prst="rect">
            <a:avLst/>
          </a:prstGeom>
          <a:solidFill>
            <a:srgbClr val="04BEB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latin typeface="Arial" panose="020B0604020202020204" pitchFamily="34" charset="0"/>
              <a:ea typeface="微软雅黑" panose="020B0503020204020204" pitchFamily="34" charset="-122"/>
              <a:sym typeface="Arial" panose="020B0604020202020204" pitchFamily="34" charset="0"/>
            </a:endParaRPr>
          </a:p>
        </p:txBody>
      </p:sp>
      <p:sp>
        <p:nvSpPr>
          <p:cNvPr id="25" name="文本框 24"/>
          <p:cNvSpPr txBox="1"/>
          <p:nvPr/>
        </p:nvSpPr>
        <p:spPr>
          <a:xfrm>
            <a:off x="13425202" y="7905750"/>
            <a:ext cx="877163" cy="369332"/>
          </a:xfrm>
          <a:prstGeom prst="rect">
            <a:avLst/>
          </a:prstGeom>
          <a:noFill/>
        </p:spPr>
        <p:txBody>
          <a:bodyPr wrap="none" rtlCol="0">
            <a:spAutoFit/>
          </a:bodyPr>
          <a:lstStyle/>
          <a:p>
            <a:r>
              <a:rPr lang="zh-CN" altLang="en-US" dirty="0"/>
              <a:t>延迟符</a:t>
            </a:r>
          </a:p>
        </p:txBody>
      </p:sp>
      <p:sp>
        <p:nvSpPr>
          <p:cNvPr id="12" name="矩形 11"/>
          <p:cNvSpPr/>
          <p:nvPr/>
        </p:nvSpPr>
        <p:spPr>
          <a:xfrm>
            <a:off x="1368189" y="2086498"/>
            <a:ext cx="8936220" cy="3539430"/>
          </a:xfrm>
          <a:prstGeom prst="rect">
            <a:avLst/>
          </a:prstGeom>
        </p:spPr>
        <p:txBody>
          <a:bodyPr wrap="square">
            <a:spAutoFit/>
          </a:bodyPr>
          <a:lstStyle/>
          <a:p>
            <a:pPr lvl="1">
              <a:lnSpc>
                <a:spcPct val="200000"/>
              </a:lnSpc>
            </a:pPr>
            <a:r>
              <a:rPr lang="zh-CN" altLang="en-US" sz="2800" b="1" dirty="0">
                <a:latin typeface="微软雅黑" panose="020B0503020204020204" pitchFamily="34" charset="-122"/>
                <a:ea typeface="微软雅黑" panose="020B0503020204020204" pitchFamily="34" charset="-122"/>
              </a:rPr>
              <a:t>无论是与计算机标准输入输出设备连接的标准接口还是与计算机非标准配置设备连接的专用接口统称为计算机的输入输出接口，简称</a:t>
            </a:r>
            <a:r>
              <a:rPr lang="en-US" altLang="zh-CN" sz="2800" b="1" dirty="0">
                <a:solidFill>
                  <a:srgbClr val="FF0000"/>
                </a:solidFill>
                <a:latin typeface="微软雅黑" panose="020B0503020204020204" pitchFamily="34" charset="-122"/>
                <a:ea typeface="微软雅黑" panose="020B0503020204020204" pitchFamily="34" charset="-122"/>
              </a:rPr>
              <a:t>I/O</a:t>
            </a:r>
            <a:r>
              <a:rPr lang="zh-CN" altLang="en-US" sz="2800" b="1" dirty="0">
                <a:solidFill>
                  <a:srgbClr val="FF0000"/>
                </a:solidFill>
                <a:latin typeface="微软雅黑" panose="020B0503020204020204" pitchFamily="34" charset="-122"/>
                <a:ea typeface="微软雅黑" panose="020B0503020204020204" pitchFamily="34" charset="-122"/>
              </a:rPr>
              <a:t>接口</a:t>
            </a:r>
            <a:r>
              <a:rPr lang="zh-CN" altLang="en-US" sz="2800" b="1" dirty="0">
                <a:latin typeface="微软雅黑" panose="020B0503020204020204" pitchFamily="34" charset="-122"/>
                <a:ea typeface="微软雅黑" panose="020B0503020204020204" pitchFamily="34" charset="-122"/>
              </a:rPr>
              <a:t>。 </a:t>
            </a:r>
          </a:p>
          <a:p>
            <a:pPr lvl="1">
              <a:lnSpc>
                <a:spcPct val="200000"/>
              </a:lnSpc>
            </a:pPr>
            <a:endParaRPr lang="zh-CN" altLang="en-US" sz="2800" b="1"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29919532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advTm="0">
        <p15:prstTrans prst="peelOff"/>
      </p:transition>
    </mc:Choice>
    <mc:Fallback xmlns="">
      <p:transition spd="slow" advTm="0">
        <p:fade/>
      </p:transition>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Rectangle 3"/>
          <p:cNvSpPr>
            <a:spLocks noGrp="1" noChangeArrowheads="1"/>
          </p:cNvSpPr>
          <p:nvPr>
            <p:ph type="body" idx="1"/>
          </p:nvPr>
        </p:nvSpPr>
        <p:spPr>
          <a:xfrm>
            <a:off x="1219200" y="442765"/>
            <a:ext cx="10972800" cy="838200"/>
          </a:xfrm>
        </p:spPr>
        <p:txBody>
          <a:bodyPr/>
          <a:lstStyle/>
          <a:p>
            <a:pPr marL="0" algn="just">
              <a:lnSpc>
                <a:spcPct val="90000"/>
              </a:lnSpc>
              <a:buNone/>
              <a:defRPr/>
            </a:pPr>
            <a:r>
              <a:rPr lang="en-US" altLang="zh-CN" sz="3200" b="1" kern="0" dirty="0">
                <a:solidFill>
                  <a:schemeClr val="tx1">
                    <a:lumMod val="75000"/>
                  </a:schemeClr>
                </a:solidFill>
                <a:latin typeface="微软雅黑" panose="020B0503020204020204" pitchFamily="34" charset="-122"/>
                <a:ea typeface="微软雅黑" panose="020B0503020204020204" pitchFamily="34" charset="-122"/>
              </a:rPr>
              <a:t>I/O</a:t>
            </a:r>
            <a:r>
              <a:rPr lang="zh-CN" altLang="en-US" sz="3200" b="1" kern="0" dirty="0">
                <a:solidFill>
                  <a:schemeClr val="tx1">
                    <a:lumMod val="75000"/>
                  </a:schemeClr>
                </a:solidFill>
                <a:latin typeface="微软雅黑" panose="020B0503020204020204" pitchFamily="34" charset="-122"/>
                <a:ea typeface="微软雅黑" panose="020B0503020204020204" pitchFamily="34" charset="-122"/>
              </a:rPr>
              <a:t>接口的组成</a:t>
            </a:r>
          </a:p>
        </p:txBody>
      </p:sp>
      <p:sp>
        <p:nvSpPr>
          <p:cNvPr id="20484" name="Rectangle 18"/>
          <p:cNvSpPr>
            <a:spLocks noChangeArrowheads="1"/>
          </p:cNvSpPr>
          <p:nvPr/>
        </p:nvSpPr>
        <p:spPr bwMode="auto">
          <a:xfrm>
            <a:off x="0" y="2592388"/>
            <a:ext cx="184731" cy="369332"/>
          </a:xfrm>
          <a:prstGeom prst="rect">
            <a:avLst/>
          </a:prstGeom>
          <a:noFill/>
          <a:ln w="9525">
            <a:noFill/>
            <a:miter lim="800000"/>
            <a:headEnd/>
            <a:tailEnd/>
          </a:ln>
        </p:spPr>
        <p:txBody>
          <a:bodyPr wrap="none" anchor="ctr">
            <a:spAutoFit/>
          </a:bodyPr>
          <a:lstStyle/>
          <a:p>
            <a:pPr eaLnBrk="1" hangingPunct="1"/>
            <a:endParaRPr lang="zh-CN" altLang="en-US"/>
          </a:p>
        </p:txBody>
      </p:sp>
      <p:graphicFrame>
        <p:nvGraphicFramePr>
          <p:cNvPr id="20485" name="Object 17"/>
          <p:cNvGraphicFramePr>
            <a:graphicFrameLocks noChangeAspect="1"/>
          </p:cNvGraphicFramePr>
          <p:nvPr>
            <p:extLst>
              <p:ext uri="{D42A27DB-BD31-4B8C-83A1-F6EECF244321}">
                <p14:modId xmlns:p14="http://schemas.microsoft.com/office/powerpoint/2010/main" val="877867790"/>
              </p:ext>
            </p:extLst>
          </p:nvPr>
        </p:nvGraphicFramePr>
        <p:xfrm>
          <a:off x="538446" y="1454724"/>
          <a:ext cx="11115589" cy="4482133"/>
        </p:xfrm>
        <a:graphic>
          <a:graphicData uri="http://schemas.openxmlformats.org/presentationml/2006/ole">
            <mc:AlternateContent xmlns:mc="http://schemas.openxmlformats.org/markup-compatibility/2006">
              <mc:Choice xmlns:v="urn:schemas-microsoft-com:vml" Requires="v">
                <p:oleObj spid="_x0000_s2079" name="Visio" r:id="rId3" imgW="4366870" imgH="1306982" progId="Visio.Drawing.11">
                  <p:embed/>
                </p:oleObj>
              </mc:Choice>
              <mc:Fallback>
                <p:oleObj name="Visio" r:id="rId3" imgW="4366870" imgH="1306982" progId="Visio.Drawing.11">
                  <p:embed/>
                  <p:pic>
                    <p:nvPicPr>
                      <p:cNvPr id="0" name="Object 1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8446" y="1454724"/>
                        <a:ext cx="11115589" cy="4482133"/>
                      </a:xfrm>
                      <a:prstGeom prst="rect">
                        <a:avLst/>
                      </a:prstGeom>
                      <a:noFill/>
                    </p:spPr>
                  </p:pic>
                </p:oleObj>
              </mc:Fallback>
            </mc:AlternateContent>
          </a:graphicData>
        </a:graphic>
      </p:graphicFrame>
      <p:grpSp>
        <p:nvGrpSpPr>
          <p:cNvPr id="6" name="组合 7"/>
          <p:cNvGrpSpPr/>
          <p:nvPr/>
        </p:nvGrpSpPr>
        <p:grpSpPr>
          <a:xfrm>
            <a:off x="538446" y="373162"/>
            <a:ext cx="438352" cy="621987"/>
            <a:chOff x="265635" y="269251"/>
            <a:chExt cx="438352" cy="621987"/>
          </a:xfrm>
        </p:grpSpPr>
        <p:sp>
          <p:nvSpPr>
            <p:cNvPr id="7" name="Freeform 5"/>
            <p:cNvSpPr>
              <a:spLocks/>
            </p:cNvSpPr>
            <p:nvPr/>
          </p:nvSpPr>
          <p:spPr bwMode="auto">
            <a:xfrm>
              <a:off x="269585" y="269251"/>
              <a:ext cx="262616" cy="266567"/>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EB0"/>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8" name="Freeform 6"/>
            <p:cNvSpPr>
              <a:spLocks/>
            </p:cNvSpPr>
            <p:nvPr/>
          </p:nvSpPr>
          <p:spPr bwMode="auto">
            <a:xfrm>
              <a:off x="441371" y="443010"/>
              <a:ext cx="262616" cy="268540"/>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EB0"/>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9" name="Freeform 7"/>
            <p:cNvSpPr>
              <a:spLocks/>
            </p:cNvSpPr>
            <p:nvPr/>
          </p:nvSpPr>
          <p:spPr bwMode="auto">
            <a:xfrm>
              <a:off x="265635" y="624671"/>
              <a:ext cx="260640" cy="266567"/>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EB0"/>
            </a:solidFill>
            <a:ln>
              <a:noFill/>
            </a:ln>
          </p:spPr>
          <p:txBody>
            <a:bodyPr vert="horz" wrap="square" lIns="91398" tIns="45699" rIns="91398" bIns="45699" numCol="1" anchor="t" anchorCtr="0" compatLnSpc="1">
              <a:prstTxWarp prst="textNoShape">
                <a:avLst/>
              </a:prstTxWarp>
            </a:bodyPr>
            <a:lstStyle/>
            <a:p>
              <a:endParaRPr lang="zh-CN" altLang="en-US" sz="1799"/>
            </a:p>
          </p:txBody>
        </p:sp>
      </p:gr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advTm="9222">
        <p15:prstTrans prst="peelOff"/>
      </p:transition>
    </mc:Choice>
    <mc:Fallback xmlns="">
      <p:transition spd="slow" advTm="9222">
        <p:fade/>
      </p:transition>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xfrm>
            <a:off x="1126068" y="13021"/>
            <a:ext cx="10515600" cy="1325563"/>
          </a:xfrm>
        </p:spPr>
        <p:txBody>
          <a:bodyPr/>
          <a:lstStyle/>
          <a:p>
            <a:pPr algn="just">
              <a:defRPr/>
            </a:pPr>
            <a:r>
              <a:rPr lang="zh-CN" altLang="en-US" sz="3200" b="1" kern="0" dirty="0">
                <a:solidFill>
                  <a:schemeClr val="tx1">
                    <a:lumMod val="75000"/>
                  </a:schemeClr>
                </a:solidFill>
                <a:latin typeface="微软雅黑" panose="020B0503020204020204" pitchFamily="34" charset="-122"/>
                <a:ea typeface="微软雅黑" panose="020B0503020204020204" pitchFamily="34" charset="-122"/>
                <a:cs typeface="+mn-cs"/>
              </a:rPr>
              <a:t>输入输出设备的编址与管理 </a:t>
            </a:r>
          </a:p>
        </p:txBody>
      </p:sp>
      <p:sp>
        <p:nvSpPr>
          <p:cNvPr id="21507" name="Rectangle 3"/>
          <p:cNvSpPr>
            <a:spLocks noGrp="1" noChangeArrowheads="1"/>
          </p:cNvSpPr>
          <p:nvPr>
            <p:ph type="body" idx="1"/>
          </p:nvPr>
        </p:nvSpPr>
        <p:spPr>
          <a:xfrm>
            <a:off x="1126068" y="1114771"/>
            <a:ext cx="11328400" cy="935037"/>
          </a:xfrm>
        </p:spPr>
        <p:txBody>
          <a:bodyPr/>
          <a:lstStyle/>
          <a:p>
            <a:pPr marL="0" indent="0" eaLnBrk="1" hangingPunct="1">
              <a:buNone/>
            </a:pPr>
            <a:r>
              <a:rPr lang="en-US" altLang="zh-CN" b="1" u="sng" dirty="0">
                <a:solidFill>
                  <a:srgbClr val="FF0000"/>
                </a:solidFill>
                <a:latin typeface="微软雅黑" panose="020B0503020204020204" pitchFamily="34" charset="-122"/>
                <a:ea typeface="微软雅黑" panose="020B0503020204020204" pitchFamily="34" charset="-122"/>
              </a:rPr>
              <a:t>I/O</a:t>
            </a:r>
            <a:r>
              <a:rPr lang="zh-CN" altLang="en-US" b="1" u="sng" dirty="0">
                <a:solidFill>
                  <a:srgbClr val="FF0000"/>
                </a:solidFill>
                <a:latin typeface="微软雅黑" panose="020B0503020204020204" pitchFamily="34" charset="-122"/>
                <a:ea typeface="微软雅黑" panose="020B0503020204020204" pitchFamily="34" charset="-122"/>
              </a:rPr>
              <a:t>端口</a:t>
            </a:r>
            <a:r>
              <a:rPr lang="zh-CN" altLang="en-US" b="1" dirty="0">
                <a:latin typeface="微软雅黑" panose="020B0503020204020204" pitchFamily="34" charset="-122"/>
                <a:ea typeface="微软雅黑" panose="020B0503020204020204" pitchFamily="34" charset="-122"/>
              </a:rPr>
              <a:t>：外围设备中可供</a:t>
            </a:r>
            <a:r>
              <a:rPr lang="en-US" altLang="zh-CN" b="1" dirty="0">
                <a:latin typeface="微软雅黑" panose="020B0503020204020204" pitchFamily="34" charset="-122"/>
                <a:ea typeface="微软雅黑" panose="020B0503020204020204" pitchFamily="34" charset="-122"/>
              </a:rPr>
              <a:t>CPU</a:t>
            </a:r>
            <a:r>
              <a:rPr lang="zh-CN" altLang="en-US" b="1" dirty="0">
                <a:latin typeface="微软雅黑" panose="020B0503020204020204" pitchFamily="34" charset="-122"/>
                <a:ea typeface="微软雅黑" panose="020B0503020204020204" pitchFamily="34" charset="-122"/>
              </a:rPr>
              <a:t>访问的寄存器。</a:t>
            </a:r>
          </a:p>
        </p:txBody>
      </p:sp>
      <p:graphicFrame>
        <p:nvGraphicFramePr>
          <p:cNvPr id="21508" name="Object 17"/>
          <p:cNvGraphicFramePr>
            <a:graphicFrameLocks noChangeAspect="1"/>
          </p:cNvGraphicFramePr>
          <p:nvPr>
            <p:extLst>
              <p:ext uri="{D42A27DB-BD31-4B8C-83A1-F6EECF244321}">
                <p14:modId xmlns:p14="http://schemas.microsoft.com/office/powerpoint/2010/main" val="1205262969"/>
              </p:ext>
            </p:extLst>
          </p:nvPr>
        </p:nvGraphicFramePr>
        <p:xfrm>
          <a:off x="839575" y="1911823"/>
          <a:ext cx="10272183" cy="3816589"/>
        </p:xfrm>
        <a:graphic>
          <a:graphicData uri="http://schemas.openxmlformats.org/presentationml/2006/ole">
            <mc:AlternateContent xmlns:mc="http://schemas.openxmlformats.org/markup-compatibility/2006">
              <mc:Choice xmlns:v="urn:schemas-microsoft-com:vml" Requires="v">
                <p:oleObj spid="_x0000_s3103" name="Visio" r:id="rId3" imgW="4366867" imgH="1306804" progId="Visio.Drawing.11">
                  <p:embed/>
                </p:oleObj>
              </mc:Choice>
              <mc:Fallback>
                <p:oleObj name="Visio" r:id="rId3" imgW="4366867" imgH="1306804" progId="Visio.Drawing.11">
                  <p:embed/>
                  <p:pic>
                    <p:nvPicPr>
                      <p:cNvPr id="0" name="Object 1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39575" y="1911823"/>
                        <a:ext cx="10272183" cy="3816589"/>
                      </a:xfrm>
                      <a:prstGeom prst="rect">
                        <a:avLst/>
                      </a:prstGeom>
                      <a:noFill/>
                    </p:spPr>
                  </p:pic>
                </p:oleObj>
              </mc:Fallback>
            </mc:AlternateContent>
          </a:graphicData>
        </a:graphic>
      </p:graphicFrame>
      <p:sp>
        <p:nvSpPr>
          <p:cNvPr id="2" name="右箭头 1"/>
          <p:cNvSpPr/>
          <p:nvPr/>
        </p:nvSpPr>
        <p:spPr>
          <a:xfrm rot="16200000">
            <a:off x="5674835" y="6034132"/>
            <a:ext cx="792163" cy="190500"/>
          </a:xfrm>
          <a:prstGeom prst="right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6" name="组合 7"/>
          <p:cNvGrpSpPr/>
          <p:nvPr/>
        </p:nvGrpSpPr>
        <p:grpSpPr>
          <a:xfrm>
            <a:off x="401223" y="367774"/>
            <a:ext cx="438352" cy="621987"/>
            <a:chOff x="265635" y="269251"/>
            <a:chExt cx="438352" cy="621987"/>
          </a:xfrm>
        </p:grpSpPr>
        <p:sp>
          <p:nvSpPr>
            <p:cNvPr id="7" name="Freeform 5"/>
            <p:cNvSpPr>
              <a:spLocks/>
            </p:cNvSpPr>
            <p:nvPr/>
          </p:nvSpPr>
          <p:spPr bwMode="auto">
            <a:xfrm>
              <a:off x="269585" y="269251"/>
              <a:ext cx="262616" cy="266567"/>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EB0"/>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8" name="Freeform 6"/>
            <p:cNvSpPr>
              <a:spLocks/>
            </p:cNvSpPr>
            <p:nvPr/>
          </p:nvSpPr>
          <p:spPr bwMode="auto">
            <a:xfrm>
              <a:off x="441371" y="443010"/>
              <a:ext cx="262616" cy="268540"/>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EB0"/>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9" name="Freeform 7"/>
            <p:cNvSpPr>
              <a:spLocks/>
            </p:cNvSpPr>
            <p:nvPr/>
          </p:nvSpPr>
          <p:spPr bwMode="auto">
            <a:xfrm>
              <a:off x="265635" y="624671"/>
              <a:ext cx="260640" cy="266567"/>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EB0"/>
            </a:solidFill>
            <a:ln>
              <a:noFill/>
            </a:ln>
          </p:spPr>
          <p:txBody>
            <a:bodyPr vert="horz" wrap="square" lIns="91398" tIns="45699" rIns="91398" bIns="45699" numCol="1" anchor="t" anchorCtr="0" compatLnSpc="1">
              <a:prstTxWarp prst="textNoShape">
                <a:avLst/>
              </a:prstTxWarp>
            </a:bodyPr>
            <a:lstStyle/>
            <a:p>
              <a:endParaRPr lang="zh-CN" altLang="en-US" sz="1799"/>
            </a:p>
          </p:txBody>
        </p:sp>
      </p:gr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advTm="9222">
        <p15:prstTrans prst="peelOff"/>
      </p:transition>
    </mc:Choice>
    <mc:Fallback xmlns="">
      <p:transition spd="slow" advTm="9222">
        <p:fade/>
      </p:transition>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descr="E:\我的文档\商务图片\19147185_150127007000_2.jpg"/>
          <p:cNvPicPr>
            <a:picLocks noChangeAspect="1" noChangeArrowheads="1"/>
          </p:cNvPicPr>
          <p:nvPr/>
        </p:nvPicPr>
        <p:blipFill rotWithShape="1">
          <a:blip r:embed="rId3" cstate="screen">
            <a:extLst>
              <a:ext uri="{28A0092B-C50C-407E-A947-70E740481C1C}">
                <a14:useLocalDpi xmlns:a14="http://schemas.microsoft.com/office/drawing/2010/main"/>
              </a:ext>
            </a:extLst>
          </a:blip>
          <a:srcRect/>
          <a:stretch/>
        </p:blipFill>
        <p:spPr bwMode="auto">
          <a:xfrm>
            <a:off x="1044426" y="3666022"/>
            <a:ext cx="5022365" cy="2821733"/>
          </a:xfrm>
          <a:prstGeom prst="rect">
            <a:avLst/>
          </a:prstGeom>
          <a:noFill/>
          <a:ln>
            <a:solidFill>
              <a:schemeClr val="accent1">
                <a:lumMod val="40000"/>
                <a:lumOff val="60000"/>
              </a:schemeClr>
            </a:solidFill>
          </a:ln>
          <a:extLst>
            <a:ext uri="{909E8E84-426E-40DD-AFC4-6F175D3DCCD1}">
              <a14:hiddenFill xmlns:a14="http://schemas.microsoft.com/office/drawing/2010/main">
                <a:solidFill>
                  <a:srgbClr val="FFFFFF"/>
                </a:solidFill>
              </a14:hiddenFill>
            </a:ext>
          </a:extLst>
        </p:spPr>
      </p:pic>
      <p:pic>
        <p:nvPicPr>
          <p:cNvPr id="5123" name="Picture 3" descr="E:\我的文档\商务图片\Nipic_1082507_20091207090526024812.jpg"/>
          <p:cNvPicPr>
            <a:picLocks noChangeAspect="1" noChangeArrowheads="1"/>
          </p:cNvPicPr>
          <p:nvPr/>
        </p:nvPicPr>
        <p:blipFill rotWithShape="1">
          <a:blip r:embed="rId4" cstate="screen">
            <a:extLst>
              <a:ext uri="{28A0092B-C50C-407E-A947-70E740481C1C}">
                <a14:useLocalDpi xmlns:a14="http://schemas.microsoft.com/office/drawing/2010/main"/>
              </a:ext>
            </a:extLst>
          </a:blip>
          <a:srcRect/>
          <a:stretch/>
        </p:blipFill>
        <p:spPr bwMode="auto">
          <a:xfrm>
            <a:off x="6228894" y="3661058"/>
            <a:ext cx="5110573" cy="2826697"/>
          </a:xfrm>
          <a:prstGeom prst="rect">
            <a:avLst/>
          </a:prstGeom>
          <a:noFill/>
          <a:ln>
            <a:solidFill>
              <a:schemeClr val="accent1">
                <a:lumMod val="40000"/>
                <a:lumOff val="60000"/>
              </a:schemeClr>
            </a:solidFill>
          </a:ln>
          <a:extLst>
            <a:ext uri="{909E8E84-426E-40DD-AFC4-6F175D3DCCD1}">
              <a14:hiddenFill xmlns:a14="http://schemas.microsoft.com/office/drawing/2010/main">
                <a:solidFill>
                  <a:srgbClr val="FFFFFF"/>
                </a:solidFill>
              </a14:hiddenFill>
            </a:ext>
          </a:extLst>
        </p:spPr>
      </p:pic>
      <p:sp>
        <p:nvSpPr>
          <p:cNvPr id="8" name="矩形 83"/>
          <p:cNvSpPr>
            <a:spLocks noChangeArrowheads="1"/>
          </p:cNvSpPr>
          <p:nvPr/>
        </p:nvSpPr>
        <p:spPr bwMode="auto">
          <a:xfrm>
            <a:off x="1045556" y="696036"/>
            <a:ext cx="10222393" cy="2709978"/>
          </a:xfrm>
          <a:prstGeom prst="rect">
            <a:avLst/>
          </a:prstGeom>
          <a:solidFill>
            <a:srgbClr val="F2F2F2"/>
          </a:solidFill>
          <a:ln w="9525" cmpd="sng">
            <a:solidFill>
              <a:schemeClr val="accent1"/>
            </a:solidFill>
            <a:miter lim="800000"/>
            <a:headEnd/>
            <a:tailEnd/>
          </a:ln>
        </p:spPr>
        <p:txBody>
          <a:bodyPr lIns="91398" tIns="45699" rIns="91398" bIns="45699"/>
          <a:lstStyle/>
          <a:p>
            <a:endParaRPr lang="zh-CN" altLang="en-US" sz="1799"/>
          </a:p>
        </p:txBody>
      </p:sp>
      <p:sp>
        <p:nvSpPr>
          <p:cNvPr id="10" name="Freeform 12"/>
          <p:cNvSpPr>
            <a:spLocks/>
          </p:cNvSpPr>
          <p:nvPr/>
        </p:nvSpPr>
        <p:spPr bwMode="auto">
          <a:xfrm>
            <a:off x="930026" y="576251"/>
            <a:ext cx="528432" cy="530018"/>
          </a:xfrm>
          <a:custGeom>
            <a:avLst/>
            <a:gdLst>
              <a:gd name="T0" fmla="*/ 0 w 1446"/>
              <a:gd name="T1" fmla="*/ 0 h 1446"/>
              <a:gd name="T2" fmla="*/ 1446 w 1446"/>
              <a:gd name="T3" fmla="*/ 0 h 1446"/>
              <a:gd name="T4" fmla="*/ 1446 w 1446"/>
              <a:gd name="T5" fmla="*/ 458 h 1446"/>
              <a:gd name="T6" fmla="*/ 438 w 1446"/>
              <a:gd name="T7" fmla="*/ 458 h 1446"/>
              <a:gd name="T8" fmla="*/ 438 w 1446"/>
              <a:gd name="T9" fmla="*/ 1446 h 1446"/>
              <a:gd name="T10" fmla="*/ 0 w 1446"/>
              <a:gd name="T11" fmla="*/ 1446 h 1446"/>
              <a:gd name="T12" fmla="*/ 0 w 1446"/>
              <a:gd name="T13" fmla="*/ 0 h 1446"/>
            </a:gdLst>
            <a:ahLst/>
            <a:cxnLst>
              <a:cxn ang="0">
                <a:pos x="T0" y="T1"/>
              </a:cxn>
              <a:cxn ang="0">
                <a:pos x="T2" y="T3"/>
              </a:cxn>
              <a:cxn ang="0">
                <a:pos x="T4" y="T5"/>
              </a:cxn>
              <a:cxn ang="0">
                <a:pos x="T6" y="T7"/>
              </a:cxn>
              <a:cxn ang="0">
                <a:pos x="T8" y="T9"/>
              </a:cxn>
              <a:cxn ang="0">
                <a:pos x="T10" y="T11"/>
              </a:cxn>
              <a:cxn ang="0">
                <a:pos x="T12" y="T13"/>
              </a:cxn>
            </a:cxnLst>
            <a:rect l="0" t="0" r="r" b="b"/>
            <a:pathLst>
              <a:path w="1446" h="1446">
                <a:moveTo>
                  <a:pt x="0" y="0"/>
                </a:moveTo>
                <a:lnTo>
                  <a:pt x="1446" y="0"/>
                </a:lnTo>
                <a:lnTo>
                  <a:pt x="1446" y="458"/>
                </a:lnTo>
                <a:lnTo>
                  <a:pt x="438" y="458"/>
                </a:lnTo>
                <a:lnTo>
                  <a:pt x="438" y="1446"/>
                </a:lnTo>
                <a:lnTo>
                  <a:pt x="0" y="1446"/>
                </a:lnTo>
                <a:lnTo>
                  <a:pt x="0" y="0"/>
                </a:lnTo>
                <a:close/>
              </a:path>
            </a:pathLst>
          </a:custGeom>
          <a:solidFill>
            <a:srgbClr val="04BEB0"/>
          </a:solidFill>
          <a:ln>
            <a:noFill/>
          </a:ln>
          <a:extLst/>
        </p:spPr>
        <p:txBody>
          <a:bodyPr lIns="91398" tIns="45699" rIns="91398" bIns="45699"/>
          <a:lstStyle/>
          <a:p>
            <a:endParaRPr lang="zh-CN" altLang="en-US" sz="1799"/>
          </a:p>
        </p:txBody>
      </p:sp>
      <p:sp>
        <p:nvSpPr>
          <p:cNvPr id="11" name="Freeform 12"/>
          <p:cNvSpPr>
            <a:spLocks/>
          </p:cNvSpPr>
          <p:nvPr/>
        </p:nvSpPr>
        <p:spPr bwMode="auto">
          <a:xfrm flipH="1" flipV="1">
            <a:off x="10811033" y="2944796"/>
            <a:ext cx="528432" cy="530018"/>
          </a:xfrm>
          <a:custGeom>
            <a:avLst/>
            <a:gdLst>
              <a:gd name="T0" fmla="*/ 0 w 1446"/>
              <a:gd name="T1" fmla="*/ 0 h 1446"/>
              <a:gd name="T2" fmla="*/ 1446 w 1446"/>
              <a:gd name="T3" fmla="*/ 0 h 1446"/>
              <a:gd name="T4" fmla="*/ 1446 w 1446"/>
              <a:gd name="T5" fmla="*/ 458 h 1446"/>
              <a:gd name="T6" fmla="*/ 438 w 1446"/>
              <a:gd name="T7" fmla="*/ 458 h 1446"/>
              <a:gd name="T8" fmla="*/ 438 w 1446"/>
              <a:gd name="T9" fmla="*/ 1446 h 1446"/>
              <a:gd name="T10" fmla="*/ 0 w 1446"/>
              <a:gd name="T11" fmla="*/ 1446 h 1446"/>
              <a:gd name="T12" fmla="*/ 0 w 1446"/>
              <a:gd name="T13" fmla="*/ 0 h 1446"/>
            </a:gdLst>
            <a:ahLst/>
            <a:cxnLst>
              <a:cxn ang="0">
                <a:pos x="T0" y="T1"/>
              </a:cxn>
              <a:cxn ang="0">
                <a:pos x="T2" y="T3"/>
              </a:cxn>
              <a:cxn ang="0">
                <a:pos x="T4" y="T5"/>
              </a:cxn>
              <a:cxn ang="0">
                <a:pos x="T6" y="T7"/>
              </a:cxn>
              <a:cxn ang="0">
                <a:pos x="T8" y="T9"/>
              </a:cxn>
              <a:cxn ang="0">
                <a:pos x="T10" y="T11"/>
              </a:cxn>
              <a:cxn ang="0">
                <a:pos x="T12" y="T13"/>
              </a:cxn>
            </a:cxnLst>
            <a:rect l="0" t="0" r="r" b="b"/>
            <a:pathLst>
              <a:path w="1446" h="1446">
                <a:moveTo>
                  <a:pt x="0" y="0"/>
                </a:moveTo>
                <a:lnTo>
                  <a:pt x="1446" y="0"/>
                </a:lnTo>
                <a:lnTo>
                  <a:pt x="1446" y="458"/>
                </a:lnTo>
                <a:lnTo>
                  <a:pt x="438" y="458"/>
                </a:lnTo>
                <a:lnTo>
                  <a:pt x="438" y="1446"/>
                </a:lnTo>
                <a:lnTo>
                  <a:pt x="0" y="1446"/>
                </a:lnTo>
                <a:lnTo>
                  <a:pt x="0" y="0"/>
                </a:lnTo>
                <a:close/>
              </a:path>
            </a:pathLst>
          </a:custGeom>
          <a:solidFill>
            <a:schemeClr val="bg2"/>
          </a:solidFill>
          <a:ln>
            <a:noFill/>
          </a:ln>
          <a:extLst>
            <a:ext uri="{91240B29-F687-4F45-9708-019B960494DF}">
              <a14:hiddenLine xmlns:a14="http://schemas.microsoft.com/office/drawing/2010/main" w="9525">
                <a:solidFill>
                  <a:srgbClr val="000000"/>
                </a:solidFill>
                <a:round/>
                <a:headEnd/>
                <a:tailEnd/>
              </a14:hiddenLine>
            </a:ext>
          </a:extLst>
        </p:spPr>
        <p:txBody>
          <a:bodyPr lIns="91398" tIns="45699" rIns="91398" bIns="45699"/>
          <a:lstStyle/>
          <a:p>
            <a:endParaRPr lang="zh-CN" altLang="en-US" sz="1799"/>
          </a:p>
        </p:txBody>
      </p:sp>
      <p:sp>
        <p:nvSpPr>
          <p:cNvPr id="12" name="TextBox 26"/>
          <p:cNvSpPr txBox="1"/>
          <p:nvPr/>
        </p:nvSpPr>
        <p:spPr>
          <a:xfrm>
            <a:off x="14146653" y="8510121"/>
            <a:ext cx="1107996" cy="461665"/>
          </a:xfrm>
          <a:prstGeom prst="rect">
            <a:avLst/>
          </a:prstGeom>
          <a:noFill/>
        </p:spPr>
        <p:txBody>
          <a:bodyPr wrap="none" rtlCol="0">
            <a:spAutoFit/>
          </a:bodyPr>
          <a:lstStyle/>
          <a:p>
            <a:r>
              <a:rPr lang="zh-CN" altLang="en-US" sz="2400" dirty="0"/>
              <a:t>延时符</a:t>
            </a:r>
          </a:p>
        </p:txBody>
      </p:sp>
      <p:sp>
        <p:nvSpPr>
          <p:cNvPr id="14" name="Rectangle 3"/>
          <p:cNvSpPr txBox="1">
            <a:spLocks noChangeArrowheads="1"/>
          </p:cNvSpPr>
          <p:nvPr/>
        </p:nvSpPr>
        <p:spPr>
          <a:xfrm>
            <a:off x="1125477" y="676657"/>
            <a:ext cx="9766608" cy="144851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buFont typeface="Arial" panose="020B0604020202020204" pitchFamily="34" charset="0"/>
              <a:buNone/>
            </a:pPr>
            <a:r>
              <a:rPr lang="zh-CN" altLang="en-US" b="1" dirty="0">
                <a:latin typeface="微软雅黑" panose="020B0503020204020204" pitchFamily="34" charset="-122"/>
                <a:ea typeface="微软雅黑" panose="020B0503020204020204" pitchFamily="34" charset="-122"/>
              </a:rPr>
              <a:t>         每一个</a:t>
            </a:r>
            <a:r>
              <a:rPr lang="en-US" altLang="zh-CN" b="1" dirty="0">
                <a:latin typeface="微软雅黑" panose="020B0503020204020204" pitchFamily="34" charset="-122"/>
                <a:ea typeface="微软雅黑" panose="020B0503020204020204" pitchFamily="34" charset="-122"/>
              </a:rPr>
              <a:t>I/O</a:t>
            </a:r>
            <a:r>
              <a:rPr lang="zh-CN" altLang="en-US" b="1" dirty="0">
                <a:latin typeface="微软雅黑" panose="020B0503020204020204" pitchFamily="34" charset="-122"/>
                <a:ea typeface="微软雅黑" panose="020B0503020204020204" pitchFamily="34" charset="-122"/>
              </a:rPr>
              <a:t>端口都被分配一个可供</a:t>
            </a:r>
            <a:r>
              <a:rPr lang="en-US" altLang="zh-CN" b="1" dirty="0">
                <a:latin typeface="微软雅黑" panose="020B0503020204020204" pitchFamily="34" charset="-122"/>
                <a:ea typeface="微软雅黑" panose="020B0503020204020204" pitchFamily="34" charset="-122"/>
              </a:rPr>
              <a:t>CPU</a:t>
            </a:r>
            <a:r>
              <a:rPr lang="zh-CN" altLang="en-US" b="1" dirty="0">
                <a:latin typeface="微软雅黑" panose="020B0503020204020204" pitchFamily="34" charset="-122"/>
                <a:ea typeface="微软雅黑" panose="020B0503020204020204" pitchFamily="34" charset="-122"/>
              </a:rPr>
              <a:t>访问的地址，称为</a:t>
            </a:r>
            <a:r>
              <a:rPr lang="en-US" altLang="zh-CN" b="1" u="sng" dirty="0">
                <a:solidFill>
                  <a:srgbClr val="FF0000"/>
                </a:solidFill>
                <a:latin typeface="微软雅黑" panose="020B0503020204020204" pitchFamily="34" charset="-122"/>
                <a:ea typeface="微软雅黑" panose="020B0503020204020204" pitchFamily="34" charset="-122"/>
              </a:rPr>
              <a:t>I/O</a:t>
            </a:r>
            <a:r>
              <a:rPr lang="zh-CN" altLang="en-US" b="1" u="sng" dirty="0">
                <a:solidFill>
                  <a:srgbClr val="FF0000"/>
                </a:solidFill>
                <a:latin typeface="微软雅黑" panose="020B0503020204020204" pitchFamily="34" charset="-122"/>
                <a:ea typeface="微软雅黑" panose="020B0503020204020204" pitchFamily="34" charset="-122"/>
              </a:rPr>
              <a:t>地址</a:t>
            </a:r>
            <a:r>
              <a:rPr lang="zh-CN" altLang="en-US" b="1" dirty="0">
                <a:latin typeface="微软雅黑" panose="020B0503020204020204" pitchFamily="34" charset="-122"/>
                <a:ea typeface="微软雅黑" panose="020B0503020204020204" pitchFamily="34" charset="-122"/>
              </a:rPr>
              <a:t>或</a:t>
            </a:r>
            <a:r>
              <a:rPr lang="en-US" altLang="zh-CN" b="1" u="sng" dirty="0">
                <a:solidFill>
                  <a:srgbClr val="FF0000"/>
                </a:solidFill>
                <a:latin typeface="微软雅黑" panose="020B0503020204020204" pitchFamily="34" charset="-122"/>
                <a:ea typeface="微软雅黑" panose="020B0503020204020204" pitchFamily="34" charset="-122"/>
              </a:rPr>
              <a:t>I/O</a:t>
            </a:r>
            <a:r>
              <a:rPr lang="zh-CN" altLang="en-US" b="1" u="sng" dirty="0">
                <a:solidFill>
                  <a:srgbClr val="FF0000"/>
                </a:solidFill>
                <a:latin typeface="微软雅黑" panose="020B0503020204020204" pitchFamily="34" charset="-122"/>
                <a:ea typeface="微软雅黑" panose="020B0503020204020204" pitchFamily="34" charset="-122"/>
              </a:rPr>
              <a:t>端口号</a:t>
            </a:r>
            <a:r>
              <a:rPr lang="zh-CN" altLang="en-US" b="1" dirty="0">
                <a:latin typeface="微软雅黑" panose="020B0503020204020204" pitchFamily="34" charset="-122"/>
                <a:ea typeface="微软雅黑" panose="020B0503020204020204" pitchFamily="34" charset="-122"/>
              </a:rPr>
              <a:t>。</a:t>
            </a:r>
            <a:endParaRPr lang="en-US" altLang="zh-CN" b="1" dirty="0">
              <a:latin typeface="微软雅黑" panose="020B0503020204020204" pitchFamily="34" charset="-122"/>
              <a:ea typeface="微软雅黑" panose="020B0503020204020204" pitchFamily="34" charset="-122"/>
            </a:endParaRPr>
          </a:p>
          <a:p>
            <a:pPr marL="0" lvl="1">
              <a:lnSpc>
                <a:spcPct val="150000"/>
              </a:lnSpc>
              <a:buFont typeface="Arial" panose="020B0604020202020204" pitchFamily="34" charset="0"/>
              <a:buNone/>
            </a:pPr>
            <a:endParaRPr lang="en-US" altLang="zh-CN" sz="2800" b="1" dirty="0">
              <a:latin typeface="微软雅黑" panose="020B0503020204020204" pitchFamily="34" charset="-122"/>
              <a:ea typeface="微软雅黑" panose="020B0503020204020204" pitchFamily="34" charset="-122"/>
            </a:endParaRPr>
          </a:p>
          <a:p>
            <a:pPr marL="0" lvl="1">
              <a:lnSpc>
                <a:spcPct val="150000"/>
              </a:lnSpc>
              <a:buFont typeface="Arial" panose="020B0604020202020204" pitchFamily="34" charset="0"/>
              <a:buNone/>
            </a:pPr>
            <a:endParaRPr lang="en-US" altLang="zh-CN" sz="2800" b="1" dirty="0">
              <a:latin typeface="微软雅黑" panose="020B0503020204020204" pitchFamily="34" charset="-122"/>
              <a:ea typeface="微软雅黑" panose="020B0503020204020204" pitchFamily="34" charset="-122"/>
            </a:endParaRPr>
          </a:p>
          <a:p>
            <a:pPr marL="0" lvl="1">
              <a:lnSpc>
                <a:spcPct val="150000"/>
              </a:lnSpc>
              <a:buFont typeface="Arial" panose="020B0604020202020204" pitchFamily="34" charset="0"/>
              <a:buNone/>
            </a:pPr>
            <a:endParaRPr lang="zh-CN" altLang="en-US" sz="2800" b="1" dirty="0">
              <a:latin typeface="微软雅黑" panose="020B0503020204020204" pitchFamily="34" charset="-122"/>
              <a:ea typeface="微软雅黑" panose="020B0503020204020204" pitchFamily="34" charset="-122"/>
            </a:endParaRPr>
          </a:p>
          <a:p>
            <a:pPr marL="0" indent="0">
              <a:lnSpc>
                <a:spcPct val="150000"/>
              </a:lnSpc>
              <a:buFont typeface="Arial" panose="020B0604020202020204" pitchFamily="34" charset="0"/>
              <a:buNone/>
            </a:pPr>
            <a:endParaRPr lang="en-US" altLang="zh-CN" b="1" dirty="0">
              <a:latin typeface="微软雅黑" panose="020B0503020204020204" pitchFamily="34" charset="-122"/>
              <a:ea typeface="微软雅黑" panose="020B0503020204020204" pitchFamily="34" charset="-122"/>
            </a:endParaRPr>
          </a:p>
          <a:p>
            <a:pPr marL="0" indent="0">
              <a:lnSpc>
                <a:spcPct val="150000"/>
              </a:lnSpc>
              <a:buFont typeface="Arial" panose="020B0604020202020204" pitchFamily="34" charset="0"/>
              <a:buNone/>
            </a:pPr>
            <a:endParaRPr lang="en-US" altLang="zh-CN" b="1" dirty="0">
              <a:latin typeface="微软雅黑" panose="020B0503020204020204" pitchFamily="34" charset="-122"/>
              <a:ea typeface="微软雅黑" panose="020B0503020204020204" pitchFamily="34" charset="-122"/>
            </a:endParaRPr>
          </a:p>
        </p:txBody>
      </p:sp>
      <p:sp>
        <p:nvSpPr>
          <p:cNvPr id="15" name="矩形 14"/>
          <p:cNvSpPr/>
          <p:nvPr/>
        </p:nvSpPr>
        <p:spPr>
          <a:xfrm>
            <a:off x="1351695" y="2051025"/>
            <a:ext cx="9829647" cy="5909310"/>
          </a:xfrm>
          <a:prstGeom prst="rect">
            <a:avLst/>
          </a:prstGeom>
        </p:spPr>
        <p:txBody>
          <a:bodyPr wrap="square">
            <a:spAutoFit/>
          </a:bodyPr>
          <a:lstStyle/>
          <a:p>
            <a:pPr marL="0" lvl="1">
              <a:lnSpc>
                <a:spcPct val="150000"/>
              </a:lnSpc>
            </a:pPr>
            <a:r>
              <a:rPr lang="zh-CN" altLang="en-US" sz="2800" b="1" dirty="0">
                <a:latin typeface="微软雅黑" panose="020B0503020204020204" pitchFamily="34" charset="-122"/>
                <a:ea typeface="微软雅黑" panose="020B0503020204020204" pitchFamily="34" charset="-122"/>
              </a:rPr>
              <a:t>      </a:t>
            </a:r>
            <a:r>
              <a:rPr lang="en-US" altLang="zh-CN" sz="2800" b="1" dirty="0">
                <a:latin typeface="微软雅黑" panose="020B0503020204020204" pitchFamily="34" charset="-122"/>
                <a:ea typeface="微软雅黑" panose="020B0503020204020204" pitchFamily="34" charset="-122"/>
              </a:rPr>
              <a:t>CPU</a:t>
            </a:r>
            <a:r>
              <a:rPr lang="zh-CN" altLang="en-US" sz="2800" b="1" dirty="0">
                <a:latin typeface="微软雅黑" panose="020B0503020204020204" pitchFamily="34" charset="-122"/>
                <a:ea typeface="微软雅黑" panose="020B0503020204020204" pitchFamily="34" charset="-122"/>
              </a:rPr>
              <a:t>通过给出</a:t>
            </a:r>
            <a:r>
              <a:rPr lang="en-US" altLang="zh-CN" sz="2800" b="1" dirty="0">
                <a:latin typeface="微软雅黑" panose="020B0503020204020204" pitchFamily="34" charset="-122"/>
                <a:ea typeface="微软雅黑" panose="020B0503020204020204" pitchFamily="34" charset="-122"/>
              </a:rPr>
              <a:t>I/O</a:t>
            </a:r>
            <a:r>
              <a:rPr lang="zh-CN" altLang="en-US" sz="2800" b="1" dirty="0">
                <a:latin typeface="微软雅黑" panose="020B0503020204020204" pitchFamily="34" charset="-122"/>
                <a:ea typeface="微软雅黑" panose="020B0503020204020204" pitchFamily="34" charset="-122"/>
              </a:rPr>
              <a:t>端口地址访问相应的</a:t>
            </a:r>
            <a:r>
              <a:rPr lang="en-US" altLang="zh-CN" sz="2800" b="1" dirty="0">
                <a:latin typeface="微软雅黑" panose="020B0503020204020204" pitchFamily="34" charset="-122"/>
                <a:ea typeface="微软雅黑" panose="020B0503020204020204" pitchFamily="34" charset="-122"/>
              </a:rPr>
              <a:t>I/O</a:t>
            </a:r>
            <a:r>
              <a:rPr lang="zh-CN" altLang="en-US" sz="2800" b="1" dirty="0">
                <a:latin typeface="微软雅黑" panose="020B0503020204020204" pitchFamily="34" charset="-122"/>
                <a:ea typeface="微软雅黑" panose="020B0503020204020204" pitchFamily="34" charset="-122"/>
              </a:rPr>
              <a:t>端口，也即访问相应的设备。 </a:t>
            </a:r>
          </a:p>
          <a:p>
            <a:pPr marL="0" lvl="1">
              <a:lnSpc>
                <a:spcPct val="150000"/>
              </a:lnSpc>
            </a:pPr>
            <a:endParaRPr lang="zh-CN" altLang="en-US" sz="2800" b="1" dirty="0">
              <a:latin typeface="微软雅黑" panose="020B0503020204020204" pitchFamily="34" charset="-122"/>
              <a:ea typeface="微软雅黑" panose="020B0503020204020204" pitchFamily="34" charset="-122"/>
            </a:endParaRPr>
          </a:p>
          <a:p>
            <a:pPr marL="0" lvl="1">
              <a:lnSpc>
                <a:spcPct val="150000"/>
              </a:lnSpc>
            </a:pPr>
            <a:endParaRPr lang="zh-CN" altLang="en-US" sz="2800" b="1" dirty="0">
              <a:latin typeface="微软雅黑" panose="020B0503020204020204" pitchFamily="34" charset="-122"/>
              <a:ea typeface="微软雅黑" panose="020B0503020204020204" pitchFamily="34" charset="-122"/>
            </a:endParaRPr>
          </a:p>
          <a:p>
            <a:pPr marL="0" lvl="1">
              <a:lnSpc>
                <a:spcPct val="150000"/>
              </a:lnSpc>
            </a:pPr>
            <a:endParaRPr lang="zh-CN" altLang="en-US" sz="2800" b="1" dirty="0">
              <a:latin typeface="微软雅黑" panose="020B0503020204020204" pitchFamily="34" charset="-122"/>
              <a:ea typeface="微软雅黑" panose="020B0503020204020204" pitchFamily="34" charset="-122"/>
            </a:endParaRPr>
          </a:p>
          <a:p>
            <a:pPr marL="0" lvl="1">
              <a:lnSpc>
                <a:spcPct val="150000"/>
              </a:lnSpc>
            </a:pPr>
            <a:endParaRPr lang="zh-CN" altLang="en-US" sz="2800" b="1" dirty="0">
              <a:latin typeface="微软雅黑" panose="020B0503020204020204" pitchFamily="34" charset="-122"/>
              <a:ea typeface="微软雅黑" panose="020B0503020204020204" pitchFamily="34" charset="-122"/>
            </a:endParaRPr>
          </a:p>
          <a:p>
            <a:pPr marL="0" lvl="1">
              <a:lnSpc>
                <a:spcPct val="150000"/>
              </a:lnSpc>
            </a:pPr>
            <a:endParaRPr lang="zh-CN" altLang="en-US" sz="2800" b="1" dirty="0">
              <a:latin typeface="微软雅黑" panose="020B0503020204020204" pitchFamily="34" charset="-122"/>
              <a:ea typeface="微软雅黑" panose="020B0503020204020204" pitchFamily="34" charset="-122"/>
            </a:endParaRPr>
          </a:p>
          <a:p>
            <a:pPr marL="0" lvl="1">
              <a:lnSpc>
                <a:spcPct val="150000"/>
              </a:lnSpc>
            </a:pPr>
            <a:endParaRPr lang="zh-CN" altLang="en-US" sz="2800" b="1" dirty="0">
              <a:latin typeface="微软雅黑" panose="020B0503020204020204" pitchFamily="34" charset="-122"/>
              <a:ea typeface="微软雅黑" panose="020B0503020204020204" pitchFamily="34" charset="-122"/>
            </a:endParaRPr>
          </a:p>
          <a:p>
            <a:pPr>
              <a:lnSpc>
                <a:spcPct val="150000"/>
              </a:lnSpc>
            </a:pPr>
            <a:endParaRPr lang="zh-CN" altLang="en-US" sz="2800" b="1"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49760736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advTm="0">
        <p15:prstTrans prst="peelOff"/>
      </p:transition>
    </mc:Choice>
    <mc:Fallback xmlns="">
      <p:transition spd="slow" advTm="0">
        <p:fade/>
      </p:transition>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320226" y="419376"/>
            <a:ext cx="438352" cy="621987"/>
            <a:chOff x="265635" y="269251"/>
            <a:chExt cx="438352" cy="621987"/>
          </a:xfrm>
        </p:grpSpPr>
        <p:sp>
          <p:nvSpPr>
            <p:cNvPr id="5" name="Freeform 5"/>
            <p:cNvSpPr>
              <a:spLocks/>
            </p:cNvSpPr>
            <p:nvPr/>
          </p:nvSpPr>
          <p:spPr bwMode="auto">
            <a:xfrm>
              <a:off x="269585" y="269251"/>
              <a:ext cx="262616" cy="266567"/>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EB0"/>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6" name="Freeform 6"/>
            <p:cNvSpPr>
              <a:spLocks/>
            </p:cNvSpPr>
            <p:nvPr/>
          </p:nvSpPr>
          <p:spPr bwMode="auto">
            <a:xfrm>
              <a:off x="441371" y="443010"/>
              <a:ext cx="262616" cy="268540"/>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EB0"/>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7" name="Freeform 7"/>
            <p:cNvSpPr>
              <a:spLocks/>
            </p:cNvSpPr>
            <p:nvPr/>
          </p:nvSpPr>
          <p:spPr bwMode="auto">
            <a:xfrm>
              <a:off x="265635" y="624671"/>
              <a:ext cx="260640" cy="266567"/>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EB0"/>
            </a:solidFill>
            <a:ln>
              <a:noFill/>
            </a:ln>
          </p:spPr>
          <p:txBody>
            <a:bodyPr vert="horz" wrap="square" lIns="91398" tIns="45699" rIns="91398" bIns="45699" numCol="1" anchor="t" anchorCtr="0" compatLnSpc="1">
              <a:prstTxWarp prst="textNoShape">
                <a:avLst/>
              </a:prstTxWarp>
            </a:bodyPr>
            <a:lstStyle/>
            <a:p>
              <a:endParaRPr lang="zh-CN" altLang="en-US" sz="1799"/>
            </a:p>
          </p:txBody>
        </p:sp>
      </p:grpSp>
      <p:sp>
        <p:nvSpPr>
          <p:cNvPr id="13" name="矩形 12"/>
          <p:cNvSpPr/>
          <p:nvPr/>
        </p:nvSpPr>
        <p:spPr bwMode="auto">
          <a:xfrm>
            <a:off x="992436" y="1650530"/>
            <a:ext cx="4398430" cy="2894174"/>
          </a:xfrm>
          <a:prstGeom prst="rect">
            <a:avLst/>
          </a:prstGeom>
          <a:blipFill>
            <a:blip r:embed="rId3" cstate="screen">
              <a:extLst>
                <a:ext uri="{28A0092B-C50C-407E-A947-70E740481C1C}">
                  <a14:useLocalDpi xmlns:a14="http://schemas.microsoft.com/office/drawing/2010/main"/>
                </a:ext>
              </a:extLst>
            </a:blip>
            <a:stretch>
              <a:fillRect b="-5234"/>
            </a:stretch>
          </a:blipFill>
          <a:ln w="9525" cap="flat" cmpd="sng" algn="ctr">
            <a:solidFill>
              <a:schemeClr val="accent1">
                <a:lumMod val="60000"/>
                <a:lumOff val="40000"/>
              </a:schemeClr>
            </a:solidFill>
            <a:prstDash val="solid"/>
            <a:round/>
            <a:headEnd type="none" w="med" len="med"/>
            <a:tailEnd type="none" w="med" len="med"/>
          </a:ln>
          <a:effectLst/>
          <a:extLst/>
        </p:spPr>
        <p:txBody>
          <a:bodyPr vert="horz" wrap="square" lIns="91398" tIns="45699" rIns="91398" bIns="45699" numCol="1" rtlCol="0" anchor="t" anchorCtr="0" compatLnSpc="1">
            <a:prstTxWarp prst="textNoShape">
              <a:avLst/>
            </a:prstTxWarp>
          </a:bodyPr>
          <a:lstStyle/>
          <a:p>
            <a:pPr defTabSz="913973"/>
            <a:endParaRPr lang="zh-CN" altLang="en-US" sz="1699"/>
          </a:p>
        </p:txBody>
      </p:sp>
      <p:sp>
        <p:nvSpPr>
          <p:cNvPr id="15" name="矩形 14"/>
          <p:cNvSpPr/>
          <p:nvPr/>
        </p:nvSpPr>
        <p:spPr bwMode="auto">
          <a:xfrm>
            <a:off x="6250675" y="1655156"/>
            <a:ext cx="4409829" cy="2889548"/>
          </a:xfrm>
          <a:prstGeom prst="rect">
            <a:avLst/>
          </a:prstGeom>
          <a:blipFill>
            <a:blip r:embed="rId4" cstate="screen">
              <a:extLst>
                <a:ext uri="{28A0092B-C50C-407E-A947-70E740481C1C}">
                  <a14:useLocalDpi xmlns:a14="http://schemas.microsoft.com/office/drawing/2010/main"/>
                </a:ext>
              </a:extLst>
            </a:blip>
            <a:stretch>
              <a:fillRect b="-5243"/>
            </a:stretch>
          </a:blipFill>
          <a:ln w="9525" cap="flat" cmpd="sng" algn="ctr">
            <a:solidFill>
              <a:schemeClr val="accent1">
                <a:lumMod val="60000"/>
                <a:lumOff val="40000"/>
              </a:schemeClr>
            </a:solidFill>
            <a:prstDash val="solid"/>
            <a:round/>
            <a:headEnd type="none" w="med" len="med"/>
            <a:tailEnd type="none" w="med" len="med"/>
          </a:ln>
          <a:effectLst/>
          <a:extLst/>
        </p:spPr>
        <p:txBody>
          <a:bodyPr vert="horz" wrap="square" lIns="91398" tIns="45699" rIns="91398" bIns="45699" numCol="1" rtlCol="0" anchor="t" anchorCtr="0" compatLnSpc="1">
            <a:prstTxWarp prst="textNoShape">
              <a:avLst/>
            </a:prstTxWarp>
          </a:bodyPr>
          <a:lstStyle/>
          <a:p>
            <a:pPr defTabSz="913973"/>
            <a:endParaRPr lang="zh-CN" altLang="en-US" sz="1699"/>
          </a:p>
        </p:txBody>
      </p:sp>
      <p:sp>
        <p:nvSpPr>
          <p:cNvPr id="16" name="矩形 15"/>
          <p:cNvSpPr/>
          <p:nvPr/>
        </p:nvSpPr>
        <p:spPr bwMode="auto">
          <a:xfrm>
            <a:off x="0" y="5450395"/>
            <a:ext cx="12192000" cy="647819"/>
          </a:xfrm>
          <a:prstGeom prst="rect">
            <a:avLst/>
          </a:prstGeom>
          <a:solidFill>
            <a:srgbClr val="04BEB0"/>
          </a:solidFill>
          <a:ln w="9525" cap="flat" cmpd="sng" algn="ctr">
            <a:noFill/>
            <a:prstDash val="solid"/>
            <a:round/>
            <a:headEnd type="none" w="med" len="med"/>
            <a:tailEnd type="none" w="med" len="med"/>
          </a:ln>
          <a:effectLst/>
          <a:extLst/>
        </p:spPr>
        <p:txBody>
          <a:bodyPr vert="horz" wrap="square" lIns="91398" tIns="45699" rIns="91398" bIns="45699" numCol="1" rtlCol="0" anchor="t" anchorCtr="0" compatLnSpc="1">
            <a:prstTxWarp prst="textNoShape">
              <a:avLst/>
            </a:prstTxWarp>
          </a:bodyPr>
          <a:lstStyle/>
          <a:p>
            <a:pPr defTabSz="913973"/>
            <a:endParaRPr lang="zh-CN" altLang="en-US" sz="1699"/>
          </a:p>
        </p:txBody>
      </p:sp>
      <p:sp>
        <p:nvSpPr>
          <p:cNvPr id="23" name="TextBox 26"/>
          <p:cNvSpPr txBox="1"/>
          <p:nvPr/>
        </p:nvSpPr>
        <p:spPr>
          <a:xfrm>
            <a:off x="14146653" y="8783076"/>
            <a:ext cx="1107996" cy="461665"/>
          </a:xfrm>
          <a:prstGeom prst="rect">
            <a:avLst/>
          </a:prstGeom>
          <a:noFill/>
        </p:spPr>
        <p:txBody>
          <a:bodyPr wrap="none" rtlCol="0">
            <a:spAutoFit/>
          </a:bodyPr>
          <a:lstStyle/>
          <a:p>
            <a:r>
              <a:rPr lang="zh-CN" altLang="en-US" sz="2400" dirty="0"/>
              <a:t>延时符</a:t>
            </a:r>
          </a:p>
        </p:txBody>
      </p:sp>
      <p:sp>
        <p:nvSpPr>
          <p:cNvPr id="24" name="Rectangle 2"/>
          <p:cNvSpPr>
            <a:spLocks noGrp="1" noChangeArrowheads="1"/>
          </p:cNvSpPr>
          <p:nvPr>
            <p:ph type="title"/>
          </p:nvPr>
        </p:nvSpPr>
        <p:spPr>
          <a:xfrm>
            <a:off x="930364" y="112014"/>
            <a:ext cx="10515600" cy="1325563"/>
          </a:xfrm>
        </p:spPr>
        <p:txBody>
          <a:bodyPr>
            <a:normAutofit/>
          </a:bodyPr>
          <a:lstStyle/>
          <a:p>
            <a:pPr algn="just">
              <a:defRPr/>
            </a:pPr>
            <a:r>
              <a:rPr lang="en-US" altLang="zh-CN" sz="3200" b="1" kern="0" dirty="0">
                <a:solidFill>
                  <a:schemeClr val="tx1">
                    <a:lumMod val="75000"/>
                  </a:schemeClr>
                </a:solidFill>
                <a:latin typeface="微软雅黑" panose="020B0503020204020204" pitchFamily="34" charset="-122"/>
                <a:ea typeface="微软雅黑" panose="020B0503020204020204" pitchFamily="34" charset="-122"/>
                <a:cs typeface="+mn-cs"/>
              </a:rPr>
              <a:t>CPU</a:t>
            </a:r>
            <a:r>
              <a:rPr lang="zh-CN" altLang="en-US" sz="3200" b="1" kern="0" dirty="0">
                <a:solidFill>
                  <a:schemeClr val="tx1">
                    <a:lumMod val="75000"/>
                  </a:schemeClr>
                </a:solidFill>
                <a:latin typeface="微软雅黑" panose="020B0503020204020204" pitchFamily="34" charset="-122"/>
                <a:ea typeface="微软雅黑" panose="020B0503020204020204" pitchFamily="34" charset="-122"/>
                <a:cs typeface="+mn-cs"/>
              </a:rPr>
              <a:t>对</a:t>
            </a:r>
            <a:r>
              <a:rPr lang="en-US" altLang="zh-CN" sz="3200" b="1" kern="0" dirty="0">
                <a:solidFill>
                  <a:schemeClr val="tx1">
                    <a:lumMod val="75000"/>
                  </a:schemeClr>
                </a:solidFill>
                <a:latin typeface="微软雅黑" panose="020B0503020204020204" pitchFamily="34" charset="-122"/>
                <a:ea typeface="微软雅黑" panose="020B0503020204020204" pitchFamily="34" charset="-122"/>
                <a:cs typeface="+mn-cs"/>
              </a:rPr>
              <a:t>I/O</a:t>
            </a:r>
            <a:r>
              <a:rPr lang="zh-CN" altLang="en-US" sz="3200" b="1" kern="0" dirty="0">
                <a:solidFill>
                  <a:schemeClr val="tx1">
                    <a:lumMod val="75000"/>
                  </a:schemeClr>
                </a:solidFill>
                <a:latin typeface="微软雅黑" panose="020B0503020204020204" pitchFamily="34" charset="-122"/>
                <a:ea typeface="微软雅黑" panose="020B0503020204020204" pitchFamily="34" charset="-122"/>
                <a:cs typeface="+mn-cs"/>
              </a:rPr>
              <a:t>端口的编址方式主要有两种：</a:t>
            </a:r>
            <a:endParaRPr lang="en-US" altLang="zh-CN" sz="3200" b="1" kern="0" dirty="0">
              <a:solidFill>
                <a:schemeClr val="tx1">
                  <a:lumMod val="75000"/>
                </a:schemeClr>
              </a:solidFill>
              <a:latin typeface="微软雅黑" panose="020B0503020204020204" pitchFamily="34" charset="-122"/>
              <a:ea typeface="微软雅黑" panose="020B0503020204020204" pitchFamily="34" charset="-122"/>
              <a:cs typeface="+mn-cs"/>
            </a:endParaRPr>
          </a:p>
        </p:txBody>
      </p:sp>
      <p:sp>
        <p:nvSpPr>
          <p:cNvPr id="25" name="Rectangle 3"/>
          <p:cNvSpPr txBox="1">
            <a:spLocks noChangeArrowheads="1"/>
          </p:cNvSpPr>
          <p:nvPr/>
        </p:nvSpPr>
        <p:spPr>
          <a:xfrm>
            <a:off x="1546701" y="5086708"/>
            <a:ext cx="8837784" cy="144851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buFont typeface="Arial" panose="020B0604020202020204" pitchFamily="34" charset="0"/>
              <a:buNone/>
            </a:pPr>
            <a:endParaRPr lang="en-US" altLang="zh-CN" sz="2800" b="1" dirty="0">
              <a:solidFill>
                <a:schemeClr val="bg1"/>
              </a:solidFill>
              <a:latin typeface="微软雅黑" panose="020B0503020204020204" pitchFamily="34" charset="-122"/>
              <a:ea typeface="微软雅黑" panose="020B0503020204020204" pitchFamily="34" charset="-122"/>
            </a:endParaRPr>
          </a:p>
          <a:p>
            <a:pPr lvl="1">
              <a:buFont typeface="Arial" panose="020B0604020202020204" pitchFamily="34" charset="0"/>
              <a:buNone/>
            </a:pPr>
            <a:r>
              <a:rPr lang="zh-CN" altLang="en-US" sz="2800" b="1" dirty="0">
                <a:solidFill>
                  <a:schemeClr val="bg1"/>
                </a:solidFill>
                <a:latin typeface="微软雅黑" panose="020B0503020204020204" pitchFamily="34" charset="-122"/>
                <a:ea typeface="微软雅黑" panose="020B0503020204020204" pitchFamily="34" charset="-122"/>
              </a:rPr>
              <a:t>独立编址方式</a:t>
            </a:r>
            <a:endParaRPr lang="en-US" altLang="zh-CN" sz="2800" b="1" dirty="0">
              <a:solidFill>
                <a:schemeClr val="bg1"/>
              </a:solidFill>
              <a:latin typeface="微软雅黑" panose="020B0503020204020204" pitchFamily="34" charset="-122"/>
              <a:ea typeface="微软雅黑" panose="020B0503020204020204" pitchFamily="34" charset="-122"/>
            </a:endParaRPr>
          </a:p>
          <a:p>
            <a:pPr marL="0" lvl="1">
              <a:lnSpc>
                <a:spcPct val="170000"/>
              </a:lnSpc>
              <a:buFont typeface="Arial" panose="020B0604020202020204" pitchFamily="34" charset="0"/>
              <a:buNone/>
            </a:pPr>
            <a:endParaRPr lang="en-US" altLang="zh-CN" sz="2800" b="1" dirty="0">
              <a:solidFill>
                <a:schemeClr val="bg1"/>
              </a:solidFill>
              <a:latin typeface="微软雅黑" panose="020B0503020204020204" pitchFamily="34" charset="-122"/>
              <a:ea typeface="微软雅黑" panose="020B0503020204020204" pitchFamily="34" charset="-122"/>
            </a:endParaRPr>
          </a:p>
          <a:p>
            <a:pPr marL="0" lvl="1">
              <a:lnSpc>
                <a:spcPct val="170000"/>
              </a:lnSpc>
              <a:buFont typeface="Arial" panose="020B0604020202020204" pitchFamily="34" charset="0"/>
              <a:buNone/>
            </a:pPr>
            <a:endParaRPr lang="en-US" altLang="zh-CN" sz="2800" b="1" dirty="0">
              <a:solidFill>
                <a:schemeClr val="bg1"/>
              </a:solidFill>
              <a:latin typeface="微软雅黑" panose="020B0503020204020204" pitchFamily="34" charset="-122"/>
              <a:ea typeface="微软雅黑" panose="020B0503020204020204" pitchFamily="34" charset="-122"/>
            </a:endParaRPr>
          </a:p>
          <a:p>
            <a:pPr marL="0" lvl="1">
              <a:lnSpc>
                <a:spcPct val="170000"/>
              </a:lnSpc>
              <a:buFont typeface="Arial" panose="020B0604020202020204" pitchFamily="34" charset="0"/>
              <a:buNone/>
            </a:pPr>
            <a:endParaRPr lang="en-US" altLang="zh-CN" sz="2800" b="1" dirty="0">
              <a:solidFill>
                <a:schemeClr val="bg1"/>
              </a:solidFill>
              <a:latin typeface="微软雅黑" panose="020B0503020204020204" pitchFamily="34" charset="-122"/>
              <a:ea typeface="微软雅黑" panose="020B0503020204020204" pitchFamily="34" charset="-122"/>
            </a:endParaRPr>
          </a:p>
          <a:p>
            <a:pPr marL="0" lvl="1">
              <a:lnSpc>
                <a:spcPct val="170000"/>
              </a:lnSpc>
              <a:buFont typeface="Arial" panose="020B0604020202020204" pitchFamily="34" charset="0"/>
              <a:buNone/>
            </a:pPr>
            <a:endParaRPr lang="zh-CN" altLang="en-US" sz="2800" b="1" dirty="0">
              <a:solidFill>
                <a:schemeClr val="bg1"/>
              </a:solidFill>
              <a:latin typeface="微软雅黑" panose="020B0503020204020204" pitchFamily="34" charset="-122"/>
              <a:ea typeface="微软雅黑" panose="020B0503020204020204" pitchFamily="34" charset="-122"/>
            </a:endParaRPr>
          </a:p>
          <a:p>
            <a:pPr marL="0" indent="0">
              <a:lnSpc>
                <a:spcPct val="150000"/>
              </a:lnSpc>
              <a:buFont typeface="Arial" panose="020B0604020202020204" pitchFamily="34" charset="0"/>
              <a:buNone/>
            </a:pPr>
            <a:endParaRPr lang="en-US" altLang="zh-CN" b="1" dirty="0">
              <a:solidFill>
                <a:schemeClr val="bg1"/>
              </a:solidFill>
              <a:latin typeface="微软雅黑" panose="020B0503020204020204" pitchFamily="34" charset="-122"/>
              <a:ea typeface="微软雅黑" panose="020B0503020204020204" pitchFamily="34" charset="-122"/>
            </a:endParaRPr>
          </a:p>
          <a:p>
            <a:pPr marL="0" indent="0">
              <a:lnSpc>
                <a:spcPct val="150000"/>
              </a:lnSpc>
              <a:buFont typeface="Arial" panose="020B0604020202020204" pitchFamily="34" charset="0"/>
              <a:buNone/>
            </a:pPr>
            <a:endParaRPr lang="en-US" altLang="zh-CN" b="1" dirty="0">
              <a:solidFill>
                <a:schemeClr val="bg1"/>
              </a:solidFill>
              <a:latin typeface="微软雅黑" panose="020B0503020204020204" pitchFamily="34" charset="-122"/>
              <a:ea typeface="微软雅黑" panose="020B0503020204020204" pitchFamily="34" charset="-122"/>
            </a:endParaRPr>
          </a:p>
        </p:txBody>
      </p:sp>
      <p:sp>
        <p:nvSpPr>
          <p:cNvPr id="26" name="矩形 25"/>
          <p:cNvSpPr/>
          <p:nvPr/>
        </p:nvSpPr>
        <p:spPr>
          <a:xfrm>
            <a:off x="6889133" y="5352431"/>
            <a:ext cx="9140958" cy="4616648"/>
          </a:xfrm>
          <a:prstGeom prst="rect">
            <a:avLst/>
          </a:prstGeom>
        </p:spPr>
        <p:txBody>
          <a:bodyPr wrap="square">
            <a:spAutoFit/>
          </a:bodyPr>
          <a:lstStyle/>
          <a:p>
            <a:pPr marL="0" lvl="1">
              <a:lnSpc>
                <a:spcPct val="150000"/>
              </a:lnSpc>
            </a:pPr>
            <a:r>
              <a:rPr lang="zh-CN" altLang="en-US" sz="2800" b="1" dirty="0">
                <a:solidFill>
                  <a:schemeClr val="bg1"/>
                </a:solidFill>
                <a:latin typeface="微软雅黑" panose="020B0503020204020204" pitchFamily="34" charset="-122"/>
                <a:ea typeface="微软雅黑" panose="020B0503020204020204" pitchFamily="34" charset="-122"/>
              </a:rPr>
              <a:t>     统一编址方式</a:t>
            </a:r>
          </a:p>
          <a:p>
            <a:pPr marL="0" lvl="1">
              <a:lnSpc>
                <a:spcPct val="150000"/>
              </a:lnSpc>
            </a:pPr>
            <a:endParaRPr lang="zh-CN" altLang="en-US" sz="2800" b="1" dirty="0">
              <a:solidFill>
                <a:schemeClr val="bg1"/>
              </a:solidFill>
              <a:latin typeface="微软雅黑" panose="020B0503020204020204" pitchFamily="34" charset="-122"/>
              <a:ea typeface="微软雅黑" panose="020B0503020204020204" pitchFamily="34" charset="-122"/>
            </a:endParaRPr>
          </a:p>
          <a:p>
            <a:pPr marL="0" lvl="1">
              <a:lnSpc>
                <a:spcPct val="150000"/>
              </a:lnSpc>
            </a:pPr>
            <a:endParaRPr lang="zh-CN" altLang="en-US" sz="2800" b="1" dirty="0">
              <a:solidFill>
                <a:schemeClr val="bg1"/>
              </a:solidFill>
              <a:latin typeface="微软雅黑" panose="020B0503020204020204" pitchFamily="34" charset="-122"/>
              <a:ea typeface="微软雅黑" panose="020B0503020204020204" pitchFamily="34" charset="-122"/>
            </a:endParaRPr>
          </a:p>
          <a:p>
            <a:pPr marL="0" lvl="1">
              <a:lnSpc>
                <a:spcPct val="150000"/>
              </a:lnSpc>
            </a:pPr>
            <a:endParaRPr lang="zh-CN" altLang="en-US" sz="2800" b="1" dirty="0">
              <a:solidFill>
                <a:schemeClr val="bg1"/>
              </a:solidFill>
              <a:latin typeface="微软雅黑" panose="020B0503020204020204" pitchFamily="34" charset="-122"/>
              <a:ea typeface="微软雅黑" panose="020B0503020204020204" pitchFamily="34" charset="-122"/>
            </a:endParaRPr>
          </a:p>
          <a:p>
            <a:pPr marL="0" lvl="1">
              <a:lnSpc>
                <a:spcPct val="150000"/>
              </a:lnSpc>
            </a:pPr>
            <a:endParaRPr lang="zh-CN" altLang="en-US" sz="2800" b="1" dirty="0">
              <a:solidFill>
                <a:schemeClr val="bg1"/>
              </a:solidFill>
              <a:latin typeface="微软雅黑" panose="020B0503020204020204" pitchFamily="34" charset="-122"/>
              <a:ea typeface="微软雅黑" panose="020B0503020204020204" pitchFamily="34" charset="-122"/>
            </a:endParaRPr>
          </a:p>
          <a:p>
            <a:pPr marL="0" lvl="1">
              <a:lnSpc>
                <a:spcPct val="150000"/>
              </a:lnSpc>
            </a:pPr>
            <a:endParaRPr lang="zh-CN" altLang="en-US" sz="2800" b="1" dirty="0">
              <a:solidFill>
                <a:schemeClr val="bg1"/>
              </a:solidFill>
              <a:latin typeface="微软雅黑" panose="020B0503020204020204" pitchFamily="34" charset="-122"/>
              <a:ea typeface="微软雅黑" panose="020B0503020204020204" pitchFamily="34" charset="-122"/>
            </a:endParaRPr>
          </a:p>
          <a:p>
            <a:pPr>
              <a:lnSpc>
                <a:spcPct val="150000"/>
              </a:lnSpc>
            </a:pPr>
            <a:endParaRPr lang="zh-CN" altLang="en-US" sz="2800" b="1" dirty="0">
              <a:solidFill>
                <a:schemeClr val="bg1"/>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81184275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advTm="0">
        <p15:prstTrans prst="peelOff"/>
      </p:transition>
    </mc:Choice>
    <mc:Fallback xmlns="">
      <p:transition spd="slow" advTm="0">
        <p:fade/>
      </p:transition>
    </mc:Fallback>
  </mc:AlternateContent>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265635" y="269251"/>
            <a:ext cx="438352" cy="621987"/>
            <a:chOff x="265635" y="269251"/>
            <a:chExt cx="438352" cy="621987"/>
          </a:xfrm>
        </p:grpSpPr>
        <p:sp>
          <p:nvSpPr>
            <p:cNvPr id="5" name="Freeform 5"/>
            <p:cNvSpPr>
              <a:spLocks/>
            </p:cNvSpPr>
            <p:nvPr/>
          </p:nvSpPr>
          <p:spPr bwMode="auto">
            <a:xfrm>
              <a:off x="269585" y="269251"/>
              <a:ext cx="262616" cy="266567"/>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0BE"/>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6" name="Freeform 6"/>
            <p:cNvSpPr>
              <a:spLocks/>
            </p:cNvSpPr>
            <p:nvPr/>
          </p:nvSpPr>
          <p:spPr bwMode="auto">
            <a:xfrm>
              <a:off x="441371" y="443010"/>
              <a:ext cx="262616" cy="268540"/>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0BE"/>
            </a:solidFill>
            <a:ln>
              <a:noFill/>
            </a:ln>
          </p:spPr>
          <p:txBody>
            <a:bodyPr vert="horz" wrap="square" lIns="91398" tIns="45699" rIns="91398" bIns="45699" numCol="1" anchor="t" anchorCtr="0" compatLnSpc="1">
              <a:prstTxWarp prst="textNoShape">
                <a:avLst/>
              </a:prstTxWarp>
            </a:bodyPr>
            <a:lstStyle/>
            <a:p>
              <a:endParaRPr lang="zh-CN" altLang="en-US" sz="1799"/>
            </a:p>
          </p:txBody>
        </p:sp>
        <p:sp>
          <p:nvSpPr>
            <p:cNvPr id="7" name="Freeform 7"/>
            <p:cNvSpPr>
              <a:spLocks/>
            </p:cNvSpPr>
            <p:nvPr/>
          </p:nvSpPr>
          <p:spPr bwMode="auto">
            <a:xfrm>
              <a:off x="265635" y="624671"/>
              <a:ext cx="260640" cy="266567"/>
            </a:xfrm>
            <a:custGeom>
              <a:avLst/>
              <a:gdLst>
                <a:gd name="T0" fmla="*/ 11 w 295"/>
                <a:gd name="T1" fmla="*/ 128 h 295"/>
                <a:gd name="T2" fmla="*/ 128 w 295"/>
                <a:gd name="T3" fmla="*/ 11 h 295"/>
                <a:gd name="T4" fmla="*/ 167 w 295"/>
                <a:gd name="T5" fmla="*/ 11 h 295"/>
                <a:gd name="T6" fmla="*/ 284 w 295"/>
                <a:gd name="T7" fmla="*/ 128 h 295"/>
                <a:gd name="T8" fmla="*/ 284 w 295"/>
                <a:gd name="T9" fmla="*/ 167 h 295"/>
                <a:gd name="T10" fmla="*/ 167 w 295"/>
                <a:gd name="T11" fmla="*/ 284 h 295"/>
                <a:gd name="T12" fmla="*/ 128 w 295"/>
                <a:gd name="T13" fmla="*/ 284 h 295"/>
                <a:gd name="T14" fmla="*/ 11 w 295"/>
                <a:gd name="T15" fmla="*/ 167 h 295"/>
                <a:gd name="T16" fmla="*/ 11 w 295"/>
                <a:gd name="T17" fmla="*/ 128 h 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95" h="295">
                  <a:moveTo>
                    <a:pt x="11" y="128"/>
                  </a:moveTo>
                  <a:lnTo>
                    <a:pt x="128" y="11"/>
                  </a:lnTo>
                  <a:cubicBezTo>
                    <a:pt x="139" y="0"/>
                    <a:pt x="156" y="0"/>
                    <a:pt x="167" y="11"/>
                  </a:cubicBezTo>
                  <a:lnTo>
                    <a:pt x="284" y="128"/>
                  </a:lnTo>
                  <a:cubicBezTo>
                    <a:pt x="295" y="139"/>
                    <a:pt x="295" y="156"/>
                    <a:pt x="284" y="167"/>
                  </a:cubicBezTo>
                  <a:lnTo>
                    <a:pt x="167" y="284"/>
                  </a:lnTo>
                  <a:cubicBezTo>
                    <a:pt x="156" y="295"/>
                    <a:pt x="139" y="295"/>
                    <a:pt x="128" y="284"/>
                  </a:cubicBezTo>
                  <a:lnTo>
                    <a:pt x="11" y="167"/>
                  </a:lnTo>
                  <a:cubicBezTo>
                    <a:pt x="0" y="156"/>
                    <a:pt x="0" y="139"/>
                    <a:pt x="11" y="128"/>
                  </a:cubicBezTo>
                  <a:close/>
                </a:path>
              </a:pathLst>
            </a:custGeom>
            <a:solidFill>
              <a:srgbClr val="04B0BE"/>
            </a:solidFill>
            <a:ln>
              <a:noFill/>
            </a:ln>
          </p:spPr>
          <p:txBody>
            <a:bodyPr vert="horz" wrap="square" lIns="91398" tIns="45699" rIns="91398" bIns="45699" numCol="1" anchor="t" anchorCtr="0" compatLnSpc="1">
              <a:prstTxWarp prst="textNoShape">
                <a:avLst/>
              </a:prstTxWarp>
            </a:bodyPr>
            <a:lstStyle/>
            <a:p>
              <a:endParaRPr lang="zh-CN" altLang="en-US" sz="1799"/>
            </a:p>
          </p:txBody>
        </p:sp>
      </p:grpSp>
      <p:sp>
        <p:nvSpPr>
          <p:cNvPr id="8" name="Oval 5"/>
          <p:cNvSpPr>
            <a:spLocks noChangeArrowheads="1"/>
          </p:cNvSpPr>
          <p:nvPr/>
        </p:nvSpPr>
        <p:spPr bwMode="auto">
          <a:xfrm>
            <a:off x="1047920" y="1587215"/>
            <a:ext cx="1573899" cy="1563688"/>
          </a:xfrm>
          <a:prstGeom prst="ellipse">
            <a:avLst/>
          </a:prstGeom>
          <a:solidFill>
            <a:srgbClr val="04B0BE"/>
          </a:solidFill>
          <a:ln w="38100" cap="flat">
            <a:solidFill>
              <a:srgbClr val="04B0BE"/>
            </a:solidFill>
            <a:prstDash val="solid"/>
            <a:miter lim="800000"/>
            <a:headEnd/>
            <a:tailEnd/>
          </a:ln>
        </p:spPr>
        <p:txBody>
          <a:bodyPr vert="horz" wrap="square" lIns="91398" tIns="45699" rIns="91398" bIns="45699" numCol="1" anchor="t" anchorCtr="0" compatLnSpc="1">
            <a:prstTxWarp prst="textNoShape">
              <a:avLst/>
            </a:prstTxWarp>
          </a:bodyPr>
          <a:lstStyle/>
          <a:p>
            <a:endParaRPr lang="zh-CN" altLang="en-US" sz="1799"/>
          </a:p>
        </p:txBody>
      </p:sp>
      <p:sp>
        <p:nvSpPr>
          <p:cNvPr id="9" name="Oval 6"/>
          <p:cNvSpPr>
            <a:spLocks noChangeArrowheads="1"/>
          </p:cNvSpPr>
          <p:nvPr/>
        </p:nvSpPr>
        <p:spPr bwMode="auto">
          <a:xfrm>
            <a:off x="8514655" y="3860345"/>
            <a:ext cx="1573899" cy="1563688"/>
          </a:xfrm>
          <a:prstGeom prst="ellipse">
            <a:avLst/>
          </a:prstGeom>
          <a:solidFill>
            <a:srgbClr val="FFC000"/>
          </a:solidFill>
          <a:ln w="38100" cap="flat">
            <a:solidFill>
              <a:srgbClr val="FFC000"/>
            </a:solidFill>
            <a:prstDash val="solid"/>
            <a:miter lim="800000"/>
            <a:headEnd/>
            <a:tailEnd/>
          </a:ln>
        </p:spPr>
        <p:txBody>
          <a:bodyPr vert="horz" wrap="square" lIns="91398" tIns="45699" rIns="91398" bIns="45699" numCol="1" anchor="t" anchorCtr="0" compatLnSpc="1">
            <a:prstTxWarp prst="textNoShape">
              <a:avLst/>
            </a:prstTxWarp>
          </a:bodyPr>
          <a:lstStyle/>
          <a:p>
            <a:endParaRPr lang="zh-CN" altLang="en-US" sz="1799"/>
          </a:p>
        </p:txBody>
      </p:sp>
      <p:sp>
        <p:nvSpPr>
          <p:cNvPr id="11" name="Freeform 10"/>
          <p:cNvSpPr>
            <a:spLocks noEditPoints="1"/>
          </p:cNvSpPr>
          <p:nvPr/>
        </p:nvSpPr>
        <p:spPr bwMode="auto">
          <a:xfrm>
            <a:off x="2713550" y="2195721"/>
            <a:ext cx="365303" cy="362962"/>
          </a:xfrm>
          <a:custGeom>
            <a:avLst/>
            <a:gdLst>
              <a:gd name="T0" fmla="*/ 173 w 346"/>
              <a:gd name="T1" fmla="*/ 0 h 346"/>
              <a:gd name="T2" fmla="*/ 346 w 346"/>
              <a:gd name="T3" fmla="*/ 173 h 346"/>
              <a:gd name="T4" fmla="*/ 173 w 346"/>
              <a:gd name="T5" fmla="*/ 346 h 346"/>
              <a:gd name="T6" fmla="*/ 0 w 346"/>
              <a:gd name="T7" fmla="*/ 173 h 346"/>
              <a:gd name="T8" fmla="*/ 173 w 346"/>
              <a:gd name="T9" fmla="*/ 0 h 346"/>
              <a:gd name="T10" fmla="*/ 277 w 346"/>
              <a:gd name="T11" fmla="*/ 176 h 346"/>
              <a:gd name="T12" fmla="*/ 204 w 346"/>
              <a:gd name="T13" fmla="*/ 218 h 346"/>
              <a:gd name="T14" fmla="*/ 131 w 346"/>
              <a:gd name="T15" fmla="*/ 260 h 346"/>
              <a:gd name="T16" fmla="*/ 131 w 346"/>
              <a:gd name="T17" fmla="*/ 176 h 346"/>
              <a:gd name="T18" fmla="*/ 131 w 346"/>
              <a:gd name="T19" fmla="*/ 92 h 346"/>
              <a:gd name="T20" fmla="*/ 204 w 346"/>
              <a:gd name="T21" fmla="*/ 134 h 346"/>
              <a:gd name="T22" fmla="*/ 277 w 346"/>
              <a:gd name="T23" fmla="*/ 176 h 3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46" h="346">
                <a:moveTo>
                  <a:pt x="173" y="0"/>
                </a:moveTo>
                <a:cubicBezTo>
                  <a:pt x="268" y="0"/>
                  <a:pt x="346" y="77"/>
                  <a:pt x="346" y="173"/>
                </a:cubicBezTo>
                <a:cubicBezTo>
                  <a:pt x="346" y="268"/>
                  <a:pt x="268" y="346"/>
                  <a:pt x="173" y="346"/>
                </a:cubicBezTo>
                <a:cubicBezTo>
                  <a:pt x="77" y="346"/>
                  <a:pt x="0" y="268"/>
                  <a:pt x="0" y="173"/>
                </a:cubicBezTo>
                <a:cubicBezTo>
                  <a:pt x="0" y="77"/>
                  <a:pt x="77" y="0"/>
                  <a:pt x="173" y="0"/>
                </a:cubicBezTo>
                <a:close/>
                <a:moveTo>
                  <a:pt x="277" y="176"/>
                </a:moveTo>
                <a:lnTo>
                  <a:pt x="204" y="218"/>
                </a:lnTo>
                <a:lnTo>
                  <a:pt x="131" y="260"/>
                </a:lnTo>
                <a:lnTo>
                  <a:pt x="131" y="176"/>
                </a:lnTo>
                <a:lnTo>
                  <a:pt x="131" y="92"/>
                </a:lnTo>
                <a:lnTo>
                  <a:pt x="204" y="134"/>
                </a:lnTo>
                <a:lnTo>
                  <a:pt x="277" y="176"/>
                </a:lnTo>
                <a:close/>
              </a:path>
            </a:pathLst>
          </a:custGeom>
          <a:solidFill>
            <a:srgbClr val="04B0BE"/>
          </a:solidFill>
          <a:ln>
            <a:noFill/>
          </a:ln>
          <a:extLst/>
        </p:spPr>
        <p:txBody>
          <a:bodyPr vert="horz" wrap="square" lIns="91398" tIns="45699" rIns="91398" bIns="45699" numCol="1" anchor="t" anchorCtr="0" compatLnSpc="1">
            <a:prstTxWarp prst="textNoShape">
              <a:avLst/>
            </a:prstTxWarp>
          </a:bodyPr>
          <a:lstStyle/>
          <a:p>
            <a:endParaRPr lang="zh-CN" altLang="en-US" sz="1799"/>
          </a:p>
        </p:txBody>
      </p:sp>
      <p:sp>
        <p:nvSpPr>
          <p:cNvPr id="12" name="Freeform 11"/>
          <p:cNvSpPr>
            <a:spLocks noEditPoints="1"/>
          </p:cNvSpPr>
          <p:nvPr/>
        </p:nvSpPr>
        <p:spPr bwMode="auto">
          <a:xfrm>
            <a:off x="8070171" y="4438461"/>
            <a:ext cx="365303" cy="362962"/>
          </a:xfrm>
          <a:custGeom>
            <a:avLst/>
            <a:gdLst>
              <a:gd name="T0" fmla="*/ 173 w 346"/>
              <a:gd name="T1" fmla="*/ 0 h 346"/>
              <a:gd name="T2" fmla="*/ 0 w 346"/>
              <a:gd name="T3" fmla="*/ 173 h 346"/>
              <a:gd name="T4" fmla="*/ 173 w 346"/>
              <a:gd name="T5" fmla="*/ 346 h 346"/>
              <a:gd name="T6" fmla="*/ 346 w 346"/>
              <a:gd name="T7" fmla="*/ 173 h 346"/>
              <a:gd name="T8" fmla="*/ 173 w 346"/>
              <a:gd name="T9" fmla="*/ 0 h 346"/>
              <a:gd name="T10" fmla="*/ 69 w 346"/>
              <a:gd name="T11" fmla="*/ 177 h 346"/>
              <a:gd name="T12" fmla="*/ 142 w 346"/>
              <a:gd name="T13" fmla="*/ 219 h 346"/>
              <a:gd name="T14" fmla="*/ 215 w 346"/>
              <a:gd name="T15" fmla="*/ 261 h 346"/>
              <a:gd name="T16" fmla="*/ 215 w 346"/>
              <a:gd name="T17" fmla="*/ 177 h 346"/>
              <a:gd name="T18" fmla="*/ 215 w 346"/>
              <a:gd name="T19" fmla="*/ 93 h 346"/>
              <a:gd name="T20" fmla="*/ 142 w 346"/>
              <a:gd name="T21" fmla="*/ 135 h 346"/>
              <a:gd name="T22" fmla="*/ 69 w 346"/>
              <a:gd name="T23" fmla="*/ 177 h 3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346" h="346">
                <a:moveTo>
                  <a:pt x="173" y="0"/>
                </a:moveTo>
                <a:cubicBezTo>
                  <a:pt x="78" y="0"/>
                  <a:pt x="0" y="78"/>
                  <a:pt x="0" y="173"/>
                </a:cubicBezTo>
                <a:cubicBezTo>
                  <a:pt x="0" y="269"/>
                  <a:pt x="78" y="346"/>
                  <a:pt x="173" y="346"/>
                </a:cubicBezTo>
                <a:cubicBezTo>
                  <a:pt x="269" y="346"/>
                  <a:pt x="346" y="269"/>
                  <a:pt x="346" y="173"/>
                </a:cubicBezTo>
                <a:cubicBezTo>
                  <a:pt x="346" y="78"/>
                  <a:pt x="269" y="0"/>
                  <a:pt x="173" y="0"/>
                </a:cubicBezTo>
                <a:close/>
                <a:moveTo>
                  <a:pt x="69" y="177"/>
                </a:moveTo>
                <a:lnTo>
                  <a:pt x="142" y="219"/>
                </a:lnTo>
                <a:lnTo>
                  <a:pt x="215" y="261"/>
                </a:lnTo>
                <a:lnTo>
                  <a:pt x="215" y="177"/>
                </a:lnTo>
                <a:lnTo>
                  <a:pt x="215" y="93"/>
                </a:lnTo>
                <a:lnTo>
                  <a:pt x="142" y="135"/>
                </a:lnTo>
                <a:lnTo>
                  <a:pt x="69" y="177"/>
                </a:lnTo>
                <a:close/>
              </a:path>
            </a:pathLst>
          </a:custGeom>
          <a:solidFill>
            <a:srgbClr val="FFC000"/>
          </a:solidFill>
          <a:ln>
            <a:noFill/>
          </a:ln>
          <a:extLst/>
        </p:spPr>
        <p:txBody>
          <a:bodyPr vert="horz" wrap="square" lIns="91398" tIns="45699" rIns="91398" bIns="45699" numCol="1" anchor="t" anchorCtr="0" compatLnSpc="1">
            <a:prstTxWarp prst="textNoShape">
              <a:avLst/>
            </a:prstTxWarp>
          </a:bodyPr>
          <a:lstStyle/>
          <a:p>
            <a:endParaRPr lang="zh-CN" altLang="en-US" sz="1799"/>
          </a:p>
        </p:txBody>
      </p:sp>
      <p:sp>
        <p:nvSpPr>
          <p:cNvPr id="14" name="TextBox 13"/>
          <p:cNvSpPr txBox="1"/>
          <p:nvPr/>
        </p:nvSpPr>
        <p:spPr>
          <a:xfrm flipH="1">
            <a:off x="1272984" y="1862347"/>
            <a:ext cx="1116324" cy="907578"/>
          </a:xfrm>
          <a:prstGeom prst="rect">
            <a:avLst/>
          </a:prstGeom>
          <a:noFill/>
        </p:spPr>
        <p:txBody>
          <a:bodyPr wrap="square" lIns="91398" tIns="45699" rIns="91398" bIns="45699" rtlCol="0">
            <a:spAutoFit/>
          </a:bodyPr>
          <a:lstStyle/>
          <a:p>
            <a:pPr algn="ctr"/>
            <a:r>
              <a:rPr lang="en-US" altLang="zh-CN" sz="5298" dirty="0">
                <a:solidFill>
                  <a:schemeClr val="bg1"/>
                </a:solidFill>
                <a:latin typeface="+mn-ea"/>
              </a:rPr>
              <a:t>01</a:t>
            </a:r>
          </a:p>
        </p:txBody>
      </p:sp>
      <p:sp>
        <p:nvSpPr>
          <p:cNvPr id="15" name="TextBox 14"/>
          <p:cNvSpPr txBox="1"/>
          <p:nvPr/>
        </p:nvSpPr>
        <p:spPr>
          <a:xfrm flipH="1">
            <a:off x="8759543" y="4180705"/>
            <a:ext cx="1116324" cy="907578"/>
          </a:xfrm>
          <a:prstGeom prst="rect">
            <a:avLst/>
          </a:prstGeom>
          <a:noFill/>
        </p:spPr>
        <p:txBody>
          <a:bodyPr wrap="square" lIns="91398" tIns="45699" rIns="91398" bIns="45699" rtlCol="0">
            <a:spAutoFit/>
          </a:bodyPr>
          <a:lstStyle/>
          <a:p>
            <a:pPr algn="ctr"/>
            <a:r>
              <a:rPr lang="en-US" altLang="zh-CN" sz="5298" dirty="0">
                <a:solidFill>
                  <a:schemeClr val="bg1"/>
                </a:solidFill>
                <a:latin typeface="+mn-ea"/>
              </a:rPr>
              <a:t>02</a:t>
            </a:r>
          </a:p>
        </p:txBody>
      </p:sp>
      <p:sp>
        <p:nvSpPr>
          <p:cNvPr id="23" name="TextBox 26"/>
          <p:cNvSpPr txBox="1"/>
          <p:nvPr/>
        </p:nvSpPr>
        <p:spPr>
          <a:xfrm>
            <a:off x="14146653" y="8510121"/>
            <a:ext cx="1107996" cy="461665"/>
          </a:xfrm>
          <a:prstGeom prst="rect">
            <a:avLst/>
          </a:prstGeom>
          <a:noFill/>
        </p:spPr>
        <p:txBody>
          <a:bodyPr wrap="none" rtlCol="0">
            <a:spAutoFit/>
          </a:bodyPr>
          <a:lstStyle/>
          <a:p>
            <a:r>
              <a:rPr lang="zh-CN" altLang="en-US" sz="2400" dirty="0"/>
              <a:t>延时符</a:t>
            </a:r>
          </a:p>
        </p:txBody>
      </p:sp>
      <p:sp>
        <p:nvSpPr>
          <p:cNvPr id="16" name="Rectangle 2"/>
          <p:cNvSpPr>
            <a:spLocks noGrp="1" noChangeArrowheads="1"/>
          </p:cNvSpPr>
          <p:nvPr>
            <p:ph type="title"/>
          </p:nvPr>
        </p:nvSpPr>
        <p:spPr>
          <a:xfrm>
            <a:off x="875773" y="-74098"/>
            <a:ext cx="10515600" cy="1325563"/>
          </a:xfrm>
        </p:spPr>
        <p:txBody>
          <a:bodyPr>
            <a:normAutofit/>
          </a:bodyPr>
          <a:lstStyle/>
          <a:p>
            <a:r>
              <a:rPr lang="en-US" altLang="zh-CN" sz="3200" b="1" kern="0" dirty="0">
                <a:solidFill>
                  <a:schemeClr val="tx1">
                    <a:lumMod val="75000"/>
                  </a:schemeClr>
                </a:solidFill>
                <a:latin typeface="微软雅黑" panose="020B0503020204020204" pitchFamily="34" charset="-122"/>
                <a:ea typeface="微软雅黑" panose="020B0503020204020204" pitchFamily="34" charset="-122"/>
                <a:cs typeface="+mn-cs"/>
              </a:rPr>
              <a:t>I/O</a:t>
            </a:r>
            <a:r>
              <a:rPr lang="zh-CN" altLang="en-US" sz="3200" b="1" kern="0" dirty="0">
                <a:solidFill>
                  <a:schemeClr val="tx1">
                    <a:lumMod val="75000"/>
                  </a:schemeClr>
                </a:solidFill>
                <a:latin typeface="微软雅黑" panose="020B0503020204020204" pitchFamily="34" charset="-122"/>
                <a:ea typeface="微软雅黑" panose="020B0503020204020204" pitchFamily="34" charset="-122"/>
                <a:cs typeface="+mn-cs"/>
              </a:rPr>
              <a:t>端口的独立编址方式</a:t>
            </a:r>
            <a:endParaRPr lang="en-US" altLang="zh-CN" sz="3200" b="1" kern="0" dirty="0">
              <a:solidFill>
                <a:schemeClr val="tx1">
                  <a:lumMod val="75000"/>
                </a:schemeClr>
              </a:solidFill>
              <a:latin typeface="微软雅黑" panose="020B0503020204020204" pitchFamily="34" charset="-122"/>
              <a:ea typeface="微软雅黑" panose="020B0503020204020204" pitchFamily="34" charset="-122"/>
              <a:cs typeface="+mn-cs"/>
            </a:endParaRPr>
          </a:p>
        </p:txBody>
      </p:sp>
      <p:sp>
        <p:nvSpPr>
          <p:cNvPr id="17" name="Rectangle 3"/>
          <p:cNvSpPr txBox="1">
            <a:spLocks noChangeArrowheads="1"/>
          </p:cNvSpPr>
          <p:nvPr/>
        </p:nvSpPr>
        <p:spPr>
          <a:xfrm>
            <a:off x="3162935" y="503647"/>
            <a:ext cx="7454811" cy="302094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1">
              <a:lnSpc>
                <a:spcPct val="160000"/>
              </a:lnSpc>
              <a:buFont typeface="Arial" panose="020B0604020202020204" pitchFamily="34" charset="0"/>
              <a:buNone/>
            </a:pPr>
            <a:endParaRPr lang="en-US" altLang="zh-CN" sz="2800" b="1" dirty="0">
              <a:latin typeface="微软雅黑" panose="020B0503020204020204" pitchFamily="34" charset="-122"/>
              <a:ea typeface="微软雅黑" panose="020B0503020204020204" pitchFamily="34" charset="-122"/>
            </a:endParaRPr>
          </a:p>
          <a:p>
            <a:pPr lvl="1">
              <a:lnSpc>
                <a:spcPct val="160000"/>
              </a:lnSpc>
              <a:buFont typeface="Arial" panose="020B0604020202020204" pitchFamily="34" charset="0"/>
              <a:buNone/>
            </a:pPr>
            <a:r>
              <a:rPr lang="zh-CN" altLang="en-US" sz="2800" b="1" dirty="0">
                <a:latin typeface="微软雅黑" panose="020B0503020204020204" pitchFamily="34" charset="-122"/>
                <a:ea typeface="微软雅黑" panose="020B0503020204020204" pitchFamily="34" charset="-122"/>
              </a:rPr>
              <a:t>  </a:t>
            </a:r>
            <a:r>
              <a:rPr lang="zh-CN" altLang="en-US" sz="2800" b="1" dirty="0" smtClean="0">
                <a:latin typeface="微软雅黑" panose="020B0503020204020204" pitchFamily="34" charset="-122"/>
                <a:ea typeface="微软雅黑" panose="020B0503020204020204" pitchFamily="34" charset="-122"/>
              </a:rPr>
              <a:t>是</a:t>
            </a:r>
            <a:r>
              <a:rPr lang="zh-CN" altLang="en-US" sz="2800" b="1" dirty="0">
                <a:latin typeface="微软雅黑" panose="020B0503020204020204" pitchFamily="34" charset="-122"/>
                <a:ea typeface="微软雅黑" panose="020B0503020204020204" pitchFamily="34" charset="-122"/>
              </a:rPr>
              <a:t>指系统使用一个不同于主存地址空间之外的单独的一个地址空间为外围设备及接口中的所有</a:t>
            </a:r>
            <a:r>
              <a:rPr lang="en-US" altLang="zh-CN" sz="2800" b="1" dirty="0">
                <a:latin typeface="微软雅黑" panose="020B0503020204020204" pitchFamily="34" charset="-122"/>
                <a:ea typeface="微软雅黑" panose="020B0503020204020204" pitchFamily="34" charset="-122"/>
              </a:rPr>
              <a:t>I/O</a:t>
            </a:r>
            <a:r>
              <a:rPr lang="zh-CN" altLang="en-US" sz="2800" b="1" dirty="0">
                <a:latin typeface="微软雅黑" panose="020B0503020204020204" pitchFamily="34" charset="-122"/>
                <a:ea typeface="微软雅黑" panose="020B0503020204020204" pitchFamily="34" charset="-122"/>
              </a:rPr>
              <a:t>端口分配</a:t>
            </a:r>
            <a:r>
              <a:rPr lang="en-US" altLang="zh-CN" sz="2800" b="1" dirty="0">
                <a:latin typeface="微软雅黑" panose="020B0503020204020204" pitchFamily="34" charset="-122"/>
                <a:ea typeface="微软雅黑" panose="020B0503020204020204" pitchFamily="34" charset="-122"/>
              </a:rPr>
              <a:t>I/O</a:t>
            </a:r>
            <a:r>
              <a:rPr lang="zh-CN" altLang="en-US" sz="2800" b="1" dirty="0">
                <a:latin typeface="微软雅黑" panose="020B0503020204020204" pitchFamily="34" charset="-122"/>
                <a:ea typeface="微软雅黑" panose="020B0503020204020204" pitchFamily="34" charset="-122"/>
              </a:rPr>
              <a:t>地址。</a:t>
            </a:r>
          </a:p>
          <a:p>
            <a:pPr marL="0" lvl="1">
              <a:lnSpc>
                <a:spcPct val="160000"/>
              </a:lnSpc>
              <a:buFont typeface="Arial" panose="020B0604020202020204" pitchFamily="34" charset="0"/>
              <a:buNone/>
            </a:pPr>
            <a:endParaRPr lang="en-US" altLang="zh-CN" sz="2800" b="1" dirty="0">
              <a:latin typeface="微软雅黑" panose="020B0503020204020204" pitchFamily="34" charset="-122"/>
              <a:ea typeface="微软雅黑" panose="020B0503020204020204" pitchFamily="34" charset="-122"/>
            </a:endParaRPr>
          </a:p>
          <a:p>
            <a:pPr marL="0" lvl="1">
              <a:lnSpc>
                <a:spcPct val="160000"/>
              </a:lnSpc>
              <a:buFont typeface="Arial" panose="020B0604020202020204" pitchFamily="34" charset="0"/>
              <a:buNone/>
            </a:pPr>
            <a:endParaRPr lang="en-US" altLang="zh-CN" sz="2800" b="1" dirty="0">
              <a:latin typeface="微软雅黑" panose="020B0503020204020204" pitchFamily="34" charset="-122"/>
              <a:ea typeface="微软雅黑" panose="020B0503020204020204" pitchFamily="34" charset="-122"/>
            </a:endParaRPr>
          </a:p>
          <a:p>
            <a:pPr marL="0" lvl="1">
              <a:lnSpc>
                <a:spcPct val="160000"/>
              </a:lnSpc>
              <a:buFont typeface="Arial" panose="020B0604020202020204" pitchFamily="34" charset="0"/>
              <a:buNone/>
            </a:pPr>
            <a:endParaRPr lang="en-US" altLang="zh-CN" sz="2800" b="1" dirty="0">
              <a:latin typeface="微软雅黑" panose="020B0503020204020204" pitchFamily="34" charset="-122"/>
              <a:ea typeface="微软雅黑" panose="020B0503020204020204" pitchFamily="34" charset="-122"/>
            </a:endParaRPr>
          </a:p>
          <a:p>
            <a:pPr marL="0" lvl="1">
              <a:lnSpc>
                <a:spcPct val="160000"/>
              </a:lnSpc>
              <a:buFont typeface="Arial" panose="020B0604020202020204" pitchFamily="34" charset="0"/>
              <a:buNone/>
            </a:pPr>
            <a:endParaRPr lang="zh-CN" altLang="en-US" sz="2800" b="1" dirty="0">
              <a:latin typeface="微软雅黑" panose="020B0503020204020204" pitchFamily="34" charset="-122"/>
              <a:ea typeface="微软雅黑" panose="020B0503020204020204" pitchFamily="34" charset="-122"/>
            </a:endParaRPr>
          </a:p>
          <a:p>
            <a:pPr marL="0" indent="0">
              <a:lnSpc>
                <a:spcPct val="160000"/>
              </a:lnSpc>
              <a:buFont typeface="Arial" panose="020B0604020202020204" pitchFamily="34" charset="0"/>
              <a:buNone/>
            </a:pPr>
            <a:endParaRPr lang="en-US" altLang="zh-CN" b="1" dirty="0">
              <a:latin typeface="微软雅黑" panose="020B0503020204020204" pitchFamily="34" charset="-122"/>
              <a:ea typeface="微软雅黑" panose="020B0503020204020204" pitchFamily="34" charset="-122"/>
            </a:endParaRPr>
          </a:p>
          <a:p>
            <a:pPr marL="0" indent="0">
              <a:lnSpc>
                <a:spcPct val="160000"/>
              </a:lnSpc>
              <a:buFont typeface="Arial" panose="020B0604020202020204" pitchFamily="34" charset="0"/>
              <a:buNone/>
            </a:pPr>
            <a:endParaRPr lang="en-US" altLang="zh-CN" b="1" dirty="0">
              <a:latin typeface="微软雅黑" panose="020B0503020204020204" pitchFamily="34" charset="-122"/>
              <a:ea typeface="微软雅黑" panose="020B0503020204020204" pitchFamily="34" charset="-122"/>
            </a:endParaRPr>
          </a:p>
        </p:txBody>
      </p:sp>
      <p:sp>
        <p:nvSpPr>
          <p:cNvPr id="18" name="矩形 17"/>
          <p:cNvSpPr/>
          <p:nvPr/>
        </p:nvSpPr>
        <p:spPr>
          <a:xfrm>
            <a:off x="960618" y="3888744"/>
            <a:ext cx="6896866" cy="6555641"/>
          </a:xfrm>
          <a:prstGeom prst="rect">
            <a:avLst/>
          </a:prstGeom>
        </p:spPr>
        <p:txBody>
          <a:bodyPr wrap="square">
            <a:spAutoFit/>
          </a:bodyPr>
          <a:lstStyle/>
          <a:p>
            <a:pPr marL="0" lvl="1">
              <a:lnSpc>
                <a:spcPct val="150000"/>
              </a:lnSpc>
            </a:pPr>
            <a:r>
              <a:rPr lang="zh-CN" altLang="en-US" sz="2800" b="1" dirty="0">
                <a:latin typeface="微软雅黑" panose="020B0503020204020204" pitchFamily="34" charset="-122"/>
                <a:ea typeface="微软雅黑" panose="020B0503020204020204" pitchFamily="34" charset="-122"/>
              </a:rPr>
              <a:t>在这种方式下，</a:t>
            </a:r>
            <a:r>
              <a:rPr lang="en-US" altLang="zh-CN" sz="2800" b="1" dirty="0">
                <a:latin typeface="微软雅黑" panose="020B0503020204020204" pitchFamily="34" charset="-122"/>
                <a:ea typeface="微软雅黑" panose="020B0503020204020204" pitchFamily="34" charset="-122"/>
              </a:rPr>
              <a:t>CPU</a:t>
            </a:r>
            <a:r>
              <a:rPr lang="zh-CN" altLang="en-US" sz="2800" b="1" dirty="0">
                <a:latin typeface="微软雅黑" panose="020B0503020204020204" pitchFamily="34" charset="-122"/>
                <a:ea typeface="微软雅黑" panose="020B0503020204020204" pitchFamily="34" charset="-122"/>
              </a:rPr>
              <a:t>指令系统中有专门的用于与设备进行数据传输的输入输出指令，对设备的访问必须使用这些专用指令进行。  </a:t>
            </a:r>
          </a:p>
          <a:p>
            <a:pPr marL="0" lvl="1">
              <a:lnSpc>
                <a:spcPct val="150000"/>
              </a:lnSpc>
            </a:pPr>
            <a:endParaRPr lang="zh-CN" altLang="en-US" sz="2800" b="1" dirty="0">
              <a:latin typeface="微软雅黑" panose="020B0503020204020204" pitchFamily="34" charset="-122"/>
              <a:ea typeface="微软雅黑" panose="020B0503020204020204" pitchFamily="34" charset="-122"/>
            </a:endParaRPr>
          </a:p>
          <a:p>
            <a:pPr marL="0" lvl="1">
              <a:lnSpc>
                <a:spcPct val="150000"/>
              </a:lnSpc>
            </a:pPr>
            <a:endParaRPr lang="zh-CN" altLang="en-US" sz="2800" b="1" dirty="0">
              <a:latin typeface="微软雅黑" panose="020B0503020204020204" pitchFamily="34" charset="-122"/>
              <a:ea typeface="微软雅黑" panose="020B0503020204020204" pitchFamily="34" charset="-122"/>
            </a:endParaRPr>
          </a:p>
          <a:p>
            <a:pPr marL="0" lvl="1">
              <a:lnSpc>
                <a:spcPct val="150000"/>
              </a:lnSpc>
            </a:pPr>
            <a:endParaRPr lang="zh-CN" altLang="en-US" sz="2800" b="1" dirty="0">
              <a:latin typeface="微软雅黑" panose="020B0503020204020204" pitchFamily="34" charset="-122"/>
              <a:ea typeface="微软雅黑" panose="020B0503020204020204" pitchFamily="34" charset="-122"/>
            </a:endParaRPr>
          </a:p>
          <a:p>
            <a:pPr marL="0" lvl="1">
              <a:lnSpc>
                <a:spcPct val="150000"/>
              </a:lnSpc>
            </a:pPr>
            <a:endParaRPr lang="zh-CN" altLang="en-US" sz="2800" b="1" dirty="0">
              <a:latin typeface="微软雅黑" panose="020B0503020204020204" pitchFamily="34" charset="-122"/>
              <a:ea typeface="微软雅黑" panose="020B0503020204020204" pitchFamily="34" charset="-122"/>
            </a:endParaRPr>
          </a:p>
          <a:p>
            <a:pPr marL="0" lvl="1">
              <a:lnSpc>
                <a:spcPct val="150000"/>
              </a:lnSpc>
            </a:pPr>
            <a:endParaRPr lang="zh-CN" altLang="en-US" sz="2800" b="1" dirty="0">
              <a:latin typeface="微软雅黑" panose="020B0503020204020204" pitchFamily="34" charset="-122"/>
              <a:ea typeface="微软雅黑" panose="020B0503020204020204" pitchFamily="34" charset="-122"/>
            </a:endParaRPr>
          </a:p>
          <a:p>
            <a:pPr marL="0" lvl="1">
              <a:lnSpc>
                <a:spcPct val="150000"/>
              </a:lnSpc>
            </a:pPr>
            <a:endParaRPr lang="zh-CN" altLang="en-US" sz="2800" b="1" dirty="0">
              <a:latin typeface="微软雅黑" panose="020B0503020204020204" pitchFamily="34" charset="-122"/>
              <a:ea typeface="微软雅黑" panose="020B0503020204020204" pitchFamily="34" charset="-122"/>
            </a:endParaRPr>
          </a:p>
          <a:p>
            <a:pPr>
              <a:lnSpc>
                <a:spcPct val="150000"/>
              </a:lnSpc>
            </a:pPr>
            <a:endParaRPr lang="zh-CN" altLang="en-US" sz="2800" b="1"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45560342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advTm="0">
        <p15:prstTrans prst="peelOff"/>
      </p:transition>
    </mc:Choice>
    <mc:Fallback xmlns="">
      <p:transition spd="slow" advTm="0">
        <p:fade/>
      </p:transition>
    </mc:Fallback>
  </mc:AlternateContent>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Freeform 5"/>
          <p:cNvSpPr>
            <a:spLocks/>
          </p:cNvSpPr>
          <p:nvPr/>
        </p:nvSpPr>
        <p:spPr bwMode="auto">
          <a:xfrm>
            <a:off x="1186989" y="1413566"/>
            <a:ext cx="304681" cy="4308380"/>
          </a:xfrm>
          <a:custGeom>
            <a:avLst/>
            <a:gdLst>
              <a:gd name="T0" fmla="*/ 175 w 351"/>
              <a:gd name="T1" fmla="*/ 0 h 4948"/>
              <a:gd name="T2" fmla="*/ 175 w 351"/>
              <a:gd name="T3" fmla="*/ 0 h 4948"/>
              <a:gd name="T4" fmla="*/ 351 w 351"/>
              <a:gd name="T5" fmla="*/ 176 h 4948"/>
              <a:gd name="T6" fmla="*/ 351 w 351"/>
              <a:gd name="T7" fmla="*/ 4772 h 4948"/>
              <a:gd name="T8" fmla="*/ 175 w 351"/>
              <a:gd name="T9" fmla="*/ 4948 h 4948"/>
              <a:gd name="T10" fmla="*/ 175 w 351"/>
              <a:gd name="T11" fmla="*/ 4948 h 4948"/>
              <a:gd name="T12" fmla="*/ 0 w 351"/>
              <a:gd name="T13" fmla="*/ 4772 h 4948"/>
              <a:gd name="T14" fmla="*/ 0 w 351"/>
              <a:gd name="T15" fmla="*/ 176 h 4948"/>
              <a:gd name="T16" fmla="*/ 175 w 351"/>
              <a:gd name="T17" fmla="*/ 0 h 49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51" h="4948">
                <a:moveTo>
                  <a:pt x="175" y="0"/>
                </a:moveTo>
                <a:lnTo>
                  <a:pt x="175" y="0"/>
                </a:lnTo>
                <a:cubicBezTo>
                  <a:pt x="272" y="0"/>
                  <a:pt x="351" y="79"/>
                  <a:pt x="351" y="176"/>
                </a:cubicBezTo>
                <a:lnTo>
                  <a:pt x="351" y="4772"/>
                </a:lnTo>
                <a:cubicBezTo>
                  <a:pt x="351" y="4869"/>
                  <a:pt x="272" y="4948"/>
                  <a:pt x="175" y="4948"/>
                </a:cubicBezTo>
                <a:lnTo>
                  <a:pt x="175" y="4948"/>
                </a:lnTo>
                <a:cubicBezTo>
                  <a:pt x="79" y="4948"/>
                  <a:pt x="0" y="4869"/>
                  <a:pt x="0" y="4772"/>
                </a:cubicBezTo>
                <a:lnTo>
                  <a:pt x="0" y="176"/>
                </a:lnTo>
                <a:cubicBezTo>
                  <a:pt x="0" y="79"/>
                  <a:pt x="79" y="0"/>
                  <a:pt x="175" y="0"/>
                </a:cubicBezTo>
                <a:close/>
              </a:path>
            </a:pathLst>
          </a:custGeom>
          <a:solidFill>
            <a:srgbClr val="C1C0C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8" tIns="45699" rIns="91398" bIns="45699" numCol="1" anchor="t" anchorCtr="0" compatLnSpc="1">
            <a:prstTxWarp prst="textNoShape">
              <a:avLst/>
            </a:prstTxWarp>
          </a:bodyPr>
          <a:lstStyle/>
          <a:p>
            <a:endParaRPr lang="zh-CN" altLang="en-US" sz="1799"/>
          </a:p>
        </p:txBody>
      </p:sp>
      <p:sp>
        <p:nvSpPr>
          <p:cNvPr id="9" name="Freeform 6"/>
          <p:cNvSpPr>
            <a:spLocks/>
          </p:cNvSpPr>
          <p:nvPr/>
        </p:nvSpPr>
        <p:spPr bwMode="auto">
          <a:xfrm>
            <a:off x="1186989" y="1892805"/>
            <a:ext cx="304681" cy="3829143"/>
          </a:xfrm>
          <a:custGeom>
            <a:avLst/>
            <a:gdLst>
              <a:gd name="T0" fmla="*/ 175 w 351"/>
              <a:gd name="T1" fmla="*/ 0 h 4397"/>
              <a:gd name="T2" fmla="*/ 175 w 351"/>
              <a:gd name="T3" fmla="*/ 0 h 4397"/>
              <a:gd name="T4" fmla="*/ 351 w 351"/>
              <a:gd name="T5" fmla="*/ 143 h 4397"/>
              <a:gd name="T6" fmla="*/ 351 w 351"/>
              <a:gd name="T7" fmla="*/ 4254 h 4397"/>
              <a:gd name="T8" fmla="*/ 175 w 351"/>
              <a:gd name="T9" fmla="*/ 4397 h 4397"/>
              <a:gd name="T10" fmla="*/ 175 w 351"/>
              <a:gd name="T11" fmla="*/ 4397 h 4397"/>
              <a:gd name="T12" fmla="*/ 0 w 351"/>
              <a:gd name="T13" fmla="*/ 4254 h 4397"/>
              <a:gd name="T14" fmla="*/ 0 w 351"/>
              <a:gd name="T15" fmla="*/ 143 h 4397"/>
              <a:gd name="T16" fmla="*/ 175 w 351"/>
              <a:gd name="T17" fmla="*/ 0 h 43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51" h="4397">
                <a:moveTo>
                  <a:pt x="175" y="0"/>
                </a:moveTo>
                <a:lnTo>
                  <a:pt x="175" y="0"/>
                </a:lnTo>
                <a:cubicBezTo>
                  <a:pt x="272" y="0"/>
                  <a:pt x="351" y="64"/>
                  <a:pt x="351" y="143"/>
                </a:cubicBezTo>
                <a:lnTo>
                  <a:pt x="351" y="4254"/>
                </a:lnTo>
                <a:cubicBezTo>
                  <a:pt x="351" y="4332"/>
                  <a:pt x="272" y="4397"/>
                  <a:pt x="175" y="4397"/>
                </a:cubicBezTo>
                <a:lnTo>
                  <a:pt x="175" y="4397"/>
                </a:lnTo>
                <a:cubicBezTo>
                  <a:pt x="79" y="4397"/>
                  <a:pt x="0" y="4332"/>
                  <a:pt x="0" y="4254"/>
                </a:cubicBezTo>
                <a:lnTo>
                  <a:pt x="0" y="143"/>
                </a:lnTo>
                <a:cubicBezTo>
                  <a:pt x="0" y="64"/>
                  <a:pt x="79" y="0"/>
                  <a:pt x="175" y="0"/>
                </a:cubicBezTo>
                <a:close/>
              </a:path>
            </a:pathLst>
          </a:custGeom>
          <a:solidFill>
            <a:srgbClr val="00A3A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8" tIns="45699" rIns="91398" bIns="45699" numCol="1" anchor="t" anchorCtr="0" compatLnSpc="1">
            <a:prstTxWarp prst="textNoShape">
              <a:avLst/>
            </a:prstTxWarp>
          </a:bodyPr>
          <a:lstStyle/>
          <a:p>
            <a:endParaRPr lang="zh-CN" altLang="en-US" sz="1799"/>
          </a:p>
        </p:txBody>
      </p:sp>
      <p:sp>
        <p:nvSpPr>
          <p:cNvPr id="10" name="Oval 7"/>
          <p:cNvSpPr>
            <a:spLocks noChangeArrowheads="1"/>
          </p:cNvSpPr>
          <p:nvPr/>
        </p:nvSpPr>
        <p:spPr bwMode="auto">
          <a:xfrm>
            <a:off x="1056865" y="5353789"/>
            <a:ext cx="585559" cy="585559"/>
          </a:xfrm>
          <a:prstGeom prst="ellipse">
            <a:avLst/>
          </a:prstGeom>
          <a:solidFill>
            <a:srgbClr val="00A3A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8" tIns="45699" rIns="91398" bIns="45699" numCol="1" anchor="t" anchorCtr="0" compatLnSpc="1">
            <a:prstTxWarp prst="textNoShape">
              <a:avLst/>
            </a:prstTxWarp>
          </a:bodyPr>
          <a:lstStyle/>
          <a:p>
            <a:endParaRPr lang="zh-CN" altLang="en-US" sz="1799"/>
          </a:p>
        </p:txBody>
      </p:sp>
      <p:sp>
        <p:nvSpPr>
          <p:cNvPr id="11" name="Freeform 8"/>
          <p:cNvSpPr>
            <a:spLocks/>
          </p:cNvSpPr>
          <p:nvPr/>
        </p:nvSpPr>
        <p:spPr bwMode="auto">
          <a:xfrm>
            <a:off x="2361453" y="1413566"/>
            <a:ext cx="306268" cy="4308380"/>
          </a:xfrm>
          <a:custGeom>
            <a:avLst/>
            <a:gdLst>
              <a:gd name="T0" fmla="*/ 175 w 351"/>
              <a:gd name="T1" fmla="*/ 0 h 4948"/>
              <a:gd name="T2" fmla="*/ 175 w 351"/>
              <a:gd name="T3" fmla="*/ 0 h 4948"/>
              <a:gd name="T4" fmla="*/ 351 w 351"/>
              <a:gd name="T5" fmla="*/ 176 h 4948"/>
              <a:gd name="T6" fmla="*/ 351 w 351"/>
              <a:gd name="T7" fmla="*/ 4772 h 4948"/>
              <a:gd name="T8" fmla="*/ 175 w 351"/>
              <a:gd name="T9" fmla="*/ 4948 h 4948"/>
              <a:gd name="T10" fmla="*/ 175 w 351"/>
              <a:gd name="T11" fmla="*/ 4948 h 4948"/>
              <a:gd name="T12" fmla="*/ 0 w 351"/>
              <a:gd name="T13" fmla="*/ 4772 h 4948"/>
              <a:gd name="T14" fmla="*/ 0 w 351"/>
              <a:gd name="T15" fmla="*/ 176 h 4948"/>
              <a:gd name="T16" fmla="*/ 175 w 351"/>
              <a:gd name="T17" fmla="*/ 0 h 49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51" h="4948">
                <a:moveTo>
                  <a:pt x="175" y="0"/>
                </a:moveTo>
                <a:lnTo>
                  <a:pt x="175" y="0"/>
                </a:lnTo>
                <a:cubicBezTo>
                  <a:pt x="272" y="0"/>
                  <a:pt x="351" y="79"/>
                  <a:pt x="351" y="176"/>
                </a:cubicBezTo>
                <a:lnTo>
                  <a:pt x="351" y="4772"/>
                </a:lnTo>
                <a:cubicBezTo>
                  <a:pt x="351" y="4869"/>
                  <a:pt x="272" y="4948"/>
                  <a:pt x="175" y="4948"/>
                </a:cubicBezTo>
                <a:lnTo>
                  <a:pt x="175" y="4948"/>
                </a:lnTo>
                <a:cubicBezTo>
                  <a:pt x="79" y="4948"/>
                  <a:pt x="0" y="4869"/>
                  <a:pt x="0" y="4772"/>
                </a:cubicBezTo>
                <a:lnTo>
                  <a:pt x="0" y="176"/>
                </a:lnTo>
                <a:cubicBezTo>
                  <a:pt x="0" y="79"/>
                  <a:pt x="79" y="0"/>
                  <a:pt x="175" y="0"/>
                </a:cubicBezTo>
                <a:close/>
              </a:path>
            </a:pathLst>
          </a:custGeom>
          <a:solidFill>
            <a:srgbClr val="C1C0C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8" tIns="45699" rIns="91398" bIns="45699" numCol="1" anchor="t" anchorCtr="0" compatLnSpc="1">
            <a:prstTxWarp prst="textNoShape">
              <a:avLst/>
            </a:prstTxWarp>
          </a:bodyPr>
          <a:lstStyle/>
          <a:p>
            <a:endParaRPr lang="zh-CN" altLang="en-US" sz="1799"/>
          </a:p>
        </p:txBody>
      </p:sp>
      <p:sp>
        <p:nvSpPr>
          <p:cNvPr id="12" name="Freeform 9"/>
          <p:cNvSpPr>
            <a:spLocks/>
          </p:cNvSpPr>
          <p:nvPr/>
        </p:nvSpPr>
        <p:spPr bwMode="auto">
          <a:xfrm>
            <a:off x="2361453" y="2389499"/>
            <a:ext cx="306268" cy="3332449"/>
          </a:xfrm>
          <a:custGeom>
            <a:avLst/>
            <a:gdLst>
              <a:gd name="T0" fmla="*/ 175 w 351"/>
              <a:gd name="T1" fmla="*/ 0 h 3828"/>
              <a:gd name="T2" fmla="*/ 175 w 351"/>
              <a:gd name="T3" fmla="*/ 0 h 3828"/>
              <a:gd name="T4" fmla="*/ 351 w 351"/>
              <a:gd name="T5" fmla="*/ 124 h 3828"/>
              <a:gd name="T6" fmla="*/ 351 w 351"/>
              <a:gd name="T7" fmla="*/ 3703 h 3828"/>
              <a:gd name="T8" fmla="*/ 175 w 351"/>
              <a:gd name="T9" fmla="*/ 3828 h 3828"/>
              <a:gd name="T10" fmla="*/ 175 w 351"/>
              <a:gd name="T11" fmla="*/ 3828 h 3828"/>
              <a:gd name="T12" fmla="*/ 0 w 351"/>
              <a:gd name="T13" fmla="*/ 3703 h 3828"/>
              <a:gd name="T14" fmla="*/ 0 w 351"/>
              <a:gd name="T15" fmla="*/ 124 h 3828"/>
              <a:gd name="T16" fmla="*/ 175 w 351"/>
              <a:gd name="T17" fmla="*/ 0 h 38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51" h="3828">
                <a:moveTo>
                  <a:pt x="175" y="0"/>
                </a:moveTo>
                <a:lnTo>
                  <a:pt x="175" y="0"/>
                </a:lnTo>
                <a:cubicBezTo>
                  <a:pt x="272" y="0"/>
                  <a:pt x="351" y="56"/>
                  <a:pt x="351" y="124"/>
                </a:cubicBezTo>
                <a:lnTo>
                  <a:pt x="351" y="3703"/>
                </a:lnTo>
                <a:cubicBezTo>
                  <a:pt x="351" y="3772"/>
                  <a:pt x="272" y="3828"/>
                  <a:pt x="175" y="3828"/>
                </a:cubicBezTo>
                <a:lnTo>
                  <a:pt x="175" y="3828"/>
                </a:lnTo>
                <a:cubicBezTo>
                  <a:pt x="79" y="3828"/>
                  <a:pt x="0" y="3772"/>
                  <a:pt x="0" y="3703"/>
                </a:cubicBezTo>
                <a:lnTo>
                  <a:pt x="0" y="124"/>
                </a:lnTo>
                <a:cubicBezTo>
                  <a:pt x="0" y="56"/>
                  <a:pt x="79" y="0"/>
                  <a:pt x="175" y="0"/>
                </a:cubicBezTo>
                <a:close/>
              </a:path>
            </a:pathLst>
          </a:custGeom>
          <a:solidFill>
            <a:srgbClr val="93CA3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8" tIns="45699" rIns="91398" bIns="45699" numCol="1" anchor="t" anchorCtr="0" compatLnSpc="1">
            <a:prstTxWarp prst="textNoShape">
              <a:avLst/>
            </a:prstTxWarp>
          </a:bodyPr>
          <a:lstStyle/>
          <a:p>
            <a:endParaRPr lang="zh-CN" altLang="en-US" sz="1799"/>
          </a:p>
        </p:txBody>
      </p:sp>
      <p:sp>
        <p:nvSpPr>
          <p:cNvPr id="13" name="Oval 10"/>
          <p:cNvSpPr>
            <a:spLocks noChangeArrowheads="1"/>
          </p:cNvSpPr>
          <p:nvPr/>
        </p:nvSpPr>
        <p:spPr bwMode="auto">
          <a:xfrm>
            <a:off x="2231329" y="5353789"/>
            <a:ext cx="585559" cy="585559"/>
          </a:xfrm>
          <a:prstGeom prst="ellipse">
            <a:avLst/>
          </a:prstGeom>
          <a:solidFill>
            <a:srgbClr val="93CA3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8" tIns="45699" rIns="91398" bIns="45699" numCol="1" anchor="t" anchorCtr="0" compatLnSpc="1">
            <a:prstTxWarp prst="textNoShape">
              <a:avLst/>
            </a:prstTxWarp>
          </a:bodyPr>
          <a:lstStyle/>
          <a:p>
            <a:endParaRPr lang="zh-CN" altLang="en-US" sz="1799"/>
          </a:p>
        </p:txBody>
      </p:sp>
      <p:sp>
        <p:nvSpPr>
          <p:cNvPr id="14" name="Freeform 11"/>
          <p:cNvSpPr>
            <a:spLocks/>
          </p:cNvSpPr>
          <p:nvPr/>
        </p:nvSpPr>
        <p:spPr bwMode="auto">
          <a:xfrm>
            <a:off x="3461731" y="1413566"/>
            <a:ext cx="306268" cy="4308380"/>
          </a:xfrm>
          <a:custGeom>
            <a:avLst/>
            <a:gdLst>
              <a:gd name="T0" fmla="*/ 175 w 351"/>
              <a:gd name="T1" fmla="*/ 0 h 4948"/>
              <a:gd name="T2" fmla="*/ 175 w 351"/>
              <a:gd name="T3" fmla="*/ 0 h 4948"/>
              <a:gd name="T4" fmla="*/ 351 w 351"/>
              <a:gd name="T5" fmla="*/ 176 h 4948"/>
              <a:gd name="T6" fmla="*/ 351 w 351"/>
              <a:gd name="T7" fmla="*/ 4772 h 4948"/>
              <a:gd name="T8" fmla="*/ 175 w 351"/>
              <a:gd name="T9" fmla="*/ 4948 h 4948"/>
              <a:gd name="T10" fmla="*/ 175 w 351"/>
              <a:gd name="T11" fmla="*/ 4948 h 4948"/>
              <a:gd name="T12" fmla="*/ 0 w 351"/>
              <a:gd name="T13" fmla="*/ 4772 h 4948"/>
              <a:gd name="T14" fmla="*/ 0 w 351"/>
              <a:gd name="T15" fmla="*/ 176 h 4948"/>
              <a:gd name="T16" fmla="*/ 175 w 351"/>
              <a:gd name="T17" fmla="*/ 0 h 49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51" h="4948">
                <a:moveTo>
                  <a:pt x="175" y="0"/>
                </a:moveTo>
                <a:lnTo>
                  <a:pt x="175" y="0"/>
                </a:lnTo>
                <a:cubicBezTo>
                  <a:pt x="272" y="0"/>
                  <a:pt x="351" y="79"/>
                  <a:pt x="351" y="176"/>
                </a:cubicBezTo>
                <a:lnTo>
                  <a:pt x="351" y="4772"/>
                </a:lnTo>
                <a:cubicBezTo>
                  <a:pt x="351" y="4869"/>
                  <a:pt x="272" y="4948"/>
                  <a:pt x="175" y="4948"/>
                </a:cubicBezTo>
                <a:lnTo>
                  <a:pt x="175" y="4948"/>
                </a:lnTo>
                <a:cubicBezTo>
                  <a:pt x="79" y="4948"/>
                  <a:pt x="0" y="4869"/>
                  <a:pt x="0" y="4772"/>
                </a:cubicBezTo>
                <a:lnTo>
                  <a:pt x="0" y="176"/>
                </a:lnTo>
                <a:cubicBezTo>
                  <a:pt x="0" y="79"/>
                  <a:pt x="79" y="0"/>
                  <a:pt x="175" y="0"/>
                </a:cubicBezTo>
                <a:close/>
              </a:path>
            </a:pathLst>
          </a:custGeom>
          <a:solidFill>
            <a:srgbClr val="C1C0C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8" tIns="45699" rIns="91398" bIns="45699" numCol="1" anchor="t" anchorCtr="0" compatLnSpc="1">
            <a:prstTxWarp prst="textNoShape">
              <a:avLst/>
            </a:prstTxWarp>
          </a:bodyPr>
          <a:lstStyle/>
          <a:p>
            <a:endParaRPr lang="zh-CN" altLang="en-US" sz="1799"/>
          </a:p>
        </p:txBody>
      </p:sp>
      <p:sp>
        <p:nvSpPr>
          <p:cNvPr id="15" name="Freeform 12"/>
          <p:cNvSpPr>
            <a:spLocks/>
          </p:cNvSpPr>
          <p:nvPr/>
        </p:nvSpPr>
        <p:spPr bwMode="auto">
          <a:xfrm>
            <a:off x="3461731" y="1591295"/>
            <a:ext cx="306268" cy="4130649"/>
          </a:xfrm>
          <a:custGeom>
            <a:avLst/>
            <a:gdLst>
              <a:gd name="T0" fmla="*/ 175 w 351"/>
              <a:gd name="T1" fmla="*/ 0 h 4744"/>
              <a:gd name="T2" fmla="*/ 175 w 351"/>
              <a:gd name="T3" fmla="*/ 0 h 4744"/>
              <a:gd name="T4" fmla="*/ 351 w 351"/>
              <a:gd name="T5" fmla="*/ 154 h 4744"/>
              <a:gd name="T6" fmla="*/ 351 w 351"/>
              <a:gd name="T7" fmla="*/ 4589 h 4744"/>
              <a:gd name="T8" fmla="*/ 175 w 351"/>
              <a:gd name="T9" fmla="*/ 4744 h 4744"/>
              <a:gd name="T10" fmla="*/ 175 w 351"/>
              <a:gd name="T11" fmla="*/ 4744 h 4744"/>
              <a:gd name="T12" fmla="*/ 0 w 351"/>
              <a:gd name="T13" fmla="*/ 4589 h 4744"/>
              <a:gd name="T14" fmla="*/ 0 w 351"/>
              <a:gd name="T15" fmla="*/ 154 h 4744"/>
              <a:gd name="T16" fmla="*/ 175 w 351"/>
              <a:gd name="T17" fmla="*/ 0 h 47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51" h="4744">
                <a:moveTo>
                  <a:pt x="175" y="0"/>
                </a:moveTo>
                <a:lnTo>
                  <a:pt x="175" y="0"/>
                </a:lnTo>
                <a:cubicBezTo>
                  <a:pt x="272" y="0"/>
                  <a:pt x="351" y="69"/>
                  <a:pt x="351" y="154"/>
                </a:cubicBezTo>
                <a:lnTo>
                  <a:pt x="351" y="4589"/>
                </a:lnTo>
                <a:cubicBezTo>
                  <a:pt x="351" y="4674"/>
                  <a:pt x="272" y="4744"/>
                  <a:pt x="175" y="4744"/>
                </a:cubicBezTo>
                <a:lnTo>
                  <a:pt x="175" y="4744"/>
                </a:lnTo>
                <a:cubicBezTo>
                  <a:pt x="79" y="4744"/>
                  <a:pt x="0" y="4674"/>
                  <a:pt x="0" y="4589"/>
                </a:cubicBezTo>
                <a:lnTo>
                  <a:pt x="0" y="154"/>
                </a:lnTo>
                <a:cubicBezTo>
                  <a:pt x="0" y="69"/>
                  <a:pt x="79" y="0"/>
                  <a:pt x="175" y="0"/>
                </a:cubicBezTo>
                <a:close/>
              </a:path>
            </a:pathLst>
          </a:custGeom>
          <a:solidFill>
            <a:schemeClr val="accent6">
              <a:lumMod val="75000"/>
            </a:schemeClr>
          </a:solidFill>
          <a:ln>
            <a:noFill/>
          </a:ln>
          <a:extLst/>
        </p:spPr>
        <p:txBody>
          <a:bodyPr vert="horz" wrap="square" lIns="91398" tIns="45699" rIns="91398" bIns="45699" numCol="1" anchor="t" anchorCtr="0" compatLnSpc="1">
            <a:prstTxWarp prst="textNoShape">
              <a:avLst/>
            </a:prstTxWarp>
          </a:bodyPr>
          <a:lstStyle/>
          <a:p>
            <a:endParaRPr lang="zh-CN" altLang="en-US" sz="1799"/>
          </a:p>
        </p:txBody>
      </p:sp>
      <p:sp>
        <p:nvSpPr>
          <p:cNvPr id="16" name="Oval 13"/>
          <p:cNvSpPr>
            <a:spLocks noChangeArrowheads="1"/>
          </p:cNvSpPr>
          <p:nvPr/>
        </p:nvSpPr>
        <p:spPr bwMode="auto">
          <a:xfrm>
            <a:off x="3331607" y="5353789"/>
            <a:ext cx="585559" cy="585559"/>
          </a:xfrm>
          <a:prstGeom prst="ellipse">
            <a:avLst/>
          </a:prstGeom>
          <a:solidFill>
            <a:schemeClr val="accent6">
              <a:lumMod val="75000"/>
            </a:schemeClr>
          </a:solidFill>
          <a:ln>
            <a:noFill/>
          </a:ln>
          <a:extLst/>
        </p:spPr>
        <p:txBody>
          <a:bodyPr vert="horz" wrap="square" lIns="91398" tIns="45699" rIns="91398" bIns="45699" numCol="1" anchor="t" anchorCtr="0" compatLnSpc="1">
            <a:prstTxWarp prst="textNoShape">
              <a:avLst/>
            </a:prstTxWarp>
          </a:bodyPr>
          <a:lstStyle/>
          <a:p>
            <a:endParaRPr lang="zh-CN" altLang="en-US" sz="1799"/>
          </a:p>
        </p:txBody>
      </p:sp>
      <p:sp>
        <p:nvSpPr>
          <p:cNvPr id="17" name="Freeform 14"/>
          <p:cNvSpPr>
            <a:spLocks/>
          </p:cNvSpPr>
          <p:nvPr/>
        </p:nvSpPr>
        <p:spPr bwMode="auto">
          <a:xfrm>
            <a:off x="4703241" y="1413566"/>
            <a:ext cx="306268" cy="4308380"/>
          </a:xfrm>
          <a:custGeom>
            <a:avLst/>
            <a:gdLst>
              <a:gd name="T0" fmla="*/ 176 w 352"/>
              <a:gd name="T1" fmla="*/ 0 h 4948"/>
              <a:gd name="T2" fmla="*/ 176 w 352"/>
              <a:gd name="T3" fmla="*/ 0 h 4948"/>
              <a:gd name="T4" fmla="*/ 352 w 352"/>
              <a:gd name="T5" fmla="*/ 176 h 4948"/>
              <a:gd name="T6" fmla="*/ 352 w 352"/>
              <a:gd name="T7" fmla="*/ 4772 h 4948"/>
              <a:gd name="T8" fmla="*/ 176 w 352"/>
              <a:gd name="T9" fmla="*/ 4948 h 4948"/>
              <a:gd name="T10" fmla="*/ 176 w 352"/>
              <a:gd name="T11" fmla="*/ 4948 h 4948"/>
              <a:gd name="T12" fmla="*/ 0 w 352"/>
              <a:gd name="T13" fmla="*/ 4772 h 4948"/>
              <a:gd name="T14" fmla="*/ 0 w 352"/>
              <a:gd name="T15" fmla="*/ 176 h 4948"/>
              <a:gd name="T16" fmla="*/ 176 w 352"/>
              <a:gd name="T17" fmla="*/ 0 h 49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52" h="4948">
                <a:moveTo>
                  <a:pt x="176" y="0"/>
                </a:moveTo>
                <a:lnTo>
                  <a:pt x="176" y="0"/>
                </a:lnTo>
                <a:cubicBezTo>
                  <a:pt x="273" y="0"/>
                  <a:pt x="352" y="79"/>
                  <a:pt x="352" y="176"/>
                </a:cubicBezTo>
                <a:lnTo>
                  <a:pt x="352" y="4772"/>
                </a:lnTo>
                <a:cubicBezTo>
                  <a:pt x="352" y="4869"/>
                  <a:pt x="273" y="4948"/>
                  <a:pt x="176" y="4948"/>
                </a:cubicBezTo>
                <a:lnTo>
                  <a:pt x="176" y="4948"/>
                </a:lnTo>
                <a:cubicBezTo>
                  <a:pt x="79" y="4948"/>
                  <a:pt x="0" y="4869"/>
                  <a:pt x="0" y="4772"/>
                </a:cubicBezTo>
                <a:lnTo>
                  <a:pt x="0" y="176"/>
                </a:lnTo>
                <a:cubicBezTo>
                  <a:pt x="0" y="79"/>
                  <a:pt x="79" y="0"/>
                  <a:pt x="176" y="0"/>
                </a:cubicBezTo>
                <a:close/>
              </a:path>
            </a:pathLst>
          </a:custGeom>
          <a:solidFill>
            <a:srgbClr val="C1C0C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398" tIns="45699" rIns="91398" bIns="45699" numCol="1" anchor="t" anchorCtr="0" compatLnSpc="1">
            <a:prstTxWarp prst="textNoShape">
              <a:avLst/>
            </a:prstTxWarp>
          </a:bodyPr>
          <a:lstStyle/>
          <a:p>
            <a:endParaRPr lang="zh-CN" altLang="en-US" sz="1799"/>
          </a:p>
        </p:txBody>
      </p:sp>
      <p:sp>
        <p:nvSpPr>
          <p:cNvPr id="18" name="Freeform 15"/>
          <p:cNvSpPr>
            <a:spLocks/>
          </p:cNvSpPr>
          <p:nvPr/>
        </p:nvSpPr>
        <p:spPr bwMode="auto">
          <a:xfrm>
            <a:off x="4703241" y="2061387"/>
            <a:ext cx="306268" cy="3660561"/>
          </a:xfrm>
          <a:custGeom>
            <a:avLst/>
            <a:gdLst>
              <a:gd name="T0" fmla="*/ 176 w 352"/>
              <a:gd name="T1" fmla="*/ 0 h 4581"/>
              <a:gd name="T2" fmla="*/ 176 w 352"/>
              <a:gd name="T3" fmla="*/ 0 h 4581"/>
              <a:gd name="T4" fmla="*/ 352 w 352"/>
              <a:gd name="T5" fmla="*/ 149 h 4581"/>
              <a:gd name="T6" fmla="*/ 352 w 352"/>
              <a:gd name="T7" fmla="*/ 4432 h 4581"/>
              <a:gd name="T8" fmla="*/ 176 w 352"/>
              <a:gd name="T9" fmla="*/ 4581 h 4581"/>
              <a:gd name="T10" fmla="*/ 176 w 352"/>
              <a:gd name="T11" fmla="*/ 4581 h 4581"/>
              <a:gd name="T12" fmla="*/ 0 w 352"/>
              <a:gd name="T13" fmla="*/ 4432 h 4581"/>
              <a:gd name="T14" fmla="*/ 0 w 352"/>
              <a:gd name="T15" fmla="*/ 149 h 4581"/>
              <a:gd name="T16" fmla="*/ 176 w 352"/>
              <a:gd name="T17" fmla="*/ 0 h 45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52" h="4581">
                <a:moveTo>
                  <a:pt x="176" y="0"/>
                </a:moveTo>
                <a:lnTo>
                  <a:pt x="176" y="0"/>
                </a:lnTo>
                <a:cubicBezTo>
                  <a:pt x="273" y="0"/>
                  <a:pt x="352" y="67"/>
                  <a:pt x="352" y="149"/>
                </a:cubicBezTo>
                <a:lnTo>
                  <a:pt x="352" y="4432"/>
                </a:lnTo>
                <a:cubicBezTo>
                  <a:pt x="352" y="4514"/>
                  <a:pt x="273" y="4581"/>
                  <a:pt x="176" y="4581"/>
                </a:cubicBezTo>
                <a:lnTo>
                  <a:pt x="176" y="4581"/>
                </a:lnTo>
                <a:cubicBezTo>
                  <a:pt x="79" y="4581"/>
                  <a:pt x="0" y="4514"/>
                  <a:pt x="0" y="4432"/>
                </a:cubicBezTo>
                <a:lnTo>
                  <a:pt x="0" y="149"/>
                </a:lnTo>
                <a:cubicBezTo>
                  <a:pt x="0" y="67"/>
                  <a:pt x="79" y="0"/>
                  <a:pt x="176" y="0"/>
                </a:cubicBezTo>
                <a:close/>
              </a:path>
            </a:pathLst>
          </a:custGeom>
          <a:solidFill>
            <a:srgbClr val="FFC000"/>
          </a:solidFill>
          <a:ln>
            <a:noFill/>
          </a:ln>
          <a:extLst/>
        </p:spPr>
        <p:txBody>
          <a:bodyPr vert="horz" wrap="square" lIns="91398" tIns="45699" rIns="91398" bIns="45699" numCol="1" anchor="t" anchorCtr="0" compatLnSpc="1">
            <a:prstTxWarp prst="textNoShape">
              <a:avLst/>
            </a:prstTxWarp>
          </a:bodyPr>
          <a:lstStyle/>
          <a:p>
            <a:endParaRPr lang="zh-CN" altLang="en-US" sz="1799"/>
          </a:p>
        </p:txBody>
      </p:sp>
      <p:sp>
        <p:nvSpPr>
          <p:cNvPr id="19" name="Oval 16"/>
          <p:cNvSpPr>
            <a:spLocks noChangeArrowheads="1"/>
          </p:cNvSpPr>
          <p:nvPr/>
        </p:nvSpPr>
        <p:spPr bwMode="auto">
          <a:xfrm>
            <a:off x="4574706" y="5353789"/>
            <a:ext cx="585559" cy="585559"/>
          </a:xfrm>
          <a:prstGeom prst="ellipse">
            <a:avLst/>
          </a:prstGeom>
          <a:solidFill>
            <a:srgbClr val="FFC000"/>
          </a:solidFill>
          <a:ln>
            <a:noFill/>
          </a:ln>
          <a:extLst/>
        </p:spPr>
        <p:txBody>
          <a:bodyPr vert="horz" wrap="square" lIns="91398" tIns="45699" rIns="91398" bIns="45699" numCol="1" anchor="t" anchorCtr="0" compatLnSpc="1">
            <a:prstTxWarp prst="textNoShape">
              <a:avLst/>
            </a:prstTxWarp>
          </a:bodyPr>
          <a:lstStyle/>
          <a:p>
            <a:endParaRPr lang="zh-CN" altLang="en-US" sz="1799"/>
          </a:p>
        </p:txBody>
      </p:sp>
      <p:sp>
        <p:nvSpPr>
          <p:cNvPr id="25" name="矩形 83"/>
          <p:cNvSpPr>
            <a:spLocks noChangeArrowheads="1"/>
          </p:cNvSpPr>
          <p:nvPr/>
        </p:nvSpPr>
        <p:spPr bwMode="auto">
          <a:xfrm>
            <a:off x="6455390" y="1591295"/>
            <a:ext cx="4572001" cy="4348054"/>
          </a:xfrm>
          <a:prstGeom prst="rect">
            <a:avLst/>
          </a:prstGeom>
          <a:solidFill>
            <a:srgbClr val="F2F2F2"/>
          </a:solidFill>
          <a:ln w="9525" cmpd="sng">
            <a:solidFill>
              <a:schemeClr val="accent1"/>
            </a:solidFill>
            <a:miter lim="800000"/>
            <a:headEnd/>
            <a:tailEnd/>
          </a:ln>
        </p:spPr>
        <p:txBody>
          <a:bodyPr lIns="91398" tIns="45699" rIns="91398" bIns="45699"/>
          <a:lstStyle/>
          <a:p>
            <a:endParaRPr lang="zh-CN" altLang="en-US" sz="1799"/>
          </a:p>
        </p:txBody>
      </p:sp>
      <p:sp>
        <p:nvSpPr>
          <p:cNvPr id="26" name="TextBox 84"/>
          <p:cNvSpPr txBox="1">
            <a:spLocks noChangeArrowheads="1"/>
          </p:cNvSpPr>
          <p:nvPr/>
        </p:nvSpPr>
        <p:spPr bwMode="auto">
          <a:xfrm>
            <a:off x="6983822" y="1892805"/>
            <a:ext cx="4621701" cy="47704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398" tIns="45699" rIns="91398" bIns="45699">
            <a:spAutoFit/>
          </a:bodyPr>
          <a:lstStyle>
            <a:lvl1pPr eaLnBrk="0" hangingPunct="0">
              <a:defRPr>
                <a:solidFill>
                  <a:schemeClr val="tx1"/>
                </a:solidFill>
                <a:latin typeface="Arial" pitchFamily="34" charset="0"/>
                <a:ea typeface="宋体" pitchFamily="2" charset="-122"/>
              </a:defRPr>
            </a:lvl1pPr>
            <a:lvl2pPr marL="742950" indent="-285750" eaLnBrk="0" hangingPunct="0">
              <a:defRPr>
                <a:solidFill>
                  <a:schemeClr val="tx1"/>
                </a:solidFill>
                <a:latin typeface="Arial" pitchFamily="34" charset="0"/>
                <a:ea typeface="宋体" pitchFamily="2" charset="-122"/>
              </a:defRPr>
            </a:lvl2pPr>
            <a:lvl3pPr marL="1143000" indent="-228600" eaLnBrk="0" hangingPunct="0">
              <a:defRPr>
                <a:solidFill>
                  <a:schemeClr val="tx1"/>
                </a:solidFill>
                <a:latin typeface="Arial" pitchFamily="34" charset="0"/>
                <a:ea typeface="宋体" pitchFamily="2" charset="-122"/>
              </a:defRPr>
            </a:lvl3pPr>
            <a:lvl4pPr marL="1600200" indent="-228600" eaLnBrk="0" hangingPunct="0">
              <a:defRPr>
                <a:solidFill>
                  <a:schemeClr val="tx1"/>
                </a:solidFill>
                <a:latin typeface="Arial" pitchFamily="34" charset="0"/>
                <a:ea typeface="宋体" pitchFamily="2" charset="-122"/>
              </a:defRPr>
            </a:lvl4pPr>
            <a:lvl5pPr marL="2057400" indent="-228600" eaLnBrk="0" hangingPunct="0">
              <a:defRPr>
                <a:solidFill>
                  <a:schemeClr val="tx1"/>
                </a:solidFill>
                <a:latin typeface="Arial" pitchFamily="34" charset="0"/>
                <a:ea typeface="宋体" pitchFamily="2"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宋体" pitchFamily="2" charset="-122"/>
              </a:defRPr>
            </a:lvl9pPr>
          </a:lstStyle>
          <a:p>
            <a:pPr>
              <a:lnSpc>
                <a:spcPct val="200000"/>
              </a:lnSpc>
              <a:defRPr/>
            </a:pPr>
            <a:r>
              <a:rPr lang="en-US" altLang="zh-CN" sz="2800" b="1" dirty="0">
                <a:latin typeface="微软雅黑" panose="020B0503020204020204" pitchFamily="34" charset="-122"/>
                <a:ea typeface="微软雅黑" panose="020B0503020204020204" pitchFamily="34" charset="-122"/>
              </a:rPr>
              <a:t>80X86</a:t>
            </a:r>
            <a:r>
              <a:rPr lang="zh-CN" altLang="en-US" sz="2800" b="1" dirty="0">
                <a:latin typeface="微软雅黑" panose="020B0503020204020204" pitchFamily="34" charset="-122"/>
                <a:ea typeface="微软雅黑" panose="020B0503020204020204" pitchFamily="34" charset="-122"/>
              </a:rPr>
              <a:t>输入输出指令</a:t>
            </a:r>
            <a:endParaRPr lang="en-US" altLang="zh-CN" sz="2800" b="1" dirty="0">
              <a:latin typeface="微软雅黑" panose="020B0503020204020204" pitchFamily="34" charset="-122"/>
              <a:ea typeface="微软雅黑" panose="020B0503020204020204" pitchFamily="34" charset="-122"/>
            </a:endParaRPr>
          </a:p>
          <a:p>
            <a:pPr>
              <a:lnSpc>
                <a:spcPct val="200000"/>
              </a:lnSpc>
              <a:defRPr/>
            </a:pPr>
            <a:r>
              <a:rPr lang="en-US" altLang="zh-CN" sz="2800" b="1" dirty="0">
                <a:latin typeface="微软雅黑" panose="020B0503020204020204" pitchFamily="34" charset="-122"/>
                <a:ea typeface="微软雅黑" panose="020B0503020204020204" pitchFamily="34" charset="-122"/>
              </a:rPr>
              <a:t>   IN  AL</a:t>
            </a:r>
            <a:r>
              <a:rPr lang="zh-CN" altLang="en-US" sz="2800" b="1" dirty="0">
                <a:latin typeface="微软雅黑" panose="020B0503020204020204" pitchFamily="34" charset="-122"/>
                <a:ea typeface="微软雅黑" panose="020B0503020204020204" pitchFamily="34" charset="-122"/>
              </a:rPr>
              <a:t>，</a:t>
            </a:r>
            <a:r>
              <a:rPr lang="en-US" altLang="zh-CN" sz="2800" b="1" dirty="0">
                <a:latin typeface="微软雅黑" panose="020B0503020204020204" pitchFamily="34" charset="-122"/>
                <a:ea typeface="微软雅黑" panose="020B0503020204020204" pitchFamily="34" charset="-122"/>
              </a:rPr>
              <a:t>Port</a:t>
            </a:r>
          </a:p>
          <a:p>
            <a:pPr>
              <a:lnSpc>
                <a:spcPct val="200000"/>
              </a:lnSpc>
              <a:defRPr/>
            </a:pPr>
            <a:r>
              <a:rPr lang="en-US" altLang="zh-CN" sz="2800" b="1" dirty="0">
                <a:latin typeface="微软雅黑" panose="020B0503020204020204" pitchFamily="34" charset="-122"/>
                <a:ea typeface="微软雅黑" panose="020B0503020204020204" pitchFamily="34" charset="-122"/>
              </a:rPr>
              <a:t>   OUT  Port</a:t>
            </a:r>
            <a:r>
              <a:rPr lang="zh-CN" altLang="en-US" sz="2800" b="1" dirty="0">
                <a:latin typeface="微软雅黑" panose="020B0503020204020204" pitchFamily="34" charset="-122"/>
                <a:ea typeface="微软雅黑" panose="020B0503020204020204" pitchFamily="34" charset="-122"/>
              </a:rPr>
              <a:t>，</a:t>
            </a:r>
            <a:r>
              <a:rPr lang="en-US" altLang="zh-CN" sz="2800" b="1" dirty="0">
                <a:latin typeface="微软雅黑" panose="020B0503020204020204" pitchFamily="34" charset="-122"/>
                <a:ea typeface="微软雅黑" panose="020B0503020204020204" pitchFamily="34" charset="-122"/>
              </a:rPr>
              <a:t>AL</a:t>
            </a:r>
          </a:p>
          <a:p>
            <a:pPr>
              <a:lnSpc>
                <a:spcPct val="200000"/>
              </a:lnSpc>
              <a:defRPr/>
            </a:pPr>
            <a:r>
              <a:rPr lang="en-US" altLang="zh-CN" sz="2800" b="1" dirty="0">
                <a:latin typeface="微软雅黑" panose="020B0503020204020204" pitchFamily="34" charset="-122"/>
                <a:ea typeface="微软雅黑" panose="020B0503020204020204" pitchFamily="34" charset="-122"/>
              </a:rPr>
              <a:t>    Port</a:t>
            </a:r>
            <a:r>
              <a:rPr lang="zh-CN" altLang="en-US" sz="2800" b="1" dirty="0">
                <a:latin typeface="微软雅黑" panose="020B0503020204020204" pitchFamily="34" charset="-122"/>
                <a:ea typeface="微软雅黑" panose="020B0503020204020204" pitchFamily="34" charset="-122"/>
              </a:rPr>
              <a:t>：</a:t>
            </a:r>
            <a:r>
              <a:rPr lang="en-US" altLang="zh-CN" sz="2800" b="1" dirty="0">
                <a:latin typeface="微软雅黑" panose="020B0503020204020204" pitchFamily="34" charset="-122"/>
                <a:ea typeface="微软雅黑" panose="020B0503020204020204" pitchFamily="34" charset="-122"/>
              </a:rPr>
              <a:t>I/O</a:t>
            </a:r>
            <a:r>
              <a:rPr lang="zh-CN" altLang="en-US" sz="2800" b="1" dirty="0">
                <a:latin typeface="微软雅黑" panose="020B0503020204020204" pitchFamily="34" charset="-122"/>
                <a:ea typeface="微软雅黑" panose="020B0503020204020204" pitchFamily="34" charset="-122"/>
              </a:rPr>
              <a:t>端口号</a:t>
            </a:r>
          </a:p>
          <a:p>
            <a:pPr algn="just">
              <a:lnSpc>
                <a:spcPct val="200000"/>
              </a:lnSpc>
            </a:pPr>
            <a:endParaRPr lang="zh-CN" altLang="en-US" sz="4000" b="1" dirty="0">
              <a:solidFill>
                <a:srgbClr val="595959"/>
              </a:solidFill>
              <a:latin typeface="微软雅黑" panose="020B0503020204020204" pitchFamily="34" charset="-122"/>
              <a:ea typeface="微软雅黑" panose="020B0503020204020204" pitchFamily="34" charset="-122"/>
              <a:sym typeface="微软雅黑" pitchFamily="34" charset="-122"/>
            </a:endParaRPr>
          </a:p>
        </p:txBody>
      </p:sp>
      <p:sp>
        <p:nvSpPr>
          <p:cNvPr id="27" name="Freeform 12"/>
          <p:cNvSpPr>
            <a:spLocks/>
          </p:cNvSpPr>
          <p:nvPr/>
        </p:nvSpPr>
        <p:spPr bwMode="auto">
          <a:xfrm>
            <a:off x="6349784" y="1477041"/>
            <a:ext cx="528432" cy="530018"/>
          </a:xfrm>
          <a:custGeom>
            <a:avLst/>
            <a:gdLst>
              <a:gd name="T0" fmla="*/ 0 w 1446"/>
              <a:gd name="T1" fmla="*/ 0 h 1446"/>
              <a:gd name="T2" fmla="*/ 1446 w 1446"/>
              <a:gd name="T3" fmla="*/ 0 h 1446"/>
              <a:gd name="T4" fmla="*/ 1446 w 1446"/>
              <a:gd name="T5" fmla="*/ 458 h 1446"/>
              <a:gd name="T6" fmla="*/ 438 w 1446"/>
              <a:gd name="T7" fmla="*/ 458 h 1446"/>
              <a:gd name="T8" fmla="*/ 438 w 1446"/>
              <a:gd name="T9" fmla="*/ 1446 h 1446"/>
              <a:gd name="T10" fmla="*/ 0 w 1446"/>
              <a:gd name="T11" fmla="*/ 1446 h 1446"/>
              <a:gd name="T12" fmla="*/ 0 w 1446"/>
              <a:gd name="T13" fmla="*/ 0 h 1446"/>
            </a:gdLst>
            <a:ahLst/>
            <a:cxnLst>
              <a:cxn ang="0">
                <a:pos x="T0" y="T1"/>
              </a:cxn>
              <a:cxn ang="0">
                <a:pos x="T2" y="T3"/>
              </a:cxn>
              <a:cxn ang="0">
                <a:pos x="T4" y="T5"/>
              </a:cxn>
              <a:cxn ang="0">
                <a:pos x="T6" y="T7"/>
              </a:cxn>
              <a:cxn ang="0">
                <a:pos x="T8" y="T9"/>
              </a:cxn>
              <a:cxn ang="0">
                <a:pos x="T10" y="T11"/>
              </a:cxn>
              <a:cxn ang="0">
                <a:pos x="T12" y="T13"/>
              </a:cxn>
            </a:cxnLst>
            <a:rect l="0" t="0" r="r" b="b"/>
            <a:pathLst>
              <a:path w="1446" h="1446">
                <a:moveTo>
                  <a:pt x="0" y="0"/>
                </a:moveTo>
                <a:lnTo>
                  <a:pt x="1446" y="0"/>
                </a:lnTo>
                <a:lnTo>
                  <a:pt x="1446" y="458"/>
                </a:lnTo>
                <a:lnTo>
                  <a:pt x="438" y="458"/>
                </a:lnTo>
                <a:lnTo>
                  <a:pt x="438" y="1446"/>
                </a:lnTo>
                <a:lnTo>
                  <a:pt x="0" y="1446"/>
                </a:lnTo>
                <a:lnTo>
                  <a:pt x="0" y="0"/>
                </a:lnTo>
                <a:close/>
              </a:path>
            </a:pathLst>
          </a:custGeom>
          <a:solidFill>
            <a:srgbClr val="04BEB0"/>
          </a:solidFill>
          <a:ln>
            <a:noFill/>
          </a:ln>
          <a:extLst/>
        </p:spPr>
        <p:txBody>
          <a:bodyPr lIns="91398" tIns="45699" rIns="91398" bIns="45699"/>
          <a:lstStyle/>
          <a:p>
            <a:endParaRPr lang="zh-CN" altLang="en-US" sz="1799"/>
          </a:p>
        </p:txBody>
      </p:sp>
      <p:sp>
        <p:nvSpPr>
          <p:cNvPr id="28" name="Freeform 12"/>
          <p:cNvSpPr>
            <a:spLocks/>
          </p:cNvSpPr>
          <p:nvPr/>
        </p:nvSpPr>
        <p:spPr bwMode="auto">
          <a:xfrm flipH="1" flipV="1">
            <a:off x="10604565" y="5506297"/>
            <a:ext cx="528432" cy="530018"/>
          </a:xfrm>
          <a:custGeom>
            <a:avLst/>
            <a:gdLst>
              <a:gd name="T0" fmla="*/ 0 w 1446"/>
              <a:gd name="T1" fmla="*/ 0 h 1446"/>
              <a:gd name="T2" fmla="*/ 1446 w 1446"/>
              <a:gd name="T3" fmla="*/ 0 h 1446"/>
              <a:gd name="T4" fmla="*/ 1446 w 1446"/>
              <a:gd name="T5" fmla="*/ 458 h 1446"/>
              <a:gd name="T6" fmla="*/ 438 w 1446"/>
              <a:gd name="T7" fmla="*/ 458 h 1446"/>
              <a:gd name="T8" fmla="*/ 438 w 1446"/>
              <a:gd name="T9" fmla="*/ 1446 h 1446"/>
              <a:gd name="T10" fmla="*/ 0 w 1446"/>
              <a:gd name="T11" fmla="*/ 1446 h 1446"/>
              <a:gd name="T12" fmla="*/ 0 w 1446"/>
              <a:gd name="T13" fmla="*/ 0 h 1446"/>
            </a:gdLst>
            <a:ahLst/>
            <a:cxnLst>
              <a:cxn ang="0">
                <a:pos x="T0" y="T1"/>
              </a:cxn>
              <a:cxn ang="0">
                <a:pos x="T2" y="T3"/>
              </a:cxn>
              <a:cxn ang="0">
                <a:pos x="T4" y="T5"/>
              </a:cxn>
              <a:cxn ang="0">
                <a:pos x="T6" y="T7"/>
              </a:cxn>
              <a:cxn ang="0">
                <a:pos x="T8" y="T9"/>
              </a:cxn>
              <a:cxn ang="0">
                <a:pos x="T10" y="T11"/>
              </a:cxn>
              <a:cxn ang="0">
                <a:pos x="T12" y="T13"/>
              </a:cxn>
            </a:cxnLst>
            <a:rect l="0" t="0" r="r" b="b"/>
            <a:pathLst>
              <a:path w="1446" h="1446">
                <a:moveTo>
                  <a:pt x="0" y="0"/>
                </a:moveTo>
                <a:lnTo>
                  <a:pt x="1446" y="0"/>
                </a:lnTo>
                <a:lnTo>
                  <a:pt x="1446" y="458"/>
                </a:lnTo>
                <a:lnTo>
                  <a:pt x="438" y="458"/>
                </a:lnTo>
                <a:lnTo>
                  <a:pt x="438" y="1446"/>
                </a:lnTo>
                <a:lnTo>
                  <a:pt x="0" y="1446"/>
                </a:lnTo>
                <a:lnTo>
                  <a:pt x="0" y="0"/>
                </a:lnTo>
                <a:close/>
              </a:path>
            </a:pathLst>
          </a:custGeom>
          <a:solidFill>
            <a:srgbClr val="04BEB0"/>
          </a:solidFill>
          <a:ln>
            <a:noFill/>
          </a:ln>
          <a:extLst/>
        </p:spPr>
        <p:txBody>
          <a:bodyPr lIns="91398" tIns="45699" rIns="91398" bIns="45699"/>
          <a:lstStyle/>
          <a:p>
            <a:endParaRPr lang="zh-CN" altLang="en-US" sz="1799"/>
          </a:p>
        </p:txBody>
      </p:sp>
      <p:sp>
        <p:nvSpPr>
          <p:cNvPr id="33" name="TextBox 26"/>
          <p:cNvSpPr txBox="1"/>
          <p:nvPr/>
        </p:nvSpPr>
        <p:spPr>
          <a:xfrm>
            <a:off x="14146653" y="8510121"/>
            <a:ext cx="1107996" cy="461665"/>
          </a:xfrm>
          <a:prstGeom prst="rect">
            <a:avLst/>
          </a:prstGeom>
          <a:noFill/>
        </p:spPr>
        <p:txBody>
          <a:bodyPr wrap="none" rtlCol="0">
            <a:spAutoFit/>
          </a:bodyPr>
          <a:lstStyle/>
          <a:p>
            <a:r>
              <a:rPr lang="zh-CN" altLang="en-US" sz="2400" dirty="0"/>
              <a:t>延时符</a:t>
            </a:r>
          </a:p>
        </p:txBody>
      </p:sp>
    </p:spTree>
    <p:extLst>
      <p:ext uri="{BB962C8B-B14F-4D97-AF65-F5344CB8AC3E}">
        <p14:creationId xmlns:p14="http://schemas.microsoft.com/office/powerpoint/2010/main" val="246136989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advTm="0">
        <p15:prstTrans prst="peelOff"/>
      </p:transition>
    </mc:Choice>
    <mc:Fallback xmlns="">
      <p:transition spd="slow" advTm="0">
        <p:fade/>
      </p:transition>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 name="Line 5"/>
          <p:cNvSpPr>
            <a:spLocks noChangeShapeType="1"/>
          </p:cNvSpPr>
          <p:nvPr/>
        </p:nvSpPr>
        <p:spPr bwMode="auto">
          <a:xfrm>
            <a:off x="1579912" y="1027691"/>
            <a:ext cx="0" cy="5255767"/>
          </a:xfrm>
          <a:prstGeom prst="line">
            <a:avLst/>
          </a:prstGeom>
          <a:noFill/>
          <a:ln w="12700" cap="flat">
            <a:solidFill>
              <a:srgbClr val="2E2C2C"/>
            </a:solidFill>
            <a:prstDash val="solid"/>
            <a:miter lim="800000"/>
            <a:headEnd/>
            <a:tailEnd/>
          </a:ln>
          <a:extLst>
            <a:ext uri="{909E8E84-426E-40DD-AFC4-6F175D3DCCD1}">
              <a14:hiddenFill xmlns:a14="http://schemas.microsoft.com/office/drawing/2010/main">
                <a:noFill/>
              </a14:hiddenFill>
            </a:ext>
          </a:extLst>
        </p:spPr>
        <p:txBody>
          <a:bodyPr vert="horz" wrap="square" lIns="91398" tIns="45699" rIns="91398" bIns="45699" numCol="1" anchor="t" anchorCtr="0" compatLnSpc="1">
            <a:prstTxWarp prst="textNoShape">
              <a:avLst/>
            </a:prstTxWarp>
          </a:bodyPr>
          <a:lstStyle/>
          <a:p>
            <a:endParaRPr lang="zh-CN" altLang="en-US" sz="1799"/>
          </a:p>
        </p:txBody>
      </p:sp>
      <p:sp>
        <p:nvSpPr>
          <p:cNvPr id="72" name="Freeform 9"/>
          <p:cNvSpPr>
            <a:spLocks/>
          </p:cNvSpPr>
          <p:nvPr/>
        </p:nvSpPr>
        <p:spPr bwMode="auto">
          <a:xfrm>
            <a:off x="1916331" y="948344"/>
            <a:ext cx="165036" cy="207882"/>
          </a:xfrm>
          <a:custGeom>
            <a:avLst/>
            <a:gdLst>
              <a:gd name="T0" fmla="*/ 184 w 205"/>
              <a:gd name="T1" fmla="*/ 109 h 262"/>
              <a:gd name="T2" fmla="*/ 109 w 205"/>
              <a:gd name="T3" fmla="*/ 61 h 262"/>
              <a:gd name="T4" fmla="*/ 32 w 205"/>
              <a:gd name="T5" fmla="*/ 11 h 262"/>
              <a:gd name="T6" fmla="*/ 0 w 205"/>
              <a:gd name="T7" fmla="*/ 34 h 262"/>
              <a:gd name="T8" fmla="*/ 0 w 205"/>
              <a:gd name="T9" fmla="*/ 131 h 262"/>
              <a:gd name="T10" fmla="*/ 0 w 205"/>
              <a:gd name="T11" fmla="*/ 230 h 262"/>
              <a:gd name="T12" fmla="*/ 34 w 205"/>
              <a:gd name="T13" fmla="*/ 250 h 262"/>
              <a:gd name="T14" fmla="*/ 109 w 205"/>
              <a:gd name="T15" fmla="*/ 202 h 262"/>
              <a:gd name="T16" fmla="*/ 186 w 205"/>
              <a:gd name="T17" fmla="*/ 152 h 262"/>
              <a:gd name="T18" fmla="*/ 184 w 205"/>
              <a:gd name="T19" fmla="*/ 109 h 2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05" h="262">
                <a:moveTo>
                  <a:pt x="184" y="109"/>
                </a:moveTo>
                <a:lnTo>
                  <a:pt x="109" y="61"/>
                </a:lnTo>
                <a:cubicBezTo>
                  <a:pt x="83" y="44"/>
                  <a:pt x="58" y="28"/>
                  <a:pt x="32" y="11"/>
                </a:cubicBezTo>
                <a:cubicBezTo>
                  <a:pt x="11" y="0"/>
                  <a:pt x="0" y="9"/>
                  <a:pt x="0" y="34"/>
                </a:cubicBezTo>
                <a:lnTo>
                  <a:pt x="0" y="131"/>
                </a:lnTo>
                <a:cubicBezTo>
                  <a:pt x="0" y="164"/>
                  <a:pt x="0" y="197"/>
                  <a:pt x="0" y="230"/>
                </a:cubicBezTo>
                <a:cubicBezTo>
                  <a:pt x="2" y="256"/>
                  <a:pt x="14" y="262"/>
                  <a:pt x="34" y="250"/>
                </a:cubicBezTo>
                <a:lnTo>
                  <a:pt x="109" y="202"/>
                </a:lnTo>
                <a:cubicBezTo>
                  <a:pt x="135" y="185"/>
                  <a:pt x="160" y="169"/>
                  <a:pt x="186" y="152"/>
                </a:cubicBezTo>
                <a:cubicBezTo>
                  <a:pt x="205" y="137"/>
                  <a:pt x="203" y="122"/>
                  <a:pt x="184" y="109"/>
                </a:cubicBezTo>
                <a:close/>
              </a:path>
            </a:pathLst>
          </a:custGeom>
          <a:solidFill>
            <a:srgbClr val="01C0B0"/>
          </a:solidFill>
          <a:ln>
            <a:noFill/>
          </a:ln>
          <a:extLst/>
        </p:spPr>
        <p:txBody>
          <a:bodyPr vert="horz" wrap="square" lIns="91398" tIns="45699" rIns="91398" bIns="45699" numCol="1" anchor="t" anchorCtr="0" compatLnSpc="1">
            <a:prstTxWarp prst="textNoShape">
              <a:avLst/>
            </a:prstTxWarp>
          </a:bodyPr>
          <a:lstStyle/>
          <a:p>
            <a:endParaRPr lang="zh-CN" altLang="en-US" sz="1799"/>
          </a:p>
        </p:txBody>
      </p:sp>
      <p:sp>
        <p:nvSpPr>
          <p:cNvPr id="73" name="Freeform 11"/>
          <p:cNvSpPr>
            <a:spLocks/>
          </p:cNvSpPr>
          <p:nvPr/>
        </p:nvSpPr>
        <p:spPr bwMode="auto">
          <a:xfrm>
            <a:off x="1916331" y="3744322"/>
            <a:ext cx="165036" cy="206294"/>
          </a:xfrm>
          <a:custGeom>
            <a:avLst/>
            <a:gdLst>
              <a:gd name="T0" fmla="*/ 184 w 205"/>
              <a:gd name="T1" fmla="*/ 108 h 261"/>
              <a:gd name="T2" fmla="*/ 109 w 205"/>
              <a:gd name="T3" fmla="*/ 60 h 261"/>
              <a:gd name="T4" fmla="*/ 32 w 205"/>
              <a:gd name="T5" fmla="*/ 10 h 261"/>
              <a:gd name="T6" fmla="*/ 0 w 205"/>
              <a:gd name="T7" fmla="*/ 33 h 261"/>
              <a:gd name="T8" fmla="*/ 0 w 205"/>
              <a:gd name="T9" fmla="*/ 130 h 261"/>
              <a:gd name="T10" fmla="*/ 0 w 205"/>
              <a:gd name="T11" fmla="*/ 229 h 261"/>
              <a:gd name="T12" fmla="*/ 34 w 205"/>
              <a:gd name="T13" fmla="*/ 249 h 261"/>
              <a:gd name="T14" fmla="*/ 109 w 205"/>
              <a:gd name="T15" fmla="*/ 201 h 261"/>
              <a:gd name="T16" fmla="*/ 186 w 205"/>
              <a:gd name="T17" fmla="*/ 151 h 261"/>
              <a:gd name="T18" fmla="*/ 184 w 205"/>
              <a:gd name="T19" fmla="*/ 108 h 2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05" h="261">
                <a:moveTo>
                  <a:pt x="184" y="108"/>
                </a:moveTo>
                <a:lnTo>
                  <a:pt x="109" y="60"/>
                </a:lnTo>
                <a:cubicBezTo>
                  <a:pt x="83" y="43"/>
                  <a:pt x="58" y="27"/>
                  <a:pt x="32" y="10"/>
                </a:cubicBezTo>
                <a:cubicBezTo>
                  <a:pt x="11" y="0"/>
                  <a:pt x="0" y="8"/>
                  <a:pt x="0" y="33"/>
                </a:cubicBezTo>
                <a:lnTo>
                  <a:pt x="0" y="130"/>
                </a:lnTo>
                <a:cubicBezTo>
                  <a:pt x="0" y="163"/>
                  <a:pt x="0" y="196"/>
                  <a:pt x="0" y="229"/>
                </a:cubicBezTo>
                <a:cubicBezTo>
                  <a:pt x="2" y="255"/>
                  <a:pt x="14" y="261"/>
                  <a:pt x="34" y="249"/>
                </a:cubicBezTo>
                <a:lnTo>
                  <a:pt x="109" y="201"/>
                </a:lnTo>
                <a:cubicBezTo>
                  <a:pt x="135" y="184"/>
                  <a:pt x="160" y="168"/>
                  <a:pt x="186" y="151"/>
                </a:cubicBezTo>
                <a:cubicBezTo>
                  <a:pt x="205" y="136"/>
                  <a:pt x="203" y="122"/>
                  <a:pt x="184" y="108"/>
                </a:cubicBezTo>
                <a:close/>
              </a:path>
            </a:pathLst>
          </a:custGeom>
          <a:solidFill>
            <a:srgbClr val="92D050"/>
          </a:solidFill>
          <a:ln>
            <a:noFill/>
          </a:ln>
          <a:extLst/>
        </p:spPr>
        <p:txBody>
          <a:bodyPr vert="horz" wrap="square" lIns="91398" tIns="45699" rIns="91398" bIns="45699" numCol="1" anchor="t" anchorCtr="0" compatLnSpc="1">
            <a:prstTxWarp prst="textNoShape">
              <a:avLst/>
            </a:prstTxWarp>
          </a:bodyPr>
          <a:lstStyle/>
          <a:p>
            <a:endParaRPr lang="zh-CN" altLang="en-US" sz="1799"/>
          </a:p>
        </p:txBody>
      </p:sp>
      <p:grpSp>
        <p:nvGrpSpPr>
          <p:cNvPr id="74" name="组合 73"/>
          <p:cNvGrpSpPr/>
          <p:nvPr/>
        </p:nvGrpSpPr>
        <p:grpSpPr>
          <a:xfrm>
            <a:off x="1199009" y="776495"/>
            <a:ext cx="717324" cy="523092"/>
            <a:chOff x="912759" y="1007596"/>
            <a:chExt cx="717604" cy="523296"/>
          </a:xfrm>
        </p:grpSpPr>
        <p:sp>
          <p:nvSpPr>
            <p:cNvPr id="75" name="Freeform 8"/>
            <p:cNvSpPr>
              <a:spLocks/>
            </p:cNvSpPr>
            <p:nvPr/>
          </p:nvSpPr>
          <p:spPr bwMode="auto">
            <a:xfrm>
              <a:off x="985838" y="1052513"/>
              <a:ext cx="615950" cy="433387"/>
            </a:xfrm>
            <a:custGeom>
              <a:avLst/>
              <a:gdLst>
                <a:gd name="T0" fmla="*/ 43 w 764"/>
                <a:gd name="T1" fmla="*/ 0 h 549"/>
                <a:gd name="T2" fmla="*/ 721 w 764"/>
                <a:gd name="T3" fmla="*/ 0 h 549"/>
                <a:gd name="T4" fmla="*/ 764 w 764"/>
                <a:gd name="T5" fmla="*/ 43 h 549"/>
                <a:gd name="T6" fmla="*/ 764 w 764"/>
                <a:gd name="T7" fmla="*/ 506 h 549"/>
                <a:gd name="T8" fmla="*/ 721 w 764"/>
                <a:gd name="T9" fmla="*/ 549 h 549"/>
                <a:gd name="T10" fmla="*/ 43 w 764"/>
                <a:gd name="T11" fmla="*/ 549 h 549"/>
                <a:gd name="T12" fmla="*/ 0 w 764"/>
                <a:gd name="T13" fmla="*/ 506 h 549"/>
                <a:gd name="T14" fmla="*/ 0 w 764"/>
                <a:gd name="T15" fmla="*/ 43 h 549"/>
                <a:gd name="T16" fmla="*/ 43 w 764"/>
                <a:gd name="T17" fmla="*/ 0 h 5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64" h="549">
                  <a:moveTo>
                    <a:pt x="43" y="0"/>
                  </a:moveTo>
                  <a:lnTo>
                    <a:pt x="721" y="0"/>
                  </a:lnTo>
                  <a:cubicBezTo>
                    <a:pt x="744" y="0"/>
                    <a:pt x="764" y="20"/>
                    <a:pt x="764" y="43"/>
                  </a:cubicBezTo>
                  <a:lnTo>
                    <a:pt x="764" y="506"/>
                  </a:lnTo>
                  <a:cubicBezTo>
                    <a:pt x="764" y="530"/>
                    <a:pt x="744" y="549"/>
                    <a:pt x="721" y="549"/>
                  </a:cubicBezTo>
                  <a:lnTo>
                    <a:pt x="43" y="549"/>
                  </a:lnTo>
                  <a:cubicBezTo>
                    <a:pt x="20" y="549"/>
                    <a:pt x="0" y="530"/>
                    <a:pt x="0" y="506"/>
                  </a:cubicBezTo>
                  <a:lnTo>
                    <a:pt x="0" y="43"/>
                  </a:lnTo>
                  <a:cubicBezTo>
                    <a:pt x="0" y="20"/>
                    <a:pt x="20" y="0"/>
                    <a:pt x="43" y="0"/>
                  </a:cubicBezTo>
                  <a:close/>
                </a:path>
              </a:pathLst>
            </a:custGeom>
            <a:solidFill>
              <a:srgbClr val="E8550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4" tIns="45702" rIns="91404" bIns="45702" numCol="1" anchor="t" anchorCtr="0" compatLnSpc="1">
              <a:prstTxWarp prst="textNoShape">
                <a:avLst/>
              </a:prstTxWarp>
            </a:bodyPr>
            <a:lstStyle/>
            <a:p>
              <a:endParaRPr lang="zh-CN" altLang="en-US" sz="1799"/>
            </a:p>
          </p:txBody>
        </p:sp>
        <p:sp>
          <p:nvSpPr>
            <p:cNvPr id="76" name="TextBox 75"/>
            <p:cNvSpPr txBox="1"/>
            <p:nvPr/>
          </p:nvSpPr>
          <p:spPr>
            <a:xfrm>
              <a:off x="912759" y="1007596"/>
              <a:ext cx="717604" cy="523296"/>
            </a:xfrm>
            <a:prstGeom prst="rect">
              <a:avLst/>
            </a:prstGeom>
            <a:solidFill>
              <a:srgbClr val="01C0B0"/>
            </a:solidFill>
          </p:spPr>
          <p:txBody>
            <a:bodyPr wrap="square" rtlCol="0">
              <a:spAutoFit/>
            </a:bodyPr>
            <a:lstStyle/>
            <a:p>
              <a:pPr algn="ctr"/>
              <a:r>
                <a:rPr lang="en-US" altLang="zh-CN" sz="2799" dirty="0">
                  <a:solidFill>
                    <a:schemeClr val="bg1"/>
                  </a:solidFill>
                  <a:latin typeface="+mn-ea"/>
                </a:rPr>
                <a:t>01</a:t>
              </a:r>
              <a:endParaRPr lang="zh-CN" altLang="en-US" sz="2799" dirty="0">
                <a:solidFill>
                  <a:schemeClr val="bg1"/>
                </a:solidFill>
                <a:latin typeface="+mn-ea"/>
              </a:endParaRPr>
            </a:p>
          </p:txBody>
        </p:sp>
      </p:grpSp>
      <p:grpSp>
        <p:nvGrpSpPr>
          <p:cNvPr id="79" name="组合 78"/>
          <p:cNvGrpSpPr/>
          <p:nvPr/>
        </p:nvGrpSpPr>
        <p:grpSpPr>
          <a:xfrm>
            <a:off x="1199009" y="3581824"/>
            <a:ext cx="717324" cy="523092"/>
            <a:chOff x="912759" y="1884191"/>
            <a:chExt cx="717604" cy="523296"/>
          </a:xfrm>
        </p:grpSpPr>
        <p:sp>
          <p:nvSpPr>
            <p:cNvPr id="80" name="Freeform 10"/>
            <p:cNvSpPr>
              <a:spLocks/>
            </p:cNvSpPr>
            <p:nvPr/>
          </p:nvSpPr>
          <p:spPr bwMode="auto">
            <a:xfrm>
              <a:off x="985838" y="1918165"/>
              <a:ext cx="615950" cy="433387"/>
            </a:xfrm>
            <a:custGeom>
              <a:avLst/>
              <a:gdLst>
                <a:gd name="T0" fmla="*/ 43 w 764"/>
                <a:gd name="T1" fmla="*/ 0 h 549"/>
                <a:gd name="T2" fmla="*/ 721 w 764"/>
                <a:gd name="T3" fmla="*/ 0 h 549"/>
                <a:gd name="T4" fmla="*/ 764 w 764"/>
                <a:gd name="T5" fmla="*/ 44 h 549"/>
                <a:gd name="T6" fmla="*/ 764 w 764"/>
                <a:gd name="T7" fmla="*/ 506 h 549"/>
                <a:gd name="T8" fmla="*/ 721 w 764"/>
                <a:gd name="T9" fmla="*/ 549 h 549"/>
                <a:gd name="T10" fmla="*/ 43 w 764"/>
                <a:gd name="T11" fmla="*/ 549 h 549"/>
                <a:gd name="T12" fmla="*/ 0 w 764"/>
                <a:gd name="T13" fmla="*/ 506 h 549"/>
                <a:gd name="T14" fmla="*/ 0 w 764"/>
                <a:gd name="T15" fmla="*/ 44 h 549"/>
                <a:gd name="T16" fmla="*/ 43 w 764"/>
                <a:gd name="T17" fmla="*/ 0 h 5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764" h="549">
                  <a:moveTo>
                    <a:pt x="43" y="0"/>
                  </a:moveTo>
                  <a:lnTo>
                    <a:pt x="721" y="0"/>
                  </a:lnTo>
                  <a:cubicBezTo>
                    <a:pt x="744" y="0"/>
                    <a:pt x="764" y="20"/>
                    <a:pt x="764" y="44"/>
                  </a:cubicBezTo>
                  <a:lnTo>
                    <a:pt x="764" y="506"/>
                  </a:lnTo>
                  <a:cubicBezTo>
                    <a:pt x="764" y="530"/>
                    <a:pt x="744" y="549"/>
                    <a:pt x="721" y="549"/>
                  </a:cubicBezTo>
                  <a:lnTo>
                    <a:pt x="43" y="549"/>
                  </a:lnTo>
                  <a:cubicBezTo>
                    <a:pt x="20" y="549"/>
                    <a:pt x="0" y="530"/>
                    <a:pt x="0" y="506"/>
                  </a:cubicBezTo>
                  <a:lnTo>
                    <a:pt x="0" y="44"/>
                  </a:lnTo>
                  <a:cubicBezTo>
                    <a:pt x="0" y="20"/>
                    <a:pt x="20" y="0"/>
                    <a:pt x="43" y="0"/>
                  </a:cubicBezTo>
                  <a:close/>
                </a:path>
              </a:pathLst>
            </a:custGeom>
            <a:solidFill>
              <a:srgbClr val="E85504"/>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04" tIns="45702" rIns="91404" bIns="45702" numCol="1" anchor="t" anchorCtr="0" compatLnSpc="1">
              <a:prstTxWarp prst="textNoShape">
                <a:avLst/>
              </a:prstTxWarp>
            </a:bodyPr>
            <a:lstStyle/>
            <a:p>
              <a:endParaRPr lang="zh-CN" altLang="en-US" sz="1799"/>
            </a:p>
          </p:txBody>
        </p:sp>
        <p:sp>
          <p:nvSpPr>
            <p:cNvPr id="81" name="TextBox 80"/>
            <p:cNvSpPr txBox="1"/>
            <p:nvPr/>
          </p:nvSpPr>
          <p:spPr>
            <a:xfrm>
              <a:off x="912759" y="1884191"/>
              <a:ext cx="717604" cy="523296"/>
            </a:xfrm>
            <a:prstGeom prst="rect">
              <a:avLst/>
            </a:prstGeom>
            <a:solidFill>
              <a:srgbClr val="92D050"/>
            </a:solidFill>
          </p:spPr>
          <p:txBody>
            <a:bodyPr wrap="square" rtlCol="0">
              <a:spAutoFit/>
            </a:bodyPr>
            <a:lstStyle/>
            <a:p>
              <a:pPr algn="ctr"/>
              <a:r>
                <a:rPr lang="en-US" altLang="zh-CN" sz="2799" dirty="0">
                  <a:solidFill>
                    <a:schemeClr val="bg1"/>
                  </a:solidFill>
                  <a:latin typeface="+mn-ea"/>
                </a:rPr>
                <a:t>02</a:t>
              </a:r>
              <a:endParaRPr lang="zh-CN" altLang="en-US" sz="2799" dirty="0">
                <a:solidFill>
                  <a:schemeClr val="bg1"/>
                </a:solidFill>
                <a:latin typeface="+mn-ea"/>
              </a:endParaRPr>
            </a:p>
          </p:txBody>
        </p:sp>
      </p:grpSp>
      <p:sp>
        <p:nvSpPr>
          <p:cNvPr id="90" name="Oval 6"/>
          <p:cNvSpPr>
            <a:spLocks noChangeArrowheads="1"/>
          </p:cNvSpPr>
          <p:nvPr/>
        </p:nvSpPr>
        <p:spPr bwMode="auto">
          <a:xfrm>
            <a:off x="1470341" y="1688591"/>
            <a:ext cx="238032" cy="234859"/>
          </a:xfrm>
          <a:prstGeom prst="ellipse">
            <a:avLst/>
          </a:prstGeom>
          <a:solidFill>
            <a:schemeClr val="accent4"/>
          </a:solidFill>
          <a:ln w="10" cap="flat">
            <a:solidFill>
              <a:srgbClr val="FFFFFF"/>
            </a:solidFill>
            <a:prstDash val="solid"/>
            <a:miter lim="800000"/>
            <a:headEnd/>
            <a:tailEnd/>
          </a:ln>
        </p:spPr>
        <p:txBody>
          <a:bodyPr vert="horz" wrap="square" lIns="91398" tIns="45699" rIns="91398" bIns="45699" numCol="1" anchor="t" anchorCtr="0" compatLnSpc="1">
            <a:prstTxWarp prst="textNoShape">
              <a:avLst/>
            </a:prstTxWarp>
          </a:bodyPr>
          <a:lstStyle/>
          <a:p>
            <a:endParaRPr lang="zh-CN" altLang="en-US" sz="1799"/>
          </a:p>
        </p:txBody>
      </p:sp>
      <p:sp>
        <p:nvSpPr>
          <p:cNvPr id="91" name="Oval 7"/>
          <p:cNvSpPr>
            <a:spLocks noChangeArrowheads="1"/>
          </p:cNvSpPr>
          <p:nvPr/>
        </p:nvSpPr>
        <p:spPr bwMode="auto">
          <a:xfrm>
            <a:off x="1452585" y="2323276"/>
            <a:ext cx="238032" cy="234859"/>
          </a:xfrm>
          <a:prstGeom prst="ellipse">
            <a:avLst/>
          </a:prstGeom>
          <a:solidFill>
            <a:schemeClr val="accent4"/>
          </a:solidFill>
          <a:ln w="10" cap="flat">
            <a:solidFill>
              <a:srgbClr val="FFFFFF"/>
            </a:solidFill>
            <a:prstDash val="solid"/>
            <a:miter lim="800000"/>
            <a:headEnd/>
            <a:tailEnd/>
          </a:ln>
        </p:spPr>
        <p:txBody>
          <a:bodyPr vert="horz" wrap="square" lIns="91398" tIns="45699" rIns="91398" bIns="45699" numCol="1" anchor="t" anchorCtr="0" compatLnSpc="1">
            <a:prstTxWarp prst="textNoShape">
              <a:avLst/>
            </a:prstTxWarp>
          </a:bodyPr>
          <a:lstStyle/>
          <a:p>
            <a:endParaRPr lang="zh-CN" altLang="en-US" sz="1799"/>
          </a:p>
        </p:txBody>
      </p:sp>
      <p:sp>
        <p:nvSpPr>
          <p:cNvPr id="27" name="TextBox 26"/>
          <p:cNvSpPr txBox="1"/>
          <p:nvPr/>
        </p:nvSpPr>
        <p:spPr>
          <a:xfrm>
            <a:off x="14433257" y="7936915"/>
            <a:ext cx="1107996" cy="461665"/>
          </a:xfrm>
          <a:prstGeom prst="rect">
            <a:avLst/>
          </a:prstGeom>
          <a:noFill/>
        </p:spPr>
        <p:txBody>
          <a:bodyPr wrap="none" rtlCol="0">
            <a:spAutoFit/>
          </a:bodyPr>
          <a:lstStyle/>
          <a:p>
            <a:r>
              <a:rPr lang="zh-CN" altLang="en-US" sz="2400" dirty="0"/>
              <a:t>延时符</a:t>
            </a:r>
          </a:p>
        </p:txBody>
      </p:sp>
      <p:sp>
        <p:nvSpPr>
          <p:cNvPr id="30" name="Rectangle 3"/>
          <p:cNvSpPr txBox="1">
            <a:spLocks noChangeArrowheads="1"/>
          </p:cNvSpPr>
          <p:nvPr/>
        </p:nvSpPr>
        <p:spPr>
          <a:xfrm>
            <a:off x="2515777" y="1365896"/>
            <a:ext cx="8837784" cy="77449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1">
              <a:lnSpc>
                <a:spcPct val="150000"/>
              </a:lnSpc>
              <a:buFont typeface="Arial" panose="020B0604020202020204" pitchFamily="34" charset="0"/>
              <a:buNone/>
            </a:pPr>
            <a:r>
              <a:rPr lang="en-US" altLang="zh-CN" sz="2800" b="1" dirty="0">
                <a:latin typeface="微软雅黑" panose="020B0503020204020204" pitchFamily="34" charset="-122"/>
                <a:ea typeface="微软雅黑" panose="020B0503020204020204" pitchFamily="34" charset="-122"/>
              </a:rPr>
              <a:t>I/O</a:t>
            </a:r>
            <a:r>
              <a:rPr lang="zh-CN" altLang="en-US" sz="2800" b="1" dirty="0">
                <a:latin typeface="微软雅黑" panose="020B0503020204020204" pitchFamily="34" charset="-122"/>
                <a:ea typeface="微软雅黑" panose="020B0503020204020204" pitchFamily="34" charset="-122"/>
              </a:rPr>
              <a:t>端口的地址没有占用主存的地址空间；</a:t>
            </a:r>
            <a:endParaRPr lang="en-US" altLang="zh-CN" sz="2800" b="1" dirty="0">
              <a:latin typeface="微软雅黑" panose="020B0503020204020204" pitchFamily="34" charset="-122"/>
              <a:ea typeface="微软雅黑" panose="020B0503020204020204" pitchFamily="34" charset="-122"/>
            </a:endParaRPr>
          </a:p>
          <a:p>
            <a:pPr marL="0" lvl="1">
              <a:lnSpc>
                <a:spcPct val="150000"/>
              </a:lnSpc>
              <a:buFont typeface="Arial" panose="020B0604020202020204" pitchFamily="34" charset="0"/>
              <a:buNone/>
            </a:pPr>
            <a:endParaRPr lang="en-US" altLang="zh-CN" sz="2800" b="1" dirty="0">
              <a:latin typeface="微软雅黑" panose="020B0503020204020204" pitchFamily="34" charset="-122"/>
              <a:ea typeface="微软雅黑" panose="020B0503020204020204" pitchFamily="34" charset="-122"/>
            </a:endParaRPr>
          </a:p>
          <a:p>
            <a:pPr marL="0" lvl="1">
              <a:lnSpc>
                <a:spcPct val="150000"/>
              </a:lnSpc>
              <a:buFont typeface="Arial" panose="020B0604020202020204" pitchFamily="34" charset="0"/>
              <a:buNone/>
            </a:pPr>
            <a:endParaRPr lang="en-US" altLang="zh-CN" sz="2800" b="1" dirty="0">
              <a:latin typeface="微软雅黑" panose="020B0503020204020204" pitchFamily="34" charset="-122"/>
              <a:ea typeface="微软雅黑" panose="020B0503020204020204" pitchFamily="34" charset="-122"/>
            </a:endParaRPr>
          </a:p>
          <a:p>
            <a:pPr marL="0" lvl="1">
              <a:lnSpc>
                <a:spcPct val="150000"/>
              </a:lnSpc>
              <a:buFont typeface="Arial" panose="020B0604020202020204" pitchFamily="34" charset="0"/>
              <a:buNone/>
            </a:pPr>
            <a:endParaRPr lang="en-US" altLang="zh-CN" sz="2800" b="1" dirty="0">
              <a:latin typeface="微软雅黑" panose="020B0503020204020204" pitchFamily="34" charset="-122"/>
              <a:ea typeface="微软雅黑" panose="020B0503020204020204" pitchFamily="34" charset="-122"/>
            </a:endParaRPr>
          </a:p>
          <a:p>
            <a:pPr marL="0" lvl="1">
              <a:lnSpc>
                <a:spcPct val="150000"/>
              </a:lnSpc>
              <a:buFont typeface="Arial" panose="020B0604020202020204" pitchFamily="34" charset="0"/>
              <a:buNone/>
            </a:pPr>
            <a:endParaRPr lang="zh-CN" altLang="en-US" sz="2800" b="1" dirty="0">
              <a:latin typeface="微软雅黑" panose="020B0503020204020204" pitchFamily="34" charset="-122"/>
              <a:ea typeface="微软雅黑" panose="020B0503020204020204" pitchFamily="34" charset="-122"/>
            </a:endParaRPr>
          </a:p>
          <a:p>
            <a:pPr marL="0" indent="0">
              <a:lnSpc>
                <a:spcPct val="150000"/>
              </a:lnSpc>
              <a:buFont typeface="Arial" panose="020B0604020202020204" pitchFamily="34" charset="0"/>
              <a:buNone/>
            </a:pPr>
            <a:endParaRPr lang="en-US" altLang="zh-CN" b="1" dirty="0">
              <a:latin typeface="微软雅黑" panose="020B0503020204020204" pitchFamily="34" charset="-122"/>
              <a:ea typeface="微软雅黑" panose="020B0503020204020204" pitchFamily="34" charset="-122"/>
            </a:endParaRPr>
          </a:p>
          <a:p>
            <a:pPr marL="0" indent="0">
              <a:lnSpc>
                <a:spcPct val="150000"/>
              </a:lnSpc>
              <a:buFont typeface="Arial" panose="020B0604020202020204" pitchFamily="34" charset="0"/>
              <a:buNone/>
            </a:pPr>
            <a:endParaRPr lang="en-US" altLang="zh-CN" b="1" dirty="0">
              <a:latin typeface="微软雅黑" panose="020B0503020204020204" pitchFamily="34" charset="-122"/>
              <a:ea typeface="微软雅黑" panose="020B0503020204020204" pitchFamily="34" charset="-122"/>
            </a:endParaRPr>
          </a:p>
        </p:txBody>
      </p:sp>
      <p:sp>
        <p:nvSpPr>
          <p:cNvPr id="31" name="矩形 30"/>
          <p:cNvSpPr/>
          <p:nvPr/>
        </p:nvSpPr>
        <p:spPr>
          <a:xfrm>
            <a:off x="2398163" y="2021439"/>
            <a:ext cx="9140958" cy="1384995"/>
          </a:xfrm>
          <a:prstGeom prst="rect">
            <a:avLst/>
          </a:prstGeom>
        </p:spPr>
        <p:txBody>
          <a:bodyPr wrap="square">
            <a:spAutoFit/>
          </a:bodyPr>
          <a:lstStyle/>
          <a:p>
            <a:pPr marL="0" lvl="1">
              <a:lnSpc>
                <a:spcPct val="150000"/>
              </a:lnSpc>
            </a:pPr>
            <a:r>
              <a:rPr lang="zh-CN" altLang="en-US" sz="2800" b="1" dirty="0">
                <a:latin typeface="微软雅黑" panose="020B0503020204020204" pitchFamily="34" charset="-122"/>
                <a:ea typeface="微软雅黑" panose="020B0503020204020204" pitchFamily="34" charset="-122"/>
              </a:rPr>
              <a:t> </a:t>
            </a:r>
            <a:r>
              <a:rPr lang="en-US" altLang="zh-CN" sz="2800" b="1" dirty="0">
                <a:latin typeface="微软雅黑" panose="020B0503020204020204" pitchFamily="34" charset="-122"/>
                <a:ea typeface="微软雅黑" panose="020B0503020204020204" pitchFamily="34" charset="-122"/>
              </a:rPr>
              <a:t>I/O</a:t>
            </a:r>
            <a:r>
              <a:rPr lang="zh-CN" altLang="en-US" sz="2800" b="1" dirty="0">
                <a:latin typeface="微软雅黑" panose="020B0503020204020204" pitchFamily="34" charset="-122"/>
                <a:ea typeface="微软雅黑" panose="020B0503020204020204" pitchFamily="34" charset="-122"/>
              </a:rPr>
              <a:t>端口的地址码较短，地址译码器设计、实现简单，译</a:t>
            </a:r>
            <a:endParaRPr lang="en-US" altLang="zh-CN" sz="2800" b="1" dirty="0">
              <a:latin typeface="微软雅黑" panose="020B0503020204020204" pitchFamily="34" charset="-122"/>
              <a:ea typeface="微软雅黑" panose="020B0503020204020204" pitchFamily="34" charset="-122"/>
            </a:endParaRPr>
          </a:p>
          <a:p>
            <a:pPr marL="0" lvl="1">
              <a:lnSpc>
                <a:spcPct val="150000"/>
              </a:lnSpc>
            </a:pPr>
            <a:r>
              <a:rPr lang="en-US" altLang="zh-CN" sz="2800" b="1" dirty="0">
                <a:latin typeface="微软雅黑" panose="020B0503020204020204" pitchFamily="34" charset="-122"/>
                <a:ea typeface="微软雅黑" panose="020B0503020204020204" pitchFamily="34" charset="-122"/>
              </a:rPr>
              <a:t> </a:t>
            </a:r>
            <a:r>
              <a:rPr lang="zh-CN" altLang="en-US" sz="2800" b="1" dirty="0">
                <a:latin typeface="微软雅黑" panose="020B0503020204020204" pitchFamily="34" charset="-122"/>
                <a:ea typeface="微软雅黑" panose="020B0503020204020204" pitchFamily="34" charset="-122"/>
              </a:rPr>
              <a:t>码时间也较短</a:t>
            </a:r>
            <a:r>
              <a:rPr lang="zh-CN" altLang="en-US" sz="2800" b="1" dirty="0" smtClean="0">
                <a:latin typeface="微软雅黑" panose="020B0503020204020204" pitchFamily="34" charset="-122"/>
                <a:ea typeface="微软雅黑" panose="020B0503020204020204" pitchFamily="34" charset="-122"/>
              </a:rPr>
              <a:t>。</a:t>
            </a:r>
            <a:endParaRPr lang="zh-CN" altLang="en-US" sz="2800" b="1" dirty="0">
              <a:latin typeface="微软雅黑" panose="020B0503020204020204" pitchFamily="34" charset="-122"/>
              <a:ea typeface="微软雅黑" panose="020B0503020204020204" pitchFamily="34" charset="-122"/>
            </a:endParaRPr>
          </a:p>
        </p:txBody>
      </p:sp>
      <p:sp>
        <p:nvSpPr>
          <p:cNvPr id="32" name="矩形 31"/>
          <p:cNvSpPr/>
          <p:nvPr/>
        </p:nvSpPr>
        <p:spPr>
          <a:xfrm>
            <a:off x="2552191" y="629460"/>
            <a:ext cx="3416320" cy="738664"/>
          </a:xfrm>
          <a:prstGeom prst="rect">
            <a:avLst/>
          </a:prstGeom>
        </p:spPr>
        <p:txBody>
          <a:bodyPr wrap="none">
            <a:spAutoFit/>
          </a:bodyPr>
          <a:lstStyle/>
          <a:p>
            <a:pPr>
              <a:lnSpc>
                <a:spcPct val="150000"/>
              </a:lnSpc>
            </a:pPr>
            <a:r>
              <a:rPr lang="zh-CN" altLang="en-US" sz="2800" b="1" dirty="0">
                <a:latin typeface="微软雅黑" panose="020B0503020204020204" pitchFamily="34" charset="-122"/>
                <a:ea typeface="微软雅黑" panose="020B0503020204020204" pitchFamily="34" charset="-122"/>
              </a:rPr>
              <a:t>独立编址方式的优点</a:t>
            </a:r>
          </a:p>
        </p:txBody>
      </p:sp>
      <p:sp>
        <p:nvSpPr>
          <p:cNvPr id="33" name="矩形 32"/>
          <p:cNvSpPr/>
          <p:nvPr/>
        </p:nvSpPr>
        <p:spPr>
          <a:xfrm>
            <a:off x="2515777" y="3474038"/>
            <a:ext cx="3416320" cy="738664"/>
          </a:xfrm>
          <a:prstGeom prst="rect">
            <a:avLst/>
          </a:prstGeom>
        </p:spPr>
        <p:txBody>
          <a:bodyPr wrap="none">
            <a:spAutoFit/>
          </a:bodyPr>
          <a:lstStyle/>
          <a:p>
            <a:pPr>
              <a:lnSpc>
                <a:spcPct val="150000"/>
              </a:lnSpc>
            </a:pPr>
            <a:r>
              <a:rPr lang="zh-CN" altLang="en-US" sz="2800" b="1" dirty="0">
                <a:latin typeface="微软雅黑" panose="020B0503020204020204" pitchFamily="34" charset="-122"/>
                <a:ea typeface="微软雅黑" panose="020B0503020204020204" pitchFamily="34" charset="-122"/>
              </a:rPr>
              <a:t>独立编址方式</a:t>
            </a:r>
            <a:r>
              <a:rPr lang="zh-CN" altLang="en-US" sz="2800" b="1" dirty="0" smtClean="0">
                <a:latin typeface="微软雅黑" panose="020B0503020204020204" pitchFamily="34" charset="-122"/>
                <a:ea typeface="微软雅黑" panose="020B0503020204020204" pitchFamily="34" charset="-122"/>
              </a:rPr>
              <a:t>的缺点</a:t>
            </a:r>
            <a:endParaRPr lang="zh-CN" altLang="en-US" sz="2800" b="1" dirty="0">
              <a:latin typeface="微软雅黑" panose="020B0503020204020204" pitchFamily="34" charset="-122"/>
              <a:ea typeface="微软雅黑" panose="020B0503020204020204" pitchFamily="34" charset="-122"/>
            </a:endParaRPr>
          </a:p>
        </p:txBody>
      </p:sp>
      <p:sp>
        <p:nvSpPr>
          <p:cNvPr id="34" name="矩形 33"/>
          <p:cNvSpPr/>
          <p:nvPr/>
        </p:nvSpPr>
        <p:spPr>
          <a:xfrm>
            <a:off x="1998849" y="4175259"/>
            <a:ext cx="7022704" cy="1384995"/>
          </a:xfrm>
          <a:prstGeom prst="rect">
            <a:avLst/>
          </a:prstGeom>
        </p:spPr>
        <p:txBody>
          <a:bodyPr wrap="square">
            <a:spAutoFit/>
          </a:bodyPr>
          <a:lstStyle/>
          <a:p>
            <a:pPr lvl="1">
              <a:lnSpc>
                <a:spcPct val="150000"/>
              </a:lnSpc>
            </a:pPr>
            <a:r>
              <a:rPr lang="zh-CN" altLang="en-US" sz="2800" b="1" dirty="0">
                <a:latin typeface="微软雅黑" panose="020B0503020204020204" pitchFamily="34" charset="-122"/>
                <a:ea typeface="微软雅黑" panose="020B0503020204020204" pitchFamily="34" charset="-122"/>
              </a:rPr>
              <a:t>只能使用专用输入输出指令访问</a:t>
            </a:r>
            <a:r>
              <a:rPr lang="en-US" altLang="zh-CN" sz="2800" b="1" dirty="0">
                <a:latin typeface="微软雅黑" panose="020B0503020204020204" pitchFamily="34" charset="-122"/>
                <a:ea typeface="微软雅黑" panose="020B0503020204020204" pitchFamily="34" charset="-122"/>
              </a:rPr>
              <a:t>I/O</a:t>
            </a:r>
            <a:r>
              <a:rPr lang="zh-CN" altLang="en-US" sz="2800" b="1" dirty="0">
                <a:latin typeface="微软雅黑" panose="020B0503020204020204" pitchFamily="34" charset="-122"/>
                <a:ea typeface="微软雅黑" panose="020B0503020204020204" pitchFamily="34" charset="-122"/>
              </a:rPr>
              <a:t>设备，对</a:t>
            </a:r>
            <a:r>
              <a:rPr lang="en-US" altLang="zh-CN" sz="2800" b="1" dirty="0">
                <a:latin typeface="微软雅黑" panose="020B0503020204020204" pitchFamily="34" charset="-122"/>
                <a:ea typeface="微软雅黑" panose="020B0503020204020204" pitchFamily="34" charset="-122"/>
              </a:rPr>
              <a:t>I/O</a:t>
            </a:r>
            <a:r>
              <a:rPr lang="zh-CN" altLang="en-US" sz="2800" b="1" dirty="0">
                <a:latin typeface="微软雅黑" panose="020B0503020204020204" pitchFamily="34" charset="-122"/>
                <a:ea typeface="微软雅黑" panose="020B0503020204020204" pitchFamily="34" charset="-122"/>
              </a:rPr>
              <a:t>设备操作的程序设计灵活性较差。</a:t>
            </a:r>
          </a:p>
        </p:txBody>
      </p:sp>
      <p:sp>
        <p:nvSpPr>
          <p:cNvPr id="35" name="Oval 7"/>
          <p:cNvSpPr>
            <a:spLocks noChangeArrowheads="1"/>
          </p:cNvSpPr>
          <p:nvPr/>
        </p:nvSpPr>
        <p:spPr bwMode="auto">
          <a:xfrm>
            <a:off x="1444021" y="4685321"/>
            <a:ext cx="238032" cy="234859"/>
          </a:xfrm>
          <a:prstGeom prst="ellipse">
            <a:avLst/>
          </a:prstGeom>
          <a:solidFill>
            <a:schemeClr val="accent4"/>
          </a:solidFill>
          <a:ln w="10" cap="flat">
            <a:solidFill>
              <a:srgbClr val="FFFFFF"/>
            </a:solidFill>
            <a:prstDash val="solid"/>
            <a:miter lim="800000"/>
            <a:headEnd/>
            <a:tailEnd/>
          </a:ln>
        </p:spPr>
        <p:txBody>
          <a:bodyPr vert="horz" wrap="square" lIns="91398" tIns="45699" rIns="91398" bIns="45699" numCol="1" anchor="t" anchorCtr="0" compatLnSpc="1">
            <a:prstTxWarp prst="textNoShape">
              <a:avLst/>
            </a:prstTxWarp>
          </a:bodyPr>
          <a:lstStyle/>
          <a:p>
            <a:endParaRPr lang="zh-CN" altLang="en-US" sz="1799"/>
          </a:p>
        </p:txBody>
      </p:sp>
    </p:spTree>
    <p:extLst>
      <p:ext uri="{BB962C8B-B14F-4D97-AF65-F5344CB8AC3E}">
        <p14:creationId xmlns:p14="http://schemas.microsoft.com/office/powerpoint/2010/main" val="407890491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advTm="0">
        <p15:prstTrans prst="peelOff"/>
      </p:transition>
    </mc:Choice>
    <mc:Fallback xmlns="">
      <p:transition spd="slow" advTm="0">
        <p:fade/>
      </p:transition>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3"/>
          <p:cNvSpPr>
            <a:spLocks noGrp="1" noChangeArrowheads="1"/>
          </p:cNvSpPr>
          <p:nvPr>
            <p:ph type="body" idx="1"/>
          </p:nvPr>
        </p:nvSpPr>
        <p:spPr>
          <a:xfrm>
            <a:off x="1642235" y="707830"/>
            <a:ext cx="8837784" cy="1448515"/>
          </a:xfrm>
        </p:spPr>
        <p:txBody>
          <a:bodyPr>
            <a:normAutofit/>
          </a:bodyPr>
          <a:lstStyle/>
          <a:p>
            <a:pPr marL="0" lvl="1">
              <a:lnSpc>
                <a:spcPct val="150000"/>
              </a:lnSpc>
              <a:buNone/>
            </a:pPr>
            <a:r>
              <a:rPr lang="en-US" altLang="zh-CN" sz="2800" b="1" dirty="0">
                <a:latin typeface="微软雅黑" panose="020B0503020204020204" pitchFamily="34" charset="-122"/>
                <a:ea typeface="微软雅黑" panose="020B0503020204020204" pitchFamily="34" charset="-122"/>
              </a:rPr>
              <a:t>I/O</a:t>
            </a:r>
            <a:r>
              <a:rPr lang="zh-CN" altLang="en-US" sz="2800" b="1" dirty="0">
                <a:latin typeface="微软雅黑" panose="020B0503020204020204" pitchFamily="34" charset="-122"/>
                <a:ea typeface="微软雅黑" panose="020B0503020204020204" pitchFamily="34" charset="-122"/>
              </a:rPr>
              <a:t>端口的统一编址方式 </a:t>
            </a:r>
            <a:r>
              <a:rPr lang="en-US" altLang="zh-CN" sz="2800" b="1" dirty="0">
                <a:latin typeface="微软雅黑" panose="020B0503020204020204" pitchFamily="34" charset="-122"/>
                <a:ea typeface="微软雅黑" panose="020B0503020204020204" pitchFamily="34" charset="-122"/>
              </a:rPr>
              <a:t>--</a:t>
            </a:r>
            <a:r>
              <a:rPr lang="zh-CN" altLang="en-US" sz="2800" b="1" dirty="0">
                <a:latin typeface="微软雅黑" panose="020B0503020204020204" pitchFamily="34" charset="-122"/>
                <a:ea typeface="微软雅黑" panose="020B0503020204020204" pitchFamily="34" charset="-122"/>
              </a:rPr>
              <a:t>是指</a:t>
            </a:r>
            <a:r>
              <a:rPr lang="en-US" altLang="zh-CN" sz="2800" b="1" dirty="0">
                <a:latin typeface="微软雅黑" panose="020B0503020204020204" pitchFamily="34" charset="-122"/>
                <a:ea typeface="微软雅黑" panose="020B0503020204020204" pitchFamily="34" charset="-122"/>
              </a:rPr>
              <a:t>I/O</a:t>
            </a:r>
            <a:r>
              <a:rPr lang="zh-CN" altLang="en-US" sz="2800" b="1" dirty="0">
                <a:latin typeface="微软雅黑" panose="020B0503020204020204" pitchFamily="34" charset="-122"/>
                <a:ea typeface="微软雅黑" panose="020B0503020204020204" pitchFamily="34" charset="-122"/>
              </a:rPr>
              <a:t>端口与主存单元使用同一个地址空间进行统一编址。</a:t>
            </a:r>
          </a:p>
          <a:p>
            <a:pPr marL="0" lvl="1">
              <a:lnSpc>
                <a:spcPct val="150000"/>
              </a:lnSpc>
              <a:buNone/>
            </a:pPr>
            <a:endParaRPr lang="en-US" altLang="zh-CN" sz="2800" b="1" dirty="0">
              <a:latin typeface="微软雅黑" panose="020B0503020204020204" pitchFamily="34" charset="-122"/>
              <a:ea typeface="微软雅黑" panose="020B0503020204020204" pitchFamily="34" charset="-122"/>
            </a:endParaRPr>
          </a:p>
          <a:p>
            <a:pPr marL="0" lvl="1">
              <a:lnSpc>
                <a:spcPct val="150000"/>
              </a:lnSpc>
              <a:buNone/>
            </a:pPr>
            <a:endParaRPr lang="en-US" altLang="zh-CN" sz="2800" b="1" dirty="0">
              <a:latin typeface="微软雅黑" panose="020B0503020204020204" pitchFamily="34" charset="-122"/>
              <a:ea typeface="微软雅黑" panose="020B0503020204020204" pitchFamily="34" charset="-122"/>
            </a:endParaRPr>
          </a:p>
          <a:p>
            <a:pPr marL="0" lvl="1">
              <a:lnSpc>
                <a:spcPct val="150000"/>
              </a:lnSpc>
              <a:buNone/>
            </a:pPr>
            <a:endParaRPr lang="en-US" altLang="zh-CN" sz="2800" b="1" dirty="0">
              <a:latin typeface="微软雅黑" panose="020B0503020204020204" pitchFamily="34" charset="-122"/>
              <a:ea typeface="微软雅黑" panose="020B0503020204020204" pitchFamily="34" charset="-122"/>
            </a:endParaRPr>
          </a:p>
          <a:p>
            <a:pPr marL="0" lvl="1">
              <a:lnSpc>
                <a:spcPct val="150000"/>
              </a:lnSpc>
              <a:buNone/>
            </a:pPr>
            <a:endParaRPr lang="en-US" altLang="zh-CN" sz="2800" b="1" dirty="0">
              <a:latin typeface="微软雅黑" panose="020B0503020204020204" pitchFamily="34" charset="-122"/>
              <a:ea typeface="微软雅黑" panose="020B0503020204020204" pitchFamily="34" charset="-122"/>
            </a:endParaRPr>
          </a:p>
          <a:p>
            <a:pPr marL="0" lvl="1">
              <a:lnSpc>
                <a:spcPct val="150000"/>
              </a:lnSpc>
              <a:buNone/>
            </a:pPr>
            <a:endParaRPr lang="zh-CN" altLang="en-US" sz="2800" b="1" dirty="0">
              <a:latin typeface="微软雅黑" panose="020B0503020204020204" pitchFamily="34" charset="-122"/>
              <a:ea typeface="微软雅黑" panose="020B0503020204020204" pitchFamily="34" charset="-122"/>
            </a:endParaRPr>
          </a:p>
          <a:p>
            <a:pPr marL="0" indent="0" eaLnBrk="1" hangingPunct="1">
              <a:lnSpc>
                <a:spcPct val="150000"/>
              </a:lnSpc>
              <a:buNone/>
            </a:pPr>
            <a:endParaRPr lang="en-US" altLang="zh-CN" b="1" dirty="0">
              <a:latin typeface="微软雅黑" panose="020B0503020204020204" pitchFamily="34" charset="-122"/>
              <a:ea typeface="微软雅黑" panose="020B0503020204020204" pitchFamily="34" charset="-122"/>
            </a:endParaRPr>
          </a:p>
          <a:p>
            <a:pPr marL="0" indent="0" eaLnBrk="1" hangingPunct="1">
              <a:lnSpc>
                <a:spcPct val="150000"/>
              </a:lnSpc>
              <a:buNone/>
            </a:pPr>
            <a:endParaRPr lang="en-US" altLang="zh-CN" b="1" dirty="0">
              <a:latin typeface="微软雅黑" panose="020B0503020204020204" pitchFamily="34" charset="-122"/>
              <a:ea typeface="微软雅黑" panose="020B0503020204020204" pitchFamily="34" charset="-122"/>
            </a:endParaRPr>
          </a:p>
        </p:txBody>
      </p:sp>
      <p:grpSp>
        <p:nvGrpSpPr>
          <p:cNvPr id="4" name="组合 3"/>
          <p:cNvGrpSpPr/>
          <p:nvPr/>
        </p:nvGrpSpPr>
        <p:grpSpPr>
          <a:xfrm>
            <a:off x="657765" y="994461"/>
            <a:ext cx="646909" cy="646486"/>
            <a:chOff x="704638" y="1754594"/>
            <a:chExt cx="646909" cy="646486"/>
          </a:xfrm>
        </p:grpSpPr>
        <p:sp>
          <p:nvSpPr>
            <p:cNvPr id="8" name="Freeform 14"/>
            <p:cNvSpPr>
              <a:spLocks/>
            </p:cNvSpPr>
            <p:nvPr/>
          </p:nvSpPr>
          <p:spPr bwMode="auto">
            <a:xfrm>
              <a:off x="704638" y="1754594"/>
              <a:ext cx="646909" cy="646486"/>
            </a:xfrm>
            <a:custGeom>
              <a:avLst/>
              <a:gdLst>
                <a:gd name="T0" fmla="*/ 3227 w 3227"/>
                <a:gd name="T1" fmla="*/ 1634 h 3227"/>
                <a:gd name="T2" fmla="*/ 1614 w 3227"/>
                <a:gd name="T3" fmla="*/ 3227 h 3227"/>
                <a:gd name="T4" fmla="*/ 0 w 3227"/>
                <a:gd name="T5" fmla="*/ 1613 h 3227"/>
                <a:gd name="T6" fmla="*/ 1593 w 3227"/>
                <a:gd name="T7" fmla="*/ 0 h 3227"/>
                <a:gd name="T8" fmla="*/ 1593 w 3227"/>
                <a:gd name="T9" fmla="*/ 0 h 3227"/>
                <a:gd name="T10" fmla="*/ 1614 w 3227"/>
                <a:gd name="T11" fmla="*/ 0 h 3227"/>
                <a:gd name="T12" fmla="*/ 3227 w 3227"/>
                <a:gd name="T13" fmla="*/ 0 h 3227"/>
                <a:gd name="T14" fmla="*/ 3227 w 3227"/>
                <a:gd name="T15" fmla="*/ 1613 h 3227"/>
                <a:gd name="T16" fmla="*/ 3227 w 3227"/>
                <a:gd name="T17" fmla="*/ 1634 h 32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227" h="3227">
                  <a:moveTo>
                    <a:pt x="3227" y="1634"/>
                  </a:moveTo>
                  <a:cubicBezTo>
                    <a:pt x="3216" y="2515"/>
                    <a:pt x="2498" y="3227"/>
                    <a:pt x="1614" y="3227"/>
                  </a:cubicBezTo>
                  <a:cubicBezTo>
                    <a:pt x="723" y="3227"/>
                    <a:pt x="0" y="2504"/>
                    <a:pt x="0" y="1613"/>
                  </a:cubicBezTo>
                  <a:cubicBezTo>
                    <a:pt x="0" y="729"/>
                    <a:pt x="712" y="11"/>
                    <a:pt x="1593" y="0"/>
                  </a:cubicBezTo>
                  <a:lnTo>
                    <a:pt x="1593" y="0"/>
                  </a:lnTo>
                  <a:lnTo>
                    <a:pt x="1614" y="0"/>
                  </a:lnTo>
                  <a:lnTo>
                    <a:pt x="3227" y="0"/>
                  </a:lnTo>
                  <a:lnTo>
                    <a:pt x="3227" y="1613"/>
                  </a:lnTo>
                  <a:lnTo>
                    <a:pt x="3227" y="1634"/>
                  </a:lnTo>
                  <a:close/>
                </a:path>
              </a:pathLst>
            </a:custGeom>
            <a:solidFill>
              <a:srgbClr val="92D050"/>
            </a:solidFill>
            <a:ln>
              <a:noFill/>
            </a:ln>
          </p:spPr>
          <p:txBody>
            <a:bodyPr vert="horz" wrap="square" lIns="91398" tIns="45699" rIns="91398" bIns="45699" numCol="1" anchor="t" anchorCtr="0" compatLnSpc="1">
              <a:prstTxWarp prst="textNoShape">
                <a:avLst/>
              </a:prstTxWarp>
            </a:bodyPr>
            <a:lstStyle/>
            <a:p>
              <a:endParaRPr lang="zh-CN" altLang="en-US" sz="1799" dirty="0">
                <a:solidFill>
                  <a:schemeClr val="accent1"/>
                </a:solidFill>
              </a:endParaRPr>
            </a:p>
          </p:txBody>
        </p:sp>
        <p:sp>
          <p:nvSpPr>
            <p:cNvPr id="10" name="文本框 9"/>
            <p:cNvSpPr txBox="1"/>
            <p:nvPr/>
          </p:nvSpPr>
          <p:spPr>
            <a:xfrm>
              <a:off x="834302" y="1816227"/>
              <a:ext cx="416687" cy="523220"/>
            </a:xfrm>
            <a:prstGeom prst="rect">
              <a:avLst/>
            </a:prstGeom>
            <a:noFill/>
          </p:spPr>
          <p:txBody>
            <a:bodyPr wrap="square" rtlCol="0">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1</a:t>
              </a:r>
              <a:endParaRPr lang="zh-CN" altLang="en-US" sz="2800" b="1" dirty="0">
                <a:solidFill>
                  <a:schemeClr val="bg1"/>
                </a:solidFill>
                <a:latin typeface="微软雅黑" panose="020B0503020204020204" pitchFamily="34" charset="-122"/>
                <a:ea typeface="微软雅黑" panose="020B0503020204020204" pitchFamily="34" charset="-122"/>
              </a:endParaRPr>
            </a:p>
          </p:txBody>
        </p:sp>
      </p:grpSp>
      <p:grpSp>
        <p:nvGrpSpPr>
          <p:cNvPr id="12" name="组合 11"/>
          <p:cNvGrpSpPr/>
          <p:nvPr/>
        </p:nvGrpSpPr>
        <p:grpSpPr>
          <a:xfrm>
            <a:off x="672317" y="3118501"/>
            <a:ext cx="646909" cy="646486"/>
            <a:chOff x="772877" y="3542865"/>
            <a:chExt cx="646909" cy="646486"/>
          </a:xfrm>
        </p:grpSpPr>
        <p:sp>
          <p:nvSpPr>
            <p:cNvPr id="9" name="Freeform 14"/>
            <p:cNvSpPr>
              <a:spLocks/>
            </p:cNvSpPr>
            <p:nvPr/>
          </p:nvSpPr>
          <p:spPr bwMode="auto">
            <a:xfrm>
              <a:off x="772877" y="3542865"/>
              <a:ext cx="646909" cy="646486"/>
            </a:xfrm>
            <a:custGeom>
              <a:avLst/>
              <a:gdLst>
                <a:gd name="T0" fmla="*/ 3227 w 3227"/>
                <a:gd name="T1" fmla="*/ 1634 h 3227"/>
                <a:gd name="T2" fmla="*/ 1614 w 3227"/>
                <a:gd name="T3" fmla="*/ 3227 h 3227"/>
                <a:gd name="T4" fmla="*/ 0 w 3227"/>
                <a:gd name="T5" fmla="*/ 1613 h 3227"/>
                <a:gd name="T6" fmla="*/ 1593 w 3227"/>
                <a:gd name="T7" fmla="*/ 0 h 3227"/>
                <a:gd name="T8" fmla="*/ 1593 w 3227"/>
                <a:gd name="T9" fmla="*/ 0 h 3227"/>
                <a:gd name="T10" fmla="*/ 1614 w 3227"/>
                <a:gd name="T11" fmla="*/ 0 h 3227"/>
                <a:gd name="T12" fmla="*/ 3227 w 3227"/>
                <a:gd name="T13" fmla="*/ 0 h 3227"/>
                <a:gd name="T14" fmla="*/ 3227 w 3227"/>
                <a:gd name="T15" fmla="*/ 1613 h 3227"/>
                <a:gd name="T16" fmla="*/ 3227 w 3227"/>
                <a:gd name="T17" fmla="*/ 1634 h 32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227" h="3227">
                  <a:moveTo>
                    <a:pt x="3227" y="1634"/>
                  </a:moveTo>
                  <a:cubicBezTo>
                    <a:pt x="3216" y="2515"/>
                    <a:pt x="2498" y="3227"/>
                    <a:pt x="1614" y="3227"/>
                  </a:cubicBezTo>
                  <a:cubicBezTo>
                    <a:pt x="723" y="3227"/>
                    <a:pt x="0" y="2504"/>
                    <a:pt x="0" y="1613"/>
                  </a:cubicBezTo>
                  <a:cubicBezTo>
                    <a:pt x="0" y="729"/>
                    <a:pt x="712" y="11"/>
                    <a:pt x="1593" y="0"/>
                  </a:cubicBezTo>
                  <a:lnTo>
                    <a:pt x="1593" y="0"/>
                  </a:lnTo>
                  <a:lnTo>
                    <a:pt x="1614" y="0"/>
                  </a:lnTo>
                  <a:lnTo>
                    <a:pt x="3227" y="0"/>
                  </a:lnTo>
                  <a:lnTo>
                    <a:pt x="3227" y="1613"/>
                  </a:lnTo>
                  <a:lnTo>
                    <a:pt x="3227" y="1634"/>
                  </a:lnTo>
                  <a:close/>
                </a:path>
              </a:pathLst>
            </a:custGeom>
            <a:solidFill>
              <a:srgbClr val="FFC000"/>
            </a:solidFill>
            <a:ln>
              <a:noFill/>
            </a:ln>
          </p:spPr>
          <p:txBody>
            <a:bodyPr vert="horz" wrap="square" lIns="91398" tIns="45699" rIns="91398" bIns="45699" numCol="1" anchor="t" anchorCtr="0" compatLnSpc="1">
              <a:prstTxWarp prst="textNoShape">
                <a:avLst/>
              </a:prstTxWarp>
            </a:bodyPr>
            <a:lstStyle/>
            <a:p>
              <a:endParaRPr lang="en-US" altLang="zh-CN" sz="1799" dirty="0">
                <a:solidFill>
                  <a:schemeClr val="accent1"/>
                </a:solidFill>
              </a:endParaRPr>
            </a:p>
            <a:p>
              <a:endParaRPr lang="en-US" altLang="zh-CN" sz="1799" dirty="0">
                <a:solidFill>
                  <a:schemeClr val="accent1"/>
                </a:solidFill>
              </a:endParaRPr>
            </a:p>
            <a:p>
              <a:endParaRPr lang="en-US" altLang="zh-CN" sz="1799" dirty="0">
                <a:solidFill>
                  <a:schemeClr val="accent1"/>
                </a:solidFill>
              </a:endParaRPr>
            </a:p>
            <a:p>
              <a:endParaRPr lang="en-US" altLang="zh-CN" sz="1799" dirty="0">
                <a:solidFill>
                  <a:schemeClr val="accent1"/>
                </a:solidFill>
              </a:endParaRPr>
            </a:p>
            <a:p>
              <a:endParaRPr lang="en-US" altLang="zh-CN" sz="1799" dirty="0">
                <a:solidFill>
                  <a:schemeClr val="accent1"/>
                </a:solidFill>
              </a:endParaRPr>
            </a:p>
            <a:p>
              <a:endParaRPr lang="zh-CN" altLang="en-US" sz="1799" dirty="0">
                <a:solidFill>
                  <a:schemeClr val="accent1"/>
                </a:solidFill>
              </a:endParaRPr>
            </a:p>
          </p:txBody>
        </p:sp>
        <p:sp>
          <p:nvSpPr>
            <p:cNvPr id="11" name="文本框 10"/>
            <p:cNvSpPr txBox="1"/>
            <p:nvPr/>
          </p:nvSpPr>
          <p:spPr>
            <a:xfrm>
              <a:off x="887987" y="3604498"/>
              <a:ext cx="416687" cy="523220"/>
            </a:xfrm>
            <a:prstGeom prst="rect">
              <a:avLst/>
            </a:prstGeom>
            <a:noFill/>
          </p:spPr>
          <p:txBody>
            <a:bodyPr wrap="square" rtlCol="0">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2</a:t>
              </a:r>
              <a:endParaRPr lang="zh-CN" altLang="en-US" sz="2800" b="1" dirty="0">
                <a:solidFill>
                  <a:schemeClr val="bg1"/>
                </a:solidFill>
                <a:latin typeface="微软雅黑" panose="020B0503020204020204" pitchFamily="34" charset="-122"/>
                <a:ea typeface="微软雅黑" panose="020B0503020204020204" pitchFamily="34" charset="-122"/>
              </a:endParaRPr>
            </a:p>
          </p:txBody>
        </p:sp>
      </p:grpSp>
      <p:sp>
        <p:nvSpPr>
          <p:cNvPr id="13" name="文本框 12"/>
          <p:cNvSpPr txBox="1"/>
          <p:nvPr/>
        </p:nvSpPr>
        <p:spPr>
          <a:xfrm>
            <a:off x="834303" y="4865760"/>
            <a:ext cx="416687" cy="523220"/>
          </a:xfrm>
          <a:prstGeom prst="rect">
            <a:avLst/>
          </a:prstGeom>
          <a:noFill/>
        </p:spPr>
        <p:txBody>
          <a:bodyPr wrap="square" rtlCol="0">
            <a:spAutoFit/>
          </a:bodyPr>
          <a:lstStyle/>
          <a:p>
            <a:r>
              <a:rPr lang="en-US" altLang="zh-CN" sz="2800" b="1" dirty="0">
                <a:solidFill>
                  <a:schemeClr val="bg1"/>
                </a:solidFill>
                <a:latin typeface="微软雅黑" panose="020B0503020204020204" pitchFamily="34" charset="-122"/>
                <a:ea typeface="微软雅黑" panose="020B0503020204020204" pitchFamily="34" charset="-122"/>
              </a:rPr>
              <a:t>3</a:t>
            </a:r>
            <a:endParaRPr lang="zh-CN" altLang="en-US" sz="2800" b="1" dirty="0">
              <a:solidFill>
                <a:schemeClr val="bg1"/>
              </a:solidFill>
              <a:latin typeface="微软雅黑" panose="020B0503020204020204" pitchFamily="34" charset="-122"/>
              <a:ea typeface="微软雅黑" panose="020B0503020204020204" pitchFamily="34" charset="-122"/>
            </a:endParaRPr>
          </a:p>
        </p:txBody>
      </p:sp>
      <p:sp>
        <p:nvSpPr>
          <p:cNvPr id="2" name="矩形 1"/>
          <p:cNvSpPr/>
          <p:nvPr/>
        </p:nvSpPr>
        <p:spPr>
          <a:xfrm>
            <a:off x="1642235" y="2871901"/>
            <a:ext cx="9140958" cy="7201972"/>
          </a:xfrm>
          <a:prstGeom prst="rect">
            <a:avLst/>
          </a:prstGeom>
        </p:spPr>
        <p:txBody>
          <a:bodyPr wrap="square">
            <a:spAutoFit/>
          </a:bodyPr>
          <a:lstStyle/>
          <a:p>
            <a:pPr marL="0" lvl="1">
              <a:lnSpc>
                <a:spcPct val="150000"/>
              </a:lnSpc>
            </a:pPr>
            <a:r>
              <a:rPr lang="zh-CN" altLang="en-US" sz="2800" b="1" dirty="0" smtClean="0">
                <a:latin typeface="微软雅黑" panose="020B0503020204020204" pitchFamily="34" charset="-122"/>
                <a:ea typeface="微软雅黑" panose="020B0503020204020204" pitchFamily="34" charset="-122"/>
              </a:rPr>
              <a:t>在</a:t>
            </a:r>
            <a:r>
              <a:rPr lang="zh-CN" altLang="en-US" sz="2800" b="1" dirty="0">
                <a:latin typeface="微软雅黑" panose="020B0503020204020204" pitchFamily="34" charset="-122"/>
                <a:ea typeface="微软雅黑" panose="020B0503020204020204" pitchFamily="34" charset="-122"/>
              </a:rPr>
              <a:t>这种方式下，</a:t>
            </a:r>
            <a:r>
              <a:rPr lang="en-US" altLang="zh-CN" sz="2800" b="1" dirty="0">
                <a:latin typeface="微软雅黑" panose="020B0503020204020204" pitchFamily="34" charset="-122"/>
                <a:ea typeface="微软雅黑" panose="020B0503020204020204" pitchFamily="34" charset="-122"/>
              </a:rPr>
              <a:t>CPU</a:t>
            </a:r>
            <a:r>
              <a:rPr lang="zh-CN" altLang="en-US" sz="2800" b="1" dirty="0">
                <a:latin typeface="微软雅黑" panose="020B0503020204020204" pitchFamily="34" charset="-122"/>
                <a:ea typeface="微软雅黑" panose="020B0503020204020204" pitchFamily="34" charset="-122"/>
              </a:rPr>
              <a:t>指令系统中无需设置专门的与设备进行数据传输的输入输出指令，</a:t>
            </a:r>
            <a:r>
              <a:rPr lang="en-US" altLang="zh-CN" sz="2800" b="1" dirty="0">
                <a:latin typeface="微软雅黑" panose="020B0503020204020204" pitchFamily="34" charset="-122"/>
                <a:ea typeface="微软雅黑" panose="020B0503020204020204" pitchFamily="34" charset="-122"/>
              </a:rPr>
              <a:t>I/O</a:t>
            </a:r>
            <a:r>
              <a:rPr lang="zh-CN" altLang="en-US" sz="2800" b="1" dirty="0">
                <a:latin typeface="微软雅黑" panose="020B0503020204020204" pitchFamily="34" charset="-122"/>
                <a:ea typeface="微软雅黑" panose="020B0503020204020204" pitchFamily="34" charset="-122"/>
              </a:rPr>
              <a:t>端口被当成主存单元同样对待，对主存单元进行访问和操作的指令可以同样用于对</a:t>
            </a:r>
            <a:r>
              <a:rPr lang="en-US" altLang="zh-CN" sz="2800" b="1" dirty="0">
                <a:latin typeface="微软雅黑" panose="020B0503020204020204" pitchFamily="34" charset="-122"/>
                <a:ea typeface="微软雅黑" panose="020B0503020204020204" pitchFamily="34" charset="-122"/>
              </a:rPr>
              <a:t>I/O</a:t>
            </a:r>
            <a:r>
              <a:rPr lang="zh-CN" altLang="en-US" sz="2800" b="1" dirty="0">
                <a:latin typeface="微软雅黑" panose="020B0503020204020204" pitchFamily="34" charset="-122"/>
                <a:ea typeface="微软雅黑" panose="020B0503020204020204" pitchFamily="34" charset="-122"/>
              </a:rPr>
              <a:t>端口的访问和操作。  </a:t>
            </a:r>
            <a:endParaRPr lang="en-US" altLang="zh-CN" sz="2800" b="1" dirty="0">
              <a:latin typeface="微软雅黑" panose="020B0503020204020204" pitchFamily="34" charset="-122"/>
              <a:ea typeface="微软雅黑" panose="020B0503020204020204" pitchFamily="34" charset="-122"/>
            </a:endParaRPr>
          </a:p>
          <a:p>
            <a:pPr marL="0" lvl="1">
              <a:lnSpc>
                <a:spcPct val="150000"/>
              </a:lnSpc>
            </a:pPr>
            <a:endParaRPr lang="zh-CN" altLang="en-US" sz="2800" b="1" dirty="0">
              <a:latin typeface="微软雅黑" panose="020B0503020204020204" pitchFamily="34" charset="-122"/>
              <a:ea typeface="微软雅黑" panose="020B0503020204020204" pitchFamily="34" charset="-122"/>
            </a:endParaRPr>
          </a:p>
          <a:p>
            <a:pPr marL="0" lvl="1">
              <a:lnSpc>
                <a:spcPct val="150000"/>
              </a:lnSpc>
            </a:pPr>
            <a:endParaRPr lang="zh-CN" altLang="en-US" sz="2800" b="1" dirty="0">
              <a:latin typeface="微软雅黑" panose="020B0503020204020204" pitchFamily="34" charset="-122"/>
              <a:ea typeface="微软雅黑" panose="020B0503020204020204" pitchFamily="34" charset="-122"/>
            </a:endParaRPr>
          </a:p>
          <a:p>
            <a:pPr marL="0" lvl="1">
              <a:lnSpc>
                <a:spcPct val="150000"/>
              </a:lnSpc>
            </a:pPr>
            <a:endParaRPr lang="zh-CN" altLang="en-US" sz="2800" b="1" dirty="0">
              <a:latin typeface="微软雅黑" panose="020B0503020204020204" pitchFamily="34" charset="-122"/>
              <a:ea typeface="微软雅黑" panose="020B0503020204020204" pitchFamily="34" charset="-122"/>
            </a:endParaRPr>
          </a:p>
          <a:p>
            <a:pPr marL="0" lvl="1">
              <a:lnSpc>
                <a:spcPct val="150000"/>
              </a:lnSpc>
            </a:pPr>
            <a:endParaRPr lang="zh-CN" altLang="en-US" sz="2800" b="1" dirty="0">
              <a:latin typeface="微软雅黑" panose="020B0503020204020204" pitchFamily="34" charset="-122"/>
              <a:ea typeface="微软雅黑" panose="020B0503020204020204" pitchFamily="34" charset="-122"/>
            </a:endParaRPr>
          </a:p>
          <a:p>
            <a:pPr marL="0" lvl="1">
              <a:lnSpc>
                <a:spcPct val="150000"/>
              </a:lnSpc>
            </a:pPr>
            <a:endParaRPr lang="zh-CN" altLang="en-US" sz="2800" b="1" dirty="0">
              <a:latin typeface="微软雅黑" panose="020B0503020204020204" pitchFamily="34" charset="-122"/>
              <a:ea typeface="微软雅黑" panose="020B0503020204020204" pitchFamily="34" charset="-122"/>
            </a:endParaRPr>
          </a:p>
          <a:p>
            <a:pPr marL="0" lvl="1">
              <a:lnSpc>
                <a:spcPct val="150000"/>
              </a:lnSpc>
            </a:pPr>
            <a:endParaRPr lang="zh-CN" altLang="en-US" sz="2800" b="1" dirty="0">
              <a:latin typeface="微软雅黑" panose="020B0503020204020204" pitchFamily="34" charset="-122"/>
              <a:ea typeface="微软雅黑" panose="020B0503020204020204" pitchFamily="34" charset="-122"/>
            </a:endParaRPr>
          </a:p>
          <a:p>
            <a:pPr>
              <a:lnSpc>
                <a:spcPct val="150000"/>
              </a:lnSpc>
            </a:pPr>
            <a:endParaRPr lang="zh-CN" altLang="en-US" sz="2800" b="1"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67396408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矩形 13"/>
          <p:cNvSpPr/>
          <p:nvPr/>
        </p:nvSpPr>
        <p:spPr bwMode="auto">
          <a:xfrm>
            <a:off x="6332561" y="976355"/>
            <a:ext cx="4449170" cy="5247024"/>
          </a:xfrm>
          <a:prstGeom prst="rect">
            <a:avLst/>
          </a:prstGeom>
          <a:solidFill>
            <a:schemeClr val="bg1">
              <a:lumMod val="95000"/>
            </a:schemeClr>
          </a:solidFill>
          <a:ln w="9525" cap="flat" cmpd="sng" algn="ctr">
            <a:solidFill>
              <a:schemeClr val="accent1">
                <a:lumMod val="60000"/>
                <a:lumOff val="40000"/>
              </a:schemeClr>
            </a:solidFill>
            <a:prstDash val="solid"/>
            <a:round/>
            <a:headEnd type="none" w="med" len="med"/>
            <a:tailEnd type="none" w="med" len="med"/>
          </a:ln>
          <a:effectLst/>
          <a:extLst/>
        </p:spPr>
        <p:txBody>
          <a:bodyPr vert="horz" wrap="square" lIns="91398" tIns="45699" rIns="91398" bIns="45699" numCol="1" rtlCol="0" anchor="t" anchorCtr="0" compatLnSpc="1">
            <a:prstTxWarp prst="textNoShape">
              <a:avLst/>
            </a:prstTxWarp>
          </a:bodyPr>
          <a:lstStyle/>
          <a:p>
            <a:pPr defTabSz="913973"/>
            <a:endParaRPr lang="zh-CN" altLang="en-US" sz="1699"/>
          </a:p>
        </p:txBody>
      </p:sp>
      <p:sp>
        <p:nvSpPr>
          <p:cNvPr id="15" name="矩形 14"/>
          <p:cNvSpPr/>
          <p:nvPr/>
        </p:nvSpPr>
        <p:spPr bwMode="auto">
          <a:xfrm>
            <a:off x="1146412" y="976354"/>
            <a:ext cx="4421875" cy="5247025"/>
          </a:xfrm>
          <a:prstGeom prst="rect">
            <a:avLst/>
          </a:prstGeom>
          <a:solidFill>
            <a:schemeClr val="bg1">
              <a:lumMod val="95000"/>
            </a:schemeClr>
          </a:solidFill>
          <a:ln w="9525" cap="flat" cmpd="sng" algn="ctr">
            <a:solidFill>
              <a:schemeClr val="accent1">
                <a:lumMod val="60000"/>
                <a:lumOff val="40000"/>
              </a:schemeClr>
            </a:solidFill>
            <a:prstDash val="solid"/>
            <a:round/>
            <a:headEnd type="none" w="med" len="med"/>
            <a:tailEnd type="none" w="med" len="med"/>
          </a:ln>
          <a:effectLst/>
          <a:extLst/>
        </p:spPr>
        <p:txBody>
          <a:bodyPr vert="horz" wrap="square" lIns="91398" tIns="45699" rIns="91398" bIns="45699" numCol="1" rtlCol="0" anchor="t" anchorCtr="0" compatLnSpc="1">
            <a:prstTxWarp prst="textNoShape">
              <a:avLst/>
            </a:prstTxWarp>
          </a:bodyPr>
          <a:lstStyle/>
          <a:p>
            <a:pPr defTabSz="913973"/>
            <a:endParaRPr lang="zh-CN" altLang="en-US" sz="1699"/>
          </a:p>
        </p:txBody>
      </p:sp>
      <p:grpSp>
        <p:nvGrpSpPr>
          <p:cNvPr id="16" name="组合 15"/>
          <p:cNvGrpSpPr/>
          <p:nvPr/>
        </p:nvGrpSpPr>
        <p:grpSpPr>
          <a:xfrm>
            <a:off x="2643992" y="1016335"/>
            <a:ext cx="1010843" cy="1010844"/>
            <a:chOff x="1230014" y="1296938"/>
            <a:chExt cx="1011238" cy="1011238"/>
          </a:xfrm>
        </p:grpSpPr>
        <p:sp>
          <p:nvSpPr>
            <p:cNvPr id="17" name="Oval 13"/>
            <p:cNvSpPr>
              <a:spLocks noChangeArrowheads="1"/>
            </p:cNvSpPr>
            <p:nvPr/>
          </p:nvSpPr>
          <p:spPr bwMode="auto">
            <a:xfrm>
              <a:off x="1230014" y="1296938"/>
              <a:ext cx="1011238" cy="1011238"/>
            </a:xfrm>
            <a:prstGeom prst="ellipse">
              <a:avLst/>
            </a:prstGeom>
            <a:solidFill>
              <a:srgbClr val="FFC000"/>
            </a:solidFill>
            <a:ln>
              <a:noFill/>
            </a:ln>
          </p:spPr>
          <p:txBody>
            <a:bodyPr vert="horz" wrap="square" lIns="91404" tIns="45702" rIns="91404" bIns="45702" numCol="1" anchor="t" anchorCtr="0" compatLnSpc="1">
              <a:prstTxWarp prst="textNoShape">
                <a:avLst/>
              </a:prstTxWarp>
            </a:bodyPr>
            <a:lstStyle/>
            <a:p>
              <a:endParaRPr lang="zh-CN" altLang="en-US" sz="1799"/>
            </a:p>
          </p:txBody>
        </p:sp>
        <p:sp>
          <p:nvSpPr>
            <p:cNvPr id="18" name="TextBox 14"/>
            <p:cNvSpPr txBox="1"/>
            <p:nvPr/>
          </p:nvSpPr>
          <p:spPr>
            <a:xfrm>
              <a:off x="1282081" y="1429117"/>
              <a:ext cx="868522" cy="707842"/>
            </a:xfrm>
            <a:prstGeom prst="rect">
              <a:avLst/>
            </a:prstGeom>
            <a:noFill/>
          </p:spPr>
          <p:txBody>
            <a:bodyPr wrap="square" rtlCol="0">
              <a:spAutoFit/>
            </a:bodyPr>
            <a:lstStyle/>
            <a:p>
              <a:pPr algn="ctr"/>
              <a:r>
                <a:rPr lang="en-US" altLang="zh-CN" sz="3998" dirty="0">
                  <a:solidFill>
                    <a:schemeClr val="bg1"/>
                  </a:solidFill>
                  <a:latin typeface="+mn-ea"/>
                </a:rPr>
                <a:t>01</a:t>
              </a:r>
              <a:endParaRPr lang="zh-CN" altLang="en-US" sz="3998" dirty="0">
                <a:solidFill>
                  <a:schemeClr val="bg1"/>
                </a:solidFill>
                <a:latin typeface="+mn-ea"/>
              </a:endParaRPr>
            </a:p>
          </p:txBody>
        </p:sp>
      </p:grpSp>
      <p:grpSp>
        <p:nvGrpSpPr>
          <p:cNvPr id="19" name="组合 18"/>
          <p:cNvGrpSpPr/>
          <p:nvPr/>
        </p:nvGrpSpPr>
        <p:grpSpPr>
          <a:xfrm>
            <a:off x="8050695" y="1016335"/>
            <a:ext cx="1010843" cy="1010844"/>
            <a:chOff x="6470754" y="1296938"/>
            <a:chExt cx="1011238" cy="1011238"/>
          </a:xfrm>
        </p:grpSpPr>
        <p:sp>
          <p:nvSpPr>
            <p:cNvPr id="20" name="Oval 13"/>
            <p:cNvSpPr>
              <a:spLocks noChangeArrowheads="1"/>
            </p:cNvSpPr>
            <p:nvPr/>
          </p:nvSpPr>
          <p:spPr bwMode="auto">
            <a:xfrm>
              <a:off x="6470754" y="1296938"/>
              <a:ext cx="1011238" cy="1011238"/>
            </a:xfrm>
            <a:prstGeom prst="ellipse">
              <a:avLst/>
            </a:prstGeom>
            <a:solidFill>
              <a:srgbClr val="92D050"/>
            </a:solidFill>
            <a:ln>
              <a:noFill/>
            </a:ln>
          </p:spPr>
          <p:txBody>
            <a:bodyPr vert="horz" wrap="square" lIns="91404" tIns="45702" rIns="91404" bIns="45702" numCol="1" anchor="t" anchorCtr="0" compatLnSpc="1">
              <a:prstTxWarp prst="textNoShape">
                <a:avLst/>
              </a:prstTxWarp>
            </a:bodyPr>
            <a:lstStyle/>
            <a:p>
              <a:endParaRPr lang="zh-CN" altLang="en-US" sz="1799"/>
            </a:p>
          </p:txBody>
        </p:sp>
        <p:sp>
          <p:nvSpPr>
            <p:cNvPr id="21" name="TextBox 19"/>
            <p:cNvSpPr txBox="1"/>
            <p:nvPr/>
          </p:nvSpPr>
          <p:spPr>
            <a:xfrm>
              <a:off x="6522821" y="1429117"/>
              <a:ext cx="868522" cy="707842"/>
            </a:xfrm>
            <a:prstGeom prst="rect">
              <a:avLst/>
            </a:prstGeom>
            <a:noFill/>
          </p:spPr>
          <p:txBody>
            <a:bodyPr wrap="square" rtlCol="0">
              <a:spAutoFit/>
            </a:bodyPr>
            <a:lstStyle/>
            <a:p>
              <a:pPr algn="ctr"/>
              <a:r>
                <a:rPr lang="en-US" altLang="zh-CN" sz="3998" dirty="0">
                  <a:solidFill>
                    <a:schemeClr val="bg1"/>
                  </a:solidFill>
                  <a:latin typeface="+mn-ea"/>
                </a:rPr>
                <a:t>02</a:t>
              </a:r>
              <a:endParaRPr lang="zh-CN" altLang="en-US" sz="3998" dirty="0">
                <a:solidFill>
                  <a:schemeClr val="bg1"/>
                </a:solidFill>
                <a:latin typeface="+mn-ea"/>
              </a:endParaRPr>
            </a:p>
          </p:txBody>
        </p:sp>
      </p:grpSp>
      <p:sp>
        <p:nvSpPr>
          <p:cNvPr id="8195" name="Rectangle 3"/>
          <p:cNvSpPr>
            <a:spLocks noGrp="1" noChangeArrowheads="1"/>
          </p:cNvSpPr>
          <p:nvPr>
            <p:ph type="body" idx="1"/>
          </p:nvPr>
        </p:nvSpPr>
        <p:spPr>
          <a:xfrm>
            <a:off x="1411424" y="2276096"/>
            <a:ext cx="4047420" cy="5235770"/>
          </a:xfrm>
        </p:spPr>
        <p:txBody>
          <a:bodyPr>
            <a:normAutofit/>
          </a:bodyPr>
          <a:lstStyle/>
          <a:p>
            <a:pPr marL="0" lvl="1">
              <a:lnSpc>
                <a:spcPct val="200000"/>
              </a:lnSpc>
              <a:buNone/>
            </a:pPr>
            <a:r>
              <a:rPr lang="zh-CN" altLang="en-US" sz="2800" b="1" dirty="0">
                <a:latin typeface="微软雅黑" panose="020B0503020204020204" pitchFamily="34" charset="-122"/>
                <a:ea typeface="微软雅黑" panose="020B0503020204020204" pitchFamily="34" charset="-122"/>
              </a:rPr>
              <a:t>统一编址方式的优点：可以使用访存指令访</a:t>
            </a:r>
            <a:r>
              <a:rPr lang="en-US" altLang="zh-CN" sz="2800" b="1" dirty="0">
                <a:latin typeface="微软雅黑" panose="020B0503020204020204" pitchFamily="34" charset="-122"/>
                <a:ea typeface="微软雅黑" panose="020B0503020204020204" pitchFamily="34" charset="-122"/>
              </a:rPr>
              <a:t>I/O</a:t>
            </a:r>
            <a:r>
              <a:rPr lang="zh-CN" altLang="en-US" sz="2800" b="1" dirty="0">
                <a:latin typeface="微软雅黑" panose="020B0503020204020204" pitchFamily="34" charset="-122"/>
                <a:ea typeface="微软雅黑" panose="020B0503020204020204" pitchFamily="34" charset="-122"/>
              </a:rPr>
              <a:t>，对</a:t>
            </a:r>
            <a:r>
              <a:rPr lang="en-US" altLang="zh-CN" sz="2800" b="1" dirty="0">
                <a:latin typeface="微软雅黑" panose="020B0503020204020204" pitchFamily="34" charset="-122"/>
                <a:ea typeface="微软雅黑" panose="020B0503020204020204" pitchFamily="34" charset="-122"/>
              </a:rPr>
              <a:t>I/O</a:t>
            </a:r>
            <a:r>
              <a:rPr lang="zh-CN" altLang="en-US" sz="2800" b="1" dirty="0">
                <a:latin typeface="微软雅黑" panose="020B0503020204020204" pitchFamily="34" charset="-122"/>
                <a:ea typeface="微软雅黑" panose="020B0503020204020204" pitchFamily="34" charset="-122"/>
              </a:rPr>
              <a:t>设备操作的程序设计灵活性较好。</a:t>
            </a:r>
          </a:p>
          <a:p>
            <a:pPr marL="0" lvl="1">
              <a:lnSpc>
                <a:spcPct val="200000"/>
              </a:lnSpc>
              <a:buNone/>
            </a:pPr>
            <a:endParaRPr lang="zh-CN" altLang="en-US" sz="2800" b="1" dirty="0">
              <a:latin typeface="微软雅黑" panose="020B0503020204020204" pitchFamily="34" charset="-122"/>
              <a:ea typeface="微软雅黑" panose="020B0503020204020204" pitchFamily="34" charset="-122"/>
            </a:endParaRPr>
          </a:p>
          <a:p>
            <a:pPr marL="0" lvl="1">
              <a:lnSpc>
                <a:spcPct val="200000"/>
              </a:lnSpc>
              <a:buNone/>
            </a:pPr>
            <a:endParaRPr lang="en-US" altLang="zh-CN" sz="2800" b="1" dirty="0">
              <a:latin typeface="微软雅黑" panose="020B0503020204020204" pitchFamily="34" charset="-122"/>
              <a:ea typeface="微软雅黑" panose="020B0503020204020204" pitchFamily="34" charset="-122"/>
            </a:endParaRPr>
          </a:p>
          <a:p>
            <a:pPr marL="0" lvl="1">
              <a:lnSpc>
                <a:spcPct val="200000"/>
              </a:lnSpc>
              <a:buNone/>
            </a:pPr>
            <a:endParaRPr lang="en-US" altLang="zh-CN" sz="2800" b="1" dirty="0">
              <a:latin typeface="微软雅黑" panose="020B0503020204020204" pitchFamily="34" charset="-122"/>
              <a:ea typeface="微软雅黑" panose="020B0503020204020204" pitchFamily="34" charset="-122"/>
            </a:endParaRPr>
          </a:p>
          <a:p>
            <a:pPr marL="0" lvl="1">
              <a:lnSpc>
                <a:spcPct val="200000"/>
              </a:lnSpc>
              <a:buNone/>
            </a:pPr>
            <a:endParaRPr lang="en-US" altLang="zh-CN" sz="2800" b="1" dirty="0">
              <a:latin typeface="微软雅黑" panose="020B0503020204020204" pitchFamily="34" charset="-122"/>
              <a:ea typeface="微软雅黑" panose="020B0503020204020204" pitchFamily="34" charset="-122"/>
            </a:endParaRPr>
          </a:p>
          <a:p>
            <a:pPr marL="0" lvl="1">
              <a:lnSpc>
                <a:spcPct val="200000"/>
              </a:lnSpc>
              <a:buNone/>
            </a:pPr>
            <a:endParaRPr lang="en-US" altLang="zh-CN" sz="2800" b="1" dirty="0">
              <a:latin typeface="微软雅黑" panose="020B0503020204020204" pitchFamily="34" charset="-122"/>
              <a:ea typeface="微软雅黑" panose="020B0503020204020204" pitchFamily="34" charset="-122"/>
            </a:endParaRPr>
          </a:p>
          <a:p>
            <a:pPr marL="0" lvl="1">
              <a:lnSpc>
                <a:spcPct val="200000"/>
              </a:lnSpc>
              <a:buNone/>
            </a:pPr>
            <a:endParaRPr lang="zh-CN" altLang="en-US" sz="2800" b="1" dirty="0">
              <a:latin typeface="微软雅黑" panose="020B0503020204020204" pitchFamily="34" charset="-122"/>
              <a:ea typeface="微软雅黑" panose="020B0503020204020204" pitchFamily="34" charset="-122"/>
            </a:endParaRPr>
          </a:p>
          <a:p>
            <a:pPr marL="0" indent="0" eaLnBrk="1" hangingPunct="1">
              <a:lnSpc>
                <a:spcPct val="200000"/>
              </a:lnSpc>
              <a:buNone/>
            </a:pPr>
            <a:endParaRPr lang="en-US" altLang="zh-CN" b="1" dirty="0">
              <a:latin typeface="微软雅黑" panose="020B0503020204020204" pitchFamily="34" charset="-122"/>
              <a:ea typeface="微软雅黑" panose="020B0503020204020204" pitchFamily="34" charset="-122"/>
            </a:endParaRPr>
          </a:p>
          <a:p>
            <a:pPr marL="0" indent="0" eaLnBrk="1" hangingPunct="1">
              <a:lnSpc>
                <a:spcPct val="200000"/>
              </a:lnSpc>
              <a:buNone/>
            </a:pPr>
            <a:endParaRPr lang="en-US" altLang="zh-CN" b="1" dirty="0">
              <a:latin typeface="微软雅黑" panose="020B0503020204020204" pitchFamily="34" charset="-122"/>
              <a:ea typeface="微软雅黑" panose="020B0503020204020204" pitchFamily="34" charset="-122"/>
            </a:endParaRPr>
          </a:p>
        </p:txBody>
      </p:sp>
      <p:sp>
        <p:nvSpPr>
          <p:cNvPr id="2" name="矩形 1"/>
          <p:cNvSpPr/>
          <p:nvPr/>
        </p:nvSpPr>
        <p:spPr>
          <a:xfrm>
            <a:off x="6535244" y="2276096"/>
            <a:ext cx="4041743" cy="10433625"/>
          </a:xfrm>
          <a:prstGeom prst="rect">
            <a:avLst/>
          </a:prstGeom>
        </p:spPr>
        <p:txBody>
          <a:bodyPr wrap="square">
            <a:spAutoFit/>
          </a:bodyPr>
          <a:lstStyle/>
          <a:p>
            <a:pPr marL="0" lvl="1">
              <a:lnSpc>
                <a:spcPct val="200000"/>
              </a:lnSpc>
            </a:pPr>
            <a:r>
              <a:rPr lang="zh-CN" altLang="en-US" sz="2800" b="1" dirty="0">
                <a:latin typeface="微软雅黑" panose="020B0503020204020204" pitchFamily="34" charset="-122"/>
                <a:ea typeface="微软雅黑" panose="020B0503020204020204" pitchFamily="34" charset="-122"/>
              </a:rPr>
              <a:t>其缺点是：</a:t>
            </a:r>
            <a:r>
              <a:rPr lang="en-US" altLang="zh-CN" sz="2800" b="1" dirty="0">
                <a:latin typeface="微软雅黑" panose="020B0503020204020204" pitchFamily="34" charset="-122"/>
                <a:ea typeface="微软雅黑" panose="020B0503020204020204" pitchFamily="34" charset="-122"/>
              </a:rPr>
              <a:t>I/O</a:t>
            </a:r>
            <a:r>
              <a:rPr lang="zh-CN" altLang="en-US" sz="2800" b="1" dirty="0">
                <a:latin typeface="微软雅黑" panose="020B0503020204020204" pitchFamily="34" charset="-122"/>
                <a:ea typeface="微软雅黑" panose="020B0503020204020204" pitchFamily="34" charset="-122"/>
              </a:rPr>
              <a:t>端口的地址占用了主存的部分地址空间，对</a:t>
            </a:r>
            <a:r>
              <a:rPr lang="en-US" altLang="zh-CN" sz="2800" b="1" dirty="0">
                <a:latin typeface="微软雅黑" panose="020B0503020204020204" pitchFamily="34" charset="-122"/>
                <a:ea typeface="微软雅黑" panose="020B0503020204020204" pitchFamily="34" charset="-122"/>
              </a:rPr>
              <a:t>I/O</a:t>
            </a:r>
            <a:r>
              <a:rPr lang="zh-CN" altLang="en-US" sz="2800" b="1" dirty="0">
                <a:latin typeface="微软雅黑" panose="020B0503020204020204" pitchFamily="34" charset="-122"/>
                <a:ea typeface="微软雅黑" panose="020B0503020204020204" pitchFamily="34" charset="-122"/>
              </a:rPr>
              <a:t>端口访问的地址译码更加复杂。 </a:t>
            </a:r>
          </a:p>
          <a:p>
            <a:pPr marL="0" lvl="1">
              <a:lnSpc>
                <a:spcPct val="200000"/>
              </a:lnSpc>
            </a:pPr>
            <a:endParaRPr lang="en-US" altLang="zh-CN" sz="2800" b="1" dirty="0">
              <a:latin typeface="微软雅黑" panose="020B0503020204020204" pitchFamily="34" charset="-122"/>
              <a:ea typeface="微软雅黑" panose="020B0503020204020204" pitchFamily="34" charset="-122"/>
            </a:endParaRPr>
          </a:p>
          <a:p>
            <a:pPr marL="0" lvl="1">
              <a:lnSpc>
                <a:spcPct val="200000"/>
              </a:lnSpc>
            </a:pPr>
            <a:endParaRPr lang="zh-CN" altLang="en-US" sz="2800" b="1" dirty="0">
              <a:latin typeface="微软雅黑" panose="020B0503020204020204" pitchFamily="34" charset="-122"/>
              <a:ea typeface="微软雅黑" panose="020B0503020204020204" pitchFamily="34" charset="-122"/>
            </a:endParaRPr>
          </a:p>
          <a:p>
            <a:pPr marL="0" lvl="1">
              <a:lnSpc>
                <a:spcPct val="200000"/>
              </a:lnSpc>
            </a:pPr>
            <a:endParaRPr lang="zh-CN" altLang="en-US" sz="2800" b="1" dirty="0">
              <a:latin typeface="微软雅黑" panose="020B0503020204020204" pitchFamily="34" charset="-122"/>
              <a:ea typeface="微软雅黑" panose="020B0503020204020204" pitchFamily="34" charset="-122"/>
            </a:endParaRPr>
          </a:p>
          <a:p>
            <a:pPr marL="0" lvl="1">
              <a:lnSpc>
                <a:spcPct val="200000"/>
              </a:lnSpc>
            </a:pPr>
            <a:endParaRPr lang="zh-CN" altLang="en-US" sz="2800" b="1" dirty="0">
              <a:latin typeface="微软雅黑" panose="020B0503020204020204" pitchFamily="34" charset="-122"/>
              <a:ea typeface="微软雅黑" panose="020B0503020204020204" pitchFamily="34" charset="-122"/>
            </a:endParaRPr>
          </a:p>
          <a:p>
            <a:pPr marL="0" lvl="1">
              <a:lnSpc>
                <a:spcPct val="200000"/>
              </a:lnSpc>
            </a:pPr>
            <a:endParaRPr lang="zh-CN" altLang="en-US" sz="2800" b="1" dirty="0">
              <a:latin typeface="微软雅黑" panose="020B0503020204020204" pitchFamily="34" charset="-122"/>
              <a:ea typeface="微软雅黑" panose="020B0503020204020204" pitchFamily="34" charset="-122"/>
            </a:endParaRPr>
          </a:p>
          <a:p>
            <a:pPr marL="0" lvl="1">
              <a:lnSpc>
                <a:spcPct val="200000"/>
              </a:lnSpc>
            </a:pPr>
            <a:endParaRPr lang="zh-CN" altLang="en-US" sz="2800" b="1" dirty="0">
              <a:latin typeface="微软雅黑" panose="020B0503020204020204" pitchFamily="34" charset="-122"/>
              <a:ea typeface="微软雅黑" panose="020B0503020204020204" pitchFamily="34" charset="-122"/>
            </a:endParaRPr>
          </a:p>
          <a:p>
            <a:pPr marL="0" lvl="1">
              <a:lnSpc>
                <a:spcPct val="200000"/>
              </a:lnSpc>
            </a:pPr>
            <a:endParaRPr lang="zh-CN" altLang="en-US" sz="2800" b="1" dirty="0">
              <a:latin typeface="微软雅黑" panose="020B0503020204020204" pitchFamily="34" charset="-122"/>
              <a:ea typeface="微软雅黑" panose="020B0503020204020204" pitchFamily="34" charset="-122"/>
            </a:endParaRPr>
          </a:p>
          <a:p>
            <a:pPr>
              <a:lnSpc>
                <a:spcPct val="200000"/>
              </a:lnSpc>
            </a:pPr>
            <a:endParaRPr lang="zh-CN" altLang="en-US" sz="2800" b="1"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67396408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矩形 17"/>
          <p:cNvSpPr/>
          <p:nvPr/>
        </p:nvSpPr>
        <p:spPr>
          <a:xfrm>
            <a:off x="2947757" y="2340487"/>
            <a:ext cx="6598050" cy="1698614"/>
          </a:xfrm>
          <a:prstGeom prst="rect">
            <a:avLst/>
          </a:prstGeom>
          <a:solidFill>
            <a:srgbClr val="02B9E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Rectangle 3"/>
          <p:cNvSpPr txBox="1">
            <a:spLocks noChangeArrowheads="1"/>
          </p:cNvSpPr>
          <p:nvPr/>
        </p:nvSpPr>
        <p:spPr bwMode="auto">
          <a:xfrm>
            <a:off x="4098285" y="2541722"/>
            <a:ext cx="4678532" cy="129614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34" tIns="45717" rIns="91434" bIns="45717" numCol="1" anchor="ctr" anchorCtr="0" compatLnSpc="1">
            <a:prstTxWarp prst="textNoShape">
              <a:avLst/>
            </a:prstTxWarp>
          </a:bodyPr>
          <a:lstStyle>
            <a:lvl1pPr algn="l" rtl="0" fontAlgn="base">
              <a:spcBef>
                <a:spcPct val="0"/>
              </a:spcBef>
              <a:spcAft>
                <a:spcPct val="0"/>
              </a:spcAft>
              <a:defRPr sz="2400">
                <a:solidFill>
                  <a:schemeClr val="accent2"/>
                </a:solidFill>
                <a:latin typeface="+mj-lt"/>
                <a:ea typeface="+mj-ea"/>
                <a:cs typeface="+mj-cs"/>
              </a:defRPr>
            </a:lvl1pPr>
            <a:lvl2pPr algn="l" rtl="0" fontAlgn="base">
              <a:spcBef>
                <a:spcPct val="0"/>
              </a:spcBef>
              <a:spcAft>
                <a:spcPct val="0"/>
              </a:spcAft>
              <a:defRPr sz="2400">
                <a:solidFill>
                  <a:schemeClr val="tx2"/>
                </a:solidFill>
                <a:latin typeface="Arial" pitchFamily="34" charset="0"/>
                <a:ea typeface="微软雅黑" pitchFamily="34" charset="-122"/>
              </a:defRPr>
            </a:lvl2pPr>
            <a:lvl3pPr algn="l" rtl="0" fontAlgn="base">
              <a:spcBef>
                <a:spcPct val="0"/>
              </a:spcBef>
              <a:spcAft>
                <a:spcPct val="0"/>
              </a:spcAft>
              <a:defRPr sz="2400">
                <a:solidFill>
                  <a:schemeClr val="tx2"/>
                </a:solidFill>
                <a:latin typeface="Arial" pitchFamily="34" charset="0"/>
                <a:ea typeface="微软雅黑" pitchFamily="34" charset="-122"/>
              </a:defRPr>
            </a:lvl3pPr>
            <a:lvl4pPr algn="l" rtl="0" fontAlgn="base">
              <a:spcBef>
                <a:spcPct val="0"/>
              </a:spcBef>
              <a:spcAft>
                <a:spcPct val="0"/>
              </a:spcAft>
              <a:defRPr sz="2400">
                <a:solidFill>
                  <a:schemeClr val="tx2"/>
                </a:solidFill>
                <a:latin typeface="Arial" pitchFamily="34" charset="0"/>
                <a:ea typeface="微软雅黑" pitchFamily="34" charset="-122"/>
              </a:defRPr>
            </a:lvl4pPr>
            <a:lvl5pPr algn="l" rtl="0" fontAlgn="base">
              <a:spcBef>
                <a:spcPct val="0"/>
              </a:spcBef>
              <a:spcAft>
                <a:spcPct val="0"/>
              </a:spcAft>
              <a:defRPr sz="2400">
                <a:solidFill>
                  <a:schemeClr val="tx2"/>
                </a:solidFill>
                <a:latin typeface="Arial" pitchFamily="34" charset="0"/>
                <a:ea typeface="微软雅黑" pitchFamily="34" charset="-122"/>
              </a:defRPr>
            </a:lvl5pPr>
            <a:lvl6pPr marL="457200" algn="l" rtl="0" fontAlgn="base">
              <a:spcBef>
                <a:spcPct val="0"/>
              </a:spcBef>
              <a:spcAft>
                <a:spcPct val="0"/>
              </a:spcAft>
              <a:defRPr sz="2400">
                <a:solidFill>
                  <a:schemeClr val="tx2"/>
                </a:solidFill>
                <a:latin typeface="Arial" pitchFamily="34" charset="0"/>
                <a:ea typeface="微软雅黑" pitchFamily="34" charset="-122"/>
              </a:defRPr>
            </a:lvl6pPr>
            <a:lvl7pPr marL="914400" algn="l" rtl="0" fontAlgn="base">
              <a:spcBef>
                <a:spcPct val="0"/>
              </a:spcBef>
              <a:spcAft>
                <a:spcPct val="0"/>
              </a:spcAft>
              <a:defRPr sz="2400">
                <a:solidFill>
                  <a:schemeClr val="tx2"/>
                </a:solidFill>
                <a:latin typeface="Arial" pitchFamily="34" charset="0"/>
                <a:ea typeface="微软雅黑" pitchFamily="34" charset="-122"/>
              </a:defRPr>
            </a:lvl7pPr>
            <a:lvl8pPr marL="1371600" algn="l" rtl="0" fontAlgn="base">
              <a:spcBef>
                <a:spcPct val="0"/>
              </a:spcBef>
              <a:spcAft>
                <a:spcPct val="0"/>
              </a:spcAft>
              <a:defRPr sz="2400">
                <a:solidFill>
                  <a:schemeClr val="tx2"/>
                </a:solidFill>
                <a:latin typeface="Arial" pitchFamily="34" charset="0"/>
                <a:ea typeface="微软雅黑" pitchFamily="34" charset="-122"/>
              </a:defRPr>
            </a:lvl8pPr>
            <a:lvl9pPr marL="1828800" algn="l" rtl="0" fontAlgn="base">
              <a:spcBef>
                <a:spcPct val="0"/>
              </a:spcBef>
              <a:spcAft>
                <a:spcPct val="0"/>
              </a:spcAft>
              <a:defRPr sz="2400">
                <a:solidFill>
                  <a:schemeClr val="tx2"/>
                </a:solidFill>
                <a:latin typeface="Arial" pitchFamily="34" charset="0"/>
                <a:ea typeface="微软雅黑" pitchFamily="34" charset="-122"/>
              </a:defRPr>
            </a:lvl9pPr>
          </a:lstStyle>
          <a:p>
            <a:pPr algn="ctr"/>
            <a:r>
              <a:rPr lang="zh-CN" altLang="en-US" sz="6000" b="1" dirty="0" smtClean="0">
                <a:solidFill>
                  <a:schemeClr val="bg1"/>
                </a:solidFill>
                <a:latin typeface="微软雅黑" panose="020B0503020204020204" pitchFamily="34" charset="-122"/>
                <a:ea typeface="微软雅黑" panose="020B0503020204020204" pitchFamily="34" charset="-122"/>
              </a:rPr>
              <a:t>谢 谢！</a:t>
            </a:r>
            <a:endParaRPr lang="en-US" altLang="zh-CN" sz="6000" b="1" dirty="0">
              <a:solidFill>
                <a:schemeClr val="bg1"/>
              </a:solidFill>
              <a:latin typeface="微软雅黑" panose="020B0503020204020204" pitchFamily="34" charset="-122"/>
              <a:ea typeface="微软雅黑" panose="020B0503020204020204" pitchFamily="34" charset="-122"/>
            </a:endParaRPr>
          </a:p>
        </p:txBody>
      </p:sp>
      <p:sp>
        <p:nvSpPr>
          <p:cNvPr id="20" name="Rectangle 6"/>
          <p:cNvSpPr>
            <a:spLocks noChangeArrowheads="1"/>
          </p:cNvSpPr>
          <p:nvPr/>
        </p:nvSpPr>
        <p:spPr bwMode="auto">
          <a:xfrm>
            <a:off x="6353950" y="5153618"/>
            <a:ext cx="2835079" cy="81520"/>
          </a:xfrm>
          <a:prstGeom prst="rect">
            <a:avLst/>
          </a:prstGeom>
          <a:solidFill>
            <a:srgbClr val="01C0B0"/>
          </a:solidFill>
          <a:ln>
            <a:noFill/>
          </a:ln>
        </p:spPr>
        <p:txBody>
          <a:bodyPr vert="horz" wrap="square" lIns="91434" tIns="45717" rIns="91434" bIns="45717" numCol="1" anchor="t" anchorCtr="0" compatLnSpc="1">
            <a:prstTxWarp prst="textNoShape">
              <a:avLst/>
            </a:prstTxWarp>
          </a:bodyPr>
          <a:lstStyle/>
          <a:p>
            <a:endParaRPr lang="zh-CN" altLang="en-US">
              <a:solidFill>
                <a:srgbClr val="294A5A"/>
              </a:solidFill>
            </a:endParaRPr>
          </a:p>
        </p:txBody>
      </p:sp>
      <p:sp>
        <p:nvSpPr>
          <p:cNvPr id="21" name="Rectangle 7"/>
          <p:cNvSpPr>
            <a:spLocks noChangeArrowheads="1"/>
          </p:cNvSpPr>
          <p:nvPr/>
        </p:nvSpPr>
        <p:spPr bwMode="auto">
          <a:xfrm>
            <a:off x="7620664" y="5153618"/>
            <a:ext cx="2831571" cy="81520"/>
          </a:xfrm>
          <a:prstGeom prst="rect">
            <a:avLst/>
          </a:prstGeom>
          <a:solidFill>
            <a:srgbClr val="FFC000"/>
          </a:solidFill>
          <a:ln>
            <a:noFill/>
          </a:ln>
        </p:spPr>
        <p:txBody>
          <a:bodyPr vert="horz" wrap="square" lIns="91434" tIns="45717" rIns="91434" bIns="45717" numCol="1" anchor="t" anchorCtr="0" compatLnSpc="1">
            <a:prstTxWarp prst="textNoShape">
              <a:avLst/>
            </a:prstTxWarp>
          </a:bodyPr>
          <a:lstStyle/>
          <a:p>
            <a:endParaRPr lang="zh-CN" altLang="en-US">
              <a:solidFill>
                <a:srgbClr val="294A5A"/>
              </a:solidFill>
            </a:endParaRPr>
          </a:p>
        </p:txBody>
      </p:sp>
      <p:sp>
        <p:nvSpPr>
          <p:cNvPr id="22" name="Rectangle 8"/>
          <p:cNvSpPr>
            <a:spLocks noChangeArrowheads="1"/>
          </p:cNvSpPr>
          <p:nvPr/>
        </p:nvSpPr>
        <p:spPr bwMode="auto">
          <a:xfrm>
            <a:off x="8885806" y="5153618"/>
            <a:ext cx="2835079" cy="81520"/>
          </a:xfrm>
          <a:prstGeom prst="rect">
            <a:avLst/>
          </a:prstGeom>
          <a:solidFill>
            <a:srgbClr val="92D050"/>
          </a:solidFill>
          <a:ln>
            <a:noFill/>
          </a:ln>
        </p:spPr>
        <p:txBody>
          <a:bodyPr vert="horz" wrap="square" lIns="91434" tIns="45717" rIns="91434" bIns="45717" numCol="1" anchor="t" anchorCtr="0" compatLnSpc="1">
            <a:prstTxWarp prst="textNoShape">
              <a:avLst/>
            </a:prstTxWarp>
          </a:bodyPr>
          <a:lstStyle/>
          <a:p>
            <a:endParaRPr lang="zh-CN" altLang="en-US">
              <a:solidFill>
                <a:srgbClr val="294A5A"/>
              </a:solidFill>
            </a:endParaRPr>
          </a:p>
        </p:txBody>
      </p:sp>
      <p:sp>
        <p:nvSpPr>
          <p:cNvPr id="23" name="Rectangle 9"/>
          <p:cNvSpPr>
            <a:spLocks noChangeArrowheads="1"/>
          </p:cNvSpPr>
          <p:nvPr/>
        </p:nvSpPr>
        <p:spPr bwMode="auto">
          <a:xfrm>
            <a:off x="10152517" y="5153618"/>
            <a:ext cx="2039483" cy="81520"/>
          </a:xfrm>
          <a:prstGeom prst="rect">
            <a:avLst/>
          </a:prstGeom>
          <a:solidFill>
            <a:srgbClr val="FFFF00"/>
          </a:solidFill>
          <a:ln>
            <a:noFill/>
          </a:ln>
        </p:spPr>
        <p:txBody>
          <a:bodyPr vert="horz" wrap="square" lIns="91434" tIns="45717" rIns="91434" bIns="45717" numCol="1" anchor="t" anchorCtr="0" compatLnSpc="1">
            <a:prstTxWarp prst="textNoShape">
              <a:avLst/>
            </a:prstTxWarp>
          </a:bodyPr>
          <a:lstStyle/>
          <a:p>
            <a:endParaRPr lang="zh-CN" altLang="en-US">
              <a:solidFill>
                <a:srgbClr val="294A5A"/>
              </a:solidFill>
            </a:endParaRPr>
          </a:p>
        </p:txBody>
      </p:sp>
      <p:sp>
        <p:nvSpPr>
          <p:cNvPr id="24" name="Freeform 9"/>
          <p:cNvSpPr>
            <a:spLocks noEditPoints="1"/>
          </p:cNvSpPr>
          <p:nvPr/>
        </p:nvSpPr>
        <p:spPr bwMode="auto">
          <a:xfrm>
            <a:off x="10057335" y="4692974"/>
            <a:ext cx="373115" cy="374683"/>
          </a:xfrm>
          <a:custGeom>
            <a:avLst/>
            <a:gdLst>
              <a:gd name="T0" fmla="*/ 358 w 490"/>
              <a:gd name="T1" fmla="*/ 250 h 490"/>
              <a:gd name="T2" fmla="*/ 358 w 490"/>
              <a:gd name="T3" fmla="*/ 183 h 490"/>
              <a:gd name="T4" fmla="*/ 328 w 490"/>
              <a:gd name="T5" fmla="*/ 183 h 490"/>
              <a:gd name="T6" fmla="*/ 328 w 490"/>
              <a:gd name="T7" fmla="*/ 250 h 490"/>
              <a:gd name="T8" fmla="*/ 247 w 490"/>
              <a:gd name="T9" fmla="*/ 330 h 490"/>
              <a:gd name="T10" fmla="*/ 246 w 490"/>
              <a:gd name="T11" fmla="*/ 330 h 490"/>
              <a:gd name="T12" fmla="*/ 245 w 490"/>
              <a:gd name="T13" fmla="*/ 330 h 490"/>
              <a:gd name="T14" fmla="*/ 245 w 490"/>
              <a:gd name="T15" fmla="*/ 330 h 490"/>
              <a:gd name="T16" fmla="*/ 243 w 490"/>
              <a:gd name="T17" fmla="*/ 330 h 490"/>
              <a:gd name="T18" fmla="*/ 162 w 490"/>
              <a:gd name="T19" fmla="*/ 250 h 490"/>
              <a:gd name="T20" fmla="*/ 162 w 490"/>
              <a:gd name="T21" fmla="*/ 183 h 490"/>
              <a:gd name="T22" fmla="*/ 132 w 490"/>
              <a:gd name="T23" fmla="*/ 183 h 490"/>
              <a:gd name="T24" fmla="*/ 132 w 490"/>
              <a:gd name="T25" fmla="*/ 250 h 490"/>
              <a:gd name="T26" fmla="*/ 227 w 490"/>
              <a:gd name="T27" fmla="*/ 359 h 490"/>
              <a:gd name="T28" fmla="*/ 227 w 490"/>
              <a:gd name="T29" fmla="*/ 407 h 490"/>
              <a:gd name="T30" fmla="*/ 160 w 490"/>
              <a:gd name="T31" fmla="*/ 426 h 490"/>
              <a:gd name="T32" fmla="*/ 331 w 490"/>
              <a:gd name="T33" fmla="*/ 426 h 490"/>
              <a:gd name="T34" fmla="*/ 263 w 490"/>
              <a:gd name="T35" fmla="*/ 407 h 490"/>
              <a:gd name="T36" fmla="*/ 263 w 490"/>
              <a:gd name="T37" fmla="*/ 360 h 490"/>
              <a:gd name="T38" fmla="*/ 358 w 490"/>
              <a:gd name="T39" fmla="*/ 250 h 490"/>
              <a:gd name="T40" fmla="*/ 244 w 490"/>
              <a:gd name="T41" fmla="*/ 302 h 490"/>
              <a:gd name="T42" fmla="*/ 245 w 490"/>
              <a:gd name="T43" fmla="*/ 302 h 490"/>
              <a:gd name="T44" fmla="*/ 246 w 490"/>
              <a:gd name="T45" fmla="*/ 302 h 490"/>
              <a:gd name="T46" fmla="*/ 300 w 490"/>
              <a:gd name="T47" fmla="*/ 248 h 490"/>
              <a:gd name="T48" fmla="*/ 300 w 490"/>
              <a:gd name="T49" fmla="*/ 118 h 490"/>
              <a:gd name="T50" fmla="*/ 246 w 490"/>
              <a:gd name="T51" fmla="*/ 64 h 490"/>
              <a:gd name="T52" fmla="*/ 245 w 490"/>
              <a:gd name="T53" fmla="*/ 64 h 490"/>
              <a:gd name="T54" fmla="*/ 244 w 490"/>
              <a:gd name="T55" fmla="*/ 64 h 490"/>
              <a:gd name="T56" fmla="*/ 190 w 490"/>
              <a:gd name="T57" fmla="*/ 118 h 490"/>
              <a:gd name="T58" fmla="*/ 190 w 490"/>
              <a:gd name="T59" fmla="*/ 248 h 490"/>
              <a:gd name="T60" fmla="*/ 244 w 490"/>
              <a:gd name="T61" fmla="*/ 302 h 490"/>
              <a:gd name="T62" fmla="*/ 245 w 490"/>
              <a:gd name="T63" fmla="*/ 0 h 490"/>
              <a:gd name="T64" fmla="*/ 490 w 490"/>
              <a:gd name="T65" fmla="*/ 245 h 490"/>
              <a:gd name="T66" fmla="*/ 245 w 490"/>
              <a:gd name="T67" fmla="*/ 490 h 490"/>
              <a:gd name="T68" fmla="*/ 0 w 490"/>
              <a:gd name="T69" fmla="*/ 245 h 490"/>
              <a:gd name="T70" fmla="*/ 245 w 490"/>
              <a:gd name="T71" fmla="*/ 0 h 4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490" h="490">
                <a:moveTo>
                  <a:pt x="358" y="250"/>
                </a:moveTo>
                <a:lnTo>
                  <a:pt x="358" y="183"/>
                </a:lnTo>
                <a:cubicBezTo>
                  <a:pt x="358" y="165"/>
                  <a:pt x="328" y="164"/>
                  <a:pt x="328" y="183"/>
                </a:cubicBezTo>
                <a:lnTo>
                  <a:pt x="328" y="250"/>
                </a:lnTo>
                <a:cubicBezTo>
                  <a:pt x="328" y="294"/>
                  <a:pt x="292" y="330"/>
                  <a:pt x="247" y="330"/>
                </a:cubicBezTo>
                <a:cubicBezTo>
                  <a:pt x="247" y="330"/>
                  <a:pt x="246" y="330"/>
                  <a:pt x="246" y="330"/>
                </a:cubicBezTo>
                <a:lnTo>
                  <a:pt x="245" y="330"/>
                </a:lnTo>
                <a:lnTo>
                  <a:pt x="245" y="330"/>
                </a:lnTo>
                <a:cubicBezTo>
                  <a:pt x="244" y="330"/>
                  <a:pt x="244" y="330"/>
                  <a:pt x="243" y="330"/>
                </a:cubicBezTo>
                <a:cubicBezTo>
                  <a:pt x="198" y="330"/>
                  <a:pt x="162" y="294"/>
                  <a:pt x="162" y="250"/>
                </a:cubicBezTo>
                <a:lnTo>
                  <a:pt x="162" y="183"/>
                </a:lnTo>
                <a:cubicBezTo>
                  <a:pt x="162" y="165"/>
                  <a:pt x="132" y="164"/>
                  <a:pt x="132" y="183"/>
                </a:cubicBezTo>
                <a:cubicBezTo>
                  <a:pt x="132" y="192"/>
                  <a:pt x="132" y="250"/>
                  <a:pt x="132" y="250"/>
                </a:cubicBezTo>
                <a:cubicBezTo>
                  <a:pt x="132" y="306"/>
                  <a:pt x="173" y="352"/>
                  <a:pt x="227" y="359"/>
                </a:cubicBezTo>
                <a:lnTo>
                  <a:pt x="227" y="407"/>
                </a:lnTo>
                <a:lnTo>
                  <a:pt x="160" y="426"/>
                </a:lnTo>
                <a:lnTo>
                  <a:pt x="331" y="426"/>
                </a:lnTo>
                <a:lnTo>
                  <a:pt x="263" y="407"/>
                </a:lnTo>
                <a:lnTo>
                  <a:pt x="263" y="360"/>
                </a:lnTo>
                <a:cubicBezTo>
                  <a:pt x="317" y="352"/>
                  <a:pt x="358" y="306"/>
                  <a:pt x="358" y="250"/>
                </a:cubicBezTo>
                <a:close/>
                <a:moveTo>
                  <a:pt x="244" y="302"/>
                </a:moveTo>
                <a:cubicBezTo>
                  <a:pt x="244" y="302"/>
                  <a:pt x="245" y="302"/>
                  <a:pt x="245" y="302"/>
                </a:cubicBezTo>
                <a:cubicBezTo>
                  <a:pt x="245" y="302"/>
                  <a:pt x="246" y="302"/>
                  <a:pt x="246" y="302"/>
                </a:cubicBezTo>
                <a:cubicBezTo>
                  <a:pt x="276" y="302"/>
                  <a:pt x="300" y="278"/>
                  <a:pt x="300" y="248"/>
                </a:cubicBezTo>
                <a:lnTo>
                  <a:pt x="300" y="118"/>
                </a:lnTo>
                <a:cubicBezTo>
                  <a:pt x="300" y="88"/>
                  <a:pt x="276" y="64"/>
                  <a:pt x="246" y="64"/>
                </a:cubicBezTo>
                <a:cubicBezTo>
                  <a:pt x="246" y="64"/>
                  <a:pt x="245" y="64"/>
                  <a:pt x="245" y="64"/>
                </a:cubicBezTo>
                <a:cubicBezTo>
                  <a:pt x="245" y="64"/>
                  <a:pt x="244" y="64"/>
                  <a:pt x="244" y="64"/>
                </a:cubicBezTo>
                <a:cubicBezTo>
                  <a:pt x="214" y="64"/>
                  <a:pt x="190" y="88"/>
                  <a:pt x="190" y="118"/>
                </a:cubicBezTo>
                <a:lnTo>
                  <a:pt x="190" y="248"/>
                </a:lnTo>
                <a:cubicBezTo>
                  <a:pt x="190" y="278"/>
                  <a:pt x="214" y="302"/>
                  <a:pt x="244" y="302"/>
                </a:cubicBezTo>
                <a:close/>
                <a:moveTo>
                  <a:pt x="245" y="0"/>
                </a:moveTo>
                <a:cubicBezTo>
                  <a:pt x="381" y="0"/>
                  <a:pt x="490" y="110"/>
                  <a:pt x="490" y="245"/>
                </a:cubicBezTo>
                <a:cubicBezTo>
                  <a:pt x="490" y="381"/>
                  <a:pt x="381" y="490"/>
                  <a:pt x="245" y="490"/>
                </a:cubicBezTo>
                <a:cubicBezTo>
                  <a:pt x="110" y="490"/>
                  <a:pt x="0" y="381"/>
                  <a:pt x="0" y="245"/>
                </a:cubicBezTo>
                <a:cubicBezTo>
                  <a:pt x="0" y="110"/>
                  <a:pt x="110" y="0"/>
                  <a:pt x="245" y="0"/>
                </a:cubicBezTo>
                <a:close/>
              </a:path>
            </a:pathLst>
          </a:custGeom>
          <a:solidFill>
            <a:schemeClr val="bg1"/>
          </a:solidFill>
          <a:ln>
            <a:noFill/>
          </a:ln>
          <a:extLst/>
        </p:spPr>
        <p:txBody>
          <a:bodyPr vert="horz" wrap="square" lIns="91434" tIns="45717" rIns="91434" bIns="45717" numCol="1" anchor="t" anchorCtr="0" compatLnSpc="1">
            <a:prstTxWarp prst="textNoShape">
              <a:avLst/>
            </a:prstTxWarp>
          </a:bodyPr>
          <a:lstStyle/>
          <a:p>
            <a:endParaRPr lang="zh-CN" altLang="en-US">
              <a:solidFill>
                <a:srgbClr val="484849"/>
              </a:solidFill>
            </a:endParaRPr>
          </a:p>
        </p:txBody>
      </p:sp>
      <p:sp>
        <p:nvSpPr>
          <p:cNvPr id="25" name="Rectangle 4"/>
          <p:cNvSpPr txBox="1">
            <a:spLocks noChangeArrowheads="1"/>
          </p:cNvSpPr>
          <p:nvPr/>
        </p:nvSpPr>
        <p:spPr bwMode="auto">
          <a:xfrm>
            <a:off x="10466453" y="4703232"/>
            <a:ext cx="1899476" cy="353937"/>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34" tIns="45717" rIns="91434" bIns="45717" rtlCol="0">
            <a:spAutoFit/>
          </a:bodyPr>
          <a:lstStyle>
            <a:defPPr>
              <a:defRPr lang="zh-CN"/>
            </a:defPPr>
            <a:lvl1pPr>
              <a:defRPr sz="2400" b="1">
                <a:latin typeface="+mj-ea"/>
                <a:ea typeface="+mj-ea"/>
              </a:defRPr>
            </a:lvl1pPr>
          </a:lstStyle>
          <a:p>
            <a:r>
              <a:rPr lang="zh-CN" altLang="en-US" sz="1700" dirty="0">
                <a:solidFill>
                  <a:schemeClr val="bg1"/>
                </a:solidFill>
              </a:rPr>
              <a:t>汇报人：代用名</a:t>
            </a:r>
          </a:p>
        </p:txBody>
      </p:sp>
      <p:sp>
        <p:nvSpPr>
          <p:cNvPr id="26" name="Freeform 10"/>
          <p:cNvSpPr>
            <a:spLocks noChangeAspect="1" noEditPoints="1"/>
          </p:cNvSpPr>
          <p:nvPr/>
        </p:nvSpPr>
        <p:spPr bwMode="auto">
          <a:xfrm>
            <a:off x="6417691" y="4693112"/>
            <a:ext cx="372836" cy="374400"/>
          </a:xfrm>
          <a:custGeom>
            <a:avLst/>
            <a:gdLst>
              <a:gd name="T0" fmla="*/ 245 w 490"/>
              <a:gd name="T1" fmla="*/ 0 h 490"/>
              <a:gd name="T2" fmla="*/ 490 w 490"/>
              <a:gd name="T3" fmla="*/ 245 h 490"/>
              <a:gd name="T4" fmla="*/ 245 w 490"/>
              <a:gd name="T5" fmla="*/ 490 h 490"/>
              <a:gd name="T6" fmla="*/ 0 w 490"/>
              <a:gd name="T7" fmla="*/ 245 h 490"/>
              <a:gd name="T8" fmla="*/ 245 w 490"/>
              <a:gd name="T9" fmla="*/ 0 h 490"/>
              <a:gd name="T10" fmla="*/ 436 w 490"/>
              <a:gd name="T11" fmla="*/ 250 h 490"/>
              <a:gd name="T12" fmla="*/ 427 w 490"/>
              <a:gd name="T13" fmla="*/ 256 h 490"/>
              <a:gd name="T14" fmla="*/ 394 w 490"/>
              <a:gd name="T15" fmla="*/ 256 h 490"/>
              <a:gd name="T16" fmla="*/ 386 w 490"/>
              <a:gd name="T17" fmla="*/ 253 h 490"/>
              <a:gd name="T18" fmla="*/ 245 w 490"/>
              <a:gd name="T19" fmla="*/ 105 h 490"/>
              <a:gd name="T20" fmla="*/ 104 w 490"/>
              <a:gd name="T21" fmla="*/ 253 h 490"/>
              <a:gd name="T22" fmla="*/ 96 w 490"/>
              <a:gd name="T23" fmla="*/ 256 h 490"/>
              <a:gd name="T24" fmla="*/ 63 w 490"/>
              <a:gd name="T25" fmla="*/ 256 h 490"/>
              <a:gd name="T26" fmla="*/ 54 w 490"/>
              <a:gd name="T27" fmla="*/ 250 h 490"/>
              <a:gd name="T28" fmla="*/ 56 w 490"/>
              <a:gd name="T29" fmla="*/ 239 h 490"/>
              <a:gd name="T30" fmla="*/ 236 w 490"/>
              <a:gd name="T31" fmla="*/ 52 h 490"/>
              <a:gd name="T32" fmla="*/ 245 w 490"/>
              <a:gd name="T33" fmla="*/ 48 h 490"/>
              <a:gd name="T34" fmla="*/ 254 w 490"/>
              <a:gd name="T35" fmla="*/ 52 h 490"/>
              <a:gd name="T36" fmla="*/ 434 w 490"/>
              <a:gd name="T37" fmla="*/ 239 h 490"/>
              <a:gd name="T38" fmla="*/ 436 w 490"/>
              <a:gd name="T39" fmla="*/ 250 h 490"/>
              <a:gd name="T40" fmla="*/ 113 w 490"/>
              <a:gd name="T41" fmla="*/ 267 h 490"/>
              <a:gd name="T42" fmla="*/ 113 w 490"/>
              <a:gd name="T43" fmla="*/ 267 h 490"/>
              <a:gd name="T44" fmla="*/ 113 w 490"/>
              <a:gd name="T45" fmla="*/ 379 h 490"/>
              <a:gd name="T46" fmla="*/ 129 w 490"/>
              <a:gd name="T47" fmla="*/ 398 h 490"/>
              <a:gd name="T48" fmla="*/ 202 w 490"/>
              <a:gd name="T49" fmla="*/ 398 h 490"/>
              <a:gd name="T50" fmla="*/ 202 w 490"/>
              <a:gd name="T51" fmla="*/ 276 h 490"/>
              <a:gd name="T52" fmla="*/ 221 w 490"/>
              <a:gd name="T53" fmla="*/ 257 h 490"/>
              <a:gd name="T54" fmla="*/ 269 w 490"/>
              <a:gd name="T55" fmla="*/ 257 h 490"/>
              <a:gd name="T56" fmla="*/ 288 w 490"/>
              <a:gd name="T57" fmla="*/ 276 h 490"/>
              <a:gd name="T58" fmla="*/ 288 w 490"/>
              <a:gd name="T59" fmla="*/ 398 h 490"/>
              <a:gd name="T60" fmla="*/ 361 w 490"/>
              <a:gd name="T61" fmla="*/ 398 h 490"/>
              <a:gd name="T62" fmla="*/ 377 w 490"/>
              <a:gd name="T63" fmla="*/ 379 h 490"/>
              <a:gd name="T64" fmla="*/ 377 w 490"/>
              <a:gd name="T65" fmla="*/ 268 h 490"/>
              <a:gd name="T66" fmla="*/ 245 w 490"/>
              <a:gd name="T67" fmla="*/ 130 h 490"/>
              <a:gd name="T68" fmla="*/ 113 w 490"/>
              <a:gd name="T69" fmla="*/ 267 h 4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490" h="490">
                <a:moveTo>
                  <a:pt x="245" y="0"/>
                </a:moveTo>
                <a:cubicBezTo>
                  <a:pt x="380" y="0"/>
                  <a:pt x="490" y="110"/>
                  <a:pt x="490" y="245"/>
                </a:cubicBezTo>
                <a:cubicBezTo>
                  <a:pt x="490" y="381"/>
                  <a:pt x="380" y="490"/>
                  <a:pt x="245" y="490"/>
                </a:cubicBezTo>
                <a:cubicBezTo>
                  <a:pt x="110" y="490"/>
                  <a:pt x="0" y="381"/>
                  <a:pt x="0" y="245"/>
                </a:cubicBezTo>
                <a:cubicBezTo>
                  <a:pt x="0" y="110"/>
                  <a:pt x="110" y="0"/>
                  <a:pt x="245" y="0"/>
                </a:cubicBezTo>
                <a:close/>
                <a:moveTo>
                  <a:pt x="436" y="250"/>
                </a:moveTo>
                <a:cubicBezTo>
                  <a:pt x="435" y="254"/>
                  <a:pt x="431" y="256"/>
                  <a:pt x="427" y="256"/>
                </a:cubicBezTo>
                <a:lnTo>
                  <a:pt x="394" y="256"/>
                </a:lnTo>
                <a:cubicBezTo>
                  <a:pt x="391" y="256"/>
                  <a:pt x="388" y="255"/>
                  <a:pt x="386" y="253"/>
                </a:cubicBezTo>
                <a:lnTo>
                  <a:pt x="245" y="105"/>
                </a:lnTo>
                <a:lnTo>
                  <a:pt x="104" y="253"/>
                </a:lnTo>
                <a:cubicBezTo>
                  <a:pt x="102" y="255"/>
                  <a:pt x="99" y="256"/>
                  <a:pt x="96" y="256"/>
                </a:cubicBezTo>
                <a:lnTo>
                  <a:pt x="63" y="256"/>
                </a:lnTo>
                <a:cubicBezTo>
                  <a:pt x="59" y="256"/>
                  <a:pt x="55" y="254"/>
                  <a:pt x="54" y="250"/>
                </a:cubicBezTo>
                <a:cubicBezTo>
                  <a:pt x="52" y="246"/>
                  <a:pt x="53" y="242"/>
                  <a:pt x="56" y="239"/>
                </a:cubicBezTo>
                <a:lnTo>
                  <a:pt x="236" y="52"/>
                </a:lnTo>
                <a:cubicBezTo>
                  <a:pt x="238" y="49"/>
                  <a:pt x="242" y="48"/>
                  <a:pt x="245" y="48"/>
                </a:cubicBezTo>
                <a:cubicBezTo>
                  <a:pt x="248" y="48"/>
                  <a:pt x="252" y="49"/>
                  <a:pt x="254" y="52"/>
                </a:cubicBezTo>
                <a:lnTo>
                  <a:pt x="434" y="239"/>
                </a:lnTo>
                <a:cubicBezTo>
                  <a:pt x="437" y="242"/>
                  <a:pt x="438" y="246"/>
                  <a:pt x="436" y="250"/>
                </a:cubicBezTo>
                <a:close/>
                <a:moveTo>
                  <a:pt x="113" y="267"/>
                </a:moveTo>
                <a:lnTo>
                  <a:pt x="113" y="267"/>
                </a:lnTo>
                <a:lnTo>
                  <a:pt x="113" y="379"/>
                </a:lnTo>
                <a:cubicBezTo>
                  <a:pt x="113" y="389"/>
                  <a:pt x="120" y="398"/>
                  <a:pt x="129" y="398"/>
                </a:cubicBezTo>
                <a:lnTo>
                  <a:pt x="202" y="398"/>
                </a:lnTo>
                <a:lnTo>
                  <a:pt x="202" y="276"/>
                </a:lnTo>
                <a:cubicBezTo>
                  <a:pt x="202" y="266"/>
                  <a:pt x="211" y="257"/>
                  <a:pt x="221" y="257"/>
                </a:cubicBezTo>
                <a:lnTo>
                  <a:pt x="269" y="257"/>
                </a:lnTo>
                <a:cubicBezTo>
                  <a:pt x="279" y="257"/>
                  <a:pt x="288" y="266"/>
                  <a:pt x="288" y="276"/>
                </a:cubicBezTo>
                <a:lnTo>
                  <a:pt x="288" y="398"/>
                </a:lnTo>
                <a:lnTo>
                  <a:pt x="361" y="398"/>
                </a:lnTo>
                <a:cubicBezTo>
                  <a:pt x="370" y="398"/>
                  <a:pt x="377" y="389"/>
                  <a:pt x="377" y="379"/>
                </a:cubicBezTo>
                <a:lnTo>
                  <a:pt x="377" y="268"/>
                </a:lnTo>
                <a:lnTo>
                  <a:pt x="245" y="130"/>
                </a:lnTo>
                <a:lnTo>
                  <a:pt x="113" y="267"/>
                </a:lnTo>
                <a:close/>
              </a:path>
            </a:pathLst>
          </a:custGeom>
          <a:solidFill>
            <a:schemeClr val="bg1"/>
          </a:solidFill>
          <a:ln>
            <a:noFill/>
          </a:ln>
          <a:extLst/>
        </p:spPr>
        <p:txBody>
          <a:bodyPr vert="horz" wrap="square" lIns="91434" tIns="45717" rIns="91434" bIns="45717" numCol="1" anchor="t" anchorCtr="0" compatLnSpc="1">
            <a:prstTxWarp prst="textNoShape">
              <a:avLst/>
            </a:prstTxWarp>
          </a:bodyPr>
          <a:lstStyle/>
          <a:p>
            <a:endParaRPr lang="zh-CN" altLang="en-US">
              <a:solidFill>
                <a:srgbClr val="294A5A"/>
              </a:solidFill>
            </a:endParaRPr>
          </a:p>
        </p:txBody>
      </p:sp>
      <p:sp>
        <p:nvSpPr>
          <p:cNvPr id="27" name="TextBox 26"/>
          <p:cNvSpPr txBox="1"/>
          <p:nvPr/>
        </p:nvSpPr>
        <p:spPr>
          <a:xfrm>
            <a:off x="14146653" y="8510121"/>
            <a:ext cx="1107996" cy="461665"/>
          </a:xfrm>
          <a:prstGeom prst="rect">
            <a:avLst/>
          </a:prstGeom>
          <a:noFill/>
        </p:spPr>
        <p:txBody>
          <a:bodyPr wrap="none" rtlCol="0">
            <a:spAutoFit/>
          </a:bodyPr>
          <a:lstStyle/>
          <a:p>
            <a:r>
              <a:rPr lang="zh-CN" altLang="en-US" sz="2400" dirty="0"/>
              <a:t>延时符</a:t>
            </a:r>
          </a:p>
        </p:txBody>
      </p:sp>
      <p:sp>
        <p:nvSpPr>
          <p:cNvPr id="28" name="Rectangle 6"/>
          <p:cNvSpPr>
            <a:spLocks noChangeArrowheads="1"/>
          </p:cNvSpPr>
          <p:nvPr/>
        </p:nvSpPr>
        <p:spPr bwMode="auto">
          <a:xfrm>
            <a:off x="0" y="1109114"/>
            <a:ext cx="2835079" cy="81520"/>
          </a:xfrm>
          <a:prstGeom prst="rect">
            <a:avLst/>
          </a:prstGeom>
          <a:solidFill>
            <a:srgbClr val="01C0B0"/>
          </a:solidFill>
          <a:ln>
            <a:noFill/>
          </a:ln>
        </p:spPr>
        <p:txBody>
          <a:bodyPr vert="horz" wrap="square" lIns="91434" tIns="45717" rIns="91434" bIns="45717" numCol="1" anchor="t" anchorCtr="0" compatLnSpc="1">
            <a:prstTxWarp prst="textNoShape">
              <a:avLst/>
            </a:prstTxWarp>
          </a:bodyPr>
          <a:lstStyle/>
          <a:p>
            <a:endParaRPr lang="zh-CN" altLang="en-US">
              <a:solidFill>
                <a:srgbClr val="294A5A"/>
              </a:solidFill>
            </a:endParaRPr>
          </a:p>
        </p:txBody>
      </p:sp>
      <p:sp>
        <p:nvSpPr>
          <p:cNvPr id="29" name="Rectangle 7"/>
          <p:cNvSpPr>
            <a:spLocks noChangeArrowheads="1"/>
          </p:cNvSpPr>
          <p:nvPr/>
        </p:nvSpPr>
        <p:spPr bwMode="auto">
          <a:xfrm>
            <a:off x="1266714" y="1109114"/>
            <a:ext cx="2831571" cy="81520"/>
          </a:xfrm>
          <a:prstGeom prst="rect">
            <a:avLst/>
          </a:prstGeom>
          <a:solidFill>
            <a:srgbClr val="FFC000"/>
          </a:solidFill>
          <a:ln>
            <a:noFill/>
          </a:ln>
        </p:spPr>
        <p:txBody>
          <a:bodyPr vert="horz" wrap="square" lIns="91434" tIns="45717" rIns="91434" bIns="45717" numCol="1" anchor="t" anchorCtr="0" compatLnSpc="1">
            <a:prstTxWarp prst="textNoShape">
              <a:avLst/>
            </a:prstTxWarp>
          </a:bodyPr>
          <a:lstStyle/>
          <a:p>
            <a:endParaRPr lang="zh-CN" altLang="en-US">
              <a:solidFill>
                <a:srgbClr val="294A5A"/>
              </a:solidFill>
            </a:endParaRPr>
          </a:p>
        </p:txBody>
      </p:sp>
      <p:sp>
        <p:nvSpPr>
          <p:cNvPr id="30" name="Rectangle 8"/>
          <p:cNvSpPr>
            <a:spLocks noChangeArrowheads="1"/>
          </p:cNvSpPr>
          <p:nvPr/>
        </p:nvSpPr>
        <p:spPr bwMode="auto">
          <a:xfrm>
            <a:off x="2531856" y="1109114"/>
            <a:ext cx="2835079" cy="81520"/>
          </a:xfrm>
          <a:prstGeom prst="rect">
            <a:avLst/>
          </a:prstGeom>
          <a:solidFill>
            <a:srgbClr val="92D050"/>
          </a:solidFill>
          <a:ln>
            <a:noFill/>
          </a:ln>
        </p:spPr>
        <p:txBody>
          <a:bodyPr vert="horz" wrap="square" lIns="91434" tIns="45717" rIns="91434" bIns="45717" numCol="1" anchor="t" anchorCtr="0" compatLnSpc="1">
            <a:prstTxWarp prst="textNoShape">
              <a:avLst/>
            </a:prstTxWarp>
          </a:bodyPr>
          <a:lstStyle/>
          <a:p>
            <a:endParaRPr lang="zh-CN" altLang="en-US">
              <a:solidFill>
                <a:srgbClr val="294A5A"/>
              </a:solidFill>
            </a:endParaRPr>
          </a:p>
        </p:txBody>
      </p:sp>
      <p:sp>
        <p:nvSpPr>
          <p:cNvPr id="31" name="Rectangle 9"/>
          <p:cNvSpPr>
            <a:spLocks noChangeArrowheads="1"/>
          </p:cNvSpPr>
          <p:nvPr/>
        </p:nvSpPr>
        <p:spPr bwMode="auto">
          <a:xfrm>
            <a:off x="3798567" y="1109114"/>
            <a:ext cx="2039483" cy="81520"/>
          </a:xfrm>
          <a:prstGeom prst="rect">
            <a:avLst/>
          </a:prstGeom>
          <a:solidFill>
            <a:srgbClr val="FFFF00"/>
          </a:solidFill>
          <a:ln>
            <a:noFill/>
          </a:ln>
        </p:spPr>
        <p:txBody>
          <a:bodyPr vert="horz" wrap="square" lIns="91434" tIns="45717" rIns="91434" bIns="45717" numCol="1" anchor="t" anchorCtr="0" compatLnSpc="1">
            <a:prstTxWarp prst="textNoShape">
              <a:avLst/>
            </a:prstTxWarp>
          </a:bodyPr>
          <a:lstStyle/>
          <a:p>
            <a:endParaRPr lang="zh-CN" altLang="en-US">
              <a:solidFill>
                <a:srgbClr val="294A5A"/>
              </a:solidFill>
            </a:endParaRPr>
          </a:p>
        </p:txBody>
      </p:sp>
    </p:spTree>
    <p:extLst>
      <p:ext uri="{BB962C8B-B14F-4D97-AF65-F5344CB8AC3E}">
        <p14:creationId xmlns:p14="http://schemas.microsoft.com/office/powerpoint/2010/main" val="1677605679"/>
      </p:ext>
    </p:extLst>
  </p:cSld>
  <p:clrMapOvr>
    <a:masterClrMapping/>
  </p:clrMapOvr>
  <mc:AlternateContent xmlns:mc="http://schemas.openxmlformats.org/markup-compatibility/2006" xmlns:p14="http://schemas.microsoft.com/office/powerpoint/2010/main">
    <mc:Choice Requires="p14">
      <p:transition spd="slow" p14:dur="59000" advTm="9222">
        <p:push dir="u"/>
      </p:transition>
    </mc:Choice>
    <mc:Fallback xmlns="">
      <p:transition spd="slow" advTm="9222">
        <p:push dir="u"/>
      </p:transition>
    </mc:Fallback>
  </mc:AlternateContent>
  <p:timing>
    <p:tnLst>
      <p:par>
        <p:cTn id="1" dur="indefinite" restart="never" nodeType="tmRoot"/>
      </p:par>
    </p:tnLst>
  </p:timing>
</p:sld>
</file>

<file path=ppt/theme/theme1.xml><?xml version="1.0" encoding="utf-8"?>
<a:theme xmlns:a="http://schemas.openxmlformats.org/drawingml/2006/main" name="第一PPT，www.1ppt.com">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421</TotalTime>
  <Words>838</Words>
  <Application>Microsoft Office PowerPoint</Application>
  <PresentationFormat>宽屏</PresentationFormat>
  <Paragraphs>221</Paragraphs>
  <Slides>25</Slides>
  <Notes>15</Notes>
  <HiddenSlides>0</HiddenSlides>
  <MMClips>0</MMClips>
  <ScaleCrop>false</ScaleCrop>
  <HeadingPairs>
    <vt:vector size="8" baseType="variant">
      <vt:variant>
        <vt:lpstr>已用的字体</vt:lpstr>
      </vt:variant>
      <vt:variant>
        <vt:i4>6</vt:i4>
      </vt:variant>
      <vt:variant>
        <vt:lpstr>主题</vt:lpstr>
      </vt:variant>
      <vt:variant>
        <vt:i4>1</vt:i4>
      </vt:variant>
      <vt:variant>
        <vt:lpstr>嵌入 OLE 服务器</vt:lpstr>
      </vt:variant>
      <vt:variant>
        <vt:i4>1</vt:i4>
      </vt:variant>
      <vt:variant>
        <vt:lpstr>幻灯片标题</vt:lpstr>
      </vt:variant>
      <vt:variant>
        <vt:i4>25</vt:i4>
      </vt:variant>
    </vt:vector>
  </HeadingPairs>
  <TitlesOfParts>
    <vt:vector size="33" baseType="lpstr">
      <vt:lpstr>宋体</vt:lpstr>
      <vt:lpstr>微软雅黑</vt:lpstr>
      <vt:lpstr>Arial</vt:lpstr>
      <vt:lpstr>Calibri</vt:lpstr>
      <vt:lpstr>Calibri Light</vt:lpstr>
      <vt:lpstr>Times New Roman</vt:lpstr>
      <vt:lpstr>第一PPT，www.1ppt.com</vt:lpstr>
      <vt:lpstr>Visio</vt:lpstr>
      <vt:lpstr>PowerPoint 演示文稿</vt:lpstr>
      <vt:lpstr>PowerPoint 演示文稿</vt:lpstr>
      <vt:lpstr>PowerPoint 演示文稿</vt:lpstr>
      <vt:lpstr>PowerPoint 演示文稿</vt:lpstr>
      <vt:lpstr>输入输出设备</vt:lpstr>
      <vt:lpstr>PowerPoint 演示文稿</vt:lpstr>
      <vt:lpstr>PowerPoint 演示文稿</vt:lpstr>
      <vt:lpstr>PowerPoint 演示文稿</vt:lpstr>
      <vt:lpstr>PowerPoint 演示文稿</vt:lpstr>
      <vt:lpstr>PowerPoint 演示文稿</vt:lpstr>
      <vt:lpstr>传输速度方面</vt:lpstr>
      <vt:lpstr>PowerPoint 演示文稿</vt:lpstr>
      <vt:lpstr>PowerPoint 演示文稿</vt:lpstr>
      <vt:lpstr>PowerPoint 演示文稿</vt:lpstr>
      <vt:lpstr>PowerPoint 演示文稿</vt:lpstr>
      <vt:lpstr>PowerPoint 演示文稿</vt:lpstr>
      <vt:lpstr>输入输出设备的编址与管理 </vt:lpstr>
      <vt:lpstr>PowerPoint 演示文稿</vt:lpstr>
      <vt:lpstr>CPU对I/O端口的编址方式主要有两种：</vt:lpstr>
      <vt:lpstr>I/O端口的独立编址方式</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07述职报告</dc:title>
  <dc:creator>user</dc:creator>
  <cp:lastModifiedBy>fan</cp:lastModifiedBy>
  <cp:revision>51</cp:revision>
  <dcterms:created xsi:type="dcterms:W3CDTF">2016-06-01T05:10:04Z</dcterms:created>
  <dcterms:modified xsi:type="dcterms:W3CDTF">2017-05-27T08:50:11Z</dcterms:modified>
</cp:coreProperties>
</file>