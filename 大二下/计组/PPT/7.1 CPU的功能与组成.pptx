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89" r:id="rId2"/>
    <p:sldId id="302" r:id="rId3"/>
    <p:sldId id="292" r:id="rId4"/>
    <p:sldId id="301" r:id="rId5"/>
    <p:sldId id="309" r:id="rId6"/>
    <p:sldId id="310" r:id="rId7"/>
    <p:sldId id="303" r:id="rId8"/>
    <p:sldId id="312" r:id="rId9"/>
    <p:sldId id="304" r:id="rId10"/>
    <p:sldId id="305" r:id="rId11"/>
    <p:sldId id="306" r:id="rId12"/>
    <p:sldId id="299" r:id="rId13"/>
    <p:sldId id="307" r:id="rId14"/>
    <p:sldId id="290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02B9E7"/>
    <a:srgbClr val="92D050"/>
    <a:srgbClr val="0000FF"/>
    <a:srgbClr val="01C0B0"/>
    <a:srgbClr val="04B0BE"/>
    <a:srgbClr val="04BE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26" autoAdjust="0"/>
    <p:restoredTop sz="94660"/>
  </p:normalViewPr>
  <p:slideViewPr>
    <p:cSldViewPr snapToGrid="0" showGuides="1">
      <p:cViewPr varScale="1">
        <p:scale>
          <a:sx n="48" d="100"/>
          <a:sy n="48" d="100"/>
        </p:scale>
        <p:origin x="67" y="91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howGuides="1">
      <p:cViewPr varScale="1">
        <p:scale>
          <a:sx n="57" d="100"/>
          <a:sy n="57" d="100"/>
        </p:scale>
        <p:origin x="2808" y="3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5EA18D-BD51-4F0D-BF95-F6321101706D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1688E28D-B08D-47CA-98F5-001414EBB253}">
      <dgm:prSet custT="1"/>
      <dgm:spPr>
        <a:solidFill>
          <a:srgbClr val="92D050"/>
        </a:solidFill>
      </dgm:spPr>
      <dgm:t>
        <a:bodyPr/>
        <a:lstStyle/>
        <a:p>
          <a:pPr>
            <a:lnSpc>
              <a:spcPct val="120000"/>
            </a:lnSpc>
          </a:pPr>
          <a:r>
            <a:rPr kumimoji="1"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计算机是通过完成人们编制的程序来实现相应的功能的</a:t>
          </a:r>
          <a:endParaRPr lang="zh-CN" altLang="en-US" sz="2800" b="1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2A52240-4205-43F6-8C77-E3A318988DF3}" type="parTrans" cxnId="{20BCFDAB-118F-4756-9937-B8A1A48F596F}">
      <dgm:prSet/>
      <dgm:spPr/>
      <dgm:t>
        <a:bodyPr/>
        <a:lstStyle/>
        <a:p>
          <a:pPr>
            <a:lnSpc>
              <a:spcPct val="120000"/>
            </a:lnSpc>
          </a:pPr>
          <a:endParaRPr lang="zh-CN" altLang="en-US" sz="2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F28866C-82BE-4748-A2BE-CCE7569D6273}" type="sibTrans" cxnId="{20BCFDAB-118F-4756-9937-B8A1A48F596F}">
      <dgm:prSet custT="1"/>
      <dgm:spPr>
        <a:solidFill>
          <a:srgbClr val="FFC000"/>
        </a:solidFill>
      </dgm:spPr>
      <dgm:t>
        <a:bodyPr/>
        <a:lstStyle/>
        <a:p>
          <a:pPr>
            <a:lnSpc>
              <a:spcPct val="120000"/>
            </a:lnSpc>
          </a:pPr>
          <a:endParaRPr lang="zh-CN" altLang="en-US" sz="2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288E667-809F-4CA1-BC58-F382290CE39F}">
      <dgm:prSet custT="1"/>
      <dgm:spPr>
        <a:solidFill>
          <a:srgbClr val="92D050"/>
        </a:solidFill>
      </dgm:spPr>
      <dgm:t>
        <a:bodyPr/>
        <a:lstStyle/>
        <a:p>
          <a:pPr>
            <a:lnSpc>
              <a:spcPct val="120000"/>
            </a:lnSpc>
          </a:pPr>
          <a:r>
            <a:rPr kumimoji="1"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程序是由指令和数据构成的并且事先存放在存储器中</a:t>
          </a:r>
          <a:endParaRPr lang="zh-CN" altLang="en-US" sz="2800" b="1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6896C9B-B412-4CAD-A677-8A3C956C5EDE}" type="parTrans" cxnId="{F1C2C5D8-A1E4-437B-8224-5EEA1CE6DD35}">
      <dgm:prSet/>
      <dgm:spPr/>
      <dgm:t>
        <a:bodyPr/>
        <a:lstStyle/>
        <a:p>
          <a:pPr>
            <a:lnSpc>
              <a:spcPct val="120000"/>
            </a:lnSpc>
          </a:pPr>
          <a:endParaRPr lang="zh-CN" altLang="en-US" sz="2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30D3C6F-F982-49CA-8EB1-2F1EC6F11353}" type="sibTrans" cxnId="{F1C2C5D8-A1E4-437B-8224-5EEA1CE6DD35}">
      <dgm:prSet custT="1"/>
      <dgm:spPr>
        <a:solidFill>
          <a:srgbClr val="FFC000"/>
        </a:solidFill>
      </dgm:spPr>
      <dgm:t>
        <a:bodyPr/>
        <a:lstStyle/>
        <a:p>
          <a:pPr>
            <a:lnSpc>
              <a:spcPct val="120000"/>
            </a:lnSpc>
          </a:pPr>
          <a:endParaRPr lang="zh-CN" altLang="en-US" sz="2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BDA5201-7D59-41F7-A134-BF31A4283786}">
      <dgm:prSet custT="1"/>
      <dgm:spPr>
        <a:solidFill>
          <a:srgbClr val="92D050"/>
        </a:solidFill>
      </dgm:spPr>
      <dgm:t>
        <a:bodyPr/>
        <a:lstStyle/>
        <a:p>
          <a:pPr>
            <a:lnSpc>
              <a:spcPct val="120000"/>
            </a:lnSpc>
          </a:pPr>
          <a:r>
            <a:rPr kumimoji="1"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指令又可分解为若干操作步</a:t>
          </a:r>
          <a:endParaRPr lang="zh-CN" altLang="en-US" sz="2800" b="1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1709981-1904-4303-B953-ADAF7D4CA312}" type="parTrans" cxnId="{4F9ECA59-F291-41F3-8972-76F92C14D7A3}">
      <dgm:prSet/>
      <dgm:spPr/>
      <dgm:t>
        <a:bodyPr/>
        <a:lstStyle/>
        <a:p>
          <a:pPr>
            <a:lnSpc>
              <a:spcPct val="120000"/>
            </a:lnSpc>
          </a:pPr>
          <a:endParaRPr lang="zh-CN" altLang="en-US" sz="2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D0460FF-8270-4706-80E8-3F60E27C2930}" type="sibTrans" cxnId="{4F9ECA59-F291-41F3-8972-76F92C14D7A3}">
      <dgm:prSet/>
      <dgm:spPr/>
      <dgm:t>
        <a:bodyPr/>
        <a:lstStyle/>
        <a:p>
          <a:pPr>
            <a:lnSpc>
              <a:spcPct val="120000"/>
            </a:lnSpc>
          </a:pPr>
          <a:endParaRPr lang="zh-CN" altLang="en-US" sz="2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40B964B-ABA5-44B8-AE24-4436111015B1}" type="pres">
      <dgm:prSet presAssocID="{735EA18D-BD51-4F0D-BF95-F6321101706D}" presName="Name0" presStyleCnt="0">
        <dgm:presLayoutVars>
          <dgm:dir/>
          <dgm:resizeHandles val="exact"/>
        </dgm:presLayoutVars>
      </dgm:prSet>
      <dgm:spPr/>
    </dgm:pt>
    <dgm:pt modelId="{BFC7061F-C853-404D-A5F9-3F82C1DA93CF}" type="pres">
      <dgm:prSet presAssocID="{1688E28D-B08D-47CA-98F5-001414EBB253}" presName="node" presStyleLbl="node1" presStyleIdx="0" presStyleCnt="3">
        <dgm:presLayoutVars>
          <dgm:bulletEnabled val="1"/>
        </dgm:presLayoutVars>
      </dgm:prSet>
      <dgm:spPr/>
    </dgm:pt>
    <dgm:pt modelId="{65B798E7-FAA0-4C72-801E-911AF758B061}" type="pres">
      <dgm:prSet presAssocID="{8F28866C-82BE-4748-A2BE-CCE7569D6273}" presName="sibTrans" presStyleLbl="sibTrans2D1" presStyleIdx="0" presStyleCnt="2" custAng="10634869"/>
      <dgm:spPr/>
    </dgm:pt>
    <dgm:pt modelId="{F74935E8-F4F5-4354-A0C8-4C284FFBECC2}" type="pres">
      <dgm:prSet presAssocID="{8F28866C-82BE-4748-A2BE-CCE7569D6273}" presName="connectorText" presStyleLbl="sibTrans2D1" presStyleIdx="0" presStyleCnt="2"/>
      <dgm:spPr/>
    </dgm:pt>
    <dgm:pt modelId="{767CE5DF-B7A3-4AF0-96EF-55535ECA7DC1}" type="pres">
      <dgm:prSet presAssocID="{6288E667-809F-4CA1-BC58-F382290CE39F}" presName="node" presStyleLbl="node1" presStyleIdx="1" presStyleCnt="3" custLinFactNeighborX="-8308" custLinFactNeighborY="-2441">
        <dgm:presLayoutVars>
          <dgm:bulletEnabled val="1"/>
        </dgm:presLayoutVars>
      </dgm:prSet>
      <dgm:spPr/>
    </dgm:pt>
    <dgm:pt modelId="{D3026FF6-0736-49A6-9E95-7517A742F106}" type="pres">
      <dgm:prSet presAssocID="{730D3C6F-F982-49CA-8EB1-2F1EC6F11353}" presName="sibTrans" presStyleLbl="sibTrans2D1" presStyleIdx="1" presStyleCnt="2" custAng="10800000"/>
      <dgm:spPr/>
    </dgm:pt>
    <dgm:pt modelId="{C0E04493-511A-46E5-9E58-AF7B31F7BEC5}" type="pres">
      <dgm:prSet presAssocID="{730D3C6F-F982-49CA-8EB1-2F1EC6F11353}" presName="connectorText" presStyleLbl="sibTrans2D1" presStyleIdx="1" presStyleCnt="2"/>
      <dgm:spPr/>
    </dgm:pt>
    <dgm:pt modelId="{A7B389EE-2A4D-4046-9308-D21CC0EAA2AB}" type="pres">
      <dgm:prSet presAssocID="{2BDA5201-7D59-41F7-A134-BF31A4283786}" presName="node" presStyleLbl="node1" presStyleIdx="2" presStyleCnt="3">
        <dgm:presLayoutVars>
          <dgm:bulletEnabled val="1"/>
        </dgm:presLayoutVars>
      </dgm:prSet>
      <dgm:spPr/>
    </dgm:pt>
  </dgm:ptLst>
  <dgm:cxnLst>
    <dgm:cxn modelId="{0E44D30E-6203-4C02-90C6-178705CEF8AA}" type="presOf" srcId="{2BDA5201-7D59-41F7-A134-BF31A4283786}" destId="{A7B389EE-2A4D-4046-9308-D21CC0EAA2AB}" srcOrd="0" destOrd="0" presId="urn:microsoft.com/office/officeart/2005/8/layout/process1"/>
    <dgm:cxn modelId="{283C1A38-D9F8-4F6C-B027-C8CE930DB4FC}" type="presOf" srcId="{8F28866C-82BE-4748-A2BE-CCE7569D6273}" destId="{65B798E7-FAA0-4C72-801E-911AF758B061}" srcOrd="0" destOrd="0" presId="urn:microsoft.com/office/officeart/2005/8/layout/process1"/>
    <dgm:cxn modelId="{ABA2D774-634B-4FE9-A64E-D84492FE1DBA}" type="presOf" srcId="{6288E667-809F-4CA1-BC58-F382290CE39F}" destId="{767CE5DF-B7A3-4AF0-96EF-55535ECA7DC1}" srcOrd="0" destOrd="0" presId="urn:microsoft.com/office/officeart/2005/8/layout/process1"/>
    <dgm:cxn modelId="{4F9ECA59-F291-41F3-8972-76F92C14D7A3}" srcId="{735EA18D-BD51-4F0D-BF95-F6321101706D}" destId="{2BDA5201-7D59-41F7-A134-BF31A4283786}" srcOrd="2" destOrd="0" parTransId="{81709981-1904-4303-B953-ADAF7D4CA312}" sibTransId="{7D0460FF-8270-4706-80E8-3F60E27C2930}"/>
    <dgm:cxn modelId="{849F9C84-EF90-4922-ACB1-244958EFB61B}" type="presOf" srcId="{1688E28D-B08D-47CA-98F5-001414EBB253}" destId="{BFC7061F-C853-404D-A5F9-3F82C1DA93CF}" srcOrd="0" destOrd="0" presId="urn:microsoft.com/office/officeart/2005/8/layout/process1"/>
    <dgm:cxn modelId="{B267FA8D-63BB-4C63-8827-762BCCB75DE6}" type="presOf" srcId="{735EA18D-BD51-4F0D-BF95-F6321101706D}" destId="{C40B964B-ABA5-44B8-AE24-4436111015B1}" srcOrd="0" destOrd="0" presId="urn:microsoft.com/office/officeart/2005/8/layout/process1"/>
    <dgm:cxn modelId="{20BCFDAB-118F-4756-9937-B8A1A48F596F}" srcId="{735EA18D-BD51-4F0D-BF95-F6321101706D}" destId="{1688E28D-B08D-47CA-98F5-001414EBB253}" srcOrd="0" destOrd="0" parTransId="{32A52240-4205-43F6-8C77-E3A318988DF3}" sibTransId="{8F28866C-82BE-4748-A2BE-CCE7569D6273}"/>
    <dgm:cxn modelId="{CF95A2B8-ED4F-432F-A678-5F786702B65F}" type="presOf" srcId="{730D3C6F-F982-49CA-8EB1-2F1EC6F11353}" destId="{D3026FF6-0736-49A6-9E95-7517A742F106}" srcOrd="0" destOrd="0" presId="urn:microsoft.com/office/officeart/2005/8/layout/process1"/>
    <dgm:cxn modelId="{1731ECC1-8389-47B7-AAAE-76E36F2588A3}" type="presOf" srcId="{8F28866C-82BE-4748-A2BE-CCE7569D6273}" destId="{F74935E8-F4F5-4354-A0C8-4C284FFBECC2}" srcOrd="1" destOrd="0" presId="urn:microsoft.com/office/officeart/2005/8/layout/process1"/>
    <dgm:cxn modelId="{F1C2C5D8-A1E4-437B-8224-5EEA1CE6DD35}" srcId="{735EA18D-BD51-4F0D-BF95-F6321101706D}" destId="{6288E667-809F-4CA1-BC58-F382290CE39F}" srcOrd="1" destOrd="0" parTransId="{E6896C9B-B412-4CAD-A677-8A3C956C5EDE}" sibTransId="{730D3C6F-F982-49CA-8EB1-2F1EC6F11353}"/>
    <dgm:cxn modelId="{A3066EEE-E8A0-4B9B-9A38-CAA10AB2619C}" type="presOf" srcId="{730D3C6F-F982-49CA-8EB1-2F1EC6F11353}" destId="{C0E04493-511A-46E5-9E58-AF7B31F7BEC5}" srcOrd="1" destOrd="0" presId="urn:microsoft.com/office/officeart/2005/8/layout/process1"/>
    <dgm:cxn modelId="{DB6FFD54-ABC3-4845-8F09-4F013B942C0F}" type="presParOf" srcId="{C40B964B-ABA5-44B8-AE24-4436111015B1}" destId="{BFC7061F-C853-404D-A5F9-3F82C1DA93CF}" srcOrd="0" destOrd="0" presId="urn:microsoft.com/office/officeart/2005/8/layout/process1"/>
    <dgm:cxn modelId="{50F9C39B-F26B-4829-B749-B0B5E560966E}" type="presParOf" srcId="{C40B964B-ABA5-44B8-AE24-4436111015B1}" destId="{65B798E7-FAA0-4C72-801E-911AF758B061}" srcOrd="1" destOrd="0" presId="urn:microsoft.com/office/officeart/2005/8/layout/process1"/>
    <dgm:cxn modelId="{AC88FFB9-0497-439D-BFFD-6771381CB03D}" type="presParOf" srcId="{65B798E7-FAA0-4C72-801E-911AF758B061}" destId="{F74935E8-F4F5-4354-A0C8-4C284FFBECC2}" srcOrd="0" destOrd="0" presId="urn:microsoft.com/office/officeart/2005/8/layout/process1"/>
    <dgm:cxn modelId="{714BEBAC-02E4-4880-8A45-5F3CC7EE0CBB}" type="presParOf" srcId="{C40B964B-ABA5-44B8-AE24-4436111015B1}" destId="{767CE5DF-B7A3-4AF0-96EF-55535ECA7DC1}" srcOrd="2" destOrd="0" presId="urn:microsoft.com/office/officeart/2005/8/layout/process1"/>
    <dgm:cxn modelId="{61A10110-9C17-478A-A474-85AAABA02F91}" type="presParOf" srcId="{C40B964B-ABA5-44B8-AE24-4436111015B1}" destId="{D3026FF6-0736-49A6-9E95-7517A742F106}" srcOrd="3" destOrd="0" presId="urn:microsoft.com/office/officeart/2005/8/layout/process1"/>
    <dgm:cxn modelId="{69C0BBCC-731E-44EC-8A71-D44C466C7743}" type="presParOf" srcId="{D3026FF6-0736-49A6-9E95-7517A742F106}" destId="{C0E04493-511A-46E5-9E58-AF7B31F7BEC5}" srcOrd="0" destOrd="0" presId="urn:microsoft.com/office/officeart/2005/8/layout/process1"/>
    <dgm:cxn modelId="{B66B7AEF-3DD0-45BD-8B2E-388610AECA49}" type="presParOf" srcId="{C40B964B-ABA5-44B8-AE24-4436111015B1}" destId="{A7B389EE-2A4D-4046-9308-D21CC0EAA2AB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C7061F-C853-404D-A5F9-3F82C1DA93CF}">
      <dsp:nvSpPr>
        <dsp:cNvPr id="0" name=""/>
        <dsp:cNvSpPr/>
      </dsp:nvSpPr>
      <dsp:spPr>
        <a:xfrm>
          <a:off x="9690" y="82595"/>
          <a:ext cx="2896235" cy="3285417"/>
        </a:xfrm>
        <a:prstGeom prst="roundRect">
          <a:avLst>
            <a:gd name="adj" fmla="val 10000"/>
          </a:avLst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12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altLang="en-US" sz="2800" b="1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计算机是通过完成人们编制的程序来实现相应的功能的</a:t>
          </a:r>
          <a:endParaRPr lang="zh-CN" altLang="en-US" sz="2800" b="1" kern="12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94518" y="167423"/>
        <a:ext cx="2726579" cy="3115761"/>
      </dsp:txXfrm>
    </dsp:sp>
    <dsp:sp modelId="{65B798E7-FAA0-4C72-801E-911AF758B061}">
      <dsp:nvSpPr>
        <dsp:cNvPr id="0" name=""/>
        <dsp:cNvSpPr/>
      </dsp:nvSpPr>
      <dsp:spPr>
        <a:xfrm rot="10565231">
          <a:off x="3171429" y="1325749"/>
          <a:ext cx="563106" cy="718266"/>
        </a:xfrm>
        <a:prstGeom prst="rightArrow">
          <a:avLst>
            <a:gd name="adj1" fmla="val 60000"/>
            <a:gd name="adj2" fmla="val 50000"/>
          </a:avLst>
        </a:prstGeom>
        <a:solidFill>
          <a:srgbClr val="FFC0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12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800" b="1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340164" y="1463638"/>
        <a:ext cx="394174" cy="430960"/>
      </dsp:txXfrm>
    </dsp:sp>
    <dsp:sp modelId="{767CE5DF-B7A3-4AF0-96EF-55535ECA7DC1}">
      <dsp:nvSpPr>
        <dsp:cNvPr id="0" name=""/>
        <dsp:cNvSpPr/>
      </dsp:nvSpPr>
      <dsp:spPr>
        <a:xfrm>
          <a:off x="3968172" y="2398"/>
          <a:ext cx="2896235" cy="3285417"/>
        </a:xfrm>
        <a:prstGeom prst="roundRect">
          <a:avLst>
            <a:gd name="adj" fmla="val 10000"/>
          </a:avLst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12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altLang="en-US" sz="2800" b="1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程序是由指令和数据构成的并且事先存放在存储器中</a:t>
          </a:r>
          <a:endParaRPr lang="zh-CN" altLang="en-US" sz="2800" b="1" kern="12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053000" y="87226"/>
        <a:ext cx="2726579" cy="3115761"/>
      </dsp:txXfrm>
    </dsp:sp>
    <dsp:sp modelId="{D3026FF6-0736-49A6-9E95-7517A742F106}">
      <dsp:nvSpPr>
        <dsp:cNvPr id="0" name=""/>
        <dsp:cNvSpPr/>
      </dsp:nvSpPr>
      <dsp:spPr>
        <a:xfrm rot="10866409">
          <a:off x="7178030" y="1326436"/>
          <a:ext cx="665137" cy="718266"/>
        </a:xfrm>
        <a:prstGeom prst="rightArrow">
          <a:avLst>
            <a:gd name="adj1" fmla="val 60000"/>
            <a:gd name="adj2" fmla="val 50000"/>
          </a:avLst>
        </a:prstGeom>
        <a:solidFill>
          <a:srgbClr val="FFC0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12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800" b="1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7377552" y="1472016"/>
        <a:ext cx="465596" cy="430960"/>
      </dsp:txXfrm>
    </dsp:sp>
    <dsp:sp modelId="{A7B389EE-2A4D-4046-9308-D21CC0EAA2AB}">
      <dsp:nvSpPr>
        <dsp:cNvPr id="0" name=""/>
        <dsp:cNvSpPr/>
      </dsp:nvSpPr>
      <dsp:spPr>
        <a:xfrm>
          <a:off x="8119149" y="82595"/>
          <a:ext cx="2896235" cy="3285417"/>
        </a:xfrm>
        <a:prstGeom prst="roundRect">
          <a:avLst>
            <a:gd name="adj" fmla="val 10000"/>
          </a:avLst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12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altLang="en-US" sz="2800" b="1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指令又可分解为若干操作步</a:t>
          </a:r>
          <a:endParaRPr lang="zh-CN" altLang="en-US" sz="2800" b="1" kern="12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8203977" y="167423"/>
        <a:ext cx="2726579" cy="31157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0E8A95-114D-4BB9-A729-058920B2735F}" type="datetimeFigureOut">
              <a:rPr lang="zh-CN" altLang="en-US" smtClean="0"/>
              <a:t>2022/5/25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D8029B-87F6-42DD-8185-B8A2A8D307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89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8029B-87F6-42DD-8185-B8A2A8D3072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2554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3163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6274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3396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b="1"/>
              <a:t>运算器</a:t>
            </a:r>
            <a:r>
              <a:rPr lang="zh-CN" altLang="en-US"/>
              <a:t>组成：算术逻辑单元(</a:t>
            </a:r>
            <a:r>
              <a:rPr lang="en-US" altLang="zh-CN"/>
              <a:t>ALU)、</a:t>
            </a:r>
            <a:r>
              <a:rPr lang="zh-CN" altLang="en-US"/>
              <a:t>累加寄存器</a:t>
            </a:r>
            <a:r>
              <a:rPr lang="en-US" altLang="zh-CN"/>
              <a:t>(AC)</a:t>
            </a:r>
            <a:r>
              <a:rPr lang="zh-CN" altLang="en-US"/>
              <a:t>、数据缓冲寄存器</a:t>
            </a:r>
            <a:r>
              <a:rPr lang="en-US" altLang="zh-CN"/>
              <a:t>(DR)</a:t>
            </a:r>
            <a:r>
              <a:rPr lang="zh-CN" altLang="en-US"/>
              <a:t>和状态条件寄存器</a:t>
            </a:r>
            <a:r>
              <a:rPr lang="en-US" altLang="zh-CN"/>
              <a:t>(PSW)</a:t>
            </a:r>
            <a:r>
              <a:rPr lang="zh-CN" altLang="en-US"/>
              <a:t>等，通用寄存器组</a:t>
            </a:r>
            <a:r>
              <a:rPr lang="en-US" altLang="zh-CN"/>
              <a:t>(REG)</a:t>
            </a:r>
            <a:r>
              <a:rPr lang="zh-CN" altLang="en-US"/>
              <a:t>。</a:t>
            </a:r>
            <a:endParaRPr lang="en-US" altLang="zh-CN"/>
          </a:p>
          <a:p>
            <a:pPr eaLnBrk="1" hangingPunct="1">
              <a:spcBef>
                <a:spcPct val="0"/>
              </a:spcBef>
            </a:pPr>
            <a:r>
              <a:rPr lang="zh-CN" altLang="en-US"/>
              <a:t>内置：协处理器</a:t>
            </a:r>
            <a:r>
              <a:rPr lang="en-US" altLang="zh-CN"/>
              <a:t>(</a:t>
            </a:r>
            <a:r>
              <a:rPr lang="zh-CN" altLang="en-US"/>
              <a:t>负责浮点运算和向量运算</a:t>
            </a:r>
            <a:r>
              <a:rPr lang="en-US" altLang="zh-CN"/>
              <a:t>)</a:t>
            </a:r>
            <a:r>
              <a:rPr lang="zh-CN" altLang="en-US"/>
              <a:t>；</a:t>
            </a:r>
            <a:endParaRPr lang="en-US" altLang="zh-CN"/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6D3EC73-3FF8-42B1-AD30-22F15EDDC034}" type="slidenum">
              <a:rPr lang="zh-CN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7085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2987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39736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1F41D1-EB0D-4857-8E93-8C1C831E615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98665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46491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8029B-87F6-42DD-8185-B8A2A8D3072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0971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2022/5/25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3354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2022/5/25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343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2022/5/25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886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2022/5/25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858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2022/5/25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65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2022/5/25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278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2022/5/25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886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2022/5/25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394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2022/5/25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041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2022/5/25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3071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2022/5/25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753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AAD024-C6D2-498C-B6F9-0F94E70CC562}" type="datetimeFigureOut">
              <a:rPr lang="zh-CN" altLang="en-US" smtClean="0"/>
              <a:t>2022/5/25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530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13" Type="http://schemas.openxmlformats.org/officeDocument/2006/relationships/image" Target="../media/image13.emf"/><Relationship Id="rId18" Type="http://schemas.openxmlformats.org/officeDocument/2006/relationships/image" Target="../media/image18.emf"/><Relationship Id="rId26" Type="http://schemas.openxmlformats.org/officeDocument/2006/relationships/image" Target="../media/image26.emf"/><Relationship Id="rId3" Type="http://schemas.openxmlformats.org/officeDocument/2006/relationships/image" Target="../media/image3.emf"/><Relationship Id="rId21" Type="http://schemas.openxmlformats.org/officeDocument/2006/relationships/image" Target="../media/image21.emf"/><Relationship Id="rId7" Type="http://schemas.openxmlformats.org/officeDocument/2006/relationships/image" Target="../media/image7.emf"/><Relationship Id="rId12" Type="http://schemas.openxmlformats.org/officeDocument/2006/relationships/image" Target="../media/image12.emf"/><Relationship Id="rId17" Type="http://schemas.openxmlformats.org/officeDocument/2006/relationships/image" Target="../media/image17.emf"/><Relationship Id="rId25" Type="http://schemas.openxmlformats.org/officeDocument/2006/relationships/image" Target="../media/image25.emf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6.emf"/><Relationship Id="rId20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11" Type="http://schemas.openxmlformats.org/officeDocument/2006/relationships/image" Target="../media/image11.emf"/><Relationship Id="rId24" Type="http://schemas.openxmlformats.org/officeDocument/2006/relationships/image" Target="../media/image24.emf"/><Relationship Id="rId5" Type="http://schemas.openxmlformats.org/officeDocument/2006/relationships/image" Target="../media/image5.emf"/><Relationship Id="rId15" Type="http://schemas.openxmlformats.org/officeDocument/2006/relationships/image" Target="../media/image15.emf"/><Relationship Id="rId23" Type="http://schemas.openxmlformats.org/officeDocument/2006/relationships/image" Target="../media/image23.emf"/><Relationship Id="rId10" Type="http://schemas.openxmlformats.org/officeDocument/2006/relationships/image" Target="../media/image10.emf"/><Relationship Id="rId19" Type="http://schemas.openxmlformats.org/officeDocument/2006/relationships/image" Target="../media/image19.emf"/><Relationship Id="rId4" Type="http://schemas.openxmlformats.org/officeDocument/2006/relationships/image" Target="../media/image4.emf"/><Relationship Id="rId9" Type="http://schemas.openxmlformats.org/officeDocument/2006/relationships/image" Target="../media/image9.emf"/><Relationship Id="rId14" Type="http://schemas.openxmlformats.org/officeDocument/2006/relationships/image" Target="../media/image14.emf"/><Relationship Id="rId22" Type="http://schemas.openxmlformats.org/officeDocument/2006/relationships/image" Target="../media/image22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47757" y="2340487"/>
            <a:ext cx="6598050" cy="1698614"/>
          </a:xfrm>
          <a:prstGeom prst="rect">
            <a:avLst/>
          </a:prstGeom>
          <a:solidFill>
            <a:srgbClr val="02B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7"/>
          <p:cNvSpPr>
            <a:spLocks/>
          </p:cNvSpPr>
          <p:nvPr/>
        </p:nvSpPr>
        <p:spPr bwMode="auto">
          <a:xfrm>
            <a:off x="10799813" y="5496958"/>
            <a:ext cx="1079283" cy="1080463"/>
          </a:xfrm>
          <a:custGeom>
            <a:avLst/>
            <a:gdLst>
              <a:gd name="T0" fmla="*/ 2199 w 2504"/>
              <a:gd name="T1" fmla="*/ 0 h 2504"/>
              <a:gd name="T2" fmla="*/ 2504 w 2504"/>
              <a:gd name="T3" fmla="*/ 0 h 2504"/>
              <a:gd name="T4" fmla="*/ 2504 w 2504"/>
              <a:gd name="T5" fmla="*/ 2504 h 2504"/>
              <a:gd name="T6" fmla="*/ 0 w 2504"/>
              <a:gd name="T7" fmla="*/ 2504 h 2504"/>
              <a:gd name="T8" fmla="*/ 0 w 2504"/>
              <a:gd name="T9" fmla="*/ 2199 h 2504"/>
              <a:gd name="T10" fmla="*/ 1970 w 2504"/>
              <a:gd name="T11" fmla="*/ 2199 h 2504"/>
              <a:gd name="T12" fmla="*/ 87 w 2504"/>
              <a:gd name="T13" fmla="*/ 315 h 2504"/>
              <a:gd name="T14" fmla="*/ 303 w 2504"/>
              <a:gd name="T15" fmla="*/ 99 h 2504"/>
              <a:gd name="T16" fmla="*/ 2199 w 2504"/>
              <a:gd name="T17" fmla="*/ 1996 h 2504"/>
              <a:gd name="T18" fmla="*/ 2199 w 2504"/>
              <a:gd name="T19" fmla="*/ 0 h 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504" h="2504">
                <a:moveTo>
                  <a:pt x="2199" y="0"/>
                </a:moveTo>
                <a:lnTo>
                  <a:pt x="2504" y="0"/>
                </a:lnTo>
                <a:lnTo>
                  <a:pt x="2504" y="2504"/>
                </a:lnTo>
                <a:lnTo>
                  <a:pt x="0" y="2504"/>
                </a:lnTo>
                <a:lnTo>
                  <a:pt x="0" y="2199"/>
                </a:lnTo>
                <a:lnTo>
                  <a:pt x="1970" y="2199"/>
                </a:lnTo>
                <a:lnTo>
                  <a:pt x="87" y="315"/>
                </a:lnTo>
                <a:lnTo>
                  <a:pt x="303" y="99"/>
                </a:lnTo>
                <a:lnTo>
                  <a:pt x="2199" y="1996"/>
                </a:lnTo>
                <a:lnTo>
                  <a:pt x="2199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037268" y="2541722"/>
            <a:ext cx="6419027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r>
              <a:rPr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的功能和组成</a:t>
            </a:r>
            <a:endParaRPr lang="en-US" altLang="zh-CN" sz="6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353950" y="5153618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620664" y="5153618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8885806" y="5153618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0152517" y="5153618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2" name="Freeform 9"/>
          <p:cNvSpPr>
            <a:spLocks noEditPoints="1"/>
          </p:cNvSpPr>
          <p:nvPr/>
        </p:nvSpPr>
        <p:spPr bwMode="auto">
          <a:xfrm>
            <a:off x="10057335" y="4692974"/>
            <a:ext cx="373115" cy="374683"/>
          </a:xfrm>
          <a:custGeom>
            <a:avLst/>
            <a:gdLst>
              <a:gd name="T0" fmla="*/ 358 w 490"/>
              <a:gd name="T1" fmla="*/ 250 h 490"/>
              <a:gd name="T2" fmla="*/ 358 w 490"/>
              <a:gd name="T3" fmla="*/ 183 h 490"/>
              <a:gd name="T4" fmla="*/ 328 w 490"/>
              <a:gd name="T5" fmla="*/ 183 h 490"/>
              <a:gd name="T6" fmla="*/ 328 w 490"/>
              <a:gd name="T7" fmla="*/ 250 h 490"/>
              <a:gd name="T8" fmla="*/ 247 w 490"/>
              <a:gd name="T9" fmla="*/ 330 h 490"/>
              <a:gd name="T10" fmla="*/ 246 w 490"/>
              <a:gd name="T11" fmla="*/ 330 h 490"/>
              <a:gd name="T12" fmla="*/ 245 w 490"/>
              <a:gd name="T13" fmla="*/ 330 h 490"/>
              <a:gd name="T14" fmla="*/ 245 w 490"/>
              <a:gd name="T15" fmla="*/ 330 h 490"/>
              <a:gd name="T16" fmla="*/ 243 w 490"/>
              <a:gd name="T17" fmla="*/ 330 h 490"/>
              <a:gd name="T18" fmla="*/ 162 w 490"/>
              <a:gd name="T19" fmla="*/ 250 h 490"/>
              <a:gd name="T20" fmla="*/ 162 w 490"/>
              <a:gd name="T21" fmla="*/ 183 h 490"/>
              <a:gd name="T22" fmla="*/ 132 w 490"/>
              <a:gd name="T23" fmla="*/ 183 h 490"/>
              <a:gd name="T24" fmla="*/ 132 w 490"/>
              <a:gd name="T25" fmla="*/ 250 h 490"/>
              <a:gd name="T26" fmla="*/ 227 w 490"/>
              <a:gd name="T27" fmla="*/ 359 h 490"/>
              <a:gd name="T28" fmla="*/ 227 w 490"/>
              <a:gd name="T29" fmla="*/ 407 h 490"/>
              <a:gd name="T30" fmla="*/ 160 w 490"/>
              <a:gd name="T31" fmla="*/ 426 h 490"/>
              <a:gd name="T32" fmla="*/ 331 w 490"/>
              <a:gd name="T33" fmla="*/ 426 h 490"/>
              <a:gd name="T34" fmla="*/ 263 w 490"/>
              <a:gd name="T35" fmla="*/ 407 h 490"/>
              <a:gd name="T36" fmla="*/ 263 w 490"/>
              <a:gd name="T37" fmla="*/ 360 h 490"/>
              <a:gd name="T38" fmla="*/ 358 w 490"/>
              <a:gd name="T39" fmla="*/ 250 h 490"/>
              <a:gd name="T40" fmla="*/ 244 w 490"/>
              <a:gd name="T41" fmla="*/ 302 h 490"/>
              <a:gd name="T42" fmla="*/ 245 w 490"/>
              <a:gd name="T43" fmla="*/ 302 h 490"/>
              <a:gd name="T44" fmla="*/ 246 w 490"/>
              <a:gd name="T45" fmla="*/ 302 h 490"/>
              <a:gd name="T46" fmla="*/ 300 w 490"/>
              <a:gd name="T47" fmla="*/ 248 h 490"/>
              <a:gd name="T48" fmla="*/ 300 w 490"/>
              <a:gd name="T49" fmla="*/ 118 h 490"/>
              <a:gd name="T50" fmla="*/ 246 w 490"/>
              <a:gd name="T51" fmla="*/ 64 h 490"/>
              <a:gd name="T52" fmla="*/ 245 w 490"/>
              <a:gd name="T53" fmla="*/ 64 h 490"/>
              <a:gd name="T54" fmla="*/ 244 w 490"/>
              <a:gd name="T55" fmla="*/ 64 h 490"/>
              <a:gd name="T56" fmla="*/ 190 w 490"/>
              <a:gd name="T57" fmla="*/ 118 h 490"/>
              <a:gd name="T58" fmla="*/ 190 w 490"/>
              <a:gd name="T59" fmla="*/ 248 h 490"/>
              <a:gd name="T60" fmla="*/ 244 w 490"/>
              <a:gd name="T61" fmla="*/ 302 h 490"/>
              <a:gd name="T62" fmla="*/ 245 w 490"/>
              <a:gd name="T63" fmla="*/ 0 h 490"/>
              <a:gd name="T64" fmla="*/ 490 w 490"/>
              <a:gd name="T65" fmla="*/ 245 h 490"/>
              <a:gd name="T66" fmla="*/ 245 w 490"/>
              <a:gd name="T67" fmla="*/ 490 h 490"/>
              <a:gd name="T68" fmla="*/ 0 w 490"/>
              <a:gd name="T69" fmla="*/ 245 h 490"/>
              <a:gd name="T70" fmla="*/ 245 w 490"/>
              <a:gd name="T71" fmla="*/ 0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90" h="490">
                <a:moveTo>
                  <a:pt x="358" y="250"/>
                </a:moveTo>
                <a:lnTo>
                  <a:pt x="358" y="183"/>
                </a:lnTo>
                <a:cubicBezTo>
                  <a:pt x="358" y="165"/>
                  <a:pt x="328" y="164"/>
                  <a:pt x="328" y="183"/>
                </a:cubicBezTo>
                <a:lnTo>
                  <a:pt x="328" y="250"/>
                </a:lnTo>
                <a:cubicBezTo>
                  <a:pt x="328" y="294"/>
                  <a:pt x="292" y="330"/>
                  <a:pt x="247" y="330"/>
                </a:cubicBezTo>
                <a:cubicBezTo>
                  <a:pt x="247" y="330"/>
                  <a:pt x="246" y="330"/>
                  <a:pt x="246" y="330"/>
                </a:cubicBezTo>
                <a:lnTo>
                  <a:pt x="245" y="330"/>
                </a:lnTo>
                <a:lnTo>
                  <a:pt x="245" y="330"/>
                </a:lnTo>
                <a:cubicBezTo>
                  <a:pt x="244" y="330"/>
                  <a:pt x="244" y="330"/>
                  <a:pt x="243" y="330"/>
                </a:cubicBezTo>
                <a:cubicBezTo>
                  <a:pt x="198" y="330"/>
                  <a:pt x="162" y="294"/>
                  <a:pt x="162" y="250"/>
                </a:cubicBezTo>
                <a:lnTo>
                  <a:pt x="162" y="183"/>
                </a:lnTo>
                <a:cubicBezTo>
                  <a:pt x="162" y="165"/>
                  <a:pt x="132" y="164"/>
                  <a:pt x="132" y="183"/>
                </a:cubicBezTo>
                <a:cubicBezTo>
                  <a:pt x="132" y="192"/>
                  <a:pt x="132" y="250"/>
                  <a:pt x="132" y="250"/>
                </a:cubicBezTo>
                <a:cubicBezTo>
                  <a:pt x="132" y="306"/>
                  <a:pt x="173" y="352"/>
                  <a:pt x="227" y="359"/>
                </a:cubicBezTo>
                <a:lnTo>
                  <a:pt x="227" y="407"/>
                </a:lnTo>
                <a:lnTo>
                  <a:pt x="160" y="426"/>
                </a:lnTo>
                <a:lnTo>
                  <a:pt x="331" y="426"/>
                </a:lnTo>
                <a:lnTo>
                  <a:pt x="263" y="407"/>
                </a:lnTo>
                <a:lnTo>
                  <a:pt x="263" y="360"/>
                </a:lnTo>
                <a:cubicBezTo>
                  <a:pt x="317" y="352"/>
                  <a:pt x="358" y="306"/>
                  <a:pt x="358" y="250"/>
                </a:cubicBezTo>
                <a:close/>
                <a:moveTo>
                  <a:pt x="244" y="302"/>
                </a:moveTo>
                <a:cubicBezTo>
                  <a:pt x="244" y="302"/>
                  <a:pt x="245" y="302"/>
                  <a:pt x="245" y="302"/>
                </a:cubicBezTo>
                <a:cubicBezTo>
                  <a:pt x="245" y="302"/>
                  <a:pt x="246" y="302"/>
                  <a:pt x="246" y="302"/>
                </a:cubicBezTo>
                <a:cubicBezTo>
                  <a:pt x="276" y="302"/>
                  <a:pt x="300" y="278"/>
                  <a:pt x="300" y="248"/>
                </a:cubicBezTo>
                <a:lnTo>
                  <a:pt x="300" y="118"/>
                </a:lnTo>
                <a:cubicBezTo>
                  <a:pt x="300" y="88"/>
                  <a:pt x="276" y="64"/>
                  <a:pt x="246" y="64"/>
                </a:cubicBezTo>
                <a:cubicBezTo>
                  <a:pt x="246" y="64"/>
                  <a:pt x="245" y="64"/>
                  <a:pt x="245" y="64"/>
                </a:cubicBezTo>
                <a:cubicBezTo>
                  <a:pt x="245" y="64"/>
                  <a:pt x="244" y="64"/>
                  <a:pt x="244" y="64"/>
                </a:cubicBezTo>
                <a:cubicBezTo>
                  <a:pt x="214" y="64"/>
                  <a:pt x="190" y="88"/>
                  <a:pt x="190" y="118"/>
                </a:cubicBezTo>
                <a:lnTo>
                  <a:pt x="190" y="248"/>
                </a:lnTo>
                <a:cubicBezTo>
                  <a:pt x="190" y="278"/>
                  <a:pt x="214" y="302"/>
                  <a:pt x="244" y="302"/>
                </a:cubicBezTo>
                <a:close/>
                <a:moveTo>
                  <a:pt x="245" y="0"/>
                </a:moveTo>
                <a:cubicBezTo>
                  <a:pt x="381" y="0"/>
                  <a:pt x="490" y="110"/>
                  <a:pt x="490" y="245"/>
                </a:cubicBezTo>
                <a:cubicBezTo>
                  <a:pt x="490" y="381"/>
                  <a:pt x="381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484849"/>
              </a:solidFill>
            </a:endParaRPr>
          </a:p>
        </p:txBody>
      </p:sp>
      <p:sp>
        <p:nvSpPr>
          <p:cNvPr id="13" name="Rectangle 4"/>
          <p:cNvSpPr txBox="1">
            <a:spLocks noChangeArrowheads="1"/>
          </p:cNvSpPr>
          <p:nvPr/>
        </p:nvSpPr>
        <p:spPr bwMode="auto">
          <a:xfrm>
            <a:off x="10466453" y="4703232"/>
            <a:ext cx="1899476" cy="353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sz="1700" dirty="0">
                <a:solidFill>
                  <a:schemeClr val="bg1"/>
                </a:solidFill>
              </a:rPr>
              <a:t>汇报人：代用名</a:t>
            </a:r>
          </a:p>
        </p:txBody>
      </p:sp>
      <p:sp>
        <p:nvSpPr>
          <p:cNvPr id="14" name="Freeform 10"/>
          <p:cNvSpPr>
            <a:spLocks noChangeAspect="1" noEditPoints="1"/>
          </p:cNvSpPr>
          <p:nvPr/>
        </p:nvSpPr>
        <p:spPr bwMode="auto">
          <a:xfrm>
            <a:off x="6417691" y="4693112"/>
            <a:ext cx="372836" cy="374400"/>
          </a:xfrm>
          <a:custGeom>
            <a:avLst/>
            <a:gdLst>
              <a:gd name="T0" fmla="*/ 245 w 490"/>
              <a:gd name="T1" fmla="*/ 0 h 490"/>
              <a:gd name="T2" fmla="*/ 490 w 490"/>
              <a:gd name="T3" fmla="*/ 245 h 490"/>
              <a:gd name="T4" fmla="*/ 245 w 490"/>
              <a:gd name="T5" fmla="*/ 490 h 490"/>
              <a:gd name="T6" fmla="*/ 0 w 490"/>
              <a:gd name="T7" fmla="*/ 245 h 490"/>
              <a:gd name="T8" fmla="*/ 245 w 490"/>
              <a:gd name="T9" fmla="*/ 0 h 490"/>
              <a:gd name="T10" fmla="*/ 436 w 490"/>
              <a:gd name="T11" fmla="*/ 250 h 490"/>
              <a:gd name="T12" fmla="*/ 427 w 490"/>
              <a:gd name="T13" fmla="*/ 256 h 490"/>
              <a:gd name="T14" fmla="*/ 394 w 490"/>
              <a:gd name="T15" fmla="*/ 256 h 490"/>
              <a:gd name="T16" fmla="*/ 386 w 490"/>
              <a:gd name="T17" fmla="*/ 253 h 490"/>
              <a:gd name="T18" fmla="*/ 245 w 490"/>
              <a:gd name="T19" fmla="*/ 105 h 490"/>
              <a:gd name="T20" fmla="*/ 104 w 490"/>
              <a:gd name="T21" fmla="*/ 253 h 490"/>
              <a:gd name="T22" fmla="*/ 96 w 490"/>
              <a:gd name="T23" fmla="*/ 256 h 490"/>
              <a:gd name="T24" fmla="*/ 63 w 490"/>
              <a:gd name="T25" fmla="*/ 256 h 490"/>
              <a:gd name="T26" fmla="*/ 54 w 490"/>
              <a:gd name="T27" fmla="*/ 250 h 490"/>
              <a:gd name="T28" fmla="*/ 56 w 490"/>
              <a:gd name="T29" fmla="*/ 239 h 490"/>
              <a:gd name="T30" fmla="*/ 236 w 490"/>
              <a:gd name="T31" fmla="*/ 52 h 490"/>
              <a:gd name="T32" fmla="*/ 245 w 490"/>
              <a:gd name="T33" fmla="*/ 48 h 490"/>
              <a:gd name="T34" fmla="*/ 254 w 490"/>
              <a:gd name="T35" fmla="*/ 52 h 490"/>
              <a:gd name="T36" fmla="*/ 434 w 490"/>
              <a:gd name="T37" fmla="*/ 239 h 490"/>
              <a:gd name="T38" fmla="*/ 436 w 490"/>
              <a:gd name="T39" fmla="*/ 250 h 490"/>
              <a:gd name="T40" fmla="*/ 113 w 490"/>
              <a:gd name="T41" fmla="*/ 267 h 490"/>
              <a:gd name="T42" fmla="*/ 113 w 490"/>
              <a:gd name="T43" fmla="*/ 267 h 490"/>
              <a:gd name="T44" fmla="*/ 113 w 490"/>
              <a:gd name="T45" fmla="*/ 379 h 490"/>
              <a:gd name="T46" fmla="*/ 129 w 490"/>
              <a:gd name="T47" fmla="*/ 398 h 490"/>
              <a:gd name="T48" fmla="*/ 202 w 490"/>
              <a:gd name="T49" fmla="*/ 398 h 490"/>
              <a:gd name="T50" fmla="*/ 202 w 490"/>
              <a:gd name="T51" fmla="*/ 276 h 490"/>
              <a:gd name="T52" fmla="*/ 221 w 490"/>
              <a:gd name="T53" fmla="*/ 257 h 490"/>
              <a:gd name="T54" fmla="*/ 269 w 490"/>
              <a:gd name="T55" fmla="*/ 257 h 490"/>
              <a:gd name="T56" fmla="*/ 288 w 490"/>
              <a:gd name="T57" fmla="*/ 276 h 490"/>
              <a:gd name="T58" fmla="*/ 288 w 490"/>
              <a:gd name="T59" fmla="*/ 398 h 490"/>
              <a:gd name="T60" fmla="*/ 361 w 490"/>
              <a:gd name="T61" fmla="*/ 398 h 490"/>
              <a:gd name="T62" fmla="*/ 377 w 490"/>
              <a:gd name="T63" fmla="*/ 379 h 490"/>
              <a:gd name="T64" fmla="*/ 377 w 490"/>
              <a:gd name="T65" fmla="*/ 268 h 490"/>
              <a:gd name="T66" fmla="*/ 245 w 490"/>
              <a:gd name="T67" fmla="*/ 130 h 490"/>
              <a:gd name="T68" fmla="*/ 113 w 490"/>
              <a:gd name="T69" fmla="*/ 267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90" h="490">
                <a:moveTo>
                  <a:pt x="245" y="0"/>
                </a:moveTo>
                <a:cubicBezTo>
                  <a:pt x="380" y="0"/>
                  <a:pt x="490" y="110"/>
                  <a:pt x="490" y="245"/>
                </a:cubicBezTo>
                <a:cubicBezTo>
                  <a:pt x="490" y="381"/>
                  <a:pt x="380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  <a:moveTo>
                  <a:pt x="436" y="250"/>
                </a:moveTo>
                <a:cubicBezTo>
                  <a:pt x="435" y="254"/>
                  <a:pt x="431" y="256"/>
                  <a:pt x="427" y="256"/>
                </a:cubicBezTo>
                <a:lnTo>
                  <a:pt x="394" y="256"/>
                </a:lnTo>
                <a:cubicBezTo>
                  <a:pt x="391" y="256"/>
                  <a:pt x="388" y="255"/>
                  <a:pt x="386" y="253"/>
                </a:cubicBezTo>
                <a:lnTo>
                  <a:pt x="245" y="105"/>
                </a:lnTo>
                <a:lnTo>
                  <a:pt x="104" y="253"/>
                </a:lnTo>
                <a:cubicBezTo>
                  <a:pt x="102" y="255"/>
                  <a:pt x="99" y="256"/>
                  <a:pt x="96" y="256"/>
                </a:cubicBezTo>
                <a:lnTo>
                  <a:pt x="63" y="256"/>
                </a:lnTo>
                <a:cubicBezTo>
                  <a:pt x="59" y="256"/>
                  <a:pt x="55" y="254"/>
                  <a:pt x="54" y="250"/>
                </a:cubicBezTo>
                <a:cubicBezTo>
                  <a:pt x="52" y="246"/>
                  <a:pt x="53" y="242"/>
                  <a:pt x="56" y="239"/>
                </a:cubicBezTo>
                <a:lnTo>
                  <a:pt x="236" y="52"/>
                </a:lnTo>
                <a:cubicBezTo>
                  <a:pt x="238" y="49"/>
                  <a:pt x="242" y="48"/>
                  <a:pt x="245" y="48"/>
                </a:cubicBezTo>
                <a:cubicBezTo>
                  <a:pt x="248" y="48"/>
                  <a:pt x="252" y="49"/>
                  <a:pt x="254" y="52"/>
                </a:cubicBezTo>
                <a:lnTo>
                  <a:pt x="434" y="239"/>
                </a:lnTo>
                <a:cubicBezTo>
                  <a:pt x="437" y="242"/>
                  <a:pt x="438" y="246"/>
                  <a:pt x="436" y="250"/>
                </a:cubicBezTo>
                <a:close/>
                <a:moveTo>
                  <a:pt x="113" y="267"/>
                </a:moveTo>
                <a:lnTo>
                  <a:pt x="113" y="267"/>
                </a:lnTo>
                <a:lnTo>
                  <a:pt x="113" y="379"/>
                </a:lnTo>
                <a:cubicBezTo>
                  <a:pt x="113" y="389"/>
                  <a:pt x="120" y="398"/>
                  <a:pt x="129" y="398"/>
                </a:cubicBezTo>
                <a:lnTo>
                  <a:pt x="202" y="398"/>
                </a:lnTo>
                <a:lnTo>
                  <a:pt x="202" y="276"/>
                </a:lnTo>
                <a:cubicBezTo>
                  <a:pt x="202" y="266"/>
                  <a:pt x="211" y="257"/>
                  <a:pt x="221" y="257"/>
                </a:cubicBezTo>
                <a:lnTo>
                  <a:pt x="269" y="257"/>
                </a:lnTo>
                <a:cubicBezTo>
                  <a:pt x="279" y="257"/>
                  <a:pt x="288" y="266"/>
                  <a:pt x="288" y="276"/>
                </a:cubicBezTo>
                <a:lnTo>
                  <a:pt x="288" y="398"/>
                </a:lnTo>
                <a:lnTo>
                  <a:pt x="361" y="398"/>
                </a:lnTo>
                <a:cubicBezTo>
                  <a:pt x="370" y="398"/>
                  <a:pt x="377" y="389"/>
                  <a:pt x="377" y="379"/>
                </a:cubicBezTo>
                <a:lnTo>
                  <a:pt x="377" y="268"/>
                </a:lnTo>
                <a:lnTo>
                  <a:pt x="245" y="130"/>
                </a:lnTo>
                <a:lnTo>
                  <a:pt x="113" y="2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62818" y="198604"/>
            <a:ext cx="473877" cy="484825"/>
            <a:chOff x="702608" y="-1899592"/>
            <a:chExt cx="1054013" cy="1078364"/>
          </a:xfrm>
        </p:grpSpPr>
        <p:sp>
          <p:nvSpPr>
            <p:cNvPr id="16" name="Oval 5"/>
            <p:cNvSpPr>
              <a:spLocks noChangeArrowheads="1"/>
            </p:cNvSpPr>
            <p:nvPr/>
          </p:nvSpPr>
          <p:spPr bwMode="auto">
            <a:xfrm>
              <a:off x="702608" y="-1899592"/>
              <a:ext cx="1054013" cy="107836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904366" y="-1555211"/>
              <a:ext cx="650496" cy="445260"/>
            </a:xfrm>
            <a:custGeom>
              <a:avLst/>
              <a:gdLst>
                <a:gd name="T0" fmla="*/ 380 w 394"/>
                <a:gd name="T1" fmla="*/ 19 h 263"/>
                <a:gd name="T2" fmla="*/ 380 w 394"/>
                <a:gd name="T3" fmla="*/ 216 h 263"/>
                <a:gd name="T4" fmla="*/ 374 w 394"/>
                <a:gd name="T5" fmla="*/ 216 h 263"/>
                <a:gd name="T6" fmla="*/ 362 w 394"/>
                <a:gd name="T7" fmla="*/ 215 h 263"/>
                <a:gd name="T8" fmla="*/ 199 w 394"/>
                <a:gd name="T9" fmla="*/ 256 h 263"/>
                <a:gd name="T10" fmla="*/ 197 w 394"/>
                <a:gd name="T11" fmla="*/ 257 h 263"/>
                <a:gd name="T12" fmla="*/ 195 w 394"/>
                <a:gd name="T13" fmla="*/ 256 h 263"/>
                <a:gd name="T14" fmla="*/ 33 w 394"/>
                <a:gd name="T15" fmla="*/ 215 h 263"/>
                <a:gd name="T16" fmla="*/ 20 w 394"/>
                <a:gd name="T17" fmla="*/ 216 h 263"/>
                <a:gd name="T18" fmla="*/ 14 w 394"/>
                <a:gd name="T19" fmla="*/ 216 h 263"/>
                <a:gd name="T20" fmla="*/ 14 w 394"/>
                <a:gd name="T21" fmla="*/ 19 h 263"/>
                <a:gd name="T22" fmla="*/ 0 w 394"/>
                <a:gd name="T23" fmla="*/ 19 h 263"/>
                <a:gd name="T24" fmla="*/ 0 w 394"/>
                <a:gd name="T25" fmla="*/ 223 h 263"/>
                <a:gd name="T26" fmla="*/ 197 w 394"/>
                <a:gd name="T27" fmla="*/ 263 h 263"/>
                <a:gd name="T28" fmla="*/ 394 w 394"/>
                <a:gd name="T29" fmla="*/ 223 h 263"/>
                <a:gd name="T30" fmla="*/ 394 w 394"/>
                <a:gd name="T31" fmla="*/ 19 h 263"/>
                <a:gd name="T32" fmla="*/ 380 w 394"/>
                <a:gd name="T33" fmla="*/ 19 h 263"/>
                <a:gd name="T34" fmla="*/ 191 w 394"/>
                <a:gd name="T35" fmla="*/ 223 h 263"/>
                <a:gd name="T36" fmla="*/ 191 w 394"/>
                <a:gd name="T37" fmla="*/ 44 h 263"/>
                <a:gd name="T38" fmla="*/ 54 w 394"/>
                <a:gd name="T39" fmla="*/ 2 h 263"/>
                <a:gd name="T40" fmla="*/ 54 w 394"/>
                <a:gd name="T41" fmla="*/ 188 h 263"/>
                <a:gd name="T42" fmla="*/ 59 w 394"/>
                <a:gd name="T43" fmla="*/ 188 h 263"/>
                <a:gd name="T44" fmla="*/ 191 w 394"/>
                <a:gd name="T45" fmla="*/ 223 h 263"/>
                <a:gd name="T46" fmla="*/ 340 w 394"/>
                <a:gd name="T47" fmla="*/ 188 h 263"/>
                <a:gd name="T48" fmla="*/ 340 w 394"/>
                <a:gd name="T49" fmla="*/ 2 h 263"/>
                <a:gd name="T50" fmla="*/ 204 w 394"/>
                <a:gd name="T51" fmla="*/ 44 h 263"/>
                <a:gd name="T52" fmla="*/ 204 w 394"/>
                <a:gd name="T53" fmla="*/ 223 h 263"/>
                <a:gd name="T54" fmla="*/ 335 w 394"/>
                <a:gd name="T55" fmla="*/ 188 h 263"/>
                <a:gd name="T56" fmla="*/ 340 w 394"/>
                <a:gd name="T57" fmla="*/ 188 h 263"/>
                <a:gd name="T58" fmla="*/ 197 w 394"/>
                <a:gd name="T59" fmla="*/ 252 h 263"/>
                <a:gd name="T60" fmla="*/ 371 w 394"/>
                <a:gd name="T61" fmla="*/ 211 h 263"/>
                <a:gd name="T62" fmla="*/ 371 w 394"/>
                <a:gd name="T63" fmla="*/ 4 h 263"/>
                <a:gd name="T64" fmla="*/ 350 w 394"/>
                <a:gd name="T65" fmla="*/ 4 h 263"/>
                <a:gd name="T66" fmla="*/ 350 w 394"/>
                <a:gd name="T67" fmla="*/ 198 h 263"/>
                <a:gd name="T68" fmla="*/ 344 w 394"/>
                <a:gd name="T69" fmla="*/ 197 h 263"/>
                <a:gd name="T70" fmla="*/ 334 w 394"/>
                <a:gd name="T71" fmla="*/ 197 h 263"/>
                <a:gd name="T72" fmla="*/ 201 w 394"/>
                <a:gd name="T73" fmla="*/ 235 h 263"/>
                <a:gd name="T74" fmla="*/ 197 w 394"/>
                <a:gd name="T75" fmla="*/ 237 h 263"/>
                <a:gd name="T76" fmla="*/ 194 w 394"/>
                <a:gd name="T77" fmla="*/ 235 h 263"/>
                <a:gd name="T78" fmla="*/ 60 w 394"/>
                <a:gd name="T79" fmla="*/ 197 h 263"/>
                <a:gd name="T80" fmla="*/ 50 w 394"/>
                <a:gd name="T81" fmla="*/ 197 h 263"/>
                <a:gd name="T82" fmla="*/ 45 w 394"/>
                <a:gd name="T83" fmla="*/ 198 h 263"/>
                <a:gd name="T84" fmla="*/ 45 w 394"/>
                <a:gd name="T85" fmla="*/ 4 h 263"/>
                <a:gd name="T86" fmla="*/ 24 w 394"/>
                <a:gd name="T87" fmla="*/ 4 h 263"/>
                <a:gd name="T88" fmla="*/ 24 w 394"/>
                <a:gd name="T89" fmla="*/ 211 h 263"/>
                <a:gd name="T90" fmla="*/ 197 w 394"/>
                <a:gd name="T91" fmla="*/ 252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94" h="263">
                  <a:moveTo>
                    <a:pt x="380" y="19"/>
                  </a:moveTo>
                  <a:lnTo>
                    <a:pt x="380" y="216"/>
                  </a:lnTo>
                  <a:lnTo>
                    <a:pt x="374" y="216"/>
                  </a:lnTo>
                  <a:cubicBezTo>
                    <a:pt x="370" y="215"/>
                    <a:pt x="366" y="215"/>
                    <a:pt x="362" y="215"/>
                  </a:cubicBezTo>
                  <a:cubicBezTo>
                    <a:pt x="307" y="215"/>
                    <a:pt x="250" y="230"/>
                    <a:pt x="199" y="256"/>
                  </a:cubicBezTo>
                  <a:lnTo>
                    <a:pt x="197" y="257"/>
                  </a:lnTo>
                  <a:lnTo>
                    <a:pt x="195" y="256"/>
                  </a:lnTo>
                  <a:cubicBezTo>
                    <a:pt x="145" y="230"/>
                    <a:pt x="87" y="215"/>
                    <a:pt x="33" y="215"/>
                  </a:cubicBezTo>
                  <a:cubicBezTo>
                    <a:pt x="28" y="215"/>
                    <a:pt x="24" y="215"/>
                    <a:pt x="20" y="216"/>
                  </a:cubicBezTo>
                  <a:lnTo>
                    <a:pt x="14" y="216"/>
                  </a:lnTo>
                  <a:lnTo>
                    <a:pt x="14" y="19"/>
                  </a:lnTo>
                  <a:cubicBezTo>
                    <a:pt x="10" y="19"/>
                    <a:pt x="5" y="19"/>
                    <a:pt x="0" y="19"/>
                  </a:cubicBezTo>
                  <a:lnTo>
                    <a:pt x="0" y="223"/>
                  </a:lnTo>
                  <a:cubicBezTo>
                    <a:pt x="66" y="222"/>
                    <a:pt x="136" y="236"/>
                    <a:pt x="197" y="263"/>
                  </a:cubicBezTo>
                  <a:cubicBezTo>
                    <a:pt x="259" y="236"/>
                    <a:pt x="328" y="222"/>
                    <a:pt x="394" y="223"/>
                  </a:cubicBezTo>
                  <a:lnTo>
                    <a:pt x="394" y="19"/>
                  </a:lnTo>
                  <a:cubicBezTo>
                    <a:pt x="389" y="19"/>
                    <a:pt x="385" y="19"/>
                    <a:pt x="380" y="19"/>
                  </a:cubicBezTo>
                  <a:close/>
                  <a:moveTo>
                    <a:pt x="191" y="223"/>
                  </a:moveTo>
                  <a:lnTo>
                    <a:pt x="191" y="44"/>
                  </a:lnTo>
                  <a:cubicBezTo>
                    <a:pt x="148" y="16"/>
                    <a:pt x="100" y="0"/>
                    <a:pt x="54" y="2"/>
                  </a:cubicBezTo>
                  <a:lnTo>
                    <a:pt x="54" y="188"/>
                  </a:lnTo>
                  <a:cubicBezTo>
                    <a:pt x="56" y="188"/>
                    <a:pt x="58" y="188"/>
                    <a:pt x="59" y="188"/>
                  </a:cubicBezTo>
                  <a:cubicBezTo>
                    <a:pt x="103" y="188"/>
                    <a:pt x="150" y="200"/>
                    <a:pt x="191" y="223"/>
                  </a:cubicBezTo>
                  <a:close/>
                  <a:moveTo>
                    <a:pt x="340" y="188"/>
                  </a:moveTo>
                  <a:lnTo>
                    <a:pt x="340" y="2"/>
                  </a:lnTo>
                  <a:cubicBezTo>
                    <a:pt x="295" y="0"/>
                    <a:pt x="246" y="16"/>
                    <a:pt x="204" y="44"/>
                  </a:cubicBezTo>
                  <a:lnTo>
                    <a:pt x="204" y="223"/>
                  </a:lnTo>
                  <a:cubicBezTo>
                    <a:pt x="245" y="200"/>
                    <a:pt x="291" y="188"/>
                    <a:pt x="335" y="188"/>
                  </a:cubicBezTo>
                  <a:cubicBezTo>
                    <a:pt x="337" y="188"/>
                    <a:pt x="339" y="188"/>
                    <a:pt x="340" y="188"/>
                  </a:cubicBezTo>
                  <a:close/>
                  <a:moveTo>
                    <a:pt x="197" y="252"/>
                  </a:moveTo>
                  <a:cubicBezTo>
                    <a:pt x="253" y="222"/>
                    <a:pt x="315" y="209"/>
                    <a:pt x="371" y="211"/>
                  </a:cubicBezTo>
                  <a:lnTo>
                    <a:pt x="371" y="4"/>
                  </a:lnTo>
                  <a:cubicBezTo>
                    <a:pt x="364" y="4"/>
                    <a:pt x="357" y="4"/>
                    <a:pt x="350" y="4"/>
                  </a:cubicBezTo>
                  <a:lnTo>
                    <a:pt x="350" y="198"/>
                  </a:lnTo>
                  <a:lnTo>
                    <a:pt x="344" y="197"/>
                  </a:lnTo>
                  <a:cubicBezTo>
                    <a:pt x="341" y="197"/>
                    <a:pt x="337" y="197"/>
                    <a:pt x="334" y="197"/>
                  </a:cubicBezTo>
                  <a:cubicBezTo>
                    <a:pt x="289" y="197"/>
                    <a:pt x="242" y="211"/>
                    <a:pt x="201" y="235"/>
                  </a:cubicBezTo>
                  <a:lnTo>
                    <a:pt x="197" y="237"/>
                  </a:lnTo>
                  <a:lnTo>
                    <a:pt x="194" y="235"/>
                  </a:lnTo>
                  <a:cubicBezTo>
                    <a:pt x="153" y="211"/>
                    <a:pt x="105" y="197"/>
                    <a:pt x="60" y="197"/>
                  </a:cubicBezTo>
                  <a:cubicBezTo>
                    <a:pt x="57" y="197"/>
                    <a:pt x="54" y="197"/>
                    <a:pt x="50" y="197"/>
                  </a:cubicBezTo>
                  <a:lnTo>
                    <a:pt x="45" y="198"/>
                  </a:lnTo>
                  <a:lnTo>
                    <a:pt x="45" y="4"/>
                  </a:lnTo>
                  <a:cubicBezTo>
                    <a:pt x="38" y="4"/>
                    <a:pt x="31" y="4"/>
                    <a:pt x="24" y="4"/>
                  </a:cubicBezTo>
                  <a:lnTo>
                    <a:pt x="24" y="211"/>
                  </a:lnTo>
                  <a:cubicBezTo>
                    <a:pt x="79" y="209"/>
                    <a:pt x="142" y="222"/>
                    <a:pt x="197" y="2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868029" y="198604"/>
            <a:ext cx="472312" cy="484825"/>
            <a:chOff x="2014036" y="-1899592"/>
            <a:chExt cx="1050534" cy="1078364"/>
          </a:xfrm>
        </p:grpSpPr>
        <p:sp>
          <p:nvSpPr>
            <p:cNvPr id="19" name="Oval 6"/>
            <p:cNvSpPr>
              <a:spLocks noChangeArrowheads="1"/>
            </p:cNvSpPr>
            <p:nvPr/>
          </p:nvSpPr>
          <p:spPr bwMode="auto">
            <a:xfrm>
              <a:off x="2014036" y="-1899592"/>
              <a:ext cx="1050534" cy="1078364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auto">
            <a:xfrm>
              <a:off x="2313195" y="-1670005"/>
              <a:ext cx="553096" cy="640061"/>
            </a:xfrm>
            <a:custGeom>
              <a:avLst/>
              <a:gdLst>
                <a:gd name="T0" fmla="*/ 214 w 336"/>
                <a:gd name="T1" fmla="*/ 48 h 380"/>
                <a:gd name="T2" fmla="*/ 167 w 336"/>
                <a:gd name="T3" fmla="*/ 95 h 380"/>
                <a:gd name="T4" fmla="*/ 119 w 336"/>
                <a:gd name="T5" fmla="*/ 95 h 380"/>
                <a:gd name="T6" fmla="*/ 72 w 336"/>
                <a:gd name="T7" fmla="*/ 48 h 380"/>
                <a:gd name="T8" fmla="*/ 119 w 336"/>
                <a:gd name="T9" fmla="*/ 0 h 380"/>
                <a:gd name="T10" fmla="*/ 167 w 336"/>
                <a:gd name="T11" fmla="*/ 0 h 380"/>
                <a:gd name="T12" fmla="*/ 214 w 336"/>
                <a:gd name="T13" fmla="*/ 48 h 380"/>
                <a:gd name="T14" fmla="*/ 237 w 336"/>
                <a:gd name="T15" fmla="*/ 48 h 380"/>
                <a:gd name="T16" fmla="*/ 238 w 336"/>
                <a:gd name="T17" fmla="*/ 59 h 380"/>
                <a:gd name="T18" fmla="*/ 179 w 336"/>
                <a:gd name="T19" fmla="*/ 118 h 380"/>
                <a:gd name="T20" fmla="*/ 107 w 336"/>
                <a:gd name="T21" fmla="*/ 118 h 380"/>
                <a:gd name="T22" fmla="*/ 48 w 336"/>
                <a:gd name="T23" fmla="*/ 59 h 380"/>
                <a:gd name="T24" fmla="*/ 49 w 336"/>
                <a:gd name="T25" fmla="*/ 48 h 380"/>
                <a:gd name="T26" fmla="*/ 0 w 336"/>
                <a:gd name="T27" fmla="*/ 106 h 380"/>
                <a:gd name="T28" fmla="*/ 0 w 336"/>
                <a:gd name="T29" fmla="*/ 320 h 380"/>
                <a:gd name="T30" fmla="*/ 60 w 336"/>
                <a:gd name="T31" fmla="*/ 380 h 380"/>
                <a:gd name="T32" fmla="*/ 218 w 336"/>
                <a:gd name="T33" fmla="*/ 380 h 380"/>
                <a:gd name="T34" fmla="*/ 153 w 336"/>
                <a:gd name="T35" fmla="*/ 282 h 380"/>
                <a:gd name="T36" fmla="*/ 260 w 336"/>
                <a:gd name="T37" fmla="*/ 176 h 380"/>
                <a:gd name="T38" fmla="*/ 286 w 336"/>
                <a:gd name="T39" fmla="*/ 179 h 380"/>
                <a:gd name="T40" fmla="*/ 286 w 336"/>
                <a:gd name="T41" fmla="*/ 106 h 380"/>
                <a:gd name="T42" fmla="*/ 237 w 336"/>
                <a:gd name="T43" fmla="*/ 48 h 380"/>
                <a:gd name="T44" fmla="*/ 134 w 336"/>
                <a:gd name="T45" fmla="*/ 238 h 380"/>
                <a:gd name="T46" fmla="*/ 134 w 336"/>
                <a:gd name="T47" fmla="*/ 238 h 380"/>
                <a:gd name="T48" fmla="*/ 60 w 336"/>
                <a:gd name="T49" fmla="*/ 238 h 380"/>
                <a:gd name="T50" fmla="*/ 48 w 336"/>
                <a:gd name="T51" fmla="*/ 226 h 380"/>
                <a:gd name="T52" fmla="*/ 60 w 336"/>
                <a:gd name="T53" fmla="*/ 214 h 380"/>
                <a:gd name="T54" fmla="*/ 134 w 336"/>
                <a:gd name="T55" fmla="*/ 214 h 380"/>
                <a:gd name="T56" fmla="*/ 146 w 336"/>
                <a:gd name="T57" fmla="*/ 226 h 380"/>
                <a:gd name="T58" fmla="*/ 134 w 336"/>
                <a:gd name="T59" fmla="*/ 238 h 380"/>
                <a:gd name="T60" fmla="*/ 158 w 336"/>
                <a:gd name="T61" fmla="*/ 190 h 380"/>
                <a:gd name="T62" fmla="*/ 158 w 336"/>
                <a:gd name="T63" fmla="*/ 190 h 380"/>
                <a:gd name="T64" fmla="*/ 60 w 336"/>
                <a:gd name="T65" fmla="*/ 190 h 380"/>
                <a:gd name="T66" fmla="*/ 48 w 336"/>
                <a:gd name="T67" fmla="*/ 178 h 380"/>
                <a:gd name="T68" fmla="*/ 60 w 336"/>
                <a:gd name="T69" fmla="*/ 167 h 380"/>
                <a:gd name="T70" fmla="*/ 158 w 336"/>
                <a:gd name="T71" fmla="*/ 167 h 380"/>
                <a:gd name="T72" fmla="*/ 170 w 336"/>
                <a:gd name="T73" fmla="*/ 178 h 380"/>
                <a:gd name="T74" fmla="*/ 158 w 336"/>
                <a:gd name="T75" fmla="*/ 190 h 380"/>
                <a:gd name="T76" fmla="*/ 279 w 336"/>
                <a:gd name="T77" fmla="*/ 208 h 380"/>
                <a:gd name="T78" fmla="*/ 260 w 336"/>
                <a:gd name="T79" fmla="*/ 206 h 380"/>
                <a:gd name="T80" fmla="*/ 184 w 336"/>
                <a:gd name="T81" fmla="*/ 281 h 380"/>
                <a:gd name="T82" fmla="*/ 244 w 336"/>
                <a:gd name="T83" fmla="*/ 356 h 380"/>
                <a:gd name="T84" fmla="*/ 260 w 336"/>
                <a:gd name="T85" fmla="*/ 357 h 380"/>
                <a:gd name="T86" fmla="*/ 336 w 336"/>
                <a:gd name="T87" fmla="*/ 281 h 380"/>
                <a:gd name="T88" fmla="*/ 279 w 336"/>
                <a:gd name="T89" fmla="*/ 208 h 380"/>
                <a:gd name="T90" fmla="*/ 303 w 336"/>
                <a:gd name="T91" fmla="*/ 271 h 380"/>
                <a:gd name="T92" fmla="*/ 303 w 336"/>
                <a:gd name="T93" fmla="*/ 271 h 380"/>
                <a:gd name="T94" fmla="*/ 279 w 336"/>
                <a:gd name="T95" fmla="*/ 295 h 380"/>
                <a:gd name="T96" fmla="*/ 260 w 336"/>
                <a:gd name="T97" fmla="*/ 314 h 380"/>
                <a:gd name="T98" fmla="*/ 239 w 336"/>
                <a:gd name="T99" fmla="*/ 314 h 380"/>
                <a:gd name="T100" fmla="*/ 217 w 336"/>
                <a:gd name="T101" fmla="*/ 292 h 380"/>
                <a:gd name="T102" fmla="*/ 217 w 336"/>
                <a:gd name="T103" fmla="*/ 271 h 380"/>
                <a:gd name="T104" fmla="*/ 239 w 336"/>
                <a:gd name="T105" fmla="*/ 271 h 380"/>
                <a:gd name="T106" fmla="*/ 250 w 336"/>
                <a:gd name="T107" fmla="*/ 281 h 380"/>
                <a:gd name="T108" fmla="*/ 279 w 336"/>
                <a:gd name="T109" fmla="*/ 252 h 380"/>
                <a:gd name="T110" fmla="*/ 282 w 336"/>
                <a:gd name="T111" fmla="*/ 249 h 380"/>
                <a:gd name="T112" fmla="*/ 303 w 336"/>
                <a:gd name="T113" fmla="*/ 249 h 380"/>
                <a:gd name="T114" fmla="*/ 303 w 336"/>
                <a:gd name="T115" fmla="*/ 271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36" h="380">
                  <a:moveTo>
                    <a:pt x="214" y="48"/>
                  </a:moveTo>
                  <a:cubicBezTo>
                    <a:pt x="214" y="74"/>
                    <a:pt x="193" y="95"/>
                    <a:pt x="167" y="95"/>
                  </a:cubicBezTo>
                  <a:lnTo>
                    <a:pt x="119" y="95"/>
                  </a:lnTo>
                  <a:cubicBezTo>
                    <a:pt x="93" y="95"/>
                    <a:pt x="72" y="74"/>
                    <a:pt x="72" y="48"/>
                  </a:cubicBezTo>
                  <a:cubicBezTo>
                    <a:pt x="72" y="21"/>
                    <a:pt x="93" y="0"/>
                    <a:pt x="119" y="0"/>
                  </a:cubicBezTo>
                  <a:lnTo>
                    <a:pt x="167" y="0"/>
                  </a:lnTo>
                  <a:cubicBezTo>
                    <a:pt x="193" y="0"/>
                    <a:pt x="214" y="21"/>
                    <a:pt x="214" y="48"/>
                  </a:cubicBezTo>
                  <a:close/>
                  <a:moveTo>
                    <a:pt x="237" y="48"/>
                  </a:moveTo>
                  <a:cubicBezTo>
                    <a:pt x="238" y="51"/>
                    <a:pt x="238" y="55"/>
                    <a:pt x="238" y="59"/>
                  </a:cubicBezTo>
                  <a:cubicBezTo>
                    <a:pt x="238" y="91"/>
                    <a:pt x="211" y="118"/>
                    <a:pt x="179" y="118"/>
                  </a:cubicBezTo>
                  <a:lnTo>
                    <a:pt x="107" y="118"/>
                  </a:lnTo>
                  <a:cubicBezTo>
                    <a:pt x="74" y="118"/>
                    <a:pt x="48" y="91"/>
                    <a:pt x="48" y="59"/>
                  </a:cubicBezTo>
                  <a:cubicBezTo>
                    <a:pt x="48" y="55"/>
                    <a:pt x="48" y="51"/>
                    <a:pt x="49" y="48"/>
                  </a:cubicBezTo>
                  <a:cubicBezTo>
                    <a:pt x="21" y="53"/>
                    <a:pt x="0" y="77"/>
                    <a:pt x="0" y="106"/>
                  </a:cubicBezTo>
                  <a:lnTo>
                    <a:pt x="0" y="320"/>
                  </a:lnTo>
                  <a:cubicBezTo>
                    <a:pt x="0" y="353"/>
                    <a:pt x="27" y="380"/>
                    <a:pt x="60" y="380"/>
                  </a:cubicBezTo>
                  <a:lnTo>
                    <a:pt x="218" y="380"/>
                  </a:lnTo>
                  <a:cubicBezTo>
                    <a:pt x="180" y="363"/>
                    <a:pt x="153" y="326"/>
                    <a:pt x="153" y="282"/>
                  </a:cubicBezTo>
                  <a:cubicBezTo>
                    <a:pt x="153" y="223"/>
                    <a:pt x="201" y="176"/>
                    <a:pt x="260" y="176"/>
                  </a:cubicBezTo>
                  <a:cubicBezTo>
                    <a:pt x="269" y="176"/>
                    <a:pt x="277" y="177"/>
                    <a:pt x="286" y="179"/>
                  </a:cubicBezTo>
                  <a:lnTo>
                    <a:pt x="286" y="106"/>
                  </a:lnTo>
                  <a:cubicBezTo>
                    <a:pt x="286" y="77"/>
                    <a:pt x="265" y="53"/>
                    <a:pt x="237" y="48"/>
                  </a:cubicBezTo>
                  <a:close/>
                  <a:moveTo>
                    <a:pt x="134" y="238"/>
                  </a:moveTo>
                  <a:lnTo>
                    <a:pt x="134" y="238"/>
                  </a:lnTo>
                  <a:lnTo>
                    <a:pt x="60" y="238"/>
                  </a:lnTo>
                  <a:cubicBezTo>
                    <a:pt x="53" y="238"/>
                    <a:pt x="48" y="233"/>
                    <a:pt x="48" y="226"/>
                  </a:cubicBezTo>
                  <a:cubicBezTo>
                    <a:pt x="48" y="219"/>
                    <a:pt x="53" y="214"/>
                    <a:pt x="60" y="214"/>
                  </a:cubicBezTo>
                  <a:lnTo>
                    <a:pt x="134" y="214"/>
                  </a:lnTo>
                  <a:cubicBezTo>
                    <a:pt x="141" y="214"/>
                    <a:pt x="146" y="219"/>
                    <a:pt x="146" y="226"/>
                  </a:cubicBezTo>
                  <a:cubicBezTo>
                    <a:pt x="146" y="233"/>
                    <a:pt x="141" y="238"/>
                    <a:pt x="134" y="238"/>
                  </a:cubicBezTo>
                  <a:close/>
                  <a:moveTo>
                    <a:pt x="158" y="190"/>
                  </a:moveTo>
                  <a:lnTo>
                    <a:pt x="158" y="190"/>
                  </a:lnTo>
                  <a:lnTo>
                    <a:pt x="60" y="190"/>
                  </a:lnTo>
                  <a:cubicBezTo>
                    <a:pt x="53" y="190"/>
                    <a:pt x="48" y="185"/>
                    <a:pt x="48" y="178"/>
                  </a:cubicBezTo>
                  <a:cubicBezTo>
                    <a:pt x="48" y="172"/>
                    <a:pt x="53" y="167"/>
                    <a:pt x="60" y="167"/>
                  </a:cubicBezTo>
                  <a:lnTo>
                    <a:pt x="158" y="167"/>
                  </a:lnTo>
                  <a:cubicBezTo>
                    <a:pt x="164" y="167"/>
                    <a:pt x="170" y="172"/>
                    <a:pt x="170" y="178"/>
                  </a:cubicBezTo>
                  <a:cubicBezTo>
                    <a:pt x="170" y="185"/>
                    <a:pt x="164" y="190"/>
                    <a:pt x="158" y="190"/>
                  </a:cubicBezTo>
                  <a:close/>
                  <a:moveTo>
                    <a:pt x="279" y="208"/>
                  </a:moveTo>
                  <a:cubicBezTo>
                    <a:pt x="273" y="207"/>
                    <a:pt x="267" y="206"/>
                    <a:pt x="260" y="206"/>
                  </a:cubicBezTo>
                  <a:cubicBezTo>
                    <a:pt x="218" y="206"/>
                    <a:pt x="184" y="240"/>
                    <a:pt x="184" y="281"/>
                  </a:cubicBezTo>
                  <a:cubicBezTo>
                    <a:pt x="184" y="318"/>
                    <a:pt x="210" y="348"/>
                    <a:pt x="244" y="356"/>
                  </a:cubicBezTo>
                  <a:cubicBezTo>
                    <a:pt x="249" y="357"/>
                    <a:pt x="255" y="357"/>
                    <a:pt x="260" y="357"/>
                  </a:cubicBezTo>
                  <a:cubicBezTo>
                    <a:pt x="302" y="357"/>
                    <a:pt x="336" y="323"/>
                    <a:pt x="336" y="281"/>
                  </a:cubicBezTo>
                  <a:cubicBezTo>
                    <a:pt x="336" y="246"/>
                    <a:pt x="312" y="216"/>
                    <a:pt x="279" y="208"/>
                  </a:cubicBezTo>
                  <a:close/>
                  <a:moveTo>
                    <a:pt x="303" y="271"/>
                  </a:moveTo>
                  <a:lnTo>
                    <a:pt x="303" y="271"/>
                  </a:lnTo>
                  <a:lnTo>
                    <a:pt x="279" y="295"/>
                  </a:lnTo>
                  <a:lnTo>
                    <a:pt x="260" y="314"/>
                  </a:lnTo>
                  <a:cubicBezTo>
                    <a:pt x="254" y="320"/>
                    <a:pt x="245" y="320"/>
                    <a:pt x="239" y="314"/>
                  </a:cubicBezTo>
                  <a:lnTo>
                    <a:pt x="217" y="292"/>
                  </a:lnTo>
                  <a:cubicBezTo>
                    <a:pt x="211" y="286"/>
                    <a:pt x="211" y="277"/>
                    <a:pt x="217" y="271"/>
                  </a:cubicBezTo>
                  <a:cubicBezTo>
                    <a:pt x="223" y="265"/>
                    <a:pt x="233" y="265"/>
                    <a:pt x="239" y="271"/>
                  </a:cubicBezTo>
                  <a:lnTo>
                    <a:pt x="250" y="281"/>
                  </a:lnTo>
                  <a:lnTo>
                    <a:pt x="279" y="252"/>
                  </a:lnTo>
                  <a:lnTo>
                    <a:pt x="282" y="249"/>
                  </a:lnTo>
                  <a:cubicBezTo>
                    <a:pt x="288" y="243"/>
                    <a:pt x="297" y="243"/>
                    <a:pt x="303" y="249"/>
                  </a:cubicBezTo>
                  <a:cubicBezTo>
                    <a:pt x="309" y="255"/>
                    <a:pt x="309" y="265"/>
                    <a:pt x="303" y="2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471677" y="198604"/>
            <a:ext cx="472312" cy="484825"/>
            <a:chOff x="3252414" y="-1899592"/>
            <a:chExt cx="1050534" cy="1078364"/>
          </a:xfrm>
        </p:grpSpPr>
        <p:sp>
          <p:nvSpPr>
            <p:cNvPr id="22" name="Oval 7"/>
            <p:cNvSpPr>
              <a:spLocks noChangeArrowheads="1"/>
            </p:cNvSpPr>
            <p:nvPr/>
          </p:nvSpPr>
          <p:spPr bwMode="auto">
            <a:xfrm>
              <a:off x="3252414" y="-1899592"/>
              <a:ext cx="1050534" cy="107836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11"/>
            <p:cNvSpPr>
              <a:spLocks noEditPoints="1"/>
            </p:cNvSpPr>
            <p:nvPr/>
          </p:nvSpPr>
          <p:spPr bwMode="auto">
            <a:xfrm>
              <a:off x="3450694" y="-1683919"/>
              <a:ext cx="594839" cy="647018"/>
            </a:xfrm>
            <a:custGeom>
              <a:avLst/>
              <a:gdLst>
                <a:gd name="T0" fmla="*/ 136 w 360"/>
                <a:gd name="T1" fmla="*/ 238 h 383"/>
                <a:gd name="T2" fmla="*/ 130 w 360"/>
                <a:gd name="T3" fmla="*/ 217 h 383"/>
                <a:gd name="T4" fmla="*/ 157 w 360"/>
                <a:gd name="T5" fmla="*/ 104 h 383"/>
                <a:gd name="T6" fmla="*/ 187 w 360"/>
                <a:gd name="T7" fmla="*/ 195 h 383"/>
                <a:gd name="T8" fmla="*/ 223 w 360"/>
                <a:gd name="T9" fmla="*/ 90 h 383"/>
                <a:gd name="T10" fmla="*/ 142 w 360"/>
                <a:gd name="T11" fmla="*/ 179 h 383"/>
                <a:gd name="T12" fmla="*/ 136 w 360"/>
                <a:gd name="T13" fmla="*/ 191 h 383"/>
                <a:gd name="T14" fmla="*/ 185 w 360"/>
                <a:gd name="T15" fmla="*/ 220 h 383"/>
                <a:gd name="T16" fmla="*/ 237 w 360"/>
                <a:gd name="T17" fmla="*/ 76 h 383"/>
                <a:gd name="T18" fmla="*/ 240 w 360"/>
                <a:gd name="T19" fmla="*/ 49 h 383"/>
                <a:gd name="T20" fmla="*/ 237 w 360"/>
                <a:gd name="T21" fmla="*/ 76 h 383"/>
                <a:gd name="T22" fmla="*/ 281 w 360"/>
                <a:gd name="T23" fmla="*/ 90 h 383"/>
                <a:gd name="T24" fmla="*/ 253 w 360"/>
                <a:gd name="T25" fmla="*/ 93 h 383"/>
                <a:gd name="T26" fmla="*/ 205 w 360"/>
                <a:gd name="T27" fmla="*/ 64 h 383"/>
                <a:gd name="T28" fmla="*/ 194 w 360"/>
                <a:gd name="T29" fmla="*/ 39 h 383"/>
                <a:gd name="T30" fmla="*/ 205 w 360"/>
                <a:gd name="T31" fmla="*/ 64 h 383"/>
                <a:gd name="T32" fmla="*/ 159 w 360"/>
                <a:gd name="T33" fmla="*/ 48 h 383"/>
                <a:gd name="T34" fmla="*/ 161 w 360"/>
                <a:gd name="T35" fmla="*/ 76 h 383"/>
                <a:gd name="T36" fmla="*/ 264 w 360"/>
                <a:gd name="T37" fmla="*/ 137 h 383"/>
                <a:gd name="T38" fmla="*/ 290 w 360"/>
                <a:gd name="T39" fmla="*/ 125 h 383"/>
                <a:gd name="T40" fmla="*/ 264 w 360"/>
                <a:gd name="T41" fmla="*/ 137 h 383"/>
                <a:gd name="T42" fmla="*/ 132 w 360"/>
                <a:gd name="T43" fmla="*/ 196 h 383"/>
                <a:gd name="T44" fmla="*/ 126 w 360"/>
                <a:gd name="T45" fmla="*/ 208 h 383"/>
                <a:gd name="T46" fmla="*/ 175 w 360"/>
                <a:gd name="T47" fmla="*/ 237 h 383"/>
                <a:gd name="T48" fmla="*/ 131 w 360"/>
                <a:gd name="T49" fmla="*/ 383 h 383"/>
                <a:gd name="T50" fmla="*/ 141 w 360"/>
                <a:gd name="T51" fmla="*/ 22 h 383"/>
                <a:gd name="T52" fmla="*/ 342 w 360"/>
                <a:gd name="T53" fmla="*/ 109 h 383"/>
                <a:gd name="T54" fmla="*/ 345 w 360"/>
                <a:gd name="T55" fmla="*/ 167 h 383"/>
                <a:gd name="T56" fmla="*/ 356 w 360"/>
                <a:gd name="T57" fmla="*/ 240 h 383"/>
                <a:gd name="T58" fmla="*/ 343 w 360"/>
                <a:gd name="T59" fmla="*/ 301 h 383"/>
                <a:gd name="T60" fmla="*/ 269 w 360"/>
                <a:gd name="T61" fmla="*/ 318 h 383"/>
                <a:gd name="T62" fmla="*/ 131 w 360"/>
                <a:gd name="T63" fmla="*/ 383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60" h="383">
                  <a:moveTo>
                    <a:pt x="130" y="217"/>
                  </a:moveTo>
                  <a:cubicBezTo>
                    <a:pt x="126" y="224"/>
                    <a:pt x="129" y="234"/>
                    <a:pt x="136" y="238"/>
                  </a:cubicBezTo>
                  <a:cubicBezTo>
                    <a:pt x="143" y="242"/>
                    <a:pt x="151" y="241"/>
                    <a:pt x="156" y="236"/>
                  </a:cubicBezTo>
                  <a:lnTo>
                    <a:pt x="130" y="217"/>
                  </a:lnTo>
                  <a:close/>
                  <a:moveTo>
                    <a:pt x="223" y="90"/>
                  </a:moveTo>
                  <a:cubicBezTo>
                    <a:pt x="199" y="76"/>
                    <a:pt x="170" y="83"/>
                    <a:pt x="157" y="104"/>
                  </a:cubicBezTo>
                  <a:cubicBezTo>
                    <a:pt x="144" y="127"/>
                    <a:pt x="161" y="151"/>
                    <a:pt x="149" y="174"/>
                  </a:cubicBezTo>
                  <a:lnTo>
                    <a:pt x="187" y="195"/>
                  </a:lnTo>
                  <a:cubicBezTo>
                    <a:pt x="201" y="174"/>
                    <a:pt x="231" y="176"/>
                    <a:pt x="243" y="154"/>
                  </a:cubicBezTo>
                  <a:cubicBezTo>
                    <a:pt x="256" y="132"/>
                    <a:pt x="247" y="104"/>
                    <a:pt x="223" y="90"/>
                  </a:cubicBezTo>
                  <a:close/>
                  <a:moveTo>
                    <a:pt x="183" y="209"/>
                  </a:moveTo>
                  <a:lnTo>
                    <a:pt x="142" y="179"/>
                  </a:lnTo>
                  <a:cubicBezTo>
                    <a:pt x="139" y="176"/>
                    <a:pt x="135" y="177"/>
                    <a:pt x="133" y="181"/>
                  </a:cubicBezTo>
                  <a:cubicBezTo>
                    <a:pt x="132" y="184"/>
                    <a:pt x="132" y="188"/>
                    <a:pt x="136" y="191"/>
                  </a:cubicBezTo>
                  <a:lnTo>
                    <a:pt x="176" y="221"/>
                  </a:lnTo>
                  <a:cubicBezTo>
                    <a:pt x="179" y="224"/>
                    <a:pt x="183" y="223"/>
                    <a:pt x="185" y="220"/>
                  </a:cubicBezTo>
                  <a:cubicBezTo>
                    <a:pt x="187" y="216"/>
                    <a:pt x="186" y="212"/>
                    <a:pt x="183" y="209"/>
                  </a:cubicBezTo>
                  <a:close/>
                  <a:moveTo>
                    <a:pt x="237" y="76"/>
                  </a:moveTo>
                  <a:lnTo>
                    <a:pt x="250" y="54"/>
                  </a:lnTo>
                  <a:lnTo>
                    <a:pt x="240" y="49"/>
                  </a:lnTo>
                  <a:lnTo>
                    <a:pt x="227" y="70"/>
                  </a:lnTo>
                  <a:lnTo>
                    <a:pt x="237" y="76"/>
                  </a:lnTo>
                  <a:close/>
                  <a:moveTo>
                    <a:pt x="259" y="103"/>
                  </a:moveTo>
                  <a:lnTo>
                    <a:pt x="281" y="90"/>
                  </a:lnTo>
                  <a:lnTo>
                    <a:pt x="275" y="80"/>
                  </a:lnTo>
                  <a:lnTo>
                    <a:pt x="253" y="93"/>
                  </a:lnTo>
                  <a:lnTo>
                    <a:pt x="259" y="103"/>
                  </a:lnTo>
                  <a:close/>
                  <a:moveTo>
                    <a:pt x="205" y="64"/>
                  </a:moveTo>
                  <a:lnTo>
                    <a:pt x="205" y="39"/>
                  </a:lnTo>
                  <a:lnTo>
                    <a:pt x="194" y="39"/>
                  </a:lnTo>
                  <a:lnTo>
                    <a:pt x="194" y="64"/>
                  </a:lnTo>
                  <a:lnTo>
                    <a:pt x="205" y="64"/>
                  </a:lnTo>
                  <a:close/>
                  <a:moveTo>
                    <a:pt x="172" y="70"/>
                  </a:moveTo>
                  <a:lnTo>
                    <a:pt x="159" y="48"/>
                  </a:lnTo>
                  <a:lnTo>
                    <a:pt x="149" y="54"/>
                  </a:lnTo>
                  <a:lnTo>
                    <a:pt x="161" y="76"/>
                  </a:lnTo>
                  <a:lnTo>
                    <a:pt x="172" y="70"/>
                  </a:lnTo>
                  <a:close/>
                  <a:moveTo>
                    <a:pt x="264" y="137"/>
                  </a:moveTo>
                  <a:lnTo>
                    <a:pt x="290" y="137"/>
                  </a:lnTo>
                  <a:lnTo>
                    <a:pt x="290" y="125"/>
                  </a:lnTo>
                  <a:lnTo>
                    <a:pt x="264" y="125"/>
                  </a:lnTo>
                  <a:lnTo>
                    <a:pt x="264" y="137"/>
                  </a:lnTo>
                  <a:close/>
                  <a:moveTo>
                    <a:pt x="173" y="227"/>
                  </a:moveTo>
                  <a:lnTo>
                    <a:pt x="132" y="196"/>
                  </a:lnTo>
                  <a:cubicBezTo>
                    <a:pt x="129" y="194"/>
                    <a:pt x="125" y="195"/>
                    <a:pt x="123" y="198"/>
                  </a:cubicBezTo>
                  <a:cubicBezTo>
                    <a:pt x="122" y="201"/>
                    <a:pt x="122" y="206"/>
                    <a:pt x="126" y="208"/>
                  </a:cubicBezTo>
                  <a:lnTo>
                    <a:pt x="166" y="239"/>
                  </a:lnTo>
                  <a:cubicBezTo>
                    <a:pt x="169" y="241"/>
                    <a:pt x="173" y="240"/>
                    <a:pt x="175" y="237"/>
                  </a:cubicBezTo>
                  <a:cubicBezTo>
                    <a:pt x="177" y="234"/>
                    <a:pt x="176" y="229"/>
                    <a:pt x="173" y="227"/>
                  </a:cubicBezTo>
                  <a:close/>
                  <a:moveTo>
                    <a:pt x="131" y="383"/>
                  </a:moveTo>
                  <a:cubicBezTo>
                    <a:pt x="136" y="353"/>
                    <a:pt x="136" y="321"/>
                    <a:pt x="127" y="293"/>
                  </a:cubicBezTo>
                  <a:cubicBezTo>
                    <a:pt x="0" y="221"/>
                    <a:pt x="34" y="56"/>
                    <a:pt x="141" y="22"/>
                  </a:cubicBezTo>
                  <a:cubicBezTo>
                    <a:pt x="197" y="0"/>
                    <a:pt x="274" y="13"/>
                    <a:pt x="323" y="63"/>
                  </a:cubicBezTo>
                  <a:cubicBezTo>
                    <a:pt x="360" y="99"/>
                    <a:pt x="342" y="109"/>
                    <a:pt x="342" y="109"/>
                  </a:cubicBezTo>
                  <a:lnTo>
                    <a:pt x="334" y="113"/>
                  </a:lnTo>
                  <a:cubicBezTo>
                    <a:pt x="339" y="131"/>
                    <a:pt x="346" y="162"/>
                    <a:pt x="345" y="167"/>
                  </a:cubicBezTo>
                  <a:cubicBezTo>
                    <a:pt x="344" y="173"/>
                    <a:pt x="337" y="179"/>
                    <a:pt x="337" y="179"/>
                  </a:cubicBezTo>
                  <a:lnTo>
                    <a:pt x="356" y="240"/>
                  </a:lnTo>
                  <a:lnTo>
                    <a:pt x="339" y="246"/>
                  </a:lnTo>
                  <a:cubicBezTo>
                    <a:pt x="343" y="266"/>
                    <a:pt x="345" y="282"/>
                    <a:pt x="343" y="301"/>
                  </a:cubicBezTo>
                  <a:cubicBezTo>
                    <a:pt x="343" y="305"/>
                    <a:pt x="332" y="314"/>
                    <a:pt x="323" y="315"/>
                  </a:cubicBezTo>
                  <a:lnTo>
                    <a:pt x="269" y="318"/>
                  </a:lnTo>
                  <a:lnTo>
                    <a:pt x="272" y="383"/>
                  </a:lnTo>
                  <a:lnTo>
                    <a:pt x="131" y="3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2075327" y="198604"/>
            <a:ext cx="473877" cy="484825"/>
            <a:chOff x="4553407" y="-1899592"/>
            <a:chExt cx="1054013" cy="1078364"/>
          </a:xfrm>
        </p:grpSpPr>
        <p:sp>
          <p:nvSpPr>
            <p:cNvPr id="25" name="Oval 8"/>
            <p:cNvSpPr>
              <a:spLocks noChangeArrowheads="1"/>
            </p:cNvSpPr>
            <p:nvPr/>
          </p:nvSpPr>
          <p:spPr bwMode="auto">
            <a:xfrm>
              <a:off x="4553407" y="-1899592"/>
              <a:ext cx="1054013" cy="107836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12"/>
            <p:cNvSpPr>
              <a:spLocks noEditPoints="1"/>
            </p:cNvSpPr>
            <p:nvPr/>
          </p:nvSpPr>
          <p:spPr bwMode="auto">
            <a:xfrm>
              <a:off x="4824737" y="-1683919"/>
              <a:ext cx="594839" cy="650497"/>
            </a:xfrm>
            <a:custGeom>
              <a:avLst/>
              <a:gdLst>
                <a:gd name="T0" fmla="*/ 108 w 360"/>
                <a:gd name="T1" fmla="*/ 59 h 384"/>
                <a:gd name="T2" fmla="*/ 236 w 360"/>
                <a:gd name="T3" fmla="*/ 43 h 384"/>
                <a:gd name="T4" fmla="*/ 190 w 360"/>
                <a:gd name="T5" fmla="*/ 26 h 384"/>
                <a:gd name="T6" fmla="*/ 138 w 360"/>
                <a:gd name="T7" fmla="*/ 26 h 384"/>
                <a:gd name="T8" fmla="*/ 92 w 360"/>
                <a:gd name="T9" fmla="*/ 43 h 384"/>
                <a:gd name="T10" fmla="*/ 296 w 360"/>
                <a:gd name="T11" fmla="*/ 332 h 384"/>
                <a:gd name="T12" fmla="*/ 301 w 360"/>
                <a:gd name="T13" fmla="*/ 321 h 384"/>
                <a:gd name="T14" fmla="*/ 280 w 360"/>
                <a:gd name="T15" fmla="*/ 249 h 384"/>
                <a:gd name="T16" fmla="*/ 267 w 360"/>
                <a:gd name="T17" fmla="*/ 249 h 384"/>
                <a:gd name="T18" fmla="*/ 267 w 360"/>
                <a:gd name="T19" fmla="*/ 304 h 384"/>
                <a:gd name="T20" fmla="*/ 268 w 360"/>
                <a:gd name="T21" fmla="*/ 306 h 384"/>
                <a:gd name="T22" fmla="*/ 268 w 360"/>
                <a:gd name="T23" fmla="*/ 307 h 384"/>
                <a:gd name="T24" fmla="*/ 269 w 360"/>
                <a:gd name="T25" fmla="*/ 308 h 384"/>
                <a:gd name="T26" fmla="*/ 343 w 360"/>
                <a:gd name="T27" fmla="*/ 253 h 384"/>
                <a:gd name="T28" fmla="*/ 274 w 360"/>
                <a:gd name="T29" fmla="*/ 217 h 384"/>
                <a:gd name="T30" fmla="*/ 258 w 360"/>
                <a:gd name="T31" fmla="*/ 382 h 384"/>
                <a:gd name="T32" fmla="*/ 356 w 360"/>
                <a:gd name="T33" fmla="*/ 316 h 384"/>
                <a:gd name="T34" fmla="*/ 343 w 360"/>
                <a:gd name="T35" fmla="*/ 313 h 384"/>
                <a:gd name="T36" fmla="*/ 274 w 360"/>
                <a:gd name="T37" fmla="*/ 371 h 384"/>
                <a:gd name="T38" fmla="*/ 205 w 360"/>
                <a:gd name="T39" fmla="*/ 287 h 384"/>
                <a:gd name="T40" fmla="*/ 287 w 360"/>
                <a:gd name="T41" fmla="*/ 231 h 384"/>
                <a:gd name="T42" fmla="*/ 343 w 360"/>
                <a:gd name="T43" fmla="*/ 313 h 384"/>
                <a:gd name="T44" fmla="*/ 121 w 360"/>
                <a:gd name="T45" fmla="*/ 313 h 384"/>
                <a:gd name="T46" fmla="*/ 206 w 360"/>
                <a:gd name="T47" fmla="*/ 228 h 384"/>
                <a:gd name="T48" fmla="*/ 224 w 360"/>
                <a:gd name="T49" fmla="*/ 215 h 384"/>
                <a:gd name="T50" fmla="*/ 311 w 360"/>
                <a:gd name="T51" fmla="*/ 130 h 384"/>
                <a:gd name="T52" fmla="*/ 314 w 360"/>
                <a:gd name="T53" fmla="*/ 210 h 384"/>
                <a:gd name="T54" fmla="*/ 328 w 360"/>
                <a:gd name="T55" fmla="*/ 215 h 384"/>
                <a:gd name="T56" fmla="*/ 328 w 360"/>
                <a:gd name="T57" fmla="*/ 88 h 384"/>
                <a:gd name="T58" fmla="*/ 17 w 360"/>
                <a:gd name="T59" fmla="*/ 71 h 384"/>
                <a:gd name="T60" fmla="*/ 0 w 360"/>
                <a:gd name="T61" fmla="*/ 134 h 384"/>
                <a:gd name="T62" fmla="*/ 0 w 360"/>
                <a:gd name="T63" fmla="*/ 228 h 384"/>
                <a:gd name="T64" fmla="*/ 0 w 360"/>
                <a:gd name="T65" fmla="*/ 319 h 384"/>
                <a:gd name="T66" fmla="*/ 181 w 360"/>
                <a:gd name="T67" fmla="*/ 336 h 384"/>
                <a:gd name="T68" fmla="*/ 14 w 360"/>
                <a:gd name="T69" fmla="*/ 134 h 384"/>
                <a:gd name="T70" fmla="*/ 17 w 360"/>
                <a:gd name="T71" fmla="*/ 130 h 384"/>
                <a:gd name="T72" fmla="*/ 107 w 360"/>
                <a:gd name="T73" fmla="*/ 215 h 384"/>
                <a:gd name="T74" fmla="*/ 14 w 360"/>
                <a:gd name="T75" fmla="*/ 134 h 384"/>
                <a:gd name="T76" fmla="*/ 107 w 360"/>
                <a:gd name="T77" fmla="*/ 228 h 384"/>
                <a:gd name="T78" fmla="*/ 17 w 360"/>
                <a:gd name="T79" fmla="*/ 313 h 384"/>
                <a:gd name="T80" fmla="*/ 14 w 360"/>
                <a:gd name="T81" fmla="*/ 228 h 384"/>
                <a:gd name="T82" fmla="*/ 121 w 360"/>
                <a:gd name="T83" fmla="*/ 215 h 384"/>
                <a:gd name="T84" fmla="*/ 121 w 360"/>
                <a:gd name="T85" fmla="*/ 130 h 384"/>
                <a:gd name="T86" fmla="*/ 210 w 360"/>
                <a:gd name="T87" fmla="*/ 215 h 384"/>
                <a:gd name="T88" fmla="*/ 217 w 360"/>
                <a:gd name="T89" fmla="*/ 88 h 384"/>
                <a:gd name="T90" fmla="*/ 229 w 360"/>
                <a:gd name="T91" fmla="*/ 100 h 384"/>
                <a:gd name="T92" fmla="*/ 205 w 360"/>
                <a:gd name="T93" fmla="*/ 100 h 384"/>
                <a:gd name="T94" fmla="*/ 114 w 360"/>
                <a:gd name="T95" fmla="*/ 88 h 384"/>
                <a:gd name="T96" fmla="*/ 126 w 360"/>
                <a:gd name="T97" fmla="*/ 100 h 384"/>
                <a:gd name="T98" fmla="*/ 103 w 360"/>
                <a:gd name="T99" fmla="*/ 100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0" h="384">
                  <a:moveTo>
                    <a:pt x="92" y="43"/>
                  </a:moveTo>
                  <a:cubicBezTo>
                    <a:pt x="92" y="52"/>
                    <a:pt x="100" y="59"/>
                    <a:pt x="108" y="59"/>
                  </a:cubicBezTo>
                  <a:lnTo>
                    <a:pt x="220" y="59"/>
                  </a:lnTo>
                  <a:cubicBezTo>
                    <a:pt x="229" y="59"/>
                    <a:pt x="236" y="52"/>
                    <a:pt x="236" y="43"/>
                  </a:cubicBezTo>
                  <a:cubicBezTo>
                    <a:pt x="236" y="34"/>
                    <a:pt x="229" y="26"/>
                    <a:pt x="220" y="26"/>
                  </a:cubicBezTo>
                  <a:lnTo>
                    <a:pt x="190" y="26"/>
                  </a:lnTo>
                  <a:cubicBezTo>
                    <a:pt x="190" y="12"/>
                    <a:pt x="179" y="0"/>
                    <a:pt x="164" y="0"/>
                  </a:cubicBezTo>
                  <a:cubicBezTo>
                    <a:pt x="150" y="0"/>
                    <a:pt x="138" y="12"/>
                    <a:pt x="138" y="26"/>
                  </a:cubicBezTo>
                  <a:lnTo>
                    <a:pt x="108" y="26"/>
                  </a:lnTo>
                  <a:cubicBezTo>
                    <a:pt x="100" y="26"/>
                    <a:pt x="92" y="34"/>
                    <a:pt x="92" y="43"/>
                  </a:cubicBezTo>
                  <a:close/>
                  <a:moveTo>
                    <a:pt x="292" y="330"/>
                  </a:moveTo>
                  <a:cubicBezTo>
                    <a:pt x="293" y="332"/>
                    <a:pt x="295" y="332"/>
                    <a:pt x="296" y="332"/>
                  </a:cubicBezTo>
                  <a:cubicBezTo>
                    <a:pt x="298" y="332"/>
                    <a:pt x="300" y="332"/>
                    <a:pt x="301" y="330"/>
                  </a:cubicBezTo>
                  <a:cubicBezTo>
                    <a:pt x="304" y="328"/>
                    <a:pt x="304" y="323"/>
                    <a:pt x="301" y="321"/>
                  </a:cubicBezTo>
                  <a:lnTo>
                    <a:pt x="280" y="300"/>
                  </a:lnTo>
                  <a:lnTo>
                    <a:pt x="280" y="249"/>
                  </a:lnTo>
                  <a:cubicBezTo>
                    <a:pt x="280" y="245"/>
                    <a:pt x="278" y="242"/>
                    <a:pt x="274" y="242"/>
                  </a:cubicBezTo>
                  <a:cubicBezTo>
                    <a:pt x="270" y="242"/>
                    <a:pt x="267" y="245"/>
                    <a:pt x="267" y="249"/>
                  </a:cubicBezTo>
                  <a:lnTo>
                    <a:pt x="267" y="303"/>
                  </a:lnTo>
                  <a:cubicBezTo>
                    <a:pt x="267" y="303"/>
                    <a:pt x="267" y="304"/>
                    <a:pt x="267" y="304"/>
                  </a:cubicBezTo>
                  <a:cubicBezTo>
                    <a:pt x="267" y="305"/>
                    <a:pt x="267" y="305"/>
                    <a:pt x="267" y="305"/>
                  </a:cubicBezTo>
                  <a:cubicBezTo>
                    <a:pt x="267" y="305"/>
                    <a:pt x="268" y="305"/>
                    <a:pt x="268" y="306"/>
                  </a:cubicBezTo>
                  <a:cubicBezTo>
                    <a:pt x="268" y="306"/>
                    <a:pt x="268" y="306"/>
                    <a:pt x="268" y="306"/>
                  </a:cubicBezTo>
                  <a:cubicBezTo>
                    <a:pt x="268" y="306"/>
                    <a:pt x="268" y="307"/>
                    <a:pt x="268" y="307"/>
                  </a:cubicBezTo>
                  <a:cubicBezTo>
                    <a:pt x="268" y="307"/>
                    <a:pt x="269" y="307"/>
                    <a:pt x="269" y="308"/>
                  </a:cubicBezTo>
                  <a:cubicBezTo>
                    <a:pt x="269" y="308"/>
                    <a:pt x="269" y="308"/>
                    <a:pt x="269" y="308"/>
                  </a:cubicBezTo>
                  <a:lnTo>
                    <a:pt x="292" y="330"/>
                  </a:lnTo>
                  <a:close/>
                  <a:moveTo>
                    <a:pt x="343" y="253"/>
                  </a:moveTo>
                  <a:cubicBezTo>
                    <a:pt x="330" y="235"/>
                    <a:pt x="311" y="222"/>
                    <a:pt x="289" y="218"/>
                  </a:cubicBezTo>
                  <a:cubicBezTo>
                    <a:pt x="284" y="217"/>
                    <a:pt x="279" y="217"/>
                    <a:pt x="274" y="217"/>
                  </a:cubicBezTo>
                  <a:cubicBezTo>
                    <a:pt x="234" y="217"/>
                    <a:pt x="199" y="245"/>
                    <a:pt x="192" y="285"/>
                  </a:cubicBezTo>
                  <a:cubicBezTo>
                    <a:pt x="183" y="330"/>
                    <a:pt x="213" y="373"/>
                    <a:pt x="258" y="382"/>
                  </a:cubicBezTo>
                  <a:cubicBezTo>
                    <a:pt x="263" y="383"/>
                    <a:pt x="269" y="384"/>
                    <a:pt x="274" y="384"/>
                  </a:cubicBezTo>
                  <a:cubicBezTo>
                    <a:pt x="314" y="384"/>
                    <a:pt x="348" y="355"/>
                    <a:pt x="356" y="316"/>
                  </a:cubicBezTo>
                  <a:cubicBezTo>
                    <a:pt x="360" y="294"/>
                    <a:pt x="355" y="272"/>
                    <a:pt x="343" y="253"/>
                  </a:cubicBezTo>
                  <a:close/>
                  <a:moveTo>
                    <a:pt x="343" y="313"/>
                  </a:moveTo>
                  <a:lnTo>
                    <a:pt x="343" y="313"/>
                  </a:lnTo>
                  <a:cubicBezTo>
                    <a:pt x="337" y="347"/>
                    <a:pt x="308" y="371"/>
                    <a:pt x="274" y="371"/>
                  </a:cubicBezTo>
                  <a:cubicBezTo>
                    <a:pt x="269" y="371"/>
                    <a:pt x="265" y="370"/>
                    <a:pt x="261" y="369"/>
                  </a:cubicBezTo>
                  <a:cubicBezTo>
                    <a:pt x="222" y="362"/>
                    <a:pt x="197" y="325"/>
                    <a:pt x="205" y="287"/>
                  </a:cubicBezTo>
                  <a:cubicBezTo>
                    <a:pt x="211" y="254"/>
                    <a:pt x="240" y="230"/>
                    <a:pt x="274" y="230"/>
                  </a:cubicBezTo>
                  <a:cubicBezTo>
                    <a:pt x="278" y="230"/>
                    <a:pt x="283" y="230"/>
                    <a:pt x="287" y="231"/>
                  </a:cubicBezTo>
                  <a:cubicBezTo>
                    <a:pt x="306" y="234"/>
                    <a:pt x="322" y="245"/>
                    <a:pt x="332" y="261"/>
                  </a:cubicBezTo>
                  <a:cubicBezTo>
                    <a:pt x="343" y="276"/>
                    <a:pt x="347" y="295"/>
                    <a:pt x="343" y="313"/>
                  </a:cubicBezTo>
                  <a:close/>
                  <a:moveTo>
                    <a:pt x="176" y="313"/>
                  </a:moveTo>
                  <a:lnTo>
                    <a:pt x="121" y="313"/>
                  </a:lnTo>
                  <a:lnTo>
                    <a:pt x="121" y="228"/>
                  </a:lnTo>
                  <a:lnTo>
                    <a:pt x="206" y="228"/>
                  </a:lnTo>
                  <a:cubicBezTo>
                    <a:pt x="211" y="223"/>
                    <a:pt x="217" y="218"/>
                    <a:pt x="224" y="215"/>
                  </a:cubicBezTo>
                  <a:lnTo>
                    <a:pt x="224" y="215"/>
                  </a:lnTo>
                  <a:lnTo>
                    <a:pt x="224" y="130"/>
                  </a:lnTo>
                  <a:lnTo>
                    <a:pt x="311" y="130"/>
                  </a:lnTo>
                  <a:cubicBezTo>
                    <a:pt x="313" y="130"/>
                    <a:pt x="314" y="132"/>
                    <a:pt x="314" y="134"/>
                  </a:cubicBezTo>
                  <a:lnTo>
                    <a:pt x="314" y="210"/>
                  </a:lnTo>
                  <a:cubicBezTo>
                    <a:pt x="319" y="212"/>
                    <a:pt x="324" y="215"/>
                    <a:pt x="328" y="217"/>
                  </a:cubicBezTo>
                  <a:lnTo>
                    <a:pt x="328" y="215"/>
                  </a:lnTo>
                  <a:lnTo>
                    <a:pt x="328" y="134"/>
                  </a:lnTo>
                  <a:lnTo>
                    <a:pt x="328" y="88"/>
                  </a:lnTo>
                  <a:cubicBezTo>
                    <a:pt x="328" y="79"/>
                    <a:pt x="320" y="71"/>
                    <a:pt x="311" y="71"/>
                  </a:cubicBezTo>
                  <a:lnTo>
                    <a:pt x="17" y="71"/>
                  </a:lnTo>
                  <a:cubicBezTo>
                    <a:pt x="8" y="71"/>
                    <a:pt x="0" y="79"/>
                    <a:pt x="0" y="88"/>
                  </a:cubicBezTo>
                  <a:lnTo>
                    <a:pt x="0" y="134"/>
                  </a:lnTo>
                  <a:lnTo>
                    <a:pt x="0" y="215"/>
                  </a:lnTo>
                  <a:lnTo>
                    <a:pt x="0" y="228"/>
                  </a:lnTo>
                  <a:lnTo>
                    <a:pt x="0" y="309"/>
                  </a:lnTo>
                  <a:lnTo>
                    <a:pt x="0" y="319"/>
                  </a:lnTo>
                  <a:cubicBezTo>
                    <a:pt x="0" y="329"/>
                    <a:pt x="8" y="336"/>
                    <a:pt x="17" y="336"/>
                  </a:cubicBezTo>
                  <a:lnTo>
                    <a:pt x="181" y="336"/>
                  </a:lnTo>
                  <a:cubicBezTo>
                    <a:pt x="179" y="329"/>
                    <a:pt x="177" y="321"/>
                    <a:pt x="176" y="313"/>
                  </a:cubicBezTo>
                  <a:close/>
                  <a:moveTo>
                    <a:pt x="14" y="134"/>
                  </a:moveTo>
                  <a:lnTo>
                    <a:pt x="14" y="134"/>
                  </a:lnTo>
                  <a:cubicBezTo>
                    <a:pt x="14" y="132"/>
                    <a:pt x="15" y="130"/>
                    <a:pt x="17" y="130"/>
                  </a:cubicBezTo>
                  <a:lnTo>
                    <a:pt x="107" y="130"/>
                  </a:lnTo>
                  <a:lnTo>
                    <a:pt x="107" y="215"/>
                  </a:lnTo>
                  <a:lnTo>
                    <a:pt x="14" y="215"/>
                  </a:lnTo>
                  <a:lnTo>
                    <a:pt x="14" y="134"/>
                  </a:lnTo>
                  <a:close/>
                  <a:moveTo>
                    <a:pt x="107" y="228"/>
                  </a:moveTo>
                  <a:lnTo>
                    <a:pt x="107" y="228"/>
                  </a:lnTo>
                  <a:lnTo>
                    <a:pt x="107" y="313"/>
                  </a:lnTo>
                  <a:lnTo>
                    <a:pt x="17" y="313"/>
                  </a:lnTo>
                  <a:cubicBezTo>
                    <a:pt x="15" y="313"/>
                    <a:pt x="14" y="311"/>
                    <a:pt x="14" y="309"/>
                  </a:cubicBezTo>
                  <a:lnTo>
                    <a:pt x="14" y="228"/>
                  </a:lnTo>
                  <a:lnTo>
                    <a:pt x="107" y="228"/>
                  </a:lnTo>
                  <a:close/>
                  <a:moveTo>
                    <a:pt x="121" y="215"/>
                  </a:moveTo>
                  <a:lnTo>
                    <a:pt x="121" y="215"/>
                  </a:lnTo>
                  <a:lnTo>
                    <a:pt x="121" y="130"/>
                  </a:lnTo>
                  <a:lnTo>
                    <a:pt x="210" y="130"/>
                  </a:lnTo>
                  <a:lnTo>
                    <a:pt x="210" y="215"/>
                  </a:lnTo>
                  <a:lnTo>
                    <a:pt x="121" y="215"/>
                  </a:lnTo>
                  <a:close/>
                  <a:moveTo>
                    <a:pt x="217" y="88"/>
                  </a:moveTo>
                  <a:lnTo>
                    <a:pt x="217" y="88"/>
                  </a:lnTo>
                  <a:cubicBezTo>
                    <a:pt x="223" y="88"/>
                    <a:pt x="229" y="94"/>
                    <a:pt x="229" y="100"/>
                  </a:cubicBezTo>
                  <a:cubicBezTo>
                    <a:pt x="229" y="106"/>
                    <a:pt x="223" y="111"/>
                    <a:pt x="217" y="111"/>
                  </a:cubicBezTo>
                  <a:cubicBezTo>
                    <a:pt x="211" y="111"/>
                    <a:pt x="205" y="106"/>
                    <a:pt x="205" y="100"/>
                  </a:cubicBezTo>
                  <a:cubicBezTo>
                    <a:pt x="205" y="94"/>
                    <a:pt x="211" y="88"/>
                    <a:pt x="217" y="88"/>
                  </a:cubicBezTo>
                  <a:close/>
                  <a:moveTo>
                    <a:pt x="114" y="88"/>
                  </a:moveTo>
                  <a:lnTo>
                    <a:pt x="114" y="88"/>
                  </a:lnTo>
                  <a:cubicBezTo>
                    <a:pt x="120" y="88"/>
                    <a:pt x="126" y="94"/>
                    <a:pt x="126" y="100"/>
                  </a:cubicBezTo>
                  <a:cubicBezTo>
                    <a:pt x="126" y="106"/>
                    <a:pt x="120" y="111"/>
                    <a:pt x="114" y="111"/>
                  </a:cubicBezTo>
                  <a:cubicBezTo>
                    <a:pt x="108" y="111"/>
                    <a:pt x="103" y="106"/>
                    <a:pt x="103" y="100"/>
                  </a:cubicBezTo>
                  <a:cubicBezTo>
                    <a:pt x="103" y="94"/>
                    <a:pt x="108" y="88"/>
                    <a:pt x="114" y="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0" y="1109114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29" name="Rectangle 7"/>
          <p:cNvSpPr>
            <a:spLocks noChangeArrowheads="1"/>
          </p:cNvSpPr>
          <p:nvPr/>
        </p:nvSpPr>
        <p:spPr bwMode="auto">
          <a:xfrm>
            <a:off x="1266714" y="1109114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30" name="Rectangle 8"/>
          <p:cNvSpPr>
            <a:spLocks noChangeArrowheads="1"/>
          </p:cNvSpPr>
          <p:nvPr/>
        </p:nvSpPr>
        <p:spPr bwMode="auto">
          <a:xfrm>
            <a:off x="2531856" y="1109114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31" name="Rectangle 9"/>
          <p:cNvSpPr>
            <a:spLocks noChangeArrowheads="1"/>
          </p:cNvSpPr>
          <p:nvPr/>
        </p:nvSpPr>
        <p:spPr bwMode="auto">
          <a:xfrm>
            <a:off x="3798567" y="1109114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422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E:\我的文档\商务图片\19147185_150127007000_2.jpg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44426" y="3666022"/>
            <a:ext cx="5022365" cy="2821733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E:\我的文档\商务图片\Nipic_1082507_20091207090526024812.jpg"/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228894" y="3661058"/>
            <a:ext cx="5110573" cy="2826697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83"/>
          <p:cNvSpPr>
            <a:spLocks noChangeArrowheads="1"/>
          </p:cNvSpPr>
          <p:nvPr/>
        </p:nvSpPr>
        <p:spPr bwMode="auto">
          <a:xfrm>
            <a:off x="1045556" y="641445"/>
            <a:ext cx="10222393" cy="2764569"/>
          </a:xfrm>
          <a:prstGeom prst="rect">
            <a:avLst/>
          </a:prstGeom>
          <a:solidFill>
            <a:srgbClr val="F2F2F2"/>
          </a:solidFill>
          <a:ln w="9525" cmpd="sng">
            <a:solidFill>
              <a:schemeClr val="accent1"/>
            </a:solidFill>
            <a:miter lim="800000"/>
            <a:headEnd/>
            <a:tailEnd/>
          </a:ln>
        </p:spPr>
        <p:txBody>
          <a:bodyPr lIns="91398" tIns="45699" rIns="91398" bIns="45699"/>
          <a:lstStyle/>
          <a:p>
            <a:endParaRPr lang="zh-CN" altLang="en-US" sz="1799" dirty="0"/>
          </a:p>
        </p:txBody>
      </p:sp>
      <p:sp>
        <p:nvSpPr>
          <p:cNvPr id="10" name="Freeform 12"/>
          <p:cNvSpPr>
            <a:spLocks/>
          </p:cNvSpPr>
          <p:nvPr/>
        </p:nvSpPr>
        <p:spPr bwMode="auto">
          <a:xfrm>
            <a:off x="1044426" y="572645"/>
            <a:ext cx="528432" cy="53001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04BEB0"/>
          </a:solidFill>
          <a:ln>
            <a:noFill/>
          </a:ln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11" name="Freeform 12"/>
          <p:cNvSpPr>
            <a:spLocks/>
          </p:cNvSpPr>
          <p:nvPr/>
        </p:nvSpPr>
        <p:spPr bwMode="auto">
          <a:xfrm flipH="1" flipV="1">
            <a:off x="10811033" y="2944796"/>
            <a:ext cx="528432" cy="53001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12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13" name="Rectangle 3"/>
          <p:cNvSpPr>
            <a:spLocks noGrp="1" noChangeArrowheads="1"/>
          </p:cNvSpPr>
          <p:nvPr>
            <p:ph idx="1"/>
          </p:nvPr>
        </p:nvSpPr>
        <p:spPr>
          <a:xfrm>
            <a:off x="1387698" y="837654"/>
            <a:ext cx="9880251" cy="428539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CPU-Central Process Unit，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中央处理器，是计算机中最核心的部件。</a:t>
            </a:r>
            <a:r>
              <a:rPr lang="zh-CN" altLang="en-US" b="1" dirty="0">
                <a:solidFill>
                  <a:srgbClr val="1E0C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en-US" altLang="zh-CN" b="1" dirty="0">
              <a:solidFill>
                <a:srgbClr val="1E0CA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基本功能：对机器指令的执行和数据的处理进行全过程的控制。</a:t>
            </a:r>
          </a:p>
        </p:txBody>
      </p:sp>
    </p:spTree>
    <p:extLst>
      <p:ext uri="{BB962C8B-B14F-4D97-AF65-F5344CB8AC3E}">
        <p14:creationId xmlns:p14="http://schemas.microsoft.com/office/powerpoint/2010/main" val="618781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4107">
        <p14:pan dir="u"/>
      </p:transition>
    </mc:Choice>
    <mc:Fallback xmlns="">
      <p:transition spd="slow" advTm="4107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862125" y="282899"/>
            <a:ext cx="4130675" cy="762000"/>
          </a:xfrm>
        </p:spPr>
        <p:txBody>
          <a:bodyPr>
            <a:normAutofit/>
          </a:bodyPr>
          <a:lstStyle/>
          <a:p>
            <a:r>
              <a:rPr lang="en-US" altLang="zh-CN" sz="3200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CPU</a:t>
            </a:r>
            <a:r>
              <a:rPr lang="zh-CN" altLang="en-US" sz="3200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的功能</a:t>
            </a:r>
          </a:p>
        </p:txBody>
      </p:sp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4228718937"/>
              </p:ext>
            </p:extLst>
          </p:nvPr>
        </p:nvGraphicFramePr>
        <p:xfrm>
          <a:off x="559031" y="2104030"/>
          <a:ext cx="11025075" cy="34506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251987" y="282899"/>
            <a:ext cx="438352" cy="621987"/>
            <a:chOff x="265635" y="269251"/>
            <a:chExt cx="438352" cy="621987"/>
          </a:xfrm>
        </p:grpSpPr>
        <p:sp>
          <p:nvSpPr>
            <p:cNvPr id="9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0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1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2439910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875773" y="76646"/>
            <a:ext cx="10260800" cy="1384952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总的来讲，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需完成从取指令到执行指令的全过程的控制。包括以下几个方面：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38339" y="419377"/>
            <a:ext cx="438352" cy="621987"/>
            <a:chOff x="265635" y="269251"/>
            <a:chExt cx="438352" cy="621987"/>
          </a:xfrm>
        </p:grpSpPr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9" name="Oval 7"/>
          <p:cNvSpPr>
            <a:spLocks noChangeArrowheads="1"/>
          </p:cNvSpPr>
          <p:nvPr/>
        </p:nvSpPr>
        <p:spPr bwMode="auto">
          <a:xfrm>
            <a:off x="5012071" y="2869286"/>
            <a:ext cx="831525" cy="829939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3" name="Oval 6"/>
          <p:cNvSpPr>
            <a:spLocks noChangeArrowheads="1"/>
          </p:cNvSpPr>
          <p:nvPr/>
        </p:nvSpPr>
        <p:spPr bwMode="auto">
          <a:xfrm>
            <a:off x="4496334" y="1675949"/>
            <a:ext cx="831525" cy="831526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5" name="Freeform 13"/>
          <p:cNvSpPr>
            <a:spLocks/>
          </p:cNvSpPr>
          <p:nvPr/>
        </p:nvSpPr>
        <p:spPr bwMode="auto">
          <a:xfrm>
            <a:off x="5056502" y="2169469"/>
            <a:ext cx="30151" cy="3174"/>
          </a:xfrm>
          <a:custGeom>
            <a:avLst/>
            <a:gdLst>
              <a:gd name="T0" fmla="*/ 0 w 43"/>
              <a:gd name="T1" fmla="*/ 0 h 5"/>
              <a:gd name="T2" fmla="*/ 1 w 43"/>
              <a:gd name="T3" fmla="*/ 5 h 5"/>
              <a:gd name="T4" fmla="*/ 43 w 43"/>
              <a:gd name="T5" fmla="*/ 3 h 5"/>
              <a:gd name="T6" fmla="*/ 0 w 43"/>
              <a:gd name="T7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3" h="5">
                <a:moveTo>
                  <a:pt x="0" y="0"/>
                </a:moveTo>
                <a:lnTo>
                  <a:pt x="1" y="5"/>
                </a:lnTo>
                <a:lnTo>
                  <a:pt x="43" y="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7" name="Oval 9"/>
          <p:cNvSpPr>
            <a:spLocks noChangeArrowheads="1"/>
          </p:cNvSpPr>
          <p:nvPr/>
        </p:nvSpPr>
        <p:spPr bwMode="auto">
          <a:xfrm>
            <a:off x="5012071" y="4324450"/>
            <a:ext cx="831525" cy="831526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23" name="Oval 8"/>
          <p:cNvSpPr>
            <a:spLocks noChangeArrowheads="1"/>
          </p:cNvSpPr>
          <p:nvPr/>
        </p:nvSpPr>
        <p:spPr bwMode="auto">
          <a:xfrm>
            <a:off x="4496334" y="5517787"/>
            <a:ext cx="831525" cy="82993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26" name="Oval 5"/>
          <p:cNvSpPr>
            <a:spLocks noChangeArrowheads="1"/>
          </p:cNvSpPr>
          <p:nvPr/>
        </p:nvSpPr>
        <p:spPr bwMode="auto">
          <a:xfrm>
            <a:off x="2430324" y="2918585"/>
            <a:ext cx="2376931" cy="2376928"/>
          </a:xfrm>
          <a:prstGeom prst="ellipse">
            <a:avLst/>
          </a:prstGeom>
          <a:solidFill>
            <a:srgbClr val="04BEB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36" name="Freeform 5"/>
          <p:cNvSpPr>
            <a:spLocks noEditPoints="1"/>
          </p:cNvSpPr>
          <p:nvPr/>
        </p:nvSpPr>
        <p:spPr bwMode="auto">
          <a:xfrm>
            <a:off x="3155219" y="3519268"/>
            <a:ext cx="927140" cy="1175561"/>
          </a:xfrm>
          <a:custGeom>
            <a:avLst/>
            <a:gdLst>
              <a:gd name="T0" fmla="*/ 622 w 794"/>
              <a:gd name="T1" fmla="*/ 491 h 1018"/>
              <a:gd name="T2" fmla="*/ 481 w 794"/>
              <a:gd name="T3" fmla="*/ 612 h 1018"/>
              <a:gd name="T4" fmla="*/ 667 w 794"/>
              <a:gd name="T5" fmla="*/ 641 h 1018"/>
              <a:gd name="T6" fmla="*/ 672 w 794"/>
              <a:gd name="T7" fmla="*/ 487 h 1018"/>
              <a:gd name="T8" fmla="*/ 794 w 794"/>
              <a:gd name="T9" fmla="*/ 420 h 1018"/>
              <a:gd name="T10" fmla="*/ 747 w 794"/>
              <a:gd name="T11" fmla="*/ 487 h 1018"/>
              <a:gd name="T12" fmla="*/ 713 w 794"/>
              <a:gd name="T13" fmla="*/ 679 h 1018"/>
              <a:gd name="T14" fmla="*/ 631 w 794"/>
              <a:gd name="T15" fmla="*/ 709 h 1018"/>
              <a:gd name="T16" fmla="*/ 442 w 794"/>
              <a:gd name="T17" fmla="*/ 719 h 1018"/>
              <a:gd name="T18" fmla="*/ 627 w 794"/>
              <a:gd name="T19" fmla="*/ 911 h 1018"/>
              <a:gd name="T20" fmla="*/ 659 w 794"/>
              <a:gd name="T21" fmla="*/ 971 h 1018"/>
              <a:gd name="T22" fmla="*/ 565 w 794"/>
              <a:gd name="T23" fmla="*/ 971 h 1018"/>
              <a:gd name="T24" fmla="*/ 428 w 794"/>
              <a:gd name="T25" fmla="*/ 906 h 1018"/>
              <a:gd name="T26" fmla="*/ 456 w 794"/>
              <a:gd name="T27" fmla="*/ 971 h 1018"/>
              <a:gd name="T28" fmla="*/ 361 w 794"/>
              <a:gd name="T29" fmla="*/ 971 h 1018"/>
              <a:gd name="T30" fmla="*/ 381 w 794"/>
              <a:gd name="T31" fmla="*/ 905 h 1018"/>
              <a:gd name="T32" fmla="*/ 243 w 794"/>
              <a:gd name="T33" fmla="*/ 971 h 1018"/>
              <a:gd name="T34" fmla="*/ 148 w 794"/>
              <a:gd name="T35" fmla="*/ 971 h 1018"/>
              <a:gd name="T36" fmla="*/ 173 w 794"/>
              <a:gd name="T37" fmla="*/ 911 h 1018"/>
              <a:gd name="T38" fmla="*/ 346 w 794"/>
              <a:gd name="T39" fmla="*/ 719 h 1018"/>
              <a:gd name="T40" fmla="*/ 154 w 794"/>
              <a:gd name="T41" fmla="*/ 706 h 1018"/>
              <a:gd name="T42" fmla="*/ 81 w 794"/>
              <a:gd name="T43" fmla="*/ 679 h 1018"/>
              <a:gd name="T44" fmla="*/ 47 w 794"/>
              <a:gd name="T45" fmla="*/ 487 h 1018"/>
              <a:gd name="T46" fmla="*/ 0 w 794"/>
              <a:gd name="T47" fmla="*/ 420 h 1018"/>
              <a:gd name="T48" fmla="*/ 122 w 794"/>
              <a:gd name="T49" fmla="*/ 487 h 1018"/>
              <a:gd name="T50" fmla="*/ 127 w 794"/>
              <a:gd name="T51" fmla="*/ 641 h 1018"/>
              <a:gd name="T52" fmla="*/ 316 w 794"/>
              <a:gd name="T53" fmla="*/ 611 h 1018"/>
              <a:gd name="T54" fmla="*/ 168 w 794"/>
              <a:gd name="T55" fmla="*/ 491 h 1018"/>
              <a:gd name="T56" fmla="*/ 591 w 794"/>
              <a:gd name="T57" fmla="*/ 126 h 1018"/>
              <a:gd name="T58" fmla="*/ 494 w 794"/>
              <a:gd name="T59" fmla="*/ 168 h 1018"/>
              <a:gd name="T60" fmla="*/ 297 w 794"/>
              <a:gd name="T61" fmla="*/ 194 h 1018"/>
              <a:gd name="T62" fmla="*/ 287 w 794"/>
              <a:gd name="T63" fmla="*/ 273 h 1018"/>
              <a:gd name="T64" fmla="*/ 504 w 794"/>
              <a:gd name="T65" fmla="*/ 299 h 1018"/>
              <a:gd name="T66" fmla="*/ 287 w 794"/>
              <a:gd name="T67" fmla="*/ 273 h 1018"/>
              <a:gd name="T68" fmla="*/ 514 w 794"/>
              <a:gd name="T69" fmla="*/ 383 h 1018"/>
              <a:gd name="T70" fmla="*/ 277 w 794"/>
              <a:gd name="T71" fmla="*/ 409 h 10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794" h="1018">
                <a:moveTo>
                  <a:pt x="591" y="126"/>
                </a:moveTo>
                <a:cubicBezTo>
                  <a:pt x="601" y="248"/>
                  <a:pt x="611" y="370"/>
                  <a:pt x="622" y="491"/>
                </a:cubicBezTo>
                <a:cubicBezTo>
                  <a:pt x="607" y="518"/>
                  <a:pt x="550" y="536"/>
                  <a:pt x="481" y="544"/>
                </a:cubicBezTo>
                <a:lnTo>
                  <a:pt x="481" y="612"/>
                </a:lnTo>
                <a:cubicBezTo>
                  <a:pt x="548" y="619"/>
                  <a:pt x="604" y="634"/>
                  <a:pt x="624" y="657"/>
                </a:cubicBezTo>
                <a:lnTo>
                  <a:pt x="667" y="641"/>
                </a:lnTo>
                <a:lnTo>
                  <a:pt x="695" y="487"/>
                </a:lnTo>
                <a:lnTo>
                  <a:pt x="672" y="487"/>
                </a:lnTo>
                <a:lnTo>
                  <a:pt x="654" y="420"/>
                </a:lnTo>
                <a:lnTo>
                  <a:pt x="794" y="420"/>
                </a:lnTo>
                <a:lnTo>
                  <a:pt x="776" y="487"/>
                </a:lnTo>
                <a:lnTo>
                  <a:pt x="747" y="487"/>
                </a:lnTo>
                <a:lnTo>
                  <a:pt x="715" y="665"/>
                </a:lnTo>
                <a:lnTo>
                  <a:pt x="713" y="679"/>
                </a:lnTo>
                <a:lnTo>
                  <a:pt x="699" y="684"/>
                </a:lnTo>
                <a:lnTo>
                  <a:pt x="631" y="709"/>
                </a:lnTo>
                <a:lnTo>
                  <a:pt x="631" y="719"/>
                </a:lnTo>
                <a:lnTo>
                  <a:pt x="442" y="719"/>
                </a:lnTo>
                <a:lnTo>
                  <a:pt x="442" y="866"/>
                </a:lnTo>
                <a:cubicBezTo>
                  <a:pt x="504" y="871"/>
                  <a:pt x="565" y="887"/>
                  <a:pt x="627" y="911"/>
                </a:cubicBezTo>
                <a:lnTo>
                  <a:pt x="621" y="925"/>
                </a:lnTo>
                <a:cubicBezTo>
                  <a:pt x="643" y="929"/>
                  <a:pt x="659" y="948"/>
                  <a:pt x="659" y="971"/>
                </a:cubicBezTo>
                <a:cubicBezTo>
                  <a:pt x="659" y="997"/>
                  <a:pt x="638" y="1018"/>
                  <a:pt x="612" y="1018"/>
                </a:cubicBezTo>
                <a:cubicBezTo>
                  <a:pt x="586" y="1018"/>
                  <a:pt x="565" y="997"/>
                  <a:pt x="565" y="971"/>
                </a:cubicBezTo>
                <a:cubicBezTo>
                  <a:pt x="565" y="958"/>
                  <a:pt x="570" y="946"/>
                  <a:pt x="579" y="938"/>
                </a:cubicBezTo>
                <a:cubicBezTo>
                  <a:pt x="528" y="920"/>
                  <a:pt x="478" y="910"/>
                  <a:pt x="428" y="906"/>
                </a:cubicBezTo>
                <a:lnTo>
                  <a:pt x="430" y="929"/>
                </a:lnTo>
                <a:cubicBezTo>
                  <a:pt x="445" y="937"/>
                  <a:pt x="456" y="953"/>
                  <a:pt x="456" y="971"/>
                </a:cubicBezTo>
                <a:cubicBezTo>
                  <a:pt x="456" y="997"/>
                  <a:pt x="434" y="1018"/>
                  <a:pt x="408" y="1018"/>
                </a:cubicBezTo>
                <a:cubicBezTo>
                  <a:pt x="382" y="1018"/>
                  <a:pt x="361" y="997"/>
                  <a:pt x="361" y="971"/>
                </a:cubicBezTo>
                <a:cubicBezTo>
                  <a:pt x="361" y="954"/>
                  <a:pt x="370" y="940"/>
                  <a:pt x="383" y="931"/>
                </a:cubicBezTo>
                <a:lnTo>
                  <a:pt x="381" y="905"/>
                </a:lnTo>
                <a:cubicBezTo>
                  <a:pt x="330" y="907"/>
                  <a:pt x="278" y="916"/>
                  <a:pt x="226" y="935"/>
                </a:cubicBezTo>
                <a:cubicBezTo>
                  <a:pt x="236" y="943"/>
                  <a:pt x="243" y="956"/>
                  <a:pt x="243" y="971"/>
                </a:cubicBezTo>
                <a:cubicBezTo>
                  <a:pt x="243" y="997"/>
                  <a:pt x="222" y="1018"/>
                  <a:pt x="196" y="1018"/>
                </a:cubicBezTo>
                <a:cubicBezTo>
                  <a:pt x="170" y="1018"/>
                  <a:pt x="148" y="997"/>
                  <a:pt x="148" y="971"/>
                </a:cubicBezTo>
                <a:cubicBezTo>
                  <a:pt x="148" y="950"/>
                  <a:pt x="162" y="933"/>
                  <a:pt x="180" y="927"/>
                </a:cubicBezTo>
                <a:lnTo>
                  <a:pt x="173" y="911"/>
                </a:lnTo>
                <a:cubicBezTo>
                  <a:pt x="231" y="886"/>
                  <a:pt x="288" y="871"/>
                  <a:pt x="346" y="866"/>
                </a:cubicBezTo>
                <a:lnTo>
                  <a:pt x="346" y="719"/>
                </a:lnTo>
                <a:lnTo>
                  <a:pt x="154" y="719"/>
                </a:lnTo>
                <a:lnTo>
                  <a:pt x="154" y="706"/>
                </a:lnTo>
                <a:lnTo>
                  <a:pt x="95" y="684"/>
                </a:lnTo>
                <a:lnTo>
                  <a:pt x="81" y="679"/>
                </a:lnTo>
                <a:lnTo>
                  <a:pt x="78" y="665"/>
                </a:lnTo>
                <a:lnTo>
                  <a:pt x="47" y="487"/>
                </a:lnTo>
                <a:lnTo>
                  <a:pt x="17" y="487"/>
                </a:lnTo>
                <a:lnTo>
                  <a:pt x="0" y="420"/>
                </a:lnTo>
                <a:lnTo>
                  <a:pt x="139" y="420"/>
                </a:lnTo>
                <a:lnTo>
                  <a:pt x="122" y="487"/>
                </a:lnTo>
                <a:lnTo>
                  <a:pt x="99" y="487"/>
                </a:lnTo>
                <a:lnTo>
                  <a:pt x="127" y="641"/>
                </a:lnTo>
                <a:lnTo>
                  <a:pt x="163" y="654"/>
                </a:lnTo>
                <a:cubicBezTo>
                  <a:pt x="186" y="631"/>
                  <a:pt x="246" y="617"/>
                  <a:pt x="316" y="611"/>
                </a:cubicBezTo>
                <a:lnTo>
                  <a:pt x="316" y="546"/>
                </a:lnTo>
                <a:cubicBezTo>
                  <a:pt x="240" y="539"/>
                  <a:pt x="178" y="521"/>
                  <a:pt x="168" y="491"/>
                </a:cubicBezTo>
                <a:cubicBezTo>
                  <a:pt x="178" y="370"/>
                  <a:pt x="189" y="248"/>
                  <a:pt x="199" y="126"/>
                </a:cubicBezTo>
                <a:cubicBezTo>
                  <a:pt x="219" y="6"/>
                  <a:pt x="561" y="0"/>
                  <a:pt x="591" y="126"/>
                </a:cubicBezTo>
                <a:close/>
                <a:moveTo>
                  <a:pt x="297" y="168"/>
                </a:moveTo>
                <a:lnTo>
                  <a:pt x="494" y="168"/>
                </a:lnTo>
                <a:lnTo>
                  <a:pt x="494" y="194"/>
                </a:lnTo>
                <a:lnTo>
                  <a:pt x="297" y="194"/>
                </a:lnTo>
                <a:lnTo>
                  <a:pt x="297" y="168"/>
                </a:lnTo>
                <a:close/>
                <a:moveTo>
                  <a:pt x="287" y="273"/>
                </a:moveTo>
                <a:lnTo>
                  <a:pt x="504" y="273"/>
                </a:lnTo>
                <a:lnTo>
                  <a:pt x="504" y="299"/>
                </a:lnTo>
                <a:lnTo>
                  <a:pt x="287" y="299"/>
                </a:lnTo>
                <a:lnTo>
                  <a:pt x="287" y="273"/>
                </a:lnTo>
                <a:close/>
                <a:moveTo>
                  <a:pt x="277" y="383"/>
                </a:moveTo>
                <a:lnTo>
                  <a:pt x="514" y="383"/>
                </a:lnTo>
                <a:lnTo>
                  <a:pt x="514" y="409"/>
                </a:lnTo>
                <a:lnTo>
                  <a:pt x="277" y="409"/>
                </a:lnTo>
                <a:lnTo>
                  <a:pt x="277" y="38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37" name="TextBox 36"/>
          <p:cNvSpPr txBox="1"/>
          <p:nvPr/>
        </p:nvSpPr>
        <p:spPr>
          <a:xfrm>
            <a:off x="4592263" y="1799440"/>
            <a:ext cx="691130" cy="584605"/>
          </a:xfrm>
          <a:prstGeom prst="rect">
            <a:avLst/>
          </a:prstGeom>
          <a:noFill/>
        </p:spPr>
        <p:txBody>
          <a:bodyPr wrap="none" lIns="91398" tIns="45699" rIns="91398" bIns="45699" rtlCol="0">
            <a:spAutoFit/>
          </a:bodyPr>
          <a:lstStyle/>
          <a:p>
            <a:r>
              <a:rPr lang="en-US" altLang="zh-CN" sz="3199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01</a:t>
            </a:r>
            <a:endParaRPr lang="zh-CN" altLang="en-US" sz="3199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096563" y="2997152"/>
            <a:ext cx="691130" cy="584605"/>
          </a:xfrm>
          <a:prstGeom prst="rect">
            <a:avLst/>
          </a:prstGeom>
          <a:noFill/>
        </p:spPr>
        <p:txBody>
          <a:bodyPr wrap="none" lIns="91398" tIns="45699" rIns="91398" bIns="45699" rtlCol="0">
            <a:spAutoFit/>
          </a:bodyPr>
          <a:lstStyle/>
          <a:p>
            <a:r>
              <a:rPr lang="en-US" altLang="zh-CN" sz="3199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02</a:t>
            </a:r>
            <a:endParaRPr lang="zh-CN" altLang="en-US" sz="3199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80803" y="4431254"/>
            <a:ext cx="691130" cy="584605"/>
          </a:xfrm>
          <a:prstGeom prst="rect">
            <a:avLst/>
          </a:prstGeom>
          <a:noFill/>
        </p:spPr>
        <p:txBody>
          <a:bodyPr wrap="none" lIns="91398" tIns="45699" rIns="91398" bIns="45699" rtlCol="0">
            <a:spAutoFit/>
          </a:bodyPr>
          <a:lstStyle/>
          <a:p>
            <a:r>
              <a:rPr lang="en-US" altLang="zh-CN" sz="3199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03</a:t>
            </a:r>
            <a:endParaRPr lang="zh-CN" altLang="en-US" sz="3199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576503" y="5635317"/>
            <a:ext cx="691130" cy="584605"/>
          </a:xfrm>
          <a:prstGeom prst="rect">
            <a:avLst/>
          </a:prstGeom>
          <a:noFill/>
        </p:spPr>
        <p:txBody>
          <a:bodyPr wrap="none" lIns="91398" tIns="45699" rIns="91398" bIns="45699" rtlCol="0">
            <a:spAutoFit/>
          </a:bodyPr>
          <a:lstStyle/>
          <a:p>
            <a:r>
              <a:rPr lang="en-US" altLang="zh-CN" sz="3199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04</a:t>
            </a:r>
            <a:endParaRPr lang="zh-CN" altLang="en-US" sz="3199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3" name="矩形 2"/>
          <p:cNvSpPr/>
          <p:nvPr/>
        </p:nvSpPr>
        <p:spPr>
          <a:xfrm>
            <a:off x="5771933" y="1755187"/>
            <a:ext cx="20826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指令控制</a:t>
            </a:r>
          </a:p>
        </p:txBody>
      </p:sp>
      <p:sp>
        <p:nvSpPr>
          <p:cNvPr id="4" name="矩形 3"/>
          <p:cNvSpPr/>
          <p:nvPr/>
        </p:nvSpPr>
        <p:spPr>
          <a:xfrm>
            <a:off x="6165865" y="2997152"/>
            <a:ext cx="20826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操作控制</a:t>
            </a:r>
          </a:p>
        </p:txBody>
      </p:sp>
      <p:sp>
        <p:nvSpPr>
          <p:cNvPr id="8" name="矩形 7"/>
          <p:cNvSpPr/>
          <p:nvPr/>
        </p:nvSpPr>
        <p:spPr>
          <a:xfrm>
            <a:off x="6165864" y="4404640"/>
            <a:ext cx="20826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时间控制</a:t>
            </a:r>
          </a:p>
        </p:txBody>
      </p:sp>
      <p:sp>
        <p:nvSpPr>
          <p:cNvPr id="10" name="矩形 9"/>
          <p:cNvSpPr/>
          <p:nvPr/>
        </p:nvSpPr>
        <p:spPr>
          <a:xfrm>
            <a:off x="5771932" y="5707990"/>
            <a:ext cx="20826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数据加工</a:t>
            </a:r>
          </a:p>
        </p:txBody>
      </p:sp>
    </p:spTree>
    <p:extLst>
      <p:ext uri="{BB962C8B-B14F-4D97-AF65-F5344CB8AC3E}">
        <p14:creationId xmlns:p14="http://schemas.microsoft.com/office/powerpoint/2010/main" val="1884777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9389">
        <p14:pan dir="u"/>
      </p:transition>
    </mc:Choice>
    <mc:Fallback xmlns="">
      <p:transition spd="slow" advTm="9389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13268" y="5276791"/>
            <a:ext cx="8360585" cy="652904"/>
          </a:xfrm>
          <a:ln w="28575">
            <a:solidFill>
              <a:srgbClr val="02B9E7"/>
            </a:solidFill>
          </a:ln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异常处理一般由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中断机构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执行中断服务程序来完成。</a:t>
            </a:r>
          </a:p>
        </p:txBody>
      </p:sp>
      <p:grpSp>
        <p:nvGrpSpPr>
          <p:cNvPr id="4" name="组合 3"/>
          <p:cNvGrpSpPr/>
          <p:nvPr/>
        </p:nvGrpSpPr>
        <p:grpSpPr>
          <a:xfrm rot="17375538">
            <a:off x="885750" y="1452766"/>
            <a:ext cx="1096799" cy="1283602"/>
            <a:chOff x="1446900" y="2132856"/>
            <a:chExt cx="1304925" cy="1527175"/>
          </a:xfrm>
        </p:grpSpPr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1446900" y="2132856"/>
              <a:ext cx="1304925" cy="1527175"/>
            </a:xfrm>
            <a:custGeom>
              <a:avLst/>
              <a:gdLst>
                <a:gd name="T0" fmla="*/ 827 w 1654"/>
                <a:gd name="T1" fmla="*/ 0 h 1918"/>
                <a:gd name="T2" fmla="*/ 1654 w 1654"/>
                <a:gd name="T3" fmla="*/ 827 h 1918"/>
                <a:gd name="T4" fmla="*/ 1116 w 1654"/>
                <a:gd name="T5" fmla="*/ 1602 h 1918"/>
                <a:gd name="T6" fmla="*/ 995 w 1654"/>
                <a:gd name="T7" fmla="*/ 1741 h 1918"/>
                <a:gd name="T8" fmla="*/ 870 w 1654"/>
                <a:gd name="T9" fmla="*/ 1884 h 1918"/>
                <a:gd name="T10" fmla="*/ 789 w 1654"/>
                <a:gd name="T11" fmla="*/ 1889 h 1918"/>
                <a:gd name="T12" fmla="*/ 660 w 1654"/>
                <a:gd name="T13" fmla="*/ 1741 h 1918"/>
                <a:gd name="T14" fmla="*/ 540 w 1654"/>
                <a:gd name="T15" fmla="*/ 1603 h 1918"/>
                <a:gd name="T16" fmla="*/ 0 w 1654"/>
                <a:gd name="T17" fmla="*/ 827 h 1918"/>
                <a:gd name="T18" fmla="*/ 827 w 1654"/>
                <a:gd name="T19" fmla="*/ 0 h 19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54" h="1918">
                  <a:moveTo>
                    <a:pt x="827" y="0"/>
                  </a:moveTo>
                  <a:cubicBezTo>
                    <a:pt x="1283" y="0"/>
                    <a:pt x="1654" y="370"/>
                    <a:pt x="1654" y="827"/>
                  </a:cubicBezTo>
                  <a:cubicBezTo>
                    <a:pt x="1654" y="1182"/>
                    <a:pt x="1430" y="1485"/>
                    <a:pt x="1116" y="1602"/>
                  </a:cubicBezTo>
                  <a:lnTo>
                    <a:pt x="995" y="1741"/>
                  </a:lnTo>
                  <a:cubicBezTo>
                    <a:pt x="953" y="1788"/>
                    <a:pt x="912" y="1836"/>
                    <a:pt x="870" y="1884"/>
                  </a:cubicBezTo>
                  <a:cubicBezTo>
                    <a:pt x="845" y="1916"/>
                    <a:pt x="818" y="1918"/>
                    <a:pt x="789" y="1889"/>
                  </a:cubicBezTo>
                  <a:cubicBezTo>
                    <a:pt x="746" y="1840"/>
                    <a:pt x="703" y="1790"/>
                    <a:pt x="660" y="1741"/>
                  </a:cubicBezTo>
                  <a:lnTo>
                    <a:pt x="540" y="1603"/>
                  </a:lnTo>
                  <a:cubicBezTo>
                    <a:pt x="225" y="1486"/>
                    <a:pt x="0" y="1183"/>
                    <a:pt x="0" y="827"/>
                  </a:cubicBezTo>
                  <a:cubicBezTo>
                    <a:pt x="0" y="370"/>
                    <a:pt x="370" y="0"/>
                    <a:pt x="827" y="0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6" name="Freeform 16"/>
            <p:cNvSpPr>
              <a:spLocks noEditPoints="1"/>
            </p:cNvSpPr>
            <p:nvPr/>
          </p:nvSpPr>
          <p:spPr bwMode="auto">
            <a:xfrm>
              <a:off x="1668969" y="2542449"/>
              <a:ext cx="860788" cy="500028"/>
            </a:xfrm>
            <a:custGeom>
              <a:avLst/>
              <a:gdLst>
                <a:gd name="T0" fmla="*/ 712 w 739"/>
                <a:gd name="T1" fmla="*/ 36 h 492"/>
                <a:gd name="T2" fmla="*/ 712 w 739"/>
                <a:gd name="T3" fmla="*/ 404 h 492"/>
                <a:gd name="T4" fmla="*/ 702 w 739"/>
                <a:gd name="T5" fmla="*/ 404 h 492"/>
                <a:gd name="T6" fmla="*/ 678 w 739"/>
                <a:gd name="T7" fmla="*/ 403 h 492"/>
                <a:gd name="T8" fmla="*/ 373 w 739"/>
                <a:gd name="T9" fmla="*/ 480 h 492"/>
                <a:gd name="T10" fmla="*/ 369 w 739"/>
                <a:gd name="T11" fmla="*/ 482 h 492"/>
                <a:gd name="T12" fmla="*/ 365 w 739"/>
                <a:gd name="T13" fmla="*/ 480 h 492"/>
                <a:gd name="T14" fmla="*/ 60 w 739"/>
                <a:gd name="T15" fmla="*/ 403 h 492"/>
                <a:gd name="T16" fmla="*/ 37 w 739"/>
                <a:gd name="T17" fmla="*/ 404 h 492"/>
                <a:gd name="T18" fmla="*/ 26 w 739"/>
                <a:gd name="T19" fmla="*/ 404 h 492"/>
                <a:gd name="T20" fmla="*/ 26 w 739"/>
                <a:gd name="T21" fmla="*/ 36 h 492"/>
                <a:gd name="T22" fmla="*/ 0 w 739"/>
                <a:gd name="T23" fmla="*/ 36 h 492"/>
                <a:gd name="T24" fmla="*/ 0 w 739"/>
                <a:gd name="T25" fmla="*/ 418 h 492"/>
                <a:gd name="T26" fmla="*/ 369 w 739"/>
                <a:gd name="T27" fmla="*/ 492 h 492"/>
                <a:gd name="T28" fmla="*/ 739 w 739"/>
                <a:gd name="T29" fmla="*/ 418 h 492"/>
                <a:gd name="T30" fmla="*/ 739 w 739"/>
                <a:gd name="T31" fmla="*/ 36 h 492"/>
                <a:gd name="T32" fmla="*/ 712 w 739"/>
                <a:gd name="T33" fmla="*/ 36 h 492"/>
                <a:gd name="T34" fmla="*/ 357 w 739"/>
                <a:gd name="T35" fmla="*/ 418 h 492"/>
                <a:gd name="T36" fmla="*/ 357 w 739"/>
                <a:gd name="T37" fmla="*/ 82 h 492"/>
                <a:gd name="T38" fmla="*/ 101 w 739"/>
                <a:gd name="T39" fmla="*/ 2 h 492"/>
                <a:gd name="T40" fmla="*/ 101 w 739"/>
                <a:gd name="T41" fmla="*/ 352 h 492"/>
                <a:gd name="T42" fmla="*/ 111 w 739"/>
                <a:gd name="T43" fmla="*/ 352 h 492"/>
                <a:gd name="T44" fmla="*/ 357 w 739"/>
                <a:gd name="T45" fmla="*/ 418 h 492"/>
                <a:gd name="T46" fmla="*/ 638 w 739"/>
                <a:gd name="T47" fmla="*/ 352 h 492"/>
                <a:gd name="T48" fmla="*/ 638 w 739"/>
                <a:gd name="T49" fmla="*/ 2 h 492"/>
                <a:gd name="T50" fmla="*/ 382 w 739"/>
                <a:gd name="T51" fmla="*/ 82 h 492"/>
                <a:gd name="T52" fmla="*/ 382 w 739"/>
                <a:gd name="T53" fmla="*/ 418 h 492"/>
                <a:gd name="T54" fmla="*/ 628 w 739"/>
                <a:gd name="T55" fmla="*/ 352 h 492"/>
                <a:gd name="T56" fmla="*/ 638 w 739"/>
                <a:gd name="T57" fmla="*/ 352 h 492"/>
                <a:gd name="T58" fmla="*/ 369 w 739"/>
                <a:gd name="T59" fmla="*/ 473 h 492"/>
                <a:gd name="T60" fmla="*/ 695 w 739"/>
                <a:gd name="T61" fmla="*/ 395 h 492"/>
                <a:gd name="T62" fmla="*/ 695 w 739"/>
                <a:gd name="T63" fmla="*/ 7 h 492"/>
                <a:gd name="T64" fmla="*/ 655 w 739"/>
                <a:gd name="T65" fmla="*/ 7 h 492"/>
                <a:gd name="T66" fmla="*/ 655 w 739"/>
                <a:gd name="T67" fmla="*/ 370 h 492"/>
                <a:gd name="T68" fmla="*/ 645 w 739"/>
                <a:gd name="T69" fmla="*/ 370 h 492"/>
                <a:gd name="T70" fmla="*/ 626 w 739"/>
                <a:gd name="T71" fmla="*/ 369 h 492"/>
                <a:gd name="T72" fmla="*/ 376 w 739"/>
                <a:gd name="T73" fmla="*/ 441 h 492"/>
                <a:gd name="T74" fmla="*/ 369 w 739"/>
                <a:gd name="T75" fmla="*/ 445 h 492"/>
                <a:gd name="T76" fmla="*/ 363 w 739"/>
                <a:gd name="T77" fmla="*/ 441 h 492"/>
                <a:gd name="T78" fmla="*/ 113 w 739"/>
                <a:gd name="T79" fmla="*/ 369 h 492"/>
                <a:gd name="T80" fmla="*/ 93 w 739"/>
                <a:gd name="T81" fmla="*/ 370 h 492"/>
                <a:gd name="T82" fmla="*/ 83 w 739"/>
                <a:gd name="T83" fmla="*/ 370 h 492"/>
                <a:gd name="T84" fmla="*/ 83 w 739"/>
                <a:gd name="T85" fmla="*/ 7 h 492"/>
                <a:gd name="T86" fmla="*/ 44 w 739"/>
                <a:gd name="T87" fmla="*/ 7 h 492"/>
                <a:gd name="T88" fmla="*/ 44 w 739"/>
                <a:gd name="T89" fmla="*/ 395 h 492"/>
                <a:gd name="T90" fmla="*/ 369 w 739"/>
                <a:gd name="T91" fmla="*/ 473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9" h="492">
                  <a:moveTo>
                    <a:pt x="712" y="36"/>
                  </a:moveTo>
                  <a:lnTo>
                    <a:pt x="712" y="404"/>
                  </a:lnTo>
                  <a:lnTo>
                    <a:pt x="702" y="404"/>
                  </a:lnTo>
                  <a:cubicBezTo>
                    <a:pt x="694" y="404"/>
                    <a:pt x="686" y="403"/>
                    <a:pt x="678" y="403"/>
                  </a:cubicBezTo>
                  <a:cubicBezTo>
                    <a:pt x="576" y="403"/>
                    <a:pt x="467" y="430"/>
                    <a:pt x="373" y="480"/>
                  </a:cubicBezTo>
                  <a:lnTo>
                    <a:pt x="369" y="482"/>
                  </a:lnTo>
                  <a:lnTo>
                    <a:pt x="365" y="480"/>
                  </a:lnTo>
                  <a:cubicBezTo>
                    <a:pt x="271" y="430"/>
                    <a:pt x="163" y="403"/>
                    <a:pt x="60" y="403"/>
                  </a:cubicBezTo>
                  <a:cubicBezTo>
                    <a:pt x="52" y="403"/>
                    <a:pt x="45" y="404"/>
                    <a:pt x="37" y="404"/>
                  </a:cubicBezTo>
                  <a:lnTo>
                    <a:pt x="26" y="404"/>
                  </a:lnTo>
                  <a:lnTo>
                    <a:pt x="26" y="36"/>
                  </a:lnTo>
                  <a:cubicBezTo>
                    <a:pt x="17" y="36"/>
                    <a:pt x="9" y="36"/>
                    <a:pt x="0" y="36"/>
                  </a:cubicBezTo>
                  <a:lnTo>
                    <a:pt x="0" y="418"/>
                  </a:lnTo>
                  <a:cubicBezTo>
                    <a:pt x="123" y="415"/>
                    <a:pt x="254" y="442"/>
                    <a:pt x="369" y="492"/>
                  </a:cubicBezTo>
                  <a:cubicBezTo>
                    <a:pt x="484" y="442"/>
                    <a:pt x="616" y="415"/>
                    <a:pt x="739" y="418"/>
                  </a:cubicBezTo>
                  <a:lnTo>
                    <a:pt x="739" y="36"/>
                  </a:lnTo>
                  <a:cubicBezTo>
                    <a:pt x="730" y="36"/>
                    <a:pt x="721" y="36"/>
                    <a:pt x="712" y="36"/>
                  </a:cubicBezTo>
                  <a:close/>
                  <a:moveTo>
                    <a:pt x="357" y="418"/>
                  </a:moveTo>
                  <a:lnTo>
                    <a:pt x="357" y="82"/>
                  </a:lnTo>
                  <a:cubicBezTo>
                    <a:pt x="277" y="28"/>
                    <a:pt x="186" y="0"/>
                    <a:pt x="101" y="2"/>
                  </a:cubicBezTo>
                  <a:lnTo>
                    <a:pt x="101" y="352"/>
                  </a:lnTo>
                  <a:cubicBezTo>
                    <a:pt x="104" y="352"/>
                    <a:pt x="107" y="352"/>
                    <a:pt x="111" y="352"/>
                  </a:cubicBezTo>
                  <a:cubicBezTo>
                    <a:pt x="193" y="352"/>
                    <a:pt x="280" y="375"/>
                    <a:pt x="357" y="418"/>
                  </a:cubicBezTo>
                  <a:close/>
                  <a:moveTo>
                    <a:pt x="638" y="352"/>
                  </a:moveTo>
                  <a:lnTo>
                    <a:pt x="638" y="2"/>
                  </a:lnTo>
                  <a:cubicBezTo>
                    <a:pt x="552" y="0"/>
                    <a:pt x="461" y="28"/>
                    <a:pt x="382" y="82"/>
                  </a:cubicBezTo>
                  <a:lnTo>
                    <a:pt x="382" y="418"/>
                  </a:lnTo>
                  <a:cubicBezTo>
                    <a:pt x="459" y="375"/>
                    <a:pt x="545" y="352"/>
                    <a:pt x="628" y="352"/>
                  </a:cubicBezTo>
                  <a:cubicBezTo>
                    <a:pt x="631" y="352"/>
                    <a:pt x="635" y="352"/>
                    <a:pt x="638" y="352"/>
                  </a:cubicBezTo>
                  <a:close/>
                  <a:moveTo>
                    <a:pt x="369" y="473"/>
                  </a:moveTo>
                  <a:cubicBezTo>
                    <a:pt x="473" y="417"/>
                    <a:pt x="590" y="391"/>
                    <a:pt x="695" y="395"/>
                  </a:cubicBezTo>
                  <a:lnTo>
                    <a:pt x="695" y="7"/>
                  </a:lnTo>
                  <a:cubicBezTo>
                    <a:pt x="682" y="6"/>
                    <a:pt x="669" y="6"/>
                    <a:pt x="655" y="7"/>
                  </a:cubicBezTo>
                  <a:lnTo>
                    <a:pt x="655" y="370"/>
                  </a:lnTo>
                  <a:lnTo>
                    <a:pt x="645" y="370"/>
                  </a:lnTo>
                  <a:cubicBezTo>
                    <a:pt x="639" y="369"/>
                    <a:pt x="632" y="369"/>
                    <a:pt x="626" y="369"/>
                  </a:cubicBezTo>
                  <a:cubicBezTo>
                    <a:pt x="542" y="369"/>
                    <a:pt x="453" y="395"/>
                    <a:pt x="376" y="441"/>
                  </a:cubicBezTo>
                  <a:lnTo>
                    <a:pt x="369" y="445"/>
                  </a:lnTo>
                  <a:lnTo>
                    <a:pt x="363" y="441"/>
                  </a:lnTo>
                  <a:cubicBezTo>
                    <a:pt x="286" y="395"/>
                    <a:pt x="197" y="369"/>
                    <a:pt x="113" y="369"/>
                  </a:cubicBezTo>
                  <a:cubicBezTo>
                    <a:pt x="106" y="369"/>
                    <a:pt x="100" y="369"/>
                    <a:pt x="93" y="370"/>
                  </a:cubicBezTo>
                  <a:lnTo>
                    <a:pt x="83" y="370"/>
                  </a:lnTo>
                  <a:lnTo>
                    <a:pt x="83" y="7"/>
                  </a:lnTo>
                  <a:cubicBezTo>
                    <a:pt x="70" y="6"/>
                    <a:pt x="57" y="6"/>
                    <a:pt x="44" y="7"/>
                  </a:cubicBezTo>
                  <a:lnTo>
                    <a:pt x="44" y="395"/>
                  </a:lnTo>
                  <a:cubicBezTo>
                    <a:pt x="148" y="391"/>
                    <a:pt x="265" y="417"/>
                    <a:pt x="369" y="4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grpSp>
        <p:nvGrpSpPr>
          <p:cNvPr id="7" name="组合 6"/>
          <p:cNvGrpSpPr/>
          <p:nvPr/>
        </p:nvGrpSpPr>
        <p:grpSpPr>
          <a:xfrm rot="3718900">
            <a:off x="9780246" y="3286892"/>
            <a:ext cx="1096799" cy="1283602"/>
            <a:chOff x="4022275" y="2132856"/>
            <a:chExt cx="1304925" cy="1527175"/>
          </a:xfrm>
        </p:grpSpPr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4022275" y="2132856"/>
              <a:ext cx="1304925" cy="1527175"/>
            </a:xfrm>
            <a:custGeom>
              <a:avLst/>
              <a:gdLst>
                <a:gd name="T0" fmla="*/ 827 w 1654"/>
                <a:gd name="T1" fmla="*/ 0 h 1918"/>
                <a:gd name="T2" fmla="*/ 1654 w 1654"/>
                <a:gd name="T3" fmla="*/ 827 h 1918"/>
                <a:gd name="T4" fmla="*/ 1116 w 1654"/>
                <a:gd name="T5" fmla="*/ 1602 h 1918"/>
                <a:gd name="T6" fmla="*/ 995 w 1654"/>
                <a:gd name="T7" fmla="*/ 1741 h 1918"/>
                <a:gd name="T8" fmla="*/ 870 w 1654"/>
                <a:gd name="T9" fmla="*/ 1884 h 1918"/>
                <a:gd name="T10" fmla="*/ 790 w 1654"/>
                <a:gd name="T11" fmla="*/ 1889 h 1918"/>
                <a:gd name="T12" fmla="*/ 660 w 1654"/>
                <a:gd name="T13" fmla="*/ 1741 h 1918"/>
                <a:gd name="T14" fmla="*/ 540 w 1654"/>
                <a:gd name="T15" fmla="*/ 1603 h 1918"/>
                <a:gd name="T16" fmla="*/ 0 w 1654"/>
                <a:gd name="T17" fmla="*/ 827 h 1918"/>
                <a:gd name="T18" fmla="*/ 827 w 1654"/>
                <a:gd name="T19" fmla="*/ 0 h 19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54" h="1918">
                  <a:moveTo>
                    <a:pt x="827" y="0"/>
                  </a:moveTo>
                  <a:cubicBezTo>
                    <a:pt x="1284" y="0"/>
                    <a:pt x="1654" y="370"/>
                    <a:pt x="1654" y="827"/>
                  </a:cubicBezTo>
                  <a:cubicBezTo>
                    <a:pt x="1654" y="1182"/>
                    <a:pt x="1430" y="1485"/>
                    <a:pt x="1116" y="1602"/>
                  </a:cubicBezTo>
                  <a:lnTo>
                    <a:pt x="995" y="1741"/>
                  </a:lnTo>
                  <a:cubicBezTo>
                    <a:pt x="954" y="1788"/>
                    <a:pt x="912" y="1836"/>
                    <a:pt x="870" y="1884"/>
                  </a:cubicBezTo>
                  <a:cubicBezTo>
                    <a:pt x="845" y="1916"/>
                    <a:pt x="818" y="1918"/>
                    <a:pt x="790" y="1889"/>
                  </a:cubicBezTo>
                  <a:cubicBezTo>
                    <a:pt x="747" y="1840"/>
                    <a:pt x="703" y="1790"/>
                    <a:pt x="660" y="1741"/>
                  </a:cubicBezTo>
                  <a:lnTo>
                    <a:pt x="540" y="1603"/>
                  </a:lnTo>
                  <a:cubicBezTo>
                    <a:pt x="225" y="1486"/>
                    <a:pt x="0" y="1183"/>
                    <a:pt x="0" y="827"/>
                  </a:cubicBezTo>
                  <a:cubicBezTo>
                    <a:pt x="0" y="370"/>
                    <a:pt x="371" y="0"/>
                    <a:pt x="8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9" name="Freeform 9"/>
            <p:cNvSpPr>
              <a:spLocks noEditPoints="1"/>
            </p:cNvSpPr>
            <p:nvPr/>
          </p:nvSpPr>
          <p:spPr bwMode="auto">
            <a:xfrm>
              <a:off x="4399628" y="2380272"/>
              <a:ext cx="650316" cy="737858"/>
            </a:xfrm>
            <a:custGeom>
              <a:avLst/>
              <a:gdLst>
                <a:gd name="T0" fmla="*/ 402 w 630"/>
                <a:gd name="T1" fmla="*/ 89 h 711"/>
                <a:gd name="T2" fmla="*/ 313 w 630"/>
                <a:gd name="T3" fmla="*/ 178 h 711"/>
                <a:gd name="T4" fmla="*/ 223 w 630"/>
                <a:gd name="T5" fmla="*/ 178 h 711"/>
                <a:gd name="T6" fmla="*/ 134 w 630"/>
                <a:gd name="T7" fmla="*/ 89 h 711"/>
                <a:gd name="T8" fmla="*/ 223 w 630"/>
                <a:gd name="T9" fmla="*/ 0 h 711"/>
                <a:gd name="T10" fmla="*/ 313 w 630"/>
                <a:gd name="T11" fmla="*/ 0 h 711"/>
                <a:gd name="T12" fmla="*/ 402 w 630"/>
                <a:gd name="T13" fmla="*/ 89 h 711"/>
                <a:gd name="T14" fmla="*/ 445 w 630"/>
                <a:gd name="T15" fmla="*/ 89 h 711"/>
                <a:gd name="T16" fmla="*/ 446 w 630"/>
                <a:gd name="T17" fmla="*/ 109 h 711"/>
                <a:gd name="T18" fmla="*/ 335 w 630"/>
                <a:gd name="T19" fmla="*/ 221 h 711"/>
                <a:gd name="T20" fmla="*/ 201 w 630"/>
                <a:gd name="T21" fmla="*/ 221 h 711"/>
                <a:gd name="T22" fmla="*/ 90 w 630"/>
                <a:gd name="T23" fmla="*/ 109 h 711"/>
                <a:gd name="T24" fmla="*/ 92 w 630"/>
                <a:gd name="T25" fmla="*/ 89 h 711"/>
                <a:gd name="T26" fmla="*/ 0 w 630"/>
                <a:gd name="T27" fmla="*/ 198 h 711"/>
                <a:gd name="T28" fmla="*/ 0 w 630"/>
                <a:gd name="T29" fmla="*/ 600 h 711"/>
                <a:gd name="T30" fmla="*/ 112 w 630"/>
                <a:gd name="T31" fmla="*/ 711 h 711"/>
                <a:gd name="T32" fmla="*/ 409 w 630"/>
                <a:gd name="T33" fmla="*/ 711 h 711"/>
                <a:gd name="T34" fmla="*/ 288 w 630"/>
                <a:gd name="T35" fmla="*/ 528 h 711"/>
                <a:gd name="T36" fmla="*/ 487 w 630"/>
                <a:gd name="T37" fmla="*/ 328 h 711"/>
                <a:gd name="T38" fmla="*/ 536 w 630"/>
                <a:gd name="T39" fmla="*/ 335 h 711"/>
                <a:gd name="T40" fmla="*/ 536 w 630"/>
                <a:gd name="T41" fmla="*/ 198 h 711"/>
                <a:gd name="T42" fmla="*/ 445 w 630"/>
                <a:gd name="T43" fmla="*/ 89 h 711"/>
                <a:gd name="T44" fmla="*/ 251 w 630"/>
                <a:gd name="T45" fmla="*/ 446 h 711"/>
                <a:gd name="T46" fmla="*/ 251 w 630"/>
                <a:gd name="T47" fmla="*/ 446 h 711"/>
                <a:gd name="T48" fmla="*/ 112 w 630"/>
                <a:gd name="T49" fmla="*/ 446 h 711"/>
                <a:gd name="T50" fmla="*/ 90 w 630"/>
                <a:gd name="T51" fmla="*/ 423 h 711"/>
                <a:gd name="T52" fmla="*/ 112 w 630"/>
                <a:gd name="T53" fmla="*/ 401 h 711"/>
                <a:gd name="T54" fmla="*/ 251 w 630"/>
                <a:gd name="T55" fmla="*/ 401 h 711"/>
                <a:gd name="T56" fmla="*/ 274 w 630"/>
                <a:gd name="T57" fmla="*/ 423 h 711"/>
                <a:gd name="T58" fmla="*/ 251 w 630"/>
                <a:gd name="T59" fmla="*/ 446 h 711"/>
                <a:gd name="T60" fmla="*/ 296 w 630"/>
                <a:gd name="T61" fmla="*/ 356 h 711"/>
                <a:gd name="T62" fmla="*/ 296 w 630"/>
                <a:gd name="T63" fmla="*/ 356 h 711"/>
                <a:gd name="T64" fmla="*/ 112 w 630"/>
                <a:gd name="T65" fmla="*/ 356 h 711"/>
                <a:gd name="T66" fmla="*/ 90 w 630"/>
                <a:gd name="T67" fmla="*/ 334 h 711"/>
                <a:gd name="T68" fmla="*/ 112 w 630"/>
                <a:gd name="T69" fmla="*/ 312 h 711"/>
                <a:gd name="T70" fmla="*/ 296 w 630"/>
                <a:gd name="T71" fmla="*/ 312 h 711"/>
                <a:gd name="T72" fmla="*/ 318 w 630"/>
                <a:gd name="T73" fmla="*/ 334 h 711"/>
                <a:gd name="T74" fmla="*/ 296 w 630"/>
                <a:gd name="T75" fmla="*/ 356 h 711"/>
                <a:gd name="T76" fmla="*/ 524 w 630"/>
                <a:gd name="T77" fmla="*/ 390 h 711"/>
                <a:gd name="T78" fmla="*/ 488 w 630"/>
                <a:gd name="T79" fmla="*/ 385 h 711"/>
                <a:gd name="T80" fmla="*/ 346 w 630"/>
                <a:gd name="T81" fmla="*/ 527 h 711"/>
                <a:gd name="T82" fmla="*/ 458 w 630"/>
                <a:gd name="T83" fmla="*/ 666 h 711"/>
                <a:gd name="T84" fmla="*/ 488 w 630"/>
                <a:gd name="T85" fmla="*/ 669 h 711"/>
                <a:gd name="T86" fmla="*/ 630 w 630"/>
                <a:gd name="T87" fmla="*/ 527 h 711"/>
                <a:gd name="T88" fmla="*/ 524 w 630"/>
                <a:gd name="T89" fmla="*/ 390 h 711"/>
                <a:gd name="T90" fmla="*/ 569 w 630"/>
                <a:gd name="T91" fmla="*/ 507 h 711"/>
                <a:gd name="T92" fmla="*/ 569 w 630"/>
                <a:gd name="T93" fmla="*/ 507 h 711"/>
                <a:gd name="T94" fmla="*/ 524 w 630"/>
                <a:gd name="T95" fmla="*/ 552 h 711"/>
                <a:gd name="T96" fmla="*/ 488 w 630"/>
                <a:gd name="T97" fmla="*/ 588 h 711"/>
                <a:gd name="T98" fmla="*/ 448 w 630"/>
                <a:gd name="T99" fmla="*/ 588 h 711"/>
                <a:gd name="T100" fmla="*/ 408 w 630"/>
                <a:gd name="T101" fmla="*/ 547 h 711"/>
                <a:gd name="T102" fmla="*/ 408 w 630"/>
                <a:gd name="T103" fmla="*/ 507 h 711"/>
                <a:gd name="T104" fmla="*/ 448 w 630"/>
                <a:gd name="T105" fmla="*/ 507 h 711"/>
                <a:gd name="T106" fmla="*/ 468 w 630"/>
                <a:gd name="T107" fmla="*/ 527 h 711"/>
                <a:gd name="T108" fmla="*/ 524 w 630"/>
                <a:gd name="T109" fmla="*/ 472 h 711"/>
                <a:gd name="T110" fmla="*/ 528 w 630"/>
                <a:gd name="T111" fmla="*/ 467 h 711"/>
                <a:gd name="T112" fmla="*/ 569 w 630"/>
                <a:gd name="T113" fmla="*/ 467 h 711"/>
                <a:gd name="T114" fmla="*/ 569 w 630"/>
                <a:gd name="T115" fmla="*/ 507 h 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30" h="711">
                  <a:moveTo>
                    <a:pt x="402" y="89"/>
                  </a:moveTo>
                  <a:cubicBezTo>
                    <a:pt x="402" y="138"/>
                    <a:pt x="362" y="178"/>
                    <a:pt x="313" y="178"/>
                  </a:cubicBezTo>
                  <a:lnTo>
                    <a:pt x="223" y="178"/>
                  </a:lnTo>
                  <a:cubicBezTo>
                    <a:pt x="174" y="178"/>
                    <a:pt x="134" y="138"/>
                    <a:pt x="134" y="89"/>
                  </a:cubicBezTo>
                  <a:cubicBezTo>
                    <a:pt x="134" y="39"/>
                    <a:pt x="174" y="0"/>
                    <a:pt x="223" y="0"/>
                  </a:cubicBezTo>
                  <a:lnTo>
                    <a:pt x="313" y="0"/>
                  </a:lnTo>
                  <a:cubicBezTo>
                    <a:pt x="362" y="0"/>
                    <a:pt x="402" y="39"/>
                    <a:pt x="402" y="89"/>
                  </a:cubicBezTo>
                  <a:close/>
                  <a:moveTo>
                    <a:pt x="445" y="89"/>
                  </a:moveTo>
                  <a:cubicBezTo>
                    <a:pt x="446" y="95"/>
                    <a:pt x="446" y="102"/>
                    <a:pt x="446" y="109"/>
                  </a:cubicBezTo>
                  <a:cubicBezTo>
                    <a:pt x="446" y="171"/>
                    <a:pt x="397" y="221"/>
                    <a:pt x="335" y="221"/>
                  </a:cubicBezTo>
                  <a:lnTo>
                    <a:pt x="201" y="221"/>
                  </a:lnTo>
                  <a:cubicBezTo>
                    <a:pt x="140" y="221"/>
                    <a:pt x="90" y="171"/>
                    <a:pt x="90" y="109"/>
                  </a:cubicBezTo>
                  <a:cubicBezTo>
                    <a:pt x="90" y="102"/>
                    <a:pt x="90" y="95"/>
                    <a:pt x="92" y="89"/>
                  </a:cubicBezTo>
                  <a:cubicBezTo>
                    <a:pt x="40" y="98"/>
                    <a:pt x="0" y="144"/>
                    <a:pt x="0" y="198"/>
                  </a:cubicBezTo>
                  <a:lnTo>
                    <a:pt x="0" y="600"/>
                  </a:lnTo>
                  <a:cubicBezTo>
                    <a:pt x="0" y="661"/>
                    <a:pt x="50" y="711"/>
                    <a:pt x="112" y="711"/>
                  </a:cubicBezTo>
                  <a:lnTo>
                    <a:pt x="409" y="711"/>
                  </a:lnTo>
                  <a:cubicBezTo>
                    <a:pt x="338" y="681"/>
                    <a:pt x="288" y="610"/>
                    <a:pt x="288" y="528"/>
                  </a:cubicBezTo>
                  <a:cubicBezTo>
                    <a:pt x="288" y="418"/>
                    <a:pt x="377" y="328"/>
                    <a:pt x="487" y="328"/>
                  </a:cubicBezTo>
                  <a:cubicBezTo>
                    <a:pt x="504" y="328"/>
                    <a:pt x="520" y="331"/>
                    <a:pt x="536" y="335"/>
                  </a:cubicBezTo>
                  <a:lnTo>
                    <a:pt x="536" y="198"/>
                  </a:lnTo>
                  <a:cubicBezTo>
                    <a:pt x="536" y="144"/>
                    <a:pt x="496" y="98"/>
                    <a:pt x="445" y="89"/>
                  </a:cubicBezTo>
                  <a:close/>
                  <a:moveTo>
                    <a:pt x="251" y="446"/>
                  </a:moveTo>
                  <a:lnTo>
                    <a:pt x="251" y="446"/>
                  </a:lnTo>
                  <a:lnTo>
                    <a:pt x="112" y="446"/>
                  </a:lnTo>
                  <a:cubicBezTo>
                    <a:pt x="100" y="446"/>
                    <a:pt x="90" y="436"/>
                    <a:pt x="90" y="423"/>
                  </a:cubicBezTo>
                  <a:cubicBezTo>
                    <a:pt x="90" y="411"/>
                    <a:pt x="100" y="401"/>
                    <a:pt x="112" y="401"/>
                  </a:cubicBezTo>
                  <a:lnTo>
                    <a:pt x="251" y="401"/>
                  </a:lnTo>
                  <a:cubicBezTo>
                    <a:pt x="264" y="401"/>
                    <a:pt x="274" y="411"/>
                    <a:pt x="274" y="423"/>
                  </a:cubicBezTo>
                  <a:cubicBezTo>
                    <a:pt x="274" y="436"/>
                    <a:pt x="264" y="446"/>
                    <a:pt x="251" y="446"/>
                  </a:cubicBezTo>
                  <a:close/>
                  <a:moveTo>
                    <a:pt x="296" y="356"/>
                  </a:moveTo>
                  <a:lnTo>
                    <a:pt x="296" y="356"/>
                  </a:lnTo>
                  <a:lnTo>
                    <a:pt x="112" y="356"/>
                  </a:lnTo>
                  <a:cubicBezTo>
                    <a:pt x="100" y="356"/>
                    <a:pt x="90" y="346"/>
                    <a:pt x="90" y="334"/>
                  </a:cubicBezTo>
                  <a:cubicBezTo>
                    <a:pt x="90" y="322"/>
                    <a:pt x="100" y="312"/>
                    <a:pt x="112" y="312"/>
                  </a:cubicBezTo>
                  <a:lnTo>
                    <a:pt x="296" y="312"/>
                  </a:lnTo>
                  <a:cubicBezTo>
                    <a:pt x="308" y="312"/>
                    <a:pt x="318" y="322"/>
                    <a:pt x="318" y="334"/>
                  </a:cubicBezTo>
                  <a:cubicBezTo>
                    <a:pt x="318" y="346"/>
                    <a:pt x="308" y="356"/>
                    <a:pt x="296" y="356"/>
                  </a:cubicBezTo>
                  <a:close/>
                  <a:moveTo>
                    <a:pt x="524" y="390"/>
                  </a:moveTo>
                  <a:cubicBezTo>
                    <a:pt x="512" y="387"/>
                    <a:pt x="501" y="385"/>
                    <a:pt x="488" y="385"/>
                  </a:cubicBezTo>
                  <a:cubicBezTo>
                    <a:pt x="410" y="385"/>
                    <a:pt x="346" y="449"/>
                    <a:pt x="346" y="527"/>
                  </a:cubicBezTo>
                  <a:cubicBezTo>
                    <a:pt x="346" y="596"/>
                    <a:pt x="394" y="652"/>
                    <a:pt x="458" y="666"/>
                  </a:cubicBezTo>
                  <a:cubicBezTo>
                    <a:pt x="468" y="668"/>
                    <a:pt x="478" y="669"/>
                    <a:pt x="488" y="669"/>
                  </a:cubicBezTo>
                  <a:cubicBezTo>
                    <a:pt x="567" y="669"/>
                    <a:pt x="630" y="606"/>
                    <a:pt x="630" y="527"/>
                  </a:cubicBezTo>
                  <a:cubicBezTo>
                    <a:pt x="630" y="461"/>
                    <a:pt x="585" y="405"/>
                    <a:pt x="524" y="390"/>
                  </a:cubicBezTo>
                  <a:close/>
                  <a:moveTo>
                    <a:pt x="569" y="507"/>
                  </a:moveTo>
                  <a:lnTo>
                    <a:pt x="569" y="507"/>
                  </a:lnTo>
                  <a:lnTo>
                    <a:pt x="524" y="552"/>
                  </a:lnTo>
                  <a:lnTo>
                    <a:pt x="488" y="588"/>
                  </a:lnTo>
                  <a:cubicBezTo>
                    <a:pt x="477" y="599"/>
                    <a:pt x="459" y="599"/>
                    <a:pt x="448" y="588"/>
                  </a:cubicBezTo>
                  <a:lnTo>
                    <a:pt x="408" y="547"/>
                  </a:lnTo>
                  <a:cubicBezTo>
                    <a:pt x="397" y="536"/>
                    <a:pt x="397" y="518"/>
                    <a:pt x="408" y="507"/>
                  </a:cubicBezTo>
                  <a:cubicBezTo>
                    <a:pt x="419" y="496"/>
                    <a:pt x="437" y="496"/>
                    <a:pt x="448" y="507"/>
                  </a:cubicBezTo>
                  <a:lnTo>
                    <a:pt x="468" y="527"/>
                  </a:lnTo>
                  <a:lnTo>
                    <a:pt x="524" y="472"/>
                  </a:lnTo>
                  <a:lnTo>
                    <a:pt x="528" y="467"/>
                  </a:lnTo>
                  <a:cubicBezTo>
                    <a:pt x="540" y="456"/>
                    <a:pt x="558" y="456"/>
                    <a:pt x="569" y="467"/>
                  </a:cubicBezTo>
                  <a:cubicBezTo>
                    <a:pt x="580" y="478"/>
                    <a:pt x="580" y="496"/>
                    <a:pt x="569" y="50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grpSp>
        <p:nvGrpSpPr>
          <p:cNvPr id="10" name="组合 9"/>
          <p:cNvGrpSpPr/>
          <p:nvPr/>
        </p:nvGrpSpPr>
        <p:grpSpPr>
          <a:xfrm rot="17375538">
            <a:off x="885306" y="4804996"/>
            <a:ext cx="1098134" cy="1283602"/>
            <a:chOff x="6560095" y="2132856"/>
            <a:chExt cx="1306513" cy="1527175"/>
          </a:xfrm>
        </p:grpSpPr>
        <p:sp>
          <p:nvSpPr>
            <p:cNvPr id="11" name="Freeform 7"/>
            <p:cNvSpPr>
              <a:spLocks/>
            </p:cNvSpPr>
            <p:nvPr/>
          </p:nvSpPr>
          <p:spPr bwMode="auto">
            <a:xfrm>
              <a:off x="6560095" y="2132856"/>
              <a:ext cx="1306513" cy="1527175"/>
            </a:xfrm>
            <a:custGeom>
              <a:avLst/>
              <a:gdLst>
                <a:gd name="T0" fmla="*/ 827 w 1654"/>
                <a:gd name="T1" fmla="*/ 0 h 1918"/>
                <a:gd name="T2" fmla="*/ 1654 w 1654"/>
                <a:gd name="T3" fmla="*/ 827 h 1918"/>
                <a:gd name="T4" fmla="*/ 1116 w 1654"/>
                <a:gd name="T5" fmla="*/ 1602 h 1918"/>
                <a:gd name="T6" fmla="*/ 995 w 1654"/>
                <a:gd name="T7" fmla="*/ 1741 h 1918"/>
                <a:gd name="T8" fmla="*/ 870 w 1654"/>
                <a:gd name="T9" fmla="*/ 1884 h 1918"/>
                <a:gd name="T10" fmla="*/ 789 w 1654"/>
                <a:gd name="T11" fmla="*/ 1889 h 1918"/>
                <a:gd name="T12" fmla="*/ 660 w 1654"/>
                <a:gd name="T13" fmla="*/ 1741 h 1918"/>
                <a:gd name="T14" fmla="*/ 540 w 1654"/>
                <a:gd name="T15" fmla="*/ 1603 h 1918"/>
                <a:gd name="T16" fmla="*/ 0 w 1654"/>
                <a:gd name="T17" fmla="*/ 827 h 1918"/>
                <a:gd name="T18" fmla="*/ 827 w 1654"/>
                <a:gd name="T19" fmla="*/ 0 h 19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54" h="1918">
                  <a:moveTo>
                    <a:pt x="827" y="0"/>
                  </a:moveTo>
                  <a:cubicBezTo>
                    <a:pt x="1283" y="0"/>
                    <a:pt x="1654" y="370"/>
                    <a:pt x="1654" y="827"/>
                  </a:cubicBezTo>
                  <a:cubicBezTo>
                    <a:pt x="1654" y="1182"/>
                    <a:pt x="1430" y="1485"/>
                    <a:pt x="1116" y="1602"/>
                  </a:cubicBezTo>
                  <a:lnTo>
                    <a:pt x="995" y="1741"/>
                  </a:lnTo>
                  <a:cubicBezTo>
                    <a:pt x="953" y="1788"/>
                    <a:pt x="912" y="1836"/>
                    <a:pt x="870" y="1884"/>
                  </a:cubicBezTo>
                  <a:cubicBezTo>
                    <a:pt x="845" y="1916"/>
                    <a:pt x="818" y="1918"/>
                    <a:pt x="789" y="1889"/>
                  </a:cubicBezTo>
                  <a:cubicBezTo>
                    <a:pt x="746" y="1840"/>
                    <a:pt x="703" y="1790"/>
                    <a:pt x="660" y="1741"/>
                  </a:cubicBezTo>
                  <a:lnTo>
                    <a:pt x="540" y="1603"/>
                  </a:lnTo>
                  <a:cubicBezTo>
                    <a:pt x="225" y="1486"/>
                    <a:pt x="0" y="1183"/>
                    <a:pt x="0" y="827"/>
                  </a:cubicBezTo>
                  <a:cubicBezTo>
                    <a:pt x="0" y="370"/>
                    <a:pt x="370" y="0"/>
                    <a:pt x="827" y="0"/>
                  </a:cubicBezTo>
                  <a:close/>
                </a:path>
              </a:pathLst>
            </a:custGeom>
            <a:solidFill>
              <a:srgbClr val="02B9E7"/>
            </a:solidFill>
            <a:ln>
              <a:noFill/>
            </a:ln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auto">
            <a:xfrm>
              <a:off x="6850001" y="2403005"/>
              <a:ext cx="726700" cy="778916"/>
            </a:xfrm>
            <a:custGeom>
              <a:avLst/>
              <a:gdLst>
                <a:gd name="T0" fmla="*/ 255 w 674"/>
                <a:gd name="T1" fmla="*/ 448 h 720"/>
                <a:gd name="T2" fmla="*/ 243 w 674"/>
                <a:gd name="T3" fmla="*/ 407 h 720"/>
                <a:gd name="T4" fmla="*/ 295 w 674"/>
                <a:gd name="T5" fmla="*/ 196 h 720"/>
                <a:gd name="T6" fmla="*/ 350 w 674"/>
                <a:gd name="T7" fmla="*/ 367 h 720"/>
                <a:gd name="T8" fmla="*/ 418 w 674"/>
                <a:gd name="T9" fmla="*/ 169 h 720"/>
                <a:gd name="T10" fmla="*/ 267 w 674"/>
                <a:gd name="T11" fmla="*/ 336 h 720"/>
                <a:gd name="T12" fmla="*/ 254 w 674"/>
                <a:gd name="T13" fmla="*/ 358 h 720"/>
                <a:gd name="T14" fmla="*/ 346 w 674"/>
                <a:gd name="T15" fmla="*/ 412 h 720"/>
                <a:gd name="T16" fmla="*/ 445 w 674"/>
                <a:gd name="T17" fmla="*/ 144 h 720"/>
                <a:gd name="T18" fmla="*/ 449 w 674"/>
                <a:gd name="T19" fmla="*/ 91 h 720"/>
                <a:gd name="T20" fmla="*/ 445 w 674"/>
                <a:gd name="T21" fmla="*/ 144 h 720"/>
                <a:gd name="T22" fmla="*/ 526 w 674"/>
                <a:gd name="T23" fmla="*/ 170 h 720"/>
                <a:gd name="T24" fmla="*/ 474 w 674"/>
                <a:gd name="T25" fmla="*/ 174 h 720"/>
                <a:gd name="T26" fmla="*/ 385 w 674"/>
                <a:gd name="T27" fmla="*/ 121 h 720"/>
                <a:gd name="T28" fmla="*/ 363 w 674"/>
                <a:gd name="T29" fmla="*/ 73 h 720"/>
                <a:gd name="T30" fmla="*/ 385 w 674"/>
                <a:gd name="T31" fmla="*/ 121 h 720"/>
                <a:gd name="T32" fmla="*/ 298 w 674"/>
                <a:gd name="T33" fmla="*/ 90 h 720"/>
                <a:gd name="T34" fmla="*/ 302 w 674"/>
                <a:gd name="T35" fmla="*/ 142 h 720"/>
                <a:gd name="T36" fmla="*/ 496 w 674"/>
                <a:gd name="T37" fmla="*/ 257 h 720"/>
                <a:gd name="T38" fmla="*/ 543 w 674"/>
                <a:gd name="T39" fmla="*/ 235 h 720"/>
                <a:gd name="T40" fmla="*/ 496 w 674"/>
                <a:gd name="T41" fmla="*/ 257 h 720"/>
                <a:gd name="T42" fmla="*/ 248 w 674"/>
                <a:gd name="T43" fmla="*/ 368 h 720"/>
                <a:gd name="T44" fmla="*/ 235 w 674"/>
                <a:gd name="T45" fmla="*/ 391 h 720"/>
                <a:gd name="T46" fmla="*/ 328 w 674"/>
                <a:gd name="T47" fmla="*/ 445 h 720"/>
                <a:gd name="T48" fmla="*/ 246 w 674"/>
                <a:gd name="T49" fmla="*/ 720 h 720"/>
                <a:gd name="T50" fmla="*/ 263 w 674"/>
                <a:gd name="T51" fmla="*/ 42 h 720"/>
                <a:gd name="T52" fmla="*/ 642 w 674"/>
                <a:gd name="T53" fmla="*/ 204 h 720"/>
                <a:gd name="T54" fmla="*/ 648 w 674"/>
                <a:gd name="T55" fmla="*/ 313 h 720"/>
                <a:gd name="T56" fmla="*/ 667 w 674"/>
                <a:gd name="T57" fmla="*/ 450 h 720"/>
                <a:gd name="T58" fmla="*/ 643 w 674"/>
                <a:gd name="T59" fmla="*/ 566 h 720"/>
                <a:gd name="T60" fmla="*/ 504 w 674"/>
                <a:gd name="T61" fmla="*/ 598 h 720"/>
                <a:gd name="T62" fmla="*/ 246 w 674"/>
                <a:gd name="T63" fmla="*/ 72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74" h="720">
                  <a:moveTo>
                    <a:pt x="243" y="407"/>
                  </a:moveTo>
                  <a:cubicBezTo>
                    <a:pt x="236" y="421"/>
                    <a:pt x="241" y="439"/>
                    <a:pt x="255" y="448"/>
                  </a:cubicBezTo>
                  <a:cubicBezTo>
                    <a:pt x="267" y="455"/>
                    <a:pt x="282" y="453"/>
                    <a:pt x="292" y="444"/>
                  </a:cubicBezTo>
                  <a:lnTo>
                    <a:pt x="243" y="407"/>
                  </a:lnTo>
                  <a:close/>
                  <a:moveTo>
                    <a:pt x="418" y="169"/>
                  </a:moveTo>
                  <a:cubicBezTo>
                    <a:pt x="373" y="143"/>
                    <a:pt x="318" y="155"/>
                    <a:pt x="295" y="196"/>
                  </a:cubicBezTo>
                  <a:cubicBezTo>
                    <a:pt x="270" y="238"/>
                    <a:pt x="302" y="284"/>
                    <a:pt x="280" y="327"/>
                  </a:cubicBezTo>
                  <a:lnTo>
                    <a:pt x="350" y="367"/>
                  </a:lnTo>
                  <a:cubicBezTo>
                    <a:pt x="376" y="327"/>
                    <a:pt x="432" y="331"/>
                    <a:pt x="456" y="289"/>
                  </a:cubicBezTo>
                  <a:cubicBezTo>
                    <a:pt x="480" y="249"/>
                    <a:pt x="462" y="195"/>
                    <a:pt x="418" y="169"/>
                  </a:cubicBezTo>
                  <a:close/>
                  <a:moveTo>
                    <a:pt x="342" y="393"/>
                  </a:moveTo>
                  <a:lnTo>
                    <a:pt x="267" y="336"/>
                  </a:lnTo>
                  <a:cubicBezTo>
                    <a:pt x="261" y="331"/>
                    <a:pt x="253" y="333"/>
                    <a:pt x="250" y="339"/>
                  </a:cubicBezTo>
                  <a:cubicBezTo>
                    <a:pt x="246" y="345"/>
                    <a:pt x="248" y="354"/>
                    <a:pt x="254" y="358"/>
                  </a:cubicBezTo>
                  <a:lnTo>
                    <a:pt x="329" y="416"/>
                  </a:lnTo>
                  <a:cubicBezTo>
                    <a:pt x="335" y="420"/>
                    <a:pt x="343" y="418"/>
                    <a:pt x="346" y="412"/>
                  </a:cubicBezTo>
                  <a:cubicBezTo>
                    <a:pt x="350" y="406"/>
                    <a:pt x="348" y="397"/>
                    <a:pt x="342" y="393"/>
                  </a:cubicBezTo>
                  <a:close/>
                  <a:moveTo>
                    <a:pt x="445" y="144"/>
                  </a:moveTo>
                  <a:lnTo>
                    <a:pt x="468" y="102"/>
                  </a:lnTo>
                  <a:lnTo>
                    <a:pt x="449" y="91"/>
                  </a:lnTo>
                  <a:lnTo>
                    <a:pt x="426" y="133"/>
                  </a:lnTo>
                  <a:lnTo>
                    <a:pt x="445" y="144"/>
                  </a:lnTo>
                  <a:close/>
                  <a:moveTo>
                    <a:pt x="485" y="193"/>
                  </a:moveTo>
                  <a:lnTo>
                    <a:pt x="526" y="170"/>
                  </a:lnTo>
                  <a:lnTo>
                    <a:pt x="515" y="150"/>
                  </a:lnTo>
                  <a:lnTo>
                    <a:pt x="474" y="174"/>
                  </a:lnTo>
                  <a:lnTo>
                    <a:pt x="485" y="193"/>
                  </a:lnTo>
                  <a:close/>
                  <a:moveTo>
                    <a:pt x="385" y="121"/>
                  </a:moveTo>
                  <a:lnTo>
                    <a:pt x="385" y="73"/>
                  </a:lnTo>
                  <a:lnTo>
                    <a:pt x="363" y="73"/>
                  </a:lnTo>
                  <a:lnTo>
                    <a:pt x="363" y="121"/>
                  </a:lnTo>
                  <a:lnTo>
                    <a:pt x="385" y="121"/>
                  </a:lnTo>
                  <a:close/>
                  <a:moveTo>
                    <a:pt x="321" y="131"/>
                  </a:moveTo>
                  <a:lnTo>
                    <a:pt x="298" y="90"/>
                  </a:lnTo>
                  <a:lnTo>
                    <a:pt x="278" y="101"/>
                  </a:lnTo>
                  <a:lnTo>
                    <a:pt x="302" y="142"/>
                  </a:lnTo>
                  <a:lnTo>
                    <a:pt x="321" y="131"/>
                  </a:lnTo>
                  <a:close/>
                  <a:moveTo>
                    <a:pt x="496" y="257"/>
                  </a:moveTo>
                  <a:lnTo>
                    <a:pt x="543" y="257"/>
                  </a:lnTo>
                  <a:lnTo>
                    <a:pt x="543" y="235"/>
                  </a:lnTo>
                  <a:lnTo>
                    <a:pt x="496" y="235"/>
                  </a:lnTo>
                  <a:lnTo>
                    <a:pt x="496" y="257"/>
                  </a:lnTo>
                  <a:close/>
                  <a:moveTo>
                    <a:pt x="324" y="426"/>
                  </a:moveTo>
                  <a:lnTo>
                    <a:pt x="248" y="368"/>
                  </a:lnTo>
                  <a:cubicBezTo>
                    <a:pt x="242" y="364"/>
                    <a:pt x="235" y="365"/>
                    <a:pt x="231" y="372"/>
                  </a:cubicBezTo>
                  <a:cubicBezTo>
                    <a:pt x="227" y="378"/>
                    <a:pt x="229" y="386"/>
                    <a:pt x="235" y="391"/>
                  </a:cubicBezTo>
                  <a:lnTo>
                    <a:pt x="311" y="448"/>
                  </a:lnTo>
                  <a:cubicBezTo>
                    <a:pt x="316" y="453"/>
                    <a:pt x="324" y="451"/>
                    <a:pt x="328" y="445"/>
                  </a:cubicBezTo>
                  <a:cubicBezTo>
                    <a:pt x="331" y="439"/>
                    <a:pt x="329" y="430"/>
                    <a:pt x="324" y="426"/>
                  </a:cubicBezTo>
                  <a:close/>
                  <a:moveTo>
                    <a:pt x="246" y="720"/>
                  </a:moveTo>
                  <a:cubicBezTo>
                    <a:pt x="254" y="663"/>
                    <a:pt x="254" y="603"/>
                    <a:pt x="239" y="550"/>
                  </a:cubicBezTo>
                  <a:cubicBezTo>
                    <a:pt x="0" y="415"/>
                    <a:pt x="62" y="105"/>
                    <a:pt x="263" y="42"/>
                  </a:cubicBezTo>
                  <a:cubicBezTo>
                    <a:pt x="369" y="0"/>
                    <a:pt x="513" y="25"/>
                    <a:pt x="606" y="119"/>
                  </a:cubicBezTo>
                  <a:cubicBezTo>
                    <a:pt x="674" y="187"/>
                    <a:pt x="642" y="204"/>
                    <a:pt x="642" y="204"/>
                  </a:cubicBezTo>
                  <a:lnTo>
                    <a:pt x="627" y="213"/>
                  </a:lnTo>
                  <a:cubicBezTo>
                    <a:pt x="635" y="245"/>
                    <a:pt x="650" y="305"/>
                    <a:pt x="648" y="313"/>
                  </a:cubicBezTo>
                  <a:cubicBezTo>
                    <a:pt x="645" y="324"/>
                    <a:pt x="633" y="336"/>
                    <a:pt x="633" y="336"/>
                  </a:cubicBezTo>
                  <a:lnTo>
                    <a:pt x="667" y="450"/>
                  </a:lnTo>
                  <a:lnTo>
                    <a:pt x="636" y="462"/>
                  </a:lnTo>
                  <a:cubicBezTo>
                    <a:pt x="643" y="499"/>
                    <a:pt x="647" y="530"/>
                    <a:pt x="643" y="566"/>
                  </a:cubicBezTo>
                  <a:cubicBezTo>
                    <a:pt x="643" y="572"/>
                    <a:pt x="622" y="590"/>
                    <a:pt x="606" y="591"/>
                  </a:cubicBezTo>
                  <a:lnTo>
                    <a:pt x="504" y="598"/>
                  </a:lnTo>
                  <a:lnTo>
                    <a:pt x="510" y="720"/>
                  </a:lnTo>
                  <a:lnTo>
                    <a:pt x="246" y="7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13" name="矩形 12"/>
          <p:cNvSpPr/>
          <p:nvPr/>
        </p:nvSpPr>
        <p:spPr>
          <a:xfrm>
            <a:off x="3013268" y="755739"/>
            <a:ext cx="5280499" cy="2677656"/>
          </a:xfrm>
          <a:prstGeom prst="rect">
            <a:avLst/>
          </a:prstGeom>
          <a:ln w="28575"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在执行指令的过程中，如出现：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运算的溢出错误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存储器校验错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外部设备的服务请求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</p:txBody>
      </p:sp>
      <p:sp>
        <p:nvSpPr>
          <p:cNvPr id="14" name="矩形 13"/>
          <p:cNvSpPr/>
          <p:nvPr/>
        </p:nvSpPr>
        <p:spPr>
          <a:xfrm>
            <a:off x="3013268" y="3928694"/>
            <a:ext cx="6288901" cy="609398"/>
          </a:xfrm>
          <a:prstGeom prst="rect">
            <a:avLst/>
          </a:prstGeom>
          <a:ln w="28575"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上述异常情况时，必须转入异常处理；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7957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8477" y="-69646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250000"/>
              </a:lnSpc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本质的功能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76400" y="1938284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250000"/>
              </a:lnSpc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综上所述，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本质的功能是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250000"/>
              </a:lnSpc>
              <a:buNone/>
            </a:pP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取指令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—&gt;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分析指令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—&gt;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执行指令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250000"/>
              </a:lnSpc>
              <a:buNone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250000"/>
              </a:lnSpc>
              <a:buNone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9407075" y="2052459"/>
            <a:ext cx="2784925" cy="252849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5" name="Oval 9"/>
          <p:cNvSpPr>
            <a:spLocks noChangeArrowheads="1"/>
          </p:cNvSpPr>
          <p:nvPr/>
        </p:nvSpPr>
        <p:spPr bwMode="auto">
          <a:xfrm>
            <a:off x="10228006" y="2740867"/>
            <a:ext cx="1100235" cy="1108082"/>
          </a:xfrm>
          <a:prstGeom prst="ellipse">
            <a:avLst/>
          </a:prstGeom>
          <a:solidFill>
            <a:srgbClr val="FFFFFF"/>
          </a:solidFill>
          <a:ln w="1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6" name="Freeform 10"/>
          <p:cNvSpPr>
            <a:spLocks noEditPoints="1"/>
          </p:cNvSpPr>
          <p:nvPr/>
        </p:nvSpPr>
        <p:spPr bwMode="auto">
          <a:xfrm flipH="1">
            <a:off x="10466701" y="2884768"/>
            <a:ext cx="765288" cy="820279"/>
          </a:xfrm>
          <a:custGeom>
            <a:avLst/>
            <a:gdLst>
              <a:gd name="T0" fmla="*/ 255 w 674"/>
              <a:gd name="T1" fmla="*/ 448 h 720"/>
              <a:gd name="T2" fmla="*/ 243 w 674"/>
              <a:gd name="T3" fmla="*/ 407 h 720"/>
              <a:gd name="T4" fmla="*/ 295 w 674"/>
              <a:gd name="T5" fmla="*/ 196 h 720"/>
              <a:gd name="T6" fmla="*/ 350 w 674"/>
              <a:gd name="T7" fmla="*/ 367 h 720"/>
              <a:gd name="T8" fmla="*/ 418 w 674"/>
              <a:gd name="T9" fmla="*/ 169 h 720"/>
              <a:gd name="T10" fmla="*/ 267 w 674"/>
              <a:gd name="T11" fmla="*/ 336 h 720"/>
              <a:gd name="T12" fmla="*/ 254 w 674"/>
              <a:gd name="T13" fmla="*/ 358 h 720"/>
              <a:gd name="T14" fmla="*/ 346 w 674"/>
              <a:gd name="T15" fmla="*/ 412 h 720"/>
              <a:gd name="T16" fmla="*/ 445 w 674"/>
              <a:gd name="T17" fmla="*/ 144 h 720"/>
              <a:gd name="T18" fmla="*/ 449 w 674"/>
              <a:gd name="T19" fmla="*/ 91 h 720"/>
              <a:gd name="T20" fmla="*/ 445 w 674"/>
              <a:gd name="T21" fmla="*/ 144 h 720"/>
              <a:gd name="T22" fmla="*/ 526 w 674"/>
              <a:gd name="T23" fmla="*/ 170 h 720"/>
              <a:gd name="T24" fmla="*/ 474 w 674"/>
              <a:gd name="T25" fmla="*/ 174 h 720"/>
              <a:gd name="T26" fmla="*/ 385 w 674"/>
              <a:gd name="T27" fmla="*/ 121 h 720"/>
              <a:gd name="T28" fmla="*/ 363 w 674"/>
              <a:gd name="T29" fmla="*/ 73 h 720"/>
              <a:gd name="T30" fmla="*/ 385 w 674"/>
              <a:gd name="T31" fmla="*/ 121 h 720"/>
              <a:gd name="T32" fmla="*/ 298 w 674"/>
              <a:gd name="T33" fmla="*/ 90 h 720"/>
              <a:gd name="T34" fmla="*/ 302 w 674"/>
              <a:gd name="T35" fmla="*/ 142 h 720"/>
              <a:gd name="T36" fmla="*/ 496 w 674"/>
              <a:gd name="T37" fmla="*/ 257 h 720"/>
              <a:gd name="T38" fmla="*/ 543 w 674"/>
              <a:gd name="T39" fmla="*/ 235 h 720"/>
              <a:gd name="T40" fmla="*/ 496 w 674"/>
              <a:gd name="T41" fmla="*/ 257 h 720"/>
              <a:gd name="T42" fmla="*/ 248 w 674"/>
              <a:gd name="T43" fmla="*/ 368 h 720"/>
              <a:gd name="T44" fmla="*/ 235 w 674"/>
              <a:gd name="T45" fmla="*/ 391 h 720"/>
              <a:gd name="T46" fmla="*/ 328 w 674"/>
              <a:gd name="T47" fmla="*/ 445 h 720"/>
              <a:gd name="T48" fmla="*/ 246 w 674"/>
              <a:gd name="T49" fmla="*/ 720 h 720"/>
              <a:gd name="T50" fmla="*/ 263 w 674"/>
              <a:gd name="T51" fmla="*/ 42 h 720"/>
              <a:gd name="T52" fmla="*/ 642 w 674"/>
              <a:gd name="T53" fmla="*/ 204 h 720"/>
              <a:gd name="T54" fmla="*/ 648 w 674"/>
              <a:gd name="T55" fmla="*/ 313 h 720"/>
              <a:gd name="T56" fmla="*/ 667 w 674"/>
              <a:gd name="T57" fmla="*/ 450 h 720"/>
              <a:gd name="T58" fmla="*/ 643 w 674"/>
              <a:gd name="T59" fmla="*/ 566 h 720"/>
              <a:gd name="T60" fmla="*/ 504 w 674"/>
              <a:gd name="T61" fmla="*/ 598 h 720"/>
              <a:gd name="T62" fmla="*/ 246 w 674"/>
              <a:gd name="T63" fmla="*/ 72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674" h="720">
                <a:moveTo>
                  <a:pt x="243" y="407"/>
                </a:moveTo>
                <a:cubicBezTo>
                  <a:pt x="236" y="421"/>
                  <a:pt x="241" y="439"/>
                  <a:pt x="255" y="448"/>
                </a:cubicBezTo>
                <a:cubicBezTo>
                  <a:pt x="267" y="455"/>
                  <a:pt x="282" y="453"/>
                  <a:pt x="292" y="444"/>
                </a:cubicBezTo>
                <a:lnTo>
                  <a:pt x="243" y="407"/>
                </a:lnTo>
                <a:close/>
                <a:moveTo>
                  <a:pt x="418" y="169"/>
                </a:moveTo>
                <a:cubicBezTo>
                  <a:pt x="373" y="143"/>
                  <a:pt x="318" y="155"/>
                  <a:pt x="295" y="196"/>
                </a:cubicBezTo>
                <a:cubicBezTo>
                  <a:pt x="270" y="238"/>
                  <a:pt x="302" y="284"/>
                  <a:pt x="280" y="327"/>
                </a:cubicBezTo>
                <a:lnTo>
                  <a:pt x="350" y="367"/>
                </a:lnTo>
                <a:cubicBezTo>
                  <a:pt x="376" y="327"/>
                  <a:pt x="432" y="331"/>
                  <a:pt x="456" y="289"/>
                </a:cubicBezTo>
                <a:cubicBezTo>
                  <a:pt x="480" y="249"/>
                  <a:pt x="462" y="195"/>
                  <a:pt x="418" y="169"/>
                </a:cubicBezTo>
                <a:close/>
                <a:moveTo>
                  <a:pt x="342" y="393"/>
                </a:moveTo>
                <a:lnTo>
                  <a:pt x="267" y="336"/>
                </a:lnTo>
                <a:cubicBezTo>
                  <a:pt x="261" y="331"/>
                  <a:pt x="253" y="333"/>
                  <a:pt x="250" y="339"/>
                </a:cubicBezTo>
                <a:cubicBezTo>
                  <a:pt x="246" y="345"/>
                  <a:pt x="248" y="354"/>
                  <a:pt x="254" y="358"/>
                </a:cubicBezTo>
                <a:lnTo>
                  <a:pt x="329" y="416"/>
                </a:lnTo>
                <a:cubicBezTo>
                  <a:pt x="335" y="420"/>
                  <a:pt x="343" y="418"/>
                  <a:pt x="346" y="412"/>
                </a:cubicBezTo>
                <a:cubicBezTo>
                  <a:pt x="350" y="406"/>
                  <a:pt x="348" y="397"/>
                  <a:pt x="342" y="393"/>
                </a:cubicBezTo>
                <a:close/>
                <a:moveTo>
                  <a:pt x="445" y="144"/>
                </a:moveTo>
                <a:lnTo>
                  <a:pt x="468" y="102"/>
                </a:lnTo>
                <a:lnTo>
                  <a:pt x="449" y="91"/>
                </a:lnTo>
                <a:lnTo>
                  <a:pt x="426" y="133"/>
                </a:lnTo>
                <a:lnTo>
                  <a:pt x="445" y="144"/>
                </a:lnTo>
                <a:close/>
                <a:moveTo>
                  <a:pt x="485" y="193"/>
                </a:moveTo>
                <a:lnTo>
                  <a:pt x="526" y="170"/>
                </a:lnTo>
                <a:lnTo>
                  <a:pt x="515" y="150"/>
                </a:lnTo>
                <a:lnTo>
                  <a:pt x="474" y="174"/>
                </a:lnTo>
                <a:lnTo>
                  <a:pt x="485" y="193"/>
                </a:lnTo>
                <a:close/>
                <a:moveTo>
                  <a:pt x="385" y="121"/>
                </a:moveTo>
                <a:lnTo>
                  <a:pt x="385" y="73"/>
                </a:lnTo>
                <a:lnTo>
                  <a:pt x="363" y="73"/>
                </a:lnTo>
                <a:lnTo>
                  <a:pt x="363" y="121"/>
                </a:lnTo>
                <a:lnTo>
                  <a:pt x="385" y="121"/>
                </a:lnTo>
                <a:close/>
                <a:moveTo>
                  <a:pt x="321" y="131"/>
                </a:moveTo>
                <a:lnTo>
                  <a:pt x="298" y="90"/>
                </a:lnTo>
                <a:lnTo>
                  <a:pt x="278" y="101"/>
                </a:lnTo>
                <a:lnTo>
                  <a:pt x="302" y="142"/>
                </a:lnTo>
                <a:lnTo>
                  <a:pt x="321" y="131"/>
                </a:lnTo>
                <a:close/>
                <a:moveTo>
                  <a:pt x="496" y="257"/>
                </a:moveTo>
                <a:lnTo>
                  <a:pt x="543" y="257"/>
                </a:lnTo>
                <a:lnTo>
                  <a:pt x="543" y="235"/>
                </a:lnTo>
                <a:lnTo>
                  <a:pt x="496" y="235"/>
                </a:lnTo>
                <a:lnTo>
                  <a:pt x="496" y="257"/>
                </a:lnTo>
                <a:close/>
                <a:moveTo>
                  <a:pt x="324" y="426"/>
                </a:moveTo>
                <a:lnTo>
                  <a:pt x="248" y="368"/>
                </a:lnTo>
                <a:cubicBezTo>
                  <a:pt x="242" y="364"/>
                  <a:pt x="235" y="365"/>
                  <a:pt x="231" y="372"/>
                </a:cubicBezTo>
                <a:cubicBezTo>
                  <a:pt x="227" y="378"/>
                  <a:pt x="229" y="386"/>
                  <a:pt x="235" y="391"/>
                </a:cubicBezTo>
                <a:lnTo>
                  <a:pt x="311" y="448"/>
                </a:lnTo>
                <a:cubicBezTo>
                  <a:pt x="316" y="453"/>
                  <a:pt x="324" y="451"/>
                  <a:pt x="328" y="445"/>
                </a:cubicBezTo>
                <a:cubicBezTo>
                  <a:pt x="331" y="439"/>
                  <a:pt x="329" y="430"/>
                  <a:pt x="324" y="426"/>
                </a:cubicBezTo>
                <a:close/>
                <a:moveTo>
                  <a:pt x="246" y="720"/>
                </a:moveTo>
                <a:cubicBezTo>
                  <a:pt x="254" y="663"/>
                  <a:pt x="254" y="603"/>
                  <a:pt x="239" y="550"/>
                </a:cubicBezTo>
                <a:cubicBezTo>
                  <a:pt x="0" y="415"/>
                  <a:pt x="62" y="105"/>
                  <a:pt x="263" y="42"/>
                </a:cubicBezTo>
                <a:cubicBezTo>
                  <a:pt x="369" y="0"/>
                  <a:pt x="513" y="25"/>
                  <a:pt x="606" y="119"/>
                </a:cubicBezTo>
                <a:cubicBezTo>
                  <a:pt x="674" y="187"/>
                  <a:pt x="642" y="204"/>
                  <a:pt x="642" y="204"/>
                </a:cubicBezTo>
                <a:lnTo>
                  <a:pt x="627" y="213"/>
                </a:lnTo>
                <a:cubicBezTo>
                  <a:pt x="635" y="245"/>
                  <a:pt x="650" y="305"/>
                  <a:pt x="648" y="313"/>
                </a:cubicBezTo>
                <a:cubicBezTo>
                  <a:pt x="645" y="324"/>
                  <a:pt x="633" y="336"/>
                  <a:pt x="633" y="336"/>
                </a:cubicBezTo>
                <a:lnTo>
                  <a:pt x="667" y="450"/>
                </a:lnTo>
                <a:lnTo>
                  <a:pt x="636" y="462"/>
                </a:lnTo>
                <a:cubicBezTo>
                  <a:pt x="643" y="499"/>
                  <a:pt x="647" y="530"/>
                  <a:pt x="643" y="566"/>
                </a:cubicBezTo>
                <a:cubicBezTo>
                  <a:pt x="643" y="572"/>
                  <a:pt x="622" y="590"/>
                  <a:pt x="606" y="591"/>
                </a:cubicBezTo>
                <a:lnTo>
                  <a:pt x="504" y="598"/>
                </a:lnTo>
                <a:lnTo>
                  <a:pt x="510" y="720"/>
                </a:lnTo>
                <a:lnTo>
                  <a:pt x="246" y="72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grpSp>
        <p:nvGrpSpPr>
          <p:cNvPr id="7" name="组合 6"/>
          <p:cNvGrpSpPr/>
          <p:nvPr/>
        </p:nvGrpSpPr>
        <p:grpSpPr>
          <a:xfrm>
            <a:off x="238339" y="419377"/>
            <a:ext cx="438352" cy="621987"/>
            <a:chOff x="265635" y="269251"/>
            <a:chExt cx="438352" cy="621987"/>
          </a:xfrm>
        </p:grpSpPr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9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4265596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875773" y="144446"/>
            <a:ext cx="5974331" cy="830954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的基本组成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Freeform 5"/>
          <p:cNvSpPr>
            <a:spLocks/>
          </p:cNvSpPr>
          <p:nvPr/>
        </p:nvSpPr>
        <p:spPr bwMode="auto">
          <a:xfrm>
            <a:off x="269585" y="269251"/>
            <a:ext cx="262616" cy="266567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04B0BE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6" name="Freeform 6"/>
          <p:cNvSpPr>
            <a:spLocks/>
          </p:cNvSpPr>
          <p:nvPr/>
        </p:nvSpPr>
        <p:spPr bwMode="auto">
          <a:xfrm>
            <a:off x="441371" y="443010"/>
            <a:ext cx="262616" cy="268540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04B0BE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7" name="Freeform 7"/>
          <p:cNvSpPr>
            <a:spLocks/>
          </p:cNvSpPr>
          <p:nvPr/>
        </p:nvSpPr>
        <p:spPr bwMode="auto">
          <a:xfrm>
            <a:off x="265635" y="624671"/>
            <a:ext cx="260640" cy="266567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04B0BE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9" name="椭圆 8"/>
          <p:cNvSpPr/>
          <p:nvPr/>
        </p:nvSpPr>
        <p:spPr bwMode="auto">
          <a:xfrm>
            <a:off x="875773" y="1409459"/>
            <a:ext cx="799664" cy="799664"/>
          </a:xfrm>
          <a:prstGeom prst="ellipse">
            <a:avLst/>
          </a:prstGeom>
          <a:solidFill>
            <a:srgbClr val="04B0B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endParaRPr lang="zh-CN" altLang="en-US" sz="1699"/>
          </a:p>
        </p:txBody>
      </p:sp>
      <p:sp>
        <p:nvSpPr>
          <p:cNvPr id="10" name="TextBox 9"/>
          <p:cNvSpPr txBox="1"/>
          <p:nvPr/>
        </p:nvSpPr>
        <p:spPr>
          <a:xfrm>
            <a:off x="930136" y="1517021"/>
            <a:ext cx="598156" cy="584605"/>
          </a:xfrm>
          <a:prstGeom prst="rect">
            <a:avLst/>
          </a:prstGeom>
          <a:noFill/>
        </p:spPr>
        <p:txBody>
          <a:bodyPr wrap="none" lIns="91398" tIns="45699" rIns="91398" bIns="45699" rtlCol="0">
            <a:spAutoFit/>
          </a:bodyPr>
          <a:lstStyle/>
          <a:p>
            <a:r>
              <a:rPr lang="en-US" altLang="zh-CN" sz="3199" b="1" dirty="0">
                <a:solidFill>
                  <a:schemeClr val="bg1"/>
                </a:solidFill>
                <a:latin typeface="+mj-ea"/>
                <a:ea typeface="+mj-ea"/>
              </a:rPr>
              <a:t>01</a:t>
            </a:r>
            <a:endParaRPr lang="zh-CN" altLang="en-US" sz="3199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椭圆 10"/>
          <p:cNvSpPr/>
          <p:nvPr/>
        </p:nvSpPr>
        <p:spPr bwMode="auto">
          <a:xfrm>
            <a:off x="875773" y="3345031"/>
            <a:ext cx="799664" cy="799664"/>
          </a:xfrm>
          <a:prstGeom prst="ellipse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endParaRPr lang="zh-CN" altLang="en-US" sz="1699"/>
          </a:p>
        </p:txBody>
      </p:sp>
      <p:sp>
        <p:nvSpPr>
          <p:cNvPr id="12" name="TextBox 11"/>
          <p:cNvSpPr txBox="1"/>
          <p:nvPr/>
        </p:nvSpPr>
        <p:spPr>
          <a:xfrm>
            <a:off x="930136" y="3452592"/>
            <a:ext cx="598156" cy="584605"/>
          </a:xfrm>
          <a:prstGeom prst="rect">
            <a:avLst/>
          </a:prstGeom>
          <a:noFill/>
        </p:spPr>
        <p:txBody>
          <a:bodyPr wrap="none" lIns="91398" tIns="45699" rIns="91398" bIns="45699" rtlCol="0">
            <a:spAutoFit/>
          </a:bodyPr>
          <a:lstStyle/>
          <a:p>
            <a:r>
              <a:rPr lang="en-US" altLang="zh-CN" sz="3199" b="1" dirty="0">
                <a:solidFill>
                  <a:schemeClr val="bg1"/>
                </a:solidFill>
                <a:latin typeface="+mj-ea"/>
                <a:ea typeface="+mj-ea"/>
              </a:rPr>
              <a:t>02</a:t>
            </a:r>
            <a:endParaRPr lang="zh-CN" altLang="en-US" sz="3199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椭圆 12"/>
          <p:cNvSpPr/>
          <p:nvPr/>
        </p:nvSpPr>
        <p:spPr bwMode="auto">
          <a:xfrm>
            <a:off x="875773" y="5333540"/>
            <a:ext cx="799664" cy="799664"/>
          </a:xfrm>
          <a:prstGeom prst="ellipse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endParaRPr lang="zh-CN" altLang="en-US" sz="1699"/>
          </a:p>
        </p:txBody>
      </p:sp>
      <p:sp>
        <p:nvSpPr>
          <p:cNvPr id="14" name="TextBox 13"/>
          <p:cNvSpPr txBox="1"/>
          <p:nvPr/>
        </p:nvSpPr>
        <p:spPr>
          <a:xfrm>
            <a:off x="930136" y="5441103"/>
            <a:ext cx="598156" cy="584605"/>
          </a:xfrm>
          <a:prstGeom prst="rect">
            <a:avLst/>
          </a:prstGeom>
          <a:noFill/>
        </p:spPr>
        <p:txBody>
          <a:bodyPr wrap="none" lIns="91398" tIns="45699" rIns="91398" bIns="45699" rtlCol="0">
            <a:spAutoFit/>
          </a:bodyPr>
          <a:lstStyle/>
          <a:p>
            <a:r>
              <a:rPr lang="en-US" altLang="zh-CN" sz="3199" b="1" dirty="0">
                <a:solidFill>
                  <a:schemeClr val="bg1"/>
                </a:solidFill>
                <a:latin typeface="+mj-ea"/>
                <a:ea typeface="+mj-ea"/>
              </a:rPr>
              <a:t>03</a:t>
            </a:r>
            <a:endParaRPr lang="zh-CN" altLang="en-US" sz="3199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15" name="直接连接符 14"/>
          <p:cNvCxnSpPr/>
          <p:nvPr/>
        </p:nvCxnSpPr>
        <p:spPr bwMode="auto">
          <a:xfrm>
            <a:off x="1282070" y="4152835"/>
            <a:ext cx="0" cy="1143541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直接连接符 18"/>
          <p:cNvCxnSpPr/>
          <p:nvPr/>
        </p:nvCxnSpPr>
        <p:spPr bwMode="auto">
          <a:xfrm>
            <a:off x="1282070" y="2214433"/>
            <a:ext cx="0" cy="1143541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2" name="矩形 1"/>
          <p:cNvSpPr/>
          <p:nvPr/>
        </p:nvSpPr>
        <p:spPr>
          <a:xfrm>
            <a:off x="2000338" y="1460137"/>
            <a:ext cx="946815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早期，计算机中，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被分成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运算器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控制器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两个部分 。 </a:t>
            </a:r>
          </a:p>
        </p:txBody>
      </p:sp>
      <p:sp>
        <p:nvSpPr>
          <p:cNvPr id="3" name="矩形 2"/>
          <p:cNvSpPr/>
          <p:nvPr/>
        </p:nvSpPr>
        <p:spPr>
          <a:xfrm>
            <a:off x="2000338" y="2729200"/>
            <a:ext cx="931249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随着超大规模集成电路技术的发展，许多早期放在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外部的逻辑功能部件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如：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浮点运算器等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被集成到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内部，使得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的内部结构越来越复杂。</a:t>
            </a:r>
          </a:p>
        </p:txBody>
      </p:sp>
      <p:sp>
        <p:nvSpPr>
          <p:cNvPr id="4" name="矩形 3"/>
          <p:cNvSpPr/>
          <p:nvPr/>
        </p:nvSpPr>
        <p:spPr>
          <a:xfrm>
            <a:off x="2074114" y="5040874"/>
            <a:ext cx="939438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通常，认为目前的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运算器、控制器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三大部分组成。</a:t>
            </a:r>
          </a:p>
        </p:txBody>
      </p:sp>
    </p:spTree>
    <p:extLst>
      <p:ext uri="{BB962C8B-B14F-4D97-AF65-F5344CB8AC3E}">
        <p14:creationId xmlns:p14="http://schemas.microsoft.com/office/powerpoint/2010/main" val="3183229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7144">
        <p14:pan dir="u"/>
      </p:transition>
    </mc:Choice>
    <mc:Fallback xmlns="">
      <p:transition spd="slow" advTm="7144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877888" y="307114"/>
            <a:ext cx="2770187" cy="641350"/>
          </a:xfrm>
        </p:spPr>
        <p:txBody>
          <a:bodyPr/>
          <a:lstStyle/>
          <a:p>
            <a:r>
              <a:rPr lang="en-US" altLang="zh-CN" sz="3200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CPU</a:t>
            </a:r>
            <a:r>
              <a:rPr lang="zh-CN" altLang="en-US" sz="3200" b="1" dirty="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模型</a:t>
            </a:r>
          </a:p>
        </p:txBody>
      </p:sp>
      <p:grpSp>
        <p:nvGrpSpPr>
          <p:cNvPr id="34" name="组合 33"/>
          <p:cNvGrpSpPr/>
          <p:nvPr/>
        </p:nvGrpSpPr>
        <p:grpSpPr>
          <a:xfrm>
            <a:off x="251987" y="282899"/>
            <a:ext cx="438352" cy="621987"/>
            <a:chOff x="265635" y="269251"/>
            <a:chExt cx="438352" cy="621987"/>
          </a:xfrm>
        </p:grpSpPr>
        <p:sp>
          <p:nvSpPr>
            <p:cNvPr id="35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36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37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pic>
        <p:nvPicPr>
          <p:cNvPr id="101" name="图片 4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512" y="988117"/>
            <a:ext cx="8432800" cy="553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" name="图片 10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6249" y="853180"/>
            <a:ext cx="5879504" cy="5695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" name="图片 4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0074" y="816864"/>
            <a:ext cx="5888037" cy="5721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" name="矩形 103"/>
          <p:cNvSpPr/>
          <p:nvPr/>
        </p:nvSpPr>
        <p:spPr>
          <a:xfrm>
            <a:off x="5035487" y="961574"/>
            <a:ext cx="2913062" cy="2403418"/>
          </a:xfrm>
          <a:prstGeom prst="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pic>
        <p:nvPicPr>
          <p:cNvPr id="105" name="图片 4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1112" y="2173979"/>
            <a:ext cx="766762" cy="61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6" name="图片 5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337" y="3585267"/>
            <a:ext cx="1096962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7" name="图片 5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1074" y="1132579"/>
            <a:ext cx="68262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" name="图片 5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3762" y="5596629"/>
            <a:ext cx="1049337" cy="72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" name="图片 5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8202" y="4661592"/>
            <a:ext cx="1096963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0" name="图片 5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7262" y="1594542"/>
            <a:ext cx="835025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1" name="图片 5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5412" y="853180"/>
            <a:ext cx="1719262" cy="438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" name="图片 5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3012" y="1780279"/>
            <a:ext cx="1584325" cy="51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3" name="图片 5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4487" y="2861367"/>
            <a:ext cx="1284287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4" name="图片 58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1924" y="2716904"/>
            <a:ext cx="1414463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5" name="图片 59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0999" y="3664642"/>
            <a:ext cx="1698625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6" name="图片 60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2699" y="3653529"/>
            <a:ext cx="1687513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7" name="图片 61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2899" y="4877492"/>
            <a:ext cx="166687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8" name="图片 62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0687" y="5669654"/>
            <a:ext cx="16859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9" name="图片 63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9162" y="2788342"/>
            <a:ext cx="260350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0" name="图片 64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9049" y="3580504"/>
            <a:ext cx="260350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1" name="图片 65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662" y="5020367"/>
            <a:ext cx="260350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" name="图片 66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9137" y="2559742"/>
            <a:ext cx="26035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" name="图片 67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3099" y="3724967"/>
            <a:ext cx="261938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4" name="图片 68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662" y="5452167"/>
            <a:ext cx="260350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5" name="图片 69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5624" y="934142"/>
            <a:ext cx="341313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6" name="图片 70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6024" y="927792"/>
            <a:ext cx="625475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7" name="图片 126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6574" y="5855392"/>
            <a:ext cx="788988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8" name="图片 14345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315137" y="2443854"/>
            <a:ext cx="27622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9" name="图片 14346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0124" y="2113654"/>
            <a:ext cx="31432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0" name="图片 14347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5424" y="1905692"/>
            <a:ext cx="258763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9812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855083" y="311643"/>
            <a:ext cx="5974331" cy="584733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运算器</a:t>
            </a:r>
          </a:p>
        </p:txBody>
      </p:sp>
      <p:sp>
        <p:nvSpPr>
          <p:cNvPr id="5" name="Freeform 5"/>
          <p:cNvSpPr>
            <a:spLocks/>
          </p:cNvSpPr>
          <p:nvPr/>
        </p:nvSpPr>
        <p:spPr bwMode="auto">
          <a:xfrm>
            <a:off x="269585" y="269251"/>
            <a:ext cx="262616" cy="266567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01C0B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6" name="Freeform 6"/>
          <p:cNvSpPr>
            <a:spLocks/>
          </p:cNvSpPr>
          <p:nvPr/>
        </p:nvSpPr>
        <p:spPr bwMode="auto">
          <a:xfrm>
            <a:off x="441371" y="443010"/>
            <a:ext cx="262616" cy="268540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01C0B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7" name="Freeform 7"/>
          <p:cNvSpPr>
            <a:spLocks/>
          </p:cNvSpPr>
          <p:nvPr/>
        </p:nvSpPr>
        <p:spPr bwMode="auto">
          <a:xfrm>
            <a:off x="265635" y="624671"/>
            <a:ext cx="260640" cy="266567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01C0B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69" name="Line 5"/>
          <p:cNvSpPr>
            <a:spLocks noChangeShapeType="1"/>
          </p:cNvSpPr>
          <p:nvPr/>
        </p:nvSpPr>
        <p:spPr bwMode="auto">
          <a:xfrm>
            <a:off x="1293308" y="1600897"/>
            <a:ext cx="0" cy="5255767"/>
          </a:xfrm>
          <a:prstGeom prst="line">
            <a:avLst/>
          </a:prstGeom>
          <a:noFill/>
          <a:ln w="12700" cap="flat">
            <a:solidFill>
              <a:srgbClr val="2E2C2C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70" name="Oval 6"/>
          <p:cNvSpPr>
            <a:spLocks noChangeArrowheads="1"/>
          </p:cNvSpPr>
          <p:nvPr/>
        </p:nvSpPr>
        <p:spPr bwMode="auto">
          <a:xfrm>
            <a:off x="1174293" y="4202692"/>
            <a:ext cx="238032" cy="234859"/>
          </a:xfrm>
          <a:prstGeom prst="ellipse">
            <a:avLst/>
          </a:prstGeom>
          <a:solidFill>
            <a:schemeClr val="accent4"/>
          </a:solidFill>
          <a:ln w="1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71" name="Oval 7"/>
          <p:cNvSpPr>
            <a:spLocks noChangeArrowheads="1"/>
          </p:cNvSpPr>
          <p:nvPr/>
        </p:nvSpPr>
        <p:spPr bwMode="auto">
          <a:xfrm>
            <a:off x="1174293" y="5306359"/>
            <a:ext cx="238032" cy="234859"/>
          </a:xfrm>
          <a:prstGeom prst="ellipse">
            <a:avLst/>
          </a:prstGeom>
          <a:solidFill>
            <a:schemeClr val="accent4"/>
          </a:solidFill>
          <a:ln w="1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72" name="Freeform 9"/>
          <p:cNvSpPr>
            <a:spLocks/>
          </p:cNvSpPr>
          <p:nvPr/>
        </p:nvSpPr>
        <p:spPr bwMode="auto">
          <a:xfrm>
            <a:off x="1629727" y="1521550"/>
            <a:ext cx="165036" cy="207882"/>
          </a:xfrm>
          <a:custGeom>
            <a:avLst/>
            <a:gdLst>
              <a:gd name="T0" fmla="*/ 184 w 205"/>
              <a:gd name="T1" fmla="*/ 109 h 262"/>
              <a:gd name="T2" fmla="*/ 109 w 205"/>
              <a:gd name="T3" fmla="*/ 61 h 262"/>
              <a:gd name="T4" fmla="*/ 32 w 205"/>
              <a:gd name="T5" fmla="*/ 11 h 262"/>
              <a:gd name="T6" fmla="*/ 0 w 205"/>
              <a:gd name="T7" fmla="*/ 34 h 262"/>
              <a:gd name="T8" fmla="*/ 0 w 205"/>
              <a:gd name="T9" fmla="*/ 131 h 262"/>
              <a:gd name="T10" fmla="*/ 0 w 205"/>
              <a:gd name="T11" fmla="*/ 230 h 262"/>
              <a:gd name="T12" fmla="*/ 34 w 205"/>
              <a:gd name="T13" fmla="*/ 250 h 262"/>
              <a:gd name="T14" fmla="*/ 109 w 205"/>
              <a:gd name="T15" fmla="*/ 202 h 262"/>
              <a:gd name="T16" fmla="*/ 186 w 205"/>
              <a:gd name="T17" fmla="*/ 152 h 262"/>
              <a:gd name="T18" fmla="*/ 184 w 205"/>
              <a:gd name="T19" fmla="*/ 109 h 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5" h="262">
                <a:moveTo>
                  <a:pt x="184" y="109"/>
                </a:moveTo>
                <a:lnTo>
                  <a:pt x="109" y="61"/>
                </a:lnTo>
                <a:cubicBezTo>
                  <a:pt x="83" y="44"/>
                  <a:pt x="58" y="28"/>
                  <a:pt x="32" y="11"/>
                </a:cubicBezTo>
                <a:cubicBezTo>
                  <a:pt x="11" y="0"/>
                  <a:pt x="0" y="9"/>
                  <a:pt x="0" y="34"/>
                </a:cubicBezTo>
                <a:lnTo>
                  <a:pt x="0" y="131"/>
                </a:lnTo>
                <a:cubicBezTo>
                  <a:pt x="0" y="164"/>
                  <a:pt x="0" y="197"/>
                  <a:pt x="0" y="230"/>
                </a:cubicBezTo>
                <a:cubicBezTo>
                  <a:pt x="2" y="256"/>
                  <a:pt x="14" y="262"/>
                  <a:pt x="34" y="250"/>
                </a:cubicBezTo>
                <a:lnTo>
                  <a:pt x="109" y="202"/>
                </a:lnTo>
                <a:cubicBezTo>
                  <a:pt x="135" y="185"/>
                  <a:pt x="160" y="169"/>
                  <a:pt x="186" y="152"/>
                </a:cubicBezTo>
                <a:cubicBezTo>
                  <a:pt x="205" y="137"/>
                  <a:pt x="203" y="122"/>
                  <a:pt x="184" y="109"/>
                </a:cubicBezTo>
                <a:close/>
              </a:path>
            </a:pathLst>
          </a:custGeom>
          <a:solidFill>
            <a:srgbClr val="01C0B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73" name="Freeform 11"/>
          <p:cNvSpPr>
            <a:spLocks/>
          </p:cNvSpPr>
          <p:nvPr/>
        </p:nvSpPr>
        <p:spPr bwMode="auto">
          <a:xfrm>
            <a:off x="1629727" y="3046571"/>
            <a:ext cx="165036" cy="206294"/>
          </a:xfrm>
          <a:custGeom>
            <a:avLst/>
            <a:gdLst>
              <a:gd name="T0" fmla="*/ 184 w 205"/>
              <a:gd name="T1" fmla="*/ 108 h 261"/>
              <a:gd name="T2" fmla="*/ 109 w 205"/>
              <a:gd name="T3" fmla="*/ 60 h 261"/>
              <a:gd name="T4" fmla="*/ 32 w 205"/>
              <a:gd name="T5" fmla="*/ 10 h 261"/>
              <a:gd name="T6" fmla="*/ 0 w 205"/>
              <a:gd name="T7" fmla="*/ 33 h 261"/>
              <a:gd name="T8" fmla="*/ 0 w 205"/>
              <a:gd name="T9" fmla="*/ 130 h 261"/>
              <a:gd name="T10" fmla="*/ 0 w 205"/>
              <a:gd name="T11" fmla="*/ 229 h 261"/>
              <a:gd name="T12" fmla="*/ 34 w 205"/>
              <a:gd name="T13" fmla="*/ 249 h 261"/>
              <a:gd name="T14" fmla="*/ 109 w 205"/>
              <a:gd name="T15" fmla="*/ 201 h 261"/>
              <a:gd name="T16" fmla="*/ 186 w 205"/>
              <a:gd name="T17" fmla="*/ 151 h 261"/>
              <a:gd name="T18" fmla="*/ 184 w 205"/>
              <a:gd name="T19" fmla="*/ 108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5" h="261">
                <a:moveTo>
                  <a:pt x="184" y="108"/>
                </a:moveTo>
                <a:lnTo>
                  <a:pt x="109" y="60"/>
                </a:lnTo>
                <a:cubicBezTo>
                  <a:pt x="83" y="43"/>
                  <a:pt x="58" y="27"/>
                  <a:pt x="32" y="10"/>
                </a:cubicBezTo>
                <a:cubicBezTo>
                  <a:pt x="11" y="0"/>
                  <a:pt x="0" y="8"/>
                  <a:pt x="0" y="33"/>
                </a:cubicBezTo>
                <a:lnTo>
                  <a:pt x="0" y="130"/>
                </a:lnTo>
                <a:cubicBezTo>
                  <a:pt x="0" y="163"/>
                  <a:pt x="0" y="196"/>
                  <a:pt x="0" y="229"/>
                </a:cubicBezTo>
                <a:cubicBezTo>
                  <a:pt x="2" y="255"/>
                  <a:pt x="14" y="261"/>
                  <a:pt x="34" y="249"/>
                </a:cubicBezTo>
                <a:lnTo>
                  <a:pt x="109" y="201"/>
                </a:lnTo>
                <a:cubicBezTo>
                  <a:pt x="135" y="184"/>
                  <a:pt x="160" y="168"/>
                  <a:pt x="186" y="151"/>
                </a:cubicBezTo>
                <a:cubicBezTo>
                  <a:pt x="205" y="136"/>
                  <a:pt x="203" y="122"/>
                  <a:pt x="184" y="108"/>
                </a:cubicBez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grpSp>
        <p:nvGrpSpPr>
          <p:cNvPr id="74" name="组合 73"/>
          <p:cNvGrpSpPr/>
          <p:nvPr/>
        </p:nvGrpSpPr>
        <p:grpSpPr>
          <a:xfrm>
            <a:off x="912405" y="1349701"/>
            <a:ext cx="717324" cy="523092"/>
            <a:chOff x="912759" y="1007596"/>
            <a:chExt cx="717604" cy="523296"/>
          </a:xfrm>
        </p:grpSpPr>
        <p:sp>
          <p:nvSpPr>
            <p:cNvPr id="75" name="Freeform 8"/>
            <p:cNvSpPr>
              <a:spLocks/>
            </p:cNvSpPr>
            <p:nvPr/>
          </p:nvSpPr>
          <p:spPr bwMode="auto">
            <a:xfrm>
              <a:off x="985838" y="1052513"/>
              <a:ext cx="615950" cy="433387"/>
            </a:xfrm>
            <a:custGeom>
              <a:avLst/>
              <a:gdLst>
                <a:gd name="T0" fmla="*/ 43 w 764"/>
                <a:gd name="T1" fmla="*/ 0 h 549"/>
                <a:gd name="T2" fmla="*/ 721 w 764"/>
                <a:gd name="T3" fmla="*/ 0 h 549"/>
                <a:gd name="T4" fmla="*/ 764 w 764"/>
                <a:gd name="T5" fmla="*/ 43 h 549"/>
                <a:gd name="T6" fmla="*/ 764 w 764"/>
                <a:gd name="T7" fmla="*/ 506 h 549"/>
                <a:gd name="T8" fmla="*/ 721 w 764"/>
                <a:gd name="T9" fmla="*/ 549 h 549"/>
                <a:gd name="T10" fmla="*/ 43 w 764"/>
                <a:gd name="T11" fmla="*/ 549 h 549"/>
                <a:gd name="T12" fmla="*/ 0 w 764"/>
                <a:gd name="T13" fmla="*/ 506 h 549"/>
                <a:gd name="T14" fmla="*/ 0 w 764"/>
                <a:gd name="T15" fmla="*/ 43 h 549"/>
                <a:gd name="T16" fmla="*/ 43 w 764"/>
                <a:gd name="T17" fmla="*/ 0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4" h="549">
                  <a:moveTo>
                    <a:pt x="43" y="0"/>
                  </a:moveTo>
                  <a:lnTo>
                    <a:pt x="721" y="0"/>
                  </a:lnTo>
                  <a:cubicBezTo>
                    <a:pt x="744" y="0"/>
                    <a:pt x="764" y="20"/>
                    <a:pt x="764" y="43"/>
                  </a:cubicBezTo>
                  <a:lnTo>
                    <a:pt x="764" y="506"/>
                  </a:lnTo>
                  <a:cubicBezTo>
                    <a:pt x="764" y="530"/>
                    <a:pt x="744" y="549"/>
                    <a:pt x="721" y="549"/>
                  </a:cubicBezTo>
                  <a:lnTo>
                    <a:pt x="43" y="549"/>
                  </a:lnTo>
                  <a:cubicBezTo>
                    <a:pt x="20" y="549"/>
                    <a:pt x="0" y="530"/>
                    <a:pt x="0" y="506"/>
                  </a:cubicBezTo>
                  <a:lnTo>
                    <a:pt x="0" y="43"/>
                  </a:lnTo>
                  <a:cubicBezTo>
                    <a:pt x="0" y="20"/>
                    <a:pt x="20" y="0"/>
                    <a:pt x="43" y="0"/>
                  </a:cubicBezTo>
                  <a:close/>
                </a:path>
              </a:pathLst>
            </a:custGeom>
            <a:solidFill>
              <a:srgbClr val="E855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912759" y="1007596"/>
              <a:ext cx="717604" cy="523296"/>
            </a:xfrm>
            <a:prstGeom prst="rect">
              <a:avLst/>
            </a:prstGeom>
            <a:solidFill>
              <a:srgbClr val="01C0B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799" dirty="0">
                  <a:solidFill>
                    <a:schemeClr val="bg1"/>
                  </a:solidFill>
                  <a:latin typeface="+mn-ea"/>
                </a:rPr>
                <a:t>01</a:t>
              </a:r>
              <a:endParaRPr lang="zh-CN" altLang="en-US" sz="2799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912405" y="2884073"/>
            <a:ext cx="717324" cy="523092"/>
            <a:chOff x="912759" y="1884191"/>
            <a:chExt cx="717604" cy="523296"/>
          </a:xfrm>
        </p:grpSpPr>
        <p:sp>
          <p:nvSpPr>
            <p:cNvPr id="80" name="Freeform 10"/>
            <p:cNvSpPr>
              <a:spLocks/>
            </p:cNvSpPr>
            <p:nvPr/>
          </p:nvSpPr>
          <p:spPr bwMode="auto">
            <a:xfrm>
              <a:off x="985838" y="1918165"/>
              <a:ext cx="615950" cy="433387"/>
            </a:xfrm>
            <a:custGeom>
              <a:avLst/>
              <a:gdLst>
                <a:gd name="T0" fmla="*/ 43 w 764"/>
                <a:gd name="T1" fmla="*/ 0 h 549"/>
                <a:gd name="T2" fmla="*/ 721 w 764"/>
                <a:gd name="T3" fmla="*/ 0 h 549"/>
                <a:gd name="T4" fmla="*/ 764 w 764"/>
                <a:gd name="T5" fmla="*/ 44 h 549"/>
                <a:gd name="T6" fmla="*/ 764 w 764"/>
                <a:gd name="T7" fmla="*/ 506 h 549"/>
                <a:gd name="T8" fmla="*/ 721 w 764"/>
                <a:gd name="T9" fmla="*/ 549 h 549"/>
                <a:gd name="T10" fmla="*/ 43 w 764"/>
                <a:gd name="T11" fmla="*/ 549 h 549"/>
                <a:gd name="T12" fmla="*/ 0 w 764"/>
                <a:gd name="T13" fmla="*/ 506 h 549"/>
                <a:gd name="T14" fmla="*/ 0 w 764"/>
                <a:gd name="T15" fmla="*/ 44 h 549"/>
                <a:gd name="T16" fmla="*/ 43 w 764"/>
                <a:gd name="T17" fmla="*/ 0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4" h="549">
                  <a:moveTo>
                    <a:pt x="43" y="0"/>
                  </a:moveTo>
                  <a:lnTo>
                    <a:pt x="721" y="0"/>
                  </a:lnTo>
                  <a:cubicBezTo>
                    <a:pt x="744" y="0"/>
                    <a:pt x="764" y="20"/>
                    <a:pt x="764" y="44"/>
                  </a:cubicBezTo>
                  <a:lnTo>
                    <a:pt x="764" y="506"/>
                  </a:lnTo>
                  <a:cubicBezTo>
                    <a:pt x="764" y="530"/>
                    <a:pt x="744" y="549"/>
                    <a:pt x="721" y="549"/>
                  </a:cubicBezTo>
                  <a:lnTo>
                    <a:pt x="43" y="549"/>
                  </a:lnTo>
                  <a:cubicBezTo>
                    <a:pt x="20" y="549"/>
                    <a:pt x="0" y="530"/>
                    <a:pt x="0" y="506"/>
                  </a:cubicBezTo>
                  <a:lnTo>
                    <a:pt x="0" y="44"/>
                  </a:lnTo>
                  <a:cubicBezTo>
                    <a:pt x="0" y="20"/>
                    <a:pt x="20" y="0"/>
                    <a:pt x="43" y="0"/>
                  </a:cubicBezTo>
                  <a:close/>
                </a:path>
              </a:pathLst>
            </a:custGeom>
            <a:solidFill>
              <a:srgbClr val="E855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912759" y="1884191"/>
              <a:ext cx="717604" cy="523296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799" dirty="0">
                  <a:solidFill>
                    <a:schemeClr val="bg1"/>
                  </a:solidFill>
                  <a:latin typeface="+mn-ea"/>
                </a:rPr>
                <a:t>02</a:t>
              </a:r>
              <a:endParaRPr lang="zh-CN" altLang="en-US" sz="2799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2" name="矩形 1"/>
          <p:cNvSpPr/>
          <p:nvPr/>
        </p:nvSpPr>
        <p:spPr>
          <a:xfrm>
            <a:off x="1922949" y="982533"/>
            <a:ext cx="889379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运算器是执行部件，它接受控制器的命令进行数据加工处理等工作。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010632" y="2799273"/>
            <a:ext cx="4134465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运算器有两个主要功能：</a:t>
            </a:r>
          </a:p>
        </p:txBody>
      </p:sp>
      <p:sp>
        <p:nvSpPr>
          <p:cNvPr id="4" name="矩形 3"/>
          <p:cNvSpPr/>
          <p:nvPr/>
        </p:nvSpPr>
        <p:spPr>
          <a:xfrm>
            <a:off x="2010632" y="3954552"/>
            <a:ext cx="3775393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执行所有的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算术运算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</p:txBody>
      </p:sp>
      <p:sp>
        <p:nvSpPr>
          <p:cNvPr id="8" name="矩形 7"/>
          <p:cNvSpPr/>
          <p:nvPr/>
        </p:nvSpPr>
        <p:spPr>
          <a:xfrm>
            <a:off x="1531340" y="5088251"/>
            <a:ext cx="982777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执行所有的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，并进行逻辑测试，如零值测试或两个值的比较。</a:t>
            </a:r>
          </a:p>
        </p:txBody>
      </p:sp>
    </p:spTree>
    <p:extLst>
      <p:ext uri="{BB962C8B-B14F-4D97-AF65-F5344CB8AC3E}">
        <p14:creationId xmlns:p14="http://schemas.microsoft.com/office/powerpoint/2010/main" val="594924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826">
        <p14:pan dir="u"/>
      </p:transition>
    </mc:Choice>
    <mc:Fallback xmlns="">
      <p:transition spd="slow" advTm="8826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837473" y="282817"/>
            <a:ext cx="5974331" cy="584733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控制器</a:t>
            </a:r>
          </a:p>
        </p:txBody>
      </p:sp>
      <p:sp>
        <p:nvSpPr>
          <p:cNvPr id="5" name="Freeform 5"/>
          <p:cNvSpPr>
            <a:spLocks/>
          </p:cNvSpPr>
          <p:nvPr/>
        </p:nvSpPr>
        <p:spPr bwMode="auto">
          <a:xfrm>
            <a:off x="269585" y="269251"/>
            <a:ext cx="262616" cy="266567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01C0B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6" name="Freeform 6"/>
          <p:cNvSpPr>
            <a:spLocks/>
          </p:cNvSpPr>
          <p:nvPr/>
        </p:nvSpPr>
        <p:spPr bwMode="auto">
          <a:xfrm>
            <a:off x="441371" y="443010"/>
            <a:ext cx="262616" cy="268540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01C0B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7" name="Freeform 7"/>
          <p:cNvSpPr>
            <a:spLocks/>
          </p:cNvSpPr>
          <p:nvPr/>
        </p:nvSpPr>
        <p:spPr bwMode="auto">
          <a:xfrm>
            <a:off x="265635" y="624671"/>
            <a:ext cx="260640" cy="266567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01C0B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69" name="Line 5"/>
          <p:cNvSpPr>
            <a:spLocks noChangeShapeType="1"/>
          </p:cNvSpPr>
          <p:nvPr/>
        </p:nvSpPr>
        <p:spPr bwMode="auto">
          <a:xfrm>
            <a:off x="1293308" y="1600897"/>
            <a:ext cx="0" cy="5255767"/>
          </a:xfrm>
          <a:prstGeom prst="line">
            <a:avLst/>
          </a:prstGeom>
          <a:noFill/>
          <a:ln w="12700" cap="flat">
            <a:solidFill>
              <a:srgbClr val="2E2C2C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70" name="Oval 6"/>
          <p:cNvSpPr>
            <a:spLocks noChangeArrowheads="1"/>
          </p:cNvSpPr>
          <p:nvPr/>
        </p:nvSpPr>
        <p:spPr bwMode="auto">
          <a:xfrm>
            <a:off x="1203414" y="3789739"/>
            <a:ext cx="238032" cy="234859"/>
          </a:xfrm>
          <a:prstGeom prst="ellipse">
            <a:avLst/>
          </a:prstGeom>
          <a:solidFill>
            <a:srgbClr val="01C0B0"/>
          </a:solidFill>
          <a:ln w="1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71" name="Oval 7"/>
          <p:cNvSpPr>
            <a:spLocks noChangeArrowheads="1"/>
          </p:cNvSpPr>
          <p:nvPr/>
        </p:nvSpPr>
        <p:spPr bwMode="auto">
          <a:xfrm>
            <a:off x="1174292" y="4801538"/>
            <a:ext cx="238032" cy="234859"/>
          </a:xfrm>
          <a:prstGeom prst="ellipse">
            <a:avLst/>
          </a:prstGeom>
          <a:solidFill>
            <a:srgbClr val="01C0B0"/>
          </a:solidFill>
          <a:ln w="1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72" name="Freeform 9"/>
          <p:cNvSpPr>
            <a:spLocks/>
          </p:cNvSpPr>
          <p:nvPr/>
        </p:nvSpPr>
        <p:spPr bwMode="auto">
          <a:xfrm>
            <a:off x="1629727" y="1521550"/>
            <a:ext cx="165036" cy="207882"/>
          </a:xfrm>
          <a:custGeom>
            <a:avLst/>
            <a:gdLst>
              <a:gd name="T0" fmla="*/ 184 w 205"/>
              <a:gd name="T1" fmla="*/ 109 h 262"/>
              <a:gd name="T2" fmla="*/ 109 w 205"/>
              <a:gd name="T3" fmla="*/ 61 h 262"/>
              <a:gd name="T4" fmla="*/ 32 w 205"/>
              <a:gd name="T5" fmla="*/ 11 h 262"/>
              <a:gd name="T6" fmla="*/ 0 w 205"/>
              <a:gd name="T7" fmla="*/ 34 h 262"/>
              <a:gd name="T8" fmla="*/ 0 w 205"/>
              <a:gd name="T9" fmla="*/ 131 h 262"/>
              <a:gd name="T10" fmla="*/ 0 w 205"/>
              <a:gd name="T11" fmla="*/ 230 h 262"/>
              <a:gd name="T12" fmla="*/ 34 w 205"/>
              <a:gd name="T13" fmla="*/ 250 h 262"/>
              <a:gd name="T14" fmla="*/ 109 w 205"/>
              <a:gd name="T15" fmla="*/ 202 h 262"/>
              <a:gd name="T16" fmla="*/ 186 w 205"/>
              <a:gd name="T17" fmla="*/ 152 h 262"/>
              <a:gd name="T18" fmla="*/ 184 w 205"/>
              <a:gd name="T19" fmla="*/ 109 h 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5" h="262">
                <a:moveTo>
                  <a:pt x="184" y="109"/>
                </a:moveTo>
                <a:lnTo>
                  <a:pt x="109" y="61"/>
                </a:lnTo>
                <a:cubicBezTo>
                  <a:pt x="83" y="44"/>
                  <a:pt x="58" y="28"/>
                  <a:pt x="32" y="11"/>
                </a:cubicBezTo>
                <a:cubicBezTo>
                  <a:pt x="11" y="0"/>
                  <a:pt x="0" y="9"/>
                  <a:pt x="0" y="34"/>
                </a:cubicBezTo>
                <a:lnTo>
                  <a:pt x="0" y="131"/>
                </a:lnTo>
                <a:cubicBezTo>
                  <a:pt x="0" y="164"/>
                  <a:pt x="0" y="197"/>
                  <a:pt x="0" y="230"/>
                </a:cubicBezTo>
                <a:cubicBezTo>
                  <a:pt x="2" y="256"/>
                  <a:pt x="14" y="262"/>
                  <a:pt x="34" y="250"/>
                </a:cubicBezTo>
                <a:lnTo>
                  <a:pt x="109" y="202"/>
                </a:lnTo>
                <a:cubicBezTo>
                  <a:pt x="135" y="185"/>
                  <a:pt x="160" y="169"/>
                  <a:pt x="186" y="152"/>
                </a:cubicBezTo>
                <a:cubicBezTo>
                  <a:pt x="205" y="137"/>
                  <a:pt x="203" y="122"/>
                  <a:pt x="184" y="109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73" name="Freeform 11"/>
          <p:cNvSpPr>
            <a:spLocks/>
          </p:cNvSpPr>
          <p:nvPr/>
        </p:nvSpPr>
        <p:spPr bwMode="auto">
          <a:xfrm>
            <a:off x="1629727" y="2888852"/>
            <a:ext cx="165036" cy="206294"/>
          </a:xfrm>
          <a:custGeom>
            <a:avLst/>
            <a:gdLst>
              <a:gd name="T0" fmla="*/ 184 w 205"/>
              <a:gd name="T1" fmla="*/ 108 h 261"/>
              <a:gd name="T2" fmla="*/ 109 w 205"/>
              <a:gd name="T3" fmla="*/ 60 h 261"/>
              <a:gd name="T4" fmla="*/ 32 w 205"/>
              <a:gd name="T5" fmla="*/ 10 h 261"/>
              <a:gd name="T6" fmla="*/ 0 w 205"/>
              <a:gd name="T7" fmla="*/ 33 h 261"/>
              <a:gd name="T8" fmla="*/ 0 w 205"/>
              <a:gd name="T9" fmla="*/ 130 h 261"/>
              <a:gd name="T10" fmla="*/ 0 w 205"/>
              <a:gd name="T11" fmla="*/ 229 h 261"/>
              <a:gd name="T12" fmla="*/ 34 w 205"/>
              <a:gd name="T13" fmla="*/ 249 h 261"/>
              <a:gd name="T14" fmla="*/ 109 w 205"/>
              <a:gd name="T15" fmla="*/ 201 h 261"/>
              <a:gd name="T16" fmla="*/ 186 w 205"/>
              <a:gd name="T17" fmla="*/ 151 h 261"/>
              <a:gd name="T18" fmla="*/ 184 w 205"/>
              <a:gd name="T19" fmla="*/ 108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5" h="261">
                <a:moveTo>
                  <a:pt x="184" y="108"/>
                </a:moveTo>
                <a:lnTo>
                  <a:pt x="109" y="60"/>
                </a:lnTo>
                <a:cubicBezTo>
                  <a:pt x="83" y="43"/>
                  <a:pt x="58" y="27"/>
                  <a:pt x="32" y="10"/>
                </a:cubicBezTo>
                <a:cubicBezTo>
                  <a:pt x="11" y="0"/>
                  <a:pt x="0" y="8"/>
                  <a:pt x="0" y="33"/>
                </a:cubicBezTo>
                <a:lnTo>
                  <a:pt x="0" y="130"/>
                </a:lnTo>
                <a:cubicBezTo>
                  <a:pt x="0" y="163"/>
                  <a:pt x="0" y="196"/>
                  <a:pt x="0" y="229"/>
                </a:cubicBezTo>
                <a:cubicBezTo>
                  <a:pt x="2" y="255"/>
                  <a:pt x="14" y="261"/>
                  <a:pt x="34" y="249"/>
                </a:cubicBezTo>
                <a:lnTo>
                  <a:pt x="109" y="201"/>
                </a:lnTo>
                <a:cubicBezTo>
                  <a:pt x="135" y="184"/>
                  <a:pt x="160" y="168"/>
                  <a:pt x="186" y="151"/>
                </a:cubicBezTo>
                <a:cubicBezTo>
                  <a:pt x="205" y="136"/>
                  <a:pt x="203" y="122"/>
                  <a:pt x="184" y="108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grpSp>
        <p:nvGrpSpPr>
          <p:cNvPr id="74" name="组合 73"/>
          <p:cNvGrpSpPr/>
          <p:nvPr/>
        </p:nvGrpSpPr>
        <p:grpSpPr>
          <a:xfrm>
            <a:off x="912405" y="1349701"/>
            <a:ext cx="717324" cy="523092"/>
            <a:chOff x="912759" y="1007596"/>
            <a:chExt cx="717604" cy="523296"/>
          </a:xfrm>
          <a:solidFill>
            <a:srgbClr val="FFC000"/>
          </a:solidFill>
        </p:grpSpPr>
        <p:sp>
          <p:nvSpPr>
            <p:cNvPr id="75" name="Freeform 8"/>
            <p:cNvSpPr>
              <a:spLocks/>
            </p:cNvSpPr>
            <p:nvPr/>
          </p:nvSpPr>
          <p:spPr bwMode="auto">
            <a:xfrm>
              <a:off x="985838" y="1052513"/>
              <a:ext cx="615950" cy="433387"/>
            </a:xfrm>
            <a:custGeom>
              <a:avLst/>
              <a:gdLst>
                <a:gd name="T0" fmla="*/ 43 w 764"/>
                <a:gd name="T1" fmla="*/ 0 h 549"/>
                <a:gd name="T2" fmla="*/ 721 w 764"/>
                <a:gd name="T3" fmla="*/ 0 h 549"/>
                <a:gd name="T4" fmla="*/ 764 w 764"/>
                <a:gd name="T5" fmla="*/ 43 h 549"/>
                <a:gd name="T6" fmla="*/ 764 w 764"/>
                <a:gd name="T7" fmla="*/ 506 h 549"/>
                <a:gd name="T8" fmla="*/ 721 w 764"/>
                <a:gd name="T9" fmla="*/ 549 h 549"/>
                <a:gd name="T10" fmla="*/ 43 w 764"/>
                <a:gd name="T11" fmla="*/ 549 h 549"/>
                <a:gd name="T12" fmla="*/ 0 w 764"/>
                <a:gd name="T13" fmla="*/ 506 h 549"/>
                <a:gd name="T14" fmla="*/ 0 w 764"/>
                <a:gd name="T15" fmla="*/ 43 h 549"/>
                <a:gd name="T16" fmla="*/ 43 w 764"/>
                <a:gd name="T17" fmla="*/ 0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4" h="549">
                  <a:moveTo>
                    <a:pt x="43" y="0"/>
                  </a:moveTo>
                  <a:lnTo>
                    <a:pt x="721" y="0"/>
                  </a:lnTo>
                  <a:cubicBezTo>
                    <a:pt x="744" y="0"/>
                    <a:pt x="764" y="20"/>
                    <a:pt x="764" y="43"/>
                  </a:cubicBezTo>
                  <a:lnTo>
                    <a:pt x="764" y="506"/>
                  </a:lnTo>
                  <a:cubicBezTo>
                    <a:pt x="764" y="530"/>
                    <a:pt x="744" y="549"/>
                    <a:pt x="721" y="549"/>
                  </a:cubicBezTo>
                  <a:lnTo>
                    <a:pt x="43" y="549"/>
                  </a:lnTo>
                  <a:cubicBezTo>
                    <a:pt x="20" y="549"/>
                    <a:pt x="0" y="530"/>
                    <a:pt x="0" y="506"/>
                  </a:cubicBezTo>
                  <a:lnTo>
                    <a:pt x="0" y="43"/>
                  </a:lnTo>
                  <a:cubicBezTo>
                    <a:pt x="0" y="20"/>
                    <a:pt x="20" y="0"/>
                    <a:pt x="4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912759" y="1007596"/>
              <a:ext cx="717604" cy="52329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799" dirty="0">
                  <a:solidFill>
                    <a:schemeClr val="bg1"/>
                  </a:solidFill>
                  <a:latin typeface="+mn-ea"/>
                </a:rPr>
                <a:t>01</a:t>
              </a:r>
              <a:endParaRPr lang="zh-CN" altLang="en-US" sz="2799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912405" y="2726354"/>
            <a:ext cx="717324" cy="523092"/>
            <a:chOff x="912759" y="1884191"/>
            <a:chExt cx="717604" cy="523296"/>
          </a:xfrm>
          <a:solidFill>
            <a:srgbClr val="00B0F0"/>
          </a:solidFill>
        </p:grpSpPr>
        <p:sp>
          <p:nvSpPr>
            <p:cNvPr id="80" name="Freeform 10"/>
            <p:cNvSpPr>
              <a:spLocks/>
            </p:cNvSpPr>
            <p:nvPr/>
          </p:nvSpPr>
          <p:spPr bwMode="auto">
            <a:xfrm>
              <a:off x="985838" y="1918165"/>
              <a:ext cx="615950" cy="433387"/>
            </a:xfrm>
            <a:custGeom>
              <a:avLst/>
              <a:gdLst>
                <a:gd name="T0" fmla="*/ 43 w 764"/>
                <a:gd name="T1" fmla="*/ 0 h 549"/>
                <a:gd name="T2" fmla="*/ 721 w 764"/>
                <a:gd name="T3" fmla="*/ 0 h 549"/>
                <a:gd name="T4" fmla="*/ 764 w 764"/>
                <a:gd name="T5" fmla="*/ 44 h 549"/>
                <a:gd name="T6" fmla="*/ 764 w 764"/>
                <a:gd name="T7" fmla="*/ 506 h 549"/>
                <a:gd name="T8" fmla="*/ 721 w 764"/>
                <a:gd name="T9" fmla="*/ 549 h 549"/>
                <a:gd name="T10" fmla="*/ 43 w 764"/>
                <a:gd name="T11" fmla="*/ 549 h 549"/>
                <a:gd name="T12" fmla="*/ 0 w 764"/>
                <a:gd name="T13" fmla="*/ 506 h 549"/>
                <a:gd name="T14" fmla="*/ 0 w 764"/>
                <a:gd name="T15" fmla="*/ 44 h 549"/>
                <a:gd name="T16" fmla="*/ 43 w 764"/>
                <a:gd name="T17" fmla="*/ 0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4" h="549">
                  <a:moveTo>
                    <a:pt x="43" y="0"/>
                  </a:moveTo>
                  <a:lnTo>
                    <a:pt x="721" y="0"/>
                  </a:lnTo>
                  <a:cubicBezTo>
                    <a:pt x="744" y="0"/>
                    <a:pt x="764" y="20"/>
                    <a:pt x="764" y="44"/>
                  </a:cubicBezTo>
                  <a:lnTo>
                    <a:pt x="764" y="506"/>
                  </a:lnTo>
                  <a:cubicBezTo>
                    <a:pt x="764" y="530"/>
                    <a:pt x="744" y="549"/>
                    <a:pt x="721" y="549"/>
                  </a:cubicBezTo>
                  <a:lnTo>
                    <a:pt x="43" y="549"/>
                  </a:lnTo>
                  <a:cubicBezTo>
                    <a:pt x="20" y="549"/>
                    <a:pt x="0" y="530"/>
                    <a:pt x="0" y="506"/>
                  </a:cubicBezTo>
                  <a:lnTo>
                    <a:pt x="0" y="44"/>
                  </a:lnTo>
                  <a:cubicBezTo>
                    <a:pt x="0" y="20"/>
                    <a:pt x="20" y="0"/>
                    <a:pt x="4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912759" y="1884191"/>
              <a:ext cx="717604" cy="52329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799" dirty="0">
                  <a:solidFill>
                    <a:schemeClr val="bg1"/>
                  </a:solidFill>
                  <a:latin typeface="+mn-ea"/>
                </a:rPr>
                <a:t>02</a:t>
              </a:r>
              <a:endParaRPr lang="zh-CN" altLang="en-US" sz="2799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9" name="矩形 8"/>
          <p:cNvSpPr/>
          <p:nvPr/>
        </p:nvSpPr>
        <p:spPr>
          <a:xfrm>
            <a:off x="1937582" y="1037666"/>
            <a:ext cx="9581128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控制器的组成：程序计数器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(PC)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、指令寄存器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(IR)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、指令译址译码器、时序产生器和操作控制器等；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982068" y="2350039"/>
            <a:ext cx="9659472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功能：是计算机中发布命令的“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决策机构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”；负责完成协调和指挥整个计算机系统的操作。</a:t>
            </a:r>
          </a:p>
        </p:txBody>
      </p:sp>
      <p:sp>
        <p:nvSpPr>
          <p:cNvPr id="11" name="矩形 10"/>
          <p:cNvSpPr/>
          <p:nvPr/>
        </p:nvSpPr>
        <p:spPr>
          <a:xfrm>
            <a:off x="1593229" y="3547974"/>
            <a:ext cx="10048311" cy="609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从内存中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出一条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令，并指出下一条指令在内存中的位置；</a:t>
            </a:r>
          </a:p>
        </p:txBody>
      </p:sp>
      <p:sp>
        <p:nvSpPr>
          <p:cNvPr id="12" name="矩形 11"/>
          <p:cNvSpPr/>
          <p:nvPr/>
        </p:nvSpPr>
        <p:spPr>
          <a:xfrm>
            <a:off x="1712244" y="4567340"/>
            <a:ext cx="8811905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对指令进行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或测试，并产生相应的操作控制信号，以便启动规定的动作；</a:t>
            </a:r>
          </a:p>
        </p:txBody>
      </p:sp>
      <p:sp>
        <p:nvSpPr>
          <p:cNvPr id="13" name="矩形 12"/>
          <p:cNvSpPr/>
          <p:nvPr/>
        </p:nvSpPr>
        <p:spPr>
          <a:xfrm>
            <a:off x="1794762" y="5556397"/>
            <a:ext cx="8811905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2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指挥并控制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CPU、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内存和输入/输出设备之间数据流动的方向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8" name="Oval 7"/>
          <p:cNvSpPr>
            <a:spLocks noChangeArrowheads="1"/>
          </p:cNvSpPr>
          <p:nvPr/>
        </p:nvSpPr>
        <p:spPr bwMode="auto">
          <a:xfrm>
            <a:off x="1186987" y="5594242"/>
            <a:ext cx="344081" cy="234859"/>
          </a:xfrm>
          <a:prstGeom prst="ellipse">
            <a:avLst/>
          </a:prstGeom>
          <a:solidFill>
            <a:srgbClr val="01C0B0"/>
          </a:solidFill>
          <a:ln w="1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</a:pP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8334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826">
        <p14:pan dir="u"/>
      </p:transition>
    </mc:Choice>
    <mc:Fallback xmlns="">
      <p:transition spd="slow" advTm="8826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1434609" y="1833034"/>
            <a:ext cx="9313819" cy="368458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0089D2"/>
            </a:solidFill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409605" y="1769534"/>
            <a:ext cx="9313819" cy="3684587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矩形 5"/>
          <p:cNvSpPr>
            <a:spLocks noChangeArrowheads="1"/>
          </p:cNvSpPr>
          <p:nvPr/>
        </p:nvSpPr>
        <p:spPr bwMode="auto">
          <a:xfrm>
            <a:off x="1427165" y="1807634"/>
            <a:ext cx="9337675" cy="3684587"/>
          </a:xfrm>
          <a:prstGeom prst="rect">
            <a:avLst/>
          </a:prstGeom>
          <a:noFill/>
          <a:ln w="19050">
            <a:solidFill>
              <a:srgbClr val="0089D2"/>
            </a:solidFill>
            <a:bevel/>
            <a:headEnd/>
            <a:tailEnd/>
          </a:ln>
        </p:spPr>
        <p:txBody>
          <a:bodyPr lIns="91424" tIns="45713" rIns="91424" bIns="45713" anchor="ctr"/>
          <a:lstStyle/>
          <a:p>
            <a:pPr algn="ctr"/>
            <a:endParaRPr lang="zh-CN" altLang="zh-CN" sz="240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8" name="Picture 6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 rot="854817">
            <a:off x="8974774" y="5241992"/>
            <a:ext cx="1658468" cy="1050719"/>
          </a:xfrm>
          <a:prstGeom prst="rect">
            <a:avLst/>
          </a:prstGeom>
          <a:solidFill>
            <a:srgbClr val="FFFFFF">
              <a:shade val="85000"/>
            </a:srgbClr>
          </a:solidFill>
          <a:ln w="1143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23" name="Picture 172"/>
          <p:cNvPicPr>
            <a:picLocks noChangeAspect="1" noChangeArrowheads="1"/>
          </p:cNvPicPr>
          <p:nvPr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29707" y="127871"/>
            <a:ext cx="2206912" cy="919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矩形 23"/>
          <p:cNvSpPr/>
          <p:nvPr/>
        </p:nvSpPr>
        <p:spPr>
          <a:xfrm>
            <a:off x="0" y="6748043"/>
            <a:ext cx="12192000" cy="134292"/>
          </a:xfrm>
          <a:prstGeom prst="rect">
            <a:avLst/>
          </a:prstGeom>
          <a:solidFill>
            <a:srgbClr val="04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3425202" y="790575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延迟符</a:t>
            </a:r>
          </a:p>
        </p:txBody>
      </p:sp>
      <p:sp>
        <p:nvSpPr>
          <p:cNvPr id="2" name="矩形 1"/>
          <p:cNvSpPr/>
          <p:nvPr/>
        </p:nvSpPr>
        <p:spPr>
          <a:xfrm>
            <a:off x="1434609" y="1807634"/>
            <a:ext cx="9105039" cy="37117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功能：根据指令译码的结果和程序及机器当前的状态，按照一定的时序要求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产生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指令执行过程中所需的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所有操作控制信号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两种设计方法：</a:t>
            </a:r>
          </a:p>
          <a:p>
            <a:pPr lvl="1">
              <a:lnSpc>
                <a:spcPct val="12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硬布线设计法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（又称组合逻辑设计法），采用</a:t>
            </a:r>
            <a:r>
              <a:rPr lang="zh-CN" altLang="en-US" sz="28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组合逻辑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思想设计；</a:t>
            </a:r>
          </a:p>
          <a:p>
            <a:pPr lvl="1">
              <a:lnSpc>
                <a:spcPct val="12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微程序设计法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，采用</a:t>
            </a:r>
            <a:r>
              <a:rPr lang="zh-CN" altLang="en-US" sz="2800" b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存储逻辑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思想设计。</a:t>
            </a:r>
          </a:p>
        </p:txBody>
      </p:sp>
      <p:sp>
        <p:nvSpPr>
          <p:cNvPr id="3" name="矩形 2"/>
          <p:cNvSpPr/>
          <p:nvPr/>
        </p:nvSpPr>
        <p:spPr>
          <a:xfrm>
            <a:off x="1409605" y="1094938"/>
            <a:ext cx="109136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01C0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控制器核心部件-</a:t>
            </a:r>
            <a:r>
              <a:rPr lang="en-US" altLang="zh-CN" sz="3200" b="1" dirty="0">
                <a:solidFill>
                  <a:srgbClr val="01C0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00" b="1" dirty="0">
                <a:solidFill>
                  <a:srgbClr val="01C0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操作控制时序产生器</a:t>
            </a:r>
          </a:p>
        </p:txBody>
      </p:sp>
    </p:spTree>
    <p:extLst>
      <p:ext uri="{BB962C8B-B14F-4D97-AF65-F5344CB8AC3E}">
        <p14:creationId xmlns:p14="http://schemas.microsoft.com/office/powerpoint/2010/main" val="1831958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0">
        <p14:pan dir="u"/>
      </p:transition>
    </mc:Choice>
    <mc:Fallback xmlns="">
      <p:transition spd="slow" advClick="0" advTm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862125" y="70326"/>
            <a:ext cx="3273147" cy="113598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Cache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3084134" y="1800158"/>
            <a:ext cx="8461872" cy="4191000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为了进一步提高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的运行效率，目前的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内部通常会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内置高速缓冲存储器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。内置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的容量和结构对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的性能影响较大，一般容量越大越好。在许多高性能处理器内部，一级缓存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en-US" altLang="zh-CN" b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通常设置为两个，一个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，一个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，以减少取指令和读操作数的访问冲突，这种结构也叫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哈佛结构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-22289" y="2164754"/>
            <a:ext cx="2735237" cy="2528499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5" name="Oval 9"/>
          <p:cNvSpPr>
            <a:spLocks noChangeArrowheads="1"/>
          </p:cNvSpPr>
          <p:nvPr/>
        </p:nvSpPr>
        <p:spPr bwMode="auto">
          <a:xfrm>
            <a:off x="769489" y="2896757"/>
            <a:ext cx="1100235" cy="1108082"/>
          </a:xfrm>
          <a:prstGeom prst="ellipse">
            <a:avLst/>
          </a:prstGeom>
          <a:solidFill>
            <a:srgbClr val="FFFFFF"/>
          </a:solidFill>
          <a:ln w="1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6" name="Freeform 40"/>
          <p:cNvSpPr>
            <a:spLocks noEditPoints="1"/>
          </p:cNvSpPr>
          <p:nvPr/>
        </p:nvSpPr>
        <p:spPr bwMode="auto">
          <a:xfrm>
            <a:off x="927247" y="3188714"/>
            <a:ext cx="784720" cy="524170"/>
          </a:xfrm>
          <a:custGeom>
            <a:avLst/>
            <a:gdLst>
              <a:gd name="T0" fmla="*/ 544 w 564"/>
              <a:gd name="T1" fmla="*/ 27 h 376"/>
              <a:gd name="T2" fmla="*/ 544 w 564"/>
              <a:gd name="T3" fmla="*/ 309 h 376"/>
              <a:gd name="T4" fmla="*/ 536 w 564"/>
              <a:gd name="T5" fmla="*/ 309 h 376"/>
              <a:gd name="T6" fmla="*/ 518 w 564"/>
              <a:gd name="T7" fmla="*/ 308 h 376"/>
              <a:gd name="T8" fmla="*/ 285 w 564"/>
              <a:gd name="T9" fmla="*/ 367 h 376"/>
              <a:gd name="T10" fmla="*/ 282 w 564"/>
              <a:gd name="T11" fmla="*/ 368 h 376"/>
              <a:gd name="T12" fmla="*/ 279 w 564"/>
              <a:gd name="T13" fmla="*/ 367 h 376"/>
              <a:gd name="T14" fmla="*/ 46 w 564"/>
              <a:gd name="T15" fmla="*/ 308 h 376"/>
              <a:gd name="T16" fmla="*/ 28 w 564"/>
              <a:gd name="T17" fmla="*/ 309 h 376"/>
              <a:gd name="T18" fmla="*/ 20 w 564"/>
              <a:gd name="T19" fmla="*/ 309 h 376"/>
              <a:gd name="T20" fmla="*/ 20 w 564"/>
              <a:gd name="T21" fmla="*/ 27 h 376"/>
              <a:gd name="T22" fmla="*/ 0 w 564"/>
              <a:gd name="T23" fmla="*/ 27 h 376"/>
              <a:gd name="T24" fmla="*/ 0 w 564"/>
              <a:gd name="T25" fmla="*/ 320 h 376"/>
              <a:gd name="T26" fmla="*/ 282 w 564"/>
              <a:gd name="T27" fmla="*/ 376 h 376"/>
              <a:gd name="T28" fmla="*/ 564 w 564"/>
              <a:gd name="T29" fmla="*/ 320 h 376"/>
              <a:gd name="T30" fmla="*/ 564 w 564"/>
              <a:gd name="T31" fmla="*/ 27 h 376"/>
              <a:gd name="T32" fmla="*/ 544 w 564"/>
              <a:gd name="T33" fmla="*/ 27 h 376"/>
              <a:gd name="T34" fmla="*/ 272 w 564"/>
              <a:gd name="T35" fmla="*/ 319 h 376"/>
              <a:gd name="T36" fmla="*/ 272 w 564"/>
              <a:gd name="T37" fmla="*/ 63 h 376"/>
              <a:gd name="T38" fmla="*/ 77 w 564"/>
              <a:gd name="T39" fmla="*/ 1 h 376"/>
              <a:gd name="T40" fmla="*/ 77 w 564"/>
              <a:gd name="T41" fmla="*/ 269 h 376"/>
              <a:gd name="T42" fmla="*/ 84 w 564"/>
              <a:gd name="T43" fmla="*/ 269 h 376"/>
              <a:gd name="T44" fmla="*/ 272 w 564"/>
              <a:gd name="T45" fmla="*/ 319 h 376"/>
              <a:gd name="T46" fmla="*/ 487 w 564"/>
              <a:gd name="T47" fmla="*/ 269 h 376"/>
              <a:gd name="T48" fmla="*/ 487 w 564"/>
              <a:gd name="T49" fmla="*/ 1 h 376"/>
              <a:gd name="T50" fmla="*/ 292 w 564"/>
              <a:gd name="T51" fmla="*/ 63 h 376"/>
              <a:gd name="T52" fmla="*/ 292 w 564"/>
              <a:gd name="T53" fmla="*/ 319 h 376"/>
              <a:gd name="T54" fmla="*/ 480 w 564"/>
              <a:gd name="T55" fmla="*/ 269 h 376"/>
              <a:gd name="T56" fmla="*/ 487 w 564"/>
              <a:gd name="T57" fmla="*/ 269 h 376"/>
              <a:gd name="T58" fmla="*/ 282 w 564"/>
              <a:gd name="T59" fmla="*/ 361 h 376"/>
              <a:gd name="T60" fmla="*/ 531 w 564"/>
              <a:gd name="T61" fmla="*/ 302 h 376"/>
              <a:gd name="T62" fmla="*/ 531 w 564"/>
              <a:gd name="T63" fmla="*/ 5 h 376"/>
              <a:gd name="T64" fmla="*/ 501 w 564"/>
              <a:gd name="T65" fmla="*/ 5 h 376"/>
              <a:gd name="T66" fmla="*/ 501 w 564"/>
              <a:gd name="T67" fmla="*/ 283 h 376"/>
              <a:gd name="T68" fmla="*/ 493 w 564"/>
              <a:gd name="T69" fmla="*/ 282 h 376"/>
              <a:gd name="T70" fmla="*/ 478 w 564"/>
              <a:gd name="T71" fmla="*/ 282 h 376"/>
              <a:gd name="T72" fmla="*/ 287 w 564"/>
              <a:gd name="T73" fmla="*/ 337 h 376"/>
              <a:gd name="T74" fmla="*/ 282 w 564"/>
              <a:gd name="T75" fmla="*/ 340 h 376"/>
              <a:gd name="T76" fmla="*/ 277 w 564"/>
              <a:gd name="T77" fmla="*/ 337 h 376"/>
              <a:gd name="T78" fmla="*/ 86 w 564"/>
              <a:gd name="T79" fmla="*/ 282 h 376"/>
              <a:gd name="T80" fmla="*/ 71 w 564"/>
              <a:gd name="T81" fmla="*/ 282 h 376"/>
              <a:gd name="T82" fmla="*/ 63 w 564"/>
              <a:gd name="T83" fmla="*/ 283 h 376"/>
              <a:gd name="T84" fmla="*/ 63 w 564"/>
              <a:gd name="T85" fmla="*/ 5 h 376"/>
              <a:gd name="T86" fmla="*/ 33 w 564"/>
              <a:gd name="T87" fmla="*/ 5 h 376"/>
              <a:gd name="T88" fmla="*/ 33 w 564"/>
              <a:gd name="T89" fmla="*/ 302 h 376"/>
              <a:gd name="T90" fmla="*/ 282 w 564"/>
              <a:gd name="T91" fmla="*/ 361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564" h="376">
                <a:moveTo>
                  <a:pt x="544" y="27"/>
                </a:moveTo>
                <a:lnTo>
                  <a:pt x="544" y="309"/>
                </a:lnTo>
                <a:lnTo>
                  <a:pt x="536" y="309"/>
                </a:lnTo>
                <a:cubicBezTo>
                  <a:pt x="530" y="308"/>
                  <a:pt x="524" y="308"/>
                  <a:pt x="518" y="308"/>
                </a:cubicBezTo>
                <a:cubicBezTo>
                  <a:pt x="440" y="308"/>
                  <a:pt x="357" y="329"/>
                  <a:pt x="285" y="367"/>
                </a:cubicBezTo>
                <a:lnTo>
                  <a:pt x="282" y="368"/>
                </a:lnTo>
                <a:lnTo>
                  <a:pt x="279" y="367"/>
                </a:lnTo>
                <a:cubicBezTo>
                  <a:pt x="207" y="329"/>
                  <a:pt x="124" y="308"/>
                  <a:pt x="46" y="308"/>
                </a:cubicBezTo>
                <a:cubicBezTo>
                  <a:pt x="40" y="308"/>
                  <a:pt x="34" y="308"/>
                  <a:pt x="28" y="309"/>
                </a:cubicBezTo>
                <a:lnTo>
                  <a:pt x="20" y="309"/>
                </a:lnTo>
                <a:lnTo>
                  <a:pt x="20" y="27"/>
                </a:lnTo>
                <a:cubicBezTo>
                  <a:pt x="13" y="27"/>
                  <a:pt x="6" y="27"/>
                  <a:pt x="0" y="27"/>
                </a:cubicBezTo>
                <a:lnTo>
                  <a:pt x="0" y="320"/>
                </a:lnTo>
                <a:cubicBezTo>
                  <a:pt x="94" y="317"/>
                  <a:pt x="194" y="338"/>
                  <a:pt x="282" y="376"/>
                </a:cubicBezTo>
                <a:cubicBezTo>
                  <a:pt x="370" y="338"/>
                  <a:pt x="470" y="317"/>
                  <a:pt x="564" y="320"/>
                </a:cubicBezTo>
                <a:lnTo>
                  <a:pt x="564" y="27"/>
                </a:lnTo>
                <a:cubicBezTo>
                  <a:pt x="558" y="27"/>
                  <a:pt x="551" y="27"/>
                  <a:pt x="544" y="27"/>
                </a:cubicBezTo>
                <a:close/>
                <a:moveTo>
                  <a:pt x="272" y="319"/>
                </a:moveTo>
                <a:lnTo>
                  <a:pt x="272" y="63"/>
                </a:lnTo>
                <a:cubicBezTo>
                  <a:pt x="212" y="22"/>
                  <a:pt x="142" y="0"/>
                  <a:pt x="77" y="1"/>
                </a:cubicBezTo>
                <a:lnTo>
                  <a:pt x="77" y="269"/>
                </a:lnTo>
                <a:cubicBezTo>
                  <a:pt x="79" y="269"/>
                  <a:pt x="82" y="269"/>
                  <a:pt x="84" y="269"/>
                </a:cubicBezTo>
                <a:cubicBezTo>
                  <a:pt x="147" y="269"/>
                  <a:pt x="214" y="287"/>
                  <a:pt x="272" y="319"/>
                </a:cubicBezTo>
                <a:close/>
                <a:moveTo>
                  <a:pt x="487" y="269"/>
                </a:moveTo>
                <a:lnTo>
                  <a:pt x="487" y="1"/>
                </a:lnTo>
                <a:cubicBezTo>
                  <a:pt x="422" y="0"/>
                  <a:pt x="352" y="22"/>
                  <a:pt x="292" y="63"/>
                </a:cubicBezTo>
                <a:lnTo>
                  <a:pt x="292" y="319"/>
                </a:lnTo>
                <a:cubicBezTo>
                  <a:pt x="350" y="287"/>
                  <a:pt x="417" y="269"/>
                  <a:pt x="480" y="269"/>
                </a:cubicBezTo>
                <a:cubicBezTo>
                  <a:pt x="482" y="269"/>
                  <a:pt x="485" y="269"/>
                  <a:pt x="487" y="269"/>
                </a:cubicBezTo>
                <a:close/>
                <a:moveTo>
                  <a:pt x="282" y="361"/>
                </a:moveTo>
                <a:cubicBezTo>
                  <a:pt x="362" y="318"/>
                  <a:pt x="451" y="299"/>
                  <a:pt x="531" y="302"/>
                </a:cubicBezTo>
                <a:lnTo>
                  <a:pt x="531" y="5"/>
                </a:lnTo>
                <a:cubicBezTo>
                  <a:pt x="521" y="5"/>
                  <a:pt x="511" y="5"/>
                  <a:pt x="501" y="5"/>
                </a:cubicBezTo>
                <a:lnTo>
                  <a:pt x="501" y="283"/>
                </a:lnTo>
                <a:lnTo>
                  <a:pt x="493" y="282"/>
                </a:lnTo>
                <a:cubicBezTo>
                  <a:pt x="488" y="282"/>
                  <a:pt x="483" y="282"/>
                  <a:pt x="478" y="282"/>
                </a:cubicBezTo>
                <a:cubicBezTo>
                  <a:pt x="414" y="282"/>
                  <a:pt x="346" y="301"/>
                  <a:pt x="287" y="337"/>
                </a:cubicBezTo>
                <a:lnTo>
                  <a:pt x="282" y="340"/>
                </a:lnTo>
                <a:lnTo>
                  <a:pt x="277" y="337"/>
                </a:lnTo>
                <a:cubicBezTo>
                  <a:pt x="218" y="301"/>
                  <a:pt x="150" y="282"/>
                  <a:pt x="86" y="282"/>
                </a:cubicBezTo>
                <a:cubicBezTo>
                  <a:pt x="81" y="282"/>
                  <a:pt x="76" y="282"/>
                  <a:pt x="71" y="282"/>
                </a:cubicBezTo>
                <a:lnTo>
                  <a:pt x="63" y="283"/>
                </a:lnTo>
                <a:lnTo>
                  <a:pt x="63" y="5"/>
                </a:lnTo>
                <a:cubicBezTo>
                  <a:pt x="53" y="5"/>
                  <a:pt x="43" y="5"/>
                  <a:pt x="33" y="5"/>
                </a:cubicBezTo>
                <a:lnTo>
                  <a:pt x="33" y="302"/>
                </a:lnTo>
                <a:cubicBezTo>
                  <a:pt x="113" y="299"/>
                  <a:pt x="202" y="318"/>
                  <a:pt x="282" y="361"/>
                </a:cubicBezTo>
                <a:close/>
              </a:path>
            </a:pathLst>
          </a:custGeom>
          <a:solidFill>
            <a:srgbClr val="01C0B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grpSp>
        <p:nvGrpSpPr>
          <p:cNvPr id="7" name="组合 6"/>
          <p:cNvGrpSpPr/>
          <p:nvPr/>
        </p:nvGrpSpPr>
        <p:grpSpPr>
          <a:xfrm>
            <a:off x="251987" y="282899"/>
            <a:ext cx="438352" cy="621987"/>
            <a:chOff x="265635" y="269251"/>
            <a:chExt cx="438352" cy="621987"/>
          </a:xfrm>
        </p:grpSpPr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9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1589863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841759" y="270741"/>
            <a:ext cx="5974331" cy="584733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的寄存器组织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Freeform 5"/>
          <p:cNvSpPr>
            <a:spLocks/>
          </p:cNvSpPr>
          <p:nvPr/>
        </p:nvSpPr>
        <p:spPr bwMode="auto">
          <a:xfrm>
            <a:off x="269585" y="269251"/>
            <a:ext cx="262616" cy="266567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01C0B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6" name="Freeform 6"/>
          <p:cNvSpPr>
            <a:spLocks/>
          </p:cNvSpPr>
          <p:nvPr/>
        </p:nvSpPr>
        <p:spPr bwMode="auto">
          <a:xfrm>
            <a:off x="441371" y="443010"/>
            <a:ext cx="262616" cy="268540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01C0B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7" name="Freeform 7"/>
          <p:cNvSpPr>
            <a:spLocks/>
          </p:cNvSpPr>
          <p:nvPr/>
        </p:nvSpPr>
        <p:spPr bwMode="auto">
          <a:xfrm>
            <a:off x="265635" y="624671"/>
            <a:ext cx="260640" cy="266567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01C0B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69" name="Line 5"/>
          <p:cNvSpPr>
            <a:spLocks noChangeShapeType="1"/>
          </p:cNvSpPr>
          <p:nvPr/>
        </p:nvSpPr>
        <p:spPr bwMode="auto">
          <a:xfrm>
            <a:off x="1293308" y="1600897"/>
            <a:ext cx="0" cy="5255767"/>
          </a:xfrm>
          <a:prstGeom prst="line">
            <a:avLst/>
          </a:prstGeom>
          <a:noFill/>
          <a:ln w="12700" cap="flat">
            <a:solidFill>
              <a:srgbClr val="2E2C2C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70" name="Oval 6"/>
          <p:cNvSpPr>
            <a:spLocks noChangeArrowheads="1"/>
          </p:cNvSpPr>
          <p:nvPr/>
        </p:nvSpPr>
        <p:spPr bwMode="auto">
          <a:xfrm>
            <a:off x="1174292" y="2780960"/>
            <a:ext cx="238032" cy="234859"/>
          </a:xfrm>
          <a:prstGeom prst="ellipse">
            <a:avLst/>
          </a:prstGeom>
          <a:solidFill>
            <a:schemeClr val="accent4"/>
          </a:solidFill>
          <a:ln w="1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71" name="Oval 7"/>
          <p:cNvSpPr>
            <a:spLocks noChangeArrowheads="1"/>
          </p:cNvSpPr>
          <p:nvPr/>
        </p:nvSpPr>
        <p:spPr bwMode="auto">
          <a:xfrm>
            <a:off x="1159961" y="3396727"/>
            <a:ext cx="238032" cy="234859"/>
          </a:xfrm>
          <a:prstGeom prst="ellipse">
            <a:avLst/>
          </a:prstGeom>
          <a:solidFill>
            <a:schemeClr val="accent4"/>
          </a:solidFill>
          <a:ln w="1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72" name="Freeform 9"/>
          <p:cNvSpPr>
            <a:spLocks/>
          </p:cNvSpPr>
          <p:nvPr/>
        </p:nvSpPr>
        <p:spPr bwMode="auto">
          <a:xfrm>
            <a:off x="1449873" y="1319982"/>
            <a:ext cx="165036" cy="207882"/>
          </a:xfrm>
          <a:custGeom>
            <a:avLst/>
            <a:gdLst>
              <a:gd name="T0" fmla="*/ 184 w 205"/>
              <a:gd name="T1" fmla="*/ 109 h 262"/>
              <a:gd name="T2" fmla="*/ 109 w 205"/>
              <a:gd name="T3" fmla="*/ 61 h 262"/>
              <a:gd name="T4" fmla="*/ 32 w 205"/>
              <a:gd name="T5" fmla="*/ 11 h 262"/>
              <a:gd name="T6" fmla="*/ 0 w 205"/>
              <a:gd name="T7" fmla="*/ 34 h 262"/>
              <a:gd name="T8" fmla="*/ 0 w 205"/>
              <a:gd name="T9" fmla="*/ 131 h 262"/>
              <a:gd name="T10" fmla="*/ 0 w 205"/>
              <a:gd name="T11" fmla="*/ 230 h 262"/>
              <a:gd name="T12" fmla="*/ 34 w 205"/>
              <a:gd name="T13" fmla="*/ 250 h 262"/>
              <a:gd name="T14" fmla="*/ 109 w 205"/>
              <a:gd name="T15" fmla="*/ 202 h 262"/>
              <a:gd name="T16" fmla="*/ 186 w 205"/>
              <a:gd name="T17" fmla="*/ 152 h 262"/>
              <a:gd name="T18" fmla="*/ 184 w 205"/>
              <a:gd name="T19" fmla="*/ 109 h 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5" h="262">
                <a:moveTo>
                  <a:pt x="184" y="109"/>
                </a:moveTo>
                <a:lnTo>
                  <a:pt x="109" y="61"/>
                </a:lnTo>
                <a:cubicBezTo>
                  <a:pt x="83" y="44"/>
                  <a:pt x="58" y="28"/>
                  <a:pt x="32" y="11"/>
                </a:cubicBezTo>
                <a:cubicBezTo>
                  <a:pt x="11" y="0"/>
                  <a:pt x="0" y="9"/>
                  <a:pt x="0" y="34"/>
                </a:cubicBezTo>
                <a:lnTo>
                  <a:pt x="0" y="131"/>
                </a:lnTo>
                <a:cubicBezTo>
                  <a:pt x="0" y="164"/>
                  <a:pt x="0" y="197"/>
                  <a:pt x="0" y="230"/>
                </a:cubicBezTo>
                <a:cubicBezTo>
                  <a:pt x="2" y="256"/>
                  <a:pt x="14" y="262"/>
                  <a:pt x="34" y="250"/>
                </a:cubicBezTo>
                <a:lnTo>
                  <a:pt x="109" y="202"/>
                </a:lnTo>
                <a:cubicBezTo>
                  <a:pt x="135" y="185"/>
                  <a:pt x="160" y="169"/>
                  <a:pt x="186" y="152"/>
                </a:cubicBezTo>
                <a:cubicBezTo>
                  <a:pt x="205" y="137"/>
                  <a:pt x="203" y="122"/>
                  <a:pt x="184" y="109"/>
                </a:cubicBezTo>
                <a:close/>
              </a:path>
            </a:pathLst>
          </a:custGeom>
          <a:solidFill>
            <a:srgbClr val="01C0B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73" name="Freeform 11"/>
          <p:cNvSpPr>
            <a:spLocks/>
          </p:cNvSpPr>
          <p:nvPr/>
        </p:nvSpPr>
        <p:spPr bwMode="auto">
          <a:xfrm>
            <a:off x="1421309" y="2090525"/>
            <a:ext cx="165036" cy="206294"/>
          </a:xfrm>
          <a:custGeom>
            <a:avLst/>
            <a:gdLst>
              <a:gd name="T0" fmla="*/ 184 w 205"/>
              <a:gd name="T1" fmla="*/ 108 h 261"/>
              <a:gd name="T2" fmla="*/ 109 w 205"/>
              <a:gd name="T3" fmla="*/ 60 h 261"/>
              <a:gd name="T4" fmla="*/ 32 w 205"/>
              <a:gd name="T5" fmla="*/ 10 h 261"/>
              <a:gd name="T6" fmla="*/ 0 w 205"/>
              <a:gd name="T7" fmla="*/ 33 h 261"/>
              <a:gd name="T8" fmla="*/ 0 w 205"/>
              <a:gd name="T9" fmla="*/ 130 h 261"/>
              <a:gd name="T10" fmla="*/ 0 w 205"/>
              <a:gd name="T11" fmla="*/ 229 h 261"/>
              <a:gd name="T12" fmla="*/ 34 w 205"/>
              <a:gd name="T13" fmla="*/ 249 h 261"/>
              <a:gd name="T14" fmla="*/ 109 w 205"/>
              <a:gd name="T15" fmla="*/ 201 h 261"/>
              <a:gd name="T16" fmla="*/ 186 w 205"/>
              <a:gd name="T17" fmla="*/ 151 h 261"/>
              <a:gd name="T18" fmla="*/ 184 w 205"/>
              <a:gd name="T19" fmla="*/ 108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5" h="261">
                <a:moveTo>
                  <a:pt x="184" y="108"/>
                </a:moveTo>
                <a:lnTo>
                  <a:pt x="109" y="60"/>
                </a:lnTo>
                <a:cubicBezTo>
                  <a:pt x="83" y="43"/>
                  <a:pt x="58" y="27"/>
                  <a:pt x="32" y="10"/>
                </a:cubicBezTo>
                <a:cubicBezTo>
                  <a:pt x="11" y="0"/>
                  <a:pt x="0" y="8"/>
                  <a:pt x="0" y="33"/>
                </a:cubicBezTo>
                <a:lnTo>
                  <a:pt x="0" y="130"/>
                </a:lnTo>
                <a:cubicBezTo>
                  <a:pt x="0" y="163"/>
                  <a:pt x="0" y="196"/>
                  <a:pt x="0" y="229"/>
                </a:cubicBezTo>
                <a:cubicBezTo>
                  <a:pt x="2" y="255"/>
                  <a:pt x="14" y="261"/>
                  <a:pt x="34" y="249"/>
                </a:cubicBezTo>
                <a:lnTo>
                  <a:pt x="109" y="201"/>
                </a:lnTo>
                <a:cubicBezTo>
                  <a:pt x="135" y="184"/>
                  <a:pt x="160" y="168"/>
                  <a:pt x="186" y="151"/>
                </a:cubicBezTo>
                <a:cubicBezTo>
                  <a:pt x="205" y="136"/>
                  <a:pt x="203" y="122"/>
                  <a:pt x="184" y="108"/>
                </a:cubicBez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grpSp>
        <p:nvGrpSpPr>
          <p:cNvPr id="74" name="组合 73"/>
          <p:cNvGrpSpPr/>
          <p:nvPr/>
        </p:nvGrpSpPr>
        <p:grpSpPr>
          <a:xfrm>
            <a:off x="732551" y="1148133"/>
            <a:ext cx="717324" cy="523092"/>
            <a:chOff x="912759" y="1007596"/>
            <a:chExt cx="717604" cy="523296"/>
          </a:xfrm>
        </p:grpSpPr>
        <p:sp>
          <p:nvSpPr>
            <p:cNvPr id="75" name="Freeform 8"/>
            <p:cNvSpPr>
              <a:spLocks/>
            </p:cNvSpPr>
            <p:nvPr/>
          </p:nvSpPr>
          <p:spPr bwMode="auto">
            <a:xfrm>
              <a:off x="985838" y="1052513"/>
              <a:ext cx="615950" cy="433387"/>
            </a:xfrm>
            <a:custGeom>
              <a:avLst/>
              <a:gdLst>
                <a:gd name="T0" fmla="*/ 43 w 764"/>
                <a:gd name="T1" fmla="*/ 0 h 549"/>
                <a:gd name="T2" fmla="*/ 721 w 764"/>
                <a:gd name="T3" fmla="*/ 0 h 549"/>
                <a:gd name="T4" fmla="*/ 764 w 764"/>
                <a:gd name="T5" fmla="*/ 43 h 549"/>
                <a:gd name="T6" fmla="*/ 764 w 764"/>
                <a:gd name="T7" fmla="*/ 506 h 549"/>
                <a:gd name="T8" fmla="*/ 721 w 764"/>
                <a:gd name="T9" fmla="*/ 549 h 549"/>
                <a:gd name="T10" fmla="*/ 43 w 764"/>
                <a:gd name="T11" fmla="*/ 549 h 549"/>
                <a:gd name="T12" fmla="*/ 0 w 764"/>
                <a:gd name="T13" fmla="*/ 506 h 549"/>
                <a:gd name="T14" fmla="*/ 0 w 764"/>
                <a:gd name="T15" fmla="*/ 43 h 549"/>
                <a:gd name="T16" fmla="*/ 43 w 764"/>
                <a:gd name="T17" fmla="*/ 0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4" h="549">
                  <a:moveTo>
                    <a:pt x="43" y="0"/>
                  </a:moveTo>
                  <a:lnTo>
                    <a:pt x="721" y="0"/>
                  </a:lnTo>
                  <a:cubicBezTo>
                    <a:pt x="744" y="0"/>
                    <a:pt x="764" y="20"/>
                    <a:pt x="764" y="43"/>
                  </a:cubicBezTo>
                  <a:lnTo>
                    <a:pt x="764" y="506"/>
                  </a:lnTo>
                  <a:cubicBezTo>
                    <a:pt x="764" y="530"/>
                    <a:pt x="744" y="549"/>
                    <a:pt x="721" y="549"/>
                  </a:cubicBezTo>
                  <a:lnTo>
                    <a:pt x="43" y="549"/>
                  </a:lnTo>
                  <a:cubicBezTo>
                    <a:pt x="20" y="549"/>
                    <a:pt x="0" y="530"/>
                    <a:pt x="0" y="506"/>
                  </a:cubicBezTo>
                  <a:lnTo>
                    <a:pt x="0" y="43"/>
                  </a:lnTo>
                  <a:cubicBezTo>
                    <a:pt x="0" y="20"/>
                    <a:pt x="20" y="0"/>
                    <a:pt x="43" y="0"/>
                  </a:cubicBezTo>
                  <a:close/>
                </a:path>
              </a:pathLst>
            </a:custGeom>
            <a:solidFill>
              <a:srgbClr val="E855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912759" y="1007596"/>
              <a:ext cx="717604" cy="523296"/>
            </a:xfrm>
            <a:prstGeom prst="rect">
              <a:avLst/>
            </a:prstGeom>
            <a:solidFill>
              <a:srgbClr val="01C0B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799" dirty="0">
                  <a:solidFill>
                    <a:schemeClr val="bg1"/>
                  </a:solidFill>
                  <a:latin typeface="+mn-ea"/>
                </a:rPr>
                <a:t>01</a:t>
              </a:r>
              <a:endParaRPr lang="zh-CN" altLang="en-US" sz="2799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703987" y="1928027"/>
            <a:ext cx="717324" cy="523092"/>
            <a:chOff x="912759" y="1884191"/>
            <a:chExt cx="717604" cy="523296"/>
          </a:xfrm>
        </p:grpSpPr>
        <p:sp>
          <p:nvSpPr>
            <p:cNvPr id="80" name="Freeform 10"/>
            <p:cNvSpPr>
              <a:spLocks/>
            </p:cNvSpPr>
            <p:nvPr/>
          </p:nvSpPr>
          <p:spPr bwMode="auto">
            <a:xfrm>
              <a:off x="985838" y="1918165"/>
              <a:ext cx="615950" cy="433387"/>
            </a:xfrm>
            <a:custGeom>
              <a:avLst/>
              <a:gdLst>
                <a:gd name="T0" fmla="*/ 43 w 764"/>
                <a:gd name="T1" fmla="*/ 0 h 549"/>
                <a:gd name="T2" fmla="*/ 721 w 764"/>
                <a:gd name="T3" fmla="*/ 0 h 549"/>
                <a:gd name="T4" fmla="*/ 764 w 764"/>
                <a:gd name="T5" fmla="*/ 44 h 549"/>
                <a:gd name="T6" fmla="*/ 764 w 764"/>
                <a:gd name="T7" fmla="*/ 506 h 549"/>
                <a:gd name="T8" fmla="*/ 721 w 764"/>
                <a:gd name="T9" fmla="*/ 549 h 549"/>
                <a:gd name="T10" fmla="*/ 43 w 764"/>
                <a:gd name="T11" fmla="*/ 549 h 549"/>
                <a:gd name="T12" fmla="*/ 0 w 764"/>
                <a:gd name="T13" fmla="*/ 506 h 549"/>
                <a:gd name="T14" fmla="*/ 0 w 764"/>
                <a:gd name="T15" fmla="*/ 44 h 549"/>
                <a:gd name="T16" fmla="*/ 43 w 764"/>
                <a:gd name="T17" fmla="*/ 0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4" h="549">
                  <a:moveTo>
                    <a:pt x="43" y="0"/>
                  </a:moveTo>
                  <a:lnTo>
                    <a:pt x="721" y="0"/>
                  </a:lnTo>
                  <a:cubicBezTo>
                    <a:pt x="744" y="0"/>
                    <a:pt x="764" y="20"/>
                    <a:pt x="764" y="44"/>
                  </a:cubicBezTo>
                  <a:lnTo>
                    <a:pt x="764" y="506"/>
                  </a:lnTo>
                  <a:cubicBezTo>
                    <a:pt x="764" y="530"/>
                    <a:pt x="744" y="549"/>
                    <a:pt x="721" y="549"/>
                  </a:cubicBezTo>
                  <a:lnTo>
                    <a:pt x="43" y="549"/>
                  </a:lnTo>
                  <a:cubicBezTo>
                    <a:pt x="20" y="549"/>
                    <a:pt x="0" y="530"/>
                    <a:pt x="0" y="506"/>
                  </a:cubicBezTo>
                  <a:lnTo>
                    <a:pt x="0" y="44"/>
                  </a:lnTo>
                  <a:cubicBezTo>
                    <a:pt x="0" y="20"/>
                    <a:pt x="20" y="0"/>
                    <a:pt x="43" y="0"/>
                  </a:cubicBezTo>
                  <a:close/>
                </a:path>
              </a:pathLst>
            </a:custGeom>
            <a:solidFill>
              <a:srgbClr val="E855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912759" y="1884191"/>
              <a:ext cx="717604" cy="523296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799" dirty="0">
                  <a:solidFill>
                    <a:schemeClr val="bg1"/>
                  </a:solidFill>
                  <a:latin typeface="+mn-ea"/>
                </a:rPr>
                <a:t>02</a:t>
              </a:r>
              <a:endParaRPr lang="zh-CN" altLang="en-US" sz="2799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94" name="Oval 7"/>
          <p:cNvSpPr>
            <a:spLocks noChangeArrowheads="1"/>
          </p:cNvSpPr>
          <p:nvPr/>
        </p:nvSpPr>
        <p:spPr bwMode="auto">
          <a:xfrm>
            <a:off x="1159862" y="3992743"/>
            <a:ext cx="238032" cy="234859"/>
          </a:xfrm>
          <a:prstGeom prst="ellipse">
            <a:avLst/>
          </a:prstGeom>
          <a:solidFill>
            <a:schemeClr val="accent4"/>
          </a:solidFill>
          <a:ln w="1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27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28" name="Freeform 9"/>
          <p:cNvSpPr>
            <a:spLocks/>
          </p:cNvSpPr>
          <p:nvPr/>
        </p:nvSpPr>
        <p:spPr bwMode="auto">
          <a:xfrm>
            <a:off x="1449871" y="4847140"/>
            <a:ext cx="165036" cy="207882"/>
          </a:xfrm>
          <a:custGeom>
            <a:avLst/>
            <a:gdLst>
              <a:gd name="T0" fmla="*/ 184 w 205"/>
              <a:gd name="T1" fmla="*/ 109 h 262"/>
              <a:gd name="T2" fmla="*/ 109 w 205"/>
              <a:gd name="T3" fmla="*/ 61 h 262"/>
              <a:gd name="T4" fmla="*/ 32 w 205"/>
              <a:gd name="T5" fmla="*/ 11 h 262"/>
              <a:gd name="T6" fmla="*/ 0 w 205"/>
              <a:gd name="T7" fmla="*/ 34 h 262"/>
              <a:gd name="T8" fmla="*/ 0 w 205"/>
              <a:gd name="T9" fmla="*/ 131 h 262"/>
              <a:gd name="T10" fmla="*/ 0 w 205"/>
              <a:gd name="T11" fmla="*/ 230 h 262"/>
              <a:gd name="T12" fmla="*/ 34 w 205"/>
              <a:gd name="T13" fmla="*/ 250 h 262"/>
              <a:gd name="T14" fmla="*/ 109 w 205"/>
              <a:gd name="T15" fmla="*/ 202 h 262"/>
              <a:gd name="T16" fmla="*/ 186 w 205"/>
              <a:gd name="T17" fmla="*/ 152 h 262"/>
              <a:gd name="T18" fmla="*/ 184 w 205"/>
              <a:gd name="T19" fmla="*/ 109 h 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5" h="262">
                <a:moveTo>
                  <a:pt x="184" y="109"/>
                </a:moveTo>
                <a:lnTo>
                  <a:pt x="109" y="61"/>
                </a:lnTo>
                <a:cubicBezTo>
                  <a:pt x="83" y="44"/>
                  <a:pt x="58" y="28"/>
                  <a:pt x="32" y="11"/>
                </a:cubicBezTo>
                <a:cubicBezTo>
                  <a:pt x="11" y="0"/>
                  <a:pt x="0" y="9"/>
                  <a:pt x="0" y="34"/>
                </a:cubicBezTo>
                <a:lnTo>
                  <a:pt x="0" y="131"/>
                </a:lnTo>
                <a:cubicBezTo>
                  <a:pt x="0" y="164"/>
                  <a:pt x="0" y="197"/>
                  <a:pt x="0" y="230"/>
                </a:cubicBezTo>
                <a:cubicBezTo>
                  <a:pt x="2" y="256"/>
                  <a:pt x="14" y="262"/>
                  <a:pt x="34" y="250"/>
                </a:cubicBezTo>
                <a:lnTo>
                  <a:pt x="109" y="202"/>
                </a:lnTo>
                <a:cubicBezTo>
                  <a:pt x="135" y="185"/>
                  <a:pt x="160" y="169"/>
                  <a:pt x="186" y="152"/>
                </a:cubicBezTo>
                <a:cubicBezTo>
                  <a:pt x="205" y="137"/>
                  <a:pt x="203" y="122"/>
                  <a:pt x="184" y="109"/>
                </a:cubicBezTo>
                <a:close/>
              </a:path>
            </a:pathLst>
          </a:custGeom>
          <a:solidFill>
            <a:srgbClr val="01C0B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grpSp>
        <p:nvGrpSpPr>
          <p:cNvPr id="29" name="组合 28"/>
          <p:cNvGrpSpPr/>
          <p:nvPr/>
        </p:nvGrpSpPr>
        <p:grpSpPr>
          <a:xfrm>
            <a:off x="732549" y="4675291"/>
            <a:ext cx="717324" cy="523092"/>
            <a:chOff x="912759" y="1007596"/>
            <a:chExt cx="717604" cy="523296"/>
          </a:xfrm>
        </p:grpSpPr>
        <p:sp>
          <p:nvSpPr>
            <p:cNvPr id="30" name="Freeform 8"/>
            <p:cNvSpPr>
              <a:spLocks/>
            </p:cNvSpPr>
            <p:nvPr/>
          </p:nvSpPr>
          <p:spPr bwMode="auto">
            <a:xfrm>
              <a:off x="985838" y="1052513"/>
              <a:ext cx="615950" cy="433387"/>
            </a:xfrm>
            <a:custGeom>
              <a:avLst/>
              <a:gdLst>
                <a:gd name="T0" fmla="*/ 43 w 764"/>
                <a:gd name="T1" fmla="*/ 0 h 549"/>
                <a:gd name="T2" fmla="*/ 721 w 764"/>
                <a:gd name="T3" fmla="*/ 0 h 549"/>
                <a:gd name="T4" fmla="*/ 764 w 764"/>
                <a:gd name="T5" fmla="*/ 43 h 549"/>
                <a:gd name="T6" fmla="*/ 764 w 764"/>
                <a:gd name="T7" fmla="*/ 506 h 549"/>
                <a:gd name="T8" fmla="*/ 721 w 764"/>
                <a:gd name="T9" fmla="*/ 549 h 549"/>
                <a:gd name="T10" fmla="*/ 43 w 764"/>
                <a:gd name="T11" fmla="*/ 549 h 549"/>
                <a:gd name="T12" fmla="*/ 0 w 764"/>
                <a:gd name="T13" fmla="*/ 506 h 549"/>
                <a:gd name="T14" fmla="*/ 0 w 764"/>
                <a:gd name="T15" fmla="*/ 43 h 549"/>
                <a:gd name="T16" fmla="*/ 43 w 764"/>
                <a:gd name="T17" fmla="*/ 0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4" h="549">
                  <a:moveTo>
                    <a:pt x="43" y="0"/>
                  </a:moveTo>
                  <a:lnTo>
                    <a:pt x="721" y="0"/>
                  </a:lnTo>
                  <a:cubicBezTo>
                    <a:pt x="744" y="0"/>
                    <a:pt x="764" y="20"/>
                    <a:pt x="764" y="43"/>
                  </a:cubicBezTo>
                  <a:lnTo>
                    <a:pt x="764" y="506"/>
                  </a:lnTo>
                  <a:cubicBezTo>
                    <a:pt x="764" y="530"/>
                    <a:pt x="744" y="549"/>
                    <a:pt x="721" y="549"/>
                  </a:cubicBezTo>
                  <a:lnTo>
                    <a:pt x="43" y="549"/>
                  </a:lnTo>
                  <a:cubicBezTo>
                    <a:pt x="20" y="549"/>
                    <a:pt x="0" y="530"/>
                    <a:pt x="0" y="506"/>
                  </a:cubicBezTo>
                  <a:lnTo>
                    <a:pt x="0" y="43"/>
                  </a:lnTo>
                  <a:cubicBezTo>
                    <a:pt x="0" y="20"/>
                    <a:pt x="20" y="0"/>
                    <a:pt x="43" y="0"/>
                  </a:cubicBezTo>
                  <a:close/>
                </a:path>
              </a:pathLst>
            </a:custGeom>
            <a:solidFill>
              <a:srgbClr val="E855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31" name="TextBox 14"/>
            <p:cNvSpPr txBox="1"/>
            <p:nvPr/>
          </p:nvSpPr>
          <p:spPr>
            <a:xfrm>
              <a:off x="912759" y="1007596"/>
              <a:ext cx="717604" cy="523296"/>
            </a:xfrm>
            <a:prstGeom prst="rect">
              <a:avLst/>
            </a:prstGeom>
            <a:solidFill>
              <a:srgbClr val="01C0B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799" dirty="0">
                  <a:solidFill>
                    <a:schemeClr val="bg1"/>
                  </a:solidFill>
                  <a:latin typeface="+mn-ea"/>
                </a:rPr>
                <a:t>03</a:t>
              </a:r>
              <a:endParaRPr lang="zh-CN" altLang="en-US" sz="2799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1809580" y="1200973"/>
            <a:ext cx="54303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累加寄存器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(Accumulator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AC)</a:t>
            </a:r>
          </a:p>
        </p:txBody>
      </p:sp>
      <p:sp>
        <p:nvSpPr>
          <p:cNvPr id="3" name="矩形 2"/>
          <p:cNvSpPr/>
          <p:nvPr/>
        </p:nvSpPr>
        <p:spPr>
          <a:xfrm>
            <a:off x="1809580" y="1948992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用于控制的寄存器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361348" y="2661096"/>
            <a:ext cx="70109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指令寄存器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(Instruction Register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IR)</a:t>
            </a:r>
          </a:p>
        </p:txBody>
      </p:sp>
      <p:sp>
        <p:nvSpPr>
          <p:cNvPr id="8" name="矩形 7"/>
          <p:cNvSpPr/>
          <p:nvPr/>
        </p:nvSpPr>
        <p:spPr>
          <a:xfrm>
            <a:off x="1329552" y="3287215"/>
            <a:ext cx="76080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程序计数器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Programme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Computer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PC)</a:t>
            </a:r>
          </a:p>
        </p:txBody>
      </p:sp>
      <p:sp>
        <p:nvSpPr>
          <p:cNvPr id="9" name="矩形 8"/>
          <p:cNvSpPr/>
          <p:nvPr/>
        </p:nvSpPr>
        <p:spPr>
          <a:xfrm>
            <a:off x="1278878" y="3918573"/>
            <a:ext cx="91073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状态条件寄存器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Programme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Status Word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PSW)</a:t>
            </a:r>
          </a:p>
        </p:txBody>
      </p:sp>
      <p:sp>
        <p:nvSpPr>
          <p:cNvPr id="10" name="矩形 9"/>
          <p:cNvSpPr/>
          <p:nvPr/>
        </p:nvSpPr>
        <p:spPr>
          <a:xfrm>
            <a:off x="1781016" y="4675291"/>
            <a:ext cx="37753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用于主存接口的寄存器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329552" y="5388103"/>
            <a:ext cx="664765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地址寄存器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(Address Register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AR)</a:t>
            </a:r>
          </a:p>
        </p:txBody>
      </p:sp>
      <p:sp>
        <p:nvSpPr>
          <p:cNvPr id="12" name="矩形 11"/>
          <p:cNvSpPr/>
          <p:nvPr/>
        </p:nvSpPr>
        <p:spPr>
          <a:xfrm>
            <a:off x="1344869" y="6008709"/>
            <a:ext cx="67648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数据缓冲寄存器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(Data Register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DR)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Oval 7"/>
          <p:cNvSpPr>
            <a:spLocks noChangeArrowheads="1"/>
          </p:cNvSpPr>
          <p:nvPr/>
        </p:nvSpPr>
        <p:spPr bwMode="auto">
          <a:xfrm>
            <a:off x="1174292" y="5528642"/>
            <a:ext cx="238032" cy="234859"/>
          </a:xfrm>
          <a:prstGeom prst="ellipse">
            <a:avLst/>
          </a:prstGeom>
          <a:solidFill>
            <a:schemeClr val="accent4"/>
          </a:solidFill>
          <a:ln w="1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41" name="Oval 7"/>
          <p:cNvSpPr>
            <a:spLocks noChangeArrowheads="1"/>
          </p:cNvSpPr>
          <p:nvPr/>
        </p:nvSpPr>
        <p:spPr bwMode="auto">
          <a:xfrm>
            <a:off x="1174292" y="6156264"/>
            <a:ext cx="238032" cy="234859"/>
          </a:xfrm>
          <a:prstGeom prst="ellipse">
            <a:avLst/>
          </a:prstGeom>
          <a:solidFill>
            <a:schemeClr val="accent4"/>
          </a:solidFill>
          <a:ln w="1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</p:spTree>
    <p:extLst>
      <p:ext uri="{BB962C8B-B14F-4D97-AF65-F5344CB8AC3E}">
        <p14:creationId xmlns:p14="http://schemas.microsoft.com/office/powerpoint/2010/main" val="765074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826">
        <p14:pan dir="u"/>
      </p:transition>
    </mc:Choice>
    <mc:Fallback xmlns="">
      <p:transition spd="slow" advTm="8826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47757" y="2340487"/>
            <a:ext cx="6598050" cy="1698614"/>
          </a:xfrm>
          <a:prstGeom prst="rect">
            <a:avLst/>
          </a:prstGeom>
          <a:solidFill>
            <a:srgbClr val="02B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483441" y="2541722"/>
            <a:ext cx="3868499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algn="dist"/>
            <a:r>
              <a: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谢谢！</a:t>
            </a:r>
            <a:endParaRPr lang="en-US" altLang="zh-CN" sz="6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353950" y="5153618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620664" y="5153618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8885806" y="5153618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0152517" y="5153618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2" name="Freeform 9"/>
          <p:cNvSpPr>
            <a:spLocks noEditPoints="1"/>
          </p:cNvSpPr>
          <p:nvPr/>
        </p:nvSpPr>
        <p:spPr bwMode="auto">
          <a:xfrm>
            <a:off x="10057335" y="4692974"/>
            <a:ext cx="373115" cy="374683"/>
          </a:xfrm>
          <a:custGeom>
            <a:avLst/>
            <a:gdLst>
              <a:gd name="T0" fmla="*/ 358 w 490"/>
              <a:gd name="T1" fmla="*/ 250 h 490"/>
              <a:gd name="T2" fmla="*/ 358 w 490"/>
              <a:gd name="T3" fmla="*/ 183 h 490"/>
              <a:gd name="T4" fmla="*/ 328 w 490"/>
              <a:gd name="T5" fmla="*/ 183 h 490"/>
              <a:gd name="T6" fmla="*/ 328 w 490"/>
              <a:gd name="T7" fmla="*/ 250 h 490"/>
              <a:gd name="T8" fmla="*/ 247 w 490"/>
              <a:gd name="T9" fmla="*/ 330 h 490"/>
              <a:gd name="T10" fmla="*/ 246 w 490"/>
              <a:gd name="T11" fmla="*/ 330 h 490"/>
              <a:gd name="T12" fmla="*/ 245 w 490"/>
              <a:gd name="T13" fmla="*/ 330 h 490"/>
              <a:gd name="T14" fmla="*/ 245 w 490"/>
              <a:gd name="T15" fmla="*/ 330 h 490"/>
              <a:gd name="T16" fmla="*/ 243 w 490"/>
              <a:gd name="T17" fmla="*/ 330 h 490"/>
              <a:gd name="T18" fmla="*/ 162 w 490"/>
              <a:gd name="T19" fmla="*/ 250 h 490"/>
              <a:gd name="T20" fmla="*/ 162 w 490"/>
              <a:gd name="T21" fmla="*/ 183 h 490"/>
              <a:gd name="T22" fmla="*/ 132 w 490"/>
              <a:gd name="T23" fmla="*/ 183 h 490"/>
              <a:gd name="T24" fmla="*/ 132 w 490"/>
              <a:gd name="T25" fmla="*/ 250 h 490"/>
              <a:gd name="T26" fmla="*/ 227 w 490"/>
              <a:gd name="T27" fmla="*/ 359 h 490"/>
              <a:gd name="T28" fmla="*/ 227 w 490"/>
              <a:gd name="T29" fmla="*/ 407 h 490"/>
              <a:gd name="T30" fmla="*/ 160 w 490"/>
              <a:gd name="T31" fmla="*/ 426 h 490"/>
              <a:gd name="T32" fmla="*/ 331 w 490"/>
              <a:gd name="T33" fmla="*/ 426 h 490"/>
              <a:gd name="T34" fmla="*/ 263 w 490"/>
              <a:gd name="T35" fmla="*/ 407 h 490"/>
              <a:gd name="T36" fmla="*/ 263 w 490"/>
              <a:gd name="T37" fmla="*/ 360 h 490"/>
              <a:gd name="T38" fmla="*/ 358 w 490"/>
              <a:gd name="T39" fmla="*/ 250 h 490"/>
              <a:gd name="T40" fmla="*/ 244 w 490"/>
              <a:gd name="T41" fmla="*/ 302 h 490"/>
              <a:gd name="T42" fmla="*/ 245 w 490"/>
              <a:gd name="T43" fmla="*/ 302 h 490"/>
              <a:gd name="T44" fmla="*/ 246 w 490"/>
              <a:gd name="T45" fmla="*/ 302 h 490"/>
              <a:gd name="T46" fmla="*/ 300 w 490"/>
              <a:gd name="T47" fmla="*/ 248 h 490"/>
              <a:gd name="T48" fmla="*/ 300 w 490"/>
              <a:gd name="T49" fmla="*/ 118 h 490"/>
              <a:gd name="T50" fmla="*/ 246 w 490"/>
              <a:gd name="T51" fmla="*/ 64 h 490"/>
              <a:gd name="T52" fmla="*/ 245 w 490"/>
              <a:gd name="T53" fmla="*/ 64 h 490"/>
              <a:gd name="T54" fmla="*/ 244 w 490"/>
              <a:gd name="T55" fmla="*/ 64 h 490"/>
              <a:gd name="T56" fmla="*/ 190 w 490"/>
              <a:gd name="T57" fmla="*/ 118 h 490"/>
              <a:gd name="T58" fmla="*/ 190 w 490"/>
              <a:gd name="T59" fmla="*/ 248 h 490"/>
              <a:gd name="T60" fmla="*/ 244 w 490"/>
              <a:gd name="T61" fmla="*/ 302 h 490"/>
              <a:gd name="T62" fmla="*/ 245 w 490"/>
              <a:gd name="T63" fmla="*/ 0 h 490"/>
              <a:gd name="T64" fmla="*/ 490 w 490"/>
              <a:gd name="T65" fmla="*/ 245 h 490"/>
              <a:gd name="T66" fmla="*/ 245 w 490"/>
              <a:gd name="T67" fmla="*/ 490 h 490"/>
              <a:gd name="T68" fmla="*/ 0 w 490"/>
              <a:gd name="T69" fmla="*/ 245 h 490"/>
              <a:gd name="T70" fmla="*/ 245 w 490"/>
              <a:gd name="T71" fmla="*/ 0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90" h="490">
                <a:moveTo>
                  <a:pt x="358" y="250"/>
                </a:moveTo>
                <a:lnTo>
                  <a:pt x="358" y="183"/>
                </a:lnTo>
                <a:cubicBezTo>
                  <a:pt x="358" y="165"/>
                  <a:pt x="328" y="164"/>
                  <a:pt x="328" y="183"/>
                </a:cubicBezTo>
                <a:lnTo>
                  <a:pt x="328" y="250"/>
                </a:lnTo>
                <a:cubicBezTo>
                  <a:pt x="328" y="294"/>
                  <a:pt x="292" y="330"/>
                  <a:pt x="247" y="330"/>
                </a:cubicBezTo>
                <a:cubicBezTo>
                  <a:pt x="247" y="330"/>
                  <a:pt x="246" y="330"/>
                  <a:pt x="246" y="330"/>
                </a:cubicBezTo>
                <a:lnTo>
                  <a:pt x="245" y="330"/>
                </a:lnTo>
                <a:lnTo>
                  <a:pt x="245" y="330"/>
                </a:lnTo>
                <a:cubicBezTo>
                  <a:pt x="244" y="330"/>
                  <a:pt x="244" y="330"/>
                  <a:pt x="243" y="330"/>
                </a:cubicBezTo>
                <a:cubicBezTo>
                  <a:pt x="198" y="330"/>
                  <a:pt x="162" y="294"/>
                  <a:pt x="162" y="250"/>
                </a:cubicBezTo>
                <a:lnTo>
                  <a:pt x="162" y="183"/>
                </a:lnTo>
                <a:cubicBezTo>
                  <a:pt x="162" y="165"/>
                  <a:pt x="132" y="164"/>
                  <a:pt x="132" y="183"/>
                </a:cubicBezTo>
                <a:cubicBezTo>
                  <a:pt x="132" y="192"/>
                  <a:pt x="132" y="250"/>
                  <a:pt x="132" y="250"/>
                </a:cubicBezTo>
                <a:cubicBezTo>
                  <a:pt x="132" y="306"/>
                  <a:pt x="173" y="352"/>
                  <a:pt x="227" y="359"/>
                </a:cubicBezTo>
                <a:lnTo>
                  <a:pt x="227" y="407"/>
                </a:lnTo>
                <a:lnTo>
                  <a:pt x="160" y="426"/>
                </a:lnTo>
                <a:lnTo>
                  <a:pt x="331" y="426"/>
                </a:lnTo>
                <a:lnTo>
                  <a:pt x="263" y="407"/>
                </a:lnTo>
                <a:lnTo>
                  <a:pt x="263" y="360"/>
                </a:lnTo>
                <a:cubicBezTo>
                  <a:pt x="317" y="352"/>
                  <a:pt x="358" y="306"/>
                  <a:pt x="358" y="250"/>
                </a:cubicBezTo>
                <a:close/>
                <a:moveTo>
                  <a:pt x="244" y="302"/>
                </a:moveTo>
                <a:cubicBezTo>
                  <a:pt x="244" y="302"/>
                  <a:pt x="245" y="302"/>
                  <a:pt x="245" y="302"/>
                </a:cubicBezTo>
                <a:cubicBezTo>
                  <a:pt x="245" y="302"/>
                  <a:pt x="246" y="302"/>
                  <a:pt x="246" y="302"/>
                </a:cubicBezTo>
                <a:cubicBezTo>
                  <a:pt x="276" y="302"/>
                  <a:pt x="300" y="278"/>
                  <a:pt x="300" y="248"/>
                </a:cubicBezTo>
                <a:lnTo>
                  <a:pt x="300" y="118"/>
                </a:lnTo>
                <a:cubicBezTo>
                  <a:pt x="300" y="88"/>
                  <a:pt x="276" y="64"/>
                  <a:pt x="246" y="64"/>
                </a:cubicBezTo>
                <a:cubicBezTo>
                  <a:pt x="246" y="64"/>
                  <a:pt x="245" y="64"/>
                  <a:pt x="245" y="64"/>
                </a:cubicBezTo>
                <a:cubicBezTo>
                  <a:pt x="245" y="64"/>
                  <a:pt x="244" y="64"/>
                  <a:pt x="244" y="64"/>
                </a:cubicBezTo>
                <a:cubicBezTo>
                  <a:pt x="214" y="64"/>
                  <a:pt x="190" y="88"/>
                  <a:pt x="190" y="118"/>
                </a:cubicBezTo>
                <a:lnTo>
                  <a:pt x="190" y="248"/>
                </a:lnTo>
                <a:cubicBezTo>
                  <a:pt x="190" y="278"/>
                  <a:pt x="214" y="302"/>
                  <a:pt x="244" y="302"/>
                </a:cubicBezTo>
                <a:close/>
                <a:moveTo>
                  <a:pt x="245" y="0"/>
                </a:moveTo>
                <a:cubicBezTo>
                  <a:pt x="381" y="0"/>
                  <a:pt x="490" y="110"/>
                  <a:pt x="490" y="245"/>
                </a:cubicBezTo>
                <a:cubicBezTo>
                  <a:pt x="490" y="381"/>
                  <a:pt x="381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484849"/>
              </a:solidFill>
            </a:endParaRPr>
          </a:p>
        </p:txBody>
      </p:sp>
      <p:sp>
        <p:nvSpPr>
          <p:cNvPr id="13" name="Rectangle 4"/>
          <p:cNvSpPr txBox="1">
            <a:spLocks noChangeArrowheads="1"/>
          </p:cNvSpPr>
          <p:nvPr/>
        </p:nvSpPr>
        <p:spPr bwMode="auto">
          <a:xfrm>
            <a:off x="10466453" y="4703232"/>
            <a:ext cx="1899476" cy="353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sz="1700" dirty="0">
                <a:solidFill>
                  <a:schemeClr val="bg1"/>
                </a:solidFill>
              </a:rPr>
              <a:t>汇报人：代用名</a:t>
            </a:r>
          </a:p>
        </p:txBody>
      </p:sp>
      <p:sp>
        <p:nvSpPr>
          <p:cNvPr id="14" name="Freeform 10"/>
          <p:cNvSpPr>
            <a:spLocks noChangeAspect="1" noEditPoints="1"/>
          </p:cNvSpPr>
          <p:nvPr/>
        </p:nvSpPr>
        <p:spPr bwMode="auto">
          <a:xfrm>
            <a:off x="6417691" y="4693112"/>
            <a:ext cx="372836" cy="374400"/>
          </a:xfrm>
          <a:custGeom>
            <a:avLst/>
            <a:gdLst>
              <a:gd name="T0" fmla="*/ 245 w 490"/>
              <a:gd name="T1" fmla="*/ 0 h 490"/>
              <a:gd name="T2" fmla="*/ 490 w 490"/>
              <a:gd name="T3" fmla="*/ 245 h 490"/>
              <a:gd name="T4" fmla="*/ 245 w 490"/>
              <a:gd name="T5" fmla="*/ 490 h 490"/>
              <a:gd name="T6" fmla="*/ 0 w 490"/>
              <a:gd name="T7" fmla="*/ 245 h 490"/>
              <a:gd name="T8" fmla="*/ 245 w 490"/>
              <a:gd name="T9" fmla="*/ 0 h 490"/>
              <a:gd name="T10" fmla="*/ 436 w 490"/>
              <a:gd name="T11" fmla="*/ 250 h 490"/>
              <a:gd name="T12" fmla="*/ 427 w 490"/>
              <a:gd name="T13" fmla="*/ 256 h 490"/>
              <a:gd name="T14" fmla="*/ 394 w 490"/>
              <a:gd name="T15" fmla="*/ 256 h 490"/>
              <a:gd name="T16" fmla="*/ 386 w 490"/>
              <a:gd name="T17" fmla="*/ 253 h 490"/>
              <a:gd name="T18" fmla="*/ 245 w 490"/>
              <a:gd name="T19" fmla="*/ 105 h 490"/>
              <a:gd name="T20" fmla="*/ 104 w 490"/>
              <a:gd name="T21" fmla="*/ 253 h 490"/>
              <a:gd name="T22" fmla="*/ 96 w 490"/>
              <a:gd name="T23" fmla="*/ 256 h 490"/>
              <a:gd name="T24" fmla="*/ 63 w 490"/>
              <a:gd name="T25" fmla="*/ 256 h 490"/>
              <a:gd name="T26" fmla="*/ 54 w 490"/>
              <a:gd name="T27" fmla="*/ 250 h 490"/>
              <a:gd name="T28" fmla="*/ 56 w 490"/>
              <a:gd name="T29" fmla="*/ 239 h 490"/>
              <a:gd name="T30" fmla="*/ 236 w 490"/>
              <a:gd name="T31" fmla="*/ 52 h 490"/>
              <a:gd name="T32" fmla="*/ 245 w 490"/>
              <a:gd name="T33" fmla="*/ 48 h 490"/>
              <a:gd name="T34" fmla="*/ 254 w 490"/>
              <a:gd name="T35" fmla="*/ 52 h 490"/>
              <a:gd name="T36" fmla="*/ 434 w 490"/>
              <a:gd name="T37" fmla="*/ 239 h 490"/>
              <a:gd name="T38" fmla="*/ 436 w 490"/>
              <a:gd name="T39" fmla="*/ 250 h 490"/>
              <a:gd name="T40" fmla="*/ 113 w 490"/>
              <a:gd name="T41" fmla="*/ 267 h 490"/>
              <a:gd name="T42" fmla="*/ 113 w 490"/>
              <a:gd name="T43" fmla="*/ 267 h 490"/>
              <a:gd name="T44" fmla="*/ 113 w 490"/>
              <a:gd name="T45" fmla="*/ 379 h 490"/>
              <a:gd name="T46" fmla="*/ 129 w 490"/>
              <a:gd name="T47" fmla="*/ 398 h 490"/>
              <a:gd name="T48" fmla="*/ 202 w 490"/>
              <a:gd name="T49" fmla="*/ 398 h 490"/>
              <a:gd name="T50" fmla="*/ 202 w 490"/>
              <a:gd name="T51" fmla="*/ 276 h 490"/>
              <a:gd name="T52" fmla="*/ 221 w 490"/>
              <a:gd name="T53" fmla="*/ 257 h 490"/>
              <a:gd name="T54" fmla="*/ 269 w 490"/>
              <a:gd name="T55" fmla="*/ 257 h 490"/>
              <a:gd name="T56" fmla="*/ 288 w 490"/>
              <a:gd name="T57" fmla="*/ 276 h 490"/>
              <a:gd name="T58" fmla="*/ 288 w 490"/>
              <a:gd name="T59" fmla="*/ 398 h 490"/>
              <a:gd name="T60" fmla="*/ 361 w 490"/>
              <a:gd name="T61" fmla="*/ 398 h 490"/>
              <a:gd name="T62" fmla="*/ 377 w 490"/>
              <a:gd name="T63" fmla="*/ 379 h 490"/>
              <a:gd name="T64" fmla="*/ 377 w 490"/>
              <a:gd name="T65" fmla="*/ 268 h 490"/>
              <a:gd name="T66" fmla="*/ 245 w 490"/>
              <a:gd name="T67" fmla="*/ 130 h 490"/>
              <a:gd name="T68" fmla="*/ 113 w 490"/>
              <a:gd name="T69" fmla="*/ 267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90" h="490">
                <a:moveTo>
                  <a:pt x="245" y="0"/>
                </a:moveTo>
                <a:cubicBezTo>
                  <a:pt x="380" y="0"/>
                  <a:pt x="490" y="110"/>
                  <a:pt x="490" y="245"/>
                </a:cubicBezTo>
                <a:cubicBezTo>
                  <a:pt x="490" y="381"/>
                  <a:pt x="380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  <a:moveTo>
                  <a:pt x="436" y="250"/>
                </a:moveTo>
                <a:cubicBezTo>
                  <a:pt x="435" y="254"/>
                  <a:pt x="431" y="256"/>
                  <a:pt x="427" y="256"/>
                </a:cubicBezTo>
                <a:lnTo>
                  <a:pt x="394" y="256"/>
                </a:lnTo>
                <a:cubicBezTo>
                  <a:pt x="391" y="256"/>
                  <a:pt x="388" y="255"/>
                  <a:pt x="386" y="253"/>
                </a:cubicBezTo>
                <a:lnTo>
                  <a:pt x="245" y="105"/>
                </a:lnTo>
                <a:lnTo>
                  <a:pt x="104" y="253"/>
                </a:lnTo>
                <a:cubicBezTo>
                  <a:pt x="102" y="255"/>
                  <a:pt x="99" y="256"/>
                  <a:pt x="96" y="256"/>
                </a:cubicBezTo>
                <a:lnTo>
                  <a:pt x="63" y="256"/>
                </a:lnTo>
                <a:cubicBezTo>
                  <a:pt x="59" y="256"/>
                  <a:pt x="55" y="254"/>
                  <a:pt x="54" y="250"/>
                </a:cubicBezTo>
                <a:cubicBezTo>
                  <a:pt x="52" y="246"/>
                  <a:pt x="53" y="242"/>
                  <a:pt x="56" y="239"/>
                </a:cubicBezTo>
                <a:lnTo>
                  <a:pt x="236" y="52"/>
                </a:lnTo>
                <a:cubicBezTo>
                  <a:pt x="238" y="49"/>
                  <a:pt x="242" y="48"/>
                  <a:pt x="245" y="48"/>
                </a:cubicBezTo>
                <a:cubicBezTo>
                  <a:pt x="248" y="48"/>
                  <a:pt x="252" y="49"/>
                  <a:pt x="254" y="52"/>
                </a:cubicBezTo>
                <a:lnTo>
                  <a:pt x="434" y="239"/>
                </a:lnTo>
                <a:cubicBezTo>
                  <a:pt x="437" y="242"/>
                  <a:pt x="438" y="246"/>
                  <a:pt x="436" y="250"/>
                </a:cubicBezTo>
                <a:close/>
                <a:moveTo>
                  <a:pt x="113" y="267"/>
                </a:moveTo>
                <a:lnTo>
                  <a:pt x="113" y="267"/>
                </a:lnTo>
                <a:lnTo>
                  <a:pt x="113" y="379"/>
                </a:lnTo>
                <a:cubicBezTo>
                  <a:pt x="113" y="389"/>
                  <a:pt x="120" y="398"/>
                  <a:pt x="129" y="398"/>
                </a:cubicBezTo>
                <a:lnTo>
                  <a:pt x="202" y="398"/>
                </a:lnTo>
                <a:lnTo>
                  <a:pt x="202" y="276"/>
                </a:lnTo>
                <a:cubicBezTo>
                  <a:pt x="202" y="266"/>
                  <a:pt x="211" y="257"/>
                  <a:pt x="221" y="257"/>
                </a:cubicBezTo>
                <a:lnTo>
                  <a:pt x="269" y="257"/>
                </a:lnTo>
                <a:cubicBezTo>
                  <a:pt x="279" y="257"/>
                  <a:pt x="288" y="266"/>
                  <a:pt x="288" y="276"/>
                </a:cubicBezTo>
                <a:lnTo>
                  <a:pt x="288" y="398"/>
                </a:lnTo>
                <a:lnTo>
                  <a:pt x="361" y="398"/>
                </a:lnTo>
                <a:cubicBezTo>
                  <a:pt x="370" y="398"/>
                  <a:pt x="377" y="389"/>
                  <a:pt x="377" y="379"/>
                </a:cubicBezTo>
                <a:lnTo>
                  <a:pt x="377" y="268"/>
                </a:lnTo>
                <a:lnTo>
                  <a:pt x="245" y="130"/>
                </a:lnTo>
                <a:lnTo>
                  <a:pt x="113" y="2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0" y="1109114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29" name="Rectangle 7"/>
          <p:cNvSpPr>
            <a:spLocks noChangeArrowheads="1"/>
          </p:cNvSpPr>
          <p:nvPr/>
        </p:nvSpPr>
        <p:spPr bwMode="auto">
          <a:xfrm>
            <a:off x="1266714" y="1109114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30" name="Rectangle 8"/>
          <p:cNvSpPr>
            <a:spLocks noChangeArrowheads="1"/>
          </p:cNvSpPr>
          <p:nvPr/>
        </p:nvSpPr>
        <p:spPr bwMode="auto">
          <a:xfrm>
            <a:off x="2531856" y="1109114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31" name="Rectangle 9"/>
          <p:cNvSpPr>
            <a:spLocks noChangeArrowheads="1"/>
          </p:cNvSpPr>
          <p:nvPr/>
        </p:nvSpPr>
        <p:spPr bwMode="auto">
          <a:xfrm>
            <a:off x="3798567" y="1109114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176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639</TotalTime>
  <Words>704</Words>
  <Application>Microsoft Office PowerPoint</Application>
  <PresentationFormat>宽屏</PresentationFormat>
  <Paragraphs>92</Paragraphs>
  <Slides>14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宋体</vt:lpstr>
      <vt:lpstr>微软雅黑</vt:lpstr>
      <vt:lpstr>Arial</vt:lpstr>
      <vt:lpstr>Calibri</vt:lpstr>
      <vt:lpstr>Calibri Light</vt:lpstr>
      <vt:lpstr>第一PPT，www.1ppt.com</vt:lpstr>
      <vt:lpstr>PowerPoint 演示文稿</vt:lpstr>
      <vt:lpstr>PowerPoint 演示文稿</vt:lpstr>
      <vt:lpstr>CPU的功能</vt:lpstr>
      <vt:lpstr>PowerPoint 演示文稿</vt:lpstr>
      <vt:lpstr>PowerPoint 演示文稿</vt:lpstr>
      <vt:lpstr>CPU本质的功能</vt:lpstr>
      <vt:lpstr>PowerPoint 演示文稿</vt:lpstr>
      <vt:lpstr>CPU模型</vt:lpstr>
      <vt:lpstr>PowerPoint 演示文稿</vt:lpstr>
      <vt:lpstr>PowerPoint 演示文稿</vt:lpstr>
      <vt:lpstr>PowerPoint 演示文稿</vt:lpstr>
      <vt:lpstr>Cache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07述职报告</dc:title>
  <dc:creator>user</dc:creator>
  <cp:lastModifiedBy>龚 开宸</cp:lastModifiedBy>
  <cp:revision>51</cp:revision>
  <dcterms:created xsi:type="dcterms:W3CDTF">2016-06-01T05:10:04Z</dcterms:created>
  <dcterms:modified xsi:type="dcterms:W3CDTF">2022-05-25T03:43:00Z</dcterms:modified>
</cp:coreProperties>
</file>