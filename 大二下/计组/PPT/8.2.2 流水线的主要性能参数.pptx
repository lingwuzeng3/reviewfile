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9" r:id="rId2"/>
    <p:sldId id="300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29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2B9E7"/>
    <a:srgbClr val="01C0B0"/>
    <a:srgbClr val="04B0BE"/>
    <a:srgbClr val="04B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295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30" y="7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2808" y="3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E8A95-114D-4BB9-A729-058920B2735F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8029B-87F6-42DD-8185-B8A2A8D30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8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255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568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971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35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4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86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85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6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27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8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39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04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07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75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2800" y="228600"/>
            <a:ext cx="8432800" cy="533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295400"/>
            <a:ext cx="5384800" cy="50260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384800" cy="50260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521451"/>
            <a:ext cx="2844800" cy="244475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2D6BC7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521451"/>
            <a:ext cx="3860800" cy="244475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2D6BC7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521451"/>
            <a:ext cx="2844800" cy="244475"/>
          </a:xfrm>
        </p:spPr>
        <p:txBody>
          <a:bodyPr/>
          <a:lstStyle>
            <a:lvl1pPr>
              <a:defRPr/>
            </a:lvl1pPr>
          </a:lstStyle>
          <a:p>
            <a:fld id="{431F9143-C211-4707-A93B-6826A2A62681}" type="slidenum">
              <a:rPr lang="zh-CN" altLang="en-US">
                <a:solidFill>
                  <a:srgbClr val="2D6BC7"/>
                </a:solidFill>
              </a:rPr>
              <a:pPr/>
              <a:t>‹#›</a:t>
            </a:fld>
            <a:endParaRPr lang="en-US" altLang="zh-CN">
              <a:solidFill>
                <a:srgbClr val="2D6BC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33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53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2.emf"/><Relationship Id="rId7" Type="http://schemas.openxmlformats.org/officeDocument/2006/relationships/image" Target="../media/image2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49204" y="2340487"/>
            <a:ext cx="7236241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10799813" y="5496958"/>
            <a:ext cx="1079283" cy="1080463"/>
          </a:xfrm>
          <a:custGeom>
            <a:avLst/>
            <a:gdLst>
              <a:gd name="T0" fmla="*/ 2199 w 2504"/>
              <a:gd name="T1" fmla="*/ 0 h 2504"/>
              <a:gd name="T2" fmla="*/ 2504 w 2504"/>
              <a:gd name="T3" fmla="*/ 0 h 2504"/>
              <a:gd name="T4" fmla="*/ 2504 w 2504"/>
              <a:gd name="T5" fmla="*/ 2504 h 2504"/>
              <a:gd name="T6" fmla="*/ 0 w 2504"/>
              <a:gd name="T7" fmla="*/ 2504 h 2504"/>
              <a:gd name="T8" fmla="*/ 0 w 2504"/>
              <a:gd name="T9" fmla="*/ 2199 h 2504"/>
              <a:gd name="T10" fmla="*/ 1970 w 2504"/>
              <a:gd name="T11" fmla="*/ 2199 h 2504"/>
              <a:gd name="T12" fmla="*/ 87 w 2504"/>
              <a:gd name="T13" fmla="*/ 315 h 2504"/>
              <a:gd name="T14" fmla="*/ 303 w 2504"/>
              <a:gd name="T15" fmla="*/ 99 h 2504"/>
              <a:gd name="T16" fmla="*/ 2199 w 2504"/>
              <a:gd name="T17" fmla="*/ 1996 h 2504"/>
              <a:gd name="T18" fmla="*/ 2199 w 2504"/>
              <a:gd name="T19" fmla="*/ 0 h 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04" h="2504">
                <a:moveTo>
                  <a:pt x="2199" y="0"/>
                </a:moveTo>
                <a:lnTo>
                  <a:pt x="2504" y="0"/>
                </a:lnTo>
                <a:lnTo>
                  <a:pt x="2504" y="2504"/>
                </a:lnTo>
                <a:lnTo>
                  <a:pt x="0" y="2504"/>
                </a:lnTo>
                <a:lnTo>
                  <a:pt x="0" y="2199"/>
                </a:lnTo>
                <a:lnTo>
                  <a:pt x="1970" y="2199"/>
                </a:lnTo>
                <a:lnTo>
                  <a:pt x="87" y="315"/>
                </a:lnTo>
                <a:lnTo>
                  <a:pt x="303" y="99"/>
                </a:lnTo>
                <a:lnTo>
                  <a:pt x="2199" y="1996"/>
                </a:lnTo>
                <a:lnTo>
                  <a:pt x="2199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594554" y="2541722"/>
            <a:ext cx="7393182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流水线的主要性能参数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62818" y="198604"/>
            <a:ext cx="473877" cy="484825"/>
            <a:chOff x="702608" y="-1899592"/>
            <a:chExt cx="1054013" cy="1078364"/>
          </a:xfrm>
        </p:grpSpPr>
        <p:sp>
          <p:nvSpPr>
            <p:cNvPr id="16" name="Oval 5"/>
            <p:cNvSpPr>
              <a:spLocks noChangeArrowheads="1"/>
            </p:cNvSpPr>
            <p:nvPr/>
          </p:nvSpPr>
          <p:spPr bwMode="auto">
            <a:xfrm>
              <a:off x="702608" y="-1899592"/>
              <a:ext cx="1054013" cy="10783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904366" y="-1555211"/>
              <a:ext cx="650496" cy="445260"/>
            </a:xfrm>
            <a:custGeom>
              <a:avLst/>
              <a:gdLst>
                <a:gd name="T0" fmla="*/ 380 w 394"/>
                <a:gd name="T1" fmla="*/ 19 h 263"/>
                <a:gd name="T2" fmla="*/ 380 w 394"/>
                <a:gd name="T3" fmla="*/ 216 h 263"/>
                <a:gd name="T4" fmla="*/ 374 w 394"/>
                <a:gd name="T5" fmla="*/ 216 h 263"/>
                <a:gd name="T6" fmla="*/ 362 w 394"/>
                <a:gd name="T7" fmla="*/ 215 h 263"/>
                <a:gd name="T8" fmla="*/ 199 w 394"/>
                <a:gd name="T9" fmla="*/ 256 h 263"/>
                <a:gd name="T10" fmla="*/ 197 w 394"/>
                <a:gd name="T11" fmla="*/ 257 h 263"/>
                <a:gd name="T12" fmla="*/ 195 w 394"/>
                <a:gd name="T13" fmla="*/ 256 h 263"/>
                <a:gd name="T14" fmla="*/ 33 w 394"/>
                <a:gd name="T15" fmla="*/ 215 h 263"/>
                <a:gd name="T16" fmla="*/ 20 w 394"/>
                <a:gd name="T17" fmla="*/ 216 h 263"/>
                <a:gd name="T18" fmla="*/ 14 w 394"/>
                <a:gd name="T19" fmla="*/ 216 h 263"/>
                <a:gd name="T20" fmla="*/ 14 w 394"/>
                <a:gd name="T21" fmla="*/ 19 h 263"/>
                <a:gd name="T22" fmla="*/ 0 w 394"/>
                <a:gd name="T23" fmla="*/ 19 h 263"/>
                <a:gd name="T24" fmla="*/ 0 w 394"/>
                <a:gd name="T25" fmla="*/ 223 h 263"/>
                <a:gd name="T26" fmla="*/ 197 w 394"/>
                <a:gd name="T27" fmla="*/ 263 h 263"/>
                <a:gd name="T28" fmla="*/ 394 w 394"/>
                <a:gd name="T29" fmla="*/ 223 h 263"/>
                <a:gd name="T30" fmla="*/ 394 w 394"/>
                <a:gd name="T31" fmla="*/ 19 h 263"/>
                <a:gd name="T32" fmla="*/ 380 w 394"/>
                <a:gd name="T33" fmla="*/ 19 h 263"/>
                <a:gd name="T34" fmla="*/ 191 w 394"/>
                <a:gd name="T35" fmla="*/ 223 h 263"/>
                <a:gd name="T36" fmla="*/ 191 w 394"/>
                <a:gd name="T37" fmla="*/ 44 h 263"/>
                <a:gd name="T38" fmla="*/ 54 w 394"/>
                <a:gd name="T39" fmla="*/ 2 h 263"/>
                <a:gd name="T40" fmla="*/ 54 w 394"/>
                <a:gd name="T41" fmla="*/ 188 h 263"/>
                <a:gd name="T42" fmla="*/ 59 w 394"/>
                <a:gd name="T43" fmla="*/ 188 h 263"/>
                <a:gd name="T44" fmla="*/ 191 w 394"/>
                <a:gd name="T45" fmla="*/ 223 h 263"/>
                <a:gd name="T46" fmla="*/ 340 w 394"/>
                <a:gd name="T47" fmla="*/ 188 h 263"/>
                <a:gd name="T48" fmla="*/ 340 w 394"/>
                <a:gd name="T49" fmla="*/ 2 h 263"/>
                <a:gd name="T50" fmla="*/ 204 w 394"/>
                <a:gd name="T51" fmla="*/ 44 h 263"/>
                <a:gd name="T52" fmla="*/ 204 w 394"/>
                <a:gd name="T53" fmla="*/ 223 h 263"/>
                <a:gd name="T54" fmla="*/ 335 w 394"/>
                <a:gd name="T55" fmla="*/ 188 h 263"/>
                <a:gd name="T56" fmla="*/ 340 w 394"/>
                <a:gd name="T57" fmla="*/ 188 h 263"/>
                <a:gd name="T58" fmla="*/ 197 w 394"/>
                <a:gd name="T59" fmla="*/ 252 h 263"/>
                <a:gd name="T60" fmla="*/ 371 w 394"/>
                <a:gd name="T61" fmla="*/ 211 h 263"/>
                <a:gd name="T62" fmla="*/ 371 w 394"/>
                <a:gd name="T63" fmla="*/ 4 h 263"/>
                <a:gd name="T64" fmla="*/ 350 w 394"/>
                <a:gd name="T65" fmla="*/ 4 h 263"/>
                <a:gd name="T66" fmla="*/ 350 w 394"/>
                <a:gd name="T67" fmla="*/ 198 h 263"/>
                <a:gd name="T68" fmla="*/ 344 w 394"/>
                <a:gd name="T69" fmla="*/ 197 h 263"/>
                <a:gd name="T70" fmla="*/ 334 w 394"/>
                <a:gd name="T71" fmla="*/ 197 h 263"/>
                <a:gd name="T72" fmla="*/ 201 w 394"/>
                <a:gd name="T73" fmla="*/ 235 h 263"/>
                <a:gd name="T74" fmla="*/ 197 w 394"/>
                <a:gd name="T75" fmla="*/ 237 h 263"/>
                <a:gd name="T76" fmla="*/ 194 w 394"/>
                <a:gd name="T77" fmla="*/ 235 h 263"/>
                <a:gd name="T78" fmla="*/ 60 w 394"/>
                <a:gd name="T79" fmla="*/ 197 h 263"/>
                <a:gd name="T80" fmla="*/ 50 w 394"/>
                <a:gd name="T81" fmla="*/ 197 h 263"/>
                <a:gd name="T82" fmla="*/ 45 w 394"/>
                <a:gd name="T83" fmla="*/ 198 h 263"/>
                <a:gd name="T84" fmla="*/ 45 w 394"/>
                <a:gd name="T85" fmla="*/ 4 h 263"/>
                <a:gd name="T86" fmla="*/ 24 w 394"/>
                <a:gd name="T87" fmla="*/ 4 h 263"/>
                <a:gd name="T88" fmla="*/ 24 w 394"/>
                <a:gd name="T89" fmla="*/ 211 h 263"/>
                <a:gd name="T90" fmla="*/ 197 w 394"/>
                <a:gd name="T91" fmla="*/ 252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94" h="263">
                  <a:moveTo>
                    <a:pt x="380" y="19"/>
                  </a:moveTo>
                  <a:lnTo>
                    <a:pt x="380" y="216"/>
                  </a:lnTo>
                  <a:lnTo>
                    <a:pt x="374" y="216"/>
                  </a:lnTo>
                  <a:cubicBezTo>
                    <a:pt x="370" y="215"/>
                    <a:pt x="366" y="215"/>
                    <a:pt x="362" y="215"/>
                  </a:cubicBezTo>
                  <a:cubicBezTo>
                    <a:pt x="307" y="215"/>
                    <a:pt x="250" y="230"/>
                    <a:pt x="199" y="256"/>
                  </a:cubicBezTo>
                  <a:lnTo>
                    <a:pt x="197" y="257"/>
                  </a:lnTo>
                  <a:lnTo>
                    <a:pt x="195" y="256"/>
                  </a:lnTo>
                  <a:cubicBezTo>
                    <a:pt x="145" y="230"/>
                    <a:pt x="87" y="215"/>
                    <a:pt x="33" y="215"/>
                  </a:cubicBezTo>
                  <a:cubicBezTo>
                    <a:pt x="28" y="215"/>
                    <a:pt x="24" y="215"/>
                    <a:pt x="20" y="216"/>
                  </a:cubicBezTo>
                  <a:lnTo>
                    <a:pt x="14" y="216"/>
                  </a:lnTo>
                  <a:lnTo>
                    <a:pt x="14" y="19"/>
                  </a:lnTo>
                  <a:cubicBezTo>
                    <a:pt x="10" y="19"/>
                    <a:pt x="5" y="19"/>
                    <a:pt x="0" y="19"/>
                  </a:cubicBezTo>
                  <a:lnTo>
                    <a:pt x="0" y="223"/>
                  </a:lnTo>
                  <a:cubicBezTo>
                    <a:pt x="66" y="222"/>
                    <a:pt x="136" y="236"/>
                    <a:pt x="197" y="263"/>
                  </a:cubicBezTo>
                  <a:cubicBezTo>
                    <a:pt x="259" y="236"/>
                    <a:pt x="328" y="222"/>
                    <a:pt x="394" y="223"/>
                  </a:cubicBezTo>
                  <a:lnTo>
                    <a:pt x="394" y="19"/>
                  </a:lnTo>
                  <a:cubicBezTo>
                    <a:pt x="389" y="19"/>
                    <a:pt x="385" y="19"/>
                    <a:pt x="380" y="19"/>
                  </a:cubicBezTo>
                  <a:close/>
                  <a:moveTo>
                    <a:pt x="191" y="223"/>
                  </a:moveTo>
                  <a:lnTo>
                    <a:pt x="191" y="44"/>
                  </a:lnTo>
                  <a:cubicBezTo>
                    <a:pt x="148" y="16"/>
                    <a:pt x="100" y="0"/>
                    <a:pt x="54" y="2"/>
                  </a:cubicBezTo>
                  <a:lnTo>
                    <a:pt x="54" y="188"/>
                  </a:lnTo>
                  <a:cubicBezTo>
                    <a:pt x="56" y="188"/>
                    <a:pt x="58" y="188"/>
                    <a:pt x="59" y="188"/>
                  </a:cubicBezTo>
                  <a:cubicBezTo>
                    <a:pt x="103" y="188"/>
                    <a:pt x="150" y="200"/>
                    <a:pt x="191" y="223"/>
                  </a:cubicBezTo>
                  <a:close/>
                  <a:moveTo>
                    <a:pt x="340" y="188"/>
                  </a:moveTo>
                  <a:lnTo>
                    <a:pt x="340" y="2"/>
                  </a:lnTo>
                  <a:cubicBezTo>
                    <a:pt x="295" y="0"/>
                    <a:pt x="246" y="16"/>
                    <a:pt x="204" y="44"/>
                  </a:cubicBezTo>
                  <a:lnTo>
                    <a:pt x="204" y="223"/>
                  </a:lnTo>
                  <a:cubicBezTo>
                    <a:pt x="245" y="200"/>
                    <a:pt x="291" y="188"/>
                    <a:pt x="335" y="188"/>
                  </a:cubicBezTo>
                  <a:cubicBezTo>
                    <a:pt x="337" y="188"/>
                    <a:pt x="339" y="188"/>
                    <a:pt x="340" y="188"/>
                  </a:cubicBezTo>
                  <a:close/>
                  <a:moveTo>
                    <a:pt x="197" y="252"/>
                  </a:moveTo>
                  <a:cubicBezTo>
                    <a:pt x="253" y="222"/>
                    <a:pt x="315" y="209"/>
                    <a:pt x="371" y="211"/>
                  </a:cubicBezTo>
                  <a:lnTo>
                    <a:pt x="371" y="4"/>
                  </a:lnTo>
                  <a:cubicBezTo>
                    <a:pt x="364" y="4"/>
                    <a:pt x="357" y="4"/>
                    <a:pt x="350" y="4"/>
                  </a:cubicBezTo>
                  <a:lnTo>
                    <a:pt x="350" y="198"/>
                  </a:lnTo>
                  <a:lnTo>
                    <a:pt x="344" y="197"/>
                  </a:lnTo>
                  <a:cubicBezTo>
                    <a:pt x="341" y="197"/>
                    <a:pt x="337" y="197"/>
                    <a:pt x="334" y="197"/>
                  </a:cubicBezTo>
                  <a:cubicBezTo>
                    <a:pt x="289" y="197"/>
                    <a:pt x="242" y="211"/>
                    <a:pt x="201" y="235"/>
                  </a:cubicBezTo>
                  <a:lnTo>
                    <a:pt x="197" y="237"/>
                  </a:lnTo>
                  <a:lnTo>
                    <a:pt x="194" y="235"/>
                  </a:lnTo>
                  <a:cubicBezTo>
                    <a:pt x="153" y="211"/>
                    <a:pt x="105" y="197"/>
                    <a:pt x="60" y="197"/>
                  </a:cubicBezTo>
                  <a:cubicBezTo>
                    <a:pt x="57" y="197"/>
                    <a:pt x="54" y="197"/>
                    <a:pt x="50" y="197"/>
                  </a:cubicBezTo>
                  <a:lnTo>
                    <a:pt x="45" y="198"/>
                  </a:lnTo>
                  <a:lnTo>
                    <a:pt x="45" y="4"/>
                  </a:lnTo>
                  <a:cubicBezTo>
                    <a:pt x="38" y="4"/>
                    <a:pt x="31" y="4"/>
                    <a:pt x="24" y="4"/>
                  </a:cubicBezTo>
                  <a:lnTo>
                    <a:pt x="24" y="211"/>
                  </a:lnTo>
                  <a:cubicBezTo>
                    <a:pt x="79" y="209"/>
                    <a:pt x="142" y="222"/>
                    <a:pt x="197" y="2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68029" y="198604"/>
            <a:ext cx="472312" cy="484825"/>
            <a:chOff x="2014036" y="-1899592"/>
            <a:chExt cx="1050534" cy="1078364"/>
          </a:xfrm>
        </p:grpSpPr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2014036" y="-1899592"/>
              <a:ext cx="1050534" cy="1078364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2313195" y="-1670005"/>
              <a:ext cx="553096" cy="640061"/>
            </a:xfrm>
            <a:custGeom>
              <a:avLst/>
              <a:gdLst>
                <a:gd name="T0" fmla="*/ 214 w 336"/>
                <a:gd name="T1" fmla="*/ 48 h 380"/>
                <a:gd name="T2" fmla="*/ 167 w 336"/>
                <a:gd name="T3" fmla="*/ 95 h 380"/>
                <a:gd name="T4" fmla="*/ 119 w 336"/>
                <a:gd name="T5" fmla="*/ 95 h 380"/>
                <a:gd name="T6" fmla="*/ 72 w 336"/>
                <a:gd name="T7" fmla="*/ 48 h 380"/>
                <a:gd name="T8" fmla="*/ 119 w 336"/>
                <a:gd name="T9" fmla="*/ 0 h 380"/>
                <a:gd name="T10" fmla="*/ 167 w 336"/>
                <a:gd name="T11" fmla="*/ 0 h 380"/>
                <a:gd name="T12" fmla="*/ 214 w 336"/>
                <a:gd name="T13" fmla="*/ 48 h 380"/>
                <a:gd name="T14" fmla="*/ 237 w 336"/>
                <a:gd name="T15" fmla="*/ 48 h 380"/>
                <a:gd name="T16" fmla="*/ 238 w 336"/>
                <a:gd name="T17" fmla="*/ 59 h 380"/>
                <a:gd name="T18" fmla="*/ 179 w 336"/>
                <a:gd name="T19" fmla="*/ 118 h 380"/>
                <a:gd name="T20" fmla="*/ 107 w 336"/>
                <a:gd name="T21" fmla="*/ 118 h 380"/>
                <a:gd name="T22" fmla="*/ 48 w 336"/>
                <a:gd name="T23" fmla="*/ 59 h 380"/>
                <a:gd name="T24" fmla="*/ 49 w 336"/>
                <a:gd name="T25" fmla="*/ 48 h 380"/>
                <a:gd name="T26" fmla="*/ 0 w 336"/>
                <a:gd name="T27" fmla="*/ 106 h 380"/>
                <a:gd name="T28" fmla="*/ 0 w 336"/>
                <a:gd name="T29" fmla="*/ 320 h 380"/>
                <a:gd name="T30" fmla="*/ 60 w 336"/>
                <a:gd name="T31" fmla="*/ 380 h 380"/>
                <a:gd name="T32" fmla="*/ 218 w 336"/>
                <a:gd name="T33" fmla="*/ 380 h 380"/>
                <a:gd name="T34" fmla="*/ 153 w 336"/>
                <a:gd name="T35" fmla="*/ 282 h 380"/>
                <a:gd name="T36" fmla="*/ 260 w 336"/>
                <a:gd name="T37" fmla="*/ 176 h 380"/>
                <a:gd name="T38" fmla="*/ 286 w 336"/>
                <a:gd name="T39" fmla="*/ 179 h 380"/>
                <a:gd name="T40" fmla="*/ 286 w 336"/>
                <a:gd name="T41" fmla="*/ 106 h 380"/>
                <a:gd name="T42" fmla="*/ 237 w 336"/>
                <a:gd name="T43" fmla="*/ 48 h 380"/>
                <a:gd name="T44" fmla="*/ 134 w 336"/>
                <a:gd name="T45" fmla="*/ 238 h 380"/>
                <a:gd name="T46" fmla="*/ 134 w 336"/>
                <a:gd name="T47" fmla="*/ 238 h 380"/>
                <a:gd name="T48" fmla="*/ 60 w 336"/>
                <a:gd name="T49" fmla="*/ 238 h 380"/>
                <a:gd name="T50" fmla="*/ 48 w 336"/>
                <a:gd name="T51" fmla="*/ 226 h 380"/>
                <a:gd name="T52" fmla="*/ 60 w 336"/>
                <a:gd name="T53" fmla="*/ 214 h 380"/>
                <a:gd name="T54" fmla="*/ 134 w 336"/>
                <a:gd name="T55" fmla="*/ 214 h 380"/>
                <a:gd name="T56" fmla="*/ 146 w 336"/>
                <a:gd name="T57" fmla="*/ 226 h 380"/>
                <a:gd name="T58" fmla="*/ 134 w 336"/>
                <a:gd name="T59" fmla="*/ 238 h 380"/>
                <a:gd name="T60" fmla="*/ 158 w 336"/>
                <a:gd name="T61" fmla="*/ 190 h 380"/>
                <a:gd name="T62" fmla="*/ 158 w 336"/>
                <a:gd name="T63" fmla="*/ 190 h 380"/>
                <a:gd name="T64" fmla="*/ 60 w 336"/>
                <a:gd name="T65" fmla="*/ 190 h 380"/>
                <a:gd name="T66" fmla="*/ 48 w 336"/>
                <a:gd name="T67" fmla="*/ 178 h 380"/>
                <a:gd name="T68" fmla="*/ 60 w 336"/>
                <a:gd name="T69" fmla="*/ 167 h 380"/>
                <a:gd name="T70" fmla="*/ 158 w 336"/>
                <a:gd name="T71" fmla="*/ 167 h 380"/>
                <a:gd name="T72" fmla="*/ 170 w 336"/>
                <a:gd name="T73" fmla="*/ 178 h 380"/>
                <a:gd name="T74" fmla="*/ 158 w 336"/>
                <a:gd name="T75" fmla="*/ 190 h 380"/>
                <a:gd name="T76" fmla="*/ 279 w 336"/>
                <a:gd name="T77" fmla="*/ 208 h 380"/>
                <a:gd name="T78" fmla="*/ 260 w 336"/>
                <a:gd name="T79" fmla="*/ 206 h 380"/>
                <a:gd name="T80" fmla="*/ 184 w 336"/>
                <a:gd name="T81" fmla="*/ 281 h 380"/>
                <a:gd name="T82" fmla="*/ 244 w 336"/>
                <a:gd name="T83" fmla="*/ 356 h 380"/>
                <a:gd name="T84" fmla="*/ 260 w 336"/>
                <a:gd name="T85" fmla="*/ 357 h 380"/>
                <a:gd name="T86" fmla="*/ 336 w 336"/>
                <a:gd name="T87" fmla="*/ 281 h 380"/>
                <a:gd name="T88" fmla="*/ 279 w 336"/>
                <a:gd name="T89" fmla="*/ 208 h 380"/>
                <a:gd name="T90" fmla="*/ 303 w 336"/>
                <a:gd name="T91" fmla="*/ 271 h 380"/>
                <a:gd name="T92" fmla="*/ 303 w 336"/>
                <a:gd name="T93" fmla="*/ 271 h 380"/>
                <a:gd name="T94" fmla="*/ 279 w 336"/>
                <a:gd name="T95" fmla="*/ 295 h 380"/>
                <a:gd name="T96" fmla="*/ 260 w 336"/>
                <a:gd name="T97" fmla="*/ 314 h 380"/>
                <a:gd name="T98" fmla="*/ 239 w 336"/>
                <a:gd name="T99" fmla="*/ 314 h 380"/>
                <a:gd name="T100" fmla="*/ 217 w 336"/>
                <a:gd name="T101" fmla="*/ 292 h 380"/>
                <a:gd name="T102" fmla="*/ 217 w 336"/>
                <a:gd name="T103" fmla="*/ 271 h 380"/>
                <a:gd name="T104" fmla="*/ 239 w 336"/>
                <a:gd name="T105" fmla="*/ 271 h 380"/>
                <a:gd name="T106" fmla="*/ 250 w 336"/>
                <a:gd name="T107" fmla="*/ 281 h 380"/>
                <a:gd name="T108" fmla="*/ 279 w 336"/>
                <a:gd name="T109" fmla="*/ 252 h 380"/>
                <a:gd name="T110" fmla="*/ 282 w 336"/>
                <a:gd name="T111" fmla="*/ 249 h 380"/>
                <a:gd name="T112" fmla="*/ 303 w 336"/>
                <a:gd name="T113" fmla="*/ 249 h 380"/>
                <a:gd name="T114" fmla="*/ 303 w 336"/>
                <a:gd name="T115" fmla="*/ 27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36" h="380">
                  <a:moveTo>
                    <a:pt x="214" y="48"/>
                  </a:moveTo>
                  <a:cubicBezTo>
                    <a:pt x="214" y="74"/>
                    <a:pt x="193" y="95"/>
                    <a:pt x="167" y="95"/>
                  </a:cubicBezTo>
                  <a:lnTo>
                    <a:pt x="119" y="95"/>
                  </a:lnTo>
                  <a:cubicBezTo>
                    <a:pt x="93" y="95"/>
                    <a:pt x="72" y="74"/>
                    <a:pt x="72" y="48"/>
                  </a:cubicBezTo>
                  <a:cubicBezTo>
                    <a:pt x="72" y="21"/>
                    <a:pt x="93" y="0"/>
                    <a:pt x="119" y="0"/>
                  </a:cubicBezTo>
                  <a:lnTo>
                    <a:pt x="167" y="0"/>
                  </a:lnTo>
                  <a:cubicBezTo>
                    <a:pt x="193" y="0"/>
                    <a:pt x="214" y="21"/>
                    <a:pt x="214" y="48"/>
                  </a:cubicBezTo>
                  <a:close/>
                  <a:moveTo>
                    <a:pt x="237" y="48"/>
                  </a:moveTo>
                  <a:cubicBezTo>
                    <a:pt x="238" y="51"/>
                    <a:pt x="238" y="55"/>
                    <a:pt x="238" y="59"/>
                  </a:cubicBezTo>
                  <a:cubicBezTo>
                    <a:pt x="238" y="91"/>
                    <a:pt x="211" y="118"/>
                    <a:pt x="179" y="118"/>
                  </a:cubicBezTo>
                  <a:lnTo>
                    <a:pt x="107" y="118"/>
                  </a:lnTo>
                  <a:cubicBezTo>
                    <a:pt x="74" y="118"/>
                    <a:pt x="48" y="91"/>
                    <a:pt x="48" y="59"/>
                  </a:cubicBezTo>
                  <a:cubicBezTo>
                    <a:pt x="48" y="55"/>
                    <a:pt x="48" y="51"/>
                    <a:pt x="49" y="48"/>
                  </a:cubicBezTo>
                  <a:cubicBezTo>
                    <a:pt x="21" y="53"/>
                    <a:pt x="0" y="77"/>
                    <a:pt x="0" y="106"/>
                  </a:cubicBezTo>
                  <a:lnTo>
                    <a:pt x="0" y="320"/>
                  </a:lnTo>
                  <a:cubicBezTo>
                    <a:pt x="0" y="353"/>
                    <a:pt x="27" y="380"/>
                    <a:pt x="60" y="380"/>
                  </a:cubicBezTo>
                  <a:lnTo>
                    <a:pt x="218" y="380"/>
                  </a:lnTo>
                  <a:cubicBezTo>
                    <a:pt x="180" y="363"/>
                    <a:pt x="153" y="326"/>
                    <a:pt x="153" y="282"/>
                  </a:cubicBezTo>
                  <a:cubicBezTo>
                    <a:pt x="153" y="223"/>
                    <a:pt x="201" y="176"/>
                    <a:pt x="260" y="176"/>
                  </a:cubicBezTo>
                  <a:cubicBezTo>
                    <a:pt x="269" y="176"/>
                    <a:pt x="277" y="177"/>
                    <a:pt x="286" y="179"/>
                  </a:cubicBezTo>
                  <a:lnTo>
                    <a:pt x="286" y="106"/>
                  </a:lnTo>
                  <a:cubicBezTo>
                    <a:pt x="286" y="77"/>
                    <a:pt x="265" y="53"/>
                    <a:pt x="237" y="48"/>
                  </a:cubicBezTo>
                  <a:close/>
                  <a:moveTo>
                    <a:pt x="134" y="238"/>
                  </a:moveTo>
                  <a:lnTo>
                    <a:pt x="134" y="238"/>
                  </a:lnTo>
                  <a:lnTo>
                    <a:pt x="60" y="238"/>
                  </a:lnTo>
                  <a:cubicBezTo>
                    <a:pt x="53" y="238"/>
                    <a:pt x="48" y="233"/>
                    <a:pt x="48" y="226"/>
                  </a:cubicBezTo>
                  <a:cubicBezTo>
                    <a:pt x="48" y="219"/>
                    <a:pt x="53" y="214"/>
                    <a:pt x="60" y="214"/>
                  </a:cubicBezTo>
                  <a:lnTo>
                    <a:pt x="134" y="214"/>
                  </a:lnTo>
                  <a:cubicBezTo>
                    <a:pt x="141" y="214"/>
                    <a:pt x="146" y="219"/>
                    <a:pt x="146" y="226"/>
                  </a:cubicBezTo>
                  <a:cubicBezTo>
                    <a:pt x="146" y="233"/>
                    <a:pt x="141" y="238"/>
                    <a:pt x="134" y="238"/>
                  </a:cubicBezTo>
                  <a:close/>
                  <a:moveTo>
                    <a:pt x="158" y="190"/>
                  </a:moveTo>
                  <a:lnTo>
                    <a:pt x="158" y="190"/>
                  </a:lnTo>
                  <a:lnTo>
                    <a:pt x="60" y="190"/>
                  </a:lnTo>
                  <a:cubicBezTo>
                    <a:pt x="53" y="190"/>
                    <a:pt x="48" y="185"/>
                    <a:pt x="48" y="178"/>
                  </a:cubicBezTo>
                  <a:cubicBezTo>
                    <a:pt x="48" y="172"/>
                    <a:pt x="53" y="167"/>
                    <a:pt x="60" y="167"/>
                  </a:cubicBezTo>
                  <a:lnTo>
                    <a:pt x="158" y="167"/>
                  </a:lnTo>
                  <a:cubicBezTo>
                    <a:pt x="164" y="167"/>
                    <a:pt x="170" y="172"/>
                    <a:pt x="170" y="178"/>
                  </a:cubicBezTo>
                  <a:cubicBezTo>
                    <a:pt x="170" y="185"/>
                    <a:pt x="164" y="190"/>
                    <a:pt x="158" y="190"/>
                  </a:cubicBezTo>
                  <a:close/>
                  <a:moveTo>
                    <a:pt x="279" y="208"/>
                  </a:moveTo>
                  <a:cubicBezTo>
                    <a:pt x="273" y="207"/>
                    <a:pt x="267" y="206"/>
                    <a:pt x="260" y="206"/>
                  </a:cubicBezTo>
                  <a:cubicBezTo>
                    <a:pt x="218" y="206"/>
                    <a:pt x="184" y="240"/>
                    <a:pt x="184" y="281"/>
                  </a:cubicBezTo>
                  <a:cubicBezTo>
                    <a:pt x="184" y="318"/>
                    <a:pt x="210" y="348"/>
                    <a:pt x="244" y="356"/>
                  </a:cubicBezTo>
                  <a:cubicBezTo>
                    <a:pt x="249" y="357"/>
                    <a:pt x="255" y="357"/>
                    <a:pt x="260" y="357"/>
                  </a:cubicBezTo>
                  <a:cubicBezTo>
                    <a:pt x="302" y="357"/>
                    <a:pt x="336" y="323"/>
                    <a:pt x="336" y="281"/>
                  </a:cubicBezTo>
                  <a:cubicBezTo>
                    <a:pt x="336" y="246"/>
                    <a:pt x="312" y="216"/>
                    <a:pt x="279" y="208"/>
                  </a:cubicBezTo>
                  <a:close/>
                  <a:moveTo>
                    <a:pt x="303" y="271"/>
                  </a:moveTo>
                  <a:lnTo>
                    <a:pt x="303" y="271"/>
                  </a:lnTo>
                  <a:lnTo>
                    <a:pt x="279" y="295"/>
                  </a:lnTo>
                  <a:lnTo>
                    <a:pt x="260" y="314"/>
                  </a:lnTo>
                  <a:cubicBezTo>
                    <a:pt x="254" y="320"/>
                    <a:pt x="245" y="320"/>
                    <a:pt x="239" y="314"/>
                  </a:cubicBezTo>
                  <a:lnTo>
                    <a:pt x="217" y="292"/>
                  </a:lnTo>
                  <a:cubicBezTo>
                    <a:pt x="211" y="286"/>
                    <a:pt x="211" y="277"/>
                    <a:pt x="217" y="271"/>
                  </a:cubicBezTo>
                  <a:cubicBezTo>
                    <a:pt x="223" y="265"/>
                    <a:pt x="233" y="265"/>
                    <a:pt x="239" y="271"/>
                  </a:cubicBezTo>
                  <a:lnTo>
                    <a:pt x="250" y="281"/>
                  </a:lnTo>
                  <a:lnTo>
                    <a:pt x="279" y="252"/>
                  </a:lnTo>
                  <a:lnTo>
                    <a:pt x="282" y="249"/>
                  </a:lnTo>
                  <a:cubicBezTo>
                    <a:pt x="288" y="243"/>
                    <a:pt x="297" y="243"/>
                    <a:pt x="303" y="249"/>
                  </a:cubicBezTo>
                  <a:cubicBezTo>
                    <a:pt x="309" y="255"/>
                    <a:pt x="309" y="265"/>
                    <a:pt x="303" y="2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471677" y="198604"/>
            <a:ext cx="472312" cy="484825"/>
            <a:chOff x="3252414" y="-1899592"/>
            <a:chExt cx="1050534" cy="1078364"/>
          </a:xfrm>
        </p:grpSpPr>
        <p:sp>
          <p:nvSpPr>
            <p:cNvPr id="22" name="Oval 7"/>
            <p:cNvSpPr>
              <a:spLocks noChangeArrowheads="1"/>
            </p:cNvSpPr>
            <p:nvPr/>
          </p:nvSpPr>
          <p:spPr bwMode="auto">
            <a:xfrm>
              <a:off x="3252414" y="-1899592"/>
              <a:ext cx="1050534" cy="107836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1"/>
            <p:cNvSpPr>
              <a:spLocks noEditPoints="1"/>
            </p:cNvSpPr>
            <p:nvPr/>
          </p:nvSpPr>
          <p:spPr bwMode="auto">
            <a:xfrm>
              <a:off x="3450694" y="-1683919"/>
              <a:ext cx="594839" cy="647018"/>
            </a:xfrm>
            <a:custGeom>
              <a:avLst/>
              <a:gdLst>
                <a:gd name="T0" fmla="*/ 136 w 360"/>
                <a:gd name="T1" fmla="*/ 238 h 383"/>
                <a:gd name="T2" fmla="*/ 130 w 360"/>
                <a:gd name="T3" fmla="*/ 217 h 383"/>
                <a:gd name="T4" fmla="*/ 157 w 360"/>
                <a:gd name="T5" fmla="*/ 104 h 383"/>
                <a:gd name="T6" fmla="*/ 187 w 360"/>
                <a:gd name="T7" fmla="*/ 195 h 383"/>
                <a:gd name="T8" fmla="*/ 223 w 360"/>
                <a:gd name="T9" fmla="*/ 90 h 383"/>
                <a:gd name="T10" fmla="*/ 142 w 360"/>
                <a:gd name="T11" fmla="*/ 179 h 383"/>
                <a:gd name="T12" fmla="*/ 136 w 360"/>
                <a:gd name="T13" fmla="*/ 191 h 383"/>
                <a:gd name="T14" fmla="*/ 185 w 360"/>
                <a:gd name="T15" fmla="*/ 220 h 383"/>
                <a:gd name="T16" fmla="*/ 237 w 360"/>
                <a:gd name="T17" fmla="*/ 76 h 383"/>
                <a:gd name="T18" fmla="*/ 240 w 360"/>
                <a:gd name="T19" fmla="*/ 49 h 383"/>
                <a:gd name="T20" fmla="*/ 237 w 360"/>
                <a:gd name="T21" fmla="*/ 76 h 383"/>
                <a:gd name="T22" fmla="*/ 281 w 360"/>
                <a:gd name="T23" fmla="*/ 90 h 383"/>
                <a:gd name="T24" fmla="*/ 253 w 360"/>
                <a:gd name="T25" fmla="*/ 93 h 383"/>
                <a:gd name="T26" fmla="*/ 205 w 360"/>
                <a:gd name="T27" fmla="*/ 64 h 383"/>
                <a:gd name="T28" fmla="*/ 194 w 360"/>
                <a:gd name="T29" fmla="*/ 39 h 383"/>
                <a:gd name="T30" fmla="*/ 205 w 360"/>
                <a:gd name="T31" fmla="*/ 64 h 383"/>
                <a:gd name="T32" fmla="*/ 159 w 360"/>
                <a:gd name="T33" fmla="*/ 48 h 383"/>
                <a:gd name="T34" fmla="*/ 161 w 360"/>
                <a:gd name="T35" fmla="*/ 76 h 383"/>
                <a:gd name="T36" fmla="*/ 264 w 360"/>
                <a:gd name="T37" fmla="*/ 137 h 383"/>
                <a:gd name="T38" fmla="*/ 290 w 360"/>
                <a:gd name="T39" fmla="*/ 125 h 383"/>
                <a:gd name="T40" fmla="*/ 264 w 360"/>
                <a:gd name="T41" fmla="*/ 137 h 383"/>
                <a:gd name="T42" fmla="*/ 132 w 360"/>
                <a:gd name="T43" fmla="*/ 196 h 383"/>
                <a:gd name="T44" fmla="*/ 126 w 360"/>
                <a:gd name="T45" fmla="*/ 208 h 383"/>
                <a:gd name="T46" fmla="*/ 175 w 360"/>
                <a:gd name="T47" fmla="*/ 237 h 383"/>
                <a:gd name="T48" fmla="*/ 131 w 360"/>
                <a:gd name="T49" fmla="*/ 383 h 383"/>
                <a:gd name="T50" fmla="*/ 141 w 360"/>
                <a:gd name="T51" fmla="*/ 22 h 383"/>
                <a:gd name="T52" fmla="*/ 342 w 360"/>
                <a:gd name="T53" fmla="*/ 109 h 383"/>
                <a:gd name="T54" fmla="*/ 345 w 360"/>
                <a:gd name="T55" fmla="*/ 167 h 383"/>
                <a:gd name="T56" fmla="*/ 356 w 360"/>
                <a:gd name="T57" fmla="*/ 240 h 383"/>
                <a:gd name="T58" fmla="*/ 343 w 360"/>
                <a:gd name="T59" fmla="*/ 301 h 383"/>
                <a:gd name="T60" fmla="*/ 269 w 360"/>
                <a:gd name="T61" fmla="*/ 318 h 383"/>
                <a:gd name="T62" fmla="*/ 131 w 360"/>
                <a:gd name="T63" fmla="*/ 38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60" h="383">
                  <a:moveTo>
                    <a:pt x="130" y="217"/>
                  </a:moveTo>
                  <a:cubicBezTo>
                    <a:pt x="126" y="224"/>
                    <a:pt x="129" y="234"/>
                    <a:pt x="136" y="238"/>
                  </a:cubicBezTo>
                  <a:cubicBezTo>
                    <a:pt x="143" y="242"/>
                    <a:pt x="151" y="241"/>
                    <a:pt x="156" y="236"/>
                  </a:cubicBezTo>
                  <a:lnTo>
                    <a:pt x="130" y="217"/>
                  </a:lnTo>
                  <a:close/>
                  <a:moveTo>
                    <a:pt x="223" y="90"/>
                  </a:moveTo>
                  <a:cubicBezTo>
                    <a:pt x="199" y="76"/>
                    <a:pt x="170" y="83"/>
                    <a:pt x="157" y="104"/>
                  </a:cubicBezTo>
                  <a:cubicBezTo>
                    <a:pt x="144" y="127"/>
                    <a:pt x="161" y="151"/>
                    <a:pt x="149" y="174"/>
                  </a:cubicBezTo>
                  <a:lnTo>
                    <a:pt x="187" y="195"/>
                  </a:lnTo>
                  <a:cubicBezTo>
                    <a:pt x="201" y="174"/>
                    <a:pt x="231" y="176"/>
                    <a:pt x="243" y="154"/>
                  </a:cubicBezTo>
                  <a:cubicBezTo>
                    <a:pt x="256" y="132"/>
                    <a:pt x="247" y="104"/>
                    <a:pt x="223" y="90"/>
                  </a:cubicBezTo>
                  <a:close/>
                  <a:moveTo>
                    <a:pt x="183" y="209"/>
                  </a:moveTo>
                  <a:lnTo>
                    <a:pt x="142" y="179"/>
                  </a:lnTo>
                  <a:cubicBezTo>
                    <a:pt x="139" y="176"/>
                    <a:pt x="135" y="177"/>
                    <a:pt x="133" y="181"/>
                  </a:cubicBezTo>
                  <a:cubicBezTo>
                    <a:pt x="132" y="184"/>
                    <a:pt x="132" y="188"/>
                    <a:pt x="136" y="191"/>
                  </a:cubicBezTo>
                  <a:lnTo>
                    <a:pt x="176" y="221"/>
                  </a:lnTo>
                  <a:cubicBezTo>
                    <a:pt x="179" y="224"/>
                    <a:pt x="183" y="223"/>
                    <a:pt x="185" y="220"/>
                  </a:cubicBezTo>
                  <a:cubicBezTo>
                    <a:pt x="187" y="216"/>
                    <a:pt x="186" y="212"/>
                    <a:pt x="183" y="209"/>
                  </a:cubicBezTo>
                  <a:close/>
                  <a:moveTo>
                    <a:pt x="237" y="76"/>
                  </a:moveTo>
                  <a:lnTo>
                    <a:pt x="250" y="54"/>
                  </a:lnTo>
                  <a:lnTo>
                    <a:pt x="240" y="49"/>
                  </a:lnTo>
                  <a:lnTo>
                    <a:pt x="227" y="70"/>
                  </a:lnTo>
                  <a:lnTo>
                    <a:pt x="237" y="76"/>
                  </a:lnTo>
                  <a:close/>
                  <a:moveTo>
                    <a:pt x="259" y="103"/>
                  </a:moveTo>
                  <a:lnTo>
                    <a:pt x="281" y="90"/>
                  </a:lnTo>
                  <a:lnTo>
                    <a:pt x="275" y="80"/>
                  </a:lnTo>
                  <a:lnTo>
                    <a:pt x="253" y="93"/>
                  </a:lnTo>
                  <a:lnTo>
                    <a:pt x="259" y="103"/>
                  </a:lnTo>
                  <a:close/>
                  <a:moveTo>
                    <a:pt x="205" y="64"/>
                  </a:moveTo>
                  <a:lnTo>
                    <a:pt x="205" y="39"/>
                  </a:lnTo>
                  <a:lnTo>
                    <a:pt x="194" y="39"/>
                  </a:lnTo>
                  <a:lnTo>
                    <a:pt x="194" y="64"/>
                  </a:lnTo>
                  <a:lnTo>
                    <a:pt x="205" y="64"/>
                  </a:lnTo>
                  <a:close/>
                  <a:moveTo>
                    <a:pt x="172" y="70"/>
                  </a:moveTo>
                  <a:lnTo>
                    <a:pt x="159" y="48"/>
                  </a:lnTo>
                  <a:lnTo>
                    <a:pt x="149" y="54"/>
                  </a:lnTo>
                  <a:lnTo>
                    <a:pt x="161" y="76"/>
                  </a:lnTo>
                  <a:lnTo>
                    <a:pt x="172" y="70"/>
                  </a:lnTo>
                  <a:close/>
                  <a:moveTo>
                    <a:pt x="264" y="137"/>
                  </a:moveTo>
                  <a:lnTo>
                    <a:pt x="290" y="137"/>
                  </a:lnTo>
                  <a:lnTo>
                    <a:pt x="290" y="125"/>
                  </a:lnTo>
                  <a:lnTo>
                    <a:pt x="264" y="125"/>
                  </a:lnTo>
                  <a:lnTo>
                    <a:pt x="264" y="137"/>
                  </a:lnTo>
                  <a:close/>
                  <a:moveTo>
                    <a:pt x="173" y="227"/>
                  </a:moveTo>
                  <a:lnTo>
                    <a:pt x="132" y="196"/>
                  </a:lnTo>
                  <a:cubicBezTo>
                    <a:pt x="129" y="194"/>
                    <a:pt x="125" y="195"/>
                    <a:pt x="123" y="198"/>
                  </a:cubicBezTo>
                  <a:cubicBezTo>
                    <a:pt x="122" y="201"/>
                    <a:pt x="122" y="206"/>
                    <a:pt x="126" y="208"/>
                  </a:cubicBezTo>
                  <a:lnTo>
                    <a:pt x="166" y="239"/>
                  </a:lnTo>
                  <a:cubicBezTo>
                    <a:pt x="169" y="241"/>
                    <a:pt x="173" y="240"/>
                    <a:pt x="175" y="237"/>
                  </a:cubicBezTo>
                  <a:cubicBezTo>
                    <a:pt x="177" y="234"/>
                    <a:pt x="176" y="229"/>
                    <a:pt x="173" y="227"/>
                  </a:cubicBezTo>
                  <a:close/>
                  <a:moveTo>
                    <a:pt x="131" y="383"/>
                  </a:moveTo>
                  <a:cubicBezTo>
                    <a:pt x="136" y="353"/>
                    <a:pt x="136" y="321"/>
                    <a:pt x="127" y="293"/>
                  </a:cubicBezTo>
                  <a:cubicBezTo>
                    <a:pt x="0" y="221"/>
                    <a:pt x="34" y="56"/>
                    <a:pt x="141" y="22"/>
                  </a:cubicBezTo>
                  <a:cubicBezTo>
                    <a:pt x="197" y="0"/>
                    <a:pt x="274" y="13"/>
                    <a:pt x="323" y="63"/>
                  </a:cubicBezTo>
                  <a:cubicBezTo>
                    <a:pt x="360" y="99"/>
                    <a:pt x="342" y="109"/>
                    <a:pt x="342" y="109"/>
                  </a:cubicBezTo>
                  <a:lnTo>
                    <a:pt x="334" y="113"/>
                  </a:lnTo>
                  <a:cubicBezTo>
                    <a:pt x="339" y="131"/>
                    <a:pt x="346" y="162"/>
                    <a:pt x="345" y="167"/>
                  </a:cubicBezTo>
                  <a:cubicBezTo>
                    <a:pt x="344" y="173"/>
                    <a:pt x="337" y="179"/>
                    <a:pt x="337" y="179"/>
                  </a:cubicBezTo>
                  <a:lnTo>
                    <a:pt x="356" y="240"/>
                  </a:lnTo>
                  <a:lnTo>
                    <a:pt x="339" y="246"/>
                  </a:lnTo>
                  <a:cubicBezTo>
                    <a:pt x="343" y="266"/>
                    <a:pt x="345" y="282"/>
                    <a:pt x="343" y="301"/>
                  </a:cubicBezTo>
                  <a:cubicBezTo>
                    <a:pt x="343" y="305"/>
                    <a:pt x="332" y="314"/>
                    <a:pt x="323" y="315"/>
                  </a:cubicBezTo>
                  <a:lnTo>
                    <a:pt x="269" y="318"/>
                  </a:lnTo>
                  <a:lnTo>
                    <a:pt x="272" y="383"/>
                  </a:lnTo>
                  <a:lnTo>
                    <a:pt x="131" y="3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075327" y="198604"/>
            <a:ext cx="473877" cy="484825"/>
            <a:chOff x="4553407" y="-1899592"/>
            <a:chExt cx="1054013" cy="1078364"/>
          </a:xfrm>
        </p:grpSpPr>
        <p:sp>
          <p:nvSpPr>
            <p:cNvPr id="25" name="Oval 8"/>
            <p:cNvSpPr>
              <a:spLocks noChangeArrowheads="1"/>
            </p:cNvSpPr>
            <p:nvPr/>
          </p:nvSpPr>
          <p:spPr bwMode="auto">
            <a:xfrm>
              <a:off x="4553407" y="-1899592"/>
              <a:ext cx="1054013" cy="107836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12"/>
            <p:cNvSpPr>
              <a:spLocks noEditPoints="1"/>
            </p:cNvSpPr>
            <p:nvPr/>
          </p:nvSpPr>
          <p:spPr bwMode="auto">
            <a:xfrm>
              <a:off x="4824737" y="-1683919"/>
              <a:ext cx="594839" cy="650497"/>
            </a:xfrm>
            <a:custGeom>
              <a:avLst/>
              <a:gdLst>
                <a:gd name="T0" fmla="*/ 108 w 360"/>
                <a:gd name="T1" fmla="*/ 59 h 384"/>
                <a:gd name="T2" fmla="*/ 236 w 360"/>
                <a:gd name="T3" fmla="*/ 43 h 384"/>
                <a:gd name="T4" fmla="*/ 190 w 360"/>
                <a:gd name="T5" fmla="*/ 26 h 384"/>
                <a:gd name="T6" fmla="*/ 138 w 360"/>
                <a:gd name="T7" fmla="*/ 26 h 384"/>
                <a:gd name="T8" fmla="*/ 92 w 360"/>
                <a:gd name="T9" fmla="*/ 43 h 384"/>
                <a:gd name="T10" fmla="*/ 296 w 360"/>
                <a:gd name="T11" fmla="*/ 332 h 384"/>
                <a:gd name="T12" fmla="*/ 301 w 360"/>
                <a:gd name="T13" fmla="*/ 321 h 384"/>
                <a:gd name="T14" fmla="*/ 280 w 360"/>
                <a:gd name="T15" fmla="*/ 249 h 384"/>
                <a:gd name="T16" fmla="*/ 267 w 360"/>
                <a:gd name="T17" fmla="*/ 249 h 384"/>
                <a:gd name="T18" fmla="*/ 267 w 360"/>
                <a:gd name="T19" fmla="*/ 304 h 384"/>
                <a:gd name="T20" fmla="*/ 268 w 360"/>
                <a:gd name="T21" fmla="*/ 306 h 384"/>
                <a:gd name="T22" fmla="*/ 268 w 360"/>
                <a:gd name="T23" fmla="*/ 307 h 384"/>
                <a:gd name="T24" fmla="*/ 269 w 360"/>
                <a:gd name="T25" fmla="*/ 308 h 384"/>
                <a:gd name="T26" fmla="*/ 343 w 360"/>
                <a:gd name="T27" fmla="*/ 253 h 384"/>
                <a:gd name="T28" fmla="*/ 274 w 360"/>
                <a:gd name="T29" fmla="*/ 217 h 384"/>
                <a:gd name="T30" fmla="*/ 258 w 360"/>
                <a:gd name="T31" fmla="*/ 382 h 384"/>
                <a:gd name="T32" fmla="*/ 356 w 360"/>
                <a:gd name="T33" fmla="*/ 316 h 384"/>
                <a:gd name="T34" fmla="*/ 343 w 360"/>
                <a:gd name="T35" fmla="*/ 313 h 384"/>
                <a:gd name="T36" fmla="*/ 274 w 360"/>
                <a:gd name="T37" fmla="*/ 371 h 384"/>
                <a:gd name="T38" fmla="*/ 205 w 360"/>
                <a:gd name="T39" fmla="*/ 287 h 384"/>
                <a:gd name="T40" fmla="*/ 287 w 360"/>
                <a:gd name="T41" fmla="*/ 231 h 384"/>
                <a:gd name="T42" fmla="*/ 343 w 360"/>
                <a:gd name="T43" fmla="*/ 313 h 384"/>
                <a:gd name="T44" fmla="*/ 121 w 360"/>
                <a:gd name="T45" fmla="*/ 313 h 384"/>
                <a:gd name="T46" fmla="*/ 206 w 360"/>
                <a:gd name="T47" fmla="*/ 228 h 384"/>
                <a:gd name="T48" fmla="*/ 224 w 360"/>
                <a:gd name="T49" fmla="*/ 215 h 384"/>
                <a:gd name="T50" fmla="*/ 311 w 360"/>
                <a:gd name="T51" fmla="*/ 130 h 384"/>
                <a:gd name="T52" fmla="*/ 314 w 360"/>
                <a:gd name="T53" fmla="*/ 210 h 384"/>
                <a:gd name="T54" fmla="*/ 328 w 360"/>
                <a:gd name="T55" fmla="*/ 215 h 384"/>
                <a:gd name="T56" fmla="*/ 328 w 360"/>
                <a:gd name="T57" fmla="*/ 88 h 384"/>
                <a:gd name="T58" fmla="*/ 17 w 360"/>
                <a:gd name="T59" fmla="*/ 71 h 384"/>
                <a:gd name="T60" fmla="*/ 0 w 360"/>
                <a:gd name="T61" fmla="*/ 134 h 384"/>
                <a:gd name="T62" fmla="*/ 0 w 360"/>
                <a:gd name="T63" fmla="*/ 228 h 384"/>
                <a:gd name="T64" fmla="*/ 0 w 360"/>
                <a:gd name="T65" fmla="*/ 319 h 384"/>
                <a:gd name="T66" fmla="*/ 181 w 360"/>
                <a:gd name="T67" fmla="*/ 336 h 384"/>
                <a:gd name="T68" fmla="*/ 14 w 360"/>
                <a:gd name="T69" fmla="*/ 134 h 384"/>
                <a:gd name="T70" fmla="*/ 17 w 360"/>
                <a:gd name="T71" fmla="*/ 130 h 384"/>
                <a:gd name="T72" fmla="*/ 107 w 360"/>
                <a:gd name="T73" fmla="*/ 215 h 384"/>
                <a:gd name="T74" fmla="*/ 14 w 360"/>
                <a:gd name="T75" fmla="*/ 134 h 384"/>
                <a:gd name="T76" fmla="*/ 107 w 360"/>
                <a:gd name="T77" fmla="*/ 228 h 384"/>
                <a:gd name="T78" fmla="*/ 17 w 360"/>
                <a:gd name="T79" fmla="*/ 313 h 384"/>
                <a:gd name="T80" fmla="*/ 14 w 360"/>
                <a:gd name="T81" fmla="*/ 228 h 384"/>
                <a:gd name="T82" fmla="*/ 121 w 360"/>
                <a:gd name="T83" fmla="*/ 215 h 384"/>
                <a:gd name="T84" fmla="*/ 121 w 360"/>
                <a:gd name="T85" fmla="*/ 130 h 384"/>
                <a:gd name="T86" fmla="*/ 210 w 360"/>
                <a:gd name="T87" fmla="*/ 215 h 384"/>
                <a:gd name="T88" fmla="*/ 217 w 360"/>
                <a:gd name="T89" fmla="*/ 88 h 384"/>
                <a:gd name="T90" fmla="*/ 229 w 360"/>
                <a:gd name="T91" fmla="*/ 100 h 384"/>
                <a:gd name="T92" fmla="*/ 205 w 360"/>
                <a:gd name="T93" fmla="*/ 100 h 384"/>
                <a:gd name="T94" fmla="*/ 114 w 360"/>
                <a:gd name="T95" fmla="*/ 88 h 384"/>
                <a:gd name="T96" fmla="*/ 126 w 360"/>
                <a:gd name="T97" fmla="*/ 100 h 384"/>
                <a:gd name="T98" fmla="*/ 103 w 360"/>
                <a:gd name="T99" fmla="*/ 10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0" h="384">
                  <a:moveTo>
                    <a:pt x="92" y="43"/>
                  </a:moveTo>
                  <a:cubicBezTo>
                    <a:pt x="92" y="52"/>
                    <a:pt x="100" y="59"/>
                    <a:pt x="108" y="59"/>
                  </a:cubicBezTo>
                  <a:lnTo>
                    <a:pt x="220" y="59"/>
                  </a:lnTo>
                  <a:cubicBezTo>
                    <a:pt x="229" y="59"/>
                    <a:pt x="236" y="52"/>
                    <a:pt x="236" y="43"/>
                  </a:cubicBezTo>
                  <a:cubicBezTo>
                    <a:pt x="236" y="34"/>
                    <a:pt x="229" y="26"/>
                    <a:pt x="220" y="26"/>
                  </a:cubicBezTo>
                  <a:lnTo>
                    <a:pt x="190" y="26"/>
                  </a:lnTo>
                  <a:cubicBezTo>
                    <a:pt x="190" y="12"/>
                    <a:pt x="179" y="0"/>
                    <a:pt x="164" y="0"/>
                  </a:cubicBezTo>
                  <a:cubicBezTo>
                    <a:pt x="150" y="0"/>
                    <a:pt x="138" y="12"/>
                    <a:pt x="138" y="26"/>
                  </a:cubicBezTo>
                  <a:lnTo>
                    <a:pt x="108" y="26"/>
                  </a:lnTo>
                  <a:cubicBezTo>
                    <a:pt x="100" y="26"/>
                    <a:pt x="92" y="34"/>
                    <a:pt x="92" y="43"/>
                  </a:cubicBezTo>
                  <a:close/>
                  <a:moveTo>
                    <a:pt x="292" y="330"/>
                  </a:moveTo>
                  <a:cubicBezTo>
                    <a:pt x="293" y="332"/>
                    <a:pt x="295" y="332"/>
                    <a:pt x="296" y="332"/>
                  </a:cubicBezTo>
                  <a:cubicBezTo>
                    <a:pt x="298" y="332"/>
                    <a:pt x="300" y="332"/>
                    <a:pt x="301" y="330"/>
                  </a:cubicBezTo>
                  <a:cubicBezTo>
                    <a:pt x="304" y="328"/>
                    <a:pt x="304" y="323"/>
                    <a:pt x="301" y="321"/>
                  </a:cubicBezTo>
                  <a:lnTo>
                    <a:pt x="280" y="300"/>
                  </a:lnTo>
                  <a:lnTo>
                    <a:pt x="280" y="249"/>
                  </a:lnTo>
                  <a:cubicBezTo>
                    <a:pt x="280" y="245"/>
                    <a:pt x="278" y="242"/>
                    <a:pt x="274" y="242"/>
                  </a:cubicBezTo>
                  <a:cubicBezTo>
                    <a:pt x="270" y="242"/>
                    <a:pt x="267" y="245"/>
                    <a:pt x="267" y="249"/>
                  </a:cubicBezTo>
                  <a:lnTo>
                    <a:pt x="267" y="303"/>
                  </a:lnTo>
                  <a:cubicBezTo>
                    <a:pt x="267" y="303"/>
                    <a:pt x="267" y="304"/>
                    <a:pt x="267" y="304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8" y="305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7"/>
                    <a:pt x="268" y="307"/>
                  </a:cubicBezTo>
                  <a:cubicBezTo>
                    <a:pt x="268" y="307"/>
                    <a:pt x="269" y="307"/>
                    <a:pt x="269" y="308"/>
                  </a:cubicBezTo>
                  <a:cubicBezTo>
                    <a:pt x="269" y="308"/>
                    <a:pt x="269" y="308"/>
                    <a:pt x="269" y="308"/>
                  </a:cubicBezTo>
                  <a:lnTo>
                    <a:pt x="292" y="330"/>
                  </a:lnTo>
                  <a:close/>
                  <a:moveTo>
                    <a:pt x="343" y="253"/>
                  </a:moveTo>
                  <a:cubicBezTo>
                    <a:pt x="330" y="235"/>
                    <a:pt x="311" y="222"/>
                    <a:pt x="289" y="218"/>
                  </a:cubicBezTo>
                  <a:cubicBezTo>
                    <a:pt x="284" y="217"/>
                    <a:pt x="279" y="217"/>
                    <a:pt x="274" y="217"/>
                  </a:cubicBezTo>
                  <a:cubicBezTo>
                    <a:pt x="234" y="217"/>
                    <a:pt x="199" y="245"/>
                    <a:pt x="192" y="285"/>
                  </a:cubicBezTo>
                  <a:cubicBezTo>
                    <a:pt x="183" y="330"/>
                    <a:pt x="213" y="373"/>
                    <a:pt x="258" y="382"/>
                  </a:cubicBezTo>
                  <a:cubicBezTo>
                    <a:pt x="263" y="383"/>
                    <a:pt x="269" y="384"/>
                    <a:pt x="274" y="384"/>
                  </a:cubicBezTo>
                  <a:cubicBezTo>
                    <a:pt x="314" y="384"/>
                    <a:pt x="348" y="355"/>
                    <a:pt x="356" y="316"/>
                  </a:cubicBezTo>
                  <a:cubicBezTo>
                    <a:pt x="360" y="294"/>
                    <a:pt x="355" y="272"/>
                    <a:pt x="343" y="253"/>
                  </a:cubicBezTo>
                  <a:close/>
                  <a:moveTo>
                    <a:pt x="343" y="313"/>
                  </a:moveTo>
                  <a:lnTo>
                    <a:pt x="343" y="313"/>
                  </a:lnTo>
                  <a:cubicBezTo>
                    <a:pt x="337" y="347"/>
                    <a:pt x="308" y="371"/>
                    <a:pt x="274" y="371"/>
                  </a:cubicBezTo>
                  <a:cubicBezTo>
                    <a:pt x="269" y="371"/>
                    <a:pt x="265" y="370"/>
                    <a:pt x="261" y="369"/>
                  </a:cubicBezTo>
                  <a:cubicBezTo>
                    <a:pt x="222" y="362"/>
                    <a:pt x="197" y="325"/>
                    <a:pt x="205" y="287"/>
                  </a:cubicBezTo>
                  <a:cubicBezTo>
                    <a:pt x="211" y="254"/>
                    <a:pt x="240" y="230"/>
                    <a:pt x="274" y="230"/>
                  </a:cubicBezTo>
                  <a:cubicBezTo>
                    <a:pt x="278" y="230"/>
                    <a:pt x="283" y="230"/>
                    <a:pt x="287" y="231"/>
                  </a:cubicBezTo>
                  <a:cubicBezTo>
                    <a:pt x="306" y="234"/>
                    <a:pt x="322" y="245"/>
                    <a:pt x="332" y="261"/>
                  </a:cubicBezTo>
                  <a:cubicBezTo>
                    <a:pt x="343" y="276"/>
                    <a:pt x="347" y="295"/>
                    <a:pt x="343" y="313"/>
                  </a:cubicBezTo>
                  <a:close/>
                  <a:moveTo>
                    <a:pt x="176" y="313"/>
                  </a:moveTo>
                  <a:lnTo>
                    <a:pt x="121" y="313"/>
                  </a:lnTo>
                  <a:lnTo>
                    <a:pt x="121" y="228"/>
                  </a:lnTo>
                  <a:lnTo>
                    <a:pt x="206" y="228"/>
                  </a:lnTo>
                  <a:cubicBezTo>
                    <a:pt x="211" y="223"/>
                    <a:pt x="217" y="218"/>
                    <a:pt x="224" y="215"/>
                  </a:cubicBezTo>
                  <a:lnTo>
                    <a:pt x="224" y="215"/>
                  </a:lnTo>
                  <a:lnTo>
                    <a:pt x="224" y="130"/>
                  </a:lnTo>
                  <a:lnTo>
                    <a:pt x="311" y="130"/>
                  </a:lnTo>
                  <a:cubicBezTo>
                    <a:pt x="313" y="130"/>
                    <a:pt x="314" y="132"/>
                    <a:pt x="314" y="134"/>
                  </a:cubicBezTo>
                  <a:lnTo>
                    <a:pt x="314" y="210"/>
                  </a:lnTo>
                  <a:cubicBezTo>
                    <a:pt x="319" y="212"/>
                    <a:pt x="324" y="215"/>
                    <a:pt x="328" y="217"/>
                  </a:cubicBezTo>
                  <a:lnTo>
                    <a:pt x="328" y="215"/>
                  </a:lnTo>
                  <a:lnTo>
                    <a:pt x="328" y="134"/>
                  </a:lnTo>
                  <a:lnTo>
                    <a:pt x="328" y="88"/>
                  </a:lnTo>
                  <a:cubicBezTo>
                    <a:pt x="328" y="79"/>
                    <a:pt x="320" y="71"/>
                    <a:pt x="311" y="71"/>
                  </a:cubicBezTo>
                  <a:lnTo>
                    <a:pt x="17" y="71"/>
                  </a:lnTo>
                  <a:cubicBezTo>
                    <a:pt x="8" y="71"/>
                    <a:pt x="0" y="79"/>
                    <a:pt x="0" y="88"/>
                  </a:cubicBezTo>
                  <a:lnTo>
                    <a:pt x="0" y="134"/>
                  </a:lnTo>
                  <a:lnTo>
                    <a:pt x="0" y="215"/>
                  </a:lnTo>
                  <a:lnTo>
                    <a:pt x="0" y="228"/>
                  </a:lnTo>
                  <a:lnTo>
                    <a:pt x="0" y="309"/>
                  </a:lnTo>
                  <a:lnTo>
                    <a:pt x="0" y="319"/>
                  </a:lnTo>
                  <a:cubicBezTo>
                    <a:pt x="0" y="329"/>
                    <a:pt x="8" y="336"/>
                    <a:pt x="17" y="336"/>
                  </a:cubicBezTo>
                  <a:lnTo>
                    <a:pt x="181" y="336"/>
                  </a:lnTo>
                  <a:cubicBezTo>
                    <a:pt x="179" y="329"/>
                    <a:pt x="177" y="321"/>
                    <a:pt x="176" y="313"/>
                  </a:cubicBezTo>
                  <a:close/>
                  <a:moveTo>
                    <a:pt x="14" y="134"/>
                  </a:moveTo>
                  <a:lnTo>
                    <a:pt x="14" y="134"/>
                  </a:lnTo>
                  <a:cubicBezTo>
                    <a:pt x="14" y="132"/>
                    <a:pt x="15" y="130"/>
                    <a:pt x="17" y="130"/>
                  </a:cubicBezTo>
                  <a:lnTo>
                    <a:pt x="107" y="130"/>
                  </a:lnTo>
                  <a:lnTo>
                    <a:pt x="107" y="215"/>
                  </a:lnTo>
                  <a:lnTo>
                    <a:pt x="14" y="215"/>
                  </a:lnTo>
                  <a:lnTo>
                    <a:pt x="14" y="134"/>
                  </a:lnTo>
                  <a:close/>
                  <a:moveTo>
                    <a:pt x="107" y="228"/>
                  </a:moveTo>
                  <a:lnTo>
                    <a:pt x="107" y="228"/>
                  </a:lnTo>
                  <a:lnTo>
                    <a:pt x="107" y="313"/>
                  </a:lnTo>
                  <a:lnTo>
                    <a:pt x="17" y="313"/>
                  </a:lnTo>
                  <a:cubicBezTo>
                    <a:pt x="15" y="313"/>
                    <a:pt x="14" y="311"/>
                    <a:pt x="14" y="309"/>
                  </a:cubicBezTo>
                  <a:lnTo>
                    <a:pt x="14" y="228"/>
                  </a:lnTo>
                  <a:lnTo>
                    <a:pt x="107" y="228"/>
                  </a:lnTo>
                  <a:close/>
                  <a:moveTo>
                    <a:pt x="121" y="215"/>
                  </a:moveTo>
                  <a:lnTo>
                    <a:pt x="121" y="215"/>
                  </a:lnTo>
                  <a:lnTo>
                    <a:pt x="121" y="130"/>
                  </a:lnTo>
                  <a:lnTo>
                    <a:pt x="210" y="130"/>
                  </a:lnTo>
                  <a:lnTo>
                    <a:pt x="210" y="215"/>
                  </a:lnTo>
                  <a:lnTo>
                    <a:pt x="121" y="215"/>
                  </a:lnTo>
                  <a:close/>
                  <a:moveTo>
                    <a:pt x="217" y="88"/>
                  </a:moveTo>
                  <a:lnTo>
                    <a:pt x="217" y="88"/>
                  </a:lnTo>
                  <a:cubicBezTo>
                    <a:pt x="223" y="88"/>
                    <a:pt x="229" y="94"/>
                    <a:pt x="229" y="100"/>
                  </a:cubicBezTo>
                  <a:cubicBezTo>
                    <a:pt x="229" y="106"/>
                    <a:pt x="223" y="111"/>
                    <a:pt x="217" y="111"/>
                  </a:cubicBezTo>
                  <a:cubicBezTo>
                    <a:pt x="211" y="111"/>
                    <a:pt x="205" y="106"/>
                    <a:pt x="205" y="100"/>
                  </a:cubicBezTo>
                  <a:cubicBezTo>
                    <a:pt x="205" y="94"/>
                    <a:pt x="211" y="88"/>
                    <a:pt x="217" y="88"/>
                  </a:cubicBezTo>
                  <a:close/>
                  <a:moveTo>
                    <a:pt x="114" y="88"/>
                  </a:moveTo>
                  <a:lnTo>
                    <a:pt x="114" y="88"/>
                  </a:lnTo>
                  <a:cubicBezTo>
                    <a:pt x="120" y="88"/>
                    <a:pt x="126" y="94"/>
                    <a:pt x="126" y="100"/>
                  </a:cubicBezTo>
                  <a:cubicBezTo>
                    <a:pt x="126" y="106"/>
                    <a:pt x="120" y="111"/>
                    <a:pt x="114" y="111"/>
                  </a:cubicBezTo>
                  <a:cubicBezTo>
                    <a:pt x="108" y="111"/>
                    <a:pt x="103" y="106"/>
                    <a:pt x="103" y="100"/>
                  </a:cubicBezTo>
                  <a:cubicBezTo>
                    <a:pt x="103" y="94"/>
                    <a:pt x="108" y="88"/>
                    <a:pt x="114" y="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42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965178" y="289990"/>
            <a:ext cx="10261644" cy="609355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衡量一种流水线处理方式的性能的高低的参数主要有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13" name="椭圆 12"/>
          <p:cNvSpPr/>
          <p:nvPr/>
        </p:nvSpPr>
        <p:spPr bwMode="auto">
          <a:xfrm>
            <a:off x="1417307" y="5319892"/>
            <a:ext cx="799664" cy="799664"/>
          </a:xfrm>
          <a:prstGeom prst="ellipse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4" name="TextBox 13"/>
          <p:cNvSpPr txBox="1"/>
          <p:nvPr/>
        </p:nvSpPr>
        <p:spPr>
          <a:xfrm>
            <a:off x="1471670" y="5427455"/>
            <a:ext cx="598156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+mj-ea"/>
                <a:ea typeface="+mj-ea"/>
              </a:rPr>
              <a:t>03</a:t>
            </a:r>
            <a:endParaRPr lang="zh-CN" altLang="en-US" sz="3199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1823604" y="4139187"/>
            <a:ext cx="0" cy="114354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接连接符 18"/>
          <p:cNvCxnSpPr>
            <a:cxnSpLocks/>
            <a:endCxn id="11" idx="0"/>
          </p:cNvCxnSpPr>
          <p:nvPr/>
        </p:nvCxnSpPr>
        <p:spPr bwMode="auto">
          <a:xfrm flipH="1">
            <a:off x="1817139" y="2200785"/>
            <a:ext cx="6466" cy="130200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" name="矩形 1"/>
          <p:cNvSpPr/>
          <p:nvPr/>
        </p:nvSpPr>
        <p:spPr>
          <a:xfrm>
            <a:off x="2123733" y="1798331"/>
            <a:ext cx="8948381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吞吐率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TP, 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Thoughput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Rate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），指的是计算机中的流水线在单位时间内能流出的任务数或结果数。</a:t>
            </a:r>
          </a:p>
        </p:txBody>
      </p:sp>
      <p:sp>
        <p:nvSpPr>
          <p:cNvPr id="4" name="矩形 3"/>
          <p:cNvSpPr/>
          <p:nvPr/>
        </p:nvSpPr>
        <p:spPr>
          <a:xfrm>
            <a:off x="2216972" y="4783642"/>
            <a:ext cx="9647170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在线性流水线中，最大吞吐率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Tp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max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1/⊿T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1/max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（⊿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8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，⊿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8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，⊿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8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），其中，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是流水线的段数，⊿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8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表示的是第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段的执行时间。 </a:t>
            </a:r>
          </a:p>
        </p:txBody>
      </p:sp>
      <p:sp>
        <p:nvSpPr>
          <p:cNvPr id="8" name="矩形 7"/>
          <p:cNvSpPr/>
          <p:nvPr/>
        </p:nvSpPr>
        <p:spPr>
          <a:xfrm>
            <a:off x="965178" y="987383"/>
            <a:ext cx="3775393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吞吐率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加速比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1417307" y="1849292"/>
            <a:ext cx="799664" cy="799664"/>
          </a:xfrm>
          <a:prstGeom prst="ellipse">
            <a:avLst/>
          </a:prstGeom>
          <a:solidFill>
            <a:srgbClr val="04B0B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0" name="TextBox 9"/>
          <p:cNvSpPr txBox="1"/>
          <p:nvPr/>
        </p:nvSpPr>
        <p:spPr>
          <a:xfrm>
            <a:off x="1471670" y="1956854"/>
            <a:ext cx="598156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lang="zh-CN" altLang="en-US" sz="3199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1417307" y="3502793"/>
            <a:ext cx="799664" cy="799664"/>
          </a:xfrm>
          <a:prstGeom prst="ellipse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2" name="TextBox 11"/>
          <p:cNvSpPr txBox="1"/>
          <p:nvPr/>
        </p:nvSpPr>
        <p:spPr>
          <a:xfrm>
            <a:off x="1471670" y="3610354"/>
            <a:ext cx="598156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3199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24189" y="3555730"/>
            <a:ext cx="9739952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流水线的吞吐率可以进一步分为最大吞吐率和实际吞吐率。</a:t>
            </a:r>
          </a:p>
        </p:txBody>
      </p:sp>
    </p:spTree>
    <p:extLst>
      <p:ext uri="{BB962C8B-B14F-4D97-AF65-F5344CB8AC3E}">
        <p14:creationId xmlns:p14="http://schemas.microsoft.com/office/powerpoint/2010/main" val="357491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7144">
        <p14:switch dir="r"/>
      </p:transition>
    </mc:Choice>
    <mc:Fallback xmlns="">
      <p:transition spd="slow" advTm="7144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83"/>
          <p:cNvSpPr>
            <a:spLocks noChangeArrowheads="1"/>
          </p:cNvSpPr>
          <p:nvPr/>
        </p:nvSpPr>
        <p:spPr bwMode="auto">
          <a:xfrm>
            <a:off x="974018" y="1069808"/>
            <a:ext cx="9135093" cy="1360284"/>
          </a:xfrm>
          <a:prstGeom prst="rect">
            <a:avLst/>
          </a:prstGeom>
          <a:solidFill>
            <a:srgbClr val="F2F2F2"/>
          </a:solidFill>
          <a:ln w="9525" cmpd="sng">
            <a:solidFill>
              <a:schemeClr val="accent1"/>
            </a:solidFill>
            <a:miter lim="800000"/>
            <a:headEnd/>
            <a:tailEnd/>
          </a:ln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22" name="Freeform 12"/>
          <p:cNvSpPr>
            <a:spLocks/>
          </p:cNvSpPr>
          <p:nvPr/>
        </p:nvSpPr>
        <p:spPr bwMode="auto">
          <a:xfrm>
            <a:off x="884376" y="955449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23" name="Freeform 12"/>
          <p:cNvSpPr>
            <a:spLocks/>
          </p:cNvSpPr>
          <p:nvPr/>
        </p:nvSpPr>
        <p:spPr bwMode="auto">
          <a:xfrm flipH="1" flipV="1">
            <a:off x="9665809" y="2005171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928" y="3736290"/>
            <a:ext cx="8541321" cy="3042477"/>
          </a:xfrm>
          <a:prstGeom prst="rect">
            <a:avLst/>
          </a:prstGeom>
        </p:spPr>
      </p:pic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42874"/>
            <a:ext cx="10515600" cy="1325563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最大吞吐率受到了瓶颈段的约束 </a:t>
            </a:r>
          </a:p>
        </p:txBody>
      </p:sp>
      <p:sp>
        <p:nvSpPr>
          <p:cNvPr id="8397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148592" y="1142352"/>
            <a:ext cx="9137796" cy="1341438"/>
          </a:xfrm>
          <a:noFill/>
          <a:ln/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某流水线有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个段，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号段由于需用时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3⊿t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个任务流经该流水线时：流水速度受到了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号瓶颈的限制。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978" name="Rectangle 10"/>
          <p:cNvSpPr>
            <a:spLocks noChangeArrowheads="1"/>
          </p:cNvSpPr>
          <p:nvPr/>
        </p:nvSpPr>
        <p:spPr bwMode="auto">
          <a:xfrm>
            <a:off x="6003635" y="26728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83980" name="Rectangle 12"/>
          <p:cNvSpPr>
            <a:spLocks noChangeArrowheads="1"/>
          </p:cNvSpPr>
          <p:nvPr/>
        </p:nvSpPr>
        <p:spPr bwMode="auto">
          <a:xfrm>
            <a:off x="6003635" y="24204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146" y="5174673"/>
            <a:ext cx="329801" cy="3325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183" y="2418442"/>
            <a:ext cx="6243693" cy="20916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188528" y="3203882"/>
            <a:ext cx="999838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91951" y="5164282"/>
            <a:ext cx="1065647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91951" y="5533614"/>
            <a:ext cx="691576" cy="420377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3682814" y="5533614"/>
            <a:ext cx="733322" cy="420377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5935422" y="5533614"/>
            <a:ext cx="733322" cy="420377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4847562" y="5533614"/>
            <a:ext cx="733322" cy="420377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8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9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0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2954051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  <p:bldP spid="2" grpId="0" animBg="1"/>
      <p:bldP spid="12" grpId="0" animBg="1"/>
      <p:bldP spid="13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666" y="1838558"/>
            <a:ext cx="7345022" cy="153091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075" y="3266546"/>
            <a:ext cx="5734391" cy="3561896"/>
          </a:xfrm>
          <a:prstGeom prst="rect">
            <a:avLst/>
          </a:prstGeom>
          <a:effectLst>
            <a:outerShdw blurRad="50800" dist="50800" dir="5400000" algn="ctr" rotWithShape="0">
              <a:schemeClr val="bg1"/>
            </a:outerShdw>
          </a:effectLst>
        </p:spPr>
      </p:pic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875773" y="-89456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细分瓶颈段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5773" y="936233"/>
            <a:ext cx="8291513" cy="55418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把瓶颈部分的流水线分拆；</a:t>
            </a:r>
          </a:p>
        </p:txBody>
      </p:sp>
      <p:sp>
        <p:nvSpPr>
          <p:cNvPr id="85001" name="Rectangle 9"/>
          <p:cNvSpPr>
            <a:spLocks noChangeArrowheads="1"/>
          </p:cNvSpPr>
          <p:nvPr/>
        </p:nvSpPr>
        <p:spPr bwMode="auto">
          <a:xfrm>
            <a:off x="6003635" y="26633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04968" y="2099061"/>
            <a:ext cx="3357767" cy="9579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5003" name="Rectangle 11"/>
          <p:cNvSpPr>
            <a:spLocks noChangeArrowheads="1"/>
          </p:cNvSpPr>
          <p:nvPr/>
        </p:nvSpPr>
        <p:spPr bwMode="auto">
          <a:xfrm>
            <a:off x="6003635" y="22346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64442" y="2384232"/>
            <a:ext cx="550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21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76656" y="2384125"/>
            <a:ext cx="550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22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45603" y="4788585"/>
            <a:ext cx="473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21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752529" y="5169587"/>
            <a:ext cx="473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22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757066" y="5546554"/>
            <a:ext cx="473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23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左大括号 11"/>
          <p:cNvSpPr/>
          <p:nvPr/>
        </p:nvSpPr>
        <p:spPr bwMode="auto">
          <a:xfrm>
            <a:off x="2531114" y="4928762"/>
            <a:ext cx="214489" cy="836882"/>
          </a:xfrm>
          <a:prstGeom prst="leftBrac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lg"/>
          </a:ln>
          <a:effectLst>
            <a:outerShdw dist="109250" dir="3267739" algn="ctr" rotWithShape="0">
              <a:schemeClr val="bg1">
                <a:alpha val="50000"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141138" y="5157141"/>
            <a:ext cx="473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78539" y="2387338"/>
            <a:ext cx="456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23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20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3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152421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/>
      <p:bldP spid="17" grpId="0"/>
      <p:bldP spid="18" grpId="0"/>
      <p:bldP spid="12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538" y="1774310"/>
            <a:ext cx="4694851" cy="2439268"/>
          </a:xfrm>
          <a:prstGeom prst="rect">
            <a:avLst/>
          </a:prstGeom>
        </p:spPr>
      </p:pic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5789" y="-38111"/>
            <a:ext cx="10515600" cy="1325563"/>
          </a:xfrm>
        </p:spPr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并联瓶颈段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5789" y="1072346"/>
            <a:ext cx="8229600" cy="620713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在瓶颈部分设置多条相同流水段，并行处理 </a:t>
            </a:r>
          </a:p>
        </p:txBody>
      </p:sp>
      <p:sp>
        <p:nvSpPr>
          <p:cNvPr id="86025" name="Rectangle 9"/>
          <p:cNvSpPr>
            <a:spLocks noChangeArrowheads="1"/>
          </p:cNvSpPr>
          <p:nvPr/>
        </p:nvSpPr>
        <p:spPr bwMode="auto">
          <a:xfrm>
            <a:off x="7877591" y="2429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86027" name="Rectangle 11"/>
          <p:cNvSpPr>
            <a:spLocks noChangeArrowheads="1"/>
          </p:cNvSpPr>
          <p:nvPr/>
        </p:nvSpPr>
        <p:spPr bwMode="auto">
          <a:xfrm>
            <a:off x="7877591" y="22394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99023" y="2077156"/>
            <a:ext cx="1715911" cy="17344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129" y="3330222"/>
            <a:ext cx="6887920" cy="348382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215" y="4668596"/>
            <a:ext cx="237586" cy="10788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58947" y="4884842"/>
            <a:ext cx="965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号段被并联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810413" y="5364479"/>
            <a:ext cx="1066643" cy="370749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9515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75" y="1054999"/>
            <a:ext cx="10433798" cy="5510665"/>
          </a:xfrm>
          <a:prstGeom prst="rect">
            <a:avLst/>
          </a:prstGeom>
        </p:spPr>
      </p:pic>
      <p:sp>
        <p:nvSpPr>
          <p:cNvPr id="87074" name="Rectangle 34"/>
          <p:cNvSpPr>
            <a:spLocks noChangeArrowheads="1"/>
          </p:cNvSpPr>
          <p:nvPr/>
        </p:nvSpPr>
        <p:spPr bwMode="auto">
          <a:xfrm>
            <a:off x="6416936" y="170638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875773" y="-71212"/>
            <a:ext cx="10515600" cy="1325563"/>
          </a:xfrm>
        </p:spPr>
        <p:txBody>
          <a:bodyPr/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分析实际吞吐率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6973139" y="5323960"/>
                <a:ext cx="4890944" cy="678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+(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)∆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139" y="5323960"/>
                <a:ext cx="4890944" cy="6784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6973139" y="4931152"/>
            <a:ext cx="34243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个任务的实际吞吐率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 b="1" baseline="-25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448357" y="4946541"/>
                <a:ext cx="13030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  <a:r>
                  <a:rPr lang="en-US" altLang="zh-CN" b="1" baseline="-25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b="1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=m</a:t>
                </a:r>
                <a:r>
                  <a:rPr lang="en-US" altLang="zh-CN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∙∆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endParaRPr lang="zh-CN" altLang="en-US" b="1" baseline="-25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357" y="4946541"/>
                <a:ext cx="1303065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408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2734436" y="5316381"/>
                <a:ext cx="25171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endParaRPr lang="zh-CN" altLang="en-US" b="1" baseline="-25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436" y="5316381"/>
                <a:ext cx="2517142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3000637" y="6141031"/>
            <a:ext cx="581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6973138" y="5972215"/>
                <a:ext cx="3529735" cy="5813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实例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计算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+(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)∆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den>
                    </m:f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den>
                    </m:f>
                  </m:oMath>
                </a14:m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138" y="5972215"/>
                <a:ext cx="3529735" cy="581378"/>
              </a:xfrm>
              <a:prstGeom prst="rect">
                <a:avLst/>
              </a:prstGeom>
              <a:blipFill>
                <a:blip r:embed="rId6"/>
                <a:stretch>
                  <a:fillRect l="-15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10213939" y="2442729"/>
            <a:ext cx="7987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m=4</a:t>
            </a:r>
          </a:p>
          <a:p>
            <a:r>
              <a:rPr lang="en-US" altLang="zh-CN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n=5</a:t>
            </a:r>
            <a:endParaRPr lang="zh-CN" altLang="en-US" sz="2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7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8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2627866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11" grpId="0"/>
      <p:bldP spid="7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953523" y="305742"/>
            <a:ext cx="8432800" cy="533400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加速比（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Speed Ratio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40089" y="1295400"/>
            <a:ext cx="9945511" cy="2746021"/>
          </a:xfrm>
        </p:spPr>
        <p:txBody>
          <a:bodyPr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设有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个任务，该流水线各子功能段执行时间均为⊿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</a:p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流水段有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个段</a:t>
            </a:r>
          </a:p>
          <a:p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非流水顺序完成需要                      的时间；</a:t>
            </a:r>
            <a:endParaRPr lang="en-US" altLang="zh-CN" sz="28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流水完成则需要                             的时间；</a:t>
            </a:r>
            <a:endParaRPr lang="en-US" altLang="zh-CN" sz="28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流水方式工作的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加速比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为： </a:t>
            </a:r>
          </a:p>
        </p:txBody>
      </p:sp>
      <p:sp>
        <p:nvSpPr>
          <p:cNvPr id="88108" name="Text Box 44"/>
          <p:cNvSpPr txBox="1">
            <a:spLocks noChangeArrowheads="1"/>
          </p:cNvSpPr>
          <p:nvPr/>
        </p:nvSpPr>
        <p:spPr bwMode="auto">
          <a:xfrm>
            <a:off x="1260764" y="5256151"/>
            <a:ext cx="1008097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结论：在流水线各子功能段执行时间均相等的情况下，仅当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n&gt;&gt;m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时，其加速比才能趋近于最大值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，即流水线的段数。</a:t>
            </a:r>
          </a:p>
        </p:txBody>
      </p:sp>
      <p:sp>
        <p:nvSpPr>
          <p:cNvPr id="7" name="左大括号 6"/>
          <p:cNvSpPr/>
          <p:nvPr/>
        </p:nvSpPr>
        <p:spPr bwMode="auto">
          <a:xfrm>
            <a:off x="1665791" y="1478845"/>
            <a:ext cx="174298" cy="703912"/>
          </a:xfrm>
          <a:prstGeom prst="leftBrac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lg"/>
          </a:ln>
          <a:effectLst>
            <a:outerShdw dist="109250" dir="3267739" algn="ctr" rotWithShape="0">
              <a:schemeClr val="bg2">
                <a:alpha val="50000"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左大括号 7"/>
          <p:cNvSpPr/>
          <p:nvPr/>
        </p:nvSpPr>
        <p:spPr bwMode="auto">
          <a:xfrm>
            <a:off x="1665791" y="2561873"/>
            <a:ext cx="174298" cy="703912"/>
          </a:xfrm>
          <a:prstGeom prst="leftBrace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lg"/>
          </a:ln>
          <a:effectLst>
            <a:outerShdw dist="109250" dir="3267739" algn="ctr" rotWithShape="0">
              <a:schemeClr val="bg2">
                <a:alpha val="50000"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左弧形箭头 4"/>
          <p:cNvSpPr/>
          <p:nvPr/>
        </p:nvSpPr>
        <p:spPr bwMode="auto">
          <a:xfrm>
            <a:off x="556329" y="1786237"/>
            <a:ext cx="1109462" cy="1318444"/>
          </a:xfrm>
          <a:prstGeom prst="curvedRightArrow">
            <a:avLst>
              <a:gd name="adj1" fmla="val 25000"/>
              <a:gd name="adj2" fmla="val 39173"/>
              <a:gd name="adj3" fmla="val 25000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25400" cap="flat" cmpd="sng" algn="ctr">
            <a:solidFill>
              <a:srgbClr val="EAEAEA"/>
            </a:solidFill>
            <a:prstDash val="solid"/>
            <a:round/>
            <a:headEnd type="none" w="med" len="med"/>
            <a:tailEnd type="none" w="med" len="med"/>
          </a:ln>
          <a:effectLst>
            <a:outerShdw dist="109250" dir="3267739" algn="ctr" rotWithShape="0">
              <a:schemeClr val="bg2">
                <a:alpha val="50000"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5605405" y="2375230"/>
                <a:ext cx="184324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0000FF"/>
                    </a:solidFill>
                    <a:ea typeface="宋体" panose="02010600030101010101" pitchFamily="2" charset="-122"/>
                  </a:rPr>
                  <a:t>  </a:t>
                </a:r>
                <a:r>
                  <a:rPr lang="en-US" altLang="zh-CN" sz="2400" dirty="0">
                    <a:solidFill>
                      <a:srgbClr val="0000FF"/>
                    </a:solidFill>
                    <a:ea typeface="宋体" panose="02010600030101010101" pitchFamily="2" charset="-122"/>
                  </a:rPr>
                  <a:t>n</a:t>
                </a:r>
                <a:r>
                  <a:rPr lang="en-US" altLang="zh-CN" sz="2400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en-US" altLang="zh-CN" sz="2400" dirty="0">
                    <a:solidFill>
                      <a:srgbClr val="0000FF"/>
                    </a:solidFill>
                    <a:ea typeface="宋体" panose="02010600030101010101" pitchFamily="2" charset="-122"/>
                  </a:rPr>
                  <a:t>m</a:t>
                </a:r>
                <a:r>
                  <a:rPr lang="en-US" altLang="zh-CN" sz="2400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en-US" altLang="zh-CN" sz="2400" dirty="0">
                    <a:solidFill>
                      <a:srgbClr val="0000FF"/>
                    </a:solidFill>
                    <a:ea typeface="宋体" panose="02010600030101010101" pitchFamily="2" charset="-122"/>
                  </a:rPr>
                  <a:t>⊿t</a:t>
                </a:r>
                <a:endParaRPr lang="zh-CN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405" y="2375230"/>
                <a:ext cx="1843249" cy="461665"/>
              </a:xfrm>
              <a:prstGeom prst="rect">
                <a:avLst/>
              </a:prstGeom>
              <a:blipFill rotWithShape="0">
                <a:blip r:embed="rId3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5326466" y="2869066"/>
            <a:ext cx="19495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err="1">
                <a:solidFill>
                  <a:srgbClr val="0000FF"/>
                </a:solidFill>
                <a:ea typeface="宋体" panose="02010600030101010101" pitchFamily="2" charset="-122"/>
              </a:rPr>
              <a:t>m⊿t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+(n-1)⊿t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/>
          </p:nvPr>
        </p:nvGraphicFramePr>
        <p:xfrm>
          <a:off x="1341322" y="4143039"/>
          <a:ext cx="7657202" cy="1102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公式" r:id="rId4" imgW="4241520" imgH="609480" progId="Equation.3">
                  <p:embed/>
                </p:oleObj>
              </mc:Choice>
              <mc:Fallback>
                <p:oleObj name="公式" r:id="rId4" imgW="4241520" imgH="609480" progId="Equation.3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322" y="4143039"/>
                        <a:ext cx="7657202" cy="1102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8998593" y="4317064"/>
            <a:ext cx="7697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en-US" altLang="zh-CN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030153" y="4266211"/>
            <a:ext cx="1662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n&gt;&gt;m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35349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3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48058" y="-99803"/>
            <a:ext cx="9173853" cy="1303148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效率（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Efficiency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0424" y="4377638"/>
            <a:ext cx="10645423" cy="198979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效率总是小于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995641" y="4917800"/>
                <a:ext cx="7794483" cy="10792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800" b="1" i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η</a:t>
                </a:r>
                <a:r>
                  <a:rPr lang="en-US" altLang="zh-CN" sz="2800" b="1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fPr>
                      <m:num>
                        <m:r>
                          <a:rPr lang="zh-CN" altLang="en-US" sz="28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处于工作状态的部件数量</m:t>
                        </m:r>
                      </m:num>
                      <m:den>
                        <m:r>
                          <a:rPr lang="zh-CN" altLang="en-US" sz="28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总部件数量</m:t>
                        </m:r>
                      </m:den>
                    </m:f>
                  </m:oMath>
                </a14:m>
                <a:r>
                  <a:rPr lang="en-US" altLang="zh-CN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；（效率估计方法）</a:t>
                </a:r>
                <a:endPara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641" y="4917800"/>
                <a:ext cx="7794483" cy="1079206"/>
              </a:xfrm>
              <a:prstGeom prst="rect">
                <a:avLst/>
              </a:prstGeom>
              <a:blipFill>
                <a:blip r:embed="rId2"/>
                <a:stretch>
                  <a:fillRect l="-1564" r="-61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703987" y="1504337"/>
            <a:ext cx="1573899" cy="1563688"/>
          </a:xfrm>
          <a:prstGeom prst="ellipse">
            <a:avLst/>
          </a:prstGeom>
          <a:solidFill>
            <a:srgbClr val="04B0BE"/>
          </a:solidFill>
          <a:ln w="38100" cap="flat">
            <a:solidFill>
              <a:srgbClr val="04B0BE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9661067" y="3976722"/>
            <a:ext cx="1573899" cy="1563688"/>
          </a:xfrm>
          <a:prstGeom prst="ellipse">
            <a:avLst/>
          </a:prstGeom>
          <a:solidFill>
            <a:srgbClr val="FFC000"/>
          </a:solidFill>
          <a:ln w="38100" cap="flat">
            <a:solidFill>
              <a:srgbClr val="FFC000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" name="Freeform 10"/>
          <p:cNvSpPr>
            <a:spLocks noEditPoints="1"/>
          </p:cNvSpPr>
          <p:nvPr/>
        </p:nvSpPr>
        <p:spPr bwMode="auto">
          <a:xfrm>
            <a:off x="2369617" y="2112843"/>
            <a:ext cx="365303" cy="362962"/>
          </a:xfrm>
          <a:custGeom>
            <a:avLst/>
            <a:gdLst>
              <a:gd name="T0" fmla="*/ 173 w 346"/>
              <a:gd name="T1" fmla="*/ 0 h 346"/>
              <a:gd name="T2" fmla="*/ 346 w 346"/>
              <a:gd name="T3" fmla="*/ 173 h 346"/>
              <a:gd name="T4" fmla="*/ 173 w 346"/>
              <a:gd name="T5" fmla="*/ 346 h 346"/>
              <a:gd name="T6" fmla="*/ 0 w 346"/>
              <a:gd name="T7" fmla="*/ 173 h 346"/>
              <a:gd name="T8" fmla="*/ 173 w 346"/>
              <a:gd name="T9" fmla="*/ 0 h 346"/>
              <a:gd name="T10" fmla="*/ 277 w 346"/>
              <a:gd name="T11" fmla="*/ 176 h 346"/>
              <a:gd name="T12" fmla="*/ 204 w 346"/>
              <a:gd name="T13" fmla="*/ 218 h 346"/>
              <a:gd name="T14" fmla="*/ 131 w 346"/>
              <a:gd name="T15" fmla="*/ 260 h 346"/>
              <a:gd name="T16" fmla="*/ 131 w 346"/>
              <a:gd name="T17" fmla="*/ 176 h 346"/>
              <a:gd name="T18" fmla="*/ 131 w 346"/>
              <a:gd name="T19" fmla="*/ 92 h 346"/>
              <a:gd name="T20" fmla="*/ 204 w 346"/>
              <a:gd name="T21" fmla="*/ 134 h 346"/>
              <a:gd name="T22" fmla="*/ 277 w 346"/>
              <a:gd name="T23" fmla="*/ 176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268" y="0"/>
                  <a:pt x="346" y="77"/>
                  <a:pt x="346" y="173"/>
                </a:cubicBezTo>
                <a:cubicBezTo>
                  <a:pt x="346" y="268"/>
                  <a:pt x="268" y="346"/>
                  <a:pt x="173" y="346"/>
                </a:cubicBezTo>
                <a:cubicBezTo>
                  <a:pt x="77" y="346"/>
                  <a:pt x="0" y="268"/>
                  <a:pt x="0" y="173"/>
                </a:cubicBezTo>
                <a:cubicBezTo>
                  <a:pt x="0" y="77"/>
                  <a:pt x="77" y="0"/>
                  <a:pt x="173" y="0"/>
                </a:cubicBezTo>
                <a:close/>
                <a:moveTo>
                  <a:pt x="277" y="176"/>
                </a:moveTo>
                <a:lnTo>
                  <a:pt x="204" y="218"/>
                </a:lnTo>
                <a:lnTo>
                  <a:pt x="131" y="260"/>
                </a:lnTo>
                <a:lnTo>
                  <a:pt x="131" y="176"/>
                </a:lnTo>
                <a:lnTo>
                  <a:pt x="131" y="92"/>
                </a:lnTo>
                <a:lnTo>
                  <a:pt x="204" y="134"/>
                </a:lnTo>
                <a:lnTo>
                  <a:pt x="277" y="176"/>
                </a:lnTo>
                <a:close/>
              </a:path>
            </a:pathLst>
          </a:custGeom>
          <a:solidFill>
            <a:srgbClr val="04B0BE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8" name="Freeform 11"/>
          <p:cNvSpPr>
            <a:spLocks noEditPoints="1"/>
          </p:cNvSpPr>
          <p:nvPr/>
        </p:nvSpPr>
        <p:spPr bwMode="auto">
          <a:xfrm>
            <a:off x="9216583" y="4554838"/>
            <a:ext cx="365303" cy="362962"/>
          </a:xfrm>
          <a:custGeom>
            <a:avLst/>
            <a:gdLst>
              <a:gd name="T0" fmla="*/ 173 w 346"/>
              <a:gd name="T1" fmla="*/ 0 h 346"/>
              <a:gd name="T2" fmla="*/ 0 w 346"/>
              <a:gd name="T3" fmla="*/ 173 h 346"/>
              <a:gd name="T4" fmla="*/ 173 w 346"/>
              <a:gd name="T5" fmla="*/ 346 h 346"/>
              <a:gd name="T6" fmla="*/ 346 w 346"/>
              <a:gd name="T7" fmla="*/ 173 h 346"/>
              <a:gd name="T8" fmla="*/ 173 w 346"/>
              <a:gd name="T9" fmla="*/ 0 h 346"/>
              <a:gd name="T10" fmla="*/ 69 w 346"/>
              <a:gd name="T11" fmla="*/ 177 h 346"/>
              <a:gd name="T12" fmla="*/ 142 w 346"/>
              <a:gd name="T13" fmla="*/ 219 h 346"/>
              <a:gd name="T14" fmla="*/ 215 w 346"/>
              <a:gd name="T15" fmla="*/ 261 h 346"/>
              <a:gd name="T16" fmla="*/ 215 w 346"/>
              <a:gd name="T17" fmla="*/ 177 h 346"/>
              <a:gd name="T18" fmla="*/ 215 w 346"/>
              <a:gd name="T19" fmla="*/ 93 h 346"/>
              <a:gd name="T20" fmla="*/ 142 w 346"/>
              <a:gd name="T21" fmla="*/ 135 h 346"/>
              <a:gd name="T22" fmla="*/ 69 w 346"/>
              <a:gd name="T23" fmla="*/ 177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78" y="0"/>
                  <a:pt x="0" y="78"/>
                  <a:pt x="0" y="173"/>
                </a:cubicBezTo>
                <a:cubicBezTo>
                  <a:pt x="0" y="269"/>
                  <a:pt x="78" y="346"/>
                  <a:pt x="173" y="346"/>
                </a:cubicBezTo>
                <a:cubicBezTo>
                  <a:pt x="269" y="346"/>
                  <a:pt x="346" y="269"/>
                  <a:pt x="346" y="173"/>
                </a:cubicBezTo>
                <a:cubicBezTo>
                  <a:pt x="346" y="78"/>
                  <a:pt x="269" y="0"/>
                  <a:pt x="173" y="0"/>
                </a:cubicBezTo>
                <a:close/>
                <a:moveTo>
                  <a:pt x="69" y="177"/>
                </a:moveTo>
                <a:lnTo>
                  <a:pt x="142" y="219"/>
                </a:lnTo>
                <a:lnTo>
                  <a:pt x="215" y="261"/>
                </a:lnTo>
                <a:lnTo>
                  <a:pt x="215" y="177"/>
                </a:lnTo>
                <a:lnTo>
                  <a:pt x="215" y="93"/>
                </a:lnTo>
                <a:lnTo>
                  <a:pt x="142" y="135"/>
                </a:lnTo>
                <a:lnTo>
                  <a:pt x="69" y="177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9" name="TextBox 13"/>
          <p:cNvSpPr txBox="1"/>
          <p:nvPr/>
        </p:nvSpPr>
        <p:spPr>
          <a:xfrm flipH="1">
            <a:off x="940424" y="1824697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01</a:t>
            </a:r>
          </a:p>
        </p:txBody>
      </p:sp>
      <p:sp>
        <p:nvSpPr>
          <p:cNvPr id="10" name="TextBox 14"/>
          <p:cNvSpPr txBox="1"/>
          <p:nvPr/>
        </p:nvSpPr>
        <p:spPr>
          <a:xfrm flipH="1">
            <a:off x="9905955" y="4297082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02</a:t>
            </a:r>
          </a:p>
        </p:txBody>
      </p:sp>
      <p:sp>
        <p:nvSpPr>
          <p:cNvPr id="3" name="矩形 2"/>
          <p:cNvSpPr/>
          <p:nvPr/>
        </p:nvSpPr>
        <p:spPr>
          <a:xfrm>
            <a:off x="2958410" y="1542314"/>
            <a:ext cx="8683129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Efficiency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）：也称流水线设备的时间利用率，又称使用效率，它指的是流水线中各个部件的利用率，也就是设备的实际使用时间占整个运行时间的比值。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5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300615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851324135"/>
              </p:ext>
            </p:extLst>
          </p:nvPr>
        </p:nvGraphicFramePr>
        <p:xfrm>
          <a:off x="1968650" y="4683104"/>
          <a:ext cx="6532513" cy="2016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Microsoft 公式 3.0" r:id="rId3" imgW="2476440" imgH="812520" progId="Equation.3">
                  <p:embed/>
                </p:oleObj>
              </mc:Choice>
              <mc:Fallback>
                <p:oleObj name="Microsoft 公式 3.0" r:id="rId3" imgW="2476440" imgH="812520" progId="Equation.3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650" y="4683104"/>
                        <a:ext cx="6532513" cy="2016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696870" y="3039577"/>
            <a:ext cx="10172958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如果是线性流水线，任务间不相关且各段经过的时间相同，那么在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时间里流水线的各段效率都相同，均为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η</a:t>
            </a:r>
            <a:r>
              <a:rPr lang="en-US" altLang="zh-CN" sz="28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，整个流水线的效率就是</a:t>
            </a:r>
            <a:r>
              <a:rPr lang="en-US" altLang="zh-CN" sz="28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η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875773" y="357971"/>
            <a:ext cx="8432800" cy="533400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效率（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Efficiency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 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72679" y="1589061"/>
            <a:ext cx="849103" cy="993719"/>
            <a:chOff x="1446900" y="2132856"/>
            <a:chExt cx="1304925" cy="1527175"/>
          </a:xfrm>
        </p:grpSpPr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1446900" y="2132856"/>
              <a:ext cx="1304925" cy="1527175"/>
            </a:xfrm>
            <a:custGeom>
              <a:avLst/>
              <a:gdLst>
                <a:gd name="T0" fmla="*/ 827 w 1654"/>
                <a:gd name="T1" fmla="*/ 0 h 1918"/>
                <a:gd name="T2" fmla="*/ 1654 w 1654"/>
                <a:gd name="T3" fmla="*/ 827 h 1918"/>
                <a:gd name="T4" fmla="*/ 1116 w 1654"/>
                <a:gd name="T5" fmla="*/ 1602 h 1918"/>
                <a:gd name="T6" fmla="*/ 995 w 1654"/>
                <a:gd name="T7" fmla="*/ 1741 h 1918"/>
                <a:gd name="T8" fmla="*/ 870 w 1654"/>
                <a:gd name="T9" fmla="*/ 1884 h 1918"/>
                <a:gd name="T10" fmla="*/ 789 w 1654"/>
                <a:gd name="T11" fmla="*/ 1889 h 1918"/>
                <a:gd name="T12" fmla="*/ 660 w 1654"/>
                <a:gd name="T13" fmla="*/ 1741 h 1918"/>
                <a:gd name="T14" fmla="*/ 540 w 1654"/>
                <a:gd name="T15" fmla="*/ 1603 h 1918"/>
                <a:gd name="T16" fmla="*/ 0 w 1654"/>
                <a:gd name="T17" fmla="*/ 827 h 1918"/>
                <a:gd name="T18" fmla="*/ 827 w 1654"/>
                <a:gd name="T19" fmla="*/ 0 h 1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54" h="1918">
                  <a:moveTo>
                    <a:pt x="827" y="0"/>
                  </a:moveTo>
                  <a:cubicBezTo>
                    <a:pt x="1283" y="0"/>
                    <a:pt x="1654" y="370"/>
                    <a:pt x="1654" y="827"/>
                  </a:cubicBezTo>
                  <a:cubicBezTo>
                    <a:pt x="1654" y="1182"/>
                    <a:pt x="1430" y="1485"/>
                    <a:pt x="1116" y="1602"/>
                  </a:cubicBezTo>
                  <a:lnTo>
                    <a:pt x="995" y="1741"/>
                  </a:lnTo>
                  <a:cubicBezTo>
                    <a:pt x="953" y="1788"/>
                    <a:pt x="912" y="1836"/>
                    <a:pt x="870" y="1884"/>
                  </a:cubicBezTo>
                  <a:cubicBezTo>
                    <a:pt x="845" y="1916"/>
                    <a:pt x="818" y="1918"/>
                    <a:pt x="789" y="1889"/>
                  </a:cubicBezTo>
                  <a:cubicBezTo>
                    <a:pt x="746" y="1840"/>
                    <a:pt x="703" y="1790"/>
                    <a:pt x="660" y="1741"/>
                  </a:cubicBezTo>
                  <a:lnTo>
                    <a:pt x="540" y="1603"/>
                  </a:lnTo>
                  <a:cubicBezTo>
                    <a:pt x="225" y="1486"/>
                    <a:pt x="0" y="1183"/>
                    <a:pt x="0" y="827"/>
                  </a:cubicBezTo>
                  <a:cubicBezTo>
                    <a:pt x="0" y="370"/>
                    <a:pt x="370" y="0"/>
                    <a:pt x="827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3" name="Freeform 16"/>
            <p:cNvSpPr>
              <a:spLocks noEditPoints="1"/>
            </p:cNvSpPr>
            <p:nvPr/>
          </p:nvSpPr>
          <p:spPr bwMode="auto">
            <a:xfrm>
              <a:off x="1668969" y="2542449"/>
              <a:ext cx="860788" cy="500028"/>
            </a:xfrm>
            <a:custGeom>
              <a:avLst/>
              <a:gdLst>
                <a:gd name="T0" fmla="*/ 712 w 739"/>
                <a:gd name="T1" fmla="*/ 36 h 492"/>
                <a:gd name="T2" fmla="*/ 712 w 739"/>
                <a:gd name="T3" fmla="*/ 404 h 492"/>
                <a:gd name="T4" fmla="*/ 702 w 739"/>
                <a:gd name="T5" fmla="*/ 404 h 492"/>
                <a:gd name="T6" fmla="*/ 678 w 739"/>
                <a:gd name="T7" fmla="*/ 403 h 492"/>
                <a:gd name="T8" fmla="*/ 373 w 739"/>
                <a:gd name="T9" fmla="*/ 480 h 492"/>
                <a:gd name="T10" fmla="*/ 369 w 739"/>
                <a:gd name="T11" fmla="*/ 482 h 492"/>
                <a:gd name="T12" fmla="*/ 365 w 739"/>
                <a:gd name="T13" fmla="*/ 480 h 492"/>
                <a:gd name="T14" fmla="*/ 60 w 739"/>
                <a:gd name="T15" fmla="*/ 403 h 492"/>
                <a:gd name="T16" fmla="*/ 37 w 739"/>
                <a:gd name="T17" fmla="*/ 404 h 492"/>
                <a:gd name="T18" fmla="*/ 26 w 739"/>
                <a:gd name="T19" fmla="*/ 404 h 492"/>
                <a:gd name="T20" fmla="*/ 26 w 739"/>
                <a:gd name="T21" fmla="*/ 36 h 492"/>
                <a:gd name="T22" fmla="*/ 0 w 739"/>
                <a:gd name="T23" fmla="*/ 36 h 492"/>
                <a:gd name="T24" fmla="*/ 0 w 739"/>
                <a:gd name="T25" fmla="*/ 418 h 492"/>
                <a:gd name="T26" fmla="*/ 369 w 739"/>
                <a:gd name="T27" fmla="*/ 492 h 492"/>
                <a:gd name="T28" fmla="*/ 739 w 739"/>
                <a:gd name="T29" fmla="*/ 418 h 492"/>
                <a:gd name="T30" fmla="*/ 739 w 739"/>
                <a:gd name="T31" fmla="*/ 36 h 492"/>
                <a:gd name="T32" fmla="*/ 712 w 739"/>
                <a:gd name="T33" fmla="*/ 36 h 492"/>
                <a:gd name="T34" fmla="*/ 357 w 739"/>
                <a:gd name="T35" fmla="*/ 418 h 492"/>
                <a:gd name="T36" fmla="*/ 357 w 739"/>
                <a:gd name="T37" fmla="*/ 82 h 492"/>
                <a:gd name="T38" fmla="*/ 101 w 739"/>
                <a:gd name="T39" fmla="*/ 2 h 492"/>
                <a:gd name="T40" fmla="*/ 101 w 739"/>
                <a:gd name="T41" fmla="*/ 352 h 492"/>
                <a:gd name="T42" fmla="*/ 111 w 739"/>
                <a:gd name="T43" fmla="*/ 352 h 492"/>
                <a:gd name="T44" fmla="*/ 357 w 739"/>
                <a:gd name="T45" fmla="*/ 418 h 492"/>
                <a:gd name="T46" fmla="*/ 638 w 739"/>
                <a:gd name="T47" fmla="*/ 352 h 492"/>
                <a:gd name="T48" fmla="*/ 638 w 739"/>
                <a:gd name="T49" fmla="*/ 2 h 492"/>
                <a:gd name="T50" fmla="*/ 382 w 739"/>
                <a:gd name="T51" fmla="*/ 82 h 492"/>
                <a:gd name="T52" fmla="*/ 382 w 739"/>
                <a:gd name="T53" fmla="*/ 418 h 492"/>
                <a:gd name="T54" fmla="*/ 628 w 739"/>
                <a:gd name="T55" fmla="*/ 352 h 492"/>
                <a:gd name="T56" fmla="*/ 638 w 739"/>
                <a:gd name="T57" fmla="*/ 352 h 492"/>
                <a:gd name="T58" fmla="*/ 369 w 739"/>
                <a:gd name="T59" fmla="*/ 473 h 492"/>
                <a:gd name="T60" fmla="*/ 695 w 739"/>
                <a:gd name="T61" fmla="*/ 395 h 492"/>
                <a:gd name="T62" fmla="*/ 695 w 739"/>
                <a:gd name="T63" fmla="*/ 7 h 492"/>
                <a:gd name="T64" fmla="*/ 655 w 739"/>
                <a:gd name="T65" fmla="*/ 7 h 492"/>
                <a:gd name="T66" fmla="*/ 655 w 739"/>
                <a:gd name="T67" fmla="*/ 370 h 492"/>
                <a:gd name="T68" fmla="*/ 645 w 739"/>
                <a:gd name="T69" fmla="*/ 370 h 492"/>
                <a:gd name="T70" fmla="*/ 626 w 739"/>
                <a:gd name="T71" fmla="*/ 369 h 492"/>
                <a:gd name="T72" fmla="*/ 376 w 739"/>
                <a:gd name="T73" fmla="*/ 441 h 492"/>
                <a:gd name="T74" fmla="*/ 369 w 739"/>
                <a:gd name="T75" fmla="*/ 445 h 492"/>
                <a:gd name="T76" fmla="*/ 363 w 739"/>
                <a:gd name="T77" fmla="*/ 441 h 492"/>
                <a:gd name="T78" fmla="*/ 113 w 739"/>
                <a:gd name="T79" fmla="*/ 369 h 492"/>
                <a:gd name="T80" fmla="*/ 93 w 739"/>
                <a:gd name="T81" fmla="*/ 370 h 492"/>
                <a:gd name="T82" fmla="*/ 83 w 739"/>
                <a:gd name="T83" fmla="*/ 370 h 492"/>
                <a:gd name="T84" fmla="*/ 83 w 739"/>
                <a:gd name="T85" fmla="*/ 7 h 492"/>
                <a:gd name="T86" fmla="*/ 44 w 739"/>
                <a:gd name="T87" fmla="*/ 7 h 492"/>
                <a:gd name="T88" fmla="*/ 44 w 739"/>
                <a:gd name="T89" fmla="*/ 395 h 492"/>
                <a:gd name="T90" fmla="*/ 369 w 739"/>
                <a:gd name="T91" fmla="*/ 473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9" h="492">
                  <a:moveTo>
                    <a:pt x="712" y="36"/>
                  </a:moveTo>
                  <a:lnTo>
                    <a:pt x="712" y="404"/>
                  </a:lnTo>
                  <a:lnTo>
                    <a:pt x="702" y="404"/>
                  </a:lnTo>
                  <a:cubicBezTo>
                    <a:pt x="694" y="404"/>
                    <a:pt x="686" y="403"/>
                    <a:pt x="678" y="403"/>
                  </a:cubicBezTo>
                  <a:cubicBezTo>
                    <a:pt x="576" y="403"/>
                    <a:pt x="467" y="430"/>
                    <a:pt x="373" y="480"/>
                  </a:cubicBezTo>
                  <a:lnTo>
                    <a:pt x="369" y="482"/>
                  </a:lnTo>
                  <a:lnTo>
                    <a:pt x="365" y="480"/>
                  </a:lnTo>
                  <a:cubicBezTo>
                    <a:pt x="271" y="430"/>
                    <a:pt x="163" y="403"/>
                    <a:pt x="60" y="403"/>
                  </a:cubicBezTo>
                  <a:cubicBezTo>
                    <a:pt x="52" y="403"/>
                    <a:pt x="45" y="404"/>
                    <a:pt x="37" y="404"/>
                  </a:cubicBezTo>
                  <a:lnTo>
                    <a:pt x="26" y="404"/>
                  </a:lnTo>
                  <a:lnTo>
                    <a:pt x="26" y="36"/>
                  </a:lnTo>
                  <a:cubicBezTo>
                    <a:pt x="17" y="36"/>
                    <a:pt x="9" y="36"/>
                    <a:pt x="0" y="36"/>
                  </a:cubicBezTo>
                  <a:lnTo>
                    <a:pt x="0" y="418"/>
                  </a:lnTo>
                  <a:cubicBezTo>
                    <a:pt x="123" y="415"/>
                    <a:pt x="254" y="442"/>
                    <a:pt x="369" y="492"/>
                  </a:cubicBezTo>
                  <a:cubicBezTo>
                    <a:pt x="484" y="442"/>
                    <a:pt x="616" y="415"/>
                    <a:pt x="739" y="418"/>
                  </a:cubicBezTo>
                  <a:lnTo>
                    <a:pt x="739" y="36"/>
                  </a:lnTo>
                  <a:cubicBezTo>
                    <a:pt x="730" y="36"/>
                    <a:pt x="721" y="36"/>
                    <a:pt x="712" y="36"/>
                  </a:cubicBezTo>
                  <a:close/>
                  <a:moveTo>
                    <a:pt x="357" y="418"/>
                  </a:moveTo>
                  <a:lnTo>
                    <a:pt x="357" y="82"/>
                  </a:lnTo>
                  <a:cubicBezTo>
                    <a:pt x="277" y="28"/>
                    <a:pt x="186" y="0"/>
                    <a:pt x="101" y="2"/>
                  </a:cubicBezTo>
                  <a:lnTo>
                    <a:pt x="101" y="352"/>
                  </a:lnTo>
                  <a:cubicBezTo>
                    <a:pt x="104" y="352"/>
                    <a:pt x="107" y="352"/>
                    <a:pt x="111" y="352"/>
                  </a:cubicBezTo>
                  <a:cubicBezTo>
                    <a:pt x="193" y="352"/>
                    <a:pt x="280" y="375"/>
                    <a:pt x="357" y="418"/>
                  </a:cubicBezTo>
                  <a:close/>
                  <a:moveTo>
                    <a:pt x="638" y="352"/>
                  </a:moveTo>
                  <a:lnTo>
                    <a:pt x="638" y="2"/>
                  </a:lnTo>
                  <a:cubicBezTo>
                    <a:pt x="552" y="0"/>
                    <a:pt x="461" y="28"/>
                    <a:pt x="382" y="82"/>
                  </a:cubicBezTo>
                  <a:lnTo>
                    <a:pt x="382" y="418"/>
                  </a:lnTo>
                  <a:cubicBezTo>
                    <a:pt x="459" y="375"/>
                    <a:pt x="545" y="352"/>
                    <a:pt x="628" y="352"/>
                  </a:cubicBezTo>
                  <a:cubicBezTo>
                    <a:pt x="631" y="352"/>
                    <a:pt x="635" y="352"/>
                    <a:pt x="638" y="352"/>
                  </a:cubicBezTo>
                  <a:close/>
                  <a:moveTo>
                    <a:pt x="369" y="473"/>
                  </a:moveTo>
                  <a:cubicBezTo>
                    <a:pt x="473" y="417"/>
                    <a:pt x="590" y="391"/>
                    <a:pt x="695" y="395"/>
                  </a:cubicBezTo>
                  <a:lnTo>
                    <a:pt x="695" y="7"/>
                  </a:lnTo>
                  <a:cubicBezTo>
                    <a:pt x="682" y="6"/>
                    <a:pt x="669" y="6"/>
                    <a:pt x="655" y="7"/>
                  </a:cubicBezTo>
                  <a:lnTo>
                    <a:pt x="655" y="370"/>
                  </a:lnTo>
                  <a:lnTo>
                    <a:pt x="645" y="370"/>
                  </a:lnTo>
                  <a:cubicBezTo>
                    <a:pt x="639" y="369"/>
                    <a:pt x="632" y="369"/>
                    <a:pt x="626" y="369"/>
                  </a:cubicBezTo>
                  <a:cubicBezTo>
                    <a:pt x="542" y="369"/>
                    <a:pt x="453" y="395"/>
                    <a:pt x="376" y="441"/>
                  </a:cubicBezTo>
                  <a:lnTo>
                    <a:pt x="369" y="445"/>
                  </a:lnTo>
                  <a:lnTo>
                    <a:pt x="363" y="441"/>
                  </a:lnTo>
                  <a:cubicBezTo>
                    <a:pt x="286" y="395"/>
                    <a:pt x="197" y="369"/>
                    <a:pt x="113" y="369"/>
                  </a:cubicBezTo>
                  <a:cubicBezTo>
                    <a:pt x="106" y="369"/>
                    <a:pt x="100" y="369"/>
                    <a:pt x="93" y="370"/>
                  </a:cubicBezTo>
                  <a:lnTo>
                    <a:pt x="83" y="370"/>
                  </a:lnTo>
                  <a:lnTo>
                    <a:pt x="83" y="7"/>
                  </a:lnTo>
                  <a:cubicBezTo>
                    <a:pt x="70" y="6"/>
                    <a:pt x="57" y="6"/>
                    <a:pt x="44" y="7"/>
                  </a:cubicBezTo>
                  <a:lnTo>
                    <a:pt x="44" y="395"/>
                  </a:lnTo>
                  <a:cubicBezTo>
                    <a:pt x="148" y="391"/>
                    <a:pt x="265" y="417"/>
                    <a:pt x="369" y="4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37592" y="3460291"/>
            <a:ext cx="849103" cy="993719"/>
            <a:chOff x="4022275" y="2132856"/>
            <a:chExt cx="1304925" cy="1527175"/>
          </a:xfrm>
        </p:grpSpPr>
        <p:sp>
          <p:nvSpPr>
            <p:cNvPr id="15" name="Freeform 6"/>
            <p:cNvSpPr>
              <a:spLocks/>
            </p:cNvSpPr>
            <p:nvPr/>
          </p:nvSpPr>
          <p:spPr bwMode="auto">
            <a:xfrm>
              <a:off x="4022275" y="2132856"/>
              <a:ext cx="1304925" cy="1527175"/>
            </a:xfrm>
            <a:custGeom>
              <a:avLst/>
              <a:gdLst>
                <a:gd name="T0" fmla="*/ 827 w 1654"/>
                <a:gd name="T1" fmla="*/ 0 h 1918"/>
                <a:gd name="T2" fmla="*/ 1654 w 1654"/>
                <a:gd name="T3" fmla="*/ 827 h 1918"/>
                <a:gd name="T4" fmla="*/ 1116 w 1654"/>
                <a:gd name="T5" fmla="*/ 1602 h 1918"/>
                <a:gd name="T6" fmla="*/ 995 w 1654"/>
                <a:gd name="T7" fmla="*/ 1741 h 1918"/>
                <a:gd name="T8" fmla="*/ 870 w 1654"/>
                <a:gd name="T9" fmla="*/ 1884 h 1918"/>
                <a:gd name="T10" fmla="*/ 790 w 1654"/>
                <a:gd name="T11" fmla="*/ 1889 h 1918"/>
                <a:gd name="T12" fmla="*/ 660 w 1654"/>
                <a:gd name="T13" fmla="*/ 1741 h 1918"/>
                <a:gd name="T14" fmla="*/ 540 w 1654"/>
                <a:gd name="T15" fmla="*/ 1603 h 1918"/>
                <a:gd name="T16" fmla="*/ 0 w 1654"/>
                <a:gd name="T17" fmla="*/ 827 h 1918"/>
                <a:gd name="T18" fmla="*/ 827 w 1654"/>
                <a:gd name="T19" fmla="*/ 0 h 1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54" h="1918">
                  <a:moveTo>
                    <a:pt x="827" y="0"/>
                  </a:moveTo>
                  <a:cubicBezTo>
                    <a:pt x="1284" y="0"/>
                    <a:pt x="1654" y="370"/>
                    <a:pt x="1654" y="827"/>
                  </a:cubicBezTo>
                  <a:cubicBezTo>
                    <a:pt x="1654" y="1182"/>
                    <a:pt x="1430" y="1485"/>
                    <a:pt x="1116" y="1602"/>
                  </a:cubicBezTo>
                  <a:lnTo>
                    <a:pt x="995" y="1741"/>
                  </a:lnTo>
                  <a:cubicBezTo>
                    <a:pt x="954" y="1788"/>
                    <a:pt x="912" y="1836"/>
                    <a:pt x="870" y="1884"/>
                  </a:cubicBezTo>
                  <a:cubicBezTo>
                    <a:pt x="845" y="1916"/>
                    <a:pt x="818" y="1918"/>
                    <a:pt x="790" y="1889"/>
                  </a:cubicBezTo>
                  <a:cubicBezTo>
                    <a:pt x="747" y="1840"/>
                    <a:pt x="703" y="1790"/>
                    <a:pt x="660" y="1741"/>
                  </a:cubicBezTo>
                  <a:lnTo>
                    <a:pt x="540" y="1603"/>
                  </a:lnTo>
                  <a:cubicBezTo>
                    <a:pt x="225" y="1486"/>
                    <a:pt x="0" y="1183"/>
                    <a:pt x="0" y="827"/>
                  </a:cubicBezTo>
                  <a:cubicBezTo>
                    <a:pt x="0" y="370"/>
                    <a:pt x="371" y="0"/>
                    <a:pt x="8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4399628" y="2380272"/>
              <a:ext cx="650316" cy="737858"/>
            </a:xfrm>
            <a:custGeom>
              <a:avLst/>
              <a:gdLst>
                <a:gd name="T0" fmla="*/ 402 w 630"/>
                <a:gd name="T1" fmla="*/ 89 h 711"/>
                <a:gd name="T2" fmla="*/ 313 w 630"/>
                <a:gd name="T3" fmla="*/ 178 h 711"/>
                <a:gd name="T4" fmla="*/ 223 w 630"/>
                <a:gd name="T5" fmla="*/ 178 h 711"/>
                <a:gd name="T6" fmla="*/ 134 w 630"/>
                <a:gd name="T7" fmla="*/ 89 h 711"/>
                <a:gd name="T8" fmla="*/ 223 w 630"/>
                <a:gd name="T9" fmla="*/ 0 h 711"/>
                <a:gd name="T10" fmla="*/ 313 w 630"/>
                <a:gd name="T11" fmla="*/ 0 h 711"/>
                <a:gd name="T12" fmla="*/ 402 w 630"/>
                <a:gd name="T13" fmla="*/ 89 h 711"/>
                <a:gd name="T14" fmla="*/ 445 w 630"/>
                <a:gd name="T15" fmla="*/ 89 h 711"/>
                <a:gd name="T16" fmla="*/ 446 w 630"/>
                <a:gd name="T17" fmla="*/ 109 h 711"/>
                <a:gd name="T18" fmla="*/ 335 w 630"/>
                <a:gd name="T19" fmla="*/ 221 h 711"/>
                <a:gd name="T20" fmla="*/ 201 w 630"/>
                <a:gd name="T21" fmla="*/ 221 h 711"/>
                <a:gd name="T22" fmla="*/ 90 w 630"/>
                <a:gd name="T23" fmla="*/ 109 h 711"/>
                <a:gd name="T24" fmla="*/ 92 w 630"/>
                <a:gd name="T25" fmla="*/ 89 h 711"/>
                <a:gd name="T26" fmla="*/ 0 w 630"/>
                <a:gd name="T27" fmla="*/ 198 h 711"/>
                <a:gd name="T28" fmla="*/ 0 w 630"/>
                <a:gd name="T29" fmla="*/ 600 h 711"/>
                <a:gd name="T30" fmla="*/ 112 w 630"/>
                <a:gd name="T31" fmla="*/ 711 h 711"/>
                <a:gd name="T32" fmla="*/ 409 w 630"/>
                <a:gd name="T33" fmla="*/ 711 h 711"/>
                <a:gd name="T34" fmla="*/ 288 w 630"/>
                <a:gd name="T35" fmla="*/ 528 h 711"/>
                <a:gd name="T36" fmla="*/ 487 w 630"/>
                <a:gd name="T37" fmla="*/ 328 h 711"/>
                <a:gd name="T38" fmla="*/ 536 w 630"/>
                <a:gd name="T39" fmla="*/ 335 h 711"/>
                <a:gd name="T40" fmla="*/ 536 w 630"/>
                <a:gd name="T41" fmla="*/ 198 h 711"/>
                <a:gd name="T42" fmla="*/ 445 w 630"/>
                <a:gd name="T43" fmla="*/ 89 h 711"/>
                <a:gd name="T44" fmla="*/ 251 w 630"/>
                <a:gd name="T45" fmla="*/ 446 h 711"/>
                <a:gd name="T46" fmla="*/ 251 w 630"/>
                <a:gd name="T47" fmla="*/ 446 h 711"/>
                <a:gd name="T48" fmla="*/ 112 w 630"/>
                <a:gd name="T49" fmla="*/ 446 h 711"/>
                <a:gd name="T50" fmla="*/ 90 w 630"/>
                <a:gd name="T51" fmla="*/ 423 h 711"/>
                <a:gd name="T52" fmla="*/ 112 w 630"/>
                <a:gd name="T53" fmla="*/ 401 h 711"/>
                <a:gd name="T54" fmla="*/ 251 w 630"/>
                <a:gd name="T55" fmla="*/ 401 h 711"/>
                <a:gd name="T56" fmla="*/ 274 w 630"/>
                <a:gd name="T57" fmla="*/ 423 h 711"/>
                <a:gd name="T58" fmla="*/ 251 w 630"/>
                <a:gd name="T59" fmla="*/ 446 h 711"/>
                <a:gd name="T60" fmla="*/ 296 w 630"/>
                <a:gd name="T61" fmla="*/ 356 h 711"/>
                <a:gd name="T62" fmla="*/ 296 w 630"/>
                <a:gd name="T63" fmla="*/ 356 h 711"/>
                <a:gd name="T64" fmla="*/ 112 w 630"/>
                <a:gd name="T65" fmla="*/ 356 h 711"/>
                <a:gd name="T66" fmla="*/ 90 w 630"/>
                <a:gd name="T67" fmla="*/ 334 h 711"/>
                <a:gd name="T68" fmla="*/ 112 w 630"/>
                <a:gd name="T69" fmla="*/ 312 h 711"/>
                <a:gd name="T70" fmla="*/ 296 w 630"/>
                <a:gd name="T71" fmla="*/ 312 h 711"/>
                <a:gd name="T72" fmla="*/ 318 w 630"/>
                <a:gd name="T73" fmla="*/ 334 h 711"/>
                <a:gd name="T74" fmla="*/ 296 w 630"/>
                <a:gd name="T75" fmla="*/ 356 h 711"/>
                <a:gd name="T76" fmla="*/ 524 w 630"/>
                <a:gd name="T77" fmla="*/ 390 h 711"/>
                <a:gd name="T78" fmla="*/ 488 w 630"/>
                <a:gd name="T79" fmla="*/ 385 h 711"/>
                <a:gd name="T80" fmla="*/ 346 w 630"/>
                <a:gd name="T81" fmla="*/ 527 h 711"/>
                <a:gd name="T82" fmla="*/ 458 w 630"/>
                <a:gd name="T83" fmla="*/ 666 h 711"/>
                <a:gd name="T84" fmla="*/ 488 w 630"/>
                <a:gd name="T85" fmla="*/ 669 h 711"/>
                <a:gd name="T86" fmla="*/ 630 w 630"/>
                <a:gd name="T87" fmla="*/ 527 h 711"/>
                <a:gd name="T88" fmla="*/ 524 w 630"/>
                <a:gd name="T89" fmla="*/ 390 h 711"/>
                <a:gd name="T90" fmla="*/ 569 w 630"/>
                <a:gd name="T91" fmla="*/ 507 h 711"/>
                <a:gd name="T92" fmla="*/ 569 w 630"/>
                <a:gd name="T93" fmla="*/ 507 h 711"/>
                <a:gd name="T94" fmla="*/ 524 w 630"/>
                <a:gd name="T95" fmla="*/ 552 h 711"/>
                <a:gd name="T96" fmla="*/ 488 w 630"/>
                <a:gd name="T97" fmla="*/ 588 h 711"/>
                <a:gd name="T98" fmla="*/ 448 w 630"/>
                <a:gd name="T99" fmla="*/ 588 h 711"/>
                <a:gd name="T100" fmla="*/ 408 w 630"/>
                <a:gd name="T101" fmla="*/ 547 h 711"/>
                <a:gd name="T102" fmla="*/ 408 w 630"/>
                <a:gd name="T103" fmla="*/ 507 h 711"/>
                <a:gd name="T104" fmla="*/ 448 w 630"/>
                <a:gd name="T105" fmla="*/ 507 h 711"/>
                <a:gd name="T106" fmla="*/ 468 w 630"/>
                <a:gd name="T107" fmla="*/ 527 h 711"/>
                <a:gd name="T108" fmla="*/ 524 w 630"/>
                <a:gd name="T109" fmla="*/ 472 h 711"/>
                <a:gd name="T110" fmla="*/ 528 w 630"/>
                <a:gd name="T111" fmla="*/ 467 h 711"/>
                <a:gd name="T112" fmla="*/ 569 w 630"/>
                <a:gd name="T113" fmla="*/ 467 h 711"/>
                <a:gd name="T114" fmla="*/ 569 w 630"/>
                <a:gd name="T115" fmla="*/ 507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30" h="711">
                  <a:moveTo>
                    <a:pt x="402" y="89"/>
                  </a:moveTo>
                  <a:cubicBezTo>
                    <a:pt x="402" y="138"/>
                    <a:pt x="362" y="178"/>
                    <a:pt x="313" y="178"/>
                  </a:cubicBezTo>
                  <a:lnTo>
                    <a:pt x="223" y="178"/>
                  </a:lnTo>
                  <a:cubicBezTo>
                    <a:pt x="174" y="178"/>
                    <a:pt x="134" y="138"/>
                    <a:pt x="134" y="89"/>
                  </a:cubicBezTo>
                  <a:cubicBezTo>
                    <a:pt x="134" y="39"/>
                    <a:pt x="174" y="0"/>
                    <a:pt x="223" y="0"/>
                  </a:cubicBezTo>
                  <a:lnTo>
                    <a:pt x="313" y="0"/>
                  </a:lnTo>
                  <a:cubicBezTo>
                    <a:pt x="362" y="0"/>
                    <a:pt x="402" y="39"/>
                    <a:pt x="402" y="89"/>
                  </a:cubicBezTo>
                  <a:close/>
                  <a:moveTo>
                    <a:pt x="445" y="89"/>
                  </a:moveTo>
                  <a:cubicBezTo>
                    <a:pt x="446" y="95"/>
                    <a:pt x="446" y="102"/>
                    <a:pt x="446" y="109"/>
                  </a:cubicBezTo>
                  <a:cubicBezTo>
                    <a:pt x="446" y="171"/>
                    <a:pt x="397" y="221"/>
                    <a:pt x="335" y="221"/>
                  </a:cubicBezTo>
                  <a:lnTo>
                    <a:pt x="201" y="221"/>
                  </a:lnTo>
                  <a:cubicBezTo>
                    <a:pt x="140" y="221"/>
                    <a:pt x="90" y="171"/>
                    <a:pt x="90" y="109"/>
                  </a:cubicBezTo>
                  <a:cubicBezTo>
                    <a:pt x="90" y="102"/>
                    <a:pt x="90" y="95"/>
                    <a:pt x="92" y="89"/>
                  </a:cubicBezTo>
                  <a:cubicBezTo>
                    <a:pt x="40" y="98"/>
                    <a:pt x="0" y="144"/>
                    <a:pt x="0" y="198"/>
                  </a:cubicBezTo>
                  <a:lnTo>
                    <a:pt x="0" y="600"/>
                  </a:lnTo>
                  <a:cubicBezTo>
                    <a:pt x="0" y="661"/>
                    <a:pt x="50" y="711"/>
                    <a:pt x="112" y="711"/>
                  </a:cubicBezTo>
                  <a:lnTo>
                    <a:pt x="409" y="711"/>
                  </a:lnTo>
                  <a:cubicBezTo>
                    <a:pt x="338" y="681"/>
                    <a:pt x="288" y="610"/>
                    <a:pt x="288" y="528"/>
                  </a:cubicBezTo>
                  <a:cubicBezTo>
                    <a:pt x="288" y="418"/>
                    <a:pt x="377" y="328"/>
                    <a:pt x="487" y="328"/>
                  </a:cubicBezTo>
                  <a:cubicBezTo>
                    <a:pt x="504" y="328"/>
                    <a:pt x="520" y="331"/>
                    <a:pt x="536" y="335"/>
                  </a:cubicBezTo>
                  <a:lnTo>
                    <a:pt x="536" y="198"/>
                  </a:lnTo>
                  <a:cubicBezTo>
                    <a:pt x="536" y="144"/>
                    <a:pt x="496" y="98"/>
                    <a:pt x="445" y="89"/>
                  </a:cubicBezTo>
                  <a:close/>
                  <a:moveTo>
                    <a:pt x="251" y="446"/>
                  </a:moveTo>
                  <a:lnTo>
                    <a:pt x="251" y="446"/>
                  </a:lnTo>
                  <a:lnTo>
                    <a:pt x="112" y="446"/>
                  </a:lnTo>
                  <a:cubicBezTo>
                    <a:pt x="100" y="446"/>
                    <a:pt x="90" y="436"/>
                    <a:pt x="90" y="423"/>
                  </a:cubicBezTo>
                  <a:cubicBezTo>
                    <a:pt x="90" y="411"/>
                    <a:pt x="100" y="401"/>
                    <a:pt x="112" y="401"/>
                  </a:cubicBezTo>
                  <a:lnTo>
                    <a:pt x="251" y="401"/>
                  </a:lnTo>
                  <a:cubicBezTo>
                    <a:pt x="264" y="401"/>
                    <a:pt x="274" y="411"/>
                    <a:pt x="274" y="423"/>
                  </a:cubicBezTo>
                  <a:cubicBezTo>
                    <a:pt x="274" y="436"/>
                    <a:pt x="264" y="446"/>
                    <a:pt x="251" y="446"/>
                  </a:cubicBezTo>
                  <a:close/>
                  <a:moveTo>
                    <a:pt x="296" y="356"/>
                  </a:moveTo>
                  <a:lnTo>
                    <a:pt x="296" y="356"/>
                  </a:lnTo>
                  <a:lnTo>
                    <a:pt x="112" y="356"/>
                  </a:lnTo>
                  <a:cubicBezTo>
                    <a:pt x="100" y="356"/>
                    <a:pt x="90" y="346"/>
                    <a:pt x="90" y="334"/>
                  </a:cubicBezTo>
                  <a:cubicBezTo>
                    <a:pt x="90" y="322"/>
                    <a:pt x="100" y="312"/>
                    <a:pt x="112" y="312"/>
                  </a:cubicBezTo>
                  <a:lnTo>
                    <a:pt x="296" y="312"/>
                  </a:lnTo>
                  <a:cubicBezTo>
                    <a:pt x="308" y="312"/>
                    <a:pt x="318" y="322"/>
                    <a:pt x="318" y="334"/>
                  </a:cubicBezTo>
                  <a:cubicBezTo>
                    <a:pt x="318" y="346"/>
                    <a:pt x="308" y="356"/>
                    <a:pt x="296" y="356"/>
                  </a:cubicBezTo>
                  <a:close/>
                  <a:moveTo>
                    <a:pt x="524" y="390"/>
                  </a:moveTo>
                  <a:cubicBezTo>
                    <a:pt x="512" y="387"/>
                    <a:pt x="501" y="385"/>
                    <a:pt x="488" y="385"/>
                  </a:cubicBezTo>
                  <a:cubicBezTo>
                    <a:pt x="410" y="385"/>
                    <a:pt x="346" y="449"/>
                    <a:pt x="346" y="527"/>
                  </a:cubicBezTo>
                  <a:cubicBezTo>
                    <a:pt x="346" y="596"/>
                    <a:pt x="394" y="652"/>
                    <a:pt x="458" y="666"/>
                  </a:cubicBezTo>
                  <a:cubicBezTo>
                    <a:pt x="468" y="668"/>
                    <a:pt x="478" y="669"/>
                    <a:pt x="488" y="669"/>
                  </a:cubicBezTo>
                  <a:cubicBezTo>
                    <a:pt x="567" y="669"/>
                    <a:pt x="630" y="606"/>
                    <a:pt x="630" y="527"/>
                  </a:cubicBezTo>
                  <a:cubicBezTo>
                    <a:pt x="630" y="461"/>
                    <a:pt x="585" y="405"/>
                    <a:pt x="524" y="390"/>
                  </a:cubicBezTo>
                  <a:close/>
                  <a:moveTo>
                    <a:pt x="569" y="507"/>
                  </a:moveTo>
                  <a:lnTo>
                    <a:pt x="569" y="507"/>
                  </a:lnTo>
                  <a:lnTo>
                    <a:pt x="524" y="552"/>
                  </a:lnTo>
                  <a:lnTo>
                    <a:pt x="488" y="588"/>
                  </a:lnTo>
                  <a:cubicBezTo>
                    <a:pt x="477" y="599"/>
                    <a:pt x="459" y="599"/>
                    <a:pt x="448" y="588"/>
                  </a:cubicBezTo>
                  <a:lnTo>
                    <a:pt x="408" y="547"/>
                  </a:lnTo>
                  <a:cubicBezTo>
                    <a:pt x="397" y="536"/>
                    <a:pt x="397" y="518"/>
                    <a:pt x="408" y="507"/>
                  </a:cubicBezTo>
                  <a:cubicBezTo>
                    <a:pt x="419" y="496"/>
                    <a:pt x="437" y="496"/>
                    <a:pt x="448" y="507"/>
                  </a:cubicBezTo>
                  <a:lnTo>
                    <a:pt x="468" y="527"/>
                  </a:lnTo>
                  <a:lnTo>
                    <a:pt x="524" y="472"/>
                  </a:lnTo>
                  <a:lnTo>
                    <a:pt x="528" y="467"/>
                  </a:lnTo>
                  <a:cubicBezTo>
                    <a:pt x="540" y="456"/>
                    <a:pt x="558" y="456"/>
                    <a:pt x="569" y="467"/>
                  </a:cubicBezTo>
                  <a:cubicBezTo>
                    <a:pt x="580" y="478"/>
                    <a:pt x="580" y="496"/>
                    <a:pt x="569" y="5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2" name="矩形 1"/>
          <p:cNvSpPr/>
          <p:nvPr/>
        </p:nvSpPr>
        <p:spPr>
          <a:xfrm>
            <a:off x="1696870" y="1493911"/>
            <a:ext cx="9862783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效率：实际上就是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个任务占用的时空区面积与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个段总的时空区面积的比值。显然，只有当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n&gt;&gt;m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28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η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才趋近于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6767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98" y="1172473"/>
            <a:ext cx="9882210" cy="52193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14234" y="2937845"/>
            <a:ext cx="3606406" cy="1537077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698061" y="-17913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流水线的实际效率</a:t>
            </a:r>
          </a:p>
        </p:txBody>
      </p:sp>
      <p:sp>
        <p:nvSpPr>
          <p:cNvPr id="87074" name="Rectangle 34"/>
          <p:cNvSpPr>
            <a:spLocks noChangeArrowheads="1"/>
          </p:cNvSpPr>
          <p:nvPr/>
        </p:nvSpPr>
        <p:spPr bwMode="auto">
          <a:xfrm>
            <a:off x="6210778" y="176438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636189" y="1449647"/>
            <a:ext cx="350855" cy="26255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269750" y="2307969"/>
                <a:ext cx="11288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∙∆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endPara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750" y="2307969"/>
                <a:ext cx="1128888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740" y="2894485"/>
            <a:ext cx="211196" cy="158043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98061" y="3454881"/>
            <a:ext cx="50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23220" y="2945182"/>
            <a:ext cx="2557654" cy="1514499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6046834" y="4858940"/>
                <a:ext cx="5735782" cy="933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效率：</a:t>
                </a:r>
                <a:r>
                  <a:rPr lang="en-US" altLang="zh-CN" sz="2400" b="1" i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η</a:t>
                </a:r>
                <a:r>
                  <a:rPr lang="en-US" altLang="zh-CN" sz="2400" b="1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num>
                      <m:den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b="1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834" y="4858940"/>
                <a:ext cx="5735782" cy="933717"/>
              </a:xfrm>
              <a:prstGeom prst="rect">
                <a:avLst/>
              </a:prstGeom>
              <a:blipFill>
                <a:blip r:embed="rId6"/>
                <a:stretch>
                  <a:fillRect l="-17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652027" y="2597890"/>
                <a:ext cx="7176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zh-CN" altLang="en-US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027" y="2597890"/>
                <a:ext cx="71763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9394048" y="2675229"/>
            <a:ext cx="7987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m=4</a:t>
            </a:r>
          </a:p>
          <a:p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n=5</a:t>
            </a:r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6046834" y="5605885"/>
                <a:ext cx="3249608" cy="6229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实</m:t>
                      </m:r>
                      <m:r>
                        <a:rPr lang="zh-CN" altLang="en-US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例计算</m:t>
                      </m:r>
                      <m:r>
                        <a:rPr lang="zh-CN" altLang="en-US" b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：</m:t>
                      </m:r>
                      <m:r>
                        <m:rPr>
                          <m:nor/>
                        </m:rPr>
                        <a:rPr lang="en-US" altLang="zh-CN" b="1" i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η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834" y="5605885"/>
                <a:ext cx="3249608" cy="62292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7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8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5846947" y="2937845"/>
            <a:ext cx="2960708" cy="1465777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273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/>
      <p:bldP spid="11" grpId="0"/>
      <p:bldP spid="7" grpId="0" animBg="1"/>
      <p:bldP spid="9" grpId="0"/>
      <p:bldP spid="2" grpId="0"/>
      <p:bldP spid="12" grpId="0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483441" y="2541722"/>
            <a:ext cx="3868499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dist"/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en-US" altLang="zh-CN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17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</TotalTime>
  <Words>536</Words>
  <Application>Microsoft Office PowerPoint</Application>
  <PresentationFormat>宽屏</PresentationFormat>
  <Paragraphs>72</Paragraphs>
  <Slides>11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宋体</vt:lpstr>
      <vt:lpstr>微软雅黑</vt:lpstr>
      <vt:lpstr>Arial</vt:lpstr>
      <vt:lpstr>Calibri</vt:lpstr>
      <vt:lpstr>Calibri Light</vt:lpstr>
      <vt:lpstr>Cambria Math</vt:lpstr>
      <vt:lpstr>第一PPT，www.1ppt.com</vt:lpstr>
      <vt:lpstr>公式</vt:lpstr>
      <vt:lpstr>Microsoft 公式 3.0</vt:lpstr>
      <vt:lpstr>PowerPoint 演示文稿</vt:lpstr>
      <vt:lpstr>PowerPoint 演示文稿</vt:lpstr>
      <vt:lpstr>最大吞吐率受到了瓶颈段的约束 </vt:lpstr>
      <vt:lpstr>细分瓶颈段</vt:lpstr>
      <vt:lpstr>并联瓶颈段</vt:lpstr>
      <vt:lpstr>分析实际吞吐率</vt:lpstr>
      <vt:lpstr>加速比（Speed Ratio） </vt:lpstr>
      <vt:lpstr>效率（Efficiency） </vt:lpstr>
      <vt:lpstr>效率（Efficiency） </vt:lpstr>
      <vt:lpstr>流水线的实际效率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07述职报告</dc:title>
  <dc:creator>user</dc:creator>
  <cp:lastModifiedBy>yhw</cp:lastModifiedBy>
  <cp:revision>33</cp:revision>
  <dcterms:created xsi:type="dcterms:W3CDTF">2016-06-01T05:10:04Z</dcterms:created>
  <dcterms:modified xsi:type="dcterms:W3CDTF">2017-06-04T23:11:32Z</dcterms:modified>
</cp:coreProperties>
</file>